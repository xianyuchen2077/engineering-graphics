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8" r:id="rId3"/>
    <p:sldId id="262" r:id="rId4"/>
    <p:sldId id="359" r:id="rId5"/>
    <p:sldId id="265" r:id="rId6"/>
    <p:sldId id="360" r:id="rId7"/>
    <p:sldId id="267" r:id="rId8"/>
    <p:sldId id="361" r:id="rId9"/>
    <p:sldId id="266" r:id="rId10"/>
    <p:sldId id="362" r:id="rId11"/>
    <p:sldId id="329" r:id="rId12"/>
    <p:sldId id="268" r:id="rId13"/>
    <p:sldId id="363" r:id="rId14"/>
    <p:sldId id="269" r:id="rId15"/>
    <p:sldId id="364" r:id="rId16"/>
    <p:sldId id="270" r:id="rId17"/>
    <p:sldId id="365" r:id="rId18"/>
    <p:sldId id="271" r:id="rId19"/>
    <p:sldId id="366" r:id="rId20"/>
    <p:sldId id="272" r:id="rId21"/>
    <p:sldId id="367" r:id="rId22"/>
    <p:sldId id="368" r:id="rId23"/>
    <p:sldId id="273" r:id="rId24"/>
    <p:sldId id="274" r:id="rId25"/>
    <p:sldId id="369" r:id="rId26"/>
    <p:sldId id="275" r:id="rId27"/>
    <p:sldId id="370" r:id="rId28"/>
    <p:sldId id="276" r:id="rId29"/>
    <p:sldId id="371" r:id="rId30"/>
    <p:sldId id="277" r:id="rId31"/>
    <p:sldId id="372" r:id="rId32"/>
    <p:sldId id="330" r:id="rId33"/>
    <p:sldId id="278" r:id="rId34"/>
    <p:sldId id="373" r:id="rId35"/>
    <p:sldId id="287" r:id="rId36"/>
    <p:sldId id="374" r:id="rId37"/>
    <p:sldId id="279" r:id="rId38"/>
    <p:sldId id="375" r:id="rId39"/>
    <p:sldId id="288" r:id="rId40"/>
    <p:sldId id="376" r:id="rId41"/>
    <p:sldId id="280" r:id="rId42"/>
    <p:sldId id="377" r:id="rId43"/>
    <p:sldId id="281" r:id="rId44"/>
    <p:sldId id="378" r:id="rId45"/>
    <p:sldId id="282" r:id="rId46"/>
    <p:sldId id="379" r:id="rId47"/>
    <p:sldId id="283" r:id="rId48"/>
    <p:sldId id="380" r:id="rId49"/>
    <p:sldId id="284" r:id="rId50"/>
    <p:sldId id="381" r:id="rId51"/>
    <p:sldId id="354" r:id="rId52"/>
    <p:sldId id="382" r:id="rId53"/>
    <p:sldId id="331" r:id="rId54"/>
    <p:sldId id="285" r:id="rId55"/>
    <p:sldId id="399" r:id="rId56"/>
    <p:sldId id="349" r:id="rId57"/>
    <p:sldId id="384" r:id="rId58"/>
    <p:sldId id="350" r:id="rId59"/>
    <p:sldId id="385" r:id="rId60"/>
    <p:sldId id="351" r:id="rId61"/>
    <p:sldId id="386" r:id="rId62"/>
    <p:sldId id="352" r:id="rId63"/>
    <p:sldId id="387" r:id="rId64"/>
    <p:sldId id="353" r:id="rId65"/>
    <p:sldId id="388" r:id="rId66"/>
    <p:sldId id="332" r:id="rId67"/>
    <p:sldId id="291" r:id="rId68"/>
    <p:sldId id="389" r:id="rId69"/>
    <p:sldId id="292" r:id="rId70"/>
    <p:sldId id="390" r:id="rId71"/>
    <p:sldId id="394" r:id="rId72"/>
    <p:sldId id="391" r:id="rId73"/>
    <p:sldId id="392" r:id="rId74"/>
    <p:sldId id="393" r:id="rId75"/>
    <p:sldId id="395" r:id="rId76"/>
    <p:sldId id="294" r:id="rId77"/>
    <p:sldId id="396" r:id="rId78"/>
    <p:sldId id="295" r:id="rId79"/>
    <p:sldId id="397" r:id="rId80"/>
    <p:sldId id="296" r:id="rId81"/>
    <p:sldId id="398" r:id="rId82"/>
    <p:sldId id="355" r:id="rId83"/>
    <p:sldId id="400" r:id="rId84"/>
    <p:sldId id="356" r:id="rId85"/>
    <p:sldId id="401" r:id="rId86"/>
    <p:sldId id="333" r:id="rId87"/>
    <p:sldId id="297" r:id="rId88"/>
    <p:sldId id="402" r:id="rId89"/>
    <p:sldId id="298" r:id="rId90"/>
    <p:sldId id="403" r:id="rId91"/>
    <p:sldId id="299" r:id="rId92"/>
    <p:sldId id="404" r:id="rId93"/>
    <p:sldId id="300" r:id="rId94"/>
    <p:sldId id="405" r:id="rId95"/>
    <p:sldId id="334" r:id="rId96"/>
    <p:sldId id="301" r:id="rId97"/>
    <p:sldId id="406" r:id="rId98"/>
    <p:sldId id="302" r:id="rId99"/>
    <p:sldId id="407" r:id="rId100"/>
    <p:sldId id="303" r:id="rId101"/>
    <p:sldId id="408" r:id="rId102"/>
    <p:sldId id="304" r:id="rId103"/>
    <p:sldId id="409" r:id="rId104"/>
    <p:sldId id="305" r:id="rId105"/>
    <p:sldId id="410" r:id="rId106"/>
    <p:sldId id="306" r:id="rId107"/>
    <p:sldId id="411" r:id="rId108"/>
    <p:sldId id="307" r:id="rId109"/>
    <p:sldId id="412" r:id="rId110"/>
    <p:sldId id="308" r:id="rId111"/>
    <p:sldId id="413" r:id="rId112"/>
    <p:sldId id="309" r:id="rId113"/>
    <p:sldId id="414" r:id="rId114"/>
    <p:sldId id="310" r:id="rId115"/>
    <p:sldId id="415" r:id="rId116"/>
    <p:sldId id="311" r:id="rId117"/>
    <p:sldId id="416" r:id="rId118"/>
    <p:sldId id="312" r:id="rId119"/>
    <p:sldId id="417" r:id="rId120"/>
    <p:sldId id="335" r:id="rId121"/>
    <p:sldId id="313" r:id="rId122"/>
    <p:sldId id="418" r:id="rId123"/>
    <p:sldId id="314" r:id="rId124"/>
    <p:sldId id="419" r:id="rId125"/>
    <p:sldId id="315" r:id="rId126"/>
    <p:sldId id="420" r:id="rId127"/>
    <p:sldId id="316" r:id="rId128"/>
    <p:sldId id="421" r:id="rId129"/>
    <p:sldId id="317" r:id="rId130"/>
    <p:sldId id="422" r:id="rId131"/>
    <p:sldId id="318" r:id="rId132"/>
    <p:sldId id="423" r:id="rId133"/>
    <p:sldId id="336" r:id="rId134"/>
    <p:sldId id="319" r:id="rId135"/>
    <p:sldId id="424" r:id="rId136"/>
    <p:sldId id="320" r:id="rId137"/>
    <p:sldId id="425" r:id="rId138"/>
    <p:sldId id="321" r:id="rId139"/>
    <p:sldId id="426" r:id="rId140"/>
    <p:sldId id="338" r:id="rId141"/>
    <p:sldId id="427" r:id="rId142"/>
    <p:sldId id="348" r:id="rId143"/>
    <p:sldId id="428" r:id="rId144"/>
    <p:sldId id="357" r:id="rId145"/>
    <p:sldId id="429" r:id="rId146"/>
  </p:sldIdLst>
  <p:sldSz cx="9144000" cy="6858000" type="screen4x3"/>
  <p:notesSz cx="6858000" cy="9144000"/>
  <p:custDataLst>
    <p:tags r:id="rId15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3259C8"/>
    <a:srgbClr val="FFCCFF"/>
    <a:srgbClr val="FF99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522" y="57"/>
      </p:cViewPr>
      <p:guideLst>
        <p:guide orient="horz" pos="2151"/>
        <p:guide orient="horz" pos="84"/>
        <p:guide orient="horz" pos="4201"/>
        <p:guide orient="horz" pos="663"/>
        <p:guide orient="horz" pos="3676"/>
        <p:guide pos="2903"/>
        <p:guide pos="1383"/>
        <p:guide pos="4340"/>
        <p:guide pos="852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14766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0" Type="http://schemas.openxmlformats.org/officeDocument/2006/relationships/tags" Target="tags/tag2.xml"/><Relationship Id="rId15" Type="http://schemas.openxmlformats.org/officeDocument/2006/relationships/slide" Target="slides/slide13.xml"/><Relationship Id="rId149" Type="http://schemas.openxmlformats.org/officeDocument/2006/relationships/tableStyles" Target="tableStyles.xml"/><Relationship Id="rId148" Type="http://schemas.openxmlformats.org/officeDocument/2006/relationships/viewProps" Target="viewProps.xml"/><Relationship Id="rId147" Type="http://schemas.openxmlformats.org/officeDocument/2006/relationships/presProps" Target="presProps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9939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994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4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942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994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4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4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9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37627D3-651C-4A6B-89AF-2C925A980F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1F8BE-E0E6-4D8D-8914-D9BCAF9EA5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EC5E9-2609-484B-B1C4-AB4CE36A21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75E809-11EA-4F13-BFFC-B12003D209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229B4-2A64-4A7F-AFE4-FE80A8806C0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FB139-89FD-41EE-A96B-86D67821D7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2B8E5-8288-480B-966B-4804D6AF72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BF9D49-AEB8-45E1-B66C-CB87D48D28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B987B-BE98-4784-B005-1BF63B11F91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0545B2-8020-49B0-8A06-76F8898DCA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252FB9-7ADA-4916-B34A-ED7D43A52B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89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389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389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fld id="{F22BEC17-0F14-47F0-9248-F86C8F6261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9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0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3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4.png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tags" Target="../tags/tag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1" Type="http://schemas.openxmlformats.org/officeDocument/2006/relationships/image" Target="../media/image97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4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5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0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1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2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3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4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5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6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7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8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9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0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1.png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2.pn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3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4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5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6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7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8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9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0.pn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1.pn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2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点的投影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3" name="Text Box 1623"/>
          <p:cNvSpPr txBox="1">
            <a:spLocks noChangeArrowheads="1"/>
          </p:cNvSpPr>
          <p:nvPr/>
        </p:nvSpPr>
        <p:spPr bwMode="auto">
          <a:xfrm>
            <a:off x="0" y="11588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2-1-1-1  </a:t>
            </a:r>
            <a:r>
              <a:rPr lang="zh-CN" altLang="en-US" sz="1600" b="1">
                <a:latin typeface="宋体" panose="02010600030101010101" pitchFamily="2" charset="-122"/>
              </a:rPr>
              <a:t>已知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D</a:t>
            </a:r>
            <a:r>
              <a:rPr lang="zh-CN" altLang="en-US" sz="1600" b="1">
                <a:latin typeface="宋体" panose="02010600030101010101" pitchFamily="2" charset="-122"/>
              </a:rPr>
              <a:t>四点的投影图，画出它们的直观图，并说明其空间位置。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5321" y="707315"/>
            <a:ext cx="8821103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477" y="783576"/>
            <a:ext cx="8992553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63" name="Text Box 1623"/>
          <p:cNvSpPr txBox="1">
            <a:spLocks noChangeArrowheads="1"/>
          </p:cNvSpPr>
          <p:nvPr/>
        </p:nvSpPr>
        <p:spPr bwMode="auto">
          <a:xfrm>
            <a:off x="0" y="11588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2-1-1-1  </a:t>
            </a:r>
            <a:r>
              <a:rPr lang="zh-CN" altLang="en-US" sz="1600" b="1">
                <a:latin typeface="宋体" panose="02010600030101010101" pitchFamily="2" charset="-122"/>
              </a:rPr>
              <a:t>已知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D</a:t>
            </a:r>
            <a:r>
              <a:rPr lang="zh-CN" altLang="en-US" sz="1600" b="1">
                <a:latin typeface="宋体" panose="02010600030101010101" pitchFamily="2" charset="-122"/>
              </a:rPr>
              <a:t>四点的投影图，画出它们的直观图，并说明其空间位置。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0" y="112713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2-1-1-2  </a:t>
            </a:r>
            <a:r>
              <a:rPr lang="zh-CN" altLang="en-US" sz="1600" b="1">
                <a:latin typeface="宋体" panose="02010600030101010101" pitchFamily="2" charset="-122"/>
              </a:rPr>
              <a:t>已知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各点对投影面的距离，画出它们的三面投影图和直观图。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 r="46349"/>
          <a:stretch>
            <a:fillRect/>
          </a:stretch>
        </p:blipFill>
        <p:spPr bwMode="auto">
          <a:xfrm>
            <a:off x="1086410" y="449263"/>
            <a:ext cx="4910978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 l="55806" b="19115"/>
          <a:stretch>
            <a:fillRect/>
          </a:stretch>
        </p:blipFill>
        <p:spPr bwMode="auto">
          <a:xfrm>
            <a:off x="5715000" y="618566"/>
            <a:ext cx="3362647" cy="3298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 r="42252"/>
          <a:stretch>
            <a:fillRect/>
          </a:stretch>
        </p:blipFill>
        <p:spPr bwMode="auto">
          <a:xfrm>
            <a:off x="1094811" y="422893"/>
            <a:ext cx="4888841" cy="4877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0" y="112713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2-1-1-2  </a:t>
            </a:r>
            <a:r>
              <a:rPr lang="zh-CN" altLang="en-US" sz="1600" b="1">
                <a:latin typeface="宋体" panose="02010600030101010101" pitchFamily="2" charset="-122"/>
              </a:rPr>
              <a:t>已知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各点对投影面的距离，画出它们的三面投影图和直观图。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0713" y="2300288"/>
            <a:ext cx="428625" cy="928687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/>
          <a:srcRect l="54958" b="24065"/>
          <a:stretch>
            <a:fillRect/>
          </a:stretch>
        </p:blipFill>
        <p:spPr bwMode="auto">
          <a:xfrm>
            <a:off x="5857882" y="814388"/>
            <a:ext cx="3171353" cy="3080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24523" y="880408"/>
            <a:ext cx="774382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0" y="111125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2-1-1-3  </a:t>
            </a:r>
            <a:r>
              <a:rPr lang="zh-CN" altLang="en-US" sz="1600" b="1">
                <a:latin typeface="宋体" panose="02010600030101010101" pitchFamily="2" charset="-122"/>
              </a:rPr>
              <a:t>已知点Ａ的坐标（</a:t>
            </a:r>
            <a:r>
              <a:rPr lang="en-US" altLang="zh-CN" sz="1600" b="1">
                <a:latin typeface="宋体" panose="02010600030101010101" pitchFamily="2" charset="-122"/>
              </a:rPr>
              <a:t>40</a:t>
            </a:r>
            <a:r>
              <a:rPr lang="zh-CN" altLang="en-US" sz="1600" b="1">
                <a:latin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</a:rPr>
              <a:t>0</a:t>
            </a:r>
            <a:r>
              <a:rPr lang="zh-CN" altLang="en-US" sz="1600" b="1">
                <a:latin typeface="宋体" panose="02010600030101010101" pitchFamily="2" charset="-122"/>
              </a:rPr>
              <a:t>），画出其三面投影并作出点Ｂ和点Ｃ的三面投影。</a:t>
            </a:r>
            <a:endParaRPr lang="zh-CN" altLang="en-US" sz="1600" b="1">
              <a:latin typeface="宋体" panose="02010600030101010101" pitchFamily="2" charset="-122"/>
            </a:endParaRPr>
          </a:p>
          <a:p>
            <a:r>
              <a:rPr lang="zh-CN" altLang="en-US" sz="1600" b="1">
                <a:latin typeface="宋体" panose="02010600030101010101" pitchFamily="2" charset="-122"/>
              </a:rPr>
              <a:t> ⑴ 点</a:t>
            </a:r>
            <a:r>
              <a:rPr lang="en-US" altLang="zh-CN" sz="1600" b="1">
                <a:latin typeface="宋体" panose="02010600030101010101" pitchFamily="2" charset="-122"/>
              </a:rPr>
              <a:t>B ——</a:t>
            </a:r>
            <a:r>
              <a:rPr lang="zh-CN" altLang="en-US" sz="1600" b="1">
                <a:latin typeface="宋体" panose="02010600030101010101" pitchFamily="2" charset="-122"/>
              </a:rPr>
              <a:t>在点Ａ右面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，前面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，上面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； ⑵ 点</a:t>
            </a:r>
            <a:r>
              <a:rPr lang="en-US" altLang="zh-CN" sz="1600" b="1">
                <a:latin typeface="宋体" panose="02010600030101010101" pitchFamily="2" charset="-122"/>
              </a:rPr>
              <a:t>C ——</a:t>
            </a:r>
            <a:r>
              <a:rPr lang="zh-CN" altLang="en-US" sz="1600" b="1">
                <a:latin typeface="宋体" panose="02010600030101010101" pitchFamily="2" charset="-122"/>
              </a:rPr>
              <a:t>在点Ａ左面</a:t>
            </a:r>
            <a:r>
              <a:rPr lang="en-US" altLang="zh-CN" sz="1600" b="1">
                <a:latin typeface="宋体" panose="02010600030101010101" pitchFamily="2" charset="-122"/>
              </a:rPr>
              <a:t>10</a:t>
            </a:r>
            <a:r>
              <a:rPr lang="zh-CN" altLang="en-US" sz="1600" b="1">
                <a:latin typeface="宋体" panose="02010600030101010101" pitchFamily="2" charset="-122"/>
              </a:rPr>
              <a:t>，后面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，上面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endParaRPr lang="en-US" altLang="zh-CN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 l="-2125"/>
          <a:stretch>
            <a:fillRect/>
          </a:stretch>
        </p:blipFill>
        <p:spPr bwMode="auto">
          <a:xfrm>
            <a:off x="1357313" y="857242"/>
            <a:ext cx="7324355" cy="49331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0" y="111125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2-1-1-3  </a:t>
            </a:r>
            <a:r>
              <a:rPr lang="zh-CN" altLang="en-US" sz="1600" b="1">
                <a:latin typeface="宋体" panose="02010600030101010101" pitchFamily="2" charset="-122"/>
              </a:rPr>
              <a:t>已知点Ａ的坐标（</a:t>
            </a:r>
            <a:r>
              <a:rPr lang="en-US" altLang="zh-CN" sz="1600" b="1">
                <a:latin typeface="宋体" panose="02010600030101010101" pitchFamily="2" charset="-122"/>
              </a:rPr>
              <a:t>40</a:t>
            </a:r>
            <a:r>
              <a:rPr lang="zh-CN" altLang="en-US" sz="1600" b="1">
                <a:latin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</a:rPr>
              <a:t>0</a:t>
            </a:r>
            <a:r>
              <a:rPr lang="zh-CN" altLang="en-US" sz="1600" b="1">
                <a:latin typeface="宋体" panose="02010600030101010101" pitchFamily="2" charset="-122"/>
              </a:rPr>
              <a:t>），画出其三面投影并作出点Ｂ和点Ｃ的三面投影。</a:t>
            </a:r>
            <a:endParaRPr lang="zh-CN" altLang="en-US" sz="1600" b="1">
              <a:latin typeface="宋体" panose="02010600030101010101" pitchFamily="2" charset="-122"/>
            </a:endParaRPr>
          </a:p>
          <a:p>
            <a:r>
              <a:rPr lang="zh-CN" altLang="en-US" sz="1600" b="1">
                <a:latin typeface="宋体" panose="02010600030101010101" pitchFamily="2" charset="-122"/>
              </a:rPr>
              <a:t> ⑴ 点</a:t>
            </a:r>
            <a:r>
              <a:rPr lang="en-US" altLang="zh-CN" sz="1600" b="1">
                <a:latin typeface="宋体" panose="02010600030101010101" pitchFamily="2" charset="-122"/>
              </a:rPr>
              <a:t>B ——</a:t>
            </a:r>
            <a:r>
              <a:rPr lang="zh-CN" altLang="en-US" sz="1600" b="1">
                <a:latin typeface="宋体" panose="02010600030101010101" pitchFamily="2" charset="-122"/>
              </a:rPr>
              <a:t>在点Ａ右面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，前面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，上面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； ⑵ 点</a:t>
            </a:r>
            <a:r>
              <a:rPr lang="en-US" altLang="zh-CN" sz="1600" b="1">
                <a:latin typeface="宋体" panose="02010600030101010101" pitchFamily="2" charset="-122"/>
              </a:rPr>
              <a:t>C ——</a:t>
            </a:r>
            <a:r>
              <a:rPr lang="zh-CN" altLang="en-US" sz="1600" b="1">
                <a:latin typeface="宋体" panose="02010600030101010101" pitchFamily="2" charset="-122"/>
              </a:rPr>
              <a:t>在点Ａ左面</a:t>
            </a:r>
            <a:r>
              <a:rPr lang="en-US" altLang="zh-CN" sz="1600" b="1">
                <a:latin typeface="宋体" panose="02010600030101010101" pitchFamily="2" charset="-122"/>
              </a:rPr>
              <a:t>10</a:t>
            </a:r>
            <a:r>
              <a:rPr lang="zh-CN" altLang="en-US" sz="1600" b="1">
                <a:latin typeface="宋体" panose="02010600030101010101" pitchFamily="2" charset="-122"/>
              </a:rPr>
              <a:t>，后面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，上面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endParaRPr lang="en-US" altLang="zh-CN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0" y="109538"/>
            <a:ext cx="910113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2-1-1-4  </a:t>
            </a:r>
            <a:r>
              <a:rPr lang="zh-CN" altLang="en-US" sz="1600" b="1">
                <a:latin typeface="宋体" panose="02010600030101010101" pitchFamily="2" charset="-122"/>
              </a:rPr>
              <a:t>已知点Ａ的两投影，点Ａ、Ｂ对称于Ｖ、Ｗ两面角的分角面，求 </a:t>
            </a:r>
            <a:r>
              <a:rPr lang="en-US" altLang="zh-CN" sz="1600" b="1">
                <a:latin typeface="宋体" panose="02010600030101010101" pitchFamily="2" charset="-122"/>
              </a:rPr>
              <a:t>a″</a:t>
            </a:r>
            <a:r>
              <a:rPr lang="zh-CN" altLang="en-US" sz="1600" b="1">
                <a:latin typeface="宋体" panose="02010600030101010101" pitchFamily="2" charset="-122"/>
              </a:rPr>
              <a:t>和点Ｂ的三面投影。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 l="-6379"/>
          <a:stretch>
            <a:fillRect/>
          </a:stretch>
        </p:blipFill>
        <p:spPr bwMode="auto">
          <a:xfrm>
            <a:off x="1428750" y="664323"/>
            <a:ext cx="5765426" cy="4943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0" y="109538"/>
            <a:ext cx="910113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2-1-1-4  </a:t>
            </a:r>
            <a:r>
              <a:rPr lang="zh-CN" altLang="en-US" sz="1600" b="1">
                <a:latin typeface="宋体" panose="02010600030101010101" pitchFamily="2" charset="-122"/>
              </a:rPr>
              <a:t>已知点Ａ的两投影，点Ａ、Ｂ对称于Ｖ、Ｗ两面角的分角面，求 </a:t>
            </a:r>
            <a:r>
              <a:rPr lang="en-US" altLang="zh-CN" sz="1600" b="1">
                <a:latin typeface="宋体" panose="02010600030101010101" pitchFamily="2" charset="-122"/>
              </a:rPr>
              <a:t>a″</a:t>
            </a:r>
            <a:r>
              <a:rPr lang="zh-CN" altLang="en-US" sz="1600" b="1">
                <a:latin typeface="宋体" panose="02010600030101010101" pitchFamily="2" charset="-122"/>
              </a:rPr>
              <a:t>和点Ｂ的三面投影。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81150" y="695336"/>
            <a:ext cx="5275421" cy="4868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直线的投影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0" y="131763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2-1-2-1  </a:t>
            </a:r>
            <a:r>
              <a:rPr lang="zh-CN" altLang="en-US" sz="1600" b="1" dirty="0">
                <a:latin typeface="宋体" panose="02010600030101010101" pitchFamily="2" charset="-122"/>
              </a:rPr>
              <a:t>已知三脚架的两个投影，试判断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1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</a:rPr>
              <a:t>B</a:t>
            </a:r>
            <a:r>
              <a:rPr lang="zh-CN" altLang="en-US" sz="1600" b="1" dirty="0">
                <a:latin typeface="宋体" panose="02010600030101010101" pitchFamily="2" charset="-122"/>
              </a:rPr>
              <a:t>各为何种位置直线，并作出它们的侧面投影。 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 r="29671"/>
          <a:stretch>
            <a:fillRect/>
          </a:stretch>
        </p:blipFill>
        <p:spPr bwMode="auto">
          <a:xfrm>
            <a:off x="1117508" y="551423"/>
            <a:ext cx="5861516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575612" y="1008623"/>
            <a:ext cx="20036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en-US" altLang="zh-CN" b="1" u="sng" dirty="0">
                <a:latin typeface="宋体" panose="02010600030101010101" pitchFamily="2" charset="-122"/>
              </a:rPr>
              <a:t>        </a:t>
            </a:r>
            <a:r>
              <a:rPr lang="zh-CN" altLang="en-US" b="1" dirty="0">
                <a:latin typeface="宋体" panose="02010600030101010101" pitchFamily="2" charset="-122"/>
              </a:rPr>
              <a:t>线</a:t>
            </a:r>
            <a:endParaRPr lang="zh-CN" altLang="en-US" dirty="0"/>
          </a:p>
          <a:p>
            <a:endParaRPr lang="en-US" altLang="zh-CN" b="1" dirty="0">
              <a:latin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en-US" altLang="zh-CN" b="1" u="sng" dirty="0">
                <a:latin typeface="宋体" panose="02010600030101010101" pitchFamily="2" charset="-122"/>
              </a:rPr>
              <a:t>         </a:t>
            </a:r>
            <a:r>
              <a:rPr lang="zh-CN" altLang="en-US" b="1" dirty="0">
                <a:latin typeface="宋体" panose="02010600030101010101" pitchFamily="2" charset="-122"/>
              </a:rPr>
              <a:t>线</a:t>
            </a:r>
            <a:endParaRPr lang="zh-CN" altLang="en-US" dirty="0"/>
          </a:p>
          <a:p>
            <a:endParaRPr lang="en-US" altLang="zh-CN" b="1" dirty="0">
              <a:latin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B 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en-US" altLang="zh-CN" b="1" u="sng" dirty="0">
                <a:latin typeface="宋体" panose="02010600030101010101" pitchFamily="2" charset="-122"/>
              </a:rPr>
              <a:t>        </a:t>
            </a:r>
            <a:r>
              <a:rPr lang="zh-CN" altLang="en-US" b="1" dirty="0">
                <a:latin typeface="宋体" panose="02010600030101010101" pitchFamily="2" charset="-122"/>
              </a:rPr>
              <a:t>线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57289" y="593014"/>
            <a:ext cx="5786440" cy="507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0" y="131763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2-1-2-1  </a:t>
            </a:r>
            <a:r>
              <a:rPr lang="zh-CN" altLang="en-US" sz="1600" b="1" dirty="0">
                <a:latin typeface="宋体" panose="02010600030101010101" pitchFamily="2" charset="-122"/>
              </a:rPr>
              <a:t>已知三脚架的两个投影，试判断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1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en-US" altLang="zh-CN" sz="1000" b="1" dirty="0">
                <a:latin typeface="宋体" panose="02010600030101010101" pitchFamily="2" charset="-122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</a:rPr>
              <a:t>B</a:t>
            </a:r>
            <a:r>
              <a:rPr lang="zh-CN" altLang="en-US" sz="1600" b="1" dirty="0">
                <a:latin typeface="宋体" panose="02010600030101010101" pitchFamily="2" charset="-122"/>
              </a:rPr>
              <a:t>各为何种位置直线，并作出它们的侧面投影。 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75612" y="1008623"/>
            <a:ext cx="2011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zh-CN" altLang="en-US" b="1" u="sng" dirty="0">
                <a:latin typeface="宋体" panose="02010600030101010101" pitchFamily="2" charset="-122"/>
              </a:rPr>
              <a:t>  </a:t>
            </a:r>
            <a:r>
              <a:rPr lang="zh-CN" altLang="en-US" b="1" u="sng" dirty="0">
                <a:solidFill>
                  <a:srgbClr val="3259C8"/>
                </a:solidFill>
                <a:latin typeface="宋体" panose="02010600030101010101" pitchFamily="2" charset="-122"/>
              </a:rPr>
              <a:t>铅垂</a:t>
            </a:r>
            <a:r>
              <a:rPr lang="zh-CN" altLang="en-US" b="1" u="sng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latin typeface="宋体" panose="02010600030101010101" pitchFamily="2" charset="-122"/>
              </a:rPr>
              <a:t>线</a:t>
            </a:r>
            <a:endParaRPr lang="zh-CN" altLang="en-US" dirty="0"/>
          </a:p>
          <a:p>
            <a:endParaRPr lang="en-US" altLang="zh-CN" b="1" dirty="0">
              <a:latin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zh-CN" altLang="en-US" b="1" u="sng" dirty="0">
                <a:solidFill>
                  <a:srgbClr val="3259C8"/>
                </a:solidFill>
                <a:latin typeface="宋体" panose="02010600030101010101" pitchFamily="2" charset="-122"/>
              </a:rPr>
              <a:t>一般位置 </a:t>
            </a:r>
            <a:r>
              <a:rPr lang="zh-CN" altLang="en-US" b="1" dirty="0">
                <a:latin typeface="宋体" panose="02010600030101010101" pitchFamily="2" charset="-122"/>
              </a:rPr>
              <a:t>线</a:t>
            </a:r>
            <a:endParaRPr lang="zh-CN" altLang="en-US" dirty="0"/>
          </a:p>
          <a:p>
            <a:endParaRPr lang="en-US" altLang="zh-CN" b="1" dirty="0">
              <a:latin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en-US" altLang="zh-CN" sz="1050" b="1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B 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en-US" altLang="zh-CN" b="1" u="sng" dirty="0">
                <a:latin typeface="宋体" panose="02010600030101010101" pitchFamily="2" charset="-122"/>
              </a:rPr>
              <a:t>  </a:t>
            </a:r>
            <a:r>
              <a:rPr lang="zh-CN" altLang="en-US" b="1" u="sng" dirty="0">
                <a:solidFill>
                  <a:srgbClr val="3259C8"/>
                </a:solidFill>
                <a:latin typeface="宋体" panose="02010600030101010101" pitchFamily="2" charset="-122"/>
              </a:rPr>
              <a:t>侧平</a:t>
            </a:r>
            <a:r>
              <a:rPr lang="en-US" altLang="zh-CN" b="1" u="sng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latin typeface="宋体" panose="02010600030101010101" pitchFamily="2" charset="-122"/>
              </a:rPr>
              <a:t>线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2-1-2-2  </a:t>
            </a:r>
            <a:r>
              <a:rPr lang="zh-CN" altLang="en-US" sz="1600" b="1">
                <a:latin typeface="宋体" panose="02010600030101010101" pitchFamily="2" charset="-122"/>
              </a:rPr>
              <a:t>已知线段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的实长Ｌ及其一个投影，求作其另一投影。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94011" y="735105"/>
            <a:ext cx="6705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 t="15099"/>
          <a:stretch>
            <a:fillRect/>
          </a:stretch>
        </p:blipFill>
        <p:spPr bwMode="auto">
          <a:xfrm>
            <a:off x="1462085" y="1457331"/>
            <a:ext cx="5676805" cy="456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2-1-2-2  </a:t>
            </a:r>
            <a:r>
              <a:rPr lang="zh-CN" altLang="en-US" sz="1600" b="1">
                <a:latin typeface="宋体" panose="02010600030101010101" pitchFamily="2" charset="-122"/>
              </a:rPr>
              <a:t>已知线段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的实长Ｌ及其一个投影，求作其另一投影。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b="86070"/>
          <a:stretch>
            <a:fillRect/>
          </a:stretch>
        </p:blipFill>
        <p:spPr bwMode="auto">
          <a:xfrm>
            <a:off x="1394011" y="735105"/>
            <a:ext cx="6705600" cy="679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43317" y="832036"/>
            <a:ext cx="5086350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2-1-2-3  </a:t>
            </a:r>
            <a:r>
              <a:rPr lang="zh-CN" altLang="en-US" sz="1600" b="1">
                <a:latin typeface="宋体" panose="02010600030101010101" pitchFamily="2" charset="-122"/>
              </a:rPr>
              <a:t>在线段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上取一点Ｃ，使Ａ、Ｃ两点之间的距离为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2-1-2-3  </a:t>
            </a:r>
            <a:r>
              <a:rPr lang="zh-CN" altLang="en-US" sz="1600" b="1">
                <a:latin typeface="宋体" panose="02010600030101010101" pitchFamily="2" charset="-122"/>
              </a:rPr>
              <a:t>在线段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上取一点Ｃ，使Ａ、Ｃ两点之间的距离为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81180" y="861950"/>
            <a:ext cx="4230148" cy="4637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2-1-2-4  </a:t>
            </a:r>
            <a:r>
              <a:rPr lang="zh-CN" altLang="en-US" sz="1600" b="1">
                <a:latin typeface="宋体" panose="02010600030101010101" pitchFamily="2" charset="-122"/>
              </a:rPr>
              <a:t>在线段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上取一点Ｃ，使Ａ、Ｃ两点之间的距离为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54817" y="631265"/>
            <a:ext cx="542925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2-1-2-4  </a:t>
            </a:r>
            <a:r>
              <a:rPr lang="zh-CN" altLang="en-US" sz="1600" b="1">
                <a:latin typeface="宋体" panose="02010600030101010101" pitchFamily="2" charset="-122"/>
              </a:rPr>
              <a:t>在线段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上取一点Ｃ，使Ａ、Ｃ两点之间的距离为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3051" y="585777"/>
            <a:ext cx="5127784" cy="5294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65985" y="631733"/>
            <a:ext cx="7553325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*2-1-2-5  </a:t>
            </a:r>
            <a:r>
              <a:rPr lang="zh-CN" altLang="en-US" sz="1600" b="1">
                <a:latin typeface="宋体" panose="02010600030101010101" pitchFamily="2" charset="-122"/>
              </a:rPr>
              <a:t>在线段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上取一点Ｃ，使它与Ｈ面和Ｖ面的距离相等；再取一点Ｄ，使 </a:t>
            </a:r>
            <a:r>
              <a:rPr lang="en-US" altLang="zh-CN" sz="1600" b="1">
                <a:latin typeface="宋体" panose="02010600030101010101" pitchFamily="2" charset="-122"/>
              </a:rPr>
              <a:t>Z</a:t>
            </a:r>
            <a:r>
              <a:rPr lang="en-US" altLang="zh-CN" sz="1000" b="1">
                <a:latin typeface="宋体" panose="02010600030101010101" pitchFamily="2" charset="-122"/>
              </a:rPr>
              <a:t>d</a:t>
            </a:r>
            <a:r>
              <a:rPr lang="en-US" altLang="zh-CN" sz="1600" b="1">
                <a:latin typeface="宋体" panose="02010600030101010101" pitchFamily="2" charset="-122"/>
              </a:rPr>
              <a:t>:Y</a:t>
            </a:r>
            <a:r>
              <a:rPr lang="en-US" altLang="zh-CN" sz="1000" b="1">
                <a:latin typeface="宋体" panose="02010600030101010101" pitchFamily="2" charset="-122"/>
              </a:rPr>
              <a:t>d</a:t>
            </a:r>
            <a:r>
              <a:rPr lang="en-US" altLang="zh-CN" sz="1600" b="1">
                <a:latin typeface="宋体" panose="02010600030101010101" pitchFamily="2" charset="-122"/>
              </a:rPr>
              <a:t> = 2:1 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38261" y="614328"/>
            <a:ext cx="7381875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*2-1-2-5  </a:t>
            </a:r>
            <a:r>
              <a:rPr lang="zh-CN" altLang="en-US" sz="1600" b="1">
                <a:latin typeface="宋体" panose="02010600030101010101" pitchFamily="2" charset="-122"/>
              </a:rPr>
              <a:t>在线段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上取一点Ｃ，使它与Ｈ面和Ｖ面的距离相等；再取一点Ｄ，使 </a:t>
            </a:r>
            <a:r>
              <a:rPr lang="en-US" altLang="zh-CN" sz="1600" b="1">
                <a:latin typeface="宋体" panose="02010600030101010101" pitchFamily="2" charset="-122"/>
              </a:rPr>
              <a:t>Z</a:t>
            </a:r>
            <a:r>
              <a:rPr lang="en-US" altLang="zh-CN" sz="1000" b="1">
                <a:latin typeface="宋体" panose="02010600030101010101" pitchFamily="2" charset="-122"/>
              </a:rPr>
              <a:t>d</a:t>
            </a:r>
            <a:r>
              <a:rPr lang="en-US" altLang="zh-CN" sz="1600" b="1">
                <a:latin typeface="宋体" panose="02010600030101010101" pitchFamily="2" charset="-122"/>
              </a:rPr>
              <a:t>:Y</a:t>
            </a:r>
            <a:r>
              <a:rPr lang="en-US" altLang="zh-CN" sz="1000" b="1">
                <a:latin typeface="宋体" panose="02010600030101010101" pitchFamily="2" charset="-122"/>
              </a:rPr>
              <a:t>d</a:t>
            </a:r>
            <a:r>
              <a:rPr lang="en-US" altLang="zh-CN" sz="1600" b="1">
                <a:latin typeface="宋体" panose="02010600030101010101" pitchFamily="2" charset="-122"/>
              </a:rPr>
              <a:t> = 2:1 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2-1-2-6  已知直线 CD = DE ，试求直线 DE 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95388" y="509587"/>
            <a:ext cx="7324725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00151" y="476251"/>
            <a:ext cx="728662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2-1-2-6  已知直线 CD = DE ，试求直线 DE 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29413" y="3800475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07751" y="685053"/>
            <a:ext cx="588645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2-1-2-7  过点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en-US" altLang="en-US" sz="1600" b="1">
                <a:latin typeface="宋体" panose="02010600030101010101" pitchFamily="2" charset="-122"/>
              </a:rPr>
              <a:t>作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en-US" altLang="en-US" sz="1600" b="1">
                <a:latin typeface="宋体" panose="02010600030101010101" pitchFamily="2" charset="-122"/>
              </a:rPr>
              <a:t>的平行线CD，实长为20（先作出AB的水平投影，后作CD的三面投影）。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2-1-2-7  过点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en-US" altLang="en-US" sz="1600" b="1">
                <a:latin typeface="宋体" panose="02010600030101010101" pitchFamily="2" charset="-122"/>
              </a:rPr>
              <a:t>作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en-US" altLang="en-US" sz="1600" b="1">
                <a:latin typeface="宋体" panose="02010600030101010101" pitchFamily="2" charset="-122"/>
              </a:rPr>
              <a:t>的平行线CD，实长为20（先作出AB的水平投影，后作CD的三面投影）。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57318" y="742910"/>
            <a:ext cx="5712714" cy="509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69314" y="737066"/>
            <a:ext cx="62865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2-1-2-8  作水平线与两已知直线 AB 和 CD 相交并与Ｈ面相距 25。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2-1-2-8  作水平线与两已知直线 AB 和 CD 相交并与Ｈ面相距 25。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52601" y="581002"/>
            <a:ext cx="6451092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38255" y="587186"/>
            <a:ext cx="692467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2-1-2-9  </a:t>
            </a:r>
            <a:r>
              <a:rPr lang="zh-CN" altLang="en-US" sz="1600" b="1">
                <a:latin typeface="宋体" panose="02010600030101010101" pitchFamily="2" charset="-122"/>
              </a:rPr>
              <a:t>作一直线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与已知直线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相交，同时与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平行（点</a:t>
            </a:r>
            <a:r>
              <a:rPr lang="en-US" altLang="zh-CN" sz="1600" b="1">
                <a:latin typeface="宋体" panose="02010600030101010101" pitchFamily="2" charset="-122"/>
              </a:rPr>
              <a:t>M</a:t>
            </a:r>
            <a:r>
              <a:rPr lang="zh-CN" altLang="en-US" sz="1600" b="1">
                <a:latin typeface="宋体" panose="02010600030101010101" pitchFamily="2" charset="-122"/>
              </a:rPr>
              <a:t>在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上，点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zh-CN" altLang="en-US" sz="1600" b="1">
                <a:latin typeface="宋体" panose="02010600030101010101" pitchFamily="2" charset="-122"/>
              </a:rPr>
              <a:t>在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2-1-2-9  </a:t>
            </a:r>
            <a:r>
              <a:rPr lang="zh-CN" altLang="en-US" sz="1600" b="1">
                <a:latin typeface="宋体" panose="02010600030101010101" pitchFamily="2" charset="-122"/>
              </a:rPr>
              <a:t>作一直线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与已知直线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相交，同时与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平行（点</a:t>
            </a:r>
            <a:r>
              <a:rPr lang="en-US" altLang="zh-CN" sz="1600" b="1">
                <a:latin typeface="宋体" panose="02010600030101010101" pitchFamily="2" charset="-122"/>
              </a:rPr>
              <a:t>M</a:t>
            </a:r>
            <a:r>
              <a:rPr lang="zh-CN" altLang="en-US" sz="1600" b="1">
                <a:latin typeface="宋体" panose="02010600030101010101" pitchFamily="2" charset="-122"/>
              </a:rPr>
              <a:t>在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上，点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zh-CN" altLang="en-US" sz="1600" b="1">
                <a:latin typeface="宋体" panose="02010600030101010101" pitchFamily="2" charset="-122"/>
              </a:rPr>
              <a:t>在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33459" y="633383"/>
            <a:ext cx="7197376" cy="5192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314" y="533390"/>
            <a:ext cx="6421660" cy="511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2-1-2-10  </a:t>
            </a:r>
            <a:r>
              <a:rPr lang="zh-CN" altLang="en-US" sz="1600" b="1">
                <a:latin typeface="宋体" panose="02010600030101010101" pitchFamily="2" charset="-122"/>
              </a:rPr>
              <a:t>过点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作一直线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与直线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和 </a:t>
            </a:r>
            <a:r>
              <a:rPr lang="en-US" altLang="zh-CN" sz="1600" b="1">
                <a:latin typeface="宋体" panose="02010600030101010101" pitchFamily="2" charset="-122"/>
              </a:rPr>
              <a:t>OX </a:t>
            </a:r>
            <a:r>
              <a:rPr lang="zh-CN" altLang="en-US" sz="1600" b="1">
                <a:latin typeface="宋体" panose="02010600030101010101" pitchFamily="2" charset="-122"/>
              </a:rPr>
              <a:t>轴都相交。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2-1-2-10  </a:t>
            </a:r>
            <a:r>
              <a:rPr lang="zh-CN" altLang="en-US" sz="1600" b="1">
                <a:latin typeface="宋体" panose="02010600030101010101" pitchFamily="2" charset="-122"/>
              </a:rPr>
              <a:t>过点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作一直线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与直线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和 </a:t>
            </a:r>
            <a:r>
              <a:rPr lang="en-US" altLang="zh-CN" sz="1600" b="1">
                <a:latin typeface="宋体" panose="02010600030101010101" pitchFamily="2" charset="-122"/>
              </a:rPr>
              <a:t>OX </a:t>
            </a:r>
            <a:r>
              <a:rPr lang="zh-CN" altLang="en-US" sz="1600" b="1">
                <a:latin typeface="宋体" panose="02010600030101010101" pitchFamily="2" charset="-122"/>
              </a:rPr>
              <a:t>轴都相交。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00149" y="466722"/>
            <a:ext cx="6686550" cy="52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平面的投影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81072" y="595309"/>
            <a:ext cx="70104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2-1-3-1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2-1-3-1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85830" y="695329"/>
            <a:ext cx="7143750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8239" y="757238"/>
            <a:ext cx="695325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2</a:t>
            </a:r>
            <a:r>
              <a:rPr lang="en-US" altLang="en-US" sz="1600" b="1">
                <a:latin typeface="宋体" panose="02010600030101010101" pitchFamily="2" charset="-122"/>
              </a:rPr>
              <a:t>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2</a:t>
            </a:r>
            <a:r>
              <a:rPr lang="en-US" altLang="en-US" sz="1600" b="1">
                <a:latin typeface="宋体" panose="02010600030101010101" pitchFamily="2" charset="-122"/>
              </a:rPr>
              <a:t>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62049" y="738187"/>
            <a:ext cx="6734175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314" y="700087"/>
            <a:ext cx="651510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3</a:t>
            </a:r>
            <a:r>
              <a:rPr lang="en-US" altLang="en-US" sz="1600" b="1">
                <a:latin typeface="宋体" panose="02010600030101010101" pitchFamily="2" charset="-122"/>
              </a:rPr>
              <a:t>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3" y="719138"/>
            <a:ext cx="6543675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3</a:t>
            </a:r>
            <a:r>
              <a:rPr lang="en-US" altLang="en-US" sz="1600" b="1">
                <a:latin typeface="宋体" panose="02010600030101010101" pitchFamily="2" charset="-122"/>
              </a:rPr>
              <a:t>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3" y="719138"/>
            <a:ext cx="657225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4</a:t>
            </a:r>
            <a:r>
              <a:rPr lang="en-US" altLang="en-US" sz="1600" b="1">
                <a:latin typeface="宋体" panose="02010600030101010101" pitchFamily="2" charset="-122"/>
              </a:rPr>
              <a:t>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4</a:t>
            </a:r>
            <a:r>
              <a:rPr lang="en-US" altLang="en-US" sz="1600" b="1">
                <a:latin typeface="宋体" panose="02010600030101010101" pitchFamily="2" charset="-122"/>
              </a:rPr>
              <a:t>  已知平面的两个投影，求作第三投影。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62077" y="742951"/>
            <a:ext cx="653415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2552" y="619123"/>
            <a:ext cx="652462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2-1-3-5  已知平面上一点Ｋ的一个投影，作出此平面的第三投影及点Ｋ的其他两个投影。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315" y="628647"/>
            <a:ext cx="657225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2-1-3-5  已知平面上一点Ｋ的一个投影，作出此平面的第三投影及点Ｋ的其他两个投影。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52569" y="638174"/>
            <a:ext cx="65817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6</a:t>
            </a:r>
            <a:r>
              <a:rPr lang="en-US" altLang="en-US" sz="1600" b="1">
                <a:latin typeface="宋体" panose="02010600030101010101" pitchFamily="2" charset="-122"/>
              </a:rPr>
              <a:t>  已知平面上一点Ｋ的一个投影，作出此平面的第三投影及点Ｋ的其他两个投影。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66854" y="642936"/>
            <a:ext cx="64389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</a:t>
            </a:r>
            <a:r>
              <a:rPr lang="en-US" altLang="zh-CN" sz="1600" b="1">
                <a:latin typeface="宋体" panose="02010600030101010101" pitchFamily="2" charset="-122"/>
              </a:rPr>
              <a:t>6</a:t>
            </a:r>
            <a:r>
              <a:rPr lang="en-US" altLang="en-US" sz="1600" b="1">
                <a:latin typeface="宋体" panose="02010600030101010101" pitchFamily="2" charset="-122"/>
              </a:rPr>
              <a:t>  已知平面上一点Ｋ的一个投影，作出此平面的第三投影及点Ｋ的其他两个投影。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813" y="547682"/>
            <a:ext cx="604837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2-1-3-7  </a:t>
            </a:r>
            <a:r>
              <a:rPr lang="zh-CN" altLang="en-US" sz="1600" b="1">
                <a:latin typeface="宋体" panose="02010600030101010101" pitchFamily="2" charset="-122"/>
              </a:rPr>
              <a:t>在已知平面内作一点</a:t>
            </a:r>
            <a:r>
              <a:rPr lang="en-US" altLang="zh-CN" sz="1600" b="1">
                <a:latin typeface="宋体" panose="02010600030101010101" pitchFamily="2" charset="-122"/>
              </a:rPr>
              <a:t>D,</a:t>
            </a:r>
            <a:r>
              <a:rPr lang="zh-CN" altLang="en-US" sz="1600" b="1">
                <a:latin typeface="宋体" panose="02010600030101010101" pitchFamily="2" charset="-122"/>
              </a:rPr>
              <a:t>使其距</a:t>
            </a:r>
            <a:r>
              <a:rPr lang="en-US" altLang="zh-CN" sz="1600" b="1">
                <a:latin typeface="宋体" panose="02010600030101010101" pitchFamily="2" charset="-122"/>
              </a:rPr>
              <a:t>H</a:t>
            </a:r>
            <a:r>
              <a:rPr lang="zh-CN" altLang="en-US" sz="1600" b="1">
                <a:latin typeface="宋体" panose="02010600030101010101" pitchFamily="2" charset="-122"/>
              </a:rPr>
              <a:t>面</a:t>
            </a:r>
            <a:r>
              <a:rPr lang="en-US" altLang="zh-CN" sz="1600" b="1">
                <a:latin typeface="宋体" panose="02010600030101010101" pitchFamily="2" charset="-122"/>
              </a:rPr>
              <a:t>30</a:t>
            </a:r>
            <a:r>
              <a:rPr lang="zh-CN" altLang="en-US" sz="1600" b="1">
                <a:latin typeface="宋体" panose="02010600030101010101" pitchFamily="2" charset="-122"/>
              </a:rPr>
              <a:t>，距</a:t>
            </a:r>
            <a:r>
              <a:rPr lang="en-US" altLang="zh-CN" sz="1600" b="1">
                <a:latin typeface="宋体" panose="02010600030101010101" pitchFamily="2" charset="-122"/>
              </a:rPr>
              <a:t>W</a:t>
            </a:r>
            <a:r>
              <a:rPr lang="zh-CN" altLang="en-US" sz="1600" b="1">
                <a:latin typeface="宋体" panose="02010600030101010101" pitchFamily="2" charset="-122"/>
              </a:rPr>
              <a:t>面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33522" y="533395"/>
            <a:ext cx="587692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2-1-3-7  </a:t>
            </a:r>
            <a:r>
              <a:rPr lang="zh-CN" altLang="en-US" sz="1600" b="1">
                <a:latin typeface="宋体" panose="02010600030101010101" pitchFamily="2" charset="-122"/>
              </a:rPr>
              <a:t>在已知平面内作一点</a:t>
            </a:r>
            <a:r>
              <a:rPr lang="en-US" altLang="zh-CN" sz="1600" b="1">
                <a:latin typeface="宋体" panose="02010600030101010101" pitchFamily="2" charset="-122"/>
              </a:rPr>
              <a:t>D,</a:t>
            </a:r>
            <a:r>
              <a:rPr lang="zh-CN" altLang="en-US" sz="1600" b="1">
                <a:latin typeface="宋体" panose="02010600030101010101" pitchFamily="2" charset="-122"/>
              </a:rPr>
              <a:t>使其距</a:t>
            </a:r>
            <a:r>
              <a:rPr lang="en-US" altLang="zh-CN" sz="1600" b="1">
                <a:latin typeface="宋体" panose="02010600030101010101" pitchFamily="2" charset="-122"/>
              </a:rPr>
              <a:t>H</a:t>
            </a:r>
            <a:r>
              <a:rPr lang="zh-CN" altLang="en-US" sz="1600" b="1">
                <a:latin typeface="宋体" panose="02010600030101010101" pitchFamily="2" charset="-122"/>
              </a:rPr>
              <a:t>面</a:t>
            </a:r>
            <a:r>
              <a:rPr lang="en-US" altLang="zh-CN" sz="1600" b="1">
                <a:latin typeface="宋体" panose="02010600030101010101" pitchFamily="2" charset="-122"/>
              </a:rPr>
              <a:t>30</a:t>
            </a:r>
            <a:r>
              <a:rPr lang="zh-CN" altLang="en-US" sz="1600" b="1">
                <a:latin typeface="宋体" panose="02010600030101010101" pitchFamily="2" charset="-122"/>
              </a:rPr>
              <a:t>，距</a:t>
            </a:r>
            <a:r>
              <a:rPr lang="en-US" altLang="zh-CN" sz="1600" b="1">
                <a:latin typeface="宋体" panose="02010600030101010101" pitchFamily="2" charset="-122"/>
              </a:rPr>
              <a:t>W</a:t>
            </a:r>
            <a:r>
              <a:rPr lang="zh-CN" altLang="en-US" sz="1600" b="1">
                <a:latin typeface="宋体" panose="02010600030101010101" pitchFamily="2" charset="-122"/>
              </a:rPr>
              <a:t>面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106" y="738188"/>
            <a:ext cx="6210300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2-1-3-8  </a:t>
            </a:r>
            <a:r>
              <a:rPr lang="zh-CN" altLang="en-US" sz="1600" b="1">
                <a:latin typeface="宋体" panose="02010600030101010101" pitchFamily="2" charset="-122"/>
              </a:rPr>
              <a:t>已知平面 </a:t>
            </a:r>
            <a:r>
              <a:rPr lang="en-US" altLang="zh-CN" sz="1600" b="1">
                <a:latin typeface="宋体" panose="02010600030101010101" pitchFamily="2" charset="-122"/>
              </a:rPr>
              <a:t>ABCD </a:t>
            </a:r>
            <a:r>
              <a:rPr lang="zh-CN" altLang="en-US" sz="1600" b="1">
                <a:latin typeface="宋体" panose="02010600030101010101" pitchFamily="2" charset="-122"/>
              </a:rPr>
              <a:t>的一个投影，求作另一个投影。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5389" y="733425"/>
            <a:ext cx="592455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2-1-3-8  </a:t>
            </a:r>
            <a:r>
              <a:rPr lang="zh-CN" altLang="en-US" sz="1600" b="1">
                <a:latin typeface="宋体" panose="02010600030101010101" pitchFamily="2" charset="-122"/>
              </a:rPr>
              <a:t>已知平面 </a:t>
            </a:r>
            <a:r>
              <a:rPr lang="en-US" altLang="zh-CN" sz="1600" b="1">
                <a:latin typeface="宋体" panose="02010600030101010101" pitchFamily="2" charset="-122"/>
              </a:rPr>
              <a:t>ABCD </a:t>
            </a:r>
            <a:r>
              <a:rPr lang="zh-CN" altLang="en-US" sz="1600" b="1">
                <a:latin typeface="宋体" panose="02010600030101010101" pitchFamily="2" charset="-122"/>
              </a:rPr>
              <a:t>的一个投影，求作另一个投影。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19308" y="595310"/>
            <a:ext cx="55626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2-1-3-9  完成平面图形 ABCDEFGH 的另一个投影。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33589" y="595309"/>
            <a:ext cx="513397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2-1-3-9  完成平面图形 ABCDEFGH 的另一个投影。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81186" y="838204"/>
            <a:ext cx="52959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0" y="133350"/>
            <a:ext cx="914400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2-1-3-10  </a:t>
            </a:r>
            <a:r>
              <a:rPr lang="zh-CN" altLang="en-US" sz="1600" b="1" dirty="0">
                <a:latin typeface="宋体" panose="02010600030101010101" pitchFamily="2" charset="-122"/>
              </a:rPr>
              <a:t>三角形</a:t>
            </a:r>
            <a:r>
              <a:rPr lang="en-US" altLang="zh-CN" sz="1600" b="1" dirty="0">
                <a:latin typeface="宋体" panose="02010600030101010101" pitchFamily="2" charset="-122"/>
              </a:rPr>
              <a:t>EFG</a:t>
            </a:r>
            <a:r>
              <a:rPr lang="zh-CN" altLang="en-US" sz="1600" b="1" dirty="0">
                <a:latin typeface="宋体" panose="02010600030101010101" pitchFamily="2" charset="-122"/>
              </a:rPr>
              <a:t>位于平面</a:t>
            </a:r>
            <a:r>
              <a:rPr lang="en-US" altLang="zh-CN" sz="1600" b="1" dirty="0">
                <a:latin typeface="宋体" panose="02010600030101010101" pitchFamily="2" charset="-122"/>
              </a:rPr>
              <a:t>ABCD</a:t>
            </a:r>
            <a:r>
              <a:rPr lang="zh-CN" altLang="en-US" sz="1600" b="1" dirty="0">
                <a:latin typeface="宋体" panose="02010600030101010101" pitchFamily="2" charset="-122"/>
              </a:rPr>
              <a:t>内，求作</a:t>
            </a:r>
            <a:r>
              <a:rPr lang="en-US" altLang="zh-CN" sz="1600" b="1" dirty="0">
                <a:latin typeface="宋体" panose="02010600030101010101" pitchFamily="2" charset="-122"/>
              </a:rPr>
              <a:t>ABCD</a:t>
            </a:r>
            <a:r>
              <a:rPr lang="zh-CN" altLang="en-US" sz="1600" b="1" dirty="0">
                <a:latin typeface="宋体" panose="02010600030101010101" pitchFamily="2" charset="-122"/>
              </a:rPr>
              <a:t>及</a:t>
            </a:r>
            <a:r>
              <a:rPr lang="en-US" altLang="zh-CN" sz="1600" b="1" dirty="0">
                <a:latin typeface="宋体" panose="02010600030101010101" pitchFamily="2" charset="-122"/>
              </a:rPr>
              <a:t>EFG</a:t>
            </a:r>
            <a:r>
              <a:rPr lang="zh-CN" altLang="en-US" sz="1600" b="1" dirty="0">
                <a:latin typeface="宋体" panose="02010600030101010101" pitchFamily="2" charset="-122"/>
              </a:rPr>
              <a:t>的水平投影。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71660" y="852492"/>
            <a:ext cx="5229225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0" y="133350"/>
            <a:ext cx="914400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2-1-3-10  </a:t>
            </a:r>
            <a:r>
              <a:rPr lang="zh-CN" altLang="en-US" sz="1600" b="1" dirty="0">
                <a:latin typeface="宋体" panose="02010600030101010101" pitchFamily="2" charset="-122"/>
              </a:rPr>
              <a:t>三角形</a:t>
            </a:r>
            <a:r>
              <a:rPr lang="en-US" altLang="zh-CN" sz="1600" b="1" dirty="0">
                <a:latin typeface="宋体" panose="02010600030101010101" pitchFamily="2" charset="-122"/>
              </a:rPr>
              <a:t>EFG</a:t>
            </a:r>
            <a:r>
              <a:rPr lang="zh-CN" altLang="en-US" sz="1600" b="1" dirty="0">
                <a:latin typeface="宋体" panose="02010600030101010101" pitchFamily="2" charset="-122"/>
              </a:rPr>
              <a:t>位于平面</a:t>
            </a:r>
            <a:r>
              <a:rPr lang="en-US" altLang="zh-CN" sz="1600" b="1" dirty="0">
                <a:latin typeface="宋体" panose="02010600030101010101" pitchFamily="2" charset="-122"/>
              </a:rPr>
              <a:t>ABCD</a:t>
            </a:r>
            <a:r>
              <a:rPr lang="zh-CN" altLang="en-US" sz="1600" b="1" dirty="0">
                <a:latin typeface="宋体" panose="02010600030101010101" pitchFamily="2" charset="-122"/>
              </a:rPr>
              <a:t>内，求作</a:t>
            </a:r>
            <a:r>
              <a:rPr lang="en-US" altLang="zh-CN" sz="1600" b="1" dirty="0">
                <a:latin typeface="宋体" panose="02010600030101010101" pitchFamily="2" charset="-122"/>
              </a:rPr>
              <a:t>ABCD</a:t>
            </a:r>
            <a:r>
              <a:rPr lang="zh-CN" altLang="en-US" sz="1600" b="1" dirty="0">
                <a:latin typeface="宋体" panose="02010600030101010101" pitchFamily="2" charset="-122"/>
              </a:rPr>
              <a:t>及</a:t>
            </a:r>
            <a:r>
              <a:rPr lang="en-US" altLang="zh-CN" sz="1600" b="1" dirty="0">
                <a:latin typeface="宋体" panose="02010600030101010101" pitchFamily="2" charset="-122"/>
              </a:rPr>
              <a:t>EFG</a:t>
            </a:r>
            <a:r>
              <a:rPr lang="zh-CN" altLang="en-US" sz="1600" b="1" dirty="0">
                <a:latin typeface="宋体" panose="02010600030101010101" pitchFamily="2" charset="-122"/>
              </a:rPr>
              <a:t>的水平投影。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几何元素间的平行问题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28185" y="718685"/>
            <a:ext cx="802957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2-2-1-1  </a:t>
            </a:r>
            <a:r>
              <a:rPr lang="zh-CN" altLang="en-US" sz="1600" b="1">
                <a:latin typeface="宋体" panose="02010600030101010101" pitchFamily="2" charset="-122"/>
              </a:rPr>
              <a:t>已知直线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平行于由两条平行直线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确定的平面，完成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50638" y="733199"/>
            <a:ext cx="781050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2-2-1-1  </a:t>
            </a:r>
            <a:r>
              <a:rPr lang="zh-CN" altLang="en-US" sz="1600" b="1">
                <a:latin typeface="宋体" panose="02010600030101010101" pitchFamily="2" charset="-122"/>
              </a:rPr>
              <a:t>已知直线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平行于由两条平行直线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确定的平面，完成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9543" y="5239657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e1∥ba , a'b'∥1'e'</a:t>
            </a:r>
            <a:endParaRPr lang="zh-CN" altLang="en-US" b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62077" y="466725"/>
            <a:ext cx="6934200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2-2-1-2  </a:t>
            </a:r>
            <a:r>
              <a:rPr lang="zh-CN" altLang="en-US" sz="1600" b="1">
                <a:latin typeface="宋体" panose="02010600030101010101" pitchFamily="2" charset="-122"/>
              </a:rPr>
              <a:t>已知直线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和三角形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平行，求作此三角形的水平投影。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7" y="485768"/>
            <a:ext cx="68008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2-2-1-2  </a:t>
            </a:r>
            <a:r>
              <a:rPr lang="zh-CN" altLang="en-US" sz="1600" b="1">
                <a:latin typeface="宋体" panose="02010600030101010101" pitchFamily="2" charset="-122"/>
              </a:rPr>
              <a:t>已知直线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和三角形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平行，求作此三角形的水平投影。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550" y="5572126"/>
            <a:ext cx="413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c'1'∥n'm' , c1∥nm ; b 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在 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a1 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的延长线上</a:t>
            </a:r>
            <a:endParaRPr lang="zh-CN" altLang="en-US" b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19200" y="685800"/>
            <a:ext cx="6705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2-2-1-3  </a:t>
            </a:r>
            <a:r>
              <a:rPr lang="zh-CN" altLang="en-US" sz="1600" b="1">
                <a:latin typeface="宋体" panose="02010600030101010101" pitchFamily="2" charset="-122"/>
              </a:rPr>
              <a:t>过点Ｋ做一条长</a:t>
            </a:r>
            <a:r>
              <a:rPr lang="en-US" altLang="zh-CN" sz="1600" b="1">
                <a:latin typeface="宋体" panose="02010600030101010101" pitchFamily="2" charset="-122"/>
              </a:rPr>
              <a:t>12</a:t>
            </a:r>
            <a:r>
              <a:rPr lang="zh-CN" altLang="en-US" sz="1600" b="1">
                <a:latin typeface="宋体" panose="02010600030101010101" pitchFamily="2" charset="-122"/>
              </a:rPr>
              <a:t>的直线</a:t>
            </a:r>
            <a:r>
              <a:rPr lang="en-US" altLang="zh-CN" sz="1600" b="1">
                <a:latin typeface="宋体" panose="02010600030101010101" pitchFamily="2" charset="-122"/>
              </a:rPr>
              <a:t>KL</a:t>
            </a:r>
            <a:r>
              <a:rPr lang="zh-CN" altLang="en-US" sz="1600" b="1">
                <a:latin typeface="宋体" panose="02010600030101010101" pitchFamily="2" charset="-122"/>
              </a:rPr>
              <a:t>平行于三角形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和Ｖ面。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14436" y="652462"/>
            <a:ext cx="66294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2-2-1-3  </a:t>
            </a:r>
            <a:r>
              <a:rPr lang="zh-CN" altLang="en-US" sz="1600" b="1">
                <a:latin typeface="宋体" panose="02010600030101010101" pitchFamily="2" charset="-122"/>
              </a:rPr>
              <a:t>过点Ｋ做一条长</a:t>
            </a:r>
            <a:r>
              <a:rPr lang="en-US" altLang="zh-CN" sz="1600" b="1">
                <a:latin typeface="宋体" panose="02010600030101010101" pitchFamily="2" charset="-122"/>
              </a:rPr>
              <a:t>12</a:t>
            </a:r>
            <a:r>
              <a:rPr lang="zh-CN" altLang="en-US" sz="1600" b="1">
                <a:latin typeface="宋体" panose="02010600030101010101" pitchFamily="2" charset="-122"/>
              </a:rPr>
              <a:t>的直线</a:t>
            </a:r>
            <a:r>
              <a:rPr lang="en-US" altLang="zh-CN" sz="1600" b="1">
                <a:latin typeface="宋体" panose="02010600030101010101" pitchFamily="2" charset="-122"/>
              </a:rPr>
              <a:t>KL</a:t>
            </a:r>
            <a:r>
              <a:rPr lang="zh-CN" altLang="en-US" sz="1600" b="1">
                <a:latin typeface="宋体" panose="02010600030101010101" pitchFamily="2" charset="-122"/>
              </a:rPr>
              <a:t>平行于三角形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和Ｖ面。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43613" y="5057775"/>
            <a:ext cx="2880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3259C8"/>
                </a:solidFill>
                <a:latin typeface="ISOCPEUR" panose="020B0604020202020204" pitchFamily="34" charset="0"/>
              </a:rPr>
              <a:t>A</a:t>
            </a:r>
            <a:r>
              <a:rPr lang="en-US" altLang="zh-CN" sz="1600" b="1" dirty="0" err="1">
                <a:solidFill>
                  <a:srgbClr val="3259C8"/>
                </a:solidFill>
                <a:latin typeface="ISOCPEUR" panose="020B0604020202020204" pitchFamily="34" charset="0"/>
              </a:rPr>
              <a:t>Ⅰ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 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为 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ABC 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上的正平线 ；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</a:endParaRPr>
          </a:p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kl∥1 a , k'l'∥1'a',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</a:endParaRPr>
          </a:p>
          <a:p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解</a:t>
            </a:r>
            <a:endParaRPr lang="zh-CN" altLang="en-US" b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57274" y="561970"/>
            <a:ext cx="69723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2-2-1-4  </a:t>
            </a:r>
            <a:r>
              <a:rPr lang="zh-CN" altLang="en-US" sz="1600" b="1">
                <a:latin typeface="宋体" panose="02010600030101010101" pitchFamily="2" charset="-122"/>
              </a:rPr>
              <a:t>已知两条平行直线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确定的平面</a:t>
            </a:r>
            <a:r>
              <a:rPr lang="en-US" altLang="zh-CN" sz="1600" b="1">
                <a:latin typeface="宋体" panose="02010600030101010101" pitchFamily="2" charset="-122"/>
              </a:rPr>
              <a:t>P</a:t>
            </a:r>
            <a:r>
              <a:rPr lang="zh-CN" altLang="en-US" sz="1600" b="1">
                <a:latin typeface="宋体" panose="02010600030101010101" pitchFamily="2" charset="-122"/>
              </a:rPr>
              <a:t>平行于三角形 </a:t>
            </a:r>
            <a:r>
              <a:rPr lang="en-US" altLang="zh-CN" sz="1600" b="1">
                <a:latin typeface="宋体" panose="02010600030101010101" pitchFamily="2" charset="-122"/>
              </a:rPr>
              <a:t>EFG</a:t>
            </a:r>
            <a:r>
              <a:rPr lang="zh-CN" altLang="en-US" sz="1600" b="1">
                <a:latin typeface="宋体" panose="02010600030101010101" pitchFamily="2" charset="-122"/>
              </a:rPr>
              <a:t>，试完成平面</a:t>
            </a:r>
            <a:r>
              <a:rPr lang="en-US" altLang="zh-CN" sz="1600" b="1">
                <a:latin typeface="宋体" panose="02010600030101010101" pitchFamily="2" charset="-122"/>
              </a:rPr>
              <a:t>P</a:t>
            </a:r>
            <a:r>
              <a:rPr lang="zh-CN" altLang="en-US" sz="1600" b="1">
                <a:latin typeface="宋体" panose="02010600030101010101" pitchFamily="2" charset="-122"/>
              </a:rPr>
              <a:t>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7748" y="561970"/>
            <a:ext cx="693420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2-2-1-4  </a:t>
            </a:r>
            <a:r>
              <a:rPr lang="zh-CN" altLang="en-US" sz="1600" b="1">
                <a:latin typeface="宋体" panose="02010600030101010101" pitchFamily="2" charset="-122"/>
              </a:rPr>
              <a:t>已知两条平行直线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确定的平面</a:t>
            </a:r>
            <a:r>
              <a:rPr lang="en-US" altLang="zh-CN" sz="1600" b="1">
                <a:latin typeface="宋体" panose="02010600030101010101" pitchFamily="2" charset="-122"/>
              </a:rPr>
              <a:t>P</a:t>
            </a:r>
            <a:r>
              <a:rPr lang="zh-CN" altLang="en-US" sz="1600" b="1">
                <a:latin typeface="宋体" panose="02010600030101010101" pitchFamily="2" charset="-122"/>
              </a:rPr>
              <a:t>平行于三角形 </a:t>
            </a:r>
            <a:r>
              <a:rPr lang="en-US" altLang="zh-CN" sz="1600" b="1">
                <a:latin typeface="宋体" panose="02010600030101010101" pitchFamily="2" charset="-122"/>
              </a:rPr>
              <a:t>EFG</a:t>
            </a:r>
            <a:r>
              <a:rPr lang="zh-CN" altLang="en-US" sz="1600" b="1">
                <a:latin typeface="宋体" panose="02010600030101010101" pitchFamily="2" charset="-122"/>
              </a:rPr>
              <a:t>，试完成平面</a:t>
            </a:r>
            <a:r>
              <a:rPr lang="en-US" altLang="zh-CN" sz="1600" b="1">
                <a:latin typeface="宋体" panose="02010600030101010101" pitchFamily="2" charset="-122"/>
              </a:rPr>
              <a:t>P</a:t>
            </a:r>
            <a:r>
              <a:rPr lang="zh-CN" altLang="en-US" sz="1600" b="1">
                <a:latin typeface="宋体" panose="02010600030101010101" pitchFamily="2" charset="-122"/>
              </a:rPr>
              <a:t>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43450" y="5600700"/>
            <a:ext cx="440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e'1'∥a'b', ab∥e1 ; g'2'∥a'c', ac∥g2</a:t>
            </a:r>
            <a:endParaRPr lang="zh-CN" altLang="en-US" b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19242" y="771527"/>
            <a:ext cx="636270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2-2-1-5  </a:t>
            </a:r>
            <a:r>
              <a:rPr lang="zh-CN" altLang="en-US" sz="1600" b="1">
                <a:latin typeface="宋体" panose="02010600030101010101" pitchFamily="2" charset="-122"/>
              </a:rPr>
              <a:t>平面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和 </a:t>
            </a:r>
            <a:r>
              <a:rPr lang="en-US" altLang="zh-CN" sz="1600" b="1">
                <a:latin typeface="宋体" panose="02010600030101010101" pitchFamily="2" charset="-122"/>
              </a:rPr>
              <a:t>DEF </a:t>
            </a:r>
            <a:r>
              <a:rPr lang="zh-CN" altLang="en-US" sz="1600" b="1">
                <a:latin typeface="宋体" panose="02010600030101010101" pitchFamily="2" charset="-122"/>
              </a:rPr>
              <a:t>相互平行，完成 </a:t>
            </a:r>
            <a:r>
              <a:rPr lang="en-US" altLang="zh-CN" sz="1600" b="1">
                <a:latin typeface="宋体" panose="02010600030101010101" pitchFamily="2" charset="-122"/>
              </a:rPr>
              <a:t>DEF </a:t>
            </a:r>
            <a:r>
              <a:rPr lang="zh-CN" altLang="en-US" sz="1600" b="1">
                <a:latin typeface="宋体" panose="02010600030101010101" pitchFamily="2" charset="-122"/>
              </a:rPr>
              <a:t>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19239" y="776290"/>
            <a:ext cx="619125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2-2-1-5  </a:t>
            </a:r>
            <a:r>
              <a:rPr lang="zh-CN" altLang="en-US" sz="1600" b="1">
                <a:latin typeface="宋体" panose="02010600030101010101" pitchFamily="2" charset="-122"/>
              </a:rPr>
              <a:t>平面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和 </a:t>
            </a:r>
            <a:r>
              <a:rPr lang="en-US" altLang="zh-CN" sz="1600" b="1">
                <a:latin typeface="宋体" panose="02010600030101010101" pitchFamily="2" charset="-122"/>
              </a:rPr>
              <a:t>DEF </a:t>
            </a:r>
            <a:r>
              <a:rPr lang="zh-CN" altLang="en-US" sz="1600" b="1">
                <a:latin typeface="宋体" panose="02010600030101010101" pitchFamily="2" charset="-122"/>
              </a:rPr>
              <a:t>相互平行，完成 </a:t>
            </a:r>
            <a:r>
              <a:rPr lang="en-US" altLang="zh-CN" sz="1600" b="1">
                <a:latin typeface="宋体" panose="02010600030101010101" pitchFamily="2" charset="-122"/>
              </a:rPr>
              <a:t>DEF </a:t>
            </a:r>
            <a:r>
              <a:rPr lang="zh-CN" altLang="en-US" sz="1600" b="1">
                <a:latin typeface="宋体" panose="02010600030101010101" pitchFamily="2" charset="-122"/>
              </a:rPr>
              <a:t>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4203382" y="5897881"/>
            <a:ext cx="494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1'c'∥d'e' : de∥1c ; 2'a'∥e'f' : ef∥2a</a:t>
            </a:r>
            <a:endParaRPr lang="zh-CN" altLang="en-US" b="1" dirty="0">
              <a:solidFill>
                <a:srgbClr val="3259C8"/>
              </a:solidFill>
              <a:latin typeface="ISOCPEUR" panose="020B0604020202020204" pitchFamily="34" charset="0"/>
              <a:ea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52643" y="681034"/>
            <a:ext cx="5353050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2-2-1-6  </a:t>
            </a:r>
            <a:r>
              <a:rPr lang="zh-CN" altLang="en-US" sz="1600" b="1">
                <a:latin typeface="宋体" panose="02010600030101010101" pitchFamily="2" charset="-122"/>
              </a:rPr>
              <a:t>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平行于直线</a:t>
            </a:r>
            <a:r>
              <a:rPr lang="en-US" altLang="zh-CN" sz="1600" b="1">
                <a:latin typeface="宋体" panose="02010600030101010101" pitchFamily="2" charset="-122"/>
              </a:rPr>
              <a:t>DE</a:t>
            </a:r>
            <a:r>
              <a:rPr lang="zh-CN" altLang="en-US" sz="1600" b="1">
                <a:latin typeface="宋体" panose="02010600030101010101" pitchFamily="2" charset="-122"/>
              </a:rPr>
              <a:t>和</a:t>
            </a:r>
            <a:r>
              <a:rPr lang="en-US" altLang="zh-CN" sz="1600" b="1">
                <a:latin typeface="宋体" panose="02010600030101010101" pitchFamily="2" charset="-122"/>
              </a:rPr>
              <a:t>FG</a:t>
            </a:r>
            <a:r>
              <a:rPr lang="zh-CN" altLang="en-US" sz="1600" b="1">
                <a:latin typeface="宋体" panose="02010600030101010101" pitchFamily="2" charset="-122"/>
              </a:rPr>
              <a:t>，画出三角形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52640" y="690562"/>
            <a:ext cx="518160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2-2-1-6  </a:t>
            </a:r>
            <a:r>
              <a:rPr lang="zh-CN" altLang="en-US" sz="1600" b="1">
                <a:latin typeface="宋体" panose="02010600030101010101" pitchFamily="2" charset="-122"/>
              </a:rPr>
              <a:t>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平行于直线</a:t>
            </a:r>
            <a:r>
              <a:rPr lang="en-US" altLang="zh-CN" sz="1600" b="1">
                <a:latin typeface="宋体" panose="02010600030101010101" pitchFamily="2" charset="-122"/>
              </a:rPr>
              <a:t>DE</a:t>
            </a:r>
            <a:r>
              <a:rPr lang="zh-CN" altLang="en-US" sz="1600" b="1">
                <a:latin typeface="宋体" panose="02010600030101010101" pitchFamily="2" charset="-122"/>
              </a:rPr>
              <a:t>和</a:t>
            </a:r>
            <a:r>
              <a:rPr lang="en-US" altLang="zh-CN" sz="1600" b="1">
                <a:latin typeface="宋体" panose="02010600030101010101" pitchFamily="2" charset="-122"/>
              </a:rPr>
              <a:t>FG</a:t>
            </a:r>
            <a:r>
              <a:rPr lang="zh-CN" altLang="en-US" sz="1600" b="1">
                <a:latin typeface="宋体" panose="02010600030101010101" pitchFamily="2" charset="-122"/>
              </a:rPr>
              <a:t>，画出三角形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的水平投影。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51914" y="5200650"/>
            <a:ext cx="319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a'1'∥f'g' , a1∥fg ; c'2'∥e'd', 2c∥de ; b 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在 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c1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的延长线上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几何元素间的相交问题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85940" y="823916"/>
            <a:ext cx="5715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2-2-2-1  </a:t>
            </a:r>
            <a:r>
              <a:rPr lang="zh-CN" altLang="en-US" sz="1600" b="1">
                <a:latin typeface="宋体" panose="02010600030101010101" pitchFamily="2" charset="-122"/>
              </a:rPr>
              <a:t>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与已知平面的交点，并判断可见性。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76412" y="823917"/>
            <a:ext cx="55626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2-2-2-1  </a:t>
            </a:r>
            <a:r>
              <a:rPr lang="zh-CN" altLang="en-US" sz="1600" b="1">
                <a:latin typeface="宋体" panose="02010600030101010101" pitchFamily="2" charset="-122"/>
              </a:rPr>
              <a:t>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与已知平面的交点，并判断可见性。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33538" y="571494"/>
            <a:ext cx="58769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2-2-2-2  </a:t>
            </a:r>
            <a:r>
              <a:rPr lang="zh-CN" altLang="en-US" sz="1600" b="1">
                <a:latin typeface="宋体" panose="02010600030101010101" pitchFamily="2" charset="-122"/>
              </a:rPr>
              <a:t>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与已知平面的交点，并判断可见性。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47824" y="581021"/>
            <a:ext cx="57912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2-2-2-2  </a:t>
            </a:r>
            <a:r>
              <a:rPr lang="zh-CN" altLang="en-US" sz="1600" b="1">
                <a:latin typeface="宋体" panose="02010600030101010101" pitchFamily="2" charset="-122"/>
              </a:rPr>
              <a:t>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与已知平面的交点，并判断可见性。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" cstate="print"/>
          <a:srcRect r="-37680"/>
          <a:stretch>
            <a:fillRect/>
          </a:stretch>
        </p:blipFill>
        <p:spPr bwMode="auto">
          <a:xfrm>
            <a:off x="1230630" y="1430655"/>
            <a:ext cx="6557010" cy="48196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80956" name="Rectangle 60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7" name="Text Box 71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2-2-2-3</a:t>
            </a:r>
            <a:r>
              <a:rPr lang="zh-CN" altLang="en-US" sz="1600" b="1">
                <a:latin typeface="宋体" panose="02010600030101010101" pitchFamily="2" charset="-122"/>
              </a:rPr>
              <a:t>　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与由两相交直线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AC</a:t>
            </a:r>
            <a:r>
              <a:rPr lang="zh-CN" altLang="en-US" sz="1600" b="1">
                <a:latin typeface="宋体" panose="02010600030101010101" pitchFamily="2" charset="-122"/>
              </a:rPr>
              <a:t>确定的平面的交点，并判断可见性。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/>
          <p:cNvSpPr/>
          <p:nvPr/>
        </p:nvSpPr>
        <p:spPr bwMode="auto">
          <a:xfrm>
            <a:off x="1325880" y="1463040"/>
            <a:ext cx="672084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81"/>
          <p:cNvGrpSpPr/>
          <p:nvPr/>
        </p:nvGrpSpPr>
        <p:grpSpPr bwMode="auto">
          <a:xfrm>
            <a:off x="1547813" y="1465263"/>
            <a:ext cx="4121151" cy="4005262"/>
            <a:chOff x="975" y="923"/>
            <a:chExt cx="2596" cy="2523"/>
          </a:xfrm>
          <a:noFill/>
        </p:grpSpPr>
        <p:sp>
          <p:nvSpPr>
            <p:cNvPr id="77827" name="Text Box 3"/>
            <p:cNvSpPr txBox="1">
              <a:spLocks noChangeArrowheads="1"/>
            </p:cNvSpPr>
            <p:nvPr/>
          </p:nvSpPr>
          <p:spPr bwMode="auto">
            <a:xfrm>
              <a:off x="2279" y="923"/>
              <a:ext cx="251" cy="288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ISOCPEUR" panose="020B0604020202020204" pitchFamily="34" charset="0"/>
                </a:rPr>
                <a:t>e’</a:t>
              </a:r>
              <a:endParaRPr lang="en-US" altLang="zh-CN" sz="2400" b="1" i="1" dirty="0">
                <a:latin typeface="ISOCPEUR" panose="020B0604020202020204" pitchFamily="34" charset="0"/>
              </a:endParaRPr>
            </a:p>
          </p:txBody>
        </p:sp>
        <p:grpSp>
          <p:nvGrpSpPr>
            <p:cNvPr id="3" name="Group 80"/>
            <p:cNvGrpSpPr/>
            <p:nvPr/>
          </p:nvGrpSpPr>
          <p:grpSpPr bwMode="auto">
            <a:xfrm>
              <a:off x="975" y="1040"/>
              <a:ext cx="2596" cy="2406"/>
              <a:chOff x="975" y="1040"/>
              <a:chExt cx="2596" cy="2406"/>
            </a:xfrm>
            <a:grpFill/>
          </p:grpSpPr>
          <p:sp>
            <p:nvSpPr>
              <p:cNvPr id="77829" name="Line 5"/>
              <p:cNvSpPr>
                <a:spLocks noChangeShapeType="1"/>
              </p:cNvSpPr>
              <p:nvPr/>
            </p:nvSpPr>
            <p:spPr bwMode="auto">
              <a:xfrm>
                <a:off x="1175" y="2429"/>
                <a:ext cx="2173" cy="0"/>
              </a:xfrm>
              <a:prstGeom prst="line">
                <a:avLst/>
              </a:prstGeom>
              <a:grp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0" name="Line 6"/>
              <p:cNvSpPr>
                <a:spLocks noChangeShapeType="1"/>
              </p:cNvSpPr>
              <p:nvPr/>
            </p:nvSpPr>
            <p:spPr bwMode="auto">
              <a:xfrm flipV="1">
                <a:off x="1535" y="2095"/>
                <a:ext cx="0" cy="576"/>
              </a:xfrm>
              <a:prstGeom prst="line">
                <a:avLst/>
              </a:prstGeom>
              <a:grp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1" name="Line 7"/>
              <p:cNvSpPr>
                <a:spLocks noChangeShapeType="1"/>
              </p:cNvSpPr>
              <p:nvPr/>
            </p:nvSpPr>
            <p:spPr bwMode="auto">
              <a:xfrm flipV="1">
                <a:off x="2648" y="1265"/>
                <a:ext cx="0" cy="1404"/>
              </a:xfrm>
              <a:prstGeom prst="line">
                <a:avLst/>
              </a:prstGeom>
              <a:grp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2" name="Line 8"/>
              <p:cNvSpPr>
                <a:spLocks noChangeShapeType="1"/>
              </p:cNvSpPr>
              <p:nvPr/>
            </p:nvSpPr>
            <p:spPr bwMode="auto">
              <a:xfrm flipV="1">
                <a:off x="2787" y="2095"/>
                <a:ext cx="0" cy="1212"/>
              </a:xfrm>
              <a:prstGeom prst="line">
                <a:avLst/>
              </a:prstGeom>
              <a:grp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3" name="Line 9"/>
              <p:cNvSpPr>
                <a:spLocks noChangeShapeType="1"/>
              </p:cNvSpPr>
              <p:nvPr/>
            </p:nvSpPr>
            <p:spPr bwMode="auto">
              <a:xfrm flipV="1">
                <a:off x="2297" y="2280"/>
                <a:ext cx="0" cy="252"/>
              </a:xfrm>
              <a:prstGeom prst="line">
                <a:avLst/>
              </a:prstGeom>
              <a:grp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4" name="Freeform 10"/>
              <p:cNvSpPr/>
              <p:nvPr/>
            </p:nvSpPr>
            <p:spPr bwMode="auto">
              <a:xfrm>
                <a:off x="1536" y="1261"/>
                <a:ext cx="1249" cy="837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0" y="837"/>
                  </a:cxn>
                  <a:cxn ang="0">
                    <a:pos x="1250" y="837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5" name="Freeform 11"/>
              <p:cNvSpPr/>
              <p:nvPr/>
            </p:nvSpPr>
            <p:spPr bwMode="auto">
              <a:xfrm>
                <a:off x="1535" y="2669"/>
                <a:ext cx="1255" cy="640"/>
              </a:xfrm>
              <a:custGeom>
                <a:avLst/>
                <a:gdLst/>
                <a:ahLst/>
                <a:cxnLst>
                  <a:cxn ang="0">
                    <a:pos x="1113" y="0"/>
                  </a:cxn>
                  <a:cxn ang="0">
                    <a:pos x="0" y="0"/>
                  </a:cxn>
                  <a:cxn ang="0">
                    <a:pos x="1255" y="640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6" name="Line 12"/>
              <p:cNvSpPr>
                <a:spLocks noChangeShapeType="1"/>
              </p:cNvSpPr>
              <p:nvPr/>
            </p:nvSpPr>
            <p:spPr bwMode="auto">
              <a:xfrm>
                <a:off x="2298" y="1124"/>
                <a:ext cx="0" cy="398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7" name="Line 13"/>
              <p:cNvSpPr>
                <a:spLocks noChangeShapeType="1"/>
              </p:cNvSpPr>
              <p:nvPr/>
            </p:nvSpPr>
            <p:spPr bwMode="auto">
              <a:xfrm>
                <a:off x="2298" y="2103"/>
                <a:ext cx="0" cy="182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8" name="Line 14"/>
              <p:cNvSpPr>
                <a:spLocks noChangeShapeType="1"/>
              </p:cNvSpPr>
              <p:nvPr/>
            </p:nvSpPr>
            <p:spPr bwMode="auto">
              <a:xfrm>
                <a:off x="2298" y="2532"/>
                <a:ext cx="0" cy="137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9" name="Line 15"/>
              <p:cNvSpPr>
                <a:spLocks noChangeShapeType="1"/>
              </p:cNvSpPr>
              <p:nvPr/>
            </p:nvSpPr>
            <p:spPr bwMode="auto">
              <a:xfrm>
                <a:off x="2298" y="3063"/>
                <a:ext cx="0" cy="24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0" name="Text Box 16"/>
              <p:cNvSpPr txBox="1">
                <a:spLocks noChangeArrowheads="1"/>
              </p:cNvSpPr>
              <p:nvPr/>
            </p:nvSpPr>
            <p:spPr bwMode="auto">
              <a:xfrm>
                <a:off x="975" y="2247"/>
                <a:ext cx="231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X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7841" name="Text Box 17"/>
              <p:cNvSpPr txBox="1">
                <a:spLocks noChangeArrowheads="1"/>
              </p:cNvSpPr>
              <p:nvPr/>
            </p:nvSpPr>
            <p:spPr bwMode="auto">
              <a:xfrm>
                <a:off x="2059" y="2212"/>
                <a:ext cx="263" cy="212"/>
              </a:xfrm>
              <a:prstGeom prst="rect">
                <a:avLst/>
              </a:prstGeom>
              <a:grpFill/>
              <a:ln w="9525" algn="ctr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f’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7842" name="Text Box 18"/>
              <p:cNvSpPr txBox="1">
                <a:spLocks noChangeArrowheads="1"/>
              </p:cNvSpPr>
              <p:nvPr/>
            </p:nvSpPr>
            <p:spPr bwMode="auto">
              <a:xfrm>
                <a:off x="2761" y="1896"/>
                <a:ext cx="238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c’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7843" name="Text Box 19"/>
              <p:cNvSpPr txBox="1">
                <a:spLocks noChangeArrowheads="1"/>
              </p:cNvSpPr>
              <p:nvPr/>
            </p:nvSpPr>
            <p:spPr bwMode="auto">
              <a:xfrm>
                <a:off x="2629" y="1040"/>
                <a:ext cx="251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b’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7844" name="Text Box 20"/>
              <p:cNvSpPr txBox="1">
                <a:spLocks noChangeArrowheads="1"/>
              </p:cNvSpPr>
              <p:nvPr/>
            </p:nvSpPr>
            <p:spPr bwMode="auto">
              <a:xfrm>
                <a:off x="1308" y="1931"/>
                <a:ext cx="251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a’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7845" name="Text Box 21"/>
              <p:cNvSpPr txBox="1">
                <a:spLocks noChangeArrowheads="1"/>
              </p:cNvSpPr>
              <p:nvPr/>
            </p:nvSpPr>
            <p:spPr bwMode="auto">
              <a:xfrm>
                <a:off x="3352" y="2250"/>
                <a:ext cx="219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O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7846" name="Text Box 22"/>
              <p:cNvSpPr txBox="1">
                <a:spLocks noChangeArrowheads="1"/>
              </p:cNvSpPr>
              <p:nvPr/>
            </p:nvSpPr>
            <p:spPr bwMode="auto">
              <a:xfrm>
                <a:off x="1305" y="2506"/>
                <a:ext cx="206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a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7847" name="Text Box 23"/>
              <p:cNvSpPr txBox="1">
                <a:spLocks noChangeArrowheads="1"/>
              </p:cNvSpPr>
              <p:nvPr/>
            </p:nvSpPr>
            <p:spPr bwMode="auto">
              <a:xfrm>
                <a:off x="2062" y="2407"/>
                <a:ext cx="245" cy="212"/>
              </a:xfrm>
              <a:prstGeom prst="rect">
                <a:avLst/>
              </a:prstGeom>
              <a:grpFill/>
              <a:ln w="28575" algn="ctr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f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7848" name="Text Box 24"/>
              <p:cNvSpPr txBox="1">
                <a:spLocks noChangeArrowheads="1"/>
              </p:cNvSpPr>
              <p:nvPr/>
            </p:nvSpPr>
            <p:spPr bwMode="auto">
              <a:xfrm>
                <a:off x="2267" y="3158"/>
                <a:ext cx="206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e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7849" name="Text Box 25"/>
              <p:cNvSpPr txBox="1">
                <a:spLocks noChangeArrowheads="1"/>
              </p:cNvSpPr>
              <p:nvPr/>
            </p:nvSpPr>
            <p:spPr bwMode="auto">
              <a:xfrm>
                <a:off x="2619" y="2439"/>
                <a:ext cx="206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b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7850" name="Text Box 26"/>
              <p:cNvSpPr txBox="1">
                <a:spLocks noChangeArrowheads="1"/>
              </p:cNvSpPr>
              <p:nvPr/>
            </p:nvSpPr>
            <p:spPr bwMode="auto">
              <a:xfrm>
                <a:off x="2785" y="3142"/>
                <a:ext cx="193" cy="28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c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</p:grpSp>
      </p:grpSp>
      <p:sp>
        <p:nvSpPr>
          <p:cNvPr id="77851" name="Line 27"/>
          <p:cNvSpPr>
            <a:spLocks noChangeShapeType="1"/>
          </p:cNvSpPr>
          <p:nvPr/>
        </p:nvSpPr>
        <p:spPr bwMode="auto">
          <a:xfrm flipV="1">
            <a:off x="2438400" y="1774825"/>
            <a:ext cx="1211263" cy="154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2" name="Line 28"/>
          <p:cNvSpPr>
            <a:spLocks noChangeShapeType="1"/>
          </p:cNvSpPr>
          <p:nvPr/>
        </p:nvSpPr>
        <p:spPr bwMode="auto">
          <a:xfrm>
            <a:off x="2438400" y="3316288"/>
            <a:ext cx="1211263" cy="2936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3" name="Line 29"/>
          <p:cNvSpPr>
            <a:spLocks noChangeShapeType="1"/>
          </p:cNvSpPr>
          <p:nvPr/>
        </p:nvSpPr>
        <p:spPr bwMode="auto">
          <a:xfrm flipH="1" flipV="1">
            <a:off x="2438400" y="4230688"/>
            <a:ext cx="1209675" cy="1000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4" name="Line 30"/>
          <p:cNvSpPr>
            <a:spLocks noChangeShapeType="1"/>
          </p:cNvSpPr>
          <p:nvPr/>
        </p:nvSpPr>
        <p:spPr bwMode="auto">
          <a:xfrm flipV="1">
            <a:off x="2438400" y="4010025"/>
            <a:ext cx="1209675" cy="2174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5" name="Line 31"/>
          <p:cNvSpPr>
            <a:spLocks noChangeShapeType="1"/>
          </p:cNvSpPr>
          <p:nvPr/>
        </p:nvSpPr>
        <p:spPr bwMode="auto">
          <a:xfrm flipV="1">
            <a:off x="3648075" y="4227513"/>
            <a:ext cx="1588" cy="625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6" name="Line 32"/>
          <p:cNvSpPr>
            <a:spLocks noChangeShapeType="1"/>
          </p:cNvSpPr>
          <p:nvPr/>
        </p:nvSpPr>
        <p:spPr bwMode="auto">
          <a:xfrm flipV="1">
            <a:off x="3648075" y="2406650"/>
            <a:ext cx="1588" cy="909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7" name="Line 33"/>
          <p:cNvSpPr>
            <a:spLocks noChangeShapeType="1"/>
          </p:cNvSpPr>
          <p:nvPr/>
        </p:nvSpPr>
        <p:spPr bwMode="auto">
          <a:xfrm flipH="1" flipV="1">
            <a:off x="4202113" y="4241800"/>
            <a:ext cx="223837" cy="10017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8" name="Line 34"/>
          <p:cNvSpPr>
            <a:spLocks noChangeShapeType="1"/>
          </p:cNvSpPr>
          <p:nvPr/>
        </p:nvSpPr>
        <p:spPr bwMode="auto">
          <a:xfrm flipH="1" flipV="1">
            <a:off x="4205288" y="1998663"/>
            <a:ext cx="220662" cy="13223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59" name="Line 35"/>
          <p:cNvSpPr>
            <a:spLocks noChangeShapeType="1"/>
          </p:cNvSpPr>
          <p:nvPr/>
        </p:nvSpPr>
        <p:spPr bwMode="auto">
          <a:xfrm>
            <a:off x="2352675" y="2690813"/>
            <a:ext cx="2476500" cy="0"/>
          </a:xfrm>
          <a:prstGeom prst="line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60" name="Text Box 36"/>
          <p:cNvSpPr txBox="1">
            <a:spLocks noChangeArrowheads="1"/>
          </p:cNvSpPr>
          <p:nvPr/>
        </p:nvSpPr>
        <p:spPr bwMode="auto">
          <a:xfrm>
            <a:off x="1865313" y="2257425"/>
            <a:ext cx="4699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P</a:t>
            </a:r>
            <a:r>
              <a:rPr lang="en-US" altLang="zh-CN" sz="2400" b="1" i="1" baseline="-10000" dirty="0">
                <a:solidFill>
                  <a:srgbClr val="3259C8"/>
                </a:solidFill>
                <a:latin typeface="ISOCPEUR" panose="020B0604020202020204" pitchFamily="34" charset="0"/>
              </a:rPr>
              <a:t>V</a:t>
            </a:r>
            <a:endParaRPr lang="en-US" altLang="zh-CN" sz="2400" b="1" i="1" baseline="-10000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61" name="Line 37"/>
          <p:cNvSpPr>
            <a:spLocks noChangeShapeType="1"/>
          </p:cNvSpPr>
          <p:nvPr/>
        </p:nvSpPr>
        <p:spPr bwMode="auto">
          <a:xfrm flipH="1" flipV="1">
            <a:off x="2301875" y="2459038"/>
            <a:ext cx="2244725" cy="541337"/>
          </a:xfrm>
          <a:prstGeom prst="line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>
            <a:off x="3278188" y="2693988"/>
            <a:ext cx="0" cy="1152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63" name="Line 39"/>
          <p:cNvSpPr>
            <a:spLocks noChangeShapeType="1"/>
          </p:cNvSpPr>
          <p:nvPr/>
        </p:nvSpPr>
        <p:spPr bwMode="auto">
          <a:xfrm>
            <a:off x="4365625" y="2959100"/>
            <a:ext cx="0" cy="20193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64" name="Line 40"/>
          <p:cNvSpPr>
            <a:spLocks noChangeShapeType="1"/>
          </p:cNvSpPr>
          <p:nvPr/>
        </p:nvSpPr>
        <p:spPr bwMode="auto">
          <a:xfrm>
            <a:off x="3270250" y="4227513"/>
            <a:ext cx="1093788" cy="7524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65" name="Text Box 41"/>
          <p:cNvSpPr txBox="1">
            <a:spLocks noChangeArrowheads="1"/>
          </p:cNvSpPr>
          <p:nvPr/>
        </p:nvSpPr>
        <p:spPr bwMode="auto">
          <a:xfrm>
            <a:off x="4265613" y="2627313"/>
            <a:ext cx="41910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4’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66" name="Text Box 42"/>
          <p:cNvSpPr txBox="1">
            <a:spLocks noChangeArrowheads="1"/>
          </p:cNvSpPr>
          <p:nvPr/>
        </p:nvSpPr>
        <p:spPr bwMode="auto">
          <a:xfrm>
            <a:off x="3051175" y="2278063"/>
            <a:ext cx="3984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3’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67" name="Text Box 43"/>
          <p:cNvSpPr txBox="1">
            <a:spLocks noChangeArrowheads="1"/>
          </p:cNvSpPr>
          <p:nvPr/>
        </p:nvSpPr>
        <p:spPr bwMode="auto">
          <a:xfrm>
            <a:off x="3573463" y="2439988"/>
            <a:ext cx="39846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2’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68" name="Text Box 44"/>
          <p:cNvSpPr txBox="1">
            <a:spLocks noChangeArrowheads="1"/>
          </p:cNvSpPr>
          <p:nvPr/>
        </p:nvSpPr>
        <p:spPr bwMode="auto">
          <a:xfrm>
            <a:off x="2751138" y="2168525"/>
            <a:ext cx="35718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1’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69" name="Text Box 45"/>
          <p:cNvSpPr txBox="1">
            <a:spLocks noChangeArrowheads="1"/>
          </p:cNvSpPr>
          <p:nvPr/>
        </p:nvSpPr>
        <p:spPr bwMode="auto">
          <a:xfrm>
            <a:off x="4311650" y="4624388"/>
            <a:ext cx="3476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4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70" name="Text Box 46"/>
          <p:cNvSpPr txBox="1">
            <a:spLocks noChangeArrowheads="1"/>
          </p:cNvSpPr>
          <p:nvPr/>
        </p:nvSpPr>
        <p:spPr bwMode="auto">
          <a:xfrm>
            <a:off x="2963863" y="3848100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3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71" name="Text Box 47"/>
          <p:cNvSpPr txBox="1">
            <a:spLocks noChangeArrowheads="1"/>
          </p:cNvSpPr>
          <p:nvPr/>
        </p:nvSpPr>
        <p:spPr bwMode="auto">
          <a:xfrm>
            <a:off x="3703638" y="4244975"/>
            <a:ext cx="2651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l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72" name="Text Box 48"/>
          <p:cNvSpPr txBox="1">
            <a:spLocks noChangeArrowheads="1"/>
          </p:cNvSpPr>
          <p:nvPr/>
        </p:nvSpPr>
        <p:spPr bwMode="auto">
          <a:xfrm>
            <a:off x="2536825" y="4425950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1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73" name="Line 49"/>
          <p:cNvSpPr>
            <a:spLocks noChangeShapeType="1"/>
          </p:cNvSpPr>
          <p:nvPr/>
        </p:nvSpPr>
        <p:spPr bwMode="auto">
          <a:xfrm flipH="1">
            <a:off x="2979738" y="4565650"/>
            <a:ext cx="663575" cy="1143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74" name="Line 50"/>
          <p:cNvSpPr>
            <a:spLocks noChangeShapeType="1"/>
          </p:cNvSpPr>
          <p:nvPr/>
        </p:nvSpPr>
        <p:spPr bwMode="auto">
          <a:xfrm>
            <a:off x="2979738" y="2620963"/>
            <a:ext cx="0" cy="12271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75" name="Text Box 51"/>
          <p:cNvSpPr txBox="1">
            <a:spLocks noChangeArrowheads="1"/>
          </p:cNvSpPr>
          <p:nvPr/>
        </p:nvSpPr>
        <p:spPr bwMode="auto">
          <a:xfrm>
            <a:off x="3278188" y="2744788"/>
            <a:ext cx="39846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k’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76" name="Text Box 52"/>
          <p:cNvSpPr txBox="1">
            <a:spLocks noChangeArrowheads="1"/>
          </p:cNvSpPr>
          <p:nvPr/>
        </p:nvSpPr>
        <p:spPr bwMode="auto">
          <a:xfrm>
            <a:off x="3673475" y="2622550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l’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77" name="Line 53"/>
          <p:cNvSpPr>
            <a:spLocks noChangeShapeType="1"/>
          </p:cNvSpPr>
          <p:nvPr/>
        </p:nvSpPr>
        <p:spPr bwMode="auto">
          <a:xfrm flipV="1">
            <a:off x="3738563" y="3838575"/>
            <a:ext cx="0" cy="7096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78" name="Line 54"/>
          <p:cNvSpPr>
            <a:spLocks noChangeShapeType="1"/>
          </p:cNvSpPr>
          <p:nvPr/>
        </p:nvSpPr>
        <p:spPr bwMode="auto">
          <a:xfrm>
            <a:off x="2443163" y="4229100"/>
            <a:ext cx="1290637" cy="3143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79" name="Line 55"/>
          <p:cNvSpPr>
            <a:spLocks noChangeShapeType="1"/>
          </p:cNvSpPr>
          <p:nvPr/>
        </p:nvSpPr>
        <p:spPr bwMode="auto">
          <a:xfrm flipV="1">
            <a:off x="2443163" y="2805113"/>
            <a:ext cx="1290637" cy="5095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0" name="Text Box 56"/>
          <p:cNvSpPr txBox="1">
            <a:spLocks noChangeArrowheads="1"/>
          </p:cNvSpPr>
          <p:nvPr/>
        </p:nvSpPr>
        <p:spPr bwMode="auto">
          <a:xfrm>
            <a:off x="3371850" y="4171950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k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81" name="Line 57"/>
          <p:cNvSpPr>
            <a:spLocks noChangeShapeType="1"/>
          </p:cNvSpPr>
          <p:nvPr/>
        </p:nvSpPr>
        <p:spPr bwMode="auto">
          <a:xfrm flipV="1">
            <a:off x="3646488" y="4511675"/>
            <a:ext cx="0" cy="336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2" name="Line 58"/>
          <p:cNvSpPr>
            <a:spLocks noChangeShapeType="1"/>
          </p:cNvSpPr>
          <p:nvPr/>
        </p:nvSpPr>
        <p:spPr bwMode="auto">
          <a:xfrm flipH="1">
            <a:off x="3646488" y="4268788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3" name="Line 59"/>
          <p:cNvSpPr>
            <a:spLocks noChangeShapeType="1"/>
          </p:cNvSpPr>
          <p:nvPr/>
        </p:nvSpPr>
        <p:spPr bwMode="auto">
          <a:xfrm>
            <a:off x="3648075" y="2413000"/>
            <a:ext cx="0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4" name="Oval 60"/>
          <p:cNvSpPr>
            <a:spLocks noChangeArrowheads="1"/>
          </p:cNvSpPr>
          <p:nvPr/>
        </p:nvSpPr>
        <p:spPr bwMode="auto">
          <a:xfrm>
            <a:off x="3619500" y="2808288"/>
            <a:ext cx="58738" cy="587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85" name="Line 61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6" name="Oval 62"/>
          <p:cNvSpPr>
            <a:spLocks noChangeArrowheads="1"/>
          </p:cNvSpPr>
          <p:nvPr/>
        </p:nvSpPr>
        <p:spPr bwMode="auto">
          <a:xfrm>
            <a:off x="3616325" y="4492625"/>
            <a:ext cx="58738" cy="587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87" name="Line 63"/>
          <p:cNvSpPr>
            <a:spLocks noChangeShapeType="1"/>
          </p:cNvSpPr>
          <p:nvPr/>
        </p:nvSpPr>
        <p:spPr bwMode="auto">
          <a:xfrm>
            <a:off x="2979738" y="3848100"/>
            <a:ext cx="0" cy="8318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8" name="Line 64"/>
          <p:cNvSpPr>
            <a:spLocks noChangeShapeType="1"/>
          </p:cNvSpPr>
          <p:nvPr/>
        </p:nvSpPr>
        <p:spPr bwMode="auto">
          <a:xfrm>
            <a:off x="3278188" y="3844925"/>
            <a:ext cx="0" cy="382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89" name="Line 65"/>
          <p:cNvSpPr>
            <a:spLocks noChangeShapeType="1"/>
          </p:cNvSpPr>
          <p:nvPr/>
        </p:nvSpPr>
        <p:spPr bwMode="auto">
          <a:xfrm flipV="1">
            <a:off x="3738563" y="2805113"/>
            <a:ext cx="0" cy="10350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91" name="Rectangle 67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92" name="Text Box 68"/>
          <p:cNvSpPr txBox="1">
            <a:spLocks noChangeArrowheads="1"/>
          </p:cNvSpPr>
          <p:nvPr/>
        </p:nvSpPr>
        <p:spPr bwMode="auto">
          <a:xfrm>
            <a:off x="5178425" y="3949700"/>
            <a:ext cx="3965575" cy="1006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说明：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向有利于解题的方向转化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:</a:t>
            </a:r>
            <a:endParaRPr lang="en-US" altLang="zh-CN" sz="1500" b="1" dirty="0">
              <a:solidFill>
                <a:srgbClr val="3259C8"/>
              </a:solidFill>
              <a:latin typeface="+mn-ea"/>
              <a:ea typeface="+mn-ea"/>
            </a:endParaRPr>
          </a:p>
          <a:p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 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侧平线 与 一般位置面 相交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转化为 两个一般位置面相交问题</a:t>
            </a:r>
            <a:endParaRPr lang="zh-CN" altLang="el-GR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893" name="Text Box 69"/>
          <p:cNvSpPr txBox="1">
            <a:spLocks noChangeArrowheads="1"/>
          </p:cNvSpPr>
          <p:nvPr/>
        </p:nvSpPr>
        <p:spPr bwMode="auto">
          <a:xfrm>
            <a:off x="3552825" y="4452938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2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7894" name="Line 70"/>
          <p:cNvSpPr>
            <a:spLocks noChangeShapeType="1"/>
          </p:cNvSpPr>
          <p:nvPr/>
        </p:nvSpPr>
        <p:spPr bwMode="auto">
          <a:xfrm flipH="1">
            <a:off x="3648075" y="4548188"/>
            <a:ext cx="88900" cy="158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895" name="Text Box 71"/>
          <p:cNvSpPr txBox="1">
            <a:spLocks noChangeArrowheads="1"/>
          </p:cNvSpPr>
          <p:nvPr/>
        </p:nvSpPr>
        <p:spPr bwMode="auto">
          <a:xfrm>
            <a:off x="5329238" y="5545138"/>
            <a:ext cx="3681412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>
                <a:solidFill>
                  <a:srgbClr val="3259C8"/>
                </a:solidFill>
                <a:latin typeface="+mn-ea"/>
                <a:ea typeface="+mn-ea"/>
              </a:rPr>
              <a:t>利用三面共点法求解</a:t>
            </a:r>
            <a:endParaRPr lang="zh-CN" altLang="en-US" sz="1500" b="1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896" name="Text Box 72"/>
          <p:cNvSpPr txBox="1">
            <a:spLocks noChangeArrowheads="1"/>
          </p:cNvSpPr>
          <p:nvPr/>
        </p:nvSpPr>
        <p:spPr bwMode="auto">
          <a:xfrm>
            <a:off x="5172075" y="5232400"/>
            <a:ext cx="3971925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求作</a:t>
            </a:r>
            <a:r>
              <a:rPr lang="zh-CN" altLang="en-US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ABC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与</a:t>
            </a:r>
            <a:r>
              <a:rPr lang="zh-CN" altLang="en-US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AEF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的另一共有点！ </a:t>
            </a:r>
            <a:endParaRPr lang="zh-CN" altLang="el-GR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897" name="Text Box 73"/>
          <p:cNvSpPr txBox="1">
            <a:spLocks noChangeArrowheads="1"/>
          </p:cNvSpPr>
          <p:nvPr/>
        </p:nvSpPr>
        <p:spPr bwMode="auto">
          <a:xfrm>
            <a:off x="5197475" y="4922838"/>
            <a:ext cx="3946525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点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为</a:t>
            </a:r>
            <a:r>
              <a:rPr lang="zh-CN" altLang="en-US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ABC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与</a:t>
            </a:r>
            <a:r>
              <a:rPr lang="zh-CN" altLang="en-US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AEF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的共有点！ </a:t>
            </a:r>
            <a:endParaRPr lang="zh-CN" altLang="el-GR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898" name="Text Box 74"/>
          <p:cNvSpPr txBox="1">
            <a:spLocks noChangeArrowheads="1"/>
          </p:cNvSpPr>
          <p:nvPr/>
        </p:nvSpPr>
        <p:spPr bwMode="auto">
          <a:xfrm>
            <a:off x="5322888" y="5805488"/>
            <a:ext cx="3821112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取 </a:t>
            </a:r>
            <a:r>
              <a:rPr lang="en-US" altLang="zh-CN" sz="1500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P</a:t>
            </a:r>
            <a:r>
              <a:rPr lang="en-US" altLang="zh-CN" sz="1000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V</a:t>
            </a:r>
            <a:r>
              <a:rPr lang="en-US" altLang="zh-CN" sz="1500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∥a’f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’</a:t>
            </a:r>
            <a:endParaRPr lang="en-US" altLang="zh-CN" sz="1500" b="1" dirty="0">
              <a:solidFill>
                <a:srgbClr val="3259C8"/>
              </a:solidFill>
              <a:latin typeface="ISOCPEUR" panose="020B0604020202020204" pitchFamily="34" charset="0"/>
              <a:ea typeface="+mn-ea"/>
            </a:endParaRPr>
          </a:p>
        </p:txBody>
      </p:sp>
      <p:sp>
        <p:nvSpPr>
          <p:cNvPr id="77899" name="Oval 75"/>
          <p:cNvSpPr>
            <a:spLocks noChangeArrowheads="1"/>
          </p:cNvSpPr>
          <p:nvPr/>
        </p:nvSpPr>
        <p:spPr bwMode="auto">
          <a:xfrm>
            <a:off x="2414588" y="3286125"/>
            <a:ext cx="66675" cy="666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0" name="Oval 76"/>
          <p:cNvSpPr>
            <a:spLocks noChangeArrowheads="1"/>
          </p:cNvSpPr>
          <p:nvPr/>
        </p:nvSpPr>
        <p:spPr bwMode="auto">
          <a:xfrm>
            <a:off x="2411413" y="4208463"/>
            <a:ext cx="66675" cy="666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3" name="Text Box 79"/>
          <p:cNvSpPr txBox="1">
            <a:spLocks noChangeArrowheads="1"/>
          </p:cNvSpPr>
          <p:nvPr/>
        </p:nvSpPr>
        <p:spPr bwMode="auto">
          <a:xfrm>
            <a:off x="5292725" y="3108325"/>
            <a:ext cx="3851275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方法一</a:t>
            </a:r>
            <a:endParaRPr lang="el-GR" altLang="zh-CN" sz="1500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901" name="Text Box 77"/>
          <p:cNvSpPr txBox="1">
            <a:spLocks noChangeArrowheads="1"/>
          </p:cNvSpPr>
          <p:nvPr/>
        </p:nvSpPr>
        <p:spPr bwMode="auto">
          <a:xfrm>
            <a:off x="5292725" y="1052513"/>
            <a:ext cx="3851275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提示：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点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为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ABC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与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AEF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的共有点！</a:t>
            </a:r>
            <a:r>
              <a:rPr lang="zh-CN" altLang="en-US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endParaRPr lang="zh-CN" altLang="el-GR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906" name="Text Box 82"/>
          <p:cNvSpPr txBox="1">
            <a:spLocks noChangeArrowheads="1"/>
          </p:cNvSpPr>
          <p:nvPr/>
        </p:nvSpPr>
        <p:spPr bwMode="auto">
          <a:xfrm>
            <a:off x="5322888" y="6115050"/>
            <a:ext cx="3821112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点 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K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为所求。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7907" name="Text Box 8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2-2-2-3</a:t>
            </a:r>
            <a:r>
              <a:rPr lang="zh-CN" altLang="en-US" sz="1600" b="1">
                <a:latin typeface="宋体" panose="02010600030101010101" pitchFamily="2" charset="-122"/>
              </a:rPr>
              <a:t>　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与由两相交直线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AC</a:t>
            </a:r>
            <a:r>
              <a:rPr lang="zh-CN" altLang="en-US" sz="1600" b="1">
                <a:latin typeface="宋体" panose="02010600030101010101" pitchFamily="2" charset="-122"/>
              </a:rPr>
              <a:t>确定的平面的交点，并判断可见性。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7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9" dur="5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7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7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7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7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7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0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7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7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3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77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51" grpId="0" animBg="1"/>
      <p:bldP spid="77852" grpId="0" animBg="1"/>
      <p:bldP spid="77853" grpId="0" animBg="1"/>
      <p:bldP spid="77854" grpId="0" animBg="1"/>
      <p:bldP spid="77855" grpId="0" animBg="1"/>
      <p:bldP spid="77855" grpId="1" animBg="1"/>
      <p:bldP spid="77856" grpId="0" animBg="1"/>
      <p:bldP spid="77856" grpId="1" animBg="1"/>
      <p:bldP spid="77857" grpId="0" animBg="1"/>
      <p:bldP spid="77858" grpId="0" animBg="1"/>
      <p:bldP spid="77859" grpId="0" animBg="1"/>
      <p:bldP spid="77859" grpId="1" animBg="1"/>
      <p:bldP spid="77860" grpId="0"/>
      <p:bldP spid="77861" grpId="0" animBg="1"/>
      <p:bldP spid="77862" grpId="0" animBg="1"/>
      <p:bldP spid="77863" grpId="0" animBg="1"/>
      <p:bldP spid="77864" grpId="0" animBg="1"/>
      <p:bldP spid="77865" grpId="0"/>
      <p:bldP spid="77866" grpId="0"/>
      <p:bldP spid="77867" grpId="0"/>
      <p:bldP spid="77868" grpId="0"/>
      <p:bldP spid="77869" grpId="0"/>
      <p:bldP spid="77870" grpId="0"/>
      <p:bldP spid="77872" grpId="0"/>
      <p:bldP spid="77873" grpId="0" animBg="1"/>
      <p:bldP spid="77874" grpId="0" animBg="1"/>
      <p:bldP spid="77875" grpId="0"/>
      <p:bldP spid="77876" grpId="0"/>
      <p:bldP spid="77877" grpId="0" animBg="1"/>
      <p:bldP spid="77878" grpId="0" animBg="1"/>
      <p:bldP spid="77879" grpId="0" animBg="1"/>
      <p:bldP spid="77880" grpId="0"/>
      <p:bldP spid="77881" grpId="0" animBg="1"/>
      <p:bldP spid="77882" grpId="0" animBg="1"/>
      <p:bldP spid="77883" grpId="0" animBg="1"/>
      <p:bldP spid="77884" grpId="0" animBg="1"/>
      <p:bldP spid="77885" grpId="0" animBg="1"/>
      <p:bldP spid="77886" grpId="0" animBg="1"/>
      <p:bldP spid="77887" grpId="0" animBg="1"/>
      <p:bldP spid="77888" grpId="0" animBg="1"/>
      <p:bldP spid="77889" grpId="0" animBg="1"/>
      <p:bldP spid="77892" grpId="0" animBg="1"/>
      <p:bldP spid="77894" grpId="0" animBg="1"/>
      <p:bldP spid="77895" grpId="0" animBg="1"/>
      <p:bldP spid="77896" grpId="0" animBg="1"/>
      <p:bldP spid="77897" grpId="0" animBg="1"/>
      <p:bldP spid="77898" grpId="0" animBg="1"/>
      <p:bldP spid="77899" grpId="0" animBg="1"/>
      <p:bldP spid="77900" grpId="0" animBg="1"/>
      <p:bldP spid="77903" grpId="0" animBg="1"/>
      <p:bldP spid="77901" grpId="0" animBg="1"/>
      <p:bldP spid="7790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 bwMode="auto">
          <a:xfrm>
            <a:off x="1325880" y="1463040"/>
            <a:ext cx="672084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71"/>
          <p:cNvGrpSpPr/>
          <p:nvPr/>
        </p:nvGrpSpPr>
        <p:grpSpPr bwMode="auto">
          <a:xfrm>
            <a:off x="1549400" y="1455738"/>
            <a:ext cx="6262688" cy="4005262"/>
            <a:chOff x="976" y="917"/>
            <a:chExt cx="3945" cy="2523"/>
          </a:xfrm>
        </p:grpSpPr>
        <p:sp>
          <p:nvSpPr>
            <p:cNvPr id="78851" name="Text Box 3"/>
            <p:cNvSpPr txBox="1">
              <a:spLocks noChangeArrowheads="1"/>
            </p:cNvSpPr>
            <p:nvPr/>
          </p:nvSpPr>
          <p:spPr bwMode="auto">
            <a:xfrm>
              <a:off x="2280" y="917"/>
              <a:ext cx="251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ISOCPEUR" panose="020B0604020202020204" pitchFamily="34" charset="0"/>
                </a:rPr>
                <a:t>e’</a:t>
              </a:r>
              <a:endParaRPr lang="en-US" altLang="zh-CN" sz="2400" b="1" i="1">
                <a:latin typeface="ISOCPEUR" panose="020B0604020202020204" pitchFamily="34" charset="0"/>
              </a:endParaRPr>
            </a:p>
          </p:txBody>
        </p:sp>
        <p:grpSp>
          <p:nvGrpSpPr>
            <p:cNvPr id="3" name="Group 70"/>
            <p:cNvGrpSpPr/>
            <p:nvPr/>
          </p:nvGrpSpPr>
          <p:grpSpPr bwMode="auto">
            <a:xfrm>
              <a:off x="976" y="1034"/>
              <a:ext cx="3945" cy="2406"/>
              <a:chOff x="976" y="1034"/>
              <a:chExt cx="3945" cy="2406"/>
            </a:xfrm>
          </p:grpSpPr>
          <p:sp>
            <p:nvSpPr>
              <p:cNvPr id="78853" name="Line 5"/>
              <p:cNvSpPr>
                <a:spLocks noChangeShapeType="1"/>
              </p:cNvSpPr>
              <p:nvPr/>
            </p:nvSpPr>
            <p:spPr bwMode="auto">
              <a:xfrm>
                <a:off x="1176" y="2423"/>
                <a:ext cx="215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54" name="Line 6"/>
              <p:cNvSpPr>
                <a:spLocks noChangeShapeType="1"/>
              </p:cNvSpPr>
              <p:nvPr/>
            </p:nvSpPr>
            <p:spPr bwMode="auto">
              <a:xfrm flipV="1">
                <a:off x="1536" y="2089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55" name="Line 7"/>
              <p:cNvSpPr>
                <a:spLocks noChangeShapeType="1"/>
              </p:cNvSpPr>
              <p:nvPr/>
            </p:nvSpPr>
            <p:spPr bwMode="auto">
              <a:xfrm flipV="1">
                <a:off x="2649" y="1259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56" name="Line 8"/>
              <p:cNvSpPr>
                <a:spLocks noChangeShapeType="1"/>
              </p:cNvSpPr>
              <p:nvPr/>
            </p:nvSpPr>
            <p:spPr bwMode="auto">
              <a:xfrm flipV="1">
                <a:off x="2788" y="2089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57" name="Line 9"/>
              <p:cNvSpPr>
                <a:spLocks noChangeShapeType="1"/>
              </p:cNvSpPr>
              <p:nvPr/>
            </p:nvSpPr>
            <p:spPr bwMode="auto">
              <a:xfrm flipV="1">
                <a:off x="2298" y="227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58" name="Freeform 10"/>
              <p:cNvSpPr/>
              <p:nvPr/>
            </p:nvSpPr>
            <p:spPr bwMode="auto">
              <a:xfrm>
                <a:off x="1537" y="1255"/>
                <a:ext cx="1249" cy="837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0" y="837"/>
                  </a:cxn>
                  <a:cxn ang="0">
                    <a:pos x="1250" y="837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59" name="Freeform 11"/>
              <p:cNvSpPr/>
              <p:nvPr/>
            </p:nvSpPr>
            <p:spPr bwMode="auto">
              <a:xfrm>
                <a:off x="1536" y="2663"/>
                <a:ext cx="1255" cy="640"/>
              </a:xfrm>
              <a:custGeom>
                <a:avLst/>
                <a:gdLst/>
                <a:ahLst/>
                <a:cxnLst>
                  <a:cxn ang="0">
                    <a:pos x="1113" y="0"/>
                  </a:cxn>
                  <a:cxn ang="0">
                    <a:pos x="0" y="0"/>
                  </a:cxn>
                  <a:cxn ang="0">
                    <a:pos x="1255" y="640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60" name="Line 12"/>
              <p:cNvSpPr>
                <a:spLocks noChangeShapeType="1"/>
              </p:cNvSpPr>
              <p:nvPr/>
            </p:nvSpPr>
            <p:spPr bwMode="auto">
              <a:xfrm>
                <a:off x="2299" y="1118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61" name="Line 13"/>
              <p:cNvSpPr>
                <a:spLocks noChangeShapeType="1"/>
              </p:cNvSpPr>
              <p:nvPr/>
            </p:nvSpPr>
            <p:spPr bwMode="auto">
              <a:xfrm>
                <a:off x="2299" y="2097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62" name="Line 14"/>
              <p:cNvSpPr>
                <a:spLocks noChangeShapeType="1"/>
              </p:cNvSpPr>
              <p:nvPr/>
            </p:nvSpPr>
            <p:spPr bwMode="auto">
              <a:xfrm>
                <a:off x="2299" y="2526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63" name="Line 15"/>
              <p:cNvSpPr>
                <a:spLocks noChangeShapeType="1"/>
              </p:cNvSpPr>
              <p:nvPr/>
            </p:nvSpPr>
            <p:spPr bwMode="auto">
              <a:xfrm>
                <a:off x="2299" y="3057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64" name="Text Box 16"/>
              <p:cNvSpPr txBox="1">
                <a:spLocks noChangeArrowheads="1"/>
              </p:cNvSpPr>
              <p:nvPr/>
            </p:nvSpPr>
            <p:spPr bwMode="auto">
              <a:xfrm>
                <a:off x="976" y="2241"/>
                <a:ext cx="23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X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8865" name="Text Box 17"/>
              <p:cNvSpPr txBox="1">
                <a:spLocks noChangeArrowheads="1"/>
              </p:cNvSpPr>
              <p:nvPr/>
            </p:nvSpPr>
            <p:spPr bwMode="auto">
              <a:xfrm>
                <a:off x="2060" y="2206"/>
                <a:ext cx="2317" cy="212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f’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66" name="Text Box 18"/>
              <p:cNvSpPr txBox="1">
                <a:spLocks noChangeArrowheads="1"/>
              </p:cNvSpPr>
              <p:nvPr/>
            </p:nvSpPr>
            <p:spPr bwMode="auto">
              <a:xfrm>
                <a:off x="2762" y="1890"/>
                <a:ext cx="23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c’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67" name="Text Box 19"/>
              <p:cNvSpPr txBox="1">
                <a:spLocks noChangeArrowheads="1"/>
              </p:cNvSpPr>
              <p:nvPr/>
            </p:nvSpPr>
            <p:spPr bwMode="auto">
              <a:xfrm>
                <a:off x="2630" y="1034"/>
                <a:ext cx="25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b’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68" name="Text Box 20"/>
              <p:cNvSpPr txBox="1">
                <a:spLocks noChangeArrowheads="1"/>
              </p:cNvSpPr>
              <p:nvPr/>
            </p:nvSpPr>
            <p:spPr bwMode="auto">
              <a:xfrm>
                <a:off x="1309" y="1925"/>
                <a:ext cx="25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a’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69" name="Text Box 21"/>
              <p:cNvSpPr txBox="1">
                <a:spLocks noChangeArrowheads="1"/>
              </p:cNvSpPr>
              <p:nvPr/>
            </p:nvSpPr>
            <p:spPr bwMode="auto">
              <a:xfrm>
                <a:off x="3341" y="2244"/>
                <a:ext cx="219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O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8870" name="Text Box 22"/>
              <p:cNvSpPr txBox="1">
                <a:spLocks noChangeArrowheads="1"/>
              </p:cNvSpPr>
              <p:nvPr/>
            </p:nvSpPr>
            <p:spPr bwMode="auto">
              <a:xfrm>
                <a:off x="1306" y="2500"/>
                <a:ext cx="20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a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71" name="Text Box 23"/>
              <p:cNvSpPr txBox="1">
                <a:spLocks noChangeArrowheads="1"/>
              </p:cNvSpPr>
              <p:nvPr/>
            </p:nvSpPr>
            <p:spPr bwMode="auto">
              <a:xfrm>
                <a:off x="2072" y="2417"/>
                <a:ext cx="2849" cy="212"/>
              </a:xfrm>
              <a:prstGeom prst="rect">
                <a:avLst/>
              </a:prstGeom>
              <a:noFill/>
              <a:ln w="28575" algn="ctr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f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72" name="Text Box 24"/>
              <p:cNvSpPr txBox="1">
                <a:spLocks noChangeArrowheads="1"/>
              </p:cNvSpPr>
              <p:nvPr/>
            </p:nvSpPr>
            <p:spPr bwMode="auto">
              <a:xfrm>
                <a:off x="2268" y="3152"/>
                <a:ext cx="20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e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73" name="Text Box 25"/>
              <p:cNvSpPr txBox="1">
                <a:spLocks noChangeArrowheads="1"/>
              </p:cNvSpPr>
              <p:nvPr/>
            </p:nvSpPr>
            <p:spPr bwMode="auto">
              <a:xfrm>
                <a:off x="2620" y="2433"/>
                <a:ext cx="20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b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8874" name="Text Box 26"/>
              <p:cNvSpPr txBox="1">
                <a:spLocks noChangeArrowheads="1"/>
              </p:cNvSpPr>
              <p:nvPr/>
            </p:nvSpPr>
            <p:spPr bwMode="auto">
              <a:xfrm>
                <a:off x="2786" y="3136"/>
                <a:ext cx="19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c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</p:grpSp>
      </p:grpSp>
      <p:sp>
        <p:nvSpPr>
          <p:cNvPr id="78875" name="Line 27"/>
          <p:cNvSpPr>
            <a:spLocks noChangeShapeType="1"/>
          </p:cNvSpPr>
          <p:nvPr/>
        </p:nvSpPr>
        <p:spPr bwMode="auto">
          <a:xfrm flipV="1">
            <a:off x="2438400" y="1774825"/>
            <a:ext cx="1211263" cy="154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76" name="Line 28"/>
          <p:cNvSpPr>
            <a:spLocks noChangeShapeType="1"/>
          </p:cNvSpPr>
          <p:nvPr/>
        </p:nvSpPr>
        <p:spPr bwMode="auto">
          <a:xfrm>
            <a:off x="2438400" y="3316288"/>
            <a:ext cx="1211263" cy="2936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 flipH="1" flipV="1">
            <a:off x="2438400" y="4230688"/>
            <a:ext cx="1209675" cy="1000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 flipV="1">
            <a:off x="2438400" y="4010025"/>
            <a:ext cx="1209675" cy="2174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79" name="Line 31"/>
          <p:cNvSpPr>
            <a:spLocks noChangeShapeType="1"/>
          </p:cNvSpPr>
          <p:nvPr/>
        </p:nvSpPr>
        <p:spPr bwMode="auto">
          <a:xfrm flipV="1">
            <a:off x="3648075" y="4227513"/>
            <a:ext cx="1588" cy="625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0" name="Line 32"/>
          <p:cNvSpPr>
            <a:spLocks noChangeShapeType="1"/>
          </p:cNvSpPr>
          <p:nvPr/>
        </p:nvSpPr>
        <p:spPr bwMode="auto">
          <a:xfrm flipV="1">
            <a:off x="3648075" y="2406650"/>
            <a:ext cx="1588" cy="909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1" name="Line 33"/>
          <p:cNvSpPr>
            <a:spLocks noChangeShapeType="1"/>
          </p:cNvSpPr>
          <p:nvPr/>
        </p:nvSpPr>
        <p:spPr bwMode="auto">
          <a:xfrm flipH="1" flipV="1">
            <a:off x="4205288" y="4227513"/>
            <a:ext cx="220662" cy="1016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2" name="Line 34"/>
          <p:cNvSpPr>
            <a:spLocks noChangeShapeType="1"/>
          </p:cNvSpPr>
          <p:nvPr/>
        </p:nvSpPr>
        <p:spPr bwMode="auto">
          <a:xfrm flipH="1" flipV="1">
            <a:off x="4205288" y="1998663"/>
            <a:ext cx="220662" cy="13223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3" name="Text Box 35"/>
          <p:cNvSpPr txBox="1">
            <a:spLocks noChangeArrowheads="1"/>
          </p:cNvSpPr>
          <p:nvPr/>
        </p:nvSpPr>
        <p:spPr bwMode="auto">
          <a:xfrm>
            <a:off x="1928813" y="2371725"/>
            <a:ext cx="4699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P</a:t>
            </a:r>
            <a:r>
              <a:rPr lang="en-US" altLang="zh-CN" sz="2400" b="1" i="1" baseline="-10000" dirty="0">
                <a:solidFill>
                  <a:srgbClr val="3259C8"/>
                </a:solidFill>
                <a:latin typeface="ISOCPEUR" panose="020B0604020202020204" pitchFamily="34" charset="0"/>
              </a:rPr>
              <a:t>V</a:t>
            </a:r>
            <a:endParaRPr lang="en-US" altLang="zh-CN" sz="2400" b="1" i="1" baseline="-10000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84" name="Line 36"/>
          <p:cNvSpPr>
            <a:spLocks noChangeShapeType="1"/>
          </p:cNvSpPr>
          <p:nvPr/>
        </p:nvSpPr>
        <p:spPr bwMode="auto">
          <a:xfrm flipH="1" flipV="1">
            <a:off x="2181225" y="2776538"/>
            <a:ext cx="2244725" cy="5413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5" name="Line 37"/>
          <p:cNvSpPr>
            <a:spLocks noChangeShapeType="1"/>
          </p:cNvSpPr>
          <p:nvPr/>
        </p:nvSpPr>
        <p:spPr bwMode="auto">
          <a:xfrm>
            <a:off x="2925763" y="2955925"/>
            <a:ext cx="0" cy="8858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6" name="Line 38"/>
          <p:cNvSpPr>
            <a:spLocks noChangeShapeType="1"/>
          </p:cNvSpPr>
          <p:nvPr/>
        </p:nvSpPr>
        <p:spPr bwMode="auto">
          <a:xfrm>
            <a:off x="2921000" y="4227513"/>
            <a:ext cx="1492250" cy="10048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87" name="Text Box 39"/>
          <p:cNvSpPr txBox="1">
            <a:spLocks noChangeArrowheads="1"/>
          </p:cNvSpPr>
          <p:nvPr/>
        </p:nvSpPr>
        <p:spPr bwMode="auto">
          <a:xfrm>
            <a:off x="2727325" y="2582863"/>
            <a:ext cx="3984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3’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88" name="Text Box 40"/>
          <p:cNvSpPr txBox="1">
            <a:spLocks noChangeArrowheads="1"/>
          </p:cNvSpPr>
          <p:nvPr/>
        </p:nvSpPr>
        <p:spPr bwMode="auto">
          <a:xfrm>
            <a:off x="3571875" y="2795588"/>
            <a:ext cx="3984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2’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89" name="Text Box 41"/>
          <p:cNvSpPr txBox="1">
            <a:spLocks noChangeArrowheads="1"/>
          </p:cNvSpPr>
          <p:nvPr/>
        </p:nvSpPr>
        <p:spPr bwMode="auto">
          <a:xfrm>
            <a:off x="2551113" y="2520950"/>
            <a:ext cx="35718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1’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0" name="Text Box 42"/>
          <p:cNvSpPr txBox="1">
            <a:spLocks noChangeArrowheads="1"/>
          </p:cNvSpPr>
          <p:nvPr/>
        </p:nvSpPr>
        <p:spPr bwMode="auto">
          <a:xfrm>
            <a:off x="3581400" y="4110038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2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1" name="Text Box 43"/>
          <p:cNvSpPr txBox="1">
            <a:spLocks noChangeArrowheads="1"/>
          </p:cNvSpPr>
          <p:nvPr/>
        </p:nvSpPr>
        <p:spPr bwMode="auto">
          <a:xfrm>
            <a:off x="2859088" y="3848100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3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2" name="Text Box 44"/>
          <p:cNvSpPr txBox="1">
            <a:spLocks noChangeArrowheads="1"/>
          </p:cNvSpPr>
          <p:nvPr/>
        </p:nvSpPr>
        <p:spPr bwMode="auto">
          <a:xfrm>
            <a:off x="2987675" y="4316413"/>
            <a:ext cx="2651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l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3" name="Text Box 45"/>
          <p:cNvSpPr txBox="1">
            <a:spLocks noChangeArrowheads="1"/>
          </p:cNvSpPr>
          <p:nvPr/>
        </p:nvSpPr>
        <p:spPr bwMode="auto">
          <a:xfrm>
            <a:off x="2536825" y="4425950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1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4" name="Line 46"/>
          <p:cNvSpPr>
            <a:spLocks noChangeShapeType="1"/>
          </p:cNvSpPr>
          <p:nvPr/>
        </p:nvSpPr>
        <p:spPr bwMode="auto">
          <a:xfrm flipH="1">
            <a:off x="2751138" y="4335463"/>
            <a:ext cx="896937" cy="1539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95" name="Line 47"/>
          <p:cNvSpPr>
            <a:spLocks noChangeShapeType="1"/>
          </p:cNvSpPr>
          <p:nvPr/>
        </p:nvSpPr>
        <p:spPr bwMode="auto">
          <a:xfrm>
            <a:off x="2751138" y="2916238"/>
            <a:ext cx="0" cy="9318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96" name="Text Box 48"/>
          <p:cNvSpPr txBox="1">
            <a:spLocks noChangeArrowheads="1"/>
          </p:cNvSpPr>
          <p:nvPr/>
        </p:nvSpPr>
        <p:spPr bwMode="auto">
          <a:xfrm>
            <a:off x="3595688" y="2514600"/>
            <a:ext cx="39846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k’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7" name="Text Box 49"/>
          <p:cNvSpPr txBox="1">
            <a:spLocks noChangeArrowheads="1"/>
          </p:cNvSpPr>
          <p:nvPr/>
        </p:nvSpPr>
        <p:spPr bwMode="auto">
          <a:xfrm>
            <a:off x="3033713" y="2659063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l’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898" name="Line 50"/>
          <p:cNvSpPr>
            <a:spLocks noChangeShapeType="1"/>
          </p:cNvSpPr>
          <p:nvPr/>
        </p:nvSpPr>
        <p:spPr bwMode="auto">
          <a:xfrm flipV="1">
            <a:off x="3194050" y="3843338"/>
            <a:ext cx="0" cy="5619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899" name="Line 51"/>
          <p:cNvSpPr>
            <a:spLocks noChangeShapeType="1"/>
          </p:cNvSpPr>
          <p:nvPr/>
        </p:nvSpPr>
        <p:spPr bwMode="auto">
          <a:xfrm>
            <a:off x="2443163" y="4229100"/>
            <a:ext cx="1200150" cy="2921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0" name="Line 52"/>
          <p:cNvSpPr>
            <a:spLocks noChangeShapeType="1"/>
          </p:cNvSpPr>
          <p:nvPr/>
        </p:nvSpPr>
        <p:spPr bwMode="auto">
          <a:xfrm flipV="1">
            <a:off x="2443163" y="2838450"/>
            <a:ext cx="1204912" cy="4762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1" name="Text Box 53"/>
          <p:cNvSpPr txBox="1">
            <a:spLocks noChangeArrowheads="1"/>
          </p:cNvSpPr>
          <p:nvPr/>
        </p:nvSpPr>
        <p:spPr bwMode="auto">
          <a:xfrm>
            <a:off x="3587750" y="4357688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k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8902" name="Line 54"/>
          <p:cNvSpPr>
            <a:spLocks noChangeShapeType="1"/>
          </p:cNvSpPr>
          <p:nvPr/>
        </p:nvSpPr>
        <p:spPr bwMode="auto">
          <a:xfrm flipV="1">
            <a:off x="3646488" y="4511675"/>
            <a:ext cx="0" cy="336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3" name="Line 55"/>
          <p:cNvSpPr>
            <a:spLocks noChangeShapeType="1"/>
          </p:cNvSpPr>
          <p:nvPr/>
        </p:nvSpPr>
        <p:spPr bwMode="auto">
          <a:xfrm flipH="1">
            <a:off x="3646488" y="4268788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4" name="Line 56"/>
          <p:cNvSpPr>
            <a:spLocks noChangeShapeType="1"/>
          </p:cNvSpPr>
          <p:nvPr/>
        </p:nvSpPr>
        <p:spPr bwMode="auto">
          <a:xfrm>
            <a:off x="3648075" y="2413000"/>
            <a:ext cx="0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5" name="Oval 57"/>
          <p:cNvSpPr>
            <a:spLocks noChangeArrowheads="1"/>
          </p:cNvSpPr>
          <p:nvPr/>
        </p:nvSpPr>
        <p:spPr bwMode="auto">
          <a:xfrm>
            <a:off x="3619500" y="2808288"/>
            <a:ext cx="58738" cy="587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6" name="Line 58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7" name="Oval 59"/>
          <p:cNvSpPr>
            <a:spLocks noChangeArrowheads="1"/>
          </p:cNvSpPr>
          <p:nvPr/>
        </p:nvSpPr>
        <p:spPr bwMode="auto">
          <a:xfrm>
            <a:off x="3616325" y="4492625"/>
            <a:ext cx="58738" cy="587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8" name="Line 60"/>
          <p:cNvSpPr>
            <a:spLocks noChangeShapeType="1"/>
          </p:cNvSpPr>
          <p:nvPr/>
        </p:nvSpPr>
        <p:spPr bwMode="auto">
          <a:xfrm>
            <a:off x="2751138" y="3852863"/>
            <a:ext cx="0" cy="6365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09" name="Line 61"/>
          <p:cNvSpPr>
            <a:spLocks noChangeShapeType="1"/>
          </p:cNvSpPr>
          <p:nvPr/>
        </p:nvSpPr>
        <p:spPr bwMode="auto">
          <a:xfrm>
            <a:off x="2924175" y="3844925"/>
            <a:ext cx="0" cy="382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10" name="Line 62"/>
          <p:cNvSpPr>
            <a:spLocks noChangeShapeType="1"/>
          </p:cNvSpPr>
          <p:nvPr/>
        </p:nvSpPr>
        <p:spPr bwMode="auto">
          <a:xfrm flipV="1">
            <a:off x="3194050" y="3017838"/>
            <a:ext cx="0" cy="8286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8912" name="Rectangle 64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3" name="Text Box 65"/>
          <p:cNvSpPr txBox="1">
            <a:spLocks noChangeArrowheads="1"/>
          </p:cNvSpPr>
          <p:nvPr/>
        </p:nvSpPr>
        <p:spPr bwMode="auto">
          <a:xfrm>
            <a:off x="5167313" y="4432300"/>
            <a:ext cx="3976687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500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P</a:t>
            </a:r>
            <a:r>
              <a:rPr lang="en-US" altLang="zh-CN" sz="1500" b="1" baseline="-10000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V</a:t>
            </a:r>
            <a:r>
              <a:rPr lang="en-US" altLang="zh-CN" sz="1500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∥a’f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’ 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,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且过点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c’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。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8914" name="Text Box 66"/>
          <p:cNvSpPr txBox="1">
            <a:spLocks noChangeArrowheads="1"/>
          </p:cNvSpPr>
          <p:nvPr/>
        </p:nvSpPr>
        <p:spPr bwMode="auto">
          <a:xfrm>
            <a:off x="5110163" y="4076700"/>
            <a:ext cx="4033837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>
                <a:solidFill>
                  <a:srgbClr val="3259C8"/>
                </a:solidFill>
                <a:latin typeface="+mn-ea"/>
                <a:ea typeface="+mn-ea"/>
              </a:rPr>
              <a:t>利用三面共点法求解</a:t>
            </a:r>
            <a:endParaRPr lang="zh-CN" altLang="en-US" sz="1500" b="1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8917" name="Text Box 69"/>
          <p:cNvSpPr txBox="1">
            <a:spLocks noChangeArrowheads="1"/>
          </p:cNvSpPr>
          <p:nvPr/>
        </p:nvSpPr>
        <p:spPr bwMode="auto">
          <a:xfrm>
            <a:off x="5292725" y="3108325"/>
            <a:ext cx="3851275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方法二</a:t>
            </a:r>
            <a:endParaRPr lang="el-GR" altLang="zh-CN" sz="1500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8920" name="Text Box 72"/>
          <p:cNvSpPr txBox="1">
            <a:spLocks noChangeArrowheads="1"/>
          </p:cNvSpPr>
          <p:nvPr/>
        </p:nvSpPr>
        <p:spPr bwMode="auto">
          <a:xfrm>
            <a:off x="5192713" y="4808538"/>
            <a:ext cx="3951287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点 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K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为所求。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8922" name="Text Box 7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2-2-2-3</a:t>
            </a:r>
            <a:r>
              <a:rPr lang="zh-CN" altLang="en-US" sz="1600" b="1">
                <a:latin typeface="宋体" panose="02010600030101010101" pitchFamily="2" charset="-122"/>
              </a:rPr>
              <a:t>　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与由两相交直线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AC</a:t>
            </a:r>
            <a:r>
              <a:rPr lang="zh-CN" altLang="en-US" sz="1600" b="1">
                <a:latin typeface="宋体" panose="02010600030101010101" pitchFamily="2" charset="-122"/>
              </a:rPr>
              <a:t>确定的平面的交点，并判断可见性。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7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3" dur="500"/>
                                        <p:tgtEl>
                                          <p:spTgt spid="78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7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5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500"/>
                            </p:stCondLst>
                            <p:childTnLst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7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5" grpId="0" animBg="1"/>
      <p:bldP spid="78876" grpId="0" animBg="1"/>
      <p:bldP spid="78877" grpId="0" animBg="1"/>
      <p:bldP spid="78878" grpId="0" animBg="1"/>
      <p:bldP spid="78879" grpId="0" animBg="1"/>
      <p:bldP spid="78879" grpId="1" animBg="1"/>
      <p:bldP spid="78880" grpId="0" animBg="1"/>
      <p:bldP spid="78880" grpId="1" animBg="1"/>
      <p:bldP spid="78881" grpId="0" animBg="1"/>
      <p:bldP spid="78882" grpId="0" animBg="1"/>
      <p:bldP spid="78883" grpId="0"/>
      <p:bldP spid="78884" grpId="0" animBg="1"/>
      <p:bldP spid="78885" grpId="0" animBg="1"/>
      <p:bldP spid="78886" grpId="0" animBg="1"/>
      <p:bldP spid="78887" grpId="0"/>
      <p:bldP spid="78888" grpId="0"/>
      <p:bldP spid="78889" grpId="0"/>
      <p:bldP spid="78890" grpId="0"/>
      <p:bldP spid="78891" grpId="0"/>
      <p:bldP spid="78893" grpId="0"/>
      <p:bldP spid="78894" grpId="0" animBg="1"/>
      <p:bldP spid="78895" grpId="0" animBg="1"/>
      <p:bldP spid="78896" grpId="0"/>
      <p:bldP spid="78897" grpId="0"/>
      <p:bldP spid="78898" grpId="0" animBg="1"/>
      <p:bldP spid="78899" grpId="0" animBg="1"/>
      <p:bldP spid="78900" grpId="0" animBg="1"/>
      <p:bldP spid="78901" grpId="0"/>
      <p:bldP spid="78902" grpId="0" animBg="1"/>
      <p:bldP spid="78903" grpId="0" animBg="1"/>
      <p:bldP spid="78904" grpId="0" animBg="1"/>
      <p:bldP spid="78905" grpId="0" animBg="1"/>
      <p:bldP spid="78906" grpId="0" animBg="1"/>
      <p:bldP spid="78907" grpId="0" animBg="1"/>
      <p:bldP spid="78908" grpId="0" animBg="1"/>
      <p:bldP spid="78909" grpId="0" animBg="1"/>
      <p:bldP spid="78910" grpId="0" animBg="1"/>
      <p:bldP spid="78913" grpId="0"/>
      <p:bldP spid="78914" grpId="0"/>
      <p:bldP spid="789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 bwMode="auto">
          <a:xfrm>
            <a:off x="1325880" y="1463040"/>
            <a:ext cx="672084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70"/>
          <p:cNvGrpSpPr/>
          <p:nvPr/>
        </p:nvGrpSpPr>
        <p:grpSpPr bwMode="auto">
          <a:xfrm>
            <a:off x="1549400" y="1455738"/>
            <a:ext cx="5399088" cy="4005262"/>
            <a:chOff x="976" y="917"/>
            <a:chExt cx="3401" cy="2523"/>
          </a:xfrm>
        </p:grpSpPr>
        <p:sp>
          <p:nvSpPr>
            <p:cNvPr id="79875" name="Text Box 3"/>
            <p:cNvSpPr txBox="1">
              <a:spLocks noChangeArrowheads="1"/>
            </p:cNvSpPr>
            <p:nvPr/>
          </p:nvSpPr>
          <p:spPr bwMode="auto">
            <a:xfrm>
              <a:off x="2280" y="917"/>
              <a:ext cx="251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ISOCPEUR" panose="020B0604020202020204" pitchFamily="34" charset="0"/>
                </a:rPr>
                <a:t>e’</a:t>
              </a:r>
              <a:endParaRPr lang="en-US" altLang="zh-CN" sz="2400" b="1" i="1">
                <a:latin typeface="ISOCPEUR" panose="020B0604020202020204" pitchFamily="34" charset="0"/>
              </a:endParaRPr>
            </a:p>
          </p:txBody>
        </p:sp>
        <p:grpSp>
          <p:nvGrpSpPr>
            <p:cNvPr id="3" name="Group 69"/>
            <p:cNvGrpSpPr/>
            <p:nvPr/>
          </p:nvGrpSpPr>
          <p:grpSpPr bwMode="auto">
            <a:xfrm>
              <a:off x="976" y="1034"/>
              <a:ext cx="3401" cy="2406"/>
              <a:chOff x="976" y="1034"/>
              <a:chExt cx="3401" cy="2406"/>
            </a:xfrm>
          </p:grpSpPr>
          <p:sp>
            <p:nvSpPr>
              <p:cNvPr id="79877" name="Line 5"/>
              <p:cNvSpPr>
                <a:spLocks noChangeShapeType="1"/>
              </p:cNvSpPr>
              <p:nvPr/>
            </p:nvSpPr>
            <p:spPr bwMode="auto">
              <a:xfrm>
                <a:off x="1176" y="2423"/>
                <a:ext cx="217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78" name="Line 6"/>
              <p:cNvSpPr>
                <a:spLocks noChangeShapeType="1"/>
              </p:cNvSpPr>
              <p:nvPr/>
            </p:nvSpPr>
            <p:spPr bwMode="auto">
              <a:xfrm flipV="1">
                <a:off x="1536" y="2089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79" name="Line 7"/>
              <p:cNvSpPr>
                <a:spLocks noChangeShapeType="1"/>
              </p:cNvSpPr>
              <p:nvPr/>
            </p:nvSpPr>
            <p:spPr bwMode="auto">
              <a:xfrm flipV="1">
                <a:off x="2649" y="1259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0" name="Line 8"/>
              <p:cNvSpPr>
                <a:spLocks noChangeShapeType="1"/>
              </p:cNvSpPr>
              <p:nvPr/>
            </p:nvSpPr>
            <p:spPr bwMode="auto">
              <a:xfrm flipV="1">
                <a:off x="2788" y="2089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1" name="Line 9"/>
              <p:cNvSpPr>
                <a:spLocks noChangeShapeType="1"/>
              </p:cNvSpPr>
              <p:nvPr/>
            </p:nvSpPr>
            <p:spPr bwMode="auto">
              <a:xfrm flipV="1">
                <a:off x="2298" y="227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2" name="Freeform 10"/>
              <p:cNvSpPr/>
              <p:nvPr/>
            </p:nvSpPr>
            <p:spPr bwMode="auto">
              <a:xfrm>
                <a:off x="1537" y="1255"/>
                <a:ext cx="1249" cy="837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0" y="837"/>
                  </a:cxn>
                  <a:cxn ang="0">
                    <a:pos x="1250" y="837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3" name="Freeform 11"/>
              <p:cNvSpPr/>
              <p:nvPr/>
            </p:nvSpPr>
            <p:spPr bwMode="auto">
              <a:xfrm>
                <a:off x="1536" y="2663"/>
                <a:ext cx="1255" cy="640"/>
              </a:xfrm>
              <a:custGeom>
                <a:avLst/>
                <a:gdLst/>
                <a:ahLst/>
                <a:cxnLst>
                  <a:cxn ang="0">
                    <a:pos x="1113" y="0"/>
                  </a:cxn>
                  <a:cxn ang="0">
                    <a:pos x="0" y="0"/>
                  </a:cxn>
                  <a:cxn ang="0">
                    <a:pos x="1255" y="640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4" name="Line 12"/>
              <p:cNvSpPr>
                <a:spLocks noChangeShapeType="1"/>
              </p:cNvSpPr>
              <p:nvPr/>
            </p:nvSpPr>
            <p:spPr bwMode="auto">
              <a:xfrm>
                <a:off x="2299" y="1118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5" name="Line 13"/>
              <p:cNvSpPr>
                <a:spLocks noChangeShapeType="1"/>
              </p:cNvSpPr>
              <p:nvPr/>
            </p:nvSpPr>
            <p:spPr bwMode="auto">
              <a:xfrm>
                <a:off x="2299" y="2097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6" name="Line 14"/>
              <p:cNvSpPr>
                <a:spLocks noChangeShapeType="1"/>
              </p:cNvSpPr>
              <p:nvPr/>
            </p:nvSpPr>
            <p:spPr bwMode="auto">
              <a:xfrm>
                <a:off x="2299" y="2526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7" name="Line 15"/>
              <p:cNvSpPr>
                <a:spLocks noChangeShapeType="1"/>
              </p:cNvSpPr>
              <p:nvPr/>
            </p:nvSpPr>
            <p:spPr bwMode="auto">
              <a:xfrm>
                <a:off x="2299" y="3057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8" name="Text Box 16"/>
              <p:cNvSpPr txBox="1">
                <a:spLocks noChangeArrowheads="1"/>
              </p:cNvSpPr>
              <p:nvPr/>
            </p:nvSpPr>
            <p:spPr bwMode="auto">
              <a:xfrm>
                <a:off x="976" y="2241"/>
                <a:ext cx="23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X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9889" name="Text Box 17"/>
              <p:cNvSpPr txBox="1">
                <a:spLocks noChangeArrowheads="1"/>
              </p:cNvSpPr>
              <p:nvPr/>
            </p:nvSpPr>
            <p:spPr bwMode="auto">
              <a:xfrm>
                <a:off x="2060" y="2206"/>
                <a:ext cx="2317" cy="212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f’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0" name="Text Box 18"/>
              <p:cNvSpPr txBox="1">
                <a:spLocks noChangeArrowheads="1"/>
              </p:cNvSpPr>
              <p:nvPr/>
            </p:nvSpPr>
            <p:spPr bwMode="auto">
              <a:xfrm>
                <a:off x="2762" y="1890"/>
                <a:ext cx="23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c’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1" name="Text Box 19"/>
              <p:cNvSpPr txBox="1">
                <a:spLocks noChangeArrowheads="1"/>
              </p:cNvSpPr>
              <p:nvPr/>
            </p:nvSpPr>
            <p:spPr bwMode="auto">
              <a:xfrm>
                <a:off x="2630" y="1034"/>
                <a:ext cx="25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b’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2" name="Text Box 20"/>
              <p:cNvSpPr txBox="1">
                <a:spLocks noChangeArrowheads="1"/>
              </p:cNvSpPr>
              <p:nvPr/>
            </p:nvSpPr>
            <p:spPr bwMode="auto">
              <a:xfrm>
                <a:off x="1309" y="1925"/>
                <a:ext cx="25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a’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3" name="Text Box 21"/>
              <p:cNvSpPr txBox="1">
                <a:spLocks noChangeArrowheads="1"/>
              </p:cNvSpPr>
              <p:nvPr/>
            </p:nvSpPr>
            <p:spPr bwMode="auto">
              <a:xfrm>
                <a:off x="3350" y="2244"/>
                <a:ext cx="219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ISOCPEUR" panose="020B0604020202020204" pitchFamily="34" charset="0"/>
                  </a:rPr>
                  <a:t>O</a:t>
                </a:r>
                <a:endParaRPr lang="en-US" altLang="zh-CN" sz="2400" b="1" i="1" dirty="0">
                  <a:latin typeface="ISOCPEUR" panose="020B0604020202020204" pitchFamily="34" charset="0"/>
                </a:endParaRPr>
              </a:p>
            </p:txBody>
          </p:sp>
          <p:sp>
            <p:nvSpPr>
              <p:cNvPr id="79894" name="Text Box 22"/>
              <p:cNvSpPr txBox="1">
                <a:spLocks noChangeArrowheads="1"/>
              </p:cNvSpPr>
              <p:nvPr/>
            </p:nvSpPr>
            <p:spPr bwMode="auto">
              <a:xfrm>
                <a:off x="1306" y="2500"/>
                <a:ext cx="20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a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5" name="Text Box 23"/>
              <p:cNvSpPr txBox="1">
                <a:spLocks noChangeArrowheads="1"/>
              </p:cNvSpPr>
              <p:nvPr/>
            </p:nvSpPr>
            <p:spPr bwMode="auto">
              <a:xfrm>
                <a:off x="2072" y="2417"/>
                <a:ext cx="2305" cy="212"/>
              </a:xfrm>
              <a:prstGeom prst="rect">
                <a:avLst/>
              </a:prstGeom>
              <a:noFill/>
              <a:ln w="28575" algn="ctr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f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6" name="Text Box 24"/>
              <p:cNvSpPr txBox="1">
                <a:spLocks noChangeArrowheads="1"/>
              </p:cNvSpPr>
              <p:nvPr/>
            </p:nvSpPr>
            <p:spPr bwMode="auto">
              <a:xfrm>
                <a:off x="2268" y="3152"/>
                <a:ext cx="20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e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7" name="Text Box 25"/>
              <p:cNvSpPr txBox="1">
                <a:spLocks noChangeArrowheads="1"/>
              </p:cNvSpPr>
              <p:nvPr/>
            </p:nvSpPr>
            <p:spPr bwMode="auto">
              <a:xfrm>
                <a:off x="2620" y="2433"/>
                <a:ext cx="20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b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  <p:sp>
            <p:nvSpPr>
              <p:cNvPr id="79898" name="Text Box 26"/>
              <p:cNvSpPr txBox="1">
                <a:spLocks noChangeArrowheads="1"/>
              </p:cNvSpPr>
              <p:nvPr/>
            </p:nvSpPr>
            <p:spPr bwMode="auto">
              <a:xfrm>
                <a:off x="2786" y="3136"/>
                <a:ext cx="19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ISOCPEUR" panose="020B0604020202020204" pitchFamily="34" charset="0"/>
                  </a:rPr>
                  <a:t>c</a:t>
                </a:r>
                <a:endParaRPr lang="en-US" altLang="zh-CN" sz="2400" b="1" i="1">
                  <a:latin typeface="ISOCPEUR" panose="020B0604020202020204" pitchFamily="34" charset="0"/>
                </a:endParaRPr>
              </a:p>
            </p:txBody>
          </p:sp>
        </p:grpSp>
      </p:grpSp>
      <p:sp>
        <p:nvSpPr>
          <p:cNvPr id="79899" name="Line 27"/>
          <p:cNvSpPr>
            <a:spLocks noChangeShapeType="1"/>
          </p:cNvSpPr>
          <p:nvPr/>
        </p:nvSpPr>
        <p:spPr bwMode="auto">
          <a:xfrm flipV="1">
            <a:off x="2438400" y="1774825"/>
            <a:ext cx="1208088" cy="154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0" name="Line 28"/>
          <p:cNvSpPr>
            <a:spLocks noChangeShapeType="1"/>
          </p:cNvSpPr>
          <p:nvPr/>
        </p:nvSpPr>
        <p:spPr bwMode="auto">
          <a:xfrm>
            <a:off x="2438400" y="3316288"/>
            <a:ext cx="1525588" cy="3857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1" name="Line 29"/>
          <p:cNvSpPr>
            <a:spLocks noChangeShapeType="1"/>
          </p:cNvSpPr>
          <p:nvPr/>
        </p:nvSpPr>
        <p:spPr bwMode="auto">
          <a:xfrm flipH="1" flipV="1">
            <a:off x="2438400" y="4227513"/>
            <a:ext cx="1208088" cy="10080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V="1">
            <a:off x="2438400" y="3957638"/>
            <a:ext cx="1527175" cy="2698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3" name="Line 31"/>
          <p:cNvSpPr>
            <a:spLocks noChangeShapeType="1"/>
          </p:cNvSpPr>
          <p:nvPr/>
        </p:nvSpPr>
        <p:spPr bwMode="auto">
          <a:xfrm flipV="1">
            <a:off x="3648075" y="4227513"/>
            <a:ext cx="1588" cy="625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4" name="Line 32"/>
          <p:cNvSpPr>
            <a:spLocks noChangeShapeType="1"/>
          </p:cNvSpPr>
          <p:nvPr/>
        </p:nvSpPr>
        <p:spPr bwMode="auto">
          <a:xfrm flipV="1">
            <a:off x="3648075" y="2406650"/>
            <a:ext cx="1588" cy="909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5" name="Line 33"/>
          <p:cNvSpPr>
            <a:spLocks noChangeShapeType="1"/>
          </p:cNvSpPr>
          <p:nvPr/>
        </p:nvSpPr>
        <p:spPr bwMode="auto">
          <a:xfrm flipH="1" flipV="1">
            <a:off x="4205288" y="4227513"/>
            <a:ext cx="220662" cy="1016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 flipH="1" flipV="1">
            <a:off x="4205288" y="1998663"/>
            <a:ext cx="220662" cy="13223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7" name="Text Box 35"/>
          <p:cNvSpPr txBox="1">
            <a:spLocks noChangeArrowheads="1"/>
          </p:cNvSpPr>
          <p:nvPr/>
        </p:nvSpPr>
        <p:spPr bwMode="auto">
          <a:xfrm>
            <a:off x="3103563" y="1093788"/>
            <a:ext cx="4699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P</a:t>
            </a:r>
            <a:r>
              <a:rPr lang="en-US" altLang="zh-CN" sz="2400" b="1" i="1" baseline="-10000" dirty="0">
                <a:solidFill>
                  <a:srgbClr val="3259C8"/>
                </a:solidFill>
                <a:latin typeface="ISOCPEUR" panose="020B0604020202020204" pitchFamily="34" charset="0"/>
              </a:rPr>
              <a:t>V</a:t>
            </a:r>
            <a:endParaRPr lang="en-US" altLang="zh-CN" sz="2400" b="1" i="1" baseline="-10000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08" name="Line 36"/>
          <p:cNvSpPr>
            <a:spLocks noChangeShapeType="1"/>
          </p:cNvSpPr>
          <p:nvPr/>
        </p:nvSpPr>
        <p:spPr bwMode="auto">
          <a:xfrm>
            <a:off x="3813175" y="3844925"/>
            <a:ext cx="0" cy="7254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09" name="Line 37"/>
          <p:cNvSpPr>
            <a:spLocks noChangeShapeType="1"/>
          </p:cNvSpPr>
          <p:nvPr/>
        </p:nvSpPr>
        <p:spPr bwMode="auto">
          <a:xfrm>
            <a:off x="3740150" y="4221163"/>
            <a:ext cx="161925" cy="7493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10" name="Text Box 38"/>
          <p:cNvSpPr txBox="1">
            <a:spLocks noChangeArrowheads="1"/>
          </p:cNvSpPr>
          <p:nvPr/>
        </p:nvSpPr>
        <p:spPr bwMode="auto">
          <a:xfrm>
            <a:off x="3778250" y="2486025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l’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1" name="Text Box 39"/>
          <p:cNvSpPr txBox="1">
            <a:spLocks noChangeArrowheads="1"/>
          </p:cNvSpPr>
          <p:nvPr/>
        </p:nvSpPr>
        <p:spPr bwMode="auto">
          <a:xfrm>
            <a:off x="3844925" y="2938463"/>
            <a:ext cx="3984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2’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2" name="Text Box 40"/>
          <p:cNvSpPr txBox="1">
            <a:spLocks noChangeArrowheads="1"/>
          </p:cNvSpPr>
          <p:nvPr/>
        </p:nvSpPr>
        <p:spPr bwMode="auto">
          <a:xfrm>
            <a:off x="3614738" y="1912938"/>
            <a:ext cx="35718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1’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3" name="Text Box 41"/>
          <p:cNvSpPr txBox="1">
            <a:spLocks noChangeArrowheads="1"/>
          </p:cNvSpPr>
          <p:nvPr/>
        </p:nvSpPr>
        <p:spPr bwMode="auto">
          <a:xfrm>
            <a:off x="3748088" y="4308475"/>
            <a:ext cx="2651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l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4" name="Text Box 42"/>
          <p:cNvSpPr txBox="1">
            <a:spLocks noChangeArrowheads="1"/>
          </p:cNvSpPr>
          <p:nvPr/>
        </p:nvSpPr>
        <p:spPr bwMode="auto">
          <a:xfrm>
            <a:off x="3824288" y="4624388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2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5" name="Text Box 43"/>
          <p:cNvSpPr txBox="1">
            <a:spLocks noChangeArrowheads="1"/>
          </p:cNvSpPr>
          <p:nvPr/>
        </p:nvSpPr>
        <p:spPr bwMode="auto">
          <a:xfrm>
            <a:off x="3513138" y="4133850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1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6" name="Line 44"/>
          <p:cNvSpPr>
            <a:spLocks noChangeShapeType="1"/>
          </p:cNvSpPr>
          <p:nvPr/>
        </p:nvSpPr>
        <p:spPr bwMode="auto">
          <a:xfrm>
            <a:off x="3740150" y="2344738"/>
            <a:ext cx="0" cy="15001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17" name="Text Box 45"/>
          <p:cNvSpPr txBox="1">
            <a:spLocks noChangeArrowheads="1"/>
          </p:cNvSpPr>
          <p:nvPr/>
        </p:nvSpPr>
        <p:spPr bwMode="auto">
          <a:xfrm>
            <a:off x="3284538" y="2516188"/>
            <a:ext cx="39846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k’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18" name="Line 46"/>
          <p:cNvSpPr>
            <a:spLocks noChangeShapeType="1"/>
          </p:cNvSpPr>
          <p:nvPr/>
        </p:nvSpPr>
        <p:spPr bwMode="auto">
          <a:xfrm>
            <a:off x="2438400" y="4229100"/>
            <a:ext cx="1373188" cy="3333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19" name="Line 47"/>
          <p:cNvSpPr>
            <a:spLocks noChangeShapeType="1"/>
          </p:cNvSpPr>
          <p:nvPr/>
        </p:nvSpPr>
        <p:spPr bwMode="auto">
          <a:xfrm flipV="1">
            <a:off x="2438400" y="2773363"/>
            <a:ext cx="1373188" cy="5413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0" name="Text Box 48"/>
          <p:cNvSpPr txBox="1">
            <a:spLocks noChangeArrowheads="1"/>
          </p:cNvSpPr>
          <p:nvPr/>
        </p:nvSpPr>
        <p:spPr bwMode="auto">
          <a:xfrm>
            <a:off x="3367088" y="4379913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k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21" name="Line 49"/>
          <p:cNvSpPr>
            <a:spLocks noChangeShapeType="1"/>
          </p:cNvSpPr>
          <p:nvPr/>
        </p:nvSpPr>
        <p:spPr bwMode="auto">
          <a:xfrm flipV="1">
            <a:off x="3646488" y="4521200"/>
            <a:ext cx="0" cy="327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2" name="Line 50"/>
          <p:cNvSpPr>
            <a:spLocks noChangeShapeType="1"/>
          </p:cNvSpPr>
          <p:nvPr/>
        </p:nvSpPr>
        <p:spPr bwMode="auto">
          <a:xfrm flipH="1">
            <a:off x="3646488" y="4268788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3" name="Line 51"/>
          <p:cNvSpPr>
            <a:spLocks noChangeShapeType="1"/>
          </p:cNvSpPr>
          <p:nvPr/>
        </p:nvSpPr>
        <p:spPr bwMode="auto">
          <a:xfrm>
            <a:off x="3648075" y="2413000"/>
            <a:ext cx="0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4" name="Oval 52"/>
          <p:cNvSpPr>
            <a:spLocks noChangeArrowheads="1"/>
          </p:cNvSpPr>
          <p:nvPr/>
        </p:nvSpPr>
        <p:spPr bwMode="auto">
          <a:xfrm>
            <a:off x="3619500" y="2808288"/>
            <a:ext cx="58738" cy="587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25" name="Line 53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6" name="Line 54"/>
          <p:cNvSpPr>
            <a:spLocks noChangeShapeType="1"/>
          </p:cNvSpPr>
          <p:nvPr/>
        </p:nvSpPr>
        <p:spPr bwMode="auto">
          <a:xfrm>
            <a:off x="3967163" y="3702050"/>
            <a:ext cx="0" cy="254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7" name="Line 55"/>
          <p:cNvSpPr>
            <a:spLocks noChangeShapeType="1"/>
          </p:cNvSpPr>
          <p:nvPr/>
        </p:nvSpPr>
        <p:spPr bwMode="auto">
          <a:xfrm flipV="1">
            <a:off x="3649663" y="3956050"/>
            <a:ext cx="317500" cy="1279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8" name="Line 56"/>
          <p:cNvSpPr>
            <a:spLocks noChangeShapeType="1"/>
          </p:cNvSpPr>
          <p:nvPr/>
        </p:nvSpPr>
        <p:spPr bwMode="auto">
          <a:xfrm flipH="1" flipV="1">
            <a:off x="3589338" y="1433513"/>
            <a:ext cx="55562" cy="3413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29" name="Oval 57"/>
          <p:cNvSpPr>
            <a:spLocks noChangeArrowheads="1"/>
          </p:cNvSpPr>
          <p:nvPr/>
        </p:nvSpPr>
        <p:spPr bwMode="auto">
          <a:xfrm>
            <a:off x="3616325" y="4492625"/>
            <a:ext cx="58738" cy="587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30" name="Line 58"/>
          <p:cNvSpPr>
            <a:spLocks noChangeShapeType="1"/>
          </p:cNvSpPr>
          <p:nvPr/>
        </p:nvSpPr>
        <p:spPr bwMode="auto">
          <a:xfrm>
            <a:off x="3740150" y="3843338"/>
            <a:ext cx="0" cy="3873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31" name="Line 59"/>
          <p:cNvSpPr>
            <a:spLocks noChangeShapeType="1"/>
          </p:cNvSpPr>
          <p:nvPr/>
        </p:nvSpPr>
        <p:spPr bwMode="auto">
          <a:xfrm>
            <a:off x="3813175" y="2776538"/>
            <a:ext cx="0" cy="10636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32" name="Rectangle 60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34" name="Text Box 62"/>
          <p:cNvSpPr txBox="1">
            <a:spLocks noChangeArrowheads="1"/>
          </p:cNvSpPr>
          <p:nvPr/>
        </p:nvSpPr>
        <p:spPr bwMode="auto">
          <a:xfrm>
            <a:off x="3937000" y="3440113"/>
            <a:ext cx="3984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259C8"/>
                </a:solidFill>
                <a:latin typeface="ISOCPEUR" panose="020B0604020202020204" pitchFamily="34" charset="0"/>
              </a:rPr>
              <a:t>d’</a:t>
            </a:r>
            <a:endParaRPr lang="en-US" altLang="zh-CN" sz="2400" b="1" i="1" dirty="0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35" name="Text Box 63"/>
          <p:cNvSpPr txBox="1">
            <a:spLocks noChangeArrowheads="1"/>
          </p:cNvSpPr>
          <p:nvPr/>
        </p:nvSpPr>
        <p:spPr bwMode="auto">
          <a:xfrm>
            <a:off x="3921125" y="3729038"/>
            <a:ext cx="3270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3259C8"/>
                </a:solidFill>
                <a:latin typeface="ISOCPEUR" panose="020B0604020202020204" pitchFamily="34" charset="0"/>
              </a:rPr>
              <a:t>d</a:t>
            </a:r>
            <a:endParaRPr lang="en-US" altLang="zh-CN" sz="2400" b="1" i="1">
              <a:solidFill>
                <a:srgbClr val="3259C8"/>
              </a:solidFill>
              <a:latin typeface="ISOCPEUR" panose="020B0604020202020204" pitchFamily="34" charset="0"/>
            </a:endParaRPr>
          </a:p>
        </p:txBody>
      </p:sp>
      <p:sp>
        <p:nvSpPr>
          <p:cNvPr id="79936" name="Text Box 64"/>
          <p:cNvSpPr txBox="1">
            <a:spLocks noChangeArrowheads="1"/>
          </p:cNvSpPr>
          <p:nvPr/>
        </p:nvSpPr>
        <p:spPr bwMode="auto">
          <a:xfrm>
            <a:off x="5060950" y="4005263"/>
            <a:ext cx="408305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>
                <a:solidFill>
                  <a:srgbClr val="3259C8"/>
                </a:solidFill>
                <a:latin typeface="+mn-ea"/>
                <a:ea typeface="+mn-ea"/>
              </a:rPr>
              <a:t>利用线面求交法求解</a:t>
            </a:r>
            <a:endParaRPr lang="zh-CN" altLang="el-GR" sz="1500" b="1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9937" name="Line 65"/>
          <p:cNvSpPr>
            <a:spLocks noChangeShapeType="1"/>
          </p:cNvSpPr>
          <p:nvPr/>
        </p:nvSpPr>
        <p:spPr bwMode="auto">
          <a:xfrm>
            <a:off x="3646488" y="1774825"/>
            <a:ext cx="319087" cy="19288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9938" name="Text Box 66"/>
          <p:cNvSpPr txBox="1">
            <a:spLocks noChangeArrowheads="1"/>
          </p:cNvSpPr>
          <p:nvPr/>
        </p:nvSpPr>
        <p:spPr bwMode="auto">
          <a:xfrm>
            <a:off x="5018088" y="4397375"/>
            <a:ext cx="4125912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作</a:t>
            </a:r>
            <a:r>
              <a:rPr lang="en-US" altLang="zh-CN" sz="1500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e’d’∥b’c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’ </a:t>
            </a:r>
            <a:endParaRPr lang="en-US" altLang="zh-CN" sz="1500" b="1" dirty="0">
              <a:solidFill>
                <a:srgbClr val="3259C8"/>
              </a:solidFill>
              <a:latin typeface="ISOCPEUR" panose="020B0604020202020204" pitchFamily="34" charset="0"/>
              <a:ea typeface="+mn-ea"/>
            </a:endParaRPr>
          </a:p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点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D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在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AF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延长线上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9940" name="Text Box 68"/>
          <p:cNvSpPr txBox="1">
            <a:spLocks noChangeArrowheads="1"/>
          </p:cNvSpPr>
          <p:nvPr/>
        </p:nvSpPr>
        <p:spPr bwMode="auto">
          <a:xfrm>
            <a:off x="5292725" y="3108325"/>
            <a:ext cx="3851275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方法三</a:t>
            </a:r>
            <a:endParaRPr lang="el-GR" altLang="zh-CN" sz="1500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9943" name="Text Box 71"/>
          <p:cNvSpPr txBox="1">
            <a:spLocks noChangeArrowheads="1"/>
          </p:cNvSpPr>
          <p:nvPr/>
        </p:nvSpPr>
        <p:spPr bwMode="auto">
          <a:xfrm>
            <a:off x="5043488" y="4940300"/>
            <a:ext cx="4100512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点 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K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为所求。</a:t>
            </a:r>
            <a:endParaRPr lang="zh-CN" altLang="en-US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79945" name="Text Box 7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2-2-2-3</a:t>
            </a:r>
            <a:r>
              <a:rPr lang="zh-CN" altLang="en-US" sz="1600" b="1">
                <a:latin typeface="宋体" panose="02010600030101010101" pitchFamily="2" charset="-122"/>
              </a:rPr>
              <a:t>　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与由两相交直线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AC</a:t>
            </a:r>
            <a:r>
              <a:rPr lang="zh-CN" altLang="en-US" sz="1600" b="1">
                <a:latin typeface="宋体" panose="02010600030101010101" pitchFamily="2" charset="-122"/>
              </a:rPr>
              <a:t>确定的平面的交点，并判断可见性。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9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7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7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500"/>
                                        <p:tgtEl>
                                          <p:spTgt spid="79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7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99" grpId="0" animBg="1"/>
      <p:bldP spid="79900" grpId="0" animBg="1"/>
      <p:bldP spid="79901" grpId="0" animBg="1"/>
      <p:bldP spid="79902" grpId="0" animBg="1"/>
      <p:bldP spid="79903" grpId="0" animBg="1"/>
      <p:bldP spid="79903" grpId="1" animBg="1"/>
      <p:bldP spid="79904" grpId="0" animBg="1"/>
      <p:bldP spid="79904" grpId="1" animBg="1"/>
      <p:bldP spid="79905" grpId="0" animBg="1"/>
      <p:bldP spid="79906" grpId="0" animBg="1"/>
      <p:bldP spid="79907" grpId="0"/>
      <p:bldP spid="79908" grpId="0" animBg="1"/>
      <p:bldP spid="79909" grpId="0" animBg="1"/>
      <p:bldP spid="79910" grpId="0"/>
      <p:bldP spid="79911" grpId="0"/>
      <p:bldP spid="79913" grpId="0"/>
      <p:bldP spid="79914" grpId="0"/>
      <p:bldP spid="79915" grpId="0"/>
      <p:bldP spid="79916" grpId="0" animBg="1"/>
      <p:bldP spid="79917" grpId="0"/>
      <p:bldP spid="79918" grpId="0" animBg="1"/>
      <p:bldP spid="79919" grpId="0" animBg="1"/>
      <p:bldP spid="79920" grpId="0"/>
      <p:bldP spid="79921" grpId="0" animBg="1"/>
      <p:bldP spid="79922" grpId="0" animBg="1"/>
      <p:bldP spid="79923" grpId="0" animBg="1"/>
      <p:bldP spid="79924" grpId="0" animBg="1"/>
      <p:bldP spid="79925" grpId="0" animBg="1"/>
      <p:bldP spid="79926" grpId="0" animBg="1"/>
      <p:bldP spid="79927" grpId="0" animBg="1"/>
      <p:bldP spid="79928" grpId="0" animBg="1"/>
      <p:bldP spid="79929" grpId="0" animBg="1"/>
      <p:bldP spid="79930" grpId="0" animBg="1"/>
      <p:bldP spid="79931" grpId="0" animBg="1"/>
      <p:bldP spid="79934" grpId="0"/>
      <p:bldP spid="79935" grpId="0"/>
      <p:bldP spid="79936" grpId="0"/>
      <p:bldP spid="79937" grpId="0" animBg="1"/>
      <p:bldP spid="79938" grpId="0"/>
      <p:bldP spid="7994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65" name="Picture 69"/>
          <p:cNvPicPr>
            <a:picLocks noChangeAspect="1" noChangeArrowheads="1"/>
          </p:cNvPicPr>
          <p:nvPr/>
        </p:nvPicPr>
        <p:blipFill>
          <a:blip r:embed="rId1" cstate="print"/>
          <a:srcRect t="8647" b="13327"/>
          <a:stretch>
            <a:fillRect/>
          </a:stretch>
        </p:blipFill>
        <p:spPr bwMode="auto">
          <a:xfrm>
            <a:off x="1769110" y="1248410"/>
            <a:ext cx="5145619" cy="5436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56" name="Rectangle 60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9" name="Text Box 63"/>
          <p:cNvSpPr txBox="1">
            <a:spLocks noChangeArrowheads="1"/>
          </p:cNvSpPr>
          <p:nvPr/>
        </p:nvSpPr>
        <p:spPr bwMode="auto">
          <a:xfrm>
            <a:off x="7200900" y="4005263"/>
            <a:ext cx="19431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利用侧面投影求解</a:t>
            </a:r>
            <a:endParaRPr lang="zh-CN" altLang="el-GR" sz="1500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80963" name="Text Box 67"/>
          <p:cNvSpPr txBox="1">
            <a:spLocks noChangeArrowheads="1"/>
          </p:cNvSpPr>
          <p:nvPr/>
        </p:nvSpPr>
        <p:spPr bwMode="auto">
          <a:xfrm>
            <a:off x="7200900" y="3108325"/>
            <a:ext cx="1943100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方法 四</a:t>
            </a:r>
            <a:endParaRPr lang="el-GR" altLang="zh-CN" sz="1500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80964" name="Text Box 68"/>
          <p:cNvSpPr txBox="1">
            <a:spLocks noChangeArrowheads="1"/>
          </p:cNvSpPr>
          <p:nvPr/>
        </p:nvSpPr>
        <p:spPr bwMode="auto">
          <a:xfrm>
            <a:off x="7200900" y="4940300"/>
            <a:ext cx="1943100" cy="320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点 </a:t>
            </a:r>
            <a:r>
              <a:rPr lang="en-US" altLang="zh-CN" sz="15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K</a:t>
            </a:r>
            <a:r>
              <a:rPr lang="en-US" altLang="zh-CN" sz="1500" b="1" dirty="0">
                <a:solidFill>
                  <a:srgbClr val="3259C8"/>
                </a:solidFill>
                <a:latin typeface="+mn-ea"/>
                <a:ea typeface="+mn-ea"/>
              </a:rPr>
              <a:t> </a:t>
            </a:r>
            <a:r>
              <a:rPr lang="zh-CN" altLang="en-US" sz="1500" b="1" dirty="0">
                <a:solidFill>
                  <a:srgbClr val="3259C8"/>
                </a:solidFill>
                <a:latin typeface="+mn-ea"/>
                <a:ea typeface="+mn-ea"/>
              </a:rPr>
              <a:t>为所求</a:t>
            </a:r>
            <a:endParaRPr lang="zh-CN" altLang="en-US" sz="1500" b="1" i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  <p:sp>
        <p:nvSpPr>
          <p:cNvPr id="80967" name="Text Box 71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2-2-2-3</a:t>
            </a:r>
            <a:r>
              <a:rPr lang="zh-CN" altLang="en-US" sz="1600" b="1">
                <a:latin typeface="宋体" panose="02010600030101010101" pitchFamily="2" charset="-122"/>
              </a:rPr>
              <a:t>　求直线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与由两相交直线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AC</a:t>
            </a:r>
            <a:r>
              <a:rPr lang="zh-CN" altLang="en-US" sz="1600" b="1">
                <a:latin typeface="宋体" panose="02010600030101010101" pitchFamily="2" charset="-122"/>
              </a:rPr>
              <a:t>确定的平面的交点，并判断可见性。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59" grpId="0"/>
      <p:bldP spid="8096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08655" y="680358"/>
            <a:ext cx="478155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2-2-2-4  </a:t>
            </a:r>
            <a:r>
              <a:rPr lang="zh-CN" altLang="en-US" sz="1600" b="1">
                <a:latin typeface="宋体" panose="02010600030101010101" pitchFamily="2" charset="-122"/>
              </a:rPr>
              <a:t>求三角形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与矩形</a:t>
            </a:r>
            <a:r>
              <a:rPr lang="en-US" altLang="zh-CN" sz="1600" b="1">
                <a:latin typeface="宋体" panose="02010600030101010101" pitchFamily="2" charset="-122"/>
              </a:rPr>
              <a:t>DEFG</a:t>
            </a:r>
            <a:r>
              <a:rPr lang="zh-CN" altLang="en-US" sz="1600" b="1">
                <a:latin typeface="宋体" panose="02010600030101010101" pitchFamily="2" charset="-122"/>
              </a:rPr>
              <a:t>的相交的交线，并判断可见性。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13800" y="47542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08202" y="695099"/>
            <a:ext cx="47244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2-2-2-4  </a:t>
            </a:r>
            <a:r>
              <a:rPr lang="zh-CN" altLang="en-US" sz="1600" b="1">
                <a:latin typeface="宋体" panose="02010600030101010101" pitchFamily="2" charset="-122"/>
              </a:rPr>
              <a:t>求三角形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与矩形</a:t>
            </a:r>
            <a:r>
              <a:rPr lang="en-US" altLang="zh-CN" sz="1600" b="1">
                <a:latin typeface="宋体" panose="02010600030101010101" pitchFamily="2" charset="-122"/>
              </a:rPr>
              <a:t>DEFG</a:t>
            </a:r>
            <a:r>
              <a:rPr lang="zh-CN" altLang="en-US" sz="1600" b="1">
                <a:latin typeface="宋体" panose="02010600030101010101" pitchFamily="2" charset="-122"/>
              </a:rPr>
              <a:t>的相交的交线，并判断可见性。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48467" y="719591"/>
            <a:ext cx="65341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2-2-2-5  </a:t>
            </a:r>
            <a:r>
              <a:rPr lang="zh-CN" altLang="en-US" sz="1600" b="1">
                <a:latin typeface="宋体" panose="02010600030101010101" pitchFamily="2" charset="-122"/>
              </a:rPr>
              <a:t>求作直线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与相交两平面</a:t>
            </a:r>
            <a:r>
              <a:rPr lang="en-US" altLang="zh-CN" sz="1600" b="1">
                <a:latin typeface="宋体" panose="02010600030101010101" pitchFamily="2" charset="-122"/>
              </a:rPr>
              <a:t>CDF</a:t>
            </a:r>
            <a:r>
              <a:rPr lang="zh-CN" altLang="en-US" sz="1600" b="1">
                <a:latin typeface="宋体" panose="02010600030101010101" pitchFamily="2" charset="-122"/>
              </a:rPr>
              <a:t>及</a:t>
            </a:r>
            <a:r>
              <a:rPr lang="en-US" altLang="zh-CN" sz="1600" b="1">
                <a:latin typeface="宋体" panose="02010600030101010101" pitchFamily="2" charset="-122"/>
              </a:rPr>
              <a:t>DEF</a:t>
            </a:r>
            <a:r>
              <a:rPr lang="zh-CN" altLang="en-US" sz="1600" b="1">
                <a:latin typeface="宋体" panose="02010600030101010101" pitchFamily="2" charset="-122"/>
              </a:rPr>
              <a:t>的交点</a:t>
            </a:r>
            <a:r>
              <a:rPr lang="en-US" altLang="zh-CN" sz="1600" b="1">
                <a:latin typeface="宋体" panose="02010600030101010101" pitchFamily="2" charset="-122"/>
              </a:rPr>
              <a:t>,</a:t>
            </a:r>
            <a:r>
              <a:rPr lang="zh-CN" altLang="en-US" sz="1600" b="1">
                <a:latin typeface="宋体" panose="02010600030101010101" pitchFamily="2" charset="-122"/>
              </a:rPr>
              <a:t>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3230" y="710066"/>
            <a:ext cx="65246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2-2-2-5  </a:t>
            </a:r>
            <a:r>
              <a:rPr lang="zh-CN" altLang="en-US" sz="1600" b="1">
                <a:latin typeface="宋体" panose="02010600030101010101" pitchFamily="2" charset="-122"/>
              </a:rPr>
              <a:t>求作直线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与相交两平面</a:t>
            </a:r>
            <a:r>
              <a:rPr lang="en-US" altLang="zh-CN" sz="1600" b="1">
                <a:latin typeface="宋体" panose="02010600030101010101" pitchFamily="2" charset="-122"/>
              </a:rPr>
              <a:t>CDF</a:t>
            </a:r>
            <a:r>
              <a:rPr lang="zh-CN" altLang="en-US" sz="1600" b="1">
                <a:latin typeface="宋体" panose="02010600030101010101" pitchFamily="2" charset="-122"/>
              </a:rPr>
              <a:t>及</a:t>
            </a:r>
            <a:r>
              <a:rPr lang="en-US" altLang="zh-CN" sz="1600" b="1">
                <a:latin typeface="宋体" panose="02010600030101010101" pitchFamily="2" charset="-122"/>
              </a:rPr>
              <a:t>DEF</a:t>
            </a:r>
            <a:r>
              <a:rPr lang="zh-CN" altLang="en-US" sz="1600" b="1">
                <a:latin typeface="宋体" panose="02010600030101010101" pitchFamily="2" charset="-122"/>
              </a:rPr>
              <a:t>的交点</a:t>
            </a:r>
            <a:r>
              <a:rPr lang="en-US" altLang="zh-CN" sz="1600" b="1">
                <a:latin typeface="宋体" panose="02010600030101010101" pitchFamily="2" charset="-122"/>
              </a:rPr>
              <a:t>,</a:t>
            </a:r>
            <a:r>
              <a:rPr lang="zh-CN" altLang="en-US" sz="1600" b="1">
                <a:latin typeface="宋体" panose="02010600030101010101" pitchFamily="2" charset="-122"/>
              </a:rPr>
              <a:t>并判断可见性。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72091" y="579213"/>
            <a:ext cx="58578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2-2-2-6  </a:t>
            </a:r>
            <a:r>
              <a:rPr lang="zh-CN" altLang="en-US" sz="1600" b="1">
                <a:latin typeface="宋体" panose="02010600030101010101" pitchFamily="2" charset="-122"/>
              </a:rPr>
              <a:t>求作三角形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与三角形</a:t>
            </a:r>
            <a:r>
              <a:rPr lang="en-US" altLang="zh-CN" sz="1600" b="1">
                <a:latin typeface="宋体" panose="02010600030101010101" pitchFamily="2" charset="-122"/>
              </a:rPr>
              <a:t>DEF</a:t>
            </a:r>
            <a:r>
              <a:rPr lang="zh-CN" altLang="en-US" sz="1600" b="1">
                <a:latin typeface="宋体" panose="02010600030101010101" pitchFamily="2" charset="-122"/>
              </a:rPr>
              <a:t>的交线，并判别可见性。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63019" y="569462"/>
            <a:ext cx="59340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2-2-2-6  </a:t>
            </a:r>
            <a:r>
              <a:rPr lang="zh-CN" altLang="en-US" sz="1600" b="1">
                <a:latin typeface="宋体" panose="02010600030101010101" pitchFamily="2" charset="-122"/>
              </a:rPr>
              <a:t>求作三角形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与三角形</a:t>
            </a:r>
            <a:r>
              <a:rPr lang="en-US" altLang="zh-CN" sz="1600" b="1">
                <a:latin typeface="宋体" panose="02010600030101010101" pitchFamily="2" charset="-122"/>
              </a:rPr>
              <a:t>DEF</a:t>
            </a:r>
            <a:r>
              <a:rPr lang="zh-CN" altLang="en-US" sz="1600" b="1">
                <a:latin typeface="宋体" panose="02010600030101010101" pitchFamily="2" charset="-122"/>
              </a:rPr>
              <a:t>的交线，并判别可见性。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9725" y="681388"/>
            <a:ext cx="687705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2-2-2-7  </a:t>
            </a:r>
            <a:r>
              <a:rPr lang="zh-CN" altLang="en-US" sz="1600" b="1" dirty="0">
                <a:latin typeface="宋体" panose="02010600030101010101" pitchFamily="2" charset="-122"/>
              </a:rPr>
              <a:t>过点Ａ作直线与两已知直线 </a:t>
            </a:r>
            <a:r>
              <a:rPr lang="en-US" altLang="zh-CN" sz="1600" b="1" dirty="0">
                <a:latin typeface="宋体" panose="02010600030101010101" pitchFamily="2" charset="-122"/>
              </a:rPr>
              <a:t>BC </a:t>
            </a:r>
            <a:r>
              <a:rPr lang="zh-CN" altLang="en-US" sz="1600" b="1" dirty="0">
                <a:latin typeface="宋体" panose="02010600030101010101" pitchFamily="2" charset="-122"/>
              </a:rPr>
              <a:t>及 </a:t>
            </a:r>
            <a:r>
              <a:rPr lang="en-US" altLang="zh-CN" sz="1600" b="1" dirty="0">
                <a:latin typeface="宋体" panose="02010600030101010101" pitchFamily="2" charset="-122"/>
              </a:rPr>
              <a:t>EF </a:t>
            </a:r>
            <a:r>
              <a:rPr lang="zh-CN" altLang="en-US" sz="1600" b="1" dirty="0">
                <a:latin typeface="宋体" panose="02010600030101010101" pitchFamily="2" charset="-122"/>
              </a:rPr>
              <a:t>相交。 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963" y="664413"/>
            <a:ext cx="68865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2-2-2-7  </a:t>
            </a:r>
            <a:r>
              <a:rPr lang="zh-CN" altLang="en-US" sz="1600" b="1" dirty="0">
                <a:latin typeface="宋体" panose="02010600030101010101" pitchFamily="2" charset="-122"/>
              </a:rPr>
              <a:t>过点Ａ作直线与两已知直线 </a:t>
            </a:r>
            <a:r>
              <a:rPr lang="en-US" altLang="zh-CN" sz="1600" b="1" dirty="0">
                <a:latin typeface="宋体" panose="02010600030101010101" pitchFamily="2" charset="-122"/>
              </a:rPr>
              <a:t>BC </a:t>
            </a:r>
            <a:r>
              <a:rPr lang="zh-CN" altLang="en-US" sz="1600" b="1" dirty="0">
                <a:latin typeface="宋体" panose="02010600030101010101" pitchFamily="2" charset="-122"/>
              </a:rPr>
              <a:t>及 </a:t>
            </a:r>
            <a:r>
              <a:rPr lang="en-US" altLang="zh-CN" sz="1600" b="1" dirty="0">
                <a:latin typeface="宋体" panose="02010600030101010101" pitchFamily="2" charset="-122"/>
              </a:rPr>
              <a:t>EF </a:t>
            </a:r>
            <a:r>
              <a:rPr lang="zh-CN" altLang="en-US" sz="1600" b="1" dirty="0">
                <a:latin typeface="宋体" panose="02010600030101010101" pitchFamily="2" charset="-122"/>
              </a:rPr>
              <a:t>相交。 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1313" y="583715"/>
            <a:ext cx="76676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2-2-2-8  </a:t>
            </a:r>
            <a:r>
              <a:rPr lang="zh-CN" altLang="en-US" sz="1600" b="1" dirty="0">
                <a:latin typeface="宋体" panose="02010600030101010101" pitchFamily="2" charset="-122"/>
              </a:rPr>
              <a:t>求作两已知平面平面 </a:t>
            </a:r>
            <a:r>
              <a:rPr lang="en-US" altLang="zh-CN" sz="1600" b="1" dirty="0">
                <a:latin typeface="宋体" panose="02010600030101010101" pitchFamily="2" charset="-122"/>
              </a:rPr>
              <a:t>ABC </a:t>
            </a:r>
            <a:r>
              <a:rPr lang="zh-CN" altLang="en-US" sz="1600" b="1" dirty="0">
                <a:latin typeface="宋体" panose="02010600030101010101" pitchFamily="2" charset="-122"/>
              </a:rPr>
              <a:t>与 </a:t>
            </a:r>
            <a:r>
              <a:rPr lang="en-US" altLang="zh-CN" sz="1600" b="1" dirty="0">
                <a:latin typeface="宋体" panose="02010600030101010101" pitchFamily="2" charset="-122"/>
              </a:rPr>
              <a:t>DEFG </a:t>
            </a:r>
            <a:r>
              <a:rPr lang="zh-CN" altLang="en-US" sz="1600" b="1" dirty="0">
                <a:latin typeface="宋体" panose="02010600030101010101" pitchFamily="2" charset="-122"/>
              </a:rPr>
              <a:t>相的交线。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00100" y="569425"/>
            <a:ext cx="75438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2-2-2-8  </a:t>
            </a:r>
            <a:r>
              <a:rPr lang="zh-CN" altLang="en-US" sz="1600" b="1" dirty="0">
                <a:latin typeface="宋体" panose="02010600030101010101" pitchFamily="2" charset="-122"/>
              </a:rPr>
              <a:t>求作两已知平面平面 </a:t>
            </a:r>
            <a:r>
              <a:rPr lang="en-US" altLang="zh-CN" sz="1600" b="1" dirty="0">
                <a:latin typeface="宋体" panose="02010600030101010101" pitchFamily="2" charset="-122"/>
              </a:rPr>
              <a:t>ABC </a:t>
            </a:r>
            <a:r>
              <a:rPr lang="zh-CN" altLang="en-US" sz="1600" b="1" dirty="0">
                <a:latin typeface="宋体" panose="02010600030101010101" pitchFamily="2" charset="-122"/>
              </a:rPr>
              <a:t>与 </a:t>
            </a:r>
            <a:r>
              <a:rPr lang="en-US" altLang="zh-CN" sz="1600" b="1" dirty="0">
                <a:latin typeface="宋体" panose="02010600030101010101" pitchFamily="2" charset="-122"/>
              </a:rPr>
              <a:t>DEFG </a:t>
            </a:r>
            <a:r>
              <a:rPr lang="zh-CN" altLang="en-US" sz="1600" b="1" dirty="0">
                <a:latin typeface="宋体" panose="02010600030101010101" pitchFamily="2" charset="-122"/>
              </a:rPr>
              <a:t>相的交线。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6260" y="5536277"/>
            <a:ext cx="388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Rv∥Pv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 : 4n∥a1 , 5n∥32 ; MN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为 所求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几何元素间的垂直问题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28638" y="659913"/>
            <a:ext cx="5419725" cy="530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2-2-3-1  </a:t>
            </a:r>
            <a:r>
              <a:rPr lang="zh-CN" altLang="en-US" sz="1600" b="1">
                <a:latin typeface="宋体" panose="02010600030101010101" pitchFamily="2" charset="-122"/>
              </a:rPr>
              <a:t>求作三角形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的垂心</a:t>
            </a:r>
            <a:r>
              <a:rPr lang="en-US" altLang="zh-CN" sz="1600" b="1">
                <a:latin typeface="宋体" panose="02010600030101010101" pitchFamily="2" charset="-122"/>
              </a:rPr>
              <a:t>K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23888" y="655150"/>
            <a:ext cx="5229225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2-2-3-1  </a:t>
            </a:r>
            <a:r>
              <a:rPr lang="zh-CN" altLang="en-US" sz="1600" b="1">
                <a:latin typeface="宋体" panose="02010600030101010101" pitchFamily="2" charset="-122"/>
              </a:rPr>
              <a:t>求作三角形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的垂心</a:t>
            </a:r>
            <a:r>
              <a:rPr lang="en-US" altLang="zh-CN" sz="1600" b="1">
                <a:latin typeface="宋体" panose="02010600030101010101" pitchFamily="2" charset="-122"/>
              </a:rPr>
              <a:t>K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14163" y="666925"/>
            <a:ext cx="711517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2-2-3-2  </a:t>
            </a:r>
            <a:r>
              <a:rPr lang="zh-CN" altLang="en-US" sz="1600" b="1">
                <a:latin typeface="宋体" panose="02010600030101010101" pitchFamily="2" charset="-122"/>
              </a:rPr>
              <a:t>试作一正方形 </a:t>
            </a:r>
            <a:r>
              <a:rPr lang="en-US" altLang="zh-CN" sz="1600" b="1">
                <a:latin typeface="宋体" panose="02010600030101010101" pitchFamily="2" charset="-122"/>
              </a:rPr>
              <a:t>ABCD </a:t>
            </a:r>
            <a:r>
              <a:rPr lang="zh-CN" altLang="en-US" sz="1600" b="1">
                <a:latin typeface="宋体" panose="02010600030101010101" pitchFamily="2" charset="-122"/>
              </a:rPr>
              <a:t>，其 </a:t>
            </a:r>
            <a:r>
              <a:rPr lang="en-US" altLang="zh-CN" sz="1600" b="1">
                <a:latin typeface="宋体" panose="02010600030101010101" pitchFamily="2" charset="-122"/>
              </a:rPr>
              <a:t>BC </a:t>
            </a:r>
            <a:r>
              <a:rPr lang="zh-CN" altLang="en-US" sz="1600" b="1">
                <a:latin typeface="宋体" panose="02010600030101010101" pitchFamily="2" charset="-122"/>
              </a:rPr>
              <a:t>边在正平线 </a:t>
            </a:r>
            <a:r>
              <a:rPr lang="en-US" altLang="zh-CN" sz="1600" b="1">
                <a:latin typeface="宋体" panose="02010600030101010101" pitchFamily="2" charset="-122"/>
              </a:rPr>
              <a:t>BM </a:t>
            </a:r>
            <a:r>
              <a:rPr lang="zh-CN" altLang="en-US" sz="1600" b="1">
                <a:latin typeface="宋体" panose="02010600030101010101" pitchFamily="2" charset="-122"/>
              </a:rPr>
              <a:t>上。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9238" y="673938"/>
            <a:ext cx="648652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2-2-3-2  </a:t>
            </a:r>
            <a:r>
              <a:rPr lang="zh-CN" altLang="en-US" sz="1600" b="1">
                <a:latin typeface="宋体" panose="02010600030101010101" pitchFamily="2" charset="-122"/>
              </a:rPr>
              <a:t>试作一正方形 </a:t>
            </a:r>
            <a:r>
              <a:rPr lang="en-US" altLang="zh-CN" sz="1600" b="1">
                <a:latin typeface="宋体" panose="02010600030101010101" pitchFamily="2" charset="-122"/>
              </a:rPr>
              <a:t>ABCD </a:t>
            </a:r>
            <a:r>
              <a:rPr lang="zh-CN" altLang="en-US" sz="1600" b="1">
                <a:latin typeface="宋体" panose="02010600030101010101" pitchFamily="2" charset="-122"/>
              </a:rPr>
              <a:t>，其 </a:t>
            </a:r>
            <a:r>
              <a:rPr lang="en-US" altLang="zh-CN" sz="1600" b="1">
                <a:latin typeface="宋体" panose="02010600030101010101" pitchFamily="2" charset="-122"/>
              </a:rPr>
              <a:t>BC </a:t>
            </a:r>
            <a:r>
              <a:rPr lang="zh-CN" altLang="en-US" sz="1600" b="1">
                <a:latin typeface="宋体" panose="02010600030101010101" pitchFamily="2" charset="-122"/>
              </a:rPr>
              <a:t>边在正平线 </a:t>
            </a:r>
            <a:r>
              <a:rPr lang="en-US" altLang="zh-CN" sz="1600" b="1">
                <a:latin typeface="宋体" panose="02010600030101010101" pitchFamily="2" charset="-122"/>
              </a:rPr>
              <a:t>BM </a:t>
            </a:r>
            <a:r>
              <a:rPr lang="zh-CN" altLang="en-US" sz="1600" b="1">
                <a:latin typeface="宋体" panose="02010600030101010101" pitchFamily="2" charset="-122"/>
              </a:rPr>
              <a:t>上。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83688" y="740525"/>
            <a:ext cx="547687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2-2-3-3  </a:t>
            </a:r>
            <a:r>
              <a:rPr lang="zh-CN" altLang="en-US" sz="1600" b="1">
                <a:latin typeface="宋体" panose="02010600030101010101" pitchFamily="2" charset="-122"/>
              </a:rPr>
              <a:t>求作点Ｐ到三角形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的真实距离。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80563" y="745200"/>
            <a:ext cx="60483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2-2-3-3  </a:t>
            </a:r>
            <a:r>
              <a:rPr lang="zh-CN" altLang="en-US" sz="1600" b="1">
                <a:latin typeface="宋体" panose="02010600030101010101" pitchFamily="2" charset="-122"/>
              </a:rPr>
              <a:t>求作点Ｐ到三角形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的真实距离。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0" y="652725"/>
            <a:ext cx="609600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2-2-3-4  </a:t>
            </a:r>
            <a:r>
              <a:rPr lang="zh-CN" altLang="en-US" sz="1600" b="1">
                <a:latin typeface="宋体" panose="02010600030101010101" pitchFamily="2" charset="-122"/>
              </a:rPr>
              <a:t>求三角形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与Ｖ面所成倾角的实际大小。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12138" y="643200"/>
            <a:ext cx="60864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2-2-3-4  </a:t>
            </a:r>
            <a:r>
              <a:rPr lang="zh-CN" altLang="en-US" sz="1600" b="1">
                <a:latin typeface="宋体" panose="02010600030101010101" pitchFamily="2" charset="-122"/>
              </a:rPr>
              <a:t>求三角形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与Ｖ面所成倾角的实际大小。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99316" y="4788131"/>
            <a:ext cx="214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b="1" dirty="0">
                <a:solidFill>
                  <a:srgbClr val="3259C8"/>
                </a:solidFill>
                <a:latin typeface="+mn-ea"/>
                <a:ea typeface="+mn-ea"/>
              </a:rPr>
              <a:t>β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为所求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换面法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04913" y="742950"/>
            <a:ext cx="67341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2-3-1-1  </a:t>
            </a:r>
            <a:r>
              <a:rPr lang="zh-CN" altLang="en-US" sz="1600" b="1">
                <a:latin typeface="宋体" panose="02010600030101010101" pitchFamily="2" charset="-122"/>
              </a:rPr>
              <a:t>求点Ｄ到三角形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的距离，并画出其垂足Ｋ的投影。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02925" y="728663"/>
            <a:ext cx="643890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2-3-1-1  </a:t>
            </a:r>
            <a:r>
              <a:rPr lang="zh-CN" altLang="en-US" sz="1600" b="1">
                <a:latin typeface="宋体" panose="02010600030101010101" pitchFamily="2" charset="-122"/>
              </a:rPr>
              <a:t>求点Ｄ到三角形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的距离，并画出其垂足Ｋ的投影。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14463" y="747713"/>
            <a:ext cx="631507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2-3-1-2  </a:t>
            </a:r>
            <a:r>
              <a:rPr lang="zh-CN" altLang="en-US" sz="1600" b="1">
                <a:latin typeface="宋体" panose="02010600030101010101" pitchFamily="2" charset="-122"/>
              </a:rPr>
              <a:t>以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为底作等腰三角形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，其高为 </a:t>
            </a:r>
            <a:r>
              <a:rPr lang="en-US" altLang="zh-CN" sz="1600" b="1">
                <a:latin typeface="宋体" panose="02010600030101010101" pitchFamily="2" charset="-122"/>
              </a:rPr>
              <a:t>30</a:t>
            </a:r>
            <a:r>
              <a:rPr lang="zh-CN" altLang="en-US" sz="1600" b="1">
                <a:latin typeface="宋体" panose="02010600030101010101" pitchFamily="2" charset="-122"/>
              </a:rPr>
              <a:t>，并与Ｈ成 </a:t>
            </a:r>
            <a:r>
              <a:rPr lang="en-US" altLang="zh-CN" sz="1600" b="1">
                <a:latin typeface="宋体" panose="02010600030101010101" pitchFamily="2" charset="-122"/>
              </a:rPr>
              <a:t>45°</a:t>
            </a:r>
            <a:r>
              <a:rPr lang="zh-CN" altLang="en-US" sz="1600" b="1">
                <a:latin typeface="宋体" panose="02010600030101010101" pitchFamily="2" charset="-122"/>
              </a:rPr>
              <a:t>角。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28750" y="738188"/>
            <a:ext cx="6286500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2-3-1-2  </a:t>
            </a:r>
            <a:r>
              <a:rPr lang="zh-CN" altLang="en-US" sz="1600" b="1">
                <a:latin typeface="宋体" panose="02010600030101010101" pitchFamily="2" charset="-122"/>
              </a:rPr>
              <a:t>以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为底作等腰三角形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，其高为 </a:t>
            </a:r>
            <a:r>
              <a:rPr lang="en-US" altLang="zh-CN" sz="1600" b="1">
                <a:latin typeface="宋体" panose="02010600030101010101" pitchFamily="2" charset="-122"/>
              </a:rPr>
              <a:t>30</a:t>
            </a:r>
            <a:r>
              <a:rPr lang="zh-CN" altLang="en-US" sz="1600" b="1">
                <a:latin typeface="宋体" panose="02010600030101010101" pitchFamily="2" charset="-122"/>
              </a:rPr>
              <a:t>，并与Ｈ成 </a:t>
            </a:r>
            <a:r>
              <a:rPr lang="en-US" altLang="zh-CN" sz="1600" b="1">
                <a:latin typeface="宋体" panose="02010600030101010101" pitchFamily="2" charset="-122"/>
              </a:rPr>
              <a:t>45°</a:t>
            </a:r>
            <a:r>
              <a:rPr lang="zh-CN" altLang="en-US" sz="1600" b="1">
                <a:latin typeface="宋体" panose="02010600030101010101" pitchFamily="2" charset="-122"/>
              </a:rPr>
              <a:t>角。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50429" y="2676698"/>
            <a:ext cx="259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4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28700" y="709613"/>
            <a:ext cx="70866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2-3-1-3  </a:t>
            </a:r>
            <a:r>
              <a:rPr lang="zh-CN" altLang="en-US" sz="1600" b="1">
                <a:latin typeface="宋体" panose="02010600030101010101" pitchFamily="2" charset="-122"/>
              </a:rPr>
              <a:t>已知线段 </a:t>
            </a:r>
            <a:r>
              <a:rPr lang="en-US" altLang="zh-CN" sz="1600" b="1">
                <a:latin typeface="宋体" panose="02010600030101010101" pitchFamily="2" charset="-122"/>
              </a:rPr>
              <a:t>DE </a:t>
            </a:r>
            <a:r>
              <a:rPr lang="zh-CN" altLang="en-US" sz="1600" b="1">
                <a:latin typeface="宋体" panose="02010600030101010101" pitchFamily="2" charset="-122"/>
              </a:rPr>
              <a:t>平行于三角形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，与三角形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的距离为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，求线段 </a:t>
            </a:r>
            <a:r>
              <a:rPr lang="en-US" altLang="zh-CN" sz="1600" b="1">
                <a:latin typeface="宋体" panose="02010600030101010101" pitchFamily="2" charset="-122"/>
              </a:rPr>
              <a:t>DE </a:t>
            </a:r>
            <a:r>
              <a:rPr lang="zh-CN" altLang="en-US" sz="1600" b="1">
                <a:latin typeface="宋体" panose="02010600030101010101" pitchFamily="2" charset="-122"/>
              </a:rPr>
              <a:t>的正面投影。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2988" y="721475"/>
            <a:ext cx="70580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2-3-1-3  </a:t>
            </a:r>
            <a:r>
              <a:rPr lang="zh-CN" altLang="en-US" sz="1600" b="1">
                <a:latin typeface="宋体" panose="02010600030101010101" pitchFamily="2" charset="-122"/>
              </a:rPr>
              <a:t>已知线段 </a:t>
            </a:r>
            <a:r>
              <a:rPr lang="en-US" altLang="zh-CN" sz="1600" b="1">
                <a:latin typeface="宋体" panose="02010600030101010101" pitchFamily="2" charset="-122"/>
              </a:rPr>
              <a:t>DE </a:t>
            </a:r>
            <a:r>
              <a:rPr lang="zh-CN" altLang="en-US" sz="1600" b="1">
                <a:latin typeface="宋体" panose="02010600030101010101" pitchFamily="2" charset="-122"/>
              </a:rPr>
              <a:t>平行于三角形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，与三角形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的距离为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，求线段 </a:t>
            </a:r>
            <a:r>
              <a:rPr lang="en-US" altLang="zh-CN" sz="1600" b="1">
                <a:latin typeface="宋体" panose="02010600030101010101" pitchFamily="2" charset="-122"/>
              </a:rPr>
              <a:t>DE </a:t>
            </a:r>
            <a:r>
              <a:rPr lang="zh-CN" altLang="en-US" sz="1600" b="1">
                <a:latin typeface="宋体" panose="02010600030101010101" pitchFamily="2" charset="-122"/>
              </a:rPr>
              <a:t>的正面投影。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4993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723900"/>
            <a:ext cx="6858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2-3-1-4  </a:t>
            </a:r>
            <a:r>
              <a:rPr lang="zh-CN" altLang="en-US" sz="1600" b="1">
                <a:latin typeface="宋体" panose="02010600030101010101" pitchFamily="2" charset="-122"/>
              </a:rPr>
              <a:t>已知入射光线为 </a:t>
            </a:r>
            <a:r>
              <a:rPr lang="en-US" altLang="zh-CN" sz="1600" b="1">
                <a:latin typeface="宋体" panose="02010600030101010101" pitchFamily="2" charset="-122"/>
              </a:rPr>
              <a:t>AK </a:t>
            </a:r>
            <a:r>
              <a:rPr lang="zh-CN" altLang="en-US" sz="1600" b="1">
                <a:latin typeface="宋体" panose="02010600030101010101" pitchFamily="2" charset="-122"/>
              </a:rPr>
              <a:t>方向，反射光线为 </a:t>
            </a:r>
            <a:r>
              <a:rPr lang="en-US" altLang="zh-CN" sz="1600" b="1">
                <a:latin typeface="宋体" panose="02010600030101010101" pitchFamily="2" charset="-122"/>
              </a:rPr>
              <a:t>KB </a:t>
            </a:r>
            <a:r>
              <a:rPr lang="zh-CN" altLang="en-US" sz="1600" b="1">
                <a:latin typeface="宋体" panose="02010600030101010101" pitchFamily="2" charset="-122"/>
              </a:rPr>
              <a:t>方向，试确定反射镜面的位置及其投影（镜面用以 </a:t>
            </a:r>
            <a:r>
              <a:rPr lang="en-US" altLang="zh-CN" sz="1600" b="1">
                <a:latin typeface="宋体" panose="02010600030101010101" pitchFamily="2" charset="-122"/>
              </a:rPr>
              <a:t>K </a:t>
            </a:r>
            <a:r>
              <a:rPr lang="zh-CN" altLang="en-US" sz="1600" b="1">
                <a:latin typeface="宋体" panose="02010600030101010101" pitchFamily="2" charset="-122"/>
              </a:rPr>
              <a:t>为中心的正方形表示，边长为 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，其中两边是水平线）。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8238" y="723900"/>
            <a:ext cx="686752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2-3-1-4  </a:t>
            </a:r>
            <a:r>
              <a:rPr lang="zh-CN" altLang="en-US" sz="1600" b="1">
                <a:latin typeface="宋体" panose="02010600030101010101" pitchFamily="2" charset="-122"/>
              </a:rPr>
              <a:t>已知入射光线为 </a:t>
            </a:r>
            <a:r>
              <a:rPr lang="en-US" altLang="zh-CN" sz="1600" b="1">
                <a:latin typeface="宋体" panose="02010600030101010101" pitchFamily="2" charset="-122"/>
              </a:rPr>
              <a:t>AK </a:t>
            </a:r>
            <a:r>
              <a:rPr lang="zh-CN" altLang="en-US" sz="1600" b="1">
                <a:latin typeface="宋体" panose="02010600030101010101" pitchFamily="2" charset="-122"/>
              </a:rPr>
              <a:t>方向，反射光线为 </a:t>
            </a:r>
            <a:r>
              <a:rPr lang="en-US" altLang="zh-CN" sz="1600" b="1">
                <a:latin typeface="宋体" panose="02010600030101010101" pitchFamily="2" charset="-122"/>
              </a:rPr>
              <a:t>KB </a:t>
            </a:r>
            <a:r>
              <a:rPr lang="zh-CN" altLang="en-US" sz="1600" b="1">
                <a:latin typeface="宋体" panose="02010600030101010101" pitchFamily="2" charset="-122"/>
              </a:rPr>
              <a:t>方向，试确定反射镜面的位置及其投影（镜面用以 </a:t>
            </a:r>
            <a:r>
              <a:rPr lang="en-US" altLang="zh-CN" sz="1600" b="1">
                <a:latin typeface="宋体" panose="02010600030101010101" pitchFamily="2" charset="-122"/>
              </a:rPr>
              <a:t>K </a:t>
            </a:r>
            <a:r>
              <a:rPr lang="zh-CN" altLang="en-US" sz="1600" b="1">
                <a:latin typeface="宋体" panose="02010600030101010101" pitchFamily="2" charset="-122"/>
              </a:rPr>
              <a:t>为中心的正方形表示，边长为 </a:t>
            </a:r>
            <a:r>
              <a:rPr lang="en-US" altLang="zh-CN" sz="1600" b="1">
                <a:latin typeface="宋体" panose="02010600030101010101" pitchFamily="2" charset="-122"/>
              </a:rPr>
              <a:t>20</a:t>
            </a:r>
            <a:r>
              <a:rPr lang="zh-CN" altLang="en-US" sz="1600" b="1">
                <a:latin typeface="宋体" panose="02010600030101010101" pitchFamily="2" charset="-122"/>
              </a:rPr>
              <a:t>，其中两边是水平线）。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0" y="4638502"/>
            <a:ext cx="219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CDEF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为所求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700088"/>
            <a:ext cx="68865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2-3-1-5  </a:t>
            </a:r>
            <a:r>
              <a:rPr lang="zh-CN" altLang="en-US" sz="1600" b="1">
                <a:latin typeface="宋体" panose="02010600030101010101" pitchFamily="2" charset="-122"/>
              </a:rPr>
              <a:t>在三角形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平面内找一点Ｋ，使点Ｋ与点Ａ距离 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，与点Ｂ距离 </a:t>
            </a:r>
            <a:r>
              <a:rPr lang="en-US" altLang="zh-CN" sz="1600" b="1">
                <a:latin typeface="宋体" panose="02010600030101010101" pitchFamily="2" charset="-122"/>
              </a:rPr>
              <a:t>25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19188" y="704850"/>
            <a:ext cx="69056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2-3-1-5  </a:t>
            </a:r>
            <a:r>
              <a:rPr lang="zh-CN" altLang="en-US" sz="1600" b="1">
                <a:latin typeface="宋体" panose="02010600030101010101" pitchFamily="2" charset="-122"/>
              </a:rPr>
              <a:t>在三角形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平面内找一点Ｋ，使点Ｋ与点Ａ距离 </a:t>
            </a:r>
            <a:r>
              <a:rPr lang="en-US" altLang="zh-CN" sz="1600" b="1">
                <a:latin typeface="宋体" panose="02010600030101010101" pitchFamily="2" charset="-122"/>
              </a:rPr>
              <a:t>15</a:t>
            </a:r>
            <a:r>
              <a:rPr lang="zh-CN" altLang="en-US" sz="1600" b="1">
                <a:latin typeface="宋体" panose="02010600030101010101" pitchFamily="2" charset="-122"/>
              </a:rPr>
              <a:t>，与点Ｂ距离 </a:t>
            </a:r>
            <a:r>
              <a:rPr lang="en-US" altLang="zh-CN" sz="1600" b="1">
                <a:latin typeface="宋体" panose="02010600030101010101" pitchFamily="2" charset="-122"/>
              </a:rPr>
              <a:t>25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4993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702425"/>
            <a:ext cx="6877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2-3-1-6  </a:t>
            </a:r>
            <a:r>
              <a:rPr lang="zh-CN" altLang="en-US" sz="1600" b="1">
                <a:latin typeface="宋体" panose="02010600030101010101" pitchFamily="2" charset="-122"/>
              </a:rPr>
              <a:t>作直线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相交成 </a:t>
            </a:r>
            <a:r>
              <a:rPr lang="en-US" altLang="zh-CN" sz="1600" b="1">
                <a:latin typeface="宋体" panose="02010600030101010101" pitchFamily="2" charset="-122"/>
              </a:rPr>
              <a:t>60°</a:t>
            </a:r>
            <a:r>
              <a:rPr lang="zh-CN" altLang="en-US" sz="1600" b="1">
                <a:latin typeface="宋体" panose="02010600030101010101" pitchFamily="2" charset="-122"/>
              </a:rPr>
              <a:t>角。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52950" y="3219450"/>
            <a:ext cx="38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52950" y="3219450"/>
            <a:ext cx="38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95325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2-3-1-6  </a:t>
            </a:r>
            <a:r>
              <a:rPr lang="zh-CN" altLang="en-US" sz="1600" b="1">
                <a:latin typeface="宋体" panose="02010600030101010101" pitchFamily="2" charset="-122"/>
              </a:rPr>
              <a:t>作直线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相交成 </a:t>
            </a:r>
            <a:r>
              <a:rPr lang="en-US" altLang="zh-CN" sz="1600" b="1">
                <a:latin typeface="宋体" panose="02010600030101010101" pitchFamily="2" charset="-122"/>
              </a:rPr>
              <a:t>60°</a:t>
            </a:r>
            <a:r>
              <a:rPr lang="zh-CN" altLang="en-US" sz="1600" b="1">
                <a:latin typeface="宋体" panose="02010600030101010101" pitchFamily="2" charset="-122"/>
              </a:rPr>
              <a:t>角。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2950" y="3219450"/>
            <a:ext cx="38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2950" y="3219450"/>
            <a:ext cx="38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74993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3950" y="704850"/>
            <a:ext cx="68961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2-3-1-7  </a:t>
            </a:r>
            <a:r>
              <a:rPr lang="zh-CN" altLang="en-US" sz="1600" b="1">
                <a:latin typeface="宋体" panose="02010600030101010101" pitchFamily="2" charset="-122"/>
              </a:rPr>
              <a:t>直线 </a:t>
            </a:r>
            <a:r>
              <a:rPr lang="en-US" altLang="zh-CN" sz="1600" b="1">
                <a:latin typeface="宋体" panose="02010600030101010101" pitchFamily="2" charset="-122"/>
              </a:rPr>
              <a:t>AB∥CD</a:t>
            </a:r>
            <a:r>
              <a:rPr lang="zh-CN" altLang="en-US" sz="1600" b="1">
                <a:latin typeface="宋体" panose="02010600030101010101" pitchFamily="2" charset="-122"/>
              </a:rPr>
              <a:t>，求作：⑴ 点Ｋ到直线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及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的距离；⑵ 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间的距离。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81038"/>
            <a:ext cx="68865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2-3-1-7  </a:t>
            </a:r>
            <a:r>
              <a:rPr lang="zh-CN" altLang="en-US" sz="1600" b="1">
                <a:latin typeface="宋体" panose="02010600030101010101" pitchFamily="2" charset="-122"/>
              </a:rPr>
              <a:t>直线 </a:t>
            </a:r>
            <a:r>
              <a:rPr lang="en-US" altLang="zh-CN" sz="1600" b="1">
                <a:latin typeface="宋体" panose="02010600030101010101" pitchFamily="2" charset="-122"/>
              </a:rPr>
              <a:t>AB∥CD</a:t>
            </a:r>
            <a:r>
              <a:rPr lang="zh-CN" altLang="en-US" sz="1600" b="1">
                <a:latin typeface="宋体" panose="02010600030101010101" pitchFamily="2" charset="-122"/>
              </a:rPr>
              <a:t>，求作：⑴ 点Ｋ到直线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及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的距离；⑵ 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间的距离。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85164" y="151291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L</a:t>
            </a:r>
            <a:r>
              <a:rPr lang="en-US" altLang="zh-CN" sz="1200" b="1" dirty="0">
                <a:solidFill>
                  <a:srgbClr val="3333CC"/>
                </a:solidFill>
                <a:latin typeface="+mn-ea"/>
                <a:ea typeface="+mn-ea"/>
              </a:rPr>
              <a:t>1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 : 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点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K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到直线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AB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的距离</a:t>
            </a:r>
            <a:endParaRPr lang="zh-CN" altLang="en-US" b="1" dirty="0">
              <a:solidFill>
                <a:srgbClr val="3333CC"/>
              </a:solidFill>
              <a:latin typeface="+mn-ea"/>
              <a:ea typeface="+mn-ea"/>
            </a:endParaRPr>
          </a:p>
          <a:p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L</a:t>
            </a:r>
            <a:r>
              <a:rPr lang="en-US" altLang="zh-CN" sz="1200" b="1" dirty="0">
                <a:solidFill>
                  <a:srgbClr val="3333CC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: 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点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K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到直线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CD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的距离</a:t>
            </a:r>
            <a:endParaRPr lang="en-US" altLang="zh-CN" b="1" dirty="0">
              <a:solidFill>
                <a:srgbClr val="3333CC"/>
              </a:solidFill>
              <a:latin typeface="+mn-ea"/>
              <a:ea typeface="+mn-ea"/>
            </a:endParaRPr>
          </a:p>
          <a:p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L</a:t>
            </a:r>
            <a:r>
              <a:rPr lang="en-US" altLang="zh-CN" sz="1200" b="1" dirty="0">
                <a:solidFill>
                  <a:srgbClr val="3333CC"/>
                </a:solidFill>
                <a:latin typeface="+mn-ea"/>
                <a:ea typeface="+mn-ea"/>
              </a:rPr>
              <a:t>3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: 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直线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AB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与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CD</a:t>
            </a:r>
            <a:r>
              <a:rPr lang="zh-CN" altLang="en-US" b="1" dirty="0">
                <a:solidFill>
                  <a:srgbClr val="3333CC"/>
                </a:solidFill>
                <a:latin typeface="+mn-ea"/>
                <a:ea typeface="+mn-ea"/>
              </a:rPr>
              <a:t>间的距离</a:t>
            </a:r>
            <a:endParaRPr lang="zh-CN" altLang="en-US" b="1" dirty="0">
              <a:solidFill>
                <a:srgbClr val="3333CC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8238" y="643113"/>
            <a:ext cx="686752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2-3-1-8  </a:t>
            </a:r>
            <a:r>
              <a:rPr lang="zh-CN" altLang="en-US" sz="1600" b="1">
                <a:latin typeface="宋体" panose="02010600030101010101" pitchFamily="2" charset="-122"/>
              </a:rPr>
              <a:t>已知直线 </a:t>
            </a:r>
            <a:r>
              <a:rPr lang="en-US" altLang="zh-CN" sz="1600" b="1">
                <a:latin typeface="宋体" panose="02010600030101010101" pitchFamily="2" charset="-122"/>
              </a:rPr>
              <a:t>AB∥CD</a:t>
            </a:r>
            <a:r>
              <a:rPr lang="zh-CN" altLang="en-US" sz="1600" b="1">
                <a:latin typeface="宋体" panose="02010600030101010101" pitchFamily="2" charset="-122"/>
              </a:rPr>
              <a:t>，且相距为 </a:t>
            </a:r>
            <a:r>
              <a:rPr lang="en-US" altLang="zh-CN" sz="1600" b="1">
                <a:latin typeface="宋体" panose="02010600030101010101" pitchFamily="2" charset="-122"/>
              </a:rPr>
              <a:t>10</a:t>
            </a:r>
            <a:r>
              <a:rPr lang="zh-CN" altLang="en-US" sz="1600" b="1">
                <a:latin typeface="宋体" panose="02010600030101010101" pitchFamily="2" charset="-122"/>
              </a:rPr>
              <a:t>，求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的正面投影。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3475" y="640688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2-3-1-8  </a:t>
            </a:r>
            <a:r>
              <a:rPr lang="zh-CN" altLang="en-US" sz="1600" b="1">
                <a:latin typeface="宋体" panose="02010600030101010101" pitchFamily="2" charset="-122"/>
              </a:rPr>
              <a:t>已知直线 </a:t>
            </a:r>
            <a:r>
              <a:rPr lang="en-US" altLang="zh-CN" sz="1600" b="1">
                <a:latin typeface="宋体" panose="02010600030101010101" pitchFamily="2" charset="-122"/>
              </a:rPr>
              <a:t>AB∥CD</a:t>
            </a:r>
            <a:r>
              <a:rPr lang="zh-CN" altLang="en-US" sz="1600" b="1">
                <a:latin typeface="宋体" panose="02010600030101010101" pitchFamily="2" charset="-122"/>
              </a:rPr>
              <a:t>，且相距为 </a:t>
            </a:r>
            <a:r>
              <a:rPr lang="en-US" altLang="zh-CN" sz="1600" b="1">
                <a:latin typeface="宋体" panose="02010600030101010101" pitchFamily="2" charset="-122"/>
              </a:rPr>
              <a:t>10</a:t>
            </a:r>
            <a:r>
              <a:rPr lang="zh-CN" altLang="en-US" sz="1600" b="1">
                <a:latin typeface="宋体" panose="02010600030101010101" pitchFamily="2" charset="-122"/>
              </a:rPr>
              <a:t>，求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的正面投影。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4993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64413"/>
            <a:ext cx="68865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2-3-1-9  </a:t>
            </a:r>
            <a:r>
              <a:rPr lang="zh-CN" altLang="en-US" sz="1600" b="1">
                <a:latin typeface="宋体" panose="02010600030101010101" pitchFamily="2" charset="-122"/>
              </a:rPr>
              <a:t>试确定连接管子 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的最短管子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的位置及其长度。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2-3-1-9  </a:t>
            </a:r>
            <a:r>
              <a:rPr lang="zh-CN" altLang="en-US" sz="1600" b="1">
                <a:latin typeface="宋体" panose="02010600030101010101" pitchFamily="2" charset="-122"/>
              </a:rPr>
              <a:t>试确定连接管子 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CD</a:t>
            </a:r>
            <a:r>
              <a:rPr lang="zh-CN" altLang="en-US" sz="1600" b="1">
                <a:latin typeface="宋体" panose="02010600030101010101" pitchFamily="2" charset="-122"/>
              </a:rPr>
              <a:t>的最短管子 </a:t>
            </a:r>
            <a:r>
              <a:rPr lang="en-US" altLang="zh-CN" sz="1600" b="1">
                <a:latin typeface="宋体" panose="02010600030101010101" pitchFamily="2" charset="-122"/>
              </a:rPr>
              <a:t>EF </a:t>
            </a:r>
            <a:r>
              <a:rPr lang="zh-CN" altLang="en-US" sz="1600" b="1">
                <a:latin typeface="宋体" panose="02010600030101010101" pitchFamily="2" charset="-122"/>
              </a:rPr>
              <a:t>的位置及其长度。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3475" y="681038"/>
            <a:ext cx="68770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85800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*2-3-1-10  </a:t>
            </a:r>
            <a:r>
              <a:rPr lang="zh-CN" altLang="en-US" sz="1600" b="1">
                <a:latin typeface="宋体" panose="02010600030101010101" pitchFamily="2" charset="-122"/>
              </a:rPr>
              <a:t>电流在导线中由Ａ流向Ｂ，试给出在点Ｃ处的磁场强度方向的投影。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90563"/>
            <a:ext cx="688657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*2-3-1-10  </a:t>
            </a:r>
            <a:r>
              <a:rPr lang="zh-CN" altLang="en-US" sz="1600" b="1">
                <a:latin typeface="宋体" panose="02010600030101010101" pitchFamily="2" charset="-122"/>
              </a:rPr>
              <a:t>电流在导线中由Ａ流向Ｂ，试给出在点Ｃ处的磁场强度方向的投影。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505263"/>
            <a:ext cx="6886575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*2-3-1-11  </a:t>
            </a:r>
            <a:r>
              <a:rPr lang="zh-CN" altLang="en-US" sz="1600" b="1">
                <a:latin typeface="宋体" panose="02010600030101010101" pitchFamily="2" charset="-122"/>
              </a:rPr>
              <a:t>试确定直线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与三角形 </a:t>
            </a:r>
            <a:r>
              <a:rPr lang="en-US" altLang="zh-CN" sz="1600" b="1">
                <a:latin typeface="宋体" panose="02010600030101010101" pitchFamily="2" charset="-122"/>
              </a:rPr>
              <a:t>DEF </a:t>
            </a:r>
            <a:r>
              <a:rPr lang="zh-CN" altLang="en-US" sz="1600" b="1">
                <a:latin typeface="宋体" panose="02010600030101010101" pitchFamily="2" charset="-122"/>
              </a:rPr>
              <a:t>夹角的实际大小。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3475" y="505263"/>
            <a:ext cx="6877050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*2-3-1-11  </a:t>
            </a:r>
            <a:r>
              <a:rPr lang="zh-CN" altLang="en-US" sz="1600" b="1">
                <a:latin typeface="宋体" panose="02010600030101010101" pitchFamily="2" charset="-122"/>
              </a:rPr>
              <a:t>试确定直线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与三角形 </a:t>
            </a:r>
            <a:r>
              <a:rPr lang="en-US" altLang="zh-CN" sz="1600" b="1">
                <a:latin typeface="宋体" panose="02010600030101010101" pitchFamily="2" charset="-122"/>
              </a:rPr>
              <a:t>DEF </a:t>
            </a:r>
            <a:r>
              <a:rPr lang="zh-CN" altLang="en-US" sz="1600" b="1">
                <a:latin typeface="宋体" panose="02010600030101010101" pitchFamily="2" charset="-122"/>
              </a:rPr>
              <a:t>夹角的实际大小。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0269" y="4861029"/>
            <a:ext cx="387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本题采用了余角法 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: 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AC⊥△DEF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  <a:ea typeface="+mn-ea"/>
            </a:endParaRPr>
          </a:p>
          <a:p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∠B</a:t>
            </a:r>
            <a:r>
              <a:rPr lang="en-US" altLang="zh-CN" sz="12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2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</a:t>
            </a:r>
            <a:r>
              <a:rPr lang="en-US" altLang="zh-CN" sz="12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2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C</a:t>
            </a:r>
            <a:r>
              <a:rPr lang="en-US" altLang="zh-CN" sz="12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2 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的余角</a:t>
            </a:r>
            <a:r>
              <a:rPr lang="el-GR" altLang="zh-CN" b="1" dirty="0">
                <a:solidFill>
                  <a:srgbClr val="3259C8"/>
                </a:solidFill>
                <a:latin typeface="+mn-ea"/>
                <a:ea typeface="+mn-ea"/>
              </a:rPr>
              <a:t>θ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为所求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69175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*2-3-1-12  </a:t>
            </a:r>
            <a:r>
              <a:rPr lang="zh-CN" altLang="en-US" sz="1600" b="1">
                <a:latin typeface="宋体" panose="02010600030101010101" pitchFamily="2" charset="-122"/>
              </a:rPr>
              <a:t>已知平面 </a:t>
            </a:r>
            <a:r>
              <a:rPr lang="en-US" altLang="zh-CN" sz="1600" b="1">
                <a:latin typeface="宋体" panose="02010600030101010101" pitchFamily="2" charset="-122"/>
              </a:rPr>
              <a:t>ACD </a:t>
            </a:r>
            <a:r>
              <a:rPr lang="zh-CN" altLang="en-US" sz="1600" b="1">
                <a:latin typeface="宋体" panose="02010600030101010101" pitchFamily="2" charset="-122"/>
              </a:rPr>
              <a:t>垂直于平面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，平面 </a:t>
            </a:r>
            <a:r>
              <a:rPr lang="en-US" altLang="zh-CN" sz="1600" b="1">
                <a:latin typeface="宋体" panose="02010600030101010101" pitchFamily="2" charset="-122"/>
              </a:rPr>
              <a:t>AFG </a:t>
            </a:r>
            <a:r>
              <a:rPr lang="zh-CN" altLang="en-US" sz="1600" b="1">
                <a:latin typeface="宋体" panose="02010600030101010101" pitchFamily="2" charset="-122"/>
              </a:rPr>
              <a:t>同时垂直于 </a:t>
            </a:r>
            <a:r>
              <a:rPr lang="en-US" altLang="zh-CN" sz="1600" b="1">
                <a:latin typeface="宋体" panose="02010600030101010101" pitchFamily="2" charset="-122"/>
              </a:rPr>
              <a:t>ACD </a:t>
            </a:r>
            <a:r>
              <a:rPr lang="zh-CN" altLang="en-US" sz="1600" b="1">
                <a:latin typeface="宋体" panose="02010600030101010101" pitchFamily="2" charset="-122"/>
              </a:rPr>
              <a:t>及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，求作平面 </a:t>
            </a:r>
            <a:r>
              <a:rPr lang="en-US" altLang="zh-CN" sz="1600" b="1">
                <a:latin typeface="宋体" panose="02010600030101010101" pitchFamily="2" charset="-122"/>
              </a:rPr>
              <a:t>ACD </a:t>
            </a:r>
            <a:r>
              <a:rPr lang="zh-CN" altLang="en-US" sz="1600" b="1">
                <a:latin typeface="宋体" panose="02010600030101010101" pitchFamily="2" charset="-122"/>
              </a:rPr>
              <a:t>和 </a:t>
            </a:r>
            <a:r>
              <a:rPr lang="en-US" altLang="zh-CN" sz="1600" b="1">
                <a:latin typeface="宋体" panose="02010600030101010101" pitchFamily="2" charset="-122"/>
              </a:rPr>
              <a:t>AFG </a:t>
            </a:r>
            <a:r>
              <a:rPr lang="zh-CN" altLang="en-US" sz="1600" b="1">
                <a:latin typeface="宋体" panose="02010600030101010101" pitchFamily="2" charset="-122"/>
              </a:rPr>
              <a:t>的两个投影。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19188" y="685800"/>
            <a:ext cx="69056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*2-3-1-12  </a:t>
            </a:r>
            <a:r>
              <a:rPr lang="zh-CN" altLang="en-US" sz="1600" b="1">
                <a:latin typeface="宋体" panose="02010600030101010101" pitchFamily="2" charset="-122"/>
              </a:rPr>
              <a:t>已知平面 </a:t>
            </a:r>
            <a:r>
              <a:rPr lang="en-US" altLang="zh-CN" sz="1600" b="1">
                <a:latin typeface="宋体" panose="02010600030101010101" pitchFamily="2" charset="-122"/>
              </a:rPr>
              <a:t>ACD </a:t>
            </a:r>
            <a:r>
              <a:rPr lang="zh-CN" altLang="en-US" sz="1600" b="1">
                <a:latin typeface="宋体" panose="02010600030101010101" pitchFamily="2" charset="-122"/>
              </a:rPr>
              <a:t>垂直于平面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，平面 </a:t>
            </a:r>
            <a:r>
              <a:rPr lang="en-US" altLang="zh-CN" sz="1600" b="1">
                <a:latin typeface="宋体" panose="02010600030101010101" pitchFamily="2" charset="-122"/>
              </a:rPr>
              <a:t>AFG </a:t>
            </a:r>
            <a:r>
              <a:rPr lang="zh-CN" altLang="en-US" sz="1600" b="1">
                <a:latin typeface="宋体" panose="02010600030101010101" pitchFamily="2" charset="-122"/>
              </a:rPr>
              <a:t>同时垂直于 </a:t>
            </a:r>
            <a:r>
              <a:rPr lang="en-US" altLang="zh-CN" sz="1600" b="1">
                <a:latin typeface="宋体" panose="02010600030101010101" pitchFamily="2" charset="-122"/>
              </a:rPr>
              <a:t>ACD </a:t>
            </a:r>
            <a:r>
              <a:rPr lang="zh-CN" altLang="en-US" sz="1600" b="1">
                <a:latin typeface="宋体" panose="02010600030101010101" pitchFamily="2" charset="-122"/>
              </a:rPr>
              <a:t>及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，求作平面 </a:t>
            </a:r>
            <a:r>
              <a:rPr lang="en-US" altLang="zh-CN" sz="1600" b="1">
                <a:latin typeface="宋体" panose="02010600030101010101" pitchFamily="2" charset="-122"/>
              </a:rPr>
              <a:t>ACD </a:t>
            </a:r>
            <a:r>
              <a:rPr lang="zh-CN" altLang="en-US" sz="1600" b="1">
                <a:latin typeface="宋体" panose="02010600030101010101" pitchFamily="2" charset="-122"/>
              </a:rPr>
              <a:t>和 </a:t>
            </a:r>
            <a:r>
              <a:rPr lang="en-US" altLang="zh-CN" sz="1600" b="1">
                <a:latin typeface="宋体" panose="02010600030101010101" pitchFamily="2" charset="-122"/>
              </a:rPr>
              <a:t>AFG </a:t>
            </a:r>
            <a:r>
              <a:rPr lang="zh-CN" altLang="en-US" sz="1600" b="1">
                <a:latin typeface="宋体" panose="02010600030101010101" pitchFamily="2" charset="-122"/>
              </a:rPr>
              <a:t>的两个投影。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旋转法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76275"/>
            <a:ext cx="6886575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2-3-2-1  </a:t>
            </a:r>
            <a:r>
              <a:rPr lang="zh-CN" altLang="en-US" sz="1600" b="1">
                <a:latin typeface="宋体" panose="02010600030101010101" pitchFamily="2" charset="-122"/>
              </a:rPr>
              <a:t>用旋转法使点Ｋ绕经过点Ｂ并垂直于Ｈ面的轴转到</a:t>
            </a:r>
            <a:r>
              <a:rPr lang="en-US" altLang="zh-CN" sz="1600" b="1">
                <a:latin typeface="宋体" panose="02010600030101010101" pitchFamily="2" charset="-122"/>
              </a:rPr>
              <a:t>ΔABC</a:t>
            </a:r>
            <a:r>
              <a:rPr lang="zh-CN" altLang="en-US" sz="1600" b="1">
                <a:latin typeface="宋体" panose="02010600030101010101" pitchFamily="2" charset="-122"/>
              </a:rPr>
              <a:t>平面上。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81038"/>
            <a:ext cx="68865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2-3-2-1  </a:t>
            </a:r>
            <a:r>
              <a:rPr lang="zh-CN" altLang="en-US" sz="1600" b="1">
                <a:latin typeface="宋体" panose="02010600030101010101" pitchFamily="2" charset="-122"/>
              </a:rPr>
              <a:t>用旋转法使点Ｋ绕经过点Ｂ并垂直于Ｈ面的轴转到</a:t>
            </a:r>
            <a:r>
              <a:rPr lang="en-US" altLang="zh-CN" sz="1600" b="1">
                <a:latin typeface="宋体" panose="02010600030101010101" pitchFamily="2" charset="-122"/>
              </a:rPr>
              <a:t>ΔABC</a:t>
            </a:r>
            <a:r>
              <a:rPr lang="zh-CN" altLang="en-US" sz="1600" b="1">
                <a:latin typeface="宋体" panose="02010600030101010101" pitchFamily="2" charset="-122"/>
              </a:rPr>
              <a:t>平面上。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4993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3950" y="681038"/>
            <a:ext cx="68961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2-3-2-2  </a:t>
            </a:r>
            <a:r>
              <a:rPr lang="zh-CN" altLang="en-US" sz="1600" b="1">
                <a:latin typeface="宋体" panose="02010600030101010101" pitchFamily="2" charset="-122"/>
              </a:rPr>
              <a:t>线段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绕 </a:t>
            </a:r>
            <a:r>
              <a:rPr lang="en-US" altLang="zh-CN" sz="1600" b="1">
                <a:latin typeface="宋体" panose="02010600030101010101" pitchFamily="2" charset="-122"/>
              </a:rPr>
              <a:t>O-O </a:t>
            </a:r>
            <a:r>
              <a:rPr lang="zh-CN" altLang="en-US" sz="1600" b="1">
                <a:latin typeface="宋体" panose="02010600030101010101" pitchFamily="2" charset="-122"/>
              </a:rPr>
              <a:t>轴旋转，使它与直线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位于同一平面内。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2-3-2-2  </a:t>
            </a:r>
            <a:r>
              <a:rPr lang="zh-CN" altLang="en-US" sz="1600" b="1">
                <a:latin typeface="宋体" panose="02010600030101010101" pitchFamily="2" charset="-122"/>
              </a:rPr>
              <a:t>线段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绕 </a:t>
            </a:r>
            <a:r>
              <a:rPr lang="en-US" altLang="zh-CN" sz="1600" b="1">
                <a:latin typeface="宋体" panose="02010600030101010101" pitchFamily="2" charset="-122"/>
              </a:rPr>
              <a:t>O-O </a:t>
            </a:r>
            <a:r>
              <a:rPr lang="zh-CN" altLang="en-US" sz="1600" b="1">
                <a:latin typeface="宋体" panose="02010600030101010101" pitchFamily="2" charset="-122"/>
              </a:rPr>
              <a:t>轴旋转，使它与直线 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位于同一平面内。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8238" y="681038"/>
            <a:ext cx="68675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71668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19188" y="671513"/>
            <a:ext cx="6905625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2-3-2-3  (1)</a:t>
            </a:r>
            <a:r>
              <a:rPr lang="zh-CN" altLang="en-US" sz="1600" b="1">
                <a:latin typeface="宋体" panose="02010600030101010101" pitchFamily="2" charset="-122"/>
              </a:rPr>
              <a:t>用旋转法求线段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的实长及其与Ｈ面的倾角大小。</a:t>
            </a:r>
            <a:endParaRPr lang="zh-CN" altLang="en-US" sz="1600" b="1">
              <a:latin typeface="宋体" panose="02010600030101010101" pitchFamily="2" charset="-122"/>
            </a:endParaRPr>
          </a:p>
          <a:p>
            <a:r>
              <a:rPr lang="zh-CN" altLang="en-US" sz="1600" b="1">
                <a:latin typeface="宋体" panose="02010600030101010101" pitchFamily="2" charset="-122"/>
              </a:rPr>
              <a:t>         </a:t>
            </a:r>
            <a:r>
              <a:rPr lang="en-US" altLang="zh-CN" sz="1600" b="1">
                <a:latin typeface="宋体" panose="02010600030101010101" pitchFamily="2" charset="-122"/>
              </a:rPr>
              <a:t>(2)</a:t>
            </a:r>
            <a:r>
              <a:rPr lang="zh-CN" altLang="en-US" sz="1600" b="1">
                <a:latin typeface="宋体" panose="02010600030101010101" pitchFamily="2" charset="-122"/>
              </a:rPr>
              <a:t>若 </a:t>
            </a:r>
            <a:r>
              <a:rPr lang="en-US" altLang="zh-CN" sz="1600" b="1">
                <a:latin typeface="宋体" panose="02010600030101010101" pitchFamily="2" charset="-122"/>
              </a:rPr>
              <a:t>AC 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对Ｈ面的倾角相同，求 </a:t>
            </a:r>
            <a:r>
              <a:rPr lang="en-US" altLang="zh-CN" sz="1600" b="1">
                <a:latin typeface="宋体" panose="02010600030101010101" pitchFamily="2" charset="-122"/>
              </a:rPr>
              <a:t>a′c′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2-3-2-3  (1)</a:t>
            </a:r>
            <a:r>
              <a:rPr lang="zh-CN" altLang="en-US" sz="1600" b="1">
                <a:latin typeface="宋体" panose="02010600030101010101" pitchFamily="2" charset="-122"/>
              </a:rPr>
              <a:t>用旋转法求线段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的实长及其与Ｈ面的倾角大小。</a:t>
            </a:r>
            <a:endParaRPr lang="zh-CN" altLang="en-US" sz="1600" b="1">
              <a:latin typeface="宋体" panose="02010600030101010101" pitchFamily="2" charset="-122"/>
            </a:endParaRPr>
          </a:p>
          <a:p>
            <a:r>
              <a:rPr lang="zh-CN" altLang="en-US" sz="1600" b="1">
                <a:latin typeface="宋体" panose="02010600030101010101" pitchFamily="2" charset="-122"/>
              </a:rPr>
              <a:t>         </a:t>
            </a:r>
            <a:r>
              <a:rPr lang="en-US" altLang="zh-CN" sz="1600" b="1">
                <a:latin typeface="宋体" panose="02010600030101010101" pitchFamily="2" charset="-122"/>
              </a:rPr>
              <a:t>(2)</a:t>
            </a:r>
            <a:r>
              <a:rPr lang="zh-CN" altLang="en-US" sz="1600" b="1">
                <a:latin typeface="宋体" panose="02010600030101010101" pitchFamily="2" charset="-122"/>
              </a:rPr>
              <a:t>若 </a:t>
            </a:r>
            <a:r>
              <a:rPr lang="en-US" altLang="zh-CN" sz="1600" b="1">
                <a:latin typeface="宋体" panose="02010600030101010101" pitchFamily="2" charset="-122"/>
              </a:rPr>
              <a:t>AC </a:t>
            </a:r>
            <a:r>
              <a:rPr lang="zh-CN" altLang="en-US" sz="1600" b="1">
                <a:latin typeface="宋体" panose="02010600030101010101" pitchFamily="2" charset="-122"/>
              </a:rPr>
              <a:t>与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对Ｈ面的倾角相同，求 </a:t>
            </a:r>
            <a:r>
              <a:rPr lang="en-US" altLang="zh-CN" sz="1600" b="1">
                <a:latin typeface="宋体" panose="02010600030101010101" pitchFamily="2" charset="-122"/>
              </a:rPr>
              <a:t>a′c′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07325" y="683463"/>
            <a:ext cx="68961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3475" y="695325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2-3-2-4  </a:t>
            </a:r>
            <a:r>
              <a:rPr lang="zh-CN" altLang="en-US" sz="1600" b="1">
                <a:latin typeface="宋体" panose="02010600030101010101" pitchFamily="2" charset="-122"/>
              </a:rPr>
              <a:t>包含直线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作一与Ｈ面成 </a:t>
            </a:r>
            <a:r>
              <a:rPr lang="en-US" altLang="zh-CN" sz="1600" b="1">
                <a:latin typeface="宋体" panose="02010600030101010101" pitchFamily="2" charset="-122"/>
              </a:rPr>
              <a:t>60°</a:t>
            </a:r>
            <a:r>
              <a:rPr lang="zh-CN" altLang="en-US" sz="1600" b="1">
                <a:latin typeface="宋体" panose="02010600030101010101" pitchFamily="2" charset="-122"/>
              </a:rPr>
              <a:t>倾角的平面三角形 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07325" y="695325"/>
            <a:ext cx="68961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2-3-2-4  </a:t>
            </a:r>
            <a:r>
              <a:rPr lang="zh-CN" altLang="en-US" sz="1600" b="1">
                <a:latin typeface="宋体" panose="02010600030101010101" pitchFamily="2" charset="-122"/>
              </a:rPr>
              <a:t>包含直线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作一与Ｈ面成 </a:t>
            </a:r>
            <a:r>
              <a:rPr lang="en-US" altLang="zh-CN" sz="1600" b="1">
                <a:latin typeface="宋体" panose="02010600030101010101" pitchFamily="2" charset="-122"/>
              </a:rPr>
              <a:t>60°</a:t>
            </a:r>
            <a:r>
              <a:rPr lang="zh-CN" altLang="en-US" sz="1600" b="1">
                <a:latin typeface="宋体" panose="02010600030101010101" pitchFamily="2" charset="-122"/>
              </a:rPr>
              <a:t>倾角的平面三角形 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67055" y="4172989"/>
            <a:ext cx="2576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解，</a:t>
            </a:r>
            <a:endParaRPr lang="en-US" altLang="zh-CN" b="1" dirty="0">
              <a:solidFill>
                <a:srgbClr val="3259C8"/>
              </a:solidFill>
              <a:latin typeface="+mn-ea"/>
              <a:ea typeface="+mn-ea"/>
            </a:endParaRPr>
          </a:p>
          <a:p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ABC</a:t>
            </a:r>
            <a:r>
              <a:rPr lang="en-US" altLang="zh-CN" sz="12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1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 </a:t>
            </a:r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及</a:t>
            </a:r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△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ABC</a:t>
            </a:r>
            <a:r>
              <a:rPr lang="en-US" altLang="zh-CN" sz="1200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2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  <a:ea typeface="+mn-ea"/>
              </a:rPr>
              <a:t> 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  <a:ea typeface="+mn-ea"/>
            </a:endParaRPr>
          </a:p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均为所求。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90950" y="659650"/>
            <a:ext cx="689610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2-3-2-5  </a:t>
            </a:r>
            <a:r>
              <a:rPr lang="zh-CN" altLang="en-US" sz="1600" b="1">
                <a:latin typeface="宋体" panose="02010600030101010101" pitchFamily="2" charset="-122"/>
              </a:rPr>
              <a:t>在平面 </a:t>
            </a:r>
            <a:r>
              <a:rPr lang="en-US" altLang="zh-CN" sz="1600" b="1">
                <a:latin typeface="宋体" panose="02010600030101010101" pitchFamily="2" charset="-122"/>
              </a:rPr>
              <a:t>ABCD</a:t>
            </a:r>
            <a:r>
              <a:rPr lang="zh-CN" altLang="en-US" sz="1600" b="1">
                <a:latin typeface="宋体" panose="02010600030101010101" pitchFamily="2" charset="-122"/>
              </a:rPr>
              <a:t>内作一直线 </a:t>
            </a:r>
            <a:r>
              <a:rPr lang="en-US" altLang="zh-CN" sz="1600" b="1">
                <a:latin typeface="宋体" panose="02010600030101010101" pitchFamily="2" charset="-122"/>
              </a:rPr>
              <a:t>AE</a:t>
            </a:r>
            <a:r>
              <a:rPr lang="zh-CN" altLang="en-US" sz="1600" b="1">
                <a:latin typeface="宋体" panose="02010600030101010101" pitchFamily="2" charset="-122"/>
              </a:rPr>
              <a:t>，并使 </a:t>
            </a:r>
            <a:r>
              <a:rPr lang="en-US" altLang="zh-CN" sz="1600" b="1">
                <a:latin typeface="宋体" panose="02010600030101010101" pitchFamily="2" charset="-122"/>
              </a:rPr>
              <a:t>AE</a:t>
            </a:r>
            <a:r>
              <a:rPr lang="zh-CN" altLang="en-US" sz="1600" b="1">
                <a:latin typeface="宋体" panose="02010600030101010101" pitchFamily="2" charset="-122"/>
              </a:rPr>
              <a:t>与Ｈ面的倾角为</a:t>
            </a:r>
            <a:r>
              <a:rPr lang="en-US" altLang="zh-CN" sz="1600" b="1">
                <a:latin typeface="宋体" panose="02010600030101010101" pitchFamily="2" charset="-122"/>
              </a:rPr>
              <a:t>45°</a:t>
            </a:r>
            <a:r>
              <a:rPr lang="zh-CN" altLang="en-US" sz="1600" b="1">
                <a:latin typeface="宋体" panose="02010600030101010101" pitchFamily="2" charset="-122"/>
              </a:rPr>
              <a:t>，同时讨论何时有两解、一解或无解。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96665" y="656273"/>
            <a:ext cx="6915150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2-3-2-5  </a:t>
            </a:r>
            <a:r>
              <a:rPr lang="zh-CN" altLang="en-US" sz="1600" b="1">
                <a:latin typeface="宋体" panose="02010600030101010101" pitchFamily="2" charset="-122"/>
              </a:rPr>
              <a:t>在平面 </a:t>
            </a:r>
            <a:r>
              <a:rPr lang="en-US" altLang="zh-CN" sz="1600" b="1">
                <a:latin typeface="宋体" panose="02010600030101010101" pitchFamily="2" charset="-122"/>
              </a:rPr>
              <a:t>ABCD</a:t>
            </a:r>
            <a:r>
              <a:rPr lang="zh-CN" altLang="en-US" sz="1600" b="1">
                <a:latin typeface="宋体" panose="02010600030101010101" pitchFamily="2" charset="-122"/>
              </a:rPr>
              <a:t>内作一直线 </a:t>
            </a:r>
            <a:r>
              <a:rPr lang="en-US" altLang="zh-CN" sz="1600" b="1">
                <a:latin typeface="宋体" panose="02010600030101010101" pitchFamily="2" charset="-122"/>
              </a:rPr>
              <a:t>AE</a:t>
            </a:r>
            <a:r>
              <a:rPr lang="zh-CN" altLang="en-US" sz="1600" b="1">
                <a:latin typeface="宋体" panose="02010600030101010101" pitchFamily="2" charset="-122"/>
              </a:rPr>
              <a:t>，并使 </a:t>
            </a:r>
            <a:r>
              <a:rPr lang="en-US" altLang="zh-CN" sz="1600" b="1">
                <a:latin typeface="宋体" panose="02010600030101010101" pitchFamily="2" charset="-122"/>
              </a:rPr>
              <a:t>AE</a:t>
            </a:r>
            <a:r>
              <a:rPr lang="zh-CN" altLang="en-US" sz="1600" b="1">
                <a:latin typeface="宋体" panose="02010600030101010101" pitchFamily="2" charset="-122"/>
              </a:rPr>
              <a:t>与Ｈ面的倾角为</a:t>
            </a:r>
            <a:r>
              <a:rPr lang="en-US" altLang="zh-CN" sz="1600" b="1">
                <a:latin typeface="宋体" panose="02010600030101010101" pitchFamily="2" charset="-122"/>
              </a:rPr>
              <a:t>45°</a:t>
            </a:r>
            <a:r>
              <a:rPr lang="zh-CN" altLang="en-US" sz="1600" b="1">
                <a:latin typeface="宋体" panose="02010600030101010101" pitchFamily="2" charset="-122"/>
              </a:rPr>
              <a:t>，同时讨论何时有两解、一解或无解。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86276" y="615142"/>
            <a:ext cx="24000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</a:rPr>
              <a:t>讨论 </a:t>
            </a:r>
            <a:r>
              <a:rPr lang="en-US" altLang="zh-CN" b="1" dirty="0">
                <a:solidFill>
                  <a:srgbClr val="3259C8"/>
                </a:solidFill>
              </a:rPr>
              <a:t>:</a:t>
            </a:r>
            <a:endParaRPr lang="en-US" altLang="zh-CN" b="1" dirty="0">
              <a:solidFill>
                <a:srgbClr val="3259C8"/>
              </a:solidFill>
            </a:endParaRPr>
          </a:p>
          <a:p>
            <a:r>
              <a:rPr lang="zh-CN" altLang="en-US" b="1" dirty="0">
                <a:solidFill>
                  <a:srgbClr val="3259C8"/>
                </a:solidFill>
              </a:rPr>
              <a:t>设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ABCD</a:t>
            </a:r>
            <a:r>
              <a:rPr lang="zh-CN" altLang="en-US" b="1" dirty="0">
                <a:solidFill>
                  <a:srgbClr val="3259C8"/>
                </a:solidFill>
              </a:rPr>
              <a:t>与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H</a:t>
            </a:r>
            <a:r>
              <a:rPr lang="zh-CN" altLang="en-US" b="1" dirty="0">
                <a:solidFill>
                  <a:srgbClr val="3259C8"/>
                </a:solidFill>
              </a:rPr>
              <a:t>面倾角为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α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</a:endParaRPr>
          </a:p>
          <a:p>
            <a:r>
              <a:rPr lang="zh-CN" altLang="en-US" b="1" dirty="0">
                <a:solidFill>
                  <a:srgbClr val="3259C8"/>
                </a:solidFill>
              </a:rPr>
              <a:t>直线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AE</a:t>
            </a:r>
            <a:r>
              <a:rPr lang="zh-CN" altLang="en-US" b="1" dirty="0">
                <a:solidFill>
                  <a:srgbClr val="3259C8"/>
                </a:solidFill>
              </a:rPr>
              <a:t>与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H</a:t>
            </a:r>
            <a:r>
              <a:rPr lang="zh-CN" altLang="en-US" b="1" dirty="0">
                <a:solidFill>
                  <a:srgbClr val="3259C8"/>
                </a:solidFill>
              </a:rPr>
              <a:t>面倾角为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α2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</a:endParaRPr>
          </a:p>
          <a:p>
            <a:r>
              <a:rPr lang="zh-CN" altLang="en-US" b="1" dirty="0">
                <a:solidFill>
                  <a:srgbClr val="3259C8"/>
                </a:solidFill>
              </a:rPr>
              <a:t>若 </a:t>
            </a:r>
            <a:r>
              <a:rPr lang="el-GR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α1 &gt; α2 </a:t>
            </a:r>
            <a:r>
              <a:rPr lang="zh-CN" altLang="el-GR" b="1" dirty="0">
                <a:solidFill>
                  <a:srgbClr val="3259C8"/>
                </a:solidFill>
              </a:rPr>
              <a:t>：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259C8"/>
                </a:solidFill>
              </a:rPr>
              <a:t>解</a:t>
            </a:r>
            <a:endParaRPr lang="en-US" altLang="zh-CN" b="1" dirty="0">
              <a:solidFill>
                <a:srgbClr val="3259C8"/>
              </a:solidFill>
            </a:endParaRPr>
          </a:p>
          <a:p>
            <a:r>
              <a:rPr lang="zh-CN" altLang="en-US" b="1" dirty="0">
                <a:solidFill>
                  <a:srgbClr val="3259C8"/>
                </a:solidFill>
              </a:rPr>
              <a:t>若 </a:t>
            </a:r>
            <a:r>
              <a:rPr lang="el-GR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α1 = α2 </a:t>
            </a:r>
            <a:r>
              <a:rPr lang="zh-CN" altLang="el-GR" b="1" dirty="0">
                <a:solidFill>
                  <a:srgbClr val="3259C8"/>
                </a:solidFill>
              </a:rPr>
              <a:t>：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3259C8"/>
                </a:solidFill>
              </a:rPr>
              <a:t>解</a:t>
            </a:r>
            <a:endParaRPr lang="en-US" altLang="zh-CN" b="1" dirty="0">
              <a:solidFill>
                <a:srgbClr val="3259C8"/>
              </a:solidFill>
            </a:endParaRPr>
          </a:p>
          <a:p>
            <a:r>
              <a:rPr lang="zh-CN" altLang="en-US" b="1" dirty="0">
                <a:solidFill>
                  <a:srgbClr val="3259C8"/>
                </a:solidFill>
                <a:latin typeface="ISOCPEUR" panose="020B0604020202020204" pitchFamily="34" charset="0"/>
              </a:rPr>
              <a:t>若 </a:t>
            </a:r>
            <a:r>
              <a:rPr lang="el-GR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α1 &lt; α2 </a:t>
            </a:r>
            <a:r>
              <a:rPr lang="zh-CN" altLang="el-GR" b="1" dirty="0">
                <a:solidFill>
                  <a:srgbClr val="3259C8"/>
                </a:solidFill>
              </a:rPr>
              <a:t>：</a:t>
            </a:r>
            <a:r>
              <a:rPr lang="zh-CN" altLang="en-US" b="1" dirty="0">
                <a:solidFill>
                  <a:srgbClr val="3259C8"/>
                </a:solidFill>
              </a:rPr>
              <a:t>无解</a:t>
            </a:r>
            <a:endParaRPr lang="en-US" altLang="zh-CN" b="1" dirty="0">
              <a:solidFill>
                <a:srgbClr val="3259C8"/>
              </a:solidFill>
              <a:latin typeface="ISOCPEUR" panose="020B0604020202020204" pitchFamily="34" charset="0"/>
            </a:endParaRPr>
          </a:p>
          <a:p>
            <a:endParaRPr lang="en-US" altLang="zh-CN" b="1" dirty="0">
              <a:solidFill>
                <a:srgbClr val="3259C8"/>
              </a:solidFill>
            </a:endParaRPr>
          </a:p>
          <a:p>
            <a:r>
              <a:rPr lang="zh-CN" altLang="en-US" b="1" dirty="0">
                <a:solidFill>
                  <a:srgbClr val="3259C8"/>
                </a:solidFill>
                <a:latin typeface="+mn-ea"/>
              </a:rPr>
              <a:t>此题</a:t>
            </a:r>
            <a:r>
              <a:rPr lang="en-US" altLang="zh-CN" b="1" dirty="0">
                <a:solidFill>
                  <a:srgbClr val="3259C8"/>
                </a:solidFill>
                <a:latin typeface="ISOCPEUR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259C8"/>
                </a:solidFill>
                <a:latin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</a:endParaRPr>
          </a:p>
          <a:p>
            <a:endParaRPr lang="zh-CN" altLang="en-US" b="1" dirty="0">
              <a:solidFill>
                <a:srgbClr val="3259C8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3475" y="681038"/>
            <a:ext cx="68770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*2-3-2-6  </a:t>
            </a:r>
            <a:r>
              <a:rPr lang="zh-CN" altLang="en-US" sz="1600" b="1">
                <a:latin typeface="宋体" panose="02010600030101010101" pitchFamily="2" charset="-122"/>
              </a:rPr>
              <a:t>过已知点Ａ作一直线与Ｖ面成</a:t>
            </a:r>
            <a:r>
              <a:rPr lang="en-US" altLang="zh-CN" sz="1600" b="1">
                <a:latin typeface="宋体" panose="02010600030101010101" pitchFamily="2" charset="-122"/>
              </a:rPr>
              <a:t>30°</a:t>
            </a:r>
            <a:r>
              <a:rPr lang="zh-CN" altLang="en-US" sz="1600" b="1">
                <a:latin typeface="宋体" panose="02010600030101010101" pitchFamily="2" charset="-122"/>
              </a:rPr>
              <a:t>角，与Ｈ面成</a:t>
            </a:r>
            <a:r>
              <a:rPr lang="en-US" altLang="zh-CN" sz="1600" b="1">
                <a:latin typeface="宋体" panose="02010600030101010101" pitchFamily="2" charset="-122"/>
              </a:rPr>
              <a:t>45°</a:t>
            </a:r>
            <a:r>
              <a:rPr lang="zh-CN" altLang="en-US" sz="1600" b="1">
                <a:latin typeface="宋体" panose="02010600030101010101" pitchFamily="2" charset="-122"/>
              </a:rPr>
              <a:t>角，其实长为 </a:t>
            </a:r>
            <a:r>
              <a:rPr lang="en-US" altLang="zh-CN" sz="1600" b="1">
                <a:latin typeface="宋体" panose="02010600030101010101" pitchFamily="2" charset="-122"/>
              </a:rPr>
              <a:t>l 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33475" y="695325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*2-3-2-6  </a:t>
            </a:r>
            <a:r>
              <a:rPr lang="zh-CN" altLang="en-US" sz="1600" b="1">
                <a:latin typeface="宋体" panose="02010600030101010101" pitchFamily="2" charset="-122"/>
              </a:rPr>
              <a:t>过已知点Ａ作一直线与Ｖ面成</a:t>
            </a:r>
            <a:r>
              <a:rPr lang="en-US" altLang="zh-CN" sz="1600" b="1">
                <a:latin typeface="宋体" panose="02010600030101010101" pitchFamily="2" charset="-122"/>
              </a:rPr>
              <a:t>30°</a:t>
            </a:r>
            <a:r>
              <a:rPr lang="zh-CN" altLang="en-US" sz="1600" b="1">
                <a:latin typeface="宋体" panose="02010600030101010101" pitchFamily="2" charset="-122"/>
              </a:rPr>
              <a:t>角，与Ｈ面成</a:t>
            </a:r>
            <a:r>
              <a:rPr lang="en-US" altLang="zh-CN" sz="1600" b="1">
                <a:latin typeface="宋体" panose="02010600030101010101" pitchFamily="2" charset="-122"/>
              </a:rPr>
              <a:t>45°</a:t>
            </a:r>
            <a:r>
              <a:rPr lang="zh-CN" altLang="en-US" sz="1600" b="1">
                <a:latin typeface="宋体" panose="02010600030101010101" pitchFamily="2" charset="-122"/>
              </a:rPr>
              <a:t>角，其实长为 </a:t>
            </a:r>
            <a:r>
              <a:rPr lang="en-US" altLang="zh-CN" sz="1600" b="1">
                <a:latin typeface="宋体" panose="02010600030101010101" pitchFamily="2" charset="-122"/>
              </a:rPr>
              <a:t>l 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16684" y="4754880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259C8"/>
                </a:solidFill>
                <a:latin typeface="+mn-ea"/>
                <a:ea typeface="+mn-ea"/>
              </a:rPr>
              <a:t>此题</a:t>
            </a:r>
            <a:r>
              <a:rPr lang="en-US" altLang="zh-CN" b="1">
                <a:solidFill>
                  <a:srgbClr val="3259C8"/>
                </a:solidFill>
                <a:latin typeface="+mn-ea"/>
                <a:ea typeface="+mn-ea"/>
              </a:rPr>
              <a:t>8</a:t>
            </a:r>
            <a:r>
              <a:rPr lang="zh-CN" altLang="en-US" b="1">
                <a:solidFill>
                  <a:srgbClr val="3259C8"/>
                </a:solidFill>
                <a:latin typeface="+mn-ea"/>
                <a:ea typeface="+mn-ea"/>
              </a:rPr>
              <a:t>解</a:t>
            </a:r>
            <a:endParaRPr lang="zh-CN" altLang="en-US" b="1" dirty="0">
              <a:solidFill>
                <a:srgbClr val="3259C8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综合问题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76275"/>
            <a:ext cx="6886575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2-4-1  </a:t>
            </a:r>
            <a:r>
              <a:rPr lang="zh-CN" altLang="en-US" sz="1600" b="1">
                <a:latin typeface="宋体" panose="02010600030101010101" pitchFamily="2" charset="-122"/>
              </a:rPr>
              <a:t>作直线 </a:t>
            </a:r>
            <a:r>
              <a:rPr lang="en-US" altLang="zh-CN" sz="1600" b="1">
                <a:latin typeface="宋体" panose="02010600030101010101" pitchFamily="2" charset="-122"/>
              </a:rPr>
              <a:t>MN </a:t>
            </a:r>
            <a:r>
              <a:rPr lang="zh-CN" altLang="en-US" sz="1600" b="1">
                <a:latin typeface="宋体" panose="02010600030101010101" pitchFamily="2" charset="-122"/>
              </a:rPr>
              <a:t>与两直线 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相交，并平行于直线 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5680" y="6019800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b'1'∥e'f',b1∥ef; </a:t>
            </a:r>
            <a:r>
              <a:rPr lang="en-US" altLang="zh-CN" b="1" dirty="0" err="1">
                <a:solidFill>
                  <a:srgbClr val="3333CC"/>
                </a:solidFill>
                <a:latin typeface="ISOCPEUR" panose="020B0604020202020204" pitchFamily="34" charset="0"/>
              </a:rPr>
              <a:t>m'n'∥e'f',mn∥ef</a:t>
            </a:r>
            <a:endParaRPr lang="zh-CN" altLang="en-US" b="1" dirty="0">
              <a:solidFill>
                <a:srgbClr val="3333CC"/>
              </a:solidFill>
              <a:latin typeface="ISOCPEUR" panose="020B0604020202020204" pitchFamily="34" charset="0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85800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2-4-1  </a:t>
            </a:r>
            <a:r>
              <a:rPr lang="zh-CN" altLang="en-US" sz="1600" b="1">
                <a:latin typeface="宋体" panose="02010600030101010101" pitchFamily="2" charset="-122"/>
              </a:rPr>
              <a:t>作直线 </a:t>
            </a:r>
            <a:r>
              <a:rPr lang="en-US" altLang="zh-CN" sz="1600" b="1">
                <a:latin typeface="宋体" panose="02010600030101010101" pitchFamily="2" charset="-122"/>
              </a:rPr>
              <a:t>MN </a:t>
            </a:r>
            <a:r>
              <a:rPr lang="zh-CN" altLang="en-US" sz="1600" b="1">
                <a:latin typeface="宋体" panose="02010600030101010101" pitchFamily="2" charset="-122"/>
              </a:rPr>
              <a:t>与两直线 </a:t>
            </a:r>
            <a:r>
              <a:rPr lang="en-US" altLang="zh-CN" sz="1600" b="1">
                <a:latin typeface="宋体" panose="02010600030101010101" pitchFamily="2" charset="-122"/>
              </a:rPr>
              <a:t>AB</a:t>
            </a:r>
            <a:r>
              <a:rPr lang="zh-CN" altLang="en-US" sz="1600" b="1">
                <a:latin typeface="宋体" panose="02010600030101010101" pitchFamily="2" charset="-122"/>
              </a:rPr>
              <a:t>、</a:t>
            </a:r>
            <a:r>
              <a:rPr lang="en-US" altLang="zh-CN" sz="1600" b="1">
                <a:latin typeface="宋体" panose="02010600030101010101" pitchFamily="2" charset="-122"/>
              </a:rPr>
              <a:t>CD </a:t>
            </a:r>
            <a:r>
              <a:rPr lang="zh-CN" altLang="en-US" sz="1600" b="1">
                <a:latin typeface="宋体" panose="02010600030101010101" pitchFamily="2" charset="-122"/>
              </a:rPr>
              <a:t>相交，并平行于直线 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48519" y="685800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b'1'∥e'f',b1∥ef; </a:t>
            </a:r>
            <a:r>
              <a:rPr lang="en-US" altLang="zh-CN" b="1" dirty="0" err="1">
                <a:solidFill>
                  <a:srgbClr val="3333CC"/>
                </a:solidFill>
                <a:latin typeface="ISOCPEUR" panose="020B0604020202020204" pitchFamily="34" charset="0"/>
              </a:rPr>
              <a:t>m'n'∥e'f',mn∥ef</a:t>
            </a:r>
            <a:endParaRPr lang="zh-CN" altLang="en-US" b="1" dirty="0">
              <a:solidFill>
                <a:srgbClr val="3333CC"/>
              </a:solidFill>
              <a:latin typeface="ISOCPEUR" panose="020B0604020202020204" pitchFamily="34" charset="0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3950" y="670560"/>
            <a:ext cx="68961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2-4-2  </a:t>
            </a:r>
            <a:r>
              <a:rPr lang="zh-CN" altLang="en-US" sz="1600" b="1">
                <a:latin typeface="宋体" panose="02010600030101010101" pitchFamily="2" charset="-122"/>
              </a:rPr>
              <a:t>过直线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上一点Ａ作一直线垂直于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，并与 </a:t>
            </a:r>
            <a:r>
              <a:rPr lang="en-US" altLang="zh-CN" sz="1600" b="1">
                <a:latin typeface="宋体" panose="02010600030101010101" pitchFamily="2" charset="-122"/>
              </a:rPr>
              <a:t>DE </a:t>
            </a:r>
            <a:r>
              <a:rPr lang="zh-CN" altLang="en-US" sz="1600" b="1">
                <a:latin typeface="宋体" panose="02010600030101010101" pitchFamily="2" charset="-122"/>
              </a:rPr>
              <a:t>相交。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953" y="685800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2-4-2  </a:t>
            </a:r>
            <a:r>
              <a:rPr lang="zh-CN" altLang="en-US" sz="1600" b="1">
                <a:latin typeface="宋体" panose="02010600030101010101" pitchFamily="2" charset="-122"/>
              </a:rPr>
              <a:t>过直线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上一点Ａ作一直线垂直于 </a:t>
            </a:r>
            <a:r>
              <a:rPr lang="en-US" altLang="zh-CN" sz="1600" b="1">
                <a:latin typeface="宋体" panose="02010600030101010101" pitchFamily="2" charset="-122"/>
              </a:rPr>
              <a:t>AB </a:t>
            </a:r>
            <a:r>
              <a:rPr lang="zh-CN" altLang="en-US" sz="1600" b="1">
                <a:latin typeface="宋体" panose="02010600030101010101" pitchFamily="2" charset="-122"/>
              </a:rPr>
              <a:t>，并与 </a:t>
            </a:r>
            <a:r>
              <a:rPr lang="en-US" altLang="zh-CN" sz="1600" b="1">
                <a:latin typeface="宋体" panose="02010600030101010101" pitchFamily="2" charset="-122"/>
              </a:rPr>
              <a:t>DE </a:t>
            </a:r>
            <a:r>
              <a:rPr lang="zh-CN" altLang="en-US" sz="1600" b="1">
                <a:latin typeface="宋体" panose="02010600030101010101" pitchFamily="2" charset="-122"/>
              </a:rPr>
              <a:t>相交。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85800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2-4-3  </a:t>
            </a:r>
            <a:r>
              <a:rPr lang="zh-CN" altLang="en-US" sz="1600" b="1">
                <a:latin typeface="宋体" panose="02010600030101010101" pitchFamily="2" charset="-122"/>
              </a:rPr>
              <a:t>正方形</a:t>
            </a:r>
            <a:r>
              <a:rPr lang="en-US" altLang="zh-CN" sz="1600" b="1">
                <a:latin typeface="宋体" panose="02010600030101010101" pitchFamily="2" charset="-122"/>
              </a:rPr>
              <a:t>ABCD</a:t>
            </a:r>
            <a:r>
              <a:rPr lang="zh-CN" altLang="en-US" sz="1600" b="1">
                <a:latin typeface="宋体" panose="02010600030101010101" pitchFamily="2" charset="-122"/>
              </a:rPr>
              <a:t>的点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在直线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上，点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在</a:t>
            </a:r>
            <a:r>
              <a:rPr lang="en-US" altLang="zh-CN" sz="1600" b="1">
                <a:latin typeface="宋体" panose="02010600030101010101" pitchFamily="2" charset="-122"/>
              </a:rPr>
              <a:t>BG</a:t>
            </a:r>
            <a:r>
              <a:rPr lang="zh-CN" altLang="en-US" sz="1600" b="1">
                <a:latin typeface="宋体" panose="02010600030101010101" pitchFamily="2" charset="-122"/>
              </a:rPr>
              <a:t>上</a:t>
            </a:r>
            <a:r>
              <a:rPr lang="en-US" altLang="zh-CN" sz="1600" b="1">
                <a:latin typeface="宋体" panose="02010600030101010101" pitchFamily="2" charset="-122"/>
              </a:rPr>
              <a:t>,</a:t>
            </a:r>
            <a:r>
              <a:rPr lang="zh-CN" altLang="en-US" sz="1600" b="1">
                <a:latin typeface="宋体" panose="02010600030101010101" pitchFamily="2" charset="-122"/>
              </a:rPr>
              <a:t>试完成其投影。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2998" y="681038"/>
            <a:ext cx="68675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2-4-3  </a:t>
            </a:r>
            <a:r>
              <a:rPr lang="zh-CN" altLang="en-US" sz="1600" b="1">
                <a:latin typeface="宋体" panose="02010600030101010101" pitchFamily="2" charset="-122"/>
              </a:rPr>
              <a:t>正方形</a:t>
            </a:r>
            <a:r>
              <a:rPr lang="en-US" altLang="zh-CN" sz="1600" b="1">
                <a:latin typeface="宋体" panose="02010600030101010101" pitchFamily="2" charset="-122"/>
              </a:rPr>
              <a:t>ABCD</a:t>
            </a:r>
            <a:r>
              <a:rPr lang="zh-CN" altLang="en-US" sz="1600" b="1">
                <a:latin typeface="宋体" panose="02010600030101010101" pitchFamily="2" charset="-122"/>
              </a:rPr>
              <a:t>的点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在直线</a:t>
            </a:r>
            <a:r>
              <a:rPr lang="en-US" altLang="zh-CN" sz="1600" b="1">
                <a:latin typeface="宋体" panose="02010600030101010101" pitchFamily="2" charset="-122"/>
              </a:rPr>
              <a:t>EF</a:t>
            </a:r>
            <a:r>
              <a:rPr lang="zh-CN" altLang="en-US" sz="1600" b="1">
                <a:latin typeface="宋体" panose="02010600030101010101" pitchFamily="2" charset="-122"/>
              </a:rPr>
              <a:t>上，点</a:t>
            </a:r>
            <a:r>
              <a:rPr lang="en-US" altLang="zh-CN" sz="1600" b="1">
                <a:latin typeface="宋体" panose="02010600030101010101" pitchFamily="2" charset="-122"/>
              </a:rPr>
              <a:t>C</a:t>
            </a:r>
            <a:r>
              <a:rPr lang="zh-CN" altLang="en-US" sz="1600" b="1">
                <a:latin typeface="宋体" panose="02010600030101010101" pitchFamily="2" charset="-122"/>
              </a:rPr>
              <a:t>在</a:t>
            </a:r>
            <a:r>
              <a:rPr lang="en-US" altLang="zh-CN" sz="1600" b="1">
                <a:latin typeface="宋体" panose="02010600030101010101" pitchFamily="2" charset="-122"/>
              </a:rPr>
              <a:t>BG</a:t>
            </a:r>
            <a:r>
              <a:rPr lang="zh-CN" altLang="en-US" sz="1600" b="1">
                <a:latin typeface="宋体" panose="02010600030101010101" pitchFamily="2" charset="-122"/>
              </a:rPr>
              <a:t>上</a:t>
            </a:r>
            <a:r>
              <a:rPr lang="en-US" altLang="zh-CN" sz="1600" b="1">
                <a:latin typeface="宋体" panose="02010600030101010101" pitchFamily="2" charset="-122"/>
              </a:rPr>
              <a:t>,</a:t>
            </a:r>
            <a:r>
              <a:rPr lang="zh-CN" altLang="en-US" sz="1600" b="1">
                <a:latin typeface="宋体" panose="02010600030101010101" pitchFamily="2" charset="-122"/>
              </a:rPr>
              <a:t>试完成其投影。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713" y="690563"/>
            <a:ext cx="688657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2-4-4  </a:t>
            </a:r>
            <a:r>
              <a:rPr lang="zh-CN" altLang="en-US" sz="1600" b="1">
                <a:latin typeface="宋体" panose="02010600030101010101" pitchFamily="2" charset="-122"/>
              </a:rPr>
              <a:t>已知单摆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，点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zh-CN" altLang="en-US" sz="1600" b="1">
                <a:latin typeface="宋体" panose="02010600030101010101" pitchFamily="2" charset="-122"/>
              </a:rPr>
              <a:t>绕点</a:t>
            </a:r>
            <a:r>
              <a:rPr lang="en-US" altLang="zh-CN" sz="1600" b="1">
                <a:latin typeface="宋体" panose="02010600030101010101" pitchFamily="2" charset="-122"/>
              </a:rPr>
              <a:t>M</a:t>
            </a:r>
            <a:r>
              <a:rPr lang="zh-CN" altLang="en-US" sz="1600" b="1">
                <a:latin typeface="宋体" panose="02010600030101010101" pitchFamily="2" charset="-122"/>
              </a:rPr>
              <a:t>在垂直于三角形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的面内摆动，求点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zh-CN" altLang="en-US" sz="1600" b="1">
                <a:latin typeface="宋体" panose="02010600030101010101" pitchFamily="2" charset="-122"/>
              </a:rPr>
              <a:t>与三角形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的触点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en-US" altLang="zh-CN" sz="1000" b="1">
                <a:latin typeface="宋体" panose="02010600030101010101" pitchFamily="2" charset="-122"/>
              </a:rPr>
              <a:t>1</a:t>
            </a:r>
            <a:r>
              <a:rPr lang="zh-CN" altLang="en-US" sz="1600" b="1">
                <a:latin typeface="宋体" panose="02010600030101010101" pitchFamily="2" charset="-122"/>
              </a:rPr>
              <a:t>及摆动的角度</a:t>
            </a:r>
            <a:r>
              <a:rPr lang="en-US" altLang="zh-CN" sz="1600" b="1">
                <a:latin typeface="宋体" panose="02010600030101010101" pitchFamily="2" charset="-122"/>
              </a:rPr>
              <a:t>θ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2998" y="681038"/>
            <a:ext cx="68675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2-4-4  </a:t>
            </a:r>
            <a:r>
              <a:rPr lang="zh-CN" altLang="en-US" sz="1600" b="1">
                <a:latin typeface="宋体" panose="02010600030101010101" pitchFamily="2" charset="-122"/>
              </a:rPr>
              <a:t>已知单摆</a:t>
            </a:r>
            <a:r>
              <a:rPr lang="en-US" altLang="zh-CN" sz="1600" b="1">
                <a:latin typeface="宋体" panose="02010600030101010101" pitchFamily="2" charset="-122"/>
              </a:rPr>
              <a:t>MN</a:t>
            </a:r>
            <a:r>
              <a:rPr lang="zh-CN" altLang="en-US" sz="1600" b="1">
                <a:latin typeface="宋体" panose="02010600030101010101" pitchFamily="2" charset="-122"/>
              </a:rPr>
              <a:t>，点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zh-CN" altLang="en-US" sz="1600" b="1">
                <a:latin typeface="宋体" panose="02010600030101010101" pitchFamily="2" charset="-122"/>
              </a:rPr>
              <a:t>绕点</a:t>
            </a:r>
            <a:r>
              <a:rPr lang="en-US" altLang="zh-CN" sz="1600" b="1">
                <a:latin typeface="宋体" panose="02010600030101010101" pitchFamily="2" charset="-122"/>
              </a:rPr>
              <a:t>M</a:t>
            </a:r>
            <a:r>
              <a:rPr lang="zh-CN" altLang="en-US" sz="1600" b="1">
                <a:latin typeface="宋体" panose="02010600030101010101" pitchFamily="2" charset="-122"/>
              </a:rPr>
              <a:t>在垂直于三角形</a:t>
            </a:r>
            <a:r>
              <a:rPr lang="en-US" altLang="zh-CN" sz="1600" b="1">
                <a:latin typeface="宋体" panose="02010600030101010101" pitchFamily="2" charset="-122"/>
              </a:rPr>
              <a:t>ABC</a:t>
            </a:r>
            <a:r>
              <a:rPr lang="zh-CN" altLang="en-US" sz="1600" b="1">
                <a:latin typeface="宋体" panose="02010600030101010101" pitchFamily="2" charset="-122"/>
              </a:rPr>
              <a:t>的面内摆动，求点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zh-CN" altLang="en-US" sz="1600" b="1">
                <a:latin typeface="宋体" panose="02010600030101010101" pitchFamily="2" charset="-122"/>
              </a:rPr>
              <a:t>与三角形 </a:t>
            </a:r>
            <a:r>
              <a:rPr lang="en-US" altLang="zh-CN" sz="1600" b="1">
                <a:latin typeface="宋体" panose="02010600030101010101" pitchFamily="2" charset="-122"/>
              </a:rPr>
              <a:t>ABC </a:t>
            </a:r>
            <a:r>
              <a:rPr lang="zh-CN" altLang="en-US" sz="1600" b="1">
                <a:latin typeface="宋体" panose="02010600030101010101" pitchFamily="2" charset="-122"/>
              </a:rPr>
              <a:t>的触点</a:t>
            </a:r>
            <a:r>
              <a:rPr lang="en-US" altLang="zh-CN" sz="1600" b="1">
                <a:latin typeface="宋体" panose="02010600030101010101" pitchFamily="2" charset="-122"/>
              </a:rPr>
              <a:t>N</a:t>
            </a:r>
            <a:r>
              <a:rPr lang="en-US" altLang="zh-CN" sz="1000" b="1">
                <a:latin typeface="宋体" panose="02010600030101010101" pitchFamily="2" charset="-122"/>
              </a:rPr>
              <a:t>1</a:t>
            </a:r>
            <a:r>
              <a:rPr lang="zh-CN" altLang="en-US" sz="1600" b="1">
                <a:latin typeface="宋体" panose="02010600030101010101" pitchFamily="2" charset="-122"/>
              </a:rPr>
              <a:t>及摆动的角度</a:t>
            </a:r>
            <a:r>
              <a:rPr lang="en-US" altLang="zh-CN" sz="1600" b="1">
                <a:latin typeface="宋体" panose="02010600030101010101" pitchFamily="2" charset="-122"/>
              </a:rPr>
              <a:t>θ</a:t>
            </a:r>
            <a:r>
              <a:rPr lang="zh-CN" altLang="en-US" sz="1600" b="1">
                <a:latin typeface="宋体" panose="02010600030101010101" pitchFamily="2" charset="-122"/>
              </a:rPr>
              <a:t>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 cstate="print"/>
          <a:srcRect l="13042"/>
          <a:stretch>
            <a:fillRect/>
          </a:stretch>
        </p:blipFill>
        <p:spPr bwMode="auto">
          <a:xfrm>
            <a:off x="1234440" y="685800"/>
            <a:ext cx="5988368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32" name="Text Box 13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2-4-5  </a:t>
            </a:r>
            <a:r>
              <a:rPr lang="zh-CN" altLang="en-US" sz="1600" b="1">
                <a:latin typeface="宋体" panose="02010600030101010101" pitchFamily="2" charset="-122"/>
              </a:rPr>
              <a:t>试检查空间点Ａ绕 </a:t>
            </a:r>
            <a:r>
              <a:rPr lang="en-US" altLang="zh-CN" sz="1600" b="1">
                <a:latin typeface="宋体" panose="02010600030101010101" pitchFamily="2" charset="-122"/>
              </a:rPr>
              <a:t>M-N </a:t>
            </a:r>
            <a:r>
              <a:rPr lang="zh-CN" altLang="en-US" sz="1600" b="1">
                <a:latin typeface="宋体" panose="02010600030101010101" pitchFamily="2" charset="-122"/>
              </a:rPr>
              <a:t>轴（正平线）旋转时会不会与平面 </a:t>
            </a:r>
            <a:r>
              <a:rPr lang="en-US" altLang="zh-CN" sz="1600" b="1">
                <a:latin typeface="宋体" panose="02010600030101010101" pitchFamily="2" charset="-122"/>
              </a:rPr>
              <a:t>BCDE </a:t>
            </a:r>
            <a:r>
              <a:rPr lang="zh-CN" altLang="en-US" sz="1600" b="1">
                <a:latin typeface="宋体" panose="02010600030101010101" pitchFamily="2" charset="-122"/>
              </a:rPr>
              <a:t>相碰撞（作图说明）。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 l="13213"/>
          <a:stretch>
            <a:fillRect/>
          </a:stretch>
        </p:blipFill>
        <p:spPr bwMode="auto">
          <a:xfrm>
            <a:off x="1249680" y="685800"/>
            <a:ext cx="596836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32" name="Text Box 13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2-4-5  </a:t>
            </a:r>
            <a:r>
              <a:rPr lang="zh-CN" altLang="en-US" sz="1600" b="1">
                <a:latin typeface="宋体" panose="02010600030101010101" pitchFamily="2" charset="-122"/>
              </a:rPr>
              <a:t>试检查空间点Ａ绕 </a:t>
            </a:r>
            <a:r>
              <a:rPr lang="en-US" altLang="zh-CN" sz="1600" b="1">
                <a:latin typeface="宋体" panose="02010600030101010101" pitchFamily="2" charset="-122"/>
              </a:rPr>
              <a:t>M-N </a:t>
            </a:r>
            <a:r>
              <a:rPr lang="zh-CN" altLang="en-US" sz="1600" b="1">
                <a:latin typeface="宋体" panose="02010600030101010101" pitchFamily="2" charset="-122"/>
              </a:rPr>
              <a:t>轴（正平线）旋转时会不会与平面 </a:t>
            </a:r>
            <a:r>
              <a:rPr lang="en-US" altLang="zh-CN" sz="1600" b="1">
                <a:latin typeface="宋体" panose="02010600030101010101" pitchFamily="2" charset="-122"/>
              </a:rPr>
              <a:t>BCDE </a:t>
            </a:r>
            <a:r>
              <a:rPr lang="zh-CN" altLang="en-US" sz="1600" b="1">
                <a:latin typeface="宋体" panose="02010600030101010101" pitchFamily="2" charset="-122"/>
              </a:rPr>
              <a:t>相碰撞（作图说明）。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66360" y="670560"/>
            <a:ext cx="3977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CC"/>
                </a:solidFill>
              </a:rPr>
              <a:t>分析：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①点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A</a:t>
            </a:r>
            <a:r>
              <a:rPr lang="en-US" altLang="zh-CN" b="1" dirty="0">
                <a:solidFill>
                  <a:srgbClr val="3333CC"/>
                </a:solidFill>
              </a:rPr>
              <a:t> </a:t>
            </a:r>
            <a:r>
              <a:rPr lang="zh-CN" altLang="en-US" b="1" dirty="0">
                <a:solidFill>
                  <a:srgbClr val="3333CC"/>
                </a:solidFill>
              </a:rPr>
              <a:t>的旋转轨迹为垂直于</a:t>
            </a:r>
            <a:r>
              <a:rPr lang="en-US" altLang="zh-CN" b="1" dirty="0" err="1">
                <a:solidFill>
                  <a:srgbClr val="3333CC"/>
                </a:solidFill>
                <a:latin typeface="ISOCPEUR" panose="020B0604020202020204" pitchFamily="34" charset="0"/>
              </a:rPr>
              <a:t>m'n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' </a:t>
            </a:r>
            <a:r>
              <a:rPr lang="zh-CN" altLang="en-US" b="1" dirty="0">
                <a:solidFill>
                  <a:srgbClr val="3333CC"/>
                </a:solidFill>
              </a:rPr>
              <a:t>的圆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②该圆的正面投影积聚为与</a:t>
            </a:r>
            <a:r>
              <a:rPr lang="en-US" altLang="zh-CN" b="1" dirty="0" err="1">
                <a:solidFill>
                  <a:srgbClr val="3333CC"/>
                </a:solidFill>
                <a:latin typeface="ISOCPEUR" panose="020B0604020202020204" pitchFamily="34" charset="0"/>
              </a:rPr>
              <a:t>m'n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'</a:t>
            </a:r>
            <a:r>
              <a:rPr lang="zh-CN" altLang="en-US" b="1" dirty="0">
                <a:solidFill>
                  <a:srgbClr val="3333CC"/>
                </a:solidFill>
              </a:rPr>
              <a:t>垂直的直线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③该圆的水平投影为椭圆，无法直接画出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④若点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A</a:t>
            </a:r>
            <a:r>
              <a:rPr lang="zh-CN" altLang="en-US" b="1" dirty="0">
                <a:solidFill>
                  <a:srgbClr val="3333CC"/>
                </a:solidFill>
              </a:rPr>
              <a:t>与平面相碰，其正面投影必在该面上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且与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m' n' </a:t>
            </a:r>
            <a:r>
              <a:rPr lang="zh-CN" altLang="en-US" b="1" dirty="0">
                <a:solidFill>
                  <a:srgbClr val="3333CC"/>
                </a:solidFill>
              </a:rPr>
              <a:t>垂直的直线上（即轨迹圆与已知平面的交线）</a:t>
            </a:r>
            <a:endParaRPr lang="zh-CN" altLang="en-US" b="1" dirty="0">
              <a:solidFill>
                <a:srgbClr val="3333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95806" y="3590772"/>
            <a:ext cx="39481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CC"/>
                </a:solidFill>
              </a:rPr>
              <a:t>步骤：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①作轨迹圆与已知平面的交线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FG</a:t>
            </a:r>
            <a:endParaRPr lang="zh-CN" altLang="en-US" b="1" dirty="0">
              <a:solidFill>
                <a:srgbClr val="3333CC"/>
              </a:solidFill>
              <a:latin typeface="ISOCPEUR" panose="020B0604020202020204" pitchFamily="34" charset="0"/>
            </a:endParaRPr>
          </a:p>
          <a:p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(</a:t>
            </a:r>
            <a:r>
              <a:rPr lang="zh-CN" altLang="en-US" b="1" dirty="0">
                <a:solidFill>
                  <a:srgbClr val="3333CC"/>
                </a:solidFill>
              </a:rPr>
              <a:t>过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a'</a:t>
            </a:r>
            <a:r>
              <a:rPr lang="en-US" altLang="zh-CN" b="1" dirty="0">
                <a:solidFill>
                  <a:srgbClr val="3333CC"/>
                </a:solidFill>
              </a:rPr>
              <a:t> </a:t>
            </a:r>
            <a:r>
              <a:rPr lang="zh-CN" altLang="en-US" b="1" dirty="0">
                <a:solidFill>
                  <a:srgbClr val="3333CC"/>
                </a:solidFill>
              </a:rPr>
              <a:t>作</a:t>
            </a:r>
            <a:r>
              <a:rPr lang="en-US" altLang="zh-CN" b="1" dirty="0" err="1">
                <a:solidFill>
                  <a:srgbClr val="3333CC"/>
                </a:solidFill>
                <a:latin typeface="ISOCPEUR" panose="020B0604020202020204" pitchFamily="34" charset="0"/>
              </a:rPr>
              <a:t>m'n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'</a:t>
            </a:r>
            <a:r>
              <a:rPr lang="zh-CN" altLang="en-US" b="1" dirty="0">
                <a:solidFill>
                  <a:srgbClr val="3333CC"/>
                </a:solidFill>
              </a:rPr>
              <a:t>的垂线</a:t>
            </a:r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)</a:t>
            </a:r>
            <a:endParaRPr lang="zh-CN" altLang="en-US" b="1" dirty="0">
              <a:solidFill>
                <a:srgbClr val="3333CC"/>
              </a:solidFill>
              <a:latin typeface="+mn-ea"/>
              <a:ea typeface="+mn-ea"/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②换面，将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MN</a:t>
            </a:r>
            <a:r>
              <a:rPr lang="zh-CN" altLang="en-US" b="1" dirty="0">
                <a:solidFill>
                  <a:srgbClr val="3333CC"/>
                </a:solidFill>
              </a:rPr>
              <a:t>轴积聚为一点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en-US" altLang="zh-CN" b="1" dirty="0">
                <a:solidFill>
                  <a:srgbClr val="3333CC"/>
                </a:solidFill>
                <a:latin typeface="+mn-ea"/>
                <a:ea typeface="+mn-ea"/>
              </a:rPr>
              <a:t>......</a:t>
            </a:r>
            <a:endParaRPr lang="en-US" altLang="zh-CN" b="1" dirty="0">
              <a:solidFill>
                <a:srgbClr val="3333CC"/>
              </a:solidFill>
              <a:latin typeface="+mn-ea"/>
              <a:ea typeface="+mn-ea"/>
            </a:endParaRPr>
          </a:p>
          <a:p>
            <a:endParaRPr lang="zh-CN" altLang="en-US" b="1" dirty="0">
              <a:solidFill>
                <a:srgbClr val="3333CC"/>
              </a:solidFill>
              <a:latin typeface="+mn-ea"/>
              <a:ea typeface="+mn-ea"/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结论：</a:t>
            </a:r>
            <a:endParaRPr lang="zh-CN" altLang="en-US" b="1" dirty="0">
              <a:solidFill>
                <a:srgbClr val="3333CC"/>
              </a:solidFill>
            </a:endParaRPr>
          </a:p>
          <a:p>
            <a:r>
              <a:rPr lang="zh-CN" altLang="en-US" b="1" dirty="0">
                <a:solidFill>
                  <a:srgbClr val="3333CC"/>
                </a:solidFill>
              </a:rPr>
              <a:t>点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A</a:t>
            </a:r>
            <a:r>
              <a:rPr lang="zh-CN" altLang="en-US" b="1" dirty="0">
                <a:solidFill>
                  <a:srgbClr val="3333CC"/>
                </a:solidFill>
              </a:rPr>
              <a:t>与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BCDE</a:t>
            </a:r>
            <a:r>
              <a:rPr lang="zh-CN" altLang="en-US" b="1" dirty="0">
                <a:solidFill>
                  <a:srgbClr val="3333CC"/>
                </a:solidFill>
              </a:rPr>
              <a:t>相碰于点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K</a:t>
            </a:r>
            <a:r>
              <a:rPr lang="zh-CN" altLang="en-US" b="1" dirty="0">
                <a:solidFill>
                  <a:srgbClr val="3333CC"/>
                </a:solidFill>
              </a:rPr>
              <a:t>、</a:t>
            </a:r>
            <a:r>
              <a:rPr lang="en-US" altLang="zh-CN" b="1" dirty="0">
                <a:solidFill>
                  <a:srgbClr val="3333CC"/>
                </a:solidFill>
                <a:latin typeface="ISOCPEUR" panose="020B0604020202020204" pitchFamily="34" charset="0"/>
              </a:rPr>
              <a:t>L</a:t>
            </a:r>
            <a:endParaRPr lang="zh-CN" altLang="en-US" b="1" dirty="0">
              <a:solidFill>
                <a:srgbClr val="3333CC"/>
              </a:solidFill>
              <a:latin typeface="ISOCPEUR" panose="020B0604020202020204" pitchFamily="34" charset="0"/>
            </a:endParaRPr>
          </a:p>
          <a:p>
            <a:endParaRPr lang="zh-CN" altLang="en-US" b="1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2781" y="666970"/>
            <a:ext cx="68865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32" name="Text Box 132"/>
          <p:cNvSpPr txBox="1">
            <a:spLocks noChangeArrowheads="1"/>
          </p:cNvSpPr>
          <p:nvPr/>
        </p:nvSpPr>
        <p:spPr bwMode="auto">
          <a:xfrm>
            <a:off x="0" y="133350"/>
            <a:ext cx="91440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2-4-6  </a:t>
            </a:r>
            <a:r>
              <a:rPr lang="zh-CN" altLang="en-US" sz="1600" b="1" dirty="0">
                <a:latin typeface="宋体" panose="02010600030101010101" pitchFamily="2" charset="-122"/>
              </a:rPr>
              <a:t>已知</a:t>
            </a:r>
            <a:r>
              <a:rPr lang="en-US" altLang="zh-CN" sz="1600" b="1" dirty="0">
                <a:latin typeface="宋体" panose="02010600030101010101" pitchFamily="2" charset="-122"/>
              </a:rPr>
              <a:t>AD</a:t>
            </a:r>
            <a:r>
              <a:rPr lang="zh-CN" altLang="en-US" sz="1600" b="1" dirty="0">
                <a:latin typeface="宋体" panose="02010600030101010101" pitchFamily="2" charset="-122"/>
              </a:rPr>
              <a:t>是三角形</a:t>
            </a:r>
            <a:r>
              <a:rPr lang="en-US" altLang="zh-CN" sz="1600" b="1" dirty="0">
                <a:latin typeface="宋体" panose="02010600030101010101" pitchFamily="2" charset="-122"/>
              </a:rPr>
              <a:t>ABC</a:t>
            </a:r>
            <a:r>
              <a:rPr lang="zh-CN" altLang="en-US" sz="1600" b="1" dirty="0">
                <a:latin typeface="宋体" panose="02010600030101010101" pitchFamily="2" charset="-122"/>
              </a:rPr>
              <a:t>平面内的水平线，</a:t>
            </a:r>
            <a:r>
              <a:rPr lang="en-US" altLang="zh-CN" sz="1600" b="1" dirty="0">
                <a:latin typeface="宋体" panose="02010600030101010101" pitchFamily="2" charset="-122"/>
              </a:rPr>
              <a:t>AE</a:t>
            </a:r>
            <a:r>
              <a:rPr lang="zh-CN" altLang="en-US" sz="1600" b="1" dirty="0">
                <a:latin typeface="宋体" panose="02010600030101010101" pitchFamily="2" charset="-122"/>
              </a:rPr>
              <a:t>是三角形</a:t>
            </a:r>
            <a:r>
              <a:rPr lang="en-US" altLang="zh-CN" sz="1600" b="1" dirty="0">
                <a:latin typeface="宋体" panose="02010600030101010101" pitchFamily="2" charset="-122"/>
              </a:rPr>
              <a:t>ABC</a:t>
            </a:r>
            <a:r>
              <a:rPr lang="zh-CN" altLang="en-US" sz="1600" b="1" dirty="0">
                <a:latin typeface="宋体" panose="02010600030101010101" pitchFamily="2" charset="-122"/>
              </a:rPr>
              <a:t>平面内的正平线，请完成</a:t>
            </a:r>
            <a:r>
              <a:rPr lang="en-US" altLang="zh-CN" sz="1600" b="1" dirty="0">
                <a:latin typeface="宋体" panose="02010600030101010101" pitchFamily="2" charset="-122"/>
              </a:rPr>
              <a:t>ABC</a:t>
            </a:r>
            <a:r>
              <a:rPr lang="zh-CN" altLang="en-US" sz="1600" b="1" dirty="0">
                <a:latin typeface="宋体" panose="02010600030101010101" pitchFamily="2" charset="-122"/>
              </a:rPr>
              <a:t>的正面投影。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32" name="Text Box 132"/>
          <p:cNvSpPr txBox="1">
            <a:spLocks noChangeArrowheads="1"/>
          </p:cNvSpPr>
          <p:nvPr/>
        </p:nvSpPr>
        <p:spPr bwMode="auto">
          <a:xfrm>
            <a:off x="0" y="133350"/>
            <a:ext cx="91440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2-4-6  </a:t>
            </a:r>
            <a:r>
              <a:rPr lang="zh-CN" altLang="en-US" sz="1600" b="1" dirty="0">
                <a:latin typeface="宋体" panose="02010600030101010101" pitchFamily="2" charset="-122"/>
              </a:rPr>
              <a:t>已知</a:t>
            </a:r>
            <a:r>
              <a:rPr lang="en-US" altLang="zh-CN" sz="1600" b="1" dirty="0">
                <a:latin typeface="宋体" panose="02010600030101010101" pitchFamily="2" charset="-122"/>
              </a:rPr>
              <a:t>AD</a:t>
            </a:r>
            <a:r>
              <a:rPr lang="zh-CN" altLang="en-US" sz="1600" b="1" dirty="0">
                <a:latin typeface="宋体" panose="02010600030101010101" pitchFamily="2" charset="-122"/>
              </a:rPr>
              <a:t>是三角形</a:t>
            </a:r>
            <a:r>
              <a:rPr lang="en-US" altLang="zh-CN" sz="1600" b="1" dirty="0">
                <a:latin typeface="宋体" panose="02010600030101010101" pitchFamily="2" charset="-122"/>
              </a:rPr>
              <a:t>ABC</a:t>
            </a:r>
            <a:r>
              <a:rPr lang="zh-CN" altLang="en-US" sz="1600" b="1" dirty="0">
                <a:latin typeface="宋体" panose="02010600030101010101" pitchFamily="2" charset="-122"/>
              </a:rPr>
              <a:t>平面内的水平线，</a:t>
            </a:r>
            <a:r>
              <a:rPr lang="en-US" altLang="zh-CN" sz="1600" b="1" dirty="0">
                <a:latin typeface="宋体" panose="02010600030101010101" pitchFamily="2" charset="-122"/>
              </a:rPr>
              <a:t>AE</a:t>
            </a:r>
            <a:r>
              <a:rPr lang="zh-CN" altLang="en-US" sz="1600" b="1" dirty="0">
                <a:latin typeface="宋体" panose="02010600030101010101" pitchFamily="2" charset="-122"/>
              </a:rPr>
              <a:t>是三角形</a:t>
            </a:r>
            <a:r>
              <a:rPr lang="en-US" altLang="zh-CN" sz="1600" b="1" dirty="0">
                <a:latin typeface="宋体" panose="02010600030101010101" pitchFamily="2" charset="-122"/>
              </a:rPr>
              <a:t>ABC</a:t>
            </a:r>
            <a:r>
              <a:rPr lang="zh-CN" altLang="en-US" sz="1600" b="1" dirty="0">
                <a:latin typeface="宋体" panose="02010600030101010101" pitchFamily="2" charset="-122"/>
              </a:rPr>
              <a:t>平面内的正平线，请完成</a:t>
            </a:r>
            <a:r>
              <a:rPr lang="en-US" altLang="zh-CN" sz="1600" b="1" dirty="0">
                <a:latin typeface="宋体" panose="02010600030101010101" pitchFamily="2" charset="-122"/>
              </a:rPr>
              <a:t>ABC</a:t>
            </a:r>
            <a:r>
              <a:rPr lang="zh-CN" altLang="en-US" sz="1600" b="1" dirty="0">
                <a:latin typeface="宋体" panose="02010600030101010101" pitchFamily="2" charset="-122"/>
              </a:rPr>
              <a:t>的正面投影。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3950" y="666750"/>
            <a:ext cx="6896100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8640,&quot;width&quot;:10830}"/>
</p:tagLst>
</file>

<file path=ppt/tags/tag2.xml><?xml version="1.0" encoding="utf-8"?>
<p:tagLst xmlns:p="http://schemas.openxmlformats.org/presentationml/2006/main">
  <p:tag name="KSO_WPP_MARK_KEY" val="1e650faf-534d-4510-befb-37a7bf9ea141"/>
  <p:tag name="COMMONDATA" val="eyJoZGlkIjoiODJmN2FlNTk5ZDc5YWY1ZDIwZDMzYzFiYWNjYTQ1OTk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6939</Words>
  <Application>WPS 演示</Application>
  <PresentationFormat>全屏显示(4:3)</PresentationFormat>
  <Paragraphs>569</Paragraphs>
  <Slides>144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144</vt:i4>
      </vt:variant>
    </vt:vector>
  </HeadingPairs>
  <TitlesOfParts>
    <vt:vector size="154" baseType="lpstr">
      <vt:lpstr>Arial</vt:lpstr>
      <vt:lpstr>宋体</vt:lpstr>
      <vt:lpstr>Wingdings</vt:lpstr>
      <vt:lpstr>Tahoma</vt:lpstr>
      <vt:lpstr>隶书</vt:lpstr>
      <vt:lpstr>微软雅黑</vt:lpstr>
      <vt:lpstr>Arial Unicode MS</vt:lpstr>
      <vt:lpstr>Calibri</vt:lpstr>
      <vt:lpstr>ISOCPEUR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当条咸鱼</cp:lastModifiedBy>
  <cp:revision>220</cp:revision>
  <dcterms:created xsi:type="dcterms:W3CDTF">2006-04-04T11:38:00Z</dcterms:created>
  <dcterms:modified xsi:type="dcterms:W3CDTF">2025-04-19T08:59:02Z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0A1F4D91935F47389FDE201B1DB836EA</vt:lpwstr>
  </property>
  <property fmtid="{D5CDD505-2E9C-101B-9397-08002B2CF9AE}" pid="3" name="KSOProductBuildVer">
    <vt:lpwstr>2052-11.1.0.12165</vt:lpwstr>
  </property>
</Properties>
</file>