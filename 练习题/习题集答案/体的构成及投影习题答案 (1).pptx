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22" r:id="rId2"/>
    <p:sldId id="280" r:id="rId3"/>
    <p:sldId id="533" r:id="rId4"/>
    <p:sldId id="534" r:id="rId5"/>
    <p:sldId id="435" r:id="rId6"/>
    <p:sldId id="535" r:id="rId7"/>
    <p:sldId id="536" r:id="rId8"/>
    <p:sldId id="282" r:id="rId9"/>
    <p:sldId id="538" r:id="rId10"/>
    <p:sldId id="436" r:id="rId11"/>
    <p:sldId id="283" r:id="rId12"/>
    <p:sldId id="539" r:id="rId13"/>
    <p:sldId id="531" r:id="rId14"/>
    <p:sldId id="323" r:id="rId15"/>
    <p:sldId id="284" r:id="rId16"/>
    <p:sldId id="540" r:id="rId17"/>
    <p:sldId id="541" r:id="rId18"/>
    <p:sldId id="285" r:id="rId19"/>
    <p:sldId id="542" r:id="rId20"/>
    <p:sldId id="543" r:id="rId21"/>
    <p:sldId id="286" r:id="rId22"/>
    <p:sldId id="544" r:id="rId23"/>
    <p:sldId id="545" r:id="rId24"/>
    <p:sldId id="287" r:id="rId25"/>
    <p:sldId id="546" r:id="rId26"/>
    <p:sldId id="437" r:id="rId27"/>
    <p:sldId id="288" r:id="rId28"/>
    <p:sldId id="547" r:id="rId29"/>
    <p:sldId id="438" r:id="rId30"/>
    <p:sldId id="439" r:id="rId31"/>
    <p:sldId id="548" r:id="rId32"/>
    <p:sldId id="440" r:id="rId33"/>
    <p:sldId id="324" r:id="rId34"/>
    <p:sldId id="290" r:id="rId35"/>
    <p:sldId id="550" r:id="rId36"/>
    <p:sldId id="441" r:id="rId37"/>
    <p:sldId id="442" r:id="rId38"/>
    <p:sldId id="549" r:id="rId39"/>
    <p:sldId id="291" r:id="rId40"/>
    <p:sldId id="519" r:id="rId41"/>
    <p:sldId id="551" r:id="rId42"/>
    <p:sldId id="359" r:id="rId43"/>
    <p:sldId id="360" r:id="rId44"/>
    <p:sldId id="552" r:id="rId45"/>
    <p:sldId id="443" r:id="rId46"/>
    <p:sldId id="361" r:id="rId47"/>
    <p:sldId id="553" r:id="rId48"/>
    <p:sldId id="444" r:id="rId49"/>
    <p:sldId id="362" r:id="rId50"/>
    <p:sldId id="554" r:id="rId51"/>
    <p:sldId id="446" r:id="rId52"/>
    <p:sldId id="555" r:id="rId53"/>
    <p:sldId id="556" r:id="rId54"/>
    <p:sldId id="445" r:id="rId55"/>
    <p:sldId id="364" r:id="rId56"/>
    <p:sldId id="557" r:id="rId57"/>
    <p:sldId id="447" r:id="rId58"/>
    <p:sldId id="325" r:id="rId59"/>
    <p:sldId id="365" r:id="rId60"/>
    <p:sldId id="558" r:id="rId61"/>
    <p:sldId id="448" r:id="rId62"/>
    <p:sldId id="366" r:id="rId63"/>
    <p:sldId id="559" r:id="rId64"/>
    <p:sldId id="449" r:id="rId65"/>
    <p:sldId id="292" r:id="rId66"/>
    <p:sldId id="560" r:id="rId67"/>
    <p:sldId id="450" r:id="rId68"/>
    <p:sldId id="293" r:id="rId69"/>
    <p:sldId id="561" r:id="rId70"/>
    <p:sldId id="451" r:id="rId71"/>
    <p:sldId id="294" r:id="rId72"/>
    <p:sldId id="562" r:id="rId73"/>
    <p:sldId id="452" r:id="rId74"/>
    <p:sldId id="295" r:id="rId75"/>
    <p:sldId id="563" r:id="rId76"/>
    <p:sldId id="453" r:id="rId77"/>
    <p:sldId id="367" r:id="rId78"/>
    <p:sldId id="564" r:id="rId79"/>
    <p:sldId id="454" r:id="rId80"/>
    <p:sldId id="368" r:id="rId81"/>
    <p:sldId id="565" r:id="rId82"/>
    <p:sldId id="455" r:id="rId83"/>
    <p:sldId id="369" r:id="rId84"/>
    <p:sldId id="566" r:id="rId85"/>
    <p:sldId id="456" r:id="rId86"/>
    <p:sldId id="370" r:id="rId87"/>
    <p:sldId id="567" r:id="rId88"/>
    <p:sldId id="457" r:id="rId89"/>
    <p:sldId id="371" r:id="rId90"/>
    <p:sldId id="568" r:id="rId91"/>
    <p:sldId id="458" r:id="rId9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19">
          <p15:clr>
            <a:srgbClr val="A4A3A4"/>
          </p15:clr>
        </p15:guide>
        <p15:guide id="3" orient="horz" pos="4201">
          <p15:clr>
            <a:srgbClr val="A4A3A4"/>
          </p15:clr>
        </p15:guide>
        <p15:guide id="4" orient="horz" pos="66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pos="2880">
          <p15:clr>
            <a:srgbClr val="A4A3A4"/>
          </p15:clr>
        </p15:guide>
        <p15:guide id="7" pos="1383">
          <p15:clr>
            <a:srgbClr val="A4A3A4"/>
          </p15:clr>
        </p15:guide>
        <p15:guide id="8" pos="4377">
          <p15:clr>
            <a:srgbClr val="A4A3A4"/>
          </p15:clr>
        </p15:guide>
        <p15:guide id="9" pos="839">
          <p15:clr>
            <a:srgbClr val="A4A3A4"/>
          </p15:clr>
        </p15:guide>
        <p15:guide id="10" pos="49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66FF"/>
    <a:srgbClr val="66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60"/>
  </p:normalViewPr>
  <p:slideViewPr>
    <p:cSldViewPr snapToGrid="0" snapToObjects="1">
      <p:cViewPr varScale="1">
        <p:scale>
          <a:sx n="129" d="100"/>
          <a:sy n="129" d="100"/>
        </p:scale>
        <p:origin x="534" y="57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0" d="100"/>
        <a:sy n="30" d="100"/>
      </p:scale>
      <p:origin x="0" y="963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6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096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96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096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96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097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B716C99-1DAE-4B9A-B776-37D5F11F6CE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A1A5B-B41F-4E16-BA72-15449B03A12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864070-67FB-4715-96D7-FFCD59476B6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3573B-9906-4124-B3C3-F0A2056E0FD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B5071-3E77-4B1C-9664-347F2787ED1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666514-8BAA-4D9F-8574-84D0203AFD7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B95B19-9051-43C4-8A70-7CD4DAA6D29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6D056-C3BF-48C7-9C2B-05A4B2062A5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15298F-7DD8-4E91-B7A0-2508E9177B2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52E38-21DE-4194-9B75-4B5DE7A0D02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1CC54-EF60-4DB4-817A-D4461858EE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99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DF9BA5A-F61C-40DE-8E46-D1839495D0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charset="0"/>
                <a:ea typeface="隶书" pitchFamily="49" charset="-122"/>
              </a:rPr>
              <a:t>基本平面体的三视图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82" y="742952"/>
            <a:ext cx="5983034" cy="4773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/>
          <a:srcRect l="62095" t="54305"/>
          <a:stretch>
            <a:fillRect/>
          </a:stretch>
        </p:blipFill>
        <p:spPr bwMode="auto">
          <a:xfrm>
            <a:off x="6129338" y="3457575"/>
            <a:ext cx="2891957" cy="232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3-1-1-1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8896" y="733147"/>
            <a:ext cx="5983034" cy="474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/>
          <a:srcRect l="62657" t="50940"/>
          <a:stretch>
            <a:fillRect/>
          </a:stretch>
        </p:blipFill>
        <p:spPr bwMode="auto">
          <a:xfrm>
            <a:off x="6172199" y="3286124"/>
            <a:ext cx="2849096" cy="250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3-1-1-1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3-1-1-1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-35934" t="-19588"/>
          <a:stretch>
            <a:fillRect/>
          </a:stretch>
        </p:blipFill>
        <p:spPr bwMode="auto">
          <a:xfrm>
            <a:off x="1371600" y="857250"/>
            <a:ext cx="5062538" cy="44196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657224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3-1-1-2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671513"/>
            <a:ext cx="6877050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3-1-1-2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539" name="Picture 3"/>
          <p:cNvPicPr>
            <a:picLocks noChangeAspect="1" noChangeArrowheads="1"/>
          </p:cNvPicPr>
          <p:nvPr/>
        </p:nvPicPr>
        <p:blipFill>
          <a:blip r:embed="rId2" cstate="print"/>
          <a:srcRect l="-40044" r="-24739"/>
          <a:stretch>
            <a:fillRect/>
          </a:stretch>
        </p:blipFill>
        <p:spPr bwMode="auto">
          <a:xfrm>
            <a:off x="1744663" y="1055688"/>
            <a:ext cx="4768850" cy="299878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3-1-1-2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700088"/>
            <a:ext cx="68675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3-1-1-3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695325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3-1-1-3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3-1-1-3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  <p:pic>
        <p:nvPicPr>
          <p:cNvPr id="322564" name="Picture 4"/>
          <p:cNvPicPr>
            <a:picLocks noChangeAspect="1" noChangeArrowheads="1"/>
          </p:cNvPicPr>
          <p:nvPr/>
        </p:nvPicPr>
        <p:blipFill>
          <a:blip r:embed="rId2" cstate="print"/>
          <a:srcRect l="-43393" r="-44177"/>
          <a:stretch>
            <a:fillRect/>
          </a:stretch>
        </p:blipFill>
        <p:spPr bwMode="auto">
          <a:xfrm>
            <a:off x="1830388" y="942975"/>
            <a:ext cx="5318125" cy="29305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950" y="590547"/>
            <a:ext cx="68961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3-1-1-4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85784"/>
            <a:ext cx="68770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3-1-1-4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3-1-1-4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  <p:pic>
        <p:nvPicPr>
          <p:cNvPr id="429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88" y="1186423"/>
            <a:ext cx="3356442" cy="329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charset="0"/>
                <a:ea typeface="隶书" pitchFamily="49" charset="-122"/>
              </a:rPr>
              <a:t>基本回转体的三视图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90547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3-1-2-1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7763" y="600071"/>
            <a:ext cx="68770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3-1-2-1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3-1-2-1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9275" y="990600"/>
            <a:ext cx="5340668" cy="4054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6" y="661986"/>
            <a:ext cx="6867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3-1-2-2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657224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3-1-2-2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116" y="985839"/>
            <a:ext cx="5400199" cy="415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3-1-2-2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3-1-2-3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390514"/>
            <a:ext cx="6867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3-1-2-3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6" y="390514"/>
            <a:ext cx="6867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3-1-2-3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9275" y="914400"/>
            <a:ext cx="55054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 t="4609"/>
          <a:stretch>
            <a:fillRect/>
          </a:stretch>
        </p:blipFill>
        <p:spPr bwMode="auto">
          <a:xfrm>
            <a:off x="1333507" y="628650"/>
            <a:ext cx="6877050" cy="5224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 t="5159"/>
          <a:stretch>
            <a:fillRect/>
          </a:stretch>
        </p:blipFill>
        <p:spPr bwMode="auto">
          <a:xfrm>
            <a:off x="1323982" y="642938"/>
            <a:ext cx="6867525" cy="5194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323588" name="Picture 4"/>
          <p:cNvPicPr>
            <a:picLocks noChangeAspect="1" noChangeArrowheads="1"/>
          </p:cNvPicPr>
          <p:nvPr/>
        </p:nvPicPr>
        <p:blipFill>
          <a:blip r:embed="rId2" cstate="print"/>
          <a:srcRect l="-14378" r="-19087"/>
          <a:stretch>
            <a:fillRect/>
          </a:stretch>
        </p:blipFill>
        <p:spPr bwMode="auto">
          <a:xfrm>
            <a:off x="1446213" y="1003300"/>
            <a:ext cx="5849937" cy="32861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3-1-2-5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42920"/>
            <a:ext cx="687705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557208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3-1-2-5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3-1-2-5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324612" name="Picture 4"/>
          <p:cNvPicPr>
            <a:picLocks noChangeAspect="1" noChangeArrowheads="1"/>
          </p:cNvPicPr>
          <p:nvPr/>
        </p:nvPicPr>
        <p:blipFill>
          <a:blip r:embed="rId2" cstate="print"/>
          <a:srcRect l="-32588" r="-29231"/>
          <a:stretch>
            <a:fillRect/>
          </a:stretch>
        </p:blipFill>
        <p:spPr bwMode="auto">
          <a:xfrm>
            <a:off x="1362075" y="1103313"/>
            <a:ext cx="5281613" cy="28162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3038" y="523869"/>
            <a:ext cx="62579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2563" y="538157"/>
            <a:ext cx="62388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326662" name="Picture 6"/>
          <p:cNvPicPr>
            <a:picLocks noChangeAspect="1" noChangeArrowheads="1"/>
          </p:cNvPicPr>
          <p:nvPr/>
        </p:nvPicPr>
        <p:blipFill>
          <a:blip r:embed="rId2" cstate="print"/>
          <a:srcRect l="-20442" r="-23787"/>
          <a:stretch>
            <a:fillRect/>
          </a:stretch>
        </p:blipFill>
        <p:spPr bwMode="auto">
          <a:xfrm>
            <a:off x="1174750" y="752475"/>
            <a:ext cx="5476875" cy="432276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charset="0"/>
                <a:ea typeface="隶书" pitchFamily="49" charset="-122"/>
              </a:rPr>
              <a:t>平面与平面体相交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3-2-1-1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452429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9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5913" y="770405"/>
            <a:ext cx="5972175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3-2-1-1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0" y="457192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3-2-1-1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pSp>
        <p:nvGrpSpPr>
          <p:cNvPr id="327687" name="Group 7"/>
          <p:cNvGrpSpPr>
            <a:grpSpLocks/>
          </p:cNvGrpSpPr>
          <p:nvPr/>
        </p:nvGrpSpPr>
        <p:grpSpPr bwMode="auto">
          <a:xfrm>
            <a:off x="1549400" y="835025"/>
            <a:ext cx="4673600" cy="3427413"/>
            <a:chOff x="976" y="526"/>
            <a:chExt cx="2944" cy="2159"/>
          </a:xfrm>
        </p:grpSpPr>
        <p:pic>
          <p:nvPicPr>
            <p:cNvPr id="32768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62636" t="10706" r="7864" b="53894"/>
            <a:stretch>
              <a:fillRect/>
            </a:stretch>
          </p:blipFill>
          <p:spPr bwMode="auto">
            <a:xfrm>
              <a:off x="1669" y="526"/>
              <a:ext cx="2251" cy="215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27685" name="Rectangle 5"/>
            <p:cNvSpPr>
              <a:spLocks noChangeArrowheads="1"/>
            </p:cNvSpPr>
            <p:nvPr/>
          </p:nvSpPr>
          <p:spPr bwMode="auto">
            <a:xfrm>
              <a:off x="976" y="526"/>
              <a:ext cx="693" cy="21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695325"/>
            <a:ext cx="68865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3-2-1-2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3-2-1-2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685800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3-2-1-2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2" cstate="print"/>
          <a:srcRect l="21661" t="12282" r="21169" b="32133"/>
          <a:stretch>
            <a:fillRect/>
          </a:stretch>
        </p:blipFill>
        <p:spPr bwMode="auto">
          <a:xfrm>
            <a:off x="1409700" y="1000125"/>
            <a:ext cx="4600575" cy="357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3-2-1-3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0152" y="481004"/>
            <a:ext cx="6858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9" y="476242"/>
            <a:ext cx="687705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3-2-1-3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3-2-1-3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2" cstate="print"/>
          <a:srcRect l="-32933" r="-25865"/>
          <a:stretch>
            <a:fillRect/>
          </a:stretch>
        </p:blipFill>
        <p:spPr bwMode="auto">
          <a:xfrm>
            <a:off x="1725613" y="1003300"/>
            <a:ext cx="5029200" cy="2989263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3-2-1-4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414328"/>
            <a:ext cx="68961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428616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3-2-1-4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3-2-1-4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329732" name="Picture 4"/>
          <p:cNvPicPr>
            <a:picLocks noChangeAspect="1" noChangeArrowheads="1"/>
          </p:cNvPicPr>
          <p:nvPr/>
        </p:nvPicPr>
        <p:blipFill>
          <a:blip r:embed="rId2" cstate="print"/>
          <a:srcRect l="-33437" r="-35548"/>
          <a:stretch>
            <a:fillRect/>
          </a:stretch>
        </p:blipFill>
        <p:spPr bwMode="auto">
          <a:xfrm>
            <a:off x="1670050" y="889000"/>
            <a:ext cx="5207000" cy="31718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3-2-1-5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7779" y="576259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3-2-1-5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8" y="595309"/>
            <a:ext cx="685800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69" name="Picture 1"/>
          <p:cNvPicPr>
            <a:picLocks noChangeAspect="1" noChangeArrowheads="1"/>
          </p:cNvPicPr>
          <p:nvPr/>
        </p:nvPicPr>
        <p:blipFill>
          <a:blip r:embed="rId2" cstate="print"/>
          <a:srcRect l="-22405" r="-48890"/>
          <a:stretch>
            <a:fillRect/>
          </a:stretch>
        </p:blipFill>
        <p:spPr bwMode="auto">
          <a:xfrm>
            <a:off x="1571625" y="985839"/>
            <a:ext cx="5986463" cy="332625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33075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3-2-1-5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6814" y="585784"/>
            <a:ext cx="68961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6814" y="604835"/>
            <a:ext cx="68675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21" name="Picture 1"/>
          <p:cNvPicPr>
            <a:picLocks noChangeAspect="1" noChangeArrowheads="1"/>
          </p:cNvPicPr>
          <p:nvPr/>
        </p:nvPicPr>
        <p:blipFill>
          <a:blip r:embed="rId2" cstate="print"/>
          <a:srcRect l="-16385" r="-27038"/>
          <a:stretch>
            <a:fillRect/>
          </a:stretch>
        </p:blipFill>
        <p:spPr bwMode="auto">
          <a:xfrm>
            <a:off x="1643063" y="1081089"/>
            <a:ext cx="5929312" cy="3159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33280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3-2-1-6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itchFamily="2" charset="-122"/>
              </a:rPr>
              <a:t>3-2-1-7  </a:t>
            </a:r>
            <a:r>
              <a:rPr lang="zh-CN" altLang="en-US" sz="1600" b="1" dirty="0">
                <a:latin typeface="宋体" pitchFamily="2" charset="-122"/>
              </a:rPr>
              <a:t>四</a:t>
            </a:r>
            <a:r>
              <a:rPr lang="en-US" altLang="en-US" sz="1600" b="1" dirty="0" err="1">
                <a:latin typeface="宋体" pitchFamily="2" charset="-122"/>
              </a:rPr>
              <a:t>棱锥被一水平面及正垂面所截，完成俯视图，并作出左视图</a:t>
            </a:r>
            <a:r>
              <a:rPr lang="en-US" altLang="en-US" sz="1600" b="1" dirty="0">
                <a:latin typeface="宋体" pitchFamily="2" charset="-122"/>
              </a:rPr>
              <a:t>。</a:t>
            </a:r>
            <a:endParaRPr lang="zh-CN" altLang="en-US" sz="1600" b="1" dirty="0">
              <a:latin typeface="宋体" pitchFamily="2" charset="-122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1577" y="538158"/>
            <a:ext cx="68865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itchFamily="2" charset="-122"/>
              </a:rPr>
              <a:t>3-2-1-7  </a:t>
            </a:r>
            <a:r>
              <a:rPr lang="zh-CN" altLang="en-US" sz="1600" b="1" dirty="0">
                <a:latin typeface="宋体" pitchFamily="2" charset="-122"/>
              </a:rPr>
              <a:t>四</a:t>
            </a:r>
            <a:r>
              <a:rPr lang="en-US" altLang="en-US" sz="1600" b="1" dirty="0" err="1">
                <a:latin typeface="宋体" pitchFamily="2" charset="-122"/>
              </a:rPr>
              <a:t>棱锥被一水平面及正垂面所截，完成俯视图，并作出左视图</a:t>
            </a:r>
            <a:r>
              <a:rPr lang="en-US" altLang="en-US" sz="1600" b="1" dirty="0">
                <a:latin typeface="宋体" pitchFamily="2" charset="-122"/>
              </a:rPr>
              <a:t>。</a:t>
            </a:r>
            <a:endParaRPr lang="zh-CN" altLang="en-US" sz="1600" b="1" dirty="0">
              <a:latin typeface="宋体" pitchFamily="2" charset="-122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5864" y="542920"/>
            <a:ext cx="6858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0738" y="857250"/>
            <a:ext cx="397002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itchFamily="2" charset="-122"/>
              </a:rPr>
              <a:t>3-2-1-7  </a:t>
            </a:r>
            <a:r>
              <a:rPr lang="zh-CN" altLang="en-US" sz="1600" b="1" dirty="0">
                <a:latin typeface="宋体" pitchFamily="2" charset="-122"/>
              </a:rPr>
              <a:t>四</a:t>
            </a:r>
            <a:r>
              <a:rPr lang="en-US" altLang="en-US" sz="1600" b="1" dirty="0" err="1">
                <a:latin typeface="宋体" pitchFamily="2" charset="-122"/>
              </a:rPr>
              <a:t>棱锥被一水平面及正垂面所截，完成俯视图，并作出左视图</a:t>
            </a:r>
            <a:r>
              <a:rPr lang="en-US" altLang="en-US" sz="1600" b="1" dirty="0">
                <a:latin typeface="宋体" pitchFamily="2" charset="-122"/>
              </a:rPr>
              <a:t>。</a:t>
            </a:r>
            <a:endParaRPr lang="zh-CN" altLang="en-US" sz="1600" b="1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3-2-1-8  </a:t>
            </a:r>
            <a:r>
              <a:rPr lang="zh-CN" altLang="en-US" sz="1600" b="1">
                <a:latin typeface="宋体" pitchFamily="2" charset="-122"/>
              </a:rPr>
              <a:t>梯形棱柱被正垂面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和铅垂面</a:t>
            </a:r>
            <a:r>
              <a:rPr lang="en-US" altLang="zh-CN" sz="1600" b="1">
                <a:latin typeface="宋体" pitchFamily="2" charset="-122"/>
              </a:rPr>
              <a:t>Q</a:t>
            </a:r>
            <a:r>
              <a:rPr lang="zh-CN" altLang="en-US" sz="1600" b="1">
                <a:latin typeface="宋体" pitchFamily="2" charset="-122"/>
              </a:rPr>
              <a:t>截切，完成截切后的三视图。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671512"/>
            <a:ext cx="68675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3" name="Text Box 5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3-2-1-8  </a:t>
            </a:r>
            <a:r>
              <a:rPr lang="zh-CN" altLang="en-US" sz="1600" b="1">
                <a:latin typeface="宋体" pitchFamily="2" charset="-122"/>
              </a:rPr>
              <a:t>梯形棱柱被正垂面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和铅垂面</a:t>
            </a:r>
            <a:r>
              <a:rPr lang="en-US" altLang="zh-CN" sz="1600" b="1">
                <a:latin typeface="宋体" pitchFamily="2" charset="-122"/>
              </a:rPr>
              <a:t>Q</a:t>
            </a:r>
            <a:r>
              <a:rPr lang="zh-CN" altLang="en-US" sz="1600" b="1">
                <a:latin typeface="宋体" pitchFamily="2" charset="-122"/>
              </a:rPr>
              <a:t>截切，完成截切后的三视图。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6" y="685800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itchFamily="2" charset="-122"/>
              </a:rPr>
              <a:t>3-2-1-8  </a:t>
            </a:r>
            <a:r>
              <a:rPr lang="zh-CN" altLang="en-US" sz="1600" b="1">
                <a:latin typeface="宋体" pitchFamily="2" charset="-122"/>
              </a:rPr>
              <a:t>梯形棱柱被正垂面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和铅垂面</a:t>
            </a:r>
            <a:r>
              <a:rPr lang="en-US" altLang="zh-CN" sz="1600" b="1">
                <a:latin typeface="宋体" pitchFamily="2" charset="-122"/>
              </a:rPr>
              <a:t>Q</a:t>
            </a:r>
            <a:r>
              <a:rPr lang="zh-CN" altLang="en-US" sz="1600" b="1">
                <a:latin typeface="宋体" pitchFamily="2" charset="-122"/>
              </a:rPr>
              <a:t>截切，完成截切后的三视图。</a:t>
            </a:r>
          </a:p>
        </p:txBody>
      </p:sp>
      <p:pic>
        <p:nvPicPr>
          <p:cNvPr id="333829" name="Picture 5"/>
          <p:cNvPicPr>
            <a:picLocks noChangeAspect="1" noChangeArrowheads="1"/>
          </p:cNvPicPr>
          <p:nvPr/>
        </p:nvPicPr>
        <p:blipFill>
          <a:blip r:embed="rId2" cstate="print"/>
          <a:srcRect l="17392" t="13931" r="9442" b="27477"/>
          <a:stretch>
            <a:fillRect/>
          </a:stretch>
        </p:blipFill>
        <p:spPr bwMode="auto">
          <a:xfrm>
            <a:off x="2024063" y="939800"/>
            <a:ext cx="4908550" cy="314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charset="0"/>
                <a:ea typeface="隶书" pitchFamily="49" charset="-122"/>
              </a:rPr>
              <a:t>平面与回转体相交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42920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  作主视图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  作主视图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6" y="538158"/>
            <a:ext cx="690562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  作主视图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34852" name="Picture 4"/>
          <p:cNvPicPr>
            <a:picLocks noChangeAspect="1" noChangeArrowheads="1"/>
          </p:cNvPicPr>
          <p:nvPr/>
        </p:nvPicPr>
        <p:blipFill>
          <a:blip r:embed="rId2" cstate="print"/>
          <a:srcRect l="-24284" r="-28926"/>
          <a:stretch>
            <a:fillRect/>
          </a:stretch>
        </p:blipFill>
        <p:spPr bwMode="auto">
          <a:xfrm>
            <a:off x="1492250" y="990600"/>
            <a:ext cx="5187950" cy="260667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3-2-2-2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47683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3-2-2-2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54292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3-2-2-2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35876" name="Picture 4"/>
          <p:cNvPicPr>
            <a:picLocks noChangeAspect="1" noChangeArrowheads="1"/>
          </p:cNvPicPr>
          <p:nvPr/>
        </p:nvPicPr>
        <p:blipFill>
          <a:blip r:embed="rId2" cstate="print"/>
          <a:srcRect l="-73289" r="-60265"/>
          <a:stretch>
            <a:fillRect/>
          </a:stretch>
        </p:blipFill>
        <p:spPr bwMode="auto">
          <a:xfrm>
            <a:off x="1585913" y="982663"/>
            <a:ext cx="4497387" cy="29337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542920"/>
            <a:ext cx="6858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3-2-2-3  作左视图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3-2-2-3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542920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3-2-2-3  作左视图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36900" name="Picture 4"/>
          <p:cNvPicPr>
            <a:picLocks noChangeAspect="1" noChangeArrowheads="1"/>
          </p:cNvPicPr>
          <p:nvPr/>
        </p:nvPicPr>
        <p:blipFill>
          <a:blip r:embed="rId2" cstate="print"/>
          <a:srcRect l="-66338" r="-72934"/>
          <a:stretch>
            <a:fillRect/>
          </a:stretch>
        </p:blipFill>
        <p:spPr bwMode="auto">
          <a:xfrm>
            <a:off x="1520825" y="979488"/>
            <a:ext cx="5010150" cy="2854325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3-2-2-4  补全主、俯视图中的截交线。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4939" y="609597"/>
            <a:ext cx="7346633" cy="489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3-2-2-4  补全主、俯视图中的截交线。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703" y="604835"/>
            <a:ext cx="7312343" cy="4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3-2-2-4  补全主、俯视图中的截交线。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337931" name="Group 11"/>
          <p:cNvGrpSpPr>
            <a:grpSpLocks/>
          </p:cNvGrpSpPr>
          <p:nvPr/>
        </p:nvGrpSpPr>
        <p:grpSpPr bwMode="auto">
          <a:xfrm>
            <a:off x="1455738" y="960438"/>
            <a:ext cx="5580062" cy="2787650"/>
            <a:chOff x="917" y="605"/>
            <a:chExt cx="3515" cy="1756"/>
          </a:xfrm>
        </p:grpSpPr>
        <p:pic>
          <p:nvPicPr>
            <p:cNvPr id="337927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 l="-25369" r="-31902"/>
            <a:stretch>
              <a:fillRect/>
            </a:stretch>
          </p:blipFill>
          <p:spPr bwMode="auto">
            <a:xfrm>
              <a:off x="917" y="605"/>
              <a:ext cx="3515" cy="1756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37928" name="Text Box 8"/>
            <p:cNvSpPr txBox="1">
              <a:spLocks noChangeArrowheads="1"/>
            </p:cNvSpPr>
            <p:nvPr/>
          </p:nvSpPr>
          <p:spPr bwMode="auto">
            <a:xfrm>
              <a:off x="2266" y="1207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P</a:t>
              </a:r>
            </a:p>
          </p:txBody>
        </p:sp>
        <p:sp>
          <p:nvSpPr>
            <p:cNvPr id="337929" name="Text Box 9"/>
            <p:cNvSpPr txBox="1">
              <a:spLocks noChangeArrowheads="1"/>
            </p:cNvSpPr>
            <p:nvPr/>
          </p:nvSpPr>
          <p:spPr bwMode="auto">
            <a:xfrm>
              <a:off x="3135" y="1323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S</a:t>
              </a:r>
            </a:p>
          </p:txBody>
        </p:sp>
        <p:sp>
          <p:nvSpPr>
            <p:cNvPr id="337930" name="Text Box 10"/>
            <p:cNvSpPr txBox="1">
              <a:spLocks noChangeArrowheads="1"/>
            </p:cNvSpPr>
            <p:nvPr/>
          </p:nvSpPr>
          <p:spPr bwMode="auto">
            <a:xfrm>
              <a:off x="2679" y="1482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TEUR" pitchFamily="49" charset="0"/>
                </a:rPr>
                <a:t>Q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3-2-2-5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41" y="431800"/>
            <a:ext cx="6886575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3-2-2-5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9678" y="466717"/>
            <a:ext cx="6867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949" name="Picture 5"/>
          <p:cNvPicPr>
            <a:picLocks noChangeAspect="1" noChangeArrowheads="1"/>
          </p:cNvPicPr>
          <p:nvPr/>
        </p:nvPicPr>
        <p:blipFill>
          <a:blip r:embed="rId2" cstate="print"/>
          <a:srcRect l="18747" t="14470" r="17123" b="24548"/>
          <a:stretch>
            <a:fillRect/>
          </a:stretch>
        </p:blipFill>
        <p:spPr bwMode="auto">
          <a:xfrm>
            <a:off x="2060575" y="965200"/>
            <a:ext cx="4300538" cy="327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894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3-2-2-5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3-2-2-6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528632"/>
            <a:ext cx="686752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533395"/>
            <a:ext cx="68770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3-2-2-6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3-2-2-6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39973" name="Picture 5"/>
          <p:cNvPicPr>
            <a:picLocks noChangeAspect="1" noChangeArrowheads="1"/>
          </p:cNvPicPr>
          <p:nvPr/>
        </p:nvPicPr>
        <p:blipFill>
          <a:blip r:embed="rId2" cstate="print"/>
          <a:srcRect l="13474" t="20296" r="17656" b="29568"/>
          <a:stretch>
            <a:fillRect/>
          </a:stretch>
        </p:blipFill>
        <p:spPr bwMode="auto">
          <a:xfrm>
            <a:off x="1614488" y="1008063"/>
            <a:ext cx="5541962" cy="322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3-2-2-7  完成俯视图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3971" y="519107"/>
            <a:ext cx="715327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4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3-2-2-7  完成俯视图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8257" y="538157"/>
            <a:ext cx="706755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002" name="Group 10"/>
          <p:cNvGrpSpPr>
            <a:grpSpLocks/>
          </p:cNvGrpSpPr>
          <p:nvPr/>
        </p:nvGrpSpPr>
        <p:grpSpPr bwMode="auto">
          <a:xfrm>
            <a:off x="1624013" y="1404938"/>
            <a:ext cx="5421312" cy="2268537"/>
            <a:chOff x="1023" y="885"/>
            <a:chExt cx="3415" cy="1429"/>
          </a:xfrm>
        </p:grpSpPr>
        <p:pic>
          <p:nvPicPr>
            <p:cNvPr id="34099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-25082" r="-35321"/>
            <a:stretch>
              <a:fillRect/>
            </a:stretch>
          </p:blipFill>
          <p:spPr bwMode="auto">
            <a:xfrm>
              <a:off x="1023" y="885"/>
              <a:ext cx="3415" cy="1429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340997" name="Text Box 5"/>
            <p:cNvSpPr txBox="1">
              <a:spLocks noChangeArrowheads="1"/>
            </p:cNvSpPr>
            <p:nvPr/>
          </p:nvSpPr>
          <p:spPr bwMode="auto">
            <a:xfrm>
              <a:off x="2259" y="1325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itchFamily="34" charset="0"/>
                </a:rPr>
                <a:t>P</a:t>
              </a:r>
            </a:p>
          </p:txBody>
        </p:sp>
        <p:sp>
          <p:nvSpPr>
            <p:cNvPr id="340998" name="Text Box 6"/>
            <p:cNvSpPr txBox="1">
              <a:spLocks noChangeArrowheads="1"/>
            </p:cNvSpPr>
            <p:nvPr/>
          </p:nvSpPr>
          <p:spPr bwMode="auto">
            <a:xfrm>
              <a:off x="2304" y="962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SOCPEUR" pitchFamily="34" charset="0"/>
                </a:rPr>
                <a:t>Q</a:t>
              </a:r>
            </a:p>
          </p:txBody>
        </p:sp>
        <p:sp>
          <p:nvSpPr>
            <p:cNvPr id="340999" name="Line 7"/>
            <p:cNvSpPr>
              <a:spLocks noChangeShapeType="1"/>
            </p:cNvSpPr>
            <p:nvPr/>
          </p:nvSpPr>
          <p:spPr bwMode="auto">
            <a:xfrm flipH="1" flipV="1">
              <a:off x="2508" y="1165"/>
              <a:ext cx="114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1000" name="Text Box 8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3-2-2-7  完成俯视图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3-2-2-8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4963" y="523870"/>
            <a:ext cx="6848475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3-2-2-8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5432" y="542920"/>
            <a:ext cx="68675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3-2-2-8  完成俯视图，并作左视图。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42021" name="Picture 5"/>
          <p:cNvPicPr>
            <a:picLocks noChangeAspect="1" noChangeArrowheads="1"/>
          </p:cNvPicPr>
          <p:nvPr/>
        </p:nvPicPr>
        <p:blipFill>
          <a:blip r:embed="rId2" cstate="print"/>
          <a:srcRect l="14085" t="16991" r="18307" b="29124"/>
          <a:stretch>
            <a:fillRect/>
          </a:stretch>
        </p:blipFill>
        <p:spPr bwMode="auto">
          <a:xfrm>
            <a:off x="1539875" y="1009650"/>
            <a:ext cx="5440363" cy="346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3523" y="519107"/>
            <a:ext cx="687705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3-2-2-9  作连杆头的主视图（图上的虚线为圆柱孔）。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3-2-2-9  作连杆头的主视图（图上的虚线为圆柱孔）。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286" y="523869"/>
            <a:ext cx="6867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4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3-2-2-9  作连杆头的主视图（图上的虚线为圆柱孔）。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43045" name="Picture 5"/>
          <p:cNvPicPr>
            <a:picLocks noChangeAspect="1" noChangeArrowheads="1"/>
          </p:cNvPicPr>
          <p:nvPr/>
        </p:nvPicPr>
        <p:blipFill>
          <a:blip r:embed="rId2" cstate="print"/>
          <a:srcRect l="16650" t="19754" r="18524" b="28360"/>
          <a:stretch>
            <a:fillRect/>
          </a:stretch>
        </p:blipFill>
        <p:spPr bwMode="auto">
          <a:xfrm>
            <a:off x="1866900" y="933450"/>
            <a:ext cx="5216525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3-2-2-10  作主视图中所缺的截交线。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1" y="546104"/>
            <a:ext cx="68484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3-2-2-10  作主视图中所缺的截交线。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0713" y="542920"/>
            <a:ext cx="68770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3-2-2-10  作主视图中所缺的截交线。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344069" name="Picture 5"/>
          <p:cNvPicPr>
            <a:picLocks noChangeAspect="1" noChangeArrowheads="1"/>
          </p:cNvPicPr>
          <p:nvPr/>
        </p:nvPicPr>
        <p:blipFill>
          <a:blip r:embed="rId2" cstate="print"/>
          <a:srcRect l="15506" t="11023" r="10278" b="28311"/>
          <a:stretch>
            <a:fillRect/>
          </a:stretch>
        </p:blipFill>
        <p:spPr bwMode="auto">
          <a:xfrm>
            <a:off x="1628775" y="790575"/>
            <a:ext cx="5564188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3-2-2-11  作出主视图中所缺的截交线。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84" y="547668"/>
            <a:ext cx="81248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3-2-2-11  作出主视图中所缺的截交线。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8" y="552431"/>
            <a:ext cx="811530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4" name="Text Box 6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itchFamily="2" charset="-122"/>
              </a:rPr>
              <a:t>3-2-2-11  作出主视图中所缺的截交线。</a:t>
            </a:r>
            <a:endParaRPr lang="zh-CN" altLang="en-US" sz="1600" b="1">
              <a:latin typeface="宋体" pitchFamily="2" charset="-122"/>
            </a:endParaRPr>
          </a:p>
        </p:txBody>
      </p:sp>
      <p:grpSp>
        <p:nvGrpSpPr>
          <p:cNvPr id="345113" name="Group 25"/>
          <p:cNvGrpSpPr>
            <a:grpSpLocks/>
          </p:cNvGrpSpPr>
          <p:nvPr/>
        </p:nvGrpSpPr>
        <p:grpSpPr bwMode="auto">
          <a:xfrm>
            <a:off x="1636713" y="701675"/>
            <a:ext cx="7507287" cy="3660775"/>
            <a:chOff x="1031" y="442"/>
            <a:chExt cx="4729" cy="2306"/>
          </a:xfrm>
        </p:grpSpPr>
        <p:pic>
          <p:nvPicPr>
            <p:cNvPr id="345112" name="Picture 24"/>
            <p:cNvPicPr>
              <a:picLocks noChangeAspect="1" noChangeArrowheads="1"/>
            </p:cNvPicPr>
            <p:nvPr/>
          </p:nvPicPr>
          <p:blipFill>
            <a:blip r:embed="rId2" cstate="print"/>
            <a:srcRect l="13474" t="14920" r="9825" b="29372"/>
            <a:stretch>
              <a:fillRect/>
            </a:stretch>
          </p:blipFill>
          <p:spPr bwMode="auto">
            <a:xfrm>
              <a:off x="1031" y="685"/>
              <a:ext cx="3550" cy="2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45096" name="Text Box 8"/>
            <p:cNvSpPr txBox="1">
              <a:spLocks noChangeArrowheads="1"/>
            </p:cNvSpPr>
            <p:nvPr/>
          </p:nvSpPr>
          <p:spPr bwMode="auto">
            <a:xfrm>
              <a:off x="4056" y="1634"/>
              <a:ext cx="17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b="1"/>
                <a:t>切点　</a:t>
              </a:r>
            </a:p>
          </p:txBody>
        </p:sp>
        <p:sp>
          <p:nvSpPr>
            <p:cNvPr id="345101" name="Text Box 13"/>
            <p:cNvSpPr txBox="1">
              <a:spLocks noChangeArrowheads="1"/>
            </p:cNvSpPr>
            <p:nvPr/>
          </p:nvSpPr>
          <p:spPr bwMode="auto">
            <a:xfrm>
              <a:off x="1258" y="442"/>
              <a:ext cx="450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b="1"/>
                <a:t>圆球　圆柱  圆环　圆球      　  圆环　圆柱　</a:t>
              </a:r>
            </a:p>
          </p:txBody>
        </p:sp>
        <p:sp>
          <p:nvSpPr>
            <p:cNvPr id="345102" name="Line 14"/>
            <p:cNvSpPr>
              <a:spLocks noChangeShapeType="1"/>
            </p:cNvSpPr>
            <p:nvPr/>
          </p:nvSpPr>
          <p:spPr bwMode="auto">
            <a:xfrm>
              <a:off x="1493" y="673"/>
              <a:ext cx="323" cy="961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3" name="Line 15"/>
            <p:cNvSpPr>
              <a:spLocks noChangeShapeType="1"/>
            </p:cNvSpPr>
            <p:nvPr/>
          </p:nvSpPr>
          <p:spPr bwMode="auto">
            <a:xfrm>
              <a:off x="1898" y="673"/>
              <a:ext cx="218" cy="70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4" name="Line 16"/>
            <p:cNvSpPr>
              <a:spLocks noChangeShapeType="1"/>
            </p:cNvSpPr>
            <p:nvPr/>
          </p:nvSpPr>
          <p:spPr bwMode="auto">
            <a:xfrm>
              <a:off x="2257" y="673"/>
              <a:ext cx="189" cy="55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5" name="Line 17"/>
            <p:cNvSpPr>
              <a:spLocks noChangeShapeType="1"/>
            </p:cNvSpPr>
            <p:nvPr/>
          </p:nvSpPr>
          <p:spPr bwMode="auto">
            <a:xfrm>
              <a:off x="2710" y="673"/>
              <a:ext cx="67" cy="17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6" name="Line 18"/>
            <p:cNvSpPr>
              <a:spLocks noChangeShapeType="1"/>
            </p:cNvSpPr>
            <p:nvPr/>
          </p:nvSpPr>
          <p:spPr bwMode="auto">
            <a:xfrm>
              <a:off x="3553" y="673"/>
              <a:ext cx="124" cy="273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7" name="Line 19"/>
            <p:cNvSpPr>
              <a:spLocks noChangeShapeType="1"/>
            </p:cNvSpPr>
            <p:nvPr/>
          </p:nvSpPr>
          <p:spPr bwMode="auto">
            <a:xfrm>
              <a:off x="3854" y="673"/>
              <a:ext cx="88" cy="17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sm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8" name="Line 20"/>
            <p:cNvSpPr>
              <a:spLocks noChangeShapeType="1"/>
            </p:cNvSpPr>
            <p:nvPr/>
          </p:nvSpPr>
          <p:spPr bwMode="auto">
            <a:xfrm>
              <a:off x="4078" y="1375"/>
              <a:ext cx="170" cy="305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 type="triangle" w="sm" len="lg"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109" name="Oval 21"/>
            <p:cNvSpPr>
              <a:spLocks noChangeArrowheads="1"/>
            </p:cNvSpPr>
            <p:nvPr/>
          </p:nvSpPr>
          <p:spPr bwMode="auto">
            <a:xfrm>
              <a:off x="4056" y="1349"/>
              <a:ext cx="27" cy="27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4683</TotalTime>
  <Words>1196</Words>
  <Application>Microsoft Office PowerPoint</Application>
  <PresentationFormat>全屏显示(4:3)</PresentationFormat>
  <Paragraphs>98</Paragraphs>
  <Slides>91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98" baseType="lpstr">
      <vt:lpstr>ISOCPEUR</vt:lpstr>
      <vt:lpstr>ISOCTEUR</vt:lpstr>
      <vt:lpstr>宋体</vt:lpstr>
      <vt:lpstr>Arial</vt:lpstr>
      <vt:lpstr>Tahoma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Yao Jiang</cp:lastModifiedBy>
  <cp:revision>465</cp:revision>
  <dcterms:created xsi:type="dcterms:W3CDTF">2006-04-04T11:38:05Z</dcterms:created>
  <dcterms:modified xsi:type="dcterms:W3CDTF">2025-04-02T01:19:12Z</dcterms:modified>
</cp:coreProperties>
</file>