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3"/>
    <p:sldId id="289" r:id="rId4"/>
    <p:sldId id="290" r:id="rId5"/>
    <p:sldId id="404" r:id="rId6"/>
    <p:sldId id="349" r:id="rId7"/>
    <p:sldId id="291" r:id="rId8"/>
    <p:sldId id="405" r:id="rId9"/>
    <p:sldId id="350" r:id="rId10"/>
    <p:sldId id="292" r:id="rId11"/>
    <p:sldId id="293" r:id="rId12"/>
    <p:sldId id="406" r:id="rId13"/>
    <p:sldId id="351" r:id="rId14"/>
    <p:sldId id="294" r:id="rId15"/>
    <p:sldId id="407" r:id="rId16"/>
    <p:sldId id="352" r:id="rId17"/>
    <p:sldId id="295" r:id="rId18"/>
    <p:sldId id="448" r:id="rId19"/>
    <p:sldId id="353" r:id="rId20"/>
    <p:sldId id="447" r:id="rId21"/>
    <p:sldId id="296" r:id="rId22"/>
    <p:sldId id="354" r:id="rId23"/>
    <p:sldId id="297" r:id="rId24"/>
    <p:sldId id="446" r:id="rId25"/>
    <p:sldId id="355" r:id="rId26"/>
    <p:sldId id="298" r:id="rId27"/>
    <p:sldId id="445" r:id="rId28"/>
    <p:sldId id="356" r:id="rId29"/>
    <p:sldId id="299" r:id="rId30"/>
    <p:sldId id="444" r:id="rId31"/>
    <p:sldId id="357" r:id="rId32"/>
    <p:sldId id="300" r:id="rId33"/>
    <p:sldId id="443" r:id="rId34"/>
    <p:sldId id="358" r:id="rId35"/>
    <p:sldId id="301" r:id="rId36"/>
    <p:sldId id="442" r:id="rId37"/>
    <p:sldId id="359" r:id="rId38"/>
    <p:sldId id="302" r:id="rId39"/>
    <p:sldId id="441" r:id="rId40"/>
    <p:sldId id="360" r:id="rId41"/>
    <p:sldId id="303" r:id="rId42"/>
    <p:sldId id="440" r:id="rId43"/>
    <p:sldId id="361" r:id="rId44"/>
    <p:sldId id="304" r:id="rId45"/>
    <p:sldId id="439" r:id="rId46"/>
    <p:sldId id="362" r:id="rId47"/>
    <p:sldId id="305" r:id="rId48"/>
    <p:sldId id="438" r:id="rId49"/>
    <p:sldId id="363" r:id="rId50"/>
    <p:sldId id="306" r:id="rId51"/>
    <p:sldId id="437" r:id="rId52"/>
    <p:sldId id="364" r:id="rId53"/>
    <p:sldId id="307" r:id="rId54"/>
    <p:sldId id="436" r:id="rId55"/>
    <p:sldId id="365" r:id="rId56"/>
    <p:sldId id="308" r:id="rId57"/>
    <p:sldId id="435" r:id="rId58"/>
    <p:sldId id="366" r:id="rId59"/>
    <p:sldId id="309" r:id="rId60"/>
    <p:sldId id="434" r:id="rId61"/>
    <p:sldId id="367" r:id="rId62"/>
    <p:sldId id="310" r:id="rId63"/>
    <p:sldId id="433" r:id="rId64"/>
    <p:sldId id="368" r:id="rId65"/>
    <p:sldId id="311" r:id="rId66"/>
    <p:sldId id="432" r:id="rId67"/>
    <p:sldId id="369" r:id="rId68"/>
    <p:sldId id="312" r:id="rId69"/>
    <p:sldId id="431" r:id="rId70"/>
    <p:sldId id="370" r:id="rId71"/>
    <p:sldId id="313" r:id="rId72"/>
    <p:sldId id="430" r:id="rId73"/>
    <p:sldId id="371" r:id="rId74"/>
    <p:sldId id="314" r:id="rId75"/>
    <p:sldId id="429" r:id="rId76"/>
    <p:sldId id="372" r:id="rId77"/>
    <p:sldId id="315" r:id="rId78"/>
    <p:sldId id="428" r:id="rId79"/>
    <p:sldId id="373" r:id="rId80"/>
    <p:sldId id="316" r:id="rId81"/>
    <p:sldId id="427" r:id="rId82"/>
    <p:sldId id="374" r:id="rId83"/>
    <p:sldId id="317" r:id="rId84"/>
    <p:sldId id="318" r:id="rId85"/>
    <p:sldId id="426" r:id="rId86"/>
    <p:sldId id="375" r:id="rId87"/>
    <p:sldId id="319" r:id="rId88"/>
    <p:sldId id="425" r:id="rId89"/>
    <p:sldId id="376" r:id="rId90"/>
    <p:sldId id="377" r:id="rId91"/>
    <p:sldId id="424" r:id="rId92"/>
    <p:sldId id="320" r:id="rId93"/>
    <p:sldId id="423" r:id="rId94"/>
    <p:sldId id="321" r:id="rId95"/>
    <p:sldId id="378" r:id="rId96"/>
    <p:sldId id="322" r:id="rId97"/>
    <p:sldId id="323" r:id="rId98"/>
    <p:sldId id="422" r:id="rId99"/>
    <p:sldId id="379" r:id="rId100"/>
    <p:sldId id="324" r:id="rId101"/>
    <p:sldId id="421" r:id="rId102"/>
    <p:sldId id="380" r:id="rId103"/>
    <p:sldId id="325" r:id="rId104"/>
    <p:sldId id="326" r:id="rId105"/>
    <p:sldId id="420" r:id="rId106"/>
    <p:sldId id="381" r:id="rId107"/>
    <p:sldId id="327" r:id="rId108"/>
    <p:sldId id="419" r:id="rId109"/>
    <p:sldId id="382" r:id="rId110"/>
    <p:sldId id="328" r:id="rId111"/>
    <p:sldId id="329" r:id="rId112"/>
    <p:sldId id="418" r:id="rId113"/>
    <p:sldId id="383" r:id="rId114"/>
    <p:sldId id="330" r:id="rId115"/>
    <p:sldId id="417" r:id="rId116"/>
    <p:sldId id="384" r:id="rId117"/>
    <p:sldId id="331" r:id="rId118"/>
    <p:sldId id="416" r:id="rId119"/>
    <p:sldId id="385" r:id="rId120"/>
    <p:sldId id="332" r:id="rId121"/>
    <p:sldId id="415" r:id="rId122"/>
    <p:sldId id="386" r:id="rId123"/>
    <p:sldId id="333" r:id="rId124"/>
    <p:sldId id="414" r:id="rId125"/>
    <p:sldId id="387" r:id="rId126"/>
    <p:sldId id="334" r:id="rId127"/>
    <p:sldId id="413" r:id="rId128"/>
    <p:sldId id="388" r:id="rId129"/>
    <p:sldId id="335" r:id="rId130"/>
    <p:sldId id="412" r:id="rId131"/>
    <p:sldId id="389" r:id="rId132"/>
    <p:sldId id="336" r:id="rId133"/>
    <p:sldId id="411" r:id="rId134"/>
    <p:sldId id="390" r:id="rId135"/>
    <p:sldId id="337" r:id="rId136"/>
    <p:sldId id="410" r:id="rId137"/>
    <p:sldId id="391" r:id="rId138"/>
    <p:sldId id="338" r:id="rId139"/>
    <p:sldId id="409" r:id="rId140"/>
    <p:sldId id="392" r:id="rId141"/>
    <p:sldId id="339" r:id="rId142"/>
    <p:sldId id="408" r:id="rId143"/>
    <p:sldId id="393" r:id="rId144"/>
    <p:sldId id="340" r:id="rId145"/>
    <p:sldId id="341" r:id="rId146"/>
    <p:sldId id="449" r:id="rId147"/>
    <p:sldId id="394" r:id="rId148"/>
    <p:sldId id="342" r:id="rId149"/>
    <p:sldId id="450" r:id="rId150"/>
    <p:sldId id="395" r:id="rId151"/>
    <p:sldId id="343" r:id="rId152"/>
    <p:sldId id="344" r:id="rId153"/>
    <p:sldId id="451" r:id="rId154"/>
    <p:sldId id="396" r:id="rId155"/>
    <p:sldId id="345" r:id="rId156"/>
    <p:sldId id="452" r:id="rId157"/>
    <p:sldId id="397" r:id="rId158"/>
    <p:sldId id="346" r:id="rId159"/>
    <p:sldId id="453" r:id="rId160"/>
    <p:sldId id="398" r:id="rId161"/>
    <p:sldId id="347" r:id="rId162"/>
    <p:sldId id="455" r:id="rId163"/>
    <p:sldId id="399" r:id="rId164"/>
    <p:sldId id="348" r:id="rId165"/>
    <p:sldId id="401" r:id="rId166"/>
    <p:sldId id="400" r:id="rId167"/>
    <p:sldId id="454" r:id="rId168"/>
    <p:sldId id="402" r:id="rId169"/>
    <p:sldId id="403" r:id="rId170"/>
  </p:sldIdLst>
  <p:sldSz cx="9144000" cy="6858000" type="screen4x3"/>
  <p:notesSz cx="6858000" cy="9144000"/>
  <p:custDataLst>
    <p:tags r:id="rId17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4" autoAdjust="0"/>
    <p:restoredTop sz="94660"/>
  </p:normalViewPr>
  <p:slideViewPr>
    <p:cSldViewPr snapToGrid="0">
      <p:cViewPr>
        <p:scale>
          <a:sx n="71" d="100"/>
          <a:sy n="71" d="100"/>
        </p:scale>
        <p:origin x="-1392" y="-259"/>
      </p:cViewPr>
      <p:guideLst>
        <p:guide orient="horz" pos="2160"/>
        <p:guide orient="horz" pos="119"/>
        <p:guide orient="horz" pos="4201"/>
        <p:guide orient="horz" pos="663"/>
        <p:guide orient="horz" pos="3657"/>
        <p:guide pos="2880"/>
        <p:guide pos="1383"/>
        <p:guide pos="4377"/>
        <p:guide pos="796"/>
        <p:guide pos="492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4" Type="http://schemas.openxmlformats.org/officeDocument/2006/relationships/tags" Target="tags/tag2.xml"/><Relationship Id="rId173" Type="http://schemas.openxmlformats.org/officeDocument/2006/relationships/tableStyles" Target="tableStyles.xml"/><Relationship Id="rId172" Type="http://schemas.openxmlformats.org/officeDocument/2006/relationships/viewProps" Target="viewProps.xml"/><Relationship Id="rId171" Type="http://schemas.openxmlformats.org/officeDocument/2006/relationships/presProps" Target="presProps.xml"/><Relationship Id="rId170" Type="http://schemas.openxmlformats.org/officeDocument/2006/relationships/slide" Target="slides/slide168.xml"/><Relationship Id="rId17" Type="http://schemas.openxmlformats.org/officeDocument/2006/relationships/slide" Target="slides/slide15.xml"/><Relationship Id="rId169" Type="http://schemas.openxmlformats.org/officeDocument/2006/relationships/slide" Target="slides/slide167.xml"/><Relationship Id="rId168" Type="http://schemas.openxmlformats.org/officeDocument/2006/relationships/slide" Target="slides/slide166.xml"/><Relationship Id="rId167" Type="http://schemas.openxmlformats.org/officeDocument/2006/relationships/slide" Target="slides/slide165.xml"/><Relationship Id="rId166" Type="http://schemas.openxmlformats.org/officeDocument/2006/relationships/slide" Target="slides/slide164.xml"/><Relationship Id="rId165" Type="http://schemas.openxmlformats.org/officeDocument/2006/relationships/slide" Target="slides/slide163.xml"/><Relationship Id="rId164" Type="http://schemas.openxmlformats.org/officeDocument/2006/relationships/slide" Target="slides/slide162.xml"/><Relationship Id="rId163" Type="http://schemas.openxmlformats.org/officeDocument/2006/relationships/slide" Target="slides/slide161.xml"/><Relationship Id="rId162" Type="http://schemas.openxmlformats.org/officeDocument/2006/relationships/slide" Target="slides/slide160.xml"/><Relationship Id="rId161" Type="http://schemas.openxmlformats.org/officeDocument/2006/relationships/slide" Target="slides/slide159.xml"/><Relationship Id="rId160" Type="http://schemas.openxmlformats.org/officeDocument/2006/relationships/slide" Target="slides/slide158.xml"/><Relationship Id="rId16" Type="http://schemas.openxmlformats.org/officeDocument/2006/relationships/slide" Target="slides/slide14.xml"/><Relationship Id="rId159" Type="http://schemas.openxmlformats.org/officeDocument/2006/relationships/slide" Target="slides/slide157.xml"/><Relationship Id="rId158" Type="http://schemas.openxmlformats.org/officeDocument/2006/relationships/slide" Target="slides/slide156.xml"/><Relationship Id="rId157" Type="http://schemas.openxmlformats.org/officeDocument/2006/relationships/slide" Target="slides/slide155.xml"/><Relationship Id="rId156" Type="http://schemas.openxmlformats.org/officeDocument/2006/relationships/slide" Target="slides/slide154.xml"/><Relationship Id="rId155" Type="http://schemas.openxmlformats.org/officeDocument/2006/relationships/slide" Target="slides/slide153.xml"/><Relationship Id="rId154" Type="http://schemas.openxmlformats.org/officeDocument/2006/relationships/slide" Target="slides/slide152.xml"/><Relationship Id="rId153" Type="http://schemas.openxmlformats.org/officeDocument/2006/relationships/slide" Target="slides/slide151.xml"/><Relationship Id="rId152" Type="http://schemas.openxmlformats.org/officeDocument/2006/relationships/slide" Target="slides/slide150.xml"/><Relationship Id="rId151" Type="http://schemas.openxmlformats.org/officeDocument/2006/relationships/slide" Target="slides/slide149.xml"/><Relationship Id="rId150" Type="http://schemas.openxmlformats.org/officeDocument/2006/relationships/slide" Target="slides/slide148.xml"/><Relationship Id="rId15" Type="http://schemas.openxmlformats.org/officeDocument/2006/relationships/slide" Target="slides/slide13.xml"/><Relationship Id="rId149" Type="http://schemas.openxmlformats.org/officeDocument/2006/relationships/slide" Target="slides/slide147.xml"/><Relationship Id="rId148" Type="http://schemas.openxmlformats.org/officeDocument/2006/relationships/slide" Target="slides/slide146.xml"/><Relationship Id="rId147" Type="http://schemas.openxmlformats.org/officeDocument/2006/relationships/slide" Target="slides/slide145.xml"/><Relationship Id="rId146" Type="http://schemas.openxmlformats.org/officeDocument/2006/relationships/slide" Target="slides/slide144.xml"/><Relationship Id="rId145" Type="http://schemas.openxmlformats.org/officeDocument/2006/relationships/slide" Target="slides/slide143.xml"/><Relationship Id="rId144" Type="http://schemas.openxmlformats.org/officeDocument/2006/relationships/slide" Target="slides/slide142.xml"/><Relationship Id="rId143" Type="http://schemas.openxmlformats.org/officeDocument/2006/relationships/slide" Target="slides/slide141.xml"/><Relationship Id="rId142" Type="http://schemas.openxmlformats.org/officeDocument/2006/relationships/slide" Target="slides/slide140.xml"/><Relationship Id="rId141" Type="http://schemas.openxmlformats.org/officeDocument/2006/relationships/slide" Target="slides/slide139.xml"/><Relationship Id="rId140" Type="http://schemas.openxmlformats.org/officeDocument/2006/relationships/slide" Target="slides/slide138.xml"/><Relationship Id="rId14" Type="http://schemas.openxmlformats.org/officeDocument/2006/relationships/slide" Target="slides/slide12.xml"/><Relationship Id="rId139" Type="http://schemas.openxmlformats.org/officeDocument/2006/relationships/slide" Target="slides/slide137.xml"/><Relationship Id="rId138" Type="http://schemas.openxmlformats.org/officeDocument/2006/relationships/slide" Target="slides/slide136.xml"/><Relationship Id="rId137" Type="http://schemas.openxmlformats.org/officeDocument/2006/relationships/slide" Target="slides/slide135.xml"/><Relationship Id="rId136" Type="http://schemas.openxmlformats.org/officeDocument/2006/relationships/slide" Target="slides/slide134.xml"/><Relationship Id="rId135" Type="http://schemas.openxmlformats.org/officeDocument/2006/relationships/slide" Target="slides/slide133.xml"/><Relationship Id="rId134" Type="http://schemas.openxmlformats.org/officeDocument/2006/relationships/slide" Target="slides/slide132.xml"/><Relationship Id="rId133" Type="http://schemas.openxmlformats.org/officeDocument/2006/relationships/slide" Target="slides/slide131.xml"/><Relationship Id="rId132" Type="http://schemas.openxmlformats.org/officeDocument/2006/relationships/slide" Target="slides/slide130.xml"/><Relationship Id="rId131" Type="http://schemas.openxmlformats.org/officeDocument/2006/relationships/slide" Target="slides/slide129.xml"/><Relationship Id="rId130" Type="http://schemas.openxmlformats.org/officeDocument/2006/relationships/slide" Target="slides/slide128.xml"/><Relationship Id="rId13" Type="http://schemas.openxmlformats.org/officeDocument/2006/relationships/slide" Target="slides/slide11.xml"/><Relationship Id="rId129" Type="http://schemas.openxmlformats.org/officeDocument/2006/relationships/slide" Target="slides/slide127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40963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096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096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0967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8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096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7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097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0974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0975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097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292B5E1-2240-43C1-B946-9F82851F36D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0885DC-5B1E-43AD-A623-EF7E8B85046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8F827-102A-47E9-80FA-A6A669C6D7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69079E-B96F-4DA3-BC3C-8044C92C023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19B19F-A1FD-4870-96ED-5E0401568B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B1172-DDB3-4662-A73E-59A1B49B1AB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6260C9-F314-42C8-B1B1-1A4792254C4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A4F859-EF16-4C72-BEA6-13F0D10571D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715CF4-9A78-45EC-A82D-A5D55CF5182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424282-5A9D-4368-88F8-DD7F2FA3491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54B301-9945-4440-9DA3-5ECA687E95D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994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994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3994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3994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fld id="{AFF7CD27-3B11-4552-807F-0162CB831334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4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5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7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9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0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1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2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3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5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6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7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8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2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4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5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6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7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8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9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0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1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2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3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4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5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6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7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8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9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0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1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2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3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4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5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6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7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8.png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9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0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1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2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3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4.png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5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6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7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8.pn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9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0.pn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1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2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3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4.pn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5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6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7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8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9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0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1.pn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2.png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3.png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4.png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5.pn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6.png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7.png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8.png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9.png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0.png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1.png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2.png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3.png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4.png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5.png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6.png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7.png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8.png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9.png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0.png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1.png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2.png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3.png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4.png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5.png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6.png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7.png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8.png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9.png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0.png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1.png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2.png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3.png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4.png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5.png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6.png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7.png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8.png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CCFF"/>
            </a:gs>
            <a:gs pos="100000">
              <a:srgbClr val="FFCCFF">
                <a:gamma/>
                <a:shade val="46275"/>
                <a:invGamma/>
              </a:srgbClr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0" y="908050"/>
            <a:ext cx="9144000" cy="1920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第四单元  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形体的表达方法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视图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78879" y="548680"/>
            <a:ext cx="8429625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4-1-1-1  </a:t>
            </a:r>
            <a:r>
              <a:rPr lang="zh-CN" altLang="en-US" sz="1600" b="1">
                <a:latin typeface="宋体" panose="02010600030101010101" pitchFamily="2" charset="-122"/>
              </a:rPr>
              <a:t>根据图</a:t>
            </a:r>
            <a:r>
              <a:rPr lang="en-US" altLang="zh-CN" sz="1600" b="1">
                <a:latin typeface="宋体" panose="02010600030101010101" pitchFamily="2" charset="-122"/>
              </a:rPr>
              <a:t>(1)</a:t>
            </a:r>
            <a:r>
              <a:rPr lang="zh-CN" altLang="en-US" sz="1600" b="1">
                <a:latin typeface="宋体" panose="02010600030101010101" pitchFamily="2" charset="-122"/>
              </a:rPr>
              <a:t>所示机件的形状，请在图</a:t>
            </a:r>
            <a:r>
              <a:rPr lang="en-US" altLang="zh-CN" sz="1600" b="1">
                <a:latin typeface="宋体" panose="02010600030101010101" pitchFamily="2" charset="-122"/>
              </a:rPr>
              <a:t>(2)</a:t>
            </a:r>
            <a:r>
              <a:rPr lang="zh-CN" altLang="en-US" sz="1600" b="1">
                <a:latin typeface="宋体" panose="02010600030101010101" pitchFamily="2" charset="-122"/>
              </a:rPr>
              <a:t>中画出反映斜面实形的</a:t>
            </a:r>
            <a:r>
              <a:rPr lang="en-US" altLang="zh-CN" sz="1600" b="1">
                <a:latin typeface="宋体" panose="02010600030101010101" pitchFamily="2" charset="-122"/>
              </a:rPr>
              <a:t>A</a:t>
            </a:r>
            <a:r>
              <a:rPr lang="zh-CN" altLang="en-US" sz="1600" b="1">
                <a:latin typeface="宋体" panose="02010600030101010101" pitchFamily="2" charset="-122"/>
              </a:rPr>
              <a:t>向斜视图（局部）。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54868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860032" y="54868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81390" y="553938"/>
            <a:ext cx="838200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4-1-1-1  </a:t>
            </a:r>
            <a:r>
              <a:rPr lang="zh-CN" altLang="en-US" sz="1600" b="1">
                <a:latin typeface="宋体" panose="02010600030101010101" pitchFamily="2" charset="-122"/>
              </a:rPr>
              <a:t>根据图</a:t>
            </a:r>
            <a:r>
              <a:rPr lang="en-US" altLang="zh-CN" sz="1600" b="1">
                <a:latin typeface="宋体" panose="02010600030101010101" pitchFamily="2" charset="-122"/>
              </a:rPr>
              <a:t>(1)</a:t>
            </a:r>
            <a:r>
              <a:rPr lang="zh-CN" altLang="en-US" sz="1600" b="1">
                <a:latin typeface="宋体" panose="02010600030101010101" pitchFamily="2" charset="-122"/>
              </a:rPr>
              <a:t>所示机件的形状，请在图</a:t>
            </a:r>
            <a:r>
              <a:rPr lang="en-US" altLang="zh-CN" sz="1600" b="1">
                <a:latin typeface="宋体" panose="02010600030101010101" pitchFamily="2" charset="-122"/>
              </a:rPr>
              <a:t>(2)</a:t>
            </a:r>
            <a:r>
              <a:rPr lang="zh-CN" altLang="en-US" sz="1600" b="1">
                <a:latin typeface="宋体" panose="02010600030101010101" pitchFamily="2" charset="-122"/>
              </a:rPr>
              <a:t>中画出反映斜面实形的</a:t>
            </a:r>
            <a:r>
              <a:rPr lang="en-US" altLang="zh-CN" sz="1600" b="1">
                <a:latin typeface="宋体" panose="02010600030101010101" pitchFamily="2" charset="-122"/>
              </a:rPr>
              <a:t>A</a:t>
            </a:r>
            <a:r>
              <a:rPr lang="zh-CN" altLang="en-US" sz="1600" b="1">
                <a:latin typeface="宋体" panose="02010600030101010101" pitchFamily="2" charset="-122"/>
              </a:rPr>
              <a:t>向斜视图（局部）。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5576" y="54868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860032" y="54868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1" name="Picture 3"/>
          <p:cNvPicPr>
            <a:picLocks noChangeAspect="1" noChangeArrowheads="1"/>
          </p:cNvPicPr>
          <p:nvPr/>
        </p:nvPicPr>
        <p:blipFill>
          <a:blip r:embed="rId1" cstate="print"/>
          <a:srcRect l="-71985" r="-105159"/>
          <a:stretch>
            <a:fillRect/>
          </a:stretch>
        </p:blipFill>
        <p:spPr bwMode="auto">
          <a:xfrm>
            <a:off x="1476375" y="908050"/>
            <a:ext cx="5543550" cy="293211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4-1-1-1  </a:t>
            </a:r>
            <a:r>
              <a:rPr lang="zh-CN" altLang="en-US" sz="1600" b="1">
                <a:latin typeface="宋体" panose="02010600030101010101" pitchFamily="2" charset="-122"/>
              </a:rPr>
              <a:t>根据图</a:t>
            </a:r>
            <a:r>
              <a:rPr lang="en-US" altLang="zh-CN" sz="1600" b="1">
                <a:latin typeface="宋体" panose="02010600030101010101" pitchFamily="2" charset="-122"/>
              </a:rPr>
              <a:t>(1)</a:t>
            </a:r>
            <a:r>
              <a:rPr lang="zh-CN" altLang="en-US" sz="1600" b="1">
                <a:latin typeface="宋体" panose="02010600030101010101" pitchFamily="2" charset="-122"/>
              </a:rPr>
              <a:t>所示机件的形状，请在图</a:t>
            </a:r>
            <a:r>
              <a:rPr lang="en-US" altLang="zh-CN" sz="1600" b="1">
                <a:latin typeface="宋体" panose="02010600030101010101" pitchFamily="2" charset="-122"/>
              </a:rPr>
              <a:t>(2)</a:t>
            </a:r>
            <a:r>
              <a:rPr lang="zh-CN" altLang="en-US" sz="1600" b="1">
                <a:latin typeface="宋体" panose="02010600030101010101" pitchFamily="2" charset="-122"/>
              </a:rPr>
              <a:t>中画出反映斜面实形的</a:t>
            </a:r>
            <a:r>
              <a:rPr lang="en-US" altLang="zh-CN" sz="1600" b="1">
                <a:latin typeface="宋体" panose="02010600030101010101" pitchFamily="2" charset="-122"/>
              </a:rPr>
              <a:t>A</a:t>
            </a:r>
            <a:r>
              <a:rPr lang="zh-CN" altLang="en-US" sz="1600" b="1">
                <a:latin typeface="宋体" panose="02010600030101010101" pitchFamily="2" charset="-122"/>
              </a:rPr>
              <a:t>向斜视图（局部）。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8420" y="772366"/>
            <a:ext cx="8881110" cy="4757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 smtClean="0">
                <a:latin typeface="宋体" panose="02010600030101010101" pitchFamily="2" charset="-122"/>
              </a:rPr>
              <a:t>4-1-1-2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根据图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(1)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所示机件的形状，请在图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(2)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中画出反映斜面实形的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A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向及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B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向斜视图（局部）。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5536" y="620688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932040" y="620688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1949" y="768444"/>
            <a:ext cx="8958263" cy="4740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 smtClean="0">
                <a:latin typeface="宋体" panose="02010600030101010101" pitchFamily="2" charset="-122"/>
              </a:rPr>
              <a:t>4-1-1-2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根据图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(1)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所示机件的形状，请在图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(2)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中画出反映斜面实形的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A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向及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B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向斜视图（局部）。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5536" y="620688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932040" y="620688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5" name="Picture 3"/>
          <p:cNvPicPr>
            <a:picLocks noChangeAspect="1" noChangeArrowheads="1"/>
          </p:cNvPicPr>
          <p:nvPr/>
        </p:nvPicPr>
        <p:blipFill>
          <a:blip r:embed="rId1" cstate="print"/>
          <a:srcRect l="-49826" r="-57341"/>
          <a:stretch>
            <a:fillRect/>
          </a:stretch>
        </p:blipFill>
        <p:spPr bwMode="auto">
          <a:xfrm>
            <a:off x="1403350" y="836613"/>
            <a:ext cx="5689600" cy="37719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 smtClean="0">
                <a:latin typeface="宋体" panose="02010600030101010101" pitchFamily="2" charset="-122"/>
              </a:rPr>
              <a:t>4-1-1-2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根据图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(1)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所示机件的形状，请在图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(2)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中画出反映斜面实形的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A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向及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B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向斜视图（局部）。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剖视图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2160" y="537883"/>
            <a:ext cx="688657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4-1-2-1  </a:t>
            </a:r>
            <a:r>
              <a:rPr lang="zh-CN" altLang="en-US" sz="1600" b="1">
                <a:latin typeface="宋体" panose="02010600030101010101" pitchFamily="2" charset="-122"/>
              </a:rPr>
              <a:t>完成主视图（全剖视）和左视图（半剖视）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4-1-2-1  </a:t>
            </a:r>
            <a:r>
              <a:rPr lang="zh-CN" altLang="en-US" sz="1600" b="1">
                <a:latin typeface="宋体" panose="02010600030101010101" pitchFamily="2" charset="-122"/>
              </a:rPr>
              <a:t>完成主视图（全剖视）和左视图（半剖视）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3950" y="541805"/>
            <a:ext cx="6896100" cy="550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9" name="Picture 3"/>
          <p:cNvPicPr>
            <a:picLocks noChangeAspect="1" noChangeArrowheads="1"/>
          </p:cNvPicPr>
          <p:nvPr/>
        </p:nvPicPr>
        <p:blipFill>
          <a:blip r:embed="rId1" cstate="print"/>
          <a:srcRect l="-21481" r="-28696"/>
          <a:stretch>
            <a:fillRect/>
          </a:stretch>
        </p:blipFill>
        <p:spPr bwMode="auto">
          <a:xfrm>
            <a:off x="1403350" y="836613"/>
            <a:ext cx="6048375" cy="404653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4-1-2-1  </a:t>
            </a:r>
            <a:r>
              <a:rPr lang="zh-CN" altLang="en-US" sz="1600" b="1">
                <a:latin typeface="宋体" panose="02010600030101010101" pitchFamily="2" charset="-122"/>
              </a:rPr>
              <a:t>完成主视图（全剖视）和左视图（半剖视）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8991" y="520514"/>
            <a:ext cx="763905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4-1-2-2  </a:t>
            </a:r>
            <a:r>
              <a:rPr lang="zh-CN" altLang="en-US" sz="1600" b="1">
                <a:latin typeface="宋体" panose="02010600030101010101" pitchFamily="2" charset="-122"/>
              </a:rPr>
              <a:t>完成主视图（半剖视）和左视图（半剖视）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3839" y="525277"/>
            <a:ext cx="774382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4-1-2-2  </a:t>
            </a:r>
            <a:r>
              <a:rPr lang="zh-CN" altLang="en-US" sz="1600" b="1">
                <a:latin typeface="宋体" panose="02010600030101010101" pitchFamily="2" charset="-122"/>
              </a:rPr>
              <a:t>完成主视图（半剖视）和左视图（半剖视）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3" name="Picture 3"/>
          <p:cNvPicPr>
            <a:picLocks noChangeAspect="1" noChangeArrowheads="1"/>
          </p:cNvPicPr>
          <p:nvPr/>
        </p:nvPicPr>
        <p:blipFill>
          <a:blip r:embed="rId1" cstate="print"/>
          <a:srcRect l="-29253" r="-38316"/>
          <a:stretch>
            <a:fillRect/>
          </a:stretch>
        </p:blipFill>
        <p:spPr bwMode="auto">
          <a:xfrm>
            <a:off x="1258888" y="1125538"/>
            <a:ext cx="6192837" cy="321786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4-1-2-2  </a:t>
            </a:r>
            <a:r>
              <a:rPr lang="zh-CN" altLang="en-US" sz="1600" b="1">
                <a:latin typeface="宋体" panose="02010600030101010101" pitchFamily="2" charset="-122"/>
              </a:rPr>
              <a:t>完成主视图（半剖视）和左视图（半剖视）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4-1-2-3  作左视图（全剖视）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71867" y="533121"/>
            <a:ext cx="6896100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81392" y="542646"/>
            <a:ext cx="687705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4-1-2-3  作左视图（全剖视）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7" name="Picture 3"/>
          <p:cNvPicPr>
            <a:picLocks noChangeAspect="1" noChangeArrowheads="1"/>
          </p:cNvPicPr>
          <p:nvPr/>
        </p:nvPicPr>
        <p:blipFill>
          <a:blip r:embed="rId1" cstate="print"/>
          <a:srcRect l="-53227" r="-47574"/>
          <a:stretch>
            <a:fillRect/>
          </a:stretch>
        </p:blipFill>
        <p:spPr bwMode="auto">
          <a:xfrm>
            <a:off x="1258888" y="908050"/>
            <a:ext cx="5976937" cy="383381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854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4-1-2-3  作左视图（全剖视）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8272" y="543486"/>
            <a:ext cx="788670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4-1-2-4  作主视图（全剖视）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4-1-2-4  作主视图（全剖视）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72669" y="548249"/>
            <a:ext cx="7924800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1" name="Picture 3"/>
          <p:cNvPicPr>
            <a:picLocks noChangeAspect="1" noChangeArrowheads="1"/>
          </p:cNvPicPr>
          <p:nvPr/>
        </p:nvPicPr>
        <p:blipFill>
          <a:blip r:embed="rId1" cstate="print"/>
          <a:srcRect l="-13396" r="-8409"/>
          <a:stretch>
            <a:fillRect/>
          </a:stretch>
        </p:blipFill>
        <p:spPr bwMode="auto">
          <a:xfrm>
            <a:off x="1258888" y="1196975"/>
            <a:ext cx="6553200" cy="3124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4-1-2-4  作主视图（全剖视）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4-1-2-5  </a:t>
            </a:r>
            <a:r>
              <a:rPr lang="zh-CN" altLang="en-US" sz="1600" b="1">
                <a:latin typeface="宋体" panose="02010600030101010101" pitchFamily="2" charset="-122"/>
              </a:rPr>
              <a:t>完成主视图（半剖视）并作左视图（全剖视）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32623" y="541244"/>
            <a:ext cx="7562850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35143" y="533961"/>
            <a:ext cx="747712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4-1-2-5  </a:t>
            </a:r>
            <a:r>
              <a:rPr lang="zh-CN" altLang="en-US" sz="1600" b="1">
                <a:latin typeface="宋体" panose="02010600030101010101" pitchFamily="2" charset="-122"/>
              </a:rPr>
              <a:t>完成主视图（半剖视）并作左视图（全剖视）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51045" y="1334135"/>
            <a:ext cx="59118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3200" b="1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  <a:endParaRPr lang="zh-CN" altLang="en-US" sz="32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283710" y="1334770"/>
            <a:ext cx="1018540" cy="985520"/>
          </a:xfrm>
          <a:prstGeom prst="line">
            <a:avLst/>
          </a:prstGeom>
          <a:ln w="50800" cmpd="sng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5" name="Picture 3"/>
          <p:cNvPicPr>
            <a:picLocks noChangeAspect="1" noChangeArrowheads="1"/>
          </p:cNvPicPr>
          <p:nvPr/>
        </p:nvPicPr>
        <p:blipFill>
          <a:blip r:embed="rId1" cstate="print"/>
          <a:srcRect l="-6601" r="49880"/>
          <a:stretch>
            <a:fillRect/>
          </a:stretch>
        </p:blipFill>
        <p:spPr bwMode="auto">
          <a:xfrm>
            <a:off x="1763688" y="836712"/>
            <a:ext cx="4608512" cy="416047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059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4-1-2-5  </a:t>
            </a:r>
            <a:r>
              <a:rPr lang="zh-CN" altLang="en-US" sz="1600" b="1">
                <a:latin typeface="宋体" panose="02010600030101010101" pitchFamily="2" charset="-122"/>
              </a:rPr>
              <a:t>完成主视图（半剖视）并作左视图（全剖视）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90077" y="538724"/>
            <a:ext cx="688657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4-1-2-6  作主视图（全剖视）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4-1-2-6  作主视图（全剖视）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94839" y="542646"/>
            <a:ext cx="687705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4-1-2-6  作主视图（全剖视）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11620" name="Picture 4"/>
          <p:cNvPicPr>
            <a:picLocks noChangeAspect="1" noChangeArrowheads="1"/>
          </p:cNvPicPr>
          <p:nvPr/>
        </p:nvPicPr>
        <p:blipFill>
          <a:blip r:embed="rId1" cstate="print"/>
          <a:srcRect l="-52852" r="-55762"/>
          <a:stretch>
            <a:fillRect/>
          </a:stretch>
        </p:blipFill>
        <p:spPr bwMode="auto">
          <a:xfrm>
            <a:off x="1331913" y="981075"/>
            <a:ext cx="5689600" cy="287972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4-1-2-7  作左视图（全剖视）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63183" y="520514"/>
            <a:ext cx="688657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4-1-2-7  作左视图（全剖视）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63183" y="539564"/>
            <a:ext cx="6886575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6010275" y="2776855"/>
            <a:ext cx="1772285" cy="608330"/>
          </a:xfrm>
          <a:prstGeom prst="rect">
            <a:avLst/>
          </a:prstGeom>
          <a:noFill/>
          <a:ln w="508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664960" y="4006850"/>
            <a:ext cx="1282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不对称的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3" name="Picture 3"/>
          <p:cNvPicPr>
            <a:picLocks noChangeAspect="1" noChangeArrowheads="1"/>
          </p:cNvPicPr>
          <p:nvPr/>
        </p:nvPicPr>
        <p:blipFill>
          <a:blip r:embed="rId1" cstate="print"/>
          <a:srcRect l="-18118" r="-15286"/>
          <a:stretch>
            <a:fillRect/>
          </a:stretch>
        </p:blipFill>
        <p:spPr bwMode="auto">
          <a:xfrm>
            <a:off x="1331913" y="765175"/>
            <a:ext cx="5832475" cy="430688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264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4-1-2-7  作左视图（全剖视）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74043" y="620688"/>
            <a:ext cx="6410325" cy="516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*4-1-2-8  作主视图（半剖视）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7105" y="533961"/>
            <a:ext cx="690562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*4-1-2-8  作主视图（半剖视）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86155" y="538724"/>
            <a:ext cx="686752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7" name="Picture 3"/>
          <p:cNvPicPr>
            <a:picLocks noChangeAspect="1" noChangeArrowheads="1"/>
          </p:cNvPicPr>
          <p:nvPr/>
        </p:nvPicPr>
        <p:blipFill>
          <a:blip r:embed="rId1" cstate="print"/>
          <a:srcRect l="-6133" r="-2917"/>
          <a:stretch>
            <a:fillRect/>
          </a:stretch>
        </p:blipFill>
        <p:spPr bwMode="auto">
          <a:xfrm>
            <a:off x="1331913" y="908050"/>
            <a:ext cx="6408737" cy="402272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366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*4-1-2-8  作主视图（半剖视）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94839" y="542646"/>
            <a:ext cx="687705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*4-1-2-9  作左视图（全剖视）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*4-1-2-9  作左视图（全剖视）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04364" y="533961"/>
            <a:ext cx="685800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3" name="Picture 5"/>
          <p:cNvPicPr>
            <a:picLocks noChangeAspect="1" noChangeArrowheads="1"/>
          </p:cNvPicPr>
          <p:nvPr/>
        </p:nvPicPr>
        <p:blipFill>
          <a:blip r:embed="rId1" cstate="print"/>
          <a:srcRect l="-5144" r="-7687"/>
          <a:stretch>
            <a:fillRect/>
          </a:stretch>
        </p:blipFill>
        <p:spPr bwMode="auto">
          <a:xfrm>
            <a:off x="1476375" y="908050"/>
            <a:ext cx="6337300" cy="433228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469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*4-1-2-9  作左视图（全剖视）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*4-1-2-10  作左视图并在其上取适当的剖视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00137" y="547408"/>
            <a:ext cx="740092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08821" y="556933"/>
            <a:ext cx="741045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*4-1-2-10  作左视图并在其上取适当的剖视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47664" y="836712"/>
            <a:ext cx="6324600" cy="409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*4-1-2-10  作左视图并在其上取适当的剖视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4-1-2-11  改正剖视图中的错误，少线处补线，多线处在其上打×。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94839" y="538724"/>
            <a:ext cx="6877050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4-1-2-11  改正剖视图中的错误，少线处补线，多线处在其上打×。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99602" y="543486"/>
            <a:ext cx="6867525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9" name="Picture 3"/>
          <p:cNvPicPr>
            <a:picLocks noChangeAspect="1" noChangeArrowheads="1"/>
          </p:cNvPicPr>
          <p:nvPr/>
        </p:nvPicPr>
        <p:blipFill>
          <a:blip r:embed="rId1" cstate="print"/>
          <a:srcRect l="-16179" r="-15036"/>
          <a:stretch>
            <a:fillRect/>
          </a:stretch>
        </p:blipFill>
        <p:spPr bwMode="auto">
          <a:xfrm>
            <a:off x="1331913" y="981075"/>
            <a:ext cx="5832475" cy="28575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674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4-1-2-11  改正剖视图中的错误，少线处补线，多线处在其上打×。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70746" y="530039"/>
            <a:ext cx="708660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4-1-2-12  改正剖视图中的错误，少线处补线，多线处在其上打×。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4-1-2-12  改正剖视图中的错误，少线处补线，多线处在其上打×。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54498" y="520514"/>
            <a:ext cx="687705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3" name="Picture 3"/>
          <p:cNvPicPr>
            <a:picLocks noChangeAspect="1" noChangeArrowheads="1"/>
          </p:cNvPicPr>
          <p:nvPr/>
        </p:nvPicPr>
        <p:blipFill>
          <a:blip r:embed="rId1" cstate="print"/>
          <a:srcRect l="-42004" r="-49254"/>
          <a:stretch>
            <a:fillRect/>
          </a:stretch>
        </p:blipFill>
        <p:spPr bwMode="auto">
          <a:xfrm>
            <a:off x="1403350" y="908050"/>
            <a:ext cx="5905500" cy="307816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776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4-1-2-12  改正剖视图中的错误，少线处补线，多线处在其上打×。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52549" y="543486"/>
            <a:ext cx="689610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4-1-2-13  改正剖视图中的错误，少线处补线，多线处在其上打×。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4-1-2-13  改正剖视图中的错误，少线处补线，多线处在其上打×。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57312" y="520514"/>
            <a:ext cx="688657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4-1-2-13  改正剖视图中的错误，少线处补线，多线处在其上打×。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18789" name="Picture 5"/>
          <p:cNvPicPr>
            <a:picLocks noChangeAspect="1" noChangeArrowheads="1"/>
          </p:cNvPicPr>
          <p:nvPr/>
        </p:nvPicPr>
        <p:blipFill>
          <a:blip r:embed="rId1" cstate="print"/>
          <a:srcRect l="-8347"/>
          <a:stretch>
            <a:fillRect/>
          </a:stretch>
        </p:blipFill>
        <p:spPr bwMode="auto">
          <a:xfrm>
            <a:off x="1258888" y="908050"/>
            <a:ext cx="6553200" cy="357346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4-1-2-14  改正剖视图中的错误，少线处补线，多线处在其上打×。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74606" y="525277"/>
            <a:ext cx="810577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83290" y="544327"/>
            <a:ext cx="8115300" cy="541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4-1-2-14  改正剖视图中的错误，少线处补线，多线处在其上打×。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4-1-2-14  改正剖视图中的错误，少线处补线，多线处在其上打×。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19814" name="Picture 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47813" y="1052513"/>
            <a:ext cx="5930900" cy="28654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86155" y="548249"/>
            <a:ext cx="6867525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4-1-2-15  改正剖视图中所画波浪线的错误。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76630" y="556933"/>
            <a:ext cx="6886575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4-1-2-15  改正剖视图中所画波浪线的错误。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5" name="Picture 3"/>
          <p:cNvPicPr>
            <a:picLocks noChangeAspect="1" noChangeArrowheads="1"/>
          </p:cNvPicPr>
          <p:nvPr/>
        </p:nvPicPr>
        <p:blipFill>
          <a:blip r:embed="rId1" cstate="print"/>
          <a:srcRect l="-31830" r="-22807"/>
          <a:stretch>
            <a:fillRect/>
          </a:stretch>
        </p:blipFill>
        <p:spPr bwMode="auto">
          <a:xfrm>
            <a:off x="1835150" y="908050"/>
            <a:ext cx="4897438" cy="327025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083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4-1-2-15  改正剖视图中所画波浪线的错误。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94839" y="543486"/>
            <a:ext cx="687705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4-1-2-16  在主、俯视图上取适当的局部剖视。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4-1-2-16  在主、俯视图上取适当的局部剖视。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85314" y="533961"/>
            <a:ext cx="689610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9" name="Picture 3"/>
          <p:cNvPicPr>
            <a:picLocks noChangeAspect="1" noChangeArrowheads="1"/>
          </p:cNvPicPr>
          <p:nvPr/>
        </p:nvPicPr>
        <p:blipFill>
          <a:blip r:embed="rId1" cstate="print"/>
          <a:srcRect l="-36856" r="-37669"/>
          <a:stretch>
            <a:fillRect/>
          </a:stretch>
        </p:blipFill>
        <p:spPr bwMode="auto">
          <a:xfrm>
            <a:off x="1908175" y="1052513"/>
            <a:ext cx="5111750" cy="31369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186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4-1-2-16  在主、俯视图上取适当的局部剖视。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73827" y="537883"/>
            <a:ext cx="759142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4-1-2-17  在主、左视图上取适当的局部剖视。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4-1-2-17  在主、左视图上取适当的局部剖视。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73827" y="547408"/>
            <a:ext cx="759142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3" name="Picture 3"/>
          <p:cNvPicPr>
            <a:picLocks noChangeAspect="1" noChangeArrowheads="1"/>
          </p:cNvPicPr>
          <p:nvPr/>
        </p:nvPicPr>
        <p:blipFill>
          <a:blip r:embed="rId1" cstate="print"/>
          <a:srcRect l="-42149" r="-19525"/>
          <a:stretch>
            <a:fillRect/>
          </a:stretch>
        </p:blipFill>
        <p:spPr bwMode="auto">
          <a:xfrm>
            <a:off x="1908175" y="765175"/>
            <a:ext cx="4968875" cy="405765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288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4-1-2-17  在主、左视图上取适当的局部剖视。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64888" y="538724"/>
            <a:ext cx="688657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4-1-2-18  作主视图并在其上取适当的局部剖视。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4-1-2-18  作主视图并在其上取适当的局部剖视。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56203" y="543486"/>
            <a:ext cx="687705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7" name="Picture 3"/>
          <p:cNvPicPr>
            <a:picLocks noChangeAspect="1" noChangeArrowheads="1"/>
          </p:cNvPicPr>
          <p:nvPr/>
        </p:nvPicPr>
        <p:blipFill>
          <a:blip r:embed="rId1" cstate="print"/>
          <a:srcRect l="-11809" r="-7710"/>
          <a:stretch>
            <a:fillRect/>
          </a:stretch>
        </p:blipFill>
        <p:spPr bwMode="auto">
          <a:xfrm>
            <a:off x="1403350" y="981075"/>
            <a:ext cx="5832475" cy="307498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390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4-1-2-18  作主视图并在其上取适当的局部剖视。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22842" y="542646"/>
            <a:ext cx="6886575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4-1-2-19  </a:t>
            </a:r>
            <a:r>
              <a:rPr lang="zh-CN" altLang="en-US" sz="1600" b="1">
                <a:latin typeface="宋体" panose="02010600030101010101" pitchFamily="2" charset="-122"/>
              </a:rPr>
              <a:t>作主视图，在其上取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旋转剖（画在中间的图上）。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4-1-2-19  </a:t>
            </a:r>
            <a:r>
              <a:rPr lang="zh-CN" altLang="en-US" sz="1600" b="1">
                <a:latin typeface="宋体" panose="02010600030101010101" pitchFamily="2" charset="-122"/>
              </a:rPr>
              <a:t>作主视图，在其上取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旋转剖（画在中间的图上）。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41051" y="547408"/>
            <a:ext cx="687705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1" name="Picture 3"/>
          <p:cNvPicPr>
            <a:picLocks noChangeAspect="1" noChangeArrowheads="1"/>
          </p:cNvPicPr>
          <p:nvPr/>
        </p:nvPicPr>
        <p:blipFill>
          <a:blip r:embed="rId1" cstate="print"/>
          <a:srcRect l="-29463" r="-17938"/>
          <a:stretch>
            <a:fillRect/>
          </a:stretch>
        </p:blipFill>
        <p:spPr bwMode="auto">
          <a:xfrm>
            <a:off x="1547813" y="1412875"/>
            <a:ext cx="5400675" cy="222091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493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4-1-2-19  </a:t>
            </a:r>
            <a:r>
              <a:rPr lang="zh-CN" altLang="en-US" sz="1600" b="1">
                <a:latin typeface="宋体" panose="02010600030101010101" pitchFamily="2" charset="-122"/>
              </a:rPr>
              <a:t>作主视图，在其上取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旋转剖（画在中间的图上）。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86155" y="547408"/>
            <a:ext cx="686752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613" name="Text Box 5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>
                <a:latin typeface="宋体" panose="02010600030101010101" pitchFamily="2" charset="-122"/>
              </a:rPr>
              <a:t>4-1-2-20  </a:t>
            </a:r>
            <a:r>
              <a:rPr lang="zh-CN" altLang="en-US" sz="1600" b="1" dirty="0">
                <a:latin typeface="宋体" panose="02010600030101010101" pitchFamily="2" charset="-122"/>
              </a:rPr>
              <a:t>作左视图，在其上取</a:t>
            </a:r>
            <a:r>
              <a:rPr lang="en-US" altLang="zh-CN" sz="1600" b="1" dirty="0">
                <a:latin typeface="宋体" panose="02010600030101010101" pitchFamily="2" charset="-122"/>
              </a:rPr>
              <a:t>A-A</a:t>
            </a:r>
            <a:r>
              <a:rPr lang="zh-CN" altLang="en-US" sz="1600" b="1" dirty="0">
                <a:latin typeface="宋体" panose="02010600030101010101" pitchFamily="2" charset="-122"/>
              </a:rPr>
              <a:t>旋转剖。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13" name="Text Box 5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>
                <a:latin typeface="宋体" panose="02010600030101010101" pitchFamily="2" charset="-122"/>
              </a:rPr>
              <a:t>4-1-2-20  </a:t>
            </a:r>
            <a:r>
              <a:rPr lang="zh-CN" altLang="en-US" sz="1600" b="1" dirty="0">
                <a:latin typeface="宋体" panose="02010600030101010101" pitchFamily="2" charset="-122"/>
              </a:rPr>
              <a:t>作左视图，在其上取</a:t>
            </a:r>
            <a:r>
              <a:rPr lang="en-US" altLang="zh-CN" sz="1600" b="1" dirty="0">
                <a:latin typeface="宋体" panose="02010600030101010101" pitchFamily="2" charset="-122"/>
              </a:rPr>
              <a:t>A-A</a:t>
            </a:r>
            <a:r>
              <a:rPr lang="zh-CN" altLang="en-US" sz="1600" b="1" dirty="0">
                <a:latin typeface="宋体" panose="02010600030101010101" pitchFamily="2" charset="-122"/>
              </a:rPr>
              <a:t>旋转剖。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94839" y="561696"/>
            <a:ext cx="6877050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>
                <a:latin typeface="宋体" panose="02010600030101010101" pitchFamily="2" charset="-122"/>
              </a:rPr>
              <a:t>4-1-2-20  </a:t>
            </a:r>
            <a:r>
              <a:rPr lang="zh-CN" altLang="en-US" sz="1600" b="1" dirty="0">
                <a:latin typeface="宋体" panose="02010600030101010101" pitchFamily="2" charset="-122"/>
              </a:rPr>
              <a:t>作左视图，在其上取</a:t>
            </a:r>
            <a:r>
              <a:rPr lang="en-US" altLang="zh-CN" sz="1600" b="1" dirty="0">
                <a:latin typeface="宋体" panose="02010600030101010101" pitchFamily="2" charset="-122"/>
              </a:rPr>
              <a:t>A-A</a:t>
            </a:r>
            <a:r>
              <a:rPr lang="zh-CN" altLang="en-US" sz="1600" b="1" dirty="0">
                <a:latin typeface="宋体" panose="02010600030101010101" pitchFamily="2" charset="-122"/>
              </a:rPr>
              <a:t>旋转剖。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95736" y="764704"/>
            <a:ext cx="5100638" cy="4123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81392" y="547408"/>
            <a:ext cx="687705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4-1-2-21  </a:t>
            </a:r>
            <a:r>
              <a:rPr lang="zh-CN" altLang="en-US" sz="1600" b="1">
                <a:latin typeface="宋体" panose="02010600030101010101" pitchFamily="2" charset="-122"/>
              </a:rPr>
              <a:t>作主视图，在其上取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阶梯剖。 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4-1-2-21  </a:t>
            </a:r>
            <a:r>
              <a:rPr lang="zh-CN" altLang="en-US" sz="1600" b="1">
                <a:latin typeface="宋体" panose="02010600030101010101" pitchFamily="2" charset="-122"/>
              </a:rPr>
              <a:t>作主视图，在其上取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阶梯剖。 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71867" y="538724"/>
            <a:ext cx="6896100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9" name="Picture 3"/>
          <p:cNvPicPr>
            <a:picLocks noChangeAspect="1" noChangeArrowheads="1"/>
          </p:cNvPicPr>
          <p:nvPr/>
        </p:nvPicPr>
        <p:blipFill>
          <a:blip r:embed="rId1" cstate="print"/>
          <a:srcRect l="-28609"/>
          <a:stretch>
            <a:fillRect/>
          </a:stretch>
        </p:blipFill>
        <p:spPr bwMode="auto">
          <a:xfrm>
            <a:off x="1331913" y="908050"/>
            <a:ext cx="5502275" cy="338613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698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4-1-2-21  </a:t>
            </a:r>
            <a:r>
              <a:rPr lang="zh-CN" altLang="en-US" sz="1600" b="1">
                <a:latin typeface="宋体" panose="02010600030101010101" pitchFamily="2" charset="-122"/>
              </a:rPr>
              <a:t>作主视图，在其上取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阶梯剖。 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764704"/>
            <a:ext cx="5875020" cy="40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4-1-2-22  </a:t>
            </a:r>
            <a:r>
              <a:rPr lang="zh-CN" altLang="en-US" sz="1600" b="1">
                <a:latin typeface="宋体" panose="02010600030101010101" pitchFamily="2" charset="-122"/>
              </a:rPr>
              <a:t>作俯视图取适当的阶梯剖，将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未剖到的孔表示出来。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65946" y="529199"/>
            <a:ext cx="769620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65946" y="538724"/>
            <a:ext cx="7696200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4-1-2-22  </a:t>
            </a:r>
            <a:r>
              <a:rPr lang="zh-CN" altLang="en-US" sz="1600" b="1">
                <a:latin typeface="宋体" panose="02010600030101010101" pitchFamily="2" charset="-122"/>
              </a:rPr>
              <a:t>作俯视图取适当的阶梯剖，将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未剖到的孔表示出来。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95736" y="692696"/>
            <a:ext cx="410718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800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4-1-2-22  </a:t>
            </a:r>
            <a:r>
              <a:rPr lang="zh-CN" altLang="en-US" sz="1600" b="1">
                <a:latin typeface="宋体" panose="02010600030101010101" pitchFamily="2" charset="-122"/>
              </a:rPr>
              <a:t>作俯视图取适当的阶梯剖，将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未剖到的孔表示出来。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*4-1-2-23  </a:t>
            </a:r>
            <a:r>
              <a:rPr lang="zh-CN" altLang="en-US" sz="1600" b="1">
                <a:latin typeface="宋体" panose="02010600030101010101" pitchFamily="2" charset="-122"/>
              </a:rPr>
              <a:t>作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斜剖的全剖视图，并作</a:t>
            </a:r>
            <a:r>
              <a:rPr lang="en-US" altLang="zh-CN" sz="1600" b="1">
                <a:latin typeface="宋体" panose="02010600030101010101" pitchFamily="2" charset="-122"/>
              </a:rPr>
              <a:t>B-B</a:t>
            </a:r>
            <a:r>
              <a:rPr lang="zh-CN" altLang="en-US" sz="1600" b="1">
                <a:latin typeface="宋体" panose="02010600030101010101" pitchFamily="2" charset="-122"/>
              </a:rPr>
              <a:t>全剖视图。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76630" y="538724"/>
            <a:ext cx="688657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*4-1-2-23  </a:t>
            </a:r>
            <a:r>
              <a:rPr lang="zh-CN" altLang="en-US" sz="1600" b="1">
                <a:latin typeface="宋体" panose="02010600030101010101" pitchFamily="2" charset="-122"/>
              </a:rPr>
              <a:t>作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斜剖的全剖视图，并作</a:t>
            </a:r>
            <a:r>
              <a:rPr lang="en-US" altLang="zh-CN" sz="1600" b="1">
                <a:latin typeface="宋体" panose="02010600030101010101" pitchFamily="2" charset="-122"/>
              </a:rPr>
              <a:t>B-B</a:t>
            </a:r>
            <a:r>
              <a:rPr lang="zh-CN" altLang="en-US" sz="1600" b="1">
                <a:latin typeface="宋体" panose="02010600030101010101" pitchFamily="2" charset="-122"/>
              </a:rPr>
              <a:t>全剖视图。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72708" y="533961"/>
            <a:ext cx="686752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*4-1-2-23  </a:t>
            </a:r>
            <a:r>
              <a:rPr lang="zh-CN" altLang="en-US" sz="1600" b="1">
                <a:latin typeface="宋体" panose="02010600030101010101" pitchFamily="2" charset="-122"/>
              </a:rPr>
              <a:t>作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斜剖的全剖视图，并作</a:t>
            </a:r>
            <a:r>
              <a:rPr lang="en-US" altLang="zh-CN" sz="1600" b="1">
                <a:latin typeface="宋体" panose="02010600030101010101" pitchFamily="2" charset="-122"/>
              </a:rPr>
              <a:t>B-B</a:t>
            </a:r>
            <a:r>
              <a:rPr lang="zh-CN" altLang="en-US" sz="1600" b="1">
                <a:latin typeface="宋体" panose="02010600030101010101" pitchFamily="2" charset="-122"/>
              </a:rPr>
              <a:t>全剖视图。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29029" name="Picture 5"/>
          <p:cNvPicPr>
            <a:picLocks noChangeAspect="1" noChangeArrowheads="1"/>
          </p:cNvPicPr>
          <p:nvPr/>
        </p:nvPicPr>
        <p:blipFill>
          <a:blip r:embed="rId1" cstate="print"/>
          <a:srcRect l="-5202"/>
          <a:stretch>
            <a:fillRect/>
          </a:stretch>
        </p:blipFill>
        <p:spPr bwMode="auto">
          <a:xfrm>
            <a:off x="1187450" y="765175"/>
            <a:ext cx="7272338" cy="370046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*4-1-2-24  </a:t>
            </a:r>
            <a:r>
              <a:rPr lang="zh-CN" altLang="en-US" sz="1600" b="1">
                <a:latin typeface="宋体" panose="02010600030101010101" pitchFamily="2" charset="-122"/>
              </a:rPr>
              <a:t>作左视图，在其上取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复合剖。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86155" y="537883"/>
            <a:ext cx="686752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95680" y="533961"/>
            <a:ext cx="684847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*4-1-2-24  </a:t>
            </a:r>
            <a:r>
              <a:rPr lang="zh-CN" altLang="en-US" sz="1600" b="1">
                <a:latin typeface="宋体" panose="02010600030101010101" pitchFamily="2" charset="-122"/>
              </a:rPr>
              <a:t>作左视图，在其上取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复合剖。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*4-1-2-24  </a:t>
            </a:r>
            <a:r>
              <a:rPr lang="zh-CN" altLang="en-US" sz="1600" b="1">
                <a:latin typeface="宋体" panose="02010600030101010101" pitchFamily="2" charset="-122"/>
              </a:rPr>
              <a:t>作左视图，在其上取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复合剖。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30053" name="Picture 5"/>
          <p:cNvPicPr>
            <a:picLocks noChangeAspect="1" noChangeArrowheads="1"/>
          </p:cNvPicPr>
          <p:nvPr/>
        </p:nvPicPr>
        <p:blipFill>
          <a:blip r:embed="rId1" cstate="print"/>
          <a:srcRect l="-6673"/>
          <a:stretch>
            <a:fillRect/>
          </a:stretch>
        </p:blipFill>
        <p:spPr bwMode="auto">
          <a:xfrm>
            <a:off x="1258888" y="620713"/>
            <a:ext cx="5761037" cy="467995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断面图与规定画法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4-1-3-1  作移出断面图，将通孔和键槽表示清楚。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78296" y="548249"/>
            <a:ext cx="7560945" cy="489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89221" y="543486"/>
            <a:ext cx="7638098" cy="490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0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4-1-3-1  作移出断面图，将通孔和键槽表示清楚。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4-1-3-1  作移出断面图，将通孔和键槽表示清楚。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31076" name="Picture 4"/>
          <p:cNvPicPr>
            <a:picLocks noChangeAspect="1" noChangeArrowheads="1"/>
          </p:cNvPicPr>
          <p:nvPr/>
        </p:nvPicPr>
        <p:blipFill>
          <a:blip r:embed="rId1" cstate="print"/>
          <a:srcRect l="-13812"/>
          <a:stretch>
            <a:fillRect/>
          </a:stretch>
        </p:blipFill>
        <p:spPr bwMode="auto">
          <a:xfrm>
            <a:off x="1403350" y="908050"/>
            <a:ext cx="5938838" cy="384492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19490" y="539565"/>
            <a:ext cx="7355205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4-1-3-2  </a:t>
            </a:r>
            <a:r>
              <a:rPr lang="zh-CN" altLang="en-US" sz="1600" b="1">
                <a:latin typeface="宋体" panose="02010600030101010101" pitchFamily="2" charset="-122"/>
              </a:rPr>
              <a:t>在主视图上取半剖视，并作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移出断面图。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4-1-3-2  </a:t>
            </a:r>
            <a:r>
              <a:rPr lang="zh-CN" altLang="en-US" sz="1600" b="1">
                <a:latin typeface="宋体" panose="02010600030101010101" pitchFamily="2" charset="-122"/>
              </a:rPr>
              <a:t>在主视图上取半剖视，并作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移出断面图。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22011" y="544327"/>
            <a:ext cx="7278053" cy="4877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99" name="Picture 3"/>
          <p:cNvPicPr>
            <a:picLocks noChangeAspect="1" noChangeArrowheads="1"/>
          </p:cNvPicPr>
          <p:nvPr/>
        </p:nvPicPr>
        <p:blipFill>
          <a:blip r:embed="rId1" cstate="print"/>
          <a:srcRect l="-19168"/>
          <a:stretch>
            <a:fillRect/>
          </a:stretch>
        </p:blipFill>
        <p:spPr bwMode="auto">
          <a:xfrm>
            <a:off x="1331913" y="549275"/>
            <a:ext cx="5368925" cy="500697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210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4-1-3-2  </a:t>
            </a:r>
            <a:r>
              <a:rPr lang="zh-CN" altLang="en-US" sz="1600" b="1">
                <a:latin typeface="宋体" panose="02010600030101010101" pitchFamily="2" charset="-122"/>
              </a:rPr>
              <a:t>在主视图上取半剖视，并作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移出断面图。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46410" y="542646"/>
            <a:ext cx="685800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4-1-3-3  作A-A移出断面。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4-1-3-3  作A-A移出断面。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41648" y="524436"/>
            <a:ext cx="686752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4-1-3-3  作A-A移出断面。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74756" name="Picture 4"/>
          <p:cNvPicPr>
            <a:picLocks noChangeAspect="1" noChangeArrowheads="1"/>
          </p:cNvPicPr>
          <p:nvPr/>
        </p:nvPicPr>
        <p:blipFill>
          <a:blip r:embed="rId1" cstate="print"/>
          <a:srcRect l="-15938"/>
          <a:stretch>
            <a:fillRect/>
          </a:stretch>
        </p:blipFill>
        <p:spPr bwMode="auto">
          <a:xfrm>
            <a:off x="1547813" y="549275"/>
            <a:ext cx="5762625" cy="467042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1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*4-1-3-4  </a:t>
            </a:r>
            <a:r>
              <a:rPr lang="zh-CN" altLang="en-US" sz="1600" b="1">
                <a:latin typeface="宋体" panose="02010600030101010101" pitchFamily="2" charset="-122"/>
              </a:rPr>
              <a:t>将主视图改为全剖视图，将俯视图改为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半剖视图（画在右边细线图上）。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98761" y="529199"/>
            <a:ext cx="689610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1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*4-1-3-4  </a:t>
            </a:r>
            <a:r>
              <a:rPr lang="zh-CN" altLang="en-US" sz="1600" b="1">
                <a:latin typeface="宋体" panose="02010600030101010101" pitchFamily="2" charset="-122"/>
              </a:rPr>
              <a:t>将主视图改为全剖视图，将俯视图改为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半剖视图（画在右边细线图上）。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16971" y="529199"/>
            <a:ext cx="6886575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47" name="Picture 3"/>
          <p:cNvPicPr>
            <a:picLocks noChangeAspect="1" noChangeArrowheads="1"/>
          </p:cNvPicPr>
          <p:nvPr/>
        </p:nvPicPr>
        <p:blipFill>
          <a:blip r:embed="rId1" cstate="print"/>
          <a:srcRect l="-8743"/>
          <a:stretch>
            <a:fillRect/>
          </a:stretch>
        </p:blipFill>
        <p:spPr bwMode="auto">
          <a:xfrm>
            <a:off x="1331913" y="1125538"/>
            <a:ext cx="6700837" cy="271145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4149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*4-1-3-4  </a:t>
            </a:r>
            <a:r>
              <a:rPr lang="zh-CN" altLang="en-US" sz="1600" b="1">
                <a:latin typeface="宋体" panose="02010600030101010101" pitchFamily="2" charset="-122"/>
              </a:rPr>
              <a:t>将主视图改为全剖视图，将俯视图改为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半剖视图（画在右边细线图上）。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轴测剖视图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*4-1-4-1  徒手画组合体的轴测剖视图（数格画）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54219" y="534801"/>
            <a:ext cx="7158038" cy="489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49453" y="543486"/>
            <a:ext cx="7166610" cy="490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782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*4-1-4-1  徒手画组合体的轴测剖视图（数格画）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*4-1-4-1  徒手画组合体的轴测剖视图（数格画）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35172" name="Picture 4"/>
          <p:cNvPicPr>
            <a:picLocks noChangeAspect="1" noChangeArrowheads="1"/>
          </p:cNvPicPr>
          <p:nvPr/>
        </p:nvPicPr>
        <p:blipFill>
          <a:blip r:embed="rId1" cstate="print"/>
          <a:srcRect l="-12648"/>
          <a:stretch>
            <a:fillRect/>
          </a:stretch>
        </p:blipFill>
        <p:spPr bwMode="auto">
          <a:xfrm>
            <a:off x="1403350" y="692150"/>
            <a:ext cx="5132388" cy="4243388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25923" y="543487"/>
            <a:ext cx="7456170" cy="5175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*4-1-4-2  徒手画组合体的轴测剖视图（数格画）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21162" y="544326"/>
            <a:ext cx="7465219" cy="5148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*4-1-4-2  徒手画组合体的轴测剖视图（数格画）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*4-1-4-2  徒手画组合体的轴测剖视图（数格画）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36196" name="Picture 4"/>
          <p:cNvPicPr>
            <a:picLocks noChangeAspect="1" noChangeArrowheads="1"/>
          </p:cNvPicPr>
          <p:nvPr/>
        </p:nvPicPr>
        <p:blipFill>
          <a:blip r:embed="rId1" cstate="print"/>
          <a:srcRect l="-25099" r="-18300"/>
          <a:stretch>
            <a:fillRect/>
          </a:stretch>
        </p:blipFill>
        <p:spPr bwMode="auto">
          <a:xfrm>
            <a:off x="1476375" y="908050"/>
            <a:ext cx="5759450" cy="352901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第三角画法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81392" y="547408"/>
            <a:ext cx="687705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*4-1-4-3 作顶视图（第三角画法）。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*4-1-4-3 作顶视图（第三角画法）。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81392" y="542646"/>
            <a:ext cx="687705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*4-1-4-3 作顶视图（第三角画法）。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37220" name="Picture 4"/>
          <p:cNvPicPr>
            <a:picLocks noChangeAspect="1" noChangeArrowheads="1"/>
          </p:cNvPicPr>
          <p:nvPr/>
        </p:nvPicPr>
        <p:blipFill>
          <a:blip r:embed="rId1" cstate="print"/>
          <a:srcRect l="-36540" r="-23061"/>
          <a:stretch>
            <a:fillRect/>
          </a:stretch>
        </p:blipFill>
        <p:spPr bwMode="auto">
          <a:xfrm>
            <a:off x="1331913" y="836613"/>
            <a:ext cx="5976937" cy="320357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*4-1-4-4  </a:t>
            </a:r>
            <a:r>
              <a:rPr lang="zh-CN" altLang="en-US" sz="1600" b="1">
                <a:latin typeface="宋体" panose="02010600030101010101" pitchFamily="2" charset="-122"/>
              </a:rPr>
              <a:t>作前视图，在其上作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剖视并作标注（第三角画法）。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90077" y="524436"/>
            <a:ext cx="688657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*4-1-4-4  </a:t>
            </a:r>
            <a:r>
              <a:rPr lang="zh-CN" altLang="en-US" sz="1600" b="1">
                <a:latin typeface="宋体" panose="02010600030101010101" pitchFamily="2" charset="-122"/>
              </a:rPr>
              <a:t>作前视图，在其上作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剖视并作标注（第三角画法）。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94839" y="530039"/>
            <a:ext cx="687705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*4-1-4-4  </a:t>
            </a:r>
            <a:r>
              <a:rPr lang="zh-CN" altLang="en-US" sz="1600" b="1">
                <a:latin typeface="宋体" panose="02010600030101010101" pitchFamily="2" charset="-122"/>
              </a:rPr>
              <a:t>作前视图，在其上作</a:t>
            </a:r>
            <a:r>
              <a:rPr lang="en-US" altLang="zh-CN" sz="1600" b="1">
                <a:latin typeface="宋体" panose="02010600030101010101" pitchFamily="2" charset="-122"/>
              </a:rPr>
              <a:t>A-A</a:t>
            </a:r>
            <a:r>
              <a:rPr lang="zh-CN" altLang="en-US" sz="1600" b="1">
                <a:latin typeface="宋体" panose="02010600030101010101" pitchFamily="2" charset="-122"/>
              </a:rPr>
              <a:t>剖视并作标注（第三角画法）。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38244" name="Picture 4"/>
          <p:cNvPicPr>
            <a:picLocks noChangeAspect="1" noChangeArrowheads="1"/>
          </p:cNvPicPr>
          <p:nvPr/>
        </p:nvPicPr>
        <p:blipFill>
          <a:blip r:embed="rId1" cstate="print"/>
          <a:srcRect l="-27454" r="-21617"/>
          <a:stretch>
            <a:fillRect/>
          </a:stretch>
        </p:blipFill>
        <p:spPr bwMode="auto">
          <a:xfrm>
            <a:off x="1403350" y="908050"/>
            <a:ext cx="5473700" cy="3494088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组合体尺寸标注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3350" y="921405"/>
            <a:ext cx="8877300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397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4-2-1-1  </a:t>
            </a:r>
            <a:r>
              <a:rPr lang="en-US" altLang="en-US" sz="1600" b="1" dirty="0" err="1">
                <a:latin typeface="宋体" panose="02010600030101010101" pitchFamily="2" charset="-122"/>
              </a:rPr>
              <a:t>圈出不符合基本规则的尺寸注法，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并在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右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面图中完成正确的尺寸标注</a:t>
            </a:r>
            <a:r>
              <a:rPr lang="en-US" altLang="en-US" sz="1600" b="1" dirty="0">
                <a:latin typeface="宋体" panose="02010600030101010101" pitchFamily="2" charset="-122"/>
              </a:rPr>
              <a:t>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4-2-1-1  </a:t>
            </a:r>
            <a:r>
              <a:rPr lang="en-US" altLang="en-US" sz="1600" b="1" dirty="0" err="1">
                <a:latin typeface="宋体" panose="02010600030101010101" pitchFamily="2" charset="-122"/>
              </a:rPr>
              <a:t>圈出不符合基本规则的尺寸注法，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并在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右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面图中完成正确的尺寸标注</a:t>
            </a:r>
            <a:r>
              <a:rPr lang="en-US" altLang="en-US" sz="1600" b="1" dirty="0">
                <a:latin typeface="宋体" panose="02010600030101010101" pitchFamily="2" charset="-122"/>
              </a:rPr>
              <a:t>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4666" y="916642"/>
            <a:ext cx="8867775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4-2-1-1  </a:t>
            </a:r>
            <a:r>
              <a:rPr lang="en-US" altLang="en-US" sz="1600" b="1" dirty="0" err="1">
                <a:latin typeface="宋体" panose="02010600030101010101" pitchFamily="2" charset="-122"/>
              </a:rPr>
              <a:t>圈出不符合基本规则的尺寸注法，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并在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右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面图中完成正确的尺寸标注</a:t>
            </a:r>
            <a:r>
              <a:rPr lang="en-US" altLang="en-US" sz="1600" b="1" dirty="0">
                <a:latin typeface="宋体" panose="02010600030101010101" pitchFamily="2" charset="-122"/>
              </a:rPr>
              <a:t>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pic>
        <p:nvPicPr>
          <p:cNvPr id="140292" name="Picture 4"/>
          <p:cNvPicPr>
            <a:picLocks noChangeAspect="1" noChangeArrowheads="1"/>
          </p:cNvPicPr>
          <p:nvPr/>
        </p:nvPicPr>
        <p:blipFill>
          <a:blip r:embed="rId1" cstate="print"/>
          <a:srcRect l="-46284" r="-16756"/>
          <a:stretch>
            <a:fillRect/>
          </a:stretch>
        </p:blipFill>
        <p:spPr bwMode="auto">
          <a:xfrm>
            <a:off x="1619250" y="765175"/>
            <a:ext cx="5329238" cy="4249738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74849" y="571501"/>
            <a:ext cx="8543925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4-2-1-2  </a:t>
            </a:r>
            <a:r>
              <a:rPr lang="en-US" altLang="en-US" sz="1600" b="1" dirty="0" err="1">
                <a:latin typeface="宋体" panose="02010600030101010101" pitchFamily="2" charset="-122"/>
              </a:rPr>
              <a:t>圈出不符合基本规则的尺寸注法，并在右面图中完成正确的尺寸标注</a:t>
            </a:r>
            <a:r>
              <a:rPr lang="en-US" altLang="en-US" sz="1600" b="1" dirty="0">
                <a:latin typeface="宋体" panose="02010600030101010101" pitchFamily="2" charset="-122"/>
              </a:rPr>
              <a:t>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4-2-1-2  </a:t>
            </a:r>
            <a:r>
              <a:rPr lang="en-US" altLang="en-US" sz="1600" b="1" dirty="0" err="1">
                <a:latin typeface="宋体" panose="02010600030101010101" pitchFamily="2" charset="-122"/>
              </a:rPr>
              <a:t>圈出不符合基本规则的尺寸注法，并在右面图中完成正确的尺寸标注</a:t>
            </a:r>
            <a:r>
              <a:rPr lang="en-US" altLang="en-US" sz="1600" b="1" dirty="0">
                <a:latin typeface="宋体" panose="02010600030101010101" pitchFamily="2" charset="-122"/>
              </a:rPr>
              <a:t>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86055" y="605399"/>
            <a:ext cx="8467725" cy="532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4-2-1-2  圈出不符合基本规则的尺寸注法，并在右面图中完成正确的尺寸标注。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41316" name="Picture 4"/>
          <p:cNvPicPr>
            <a:picLocks noChangeAspect="1" noChangeArrowheads="1"/>
          </p:cNvPicPr>
          <p:nvPr/>
        </p:nvPicPr>
        <p:blipFill>
          <a:blip r:embed="rId1" cstate="print"/>
          <a:srcRect l="-49251" r="-31267"/>
          <a:stretch>
            <a:fillRect/>
          </a:stretch>
        </p:blipFill>
        <p:spPr bwMode="auto">
          <a:xfrm>
            <a:off x="1403350" y="765175"/>
            <a:ext cx="5545138" cy="410527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4-2-1-3  圈出不符合基本规则的尺寸注法，并在右面图中完成正确的尺寸标注。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4129" y="824754"/>
            <a:ext cx="8894921" cy="4488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4129" y="834280"/>
            <a:ext cx="8913019" cy="4470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01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4-2-1-3  圈出不符合基本规则的尺寸注法，并在右面图中完成正确的尺寸标注。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4-2-1-3  圈出不符合基本规则的尺寸注法，并在右面图中完成正确的尺寸标注。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42340" name="Picture 4"/>
          <p:cNvPicPr>
            <a:picLocks noChangeAspect="1" noChangeArrowheads="1"/>
          </p:cNvPicPr>
          <p:nvPr/>
        </p:nvPicPr>
        <p:blipFill>
          <a:blip r:embed="rId1" cstate="print"/>
          <a:srcRect l="-20367" r="-22205"/>
          <a:stretch>
            <a:fillRect/>
          </a:stretch>
        </p:blipFill>
        <p:spPr bwMode="auto">
          <a:xfrm>
            <a:off x="1403350" y="1125538"/>
            <a:ext cx="5545138" cy="2693987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4-2-1-4  </a:t>
            </a:r>
            <a:r>
              <a:rPr lang="en-US" altLang="en-US" sz="1600" b="1" dirty="0" err="1">
                <a:latin typeface="宋体" panose="02010600030101010101" pitchFamily="2" charset="-122"/>
              </a:rPr>
              <a:t>圈出不符合基本规则的尺寸注法，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并在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右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面图中完成正确的尺寸标注</a:t>
            </a:r>
            <a:r>
              <a:rPr lang="en-US" altLang="en-US" sz="1600" b="1" dirty="0">
                <a:latin typeface="宋体" panose="02010600030101010101" pitchFamily="2" charset="-122"/>
              </a:rPr>
              <a:t>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19088" y="825316"/>
            <a:ext cx="8505825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4-2-1-4  </a:t>
            </a:r>
            <a:r>
              <a:rPr lang="en-US" altLang="en-US" sz="1600" b="1" dirty="0" err="1">
                <a:latin typeface="宋体" panose="02010600030101010101" pitchFamily="2" charset="-122"/>
              </a:rPr>
              <a:t>圈出不符合基本规则的尺寸注法，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并在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右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面图中完成正确的尺寸标注</a:t>
            </a:r>
            <a:r>
              <a:rPr lang="en-US" altLang="en-US" sz="1600" b="1" dirty="0">
                <a:latin typeface="宋体" panose="02010600030101010101" pitchFamily="2" charset="-122"/>
              </a:rPr>
              <a:t>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19088" y="838763"/>
            <a:ext cx="8505825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4-2-1-4  </a:t>
            </a:r>
            <a:r>
              <a:rPr lang="en-US" altLang="en-US" sz="1600" b="1" dirty="0" err="1">
                <a:latin typeface="宋体" panose="02010600030101010101" pitchFamily="2" charset="-122"/>
              </a:rPr>
              <a:t>圈出不符合基本规则的尺寸注法，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并在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右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面图中完成正确的尺寸标注</a:t>
            </a:r>
            <a:r>
              <a:rPr lang="en-US" altLang="en-US" sz="1600" b="1" dirty="0">
                <a:latin typeface="宋体" panose="02010600030101010101" pitchFamily="2" charset="-122"/>
              </a:rPr>
              <a:t>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pic>
        <p:nvPicPr>
          <p:cNvPr id="143363" name="Picture 3"/>
          <p:cNvPicPr>
            <a:picLocks noChangeAspect="1" noChangeArrowheads="1"/>
          </p:cNvPicPr>
          <p:nvPr/>
        </p:nvPicPr>
        <p:blipFill>
          <a:blip r:embed="rId1" cstate="print"/>
          <a:srcRect l="-46153" r="-41994"/>
          <a:stretch>
            <a:fillRect/>
          </a:stretch>
        </p:blipFill>
        <p:spPr bwMode="auto">
          <a:xfrm>
            <a:off x="1476375" y="692150"/>
            <a:ext cx="5256213" cy="4103688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4-2-1-5  </a:t>
            </a:r>
            <a:r>
              <a:rPr lang="en-US" altLang="en-US" sz="1600" b="1" dirty="0" err="1">
                <a:latin typeface="宋体" panose="02010600030101010101" pitchFamily="2" charset="-122"/>
              </a:rPr>
              <a:t>圈出不符合基本规则的尺寸注法，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并在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右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面图中完成正确的尺寸标注</a:t>
            </a:r>
            <a:r>
              <a:rPr lang="en-US" altLang="en-US" sz="1600" b="1" dirty="0">
                <a:latin typeface="宋体" panose="02010600030101010101" pitchFamily="2" charset="-122"/>
              </a:rPr>
              <a:t>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36457" y="670395"/>
            <a:ext cx="8524875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4-2-1-5  </a:t>
            </a:r>
            <a:r>
              <a:rPr lang="en-US" altLang="en-US" sz="1600" b="1" dirty="0" err="1">
                <a:latin typeface="宋体" panose="02010600030101010101" pitchFamily="2" charset="-122"/>
              </a:rPr>
              <a:t>圈出不符合基本规则的尺寸注法，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并在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右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面图中完成正确的尺寸标注</a:t>
            </a:r>
            <a:r>
              <a:rPr lang="en-US" altLang="en-US" sz="1600" b="1" dirty="0">
                <a:latin typeface="宋体" panose="02010600030101010101" pitchFamily="2" charset="-122"/>
              </a:rPr>
              <a:t>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23010" y="665632"/>
            <a:ext cx="8524875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7" name="Picture 3"/>
          <p:cNvPicPr>
            <a:picLocks noChangeAspect="1" noChangeArrowheads="1"/>
          </p:cNvPicPr>
          <p:nvPr/>
        </p:nvPicPr>
        <p:blipFill>
          <a:blip r:embed="rId1" cstate="print"/>
          <a:srcRect l="-55440" r="-35033"/>
          <a:stretch>
            <a:fillRect/>
          </a:stretch>
        </p:blipFill>
        <p:spPr bwMode="auto">
          <a:xfrm>
            <a:off x="1331913" y="836613"/>
            <a:ext cx="5472112" cy="367506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4389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4-2-1-5  </a:t>
            </a:r>
            <a:r>
              <a:rPr lang="en-US" altLang="en-US" sz="1600" b="1" dirty="0" err="1">
                <a:latin typeface="宋体" panose="02010600030101010101" pitchFamily="2" charset="-122"/>
              </a:rPr>
              <a:t>圈出不符合基本规则的尺寸注法，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并在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右</a:t>
            </a:r>
            <a:r>
              <a:rPr lang="en-US" altLang="en-US" sz="1600" b="1" dirty="0" err="1" smtClean="0">
                <a:latin typeface="宋体" panose="02010600030101010101" pitchFamily="2" charset="-122"/>
              </a:rPr>
              <a:t>面图中完成正确的尺寸标注</a:t>
            </a:r>
            <a:r>
              <a:rPr lang="en-US" altLang="en-US" sz="1600" b="1" dirty="0">
                <a:latin typeface="宋体" panose="02010600030101010101" pitchFamily="2" charset="-122"/>
              </a:rPr>
              <a:t>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83097" y="566458"/>
            <a:ext cx="6877050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4-2-2-1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4-2-2-1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60966" y="548249"/>
            <a:ext cx="6867525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4-2-2-1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45412" name="Picture 4"/>
          <p:cNvPicPr>
            <a:picLocks noChangeAspect="1" noChangeArrowheads="1"/>
          </p:cNvPicPr>
          <p:nvPr/>
        </p:nvPicPr>
        <p:blipFill>
          <a:blip r:embed="rId1" cstate="print"/>
          <a:srcRect l="-14354" r="-16586"/>
          <a:stretch>
            <a:fillRect/>
          </a:stretch>
        </p:blipFill>
        <p:spPr bwMode="auto">
          <a:xfrm>
            <a:off x="1403350" y="620713"/>
            <a:ext cx="5689600" cy="408305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4-2-2-2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70746" y="690563"/>
            <a:ext cx="708660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4-2-2-2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58420" y="690563"/>
            <a:ext cx="689610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437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87450" y="765175"/>
            <a:ext cx="6408738" cy="4151313"/>
          </a:xfrm>
          <a:prstGeom prst="rect">
            <a:avLst/>
          </a:prstGeom>
          <a:noFill/>
        </p:spPr>
      </p:pic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4-2-2-2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4-2-2-3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36034" y="528918"/>
            <a:ext cx="619125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4-2-2-3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36034" y="542366"/>
            <a:ext cx="619125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4-2-2-3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47460" name="Picture 4"/>
          <p:cNvPicPr>
            <a:picLocks noChangeAspect="1" noChangeArrowheads="1"/>
          </p:cNvPicPr>
          <p:nvPr/>
        </p:nvPicPr>
        <p:blipFill>
          <a:blip r:embed="rId1" cstate="print"/>
          <a:srcRect l="-27676" r="-23688"/>
          <a:stretch>
            <a:fillRect/>
          </a:stretch>
        </p:blipFill>
        <p:spPr bwMode="auto">
          <a:xfrm>
            <a:off x="1331913" y="620713"/>
            <a:ext cx="5903912" cy="522922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58420" y="533961"/>
            <a:ext cx="689610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6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4-2-2-4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4-2-2-4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76630" y="548249"/>
            <a:ext cx="6886575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4-2-2-4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48484" name="Picture 4"/>
          <p:cNvPicPr>
            <a:picLocks noChangeAspect="1" noChangeArrowheads="1"/>
          </p:cNvPicPr>
          <p:nvPr/>
        </p:nvPicPr>
        <p:blipFill>
          <a:blip r:embed="rId1" cstate="print"/>
          <a:srcRect l="-18546" r="-24142"/>
          <a:stretch>
            <a:fillRect/>
          </a:stretch>
        </p:blipFill>
        <p:spPr bwMode="auto">
          <a:xfrm>
            <a:off x="1403350" y="692150"/>
            <a:ext cx="5545138" cy="4046538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21733" y="466726"/>
            <a:ext cx="687705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318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4-2-2-5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4-2-2-5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21733" y="466726"/>
            <a:ext cx="687705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4-2-2-5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49508" name="Picture 4"/>
          <p:cNvPicPr>
            <a:picLocks noChangeAspect="1" noChangeArrowheads="1"/>
          </p:cNvPicPr>
          <p:nvPr/>
        </p:nvPicPr>
        <p:blipFill>
          <a:blip r:embed="rId1" cstate="print"/>
          <a:srcRect l="-19704" r="-14995"/>
          <a:stretch>
            <a:fillRect/>
          </a:stretch>
        </p:blipFill>
        <p:spPr bwMode="auto">
          <a:xfrm>
            <a:off x="1331913" y="692150"/>
            <a:ext cx="5903912" cy="479107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81392" y="542646"/>
            <a:ext cx="687705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4-2-2-6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76630" y="547408"/>
            <a:ext cx="688657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4-2-2-6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41415" y="4072890"/>
            <a:ext cx="2466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可补充完整圆心在长、高方向的定位尺寸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4-2-2-6  </a:t>
            </a:r>
            <a:r>
              <a:rPr lang="zh-CN" altLang="en-US" sz="1600" b="1">
                <a:latin typeface="宋体" panose="02010600030101010101" pitchFamily="2" charset="-122"/>
              </a:rPr>
              <a:t>标注组合体的尺寸（数值从图上按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50532" name="Picture 4"/>
          <p:cNvPicPr>
            <a:picLocks noChangeAspect="1" noChangeArrowheads="1"/>
          </p:cNvPicPr>
          <p:nvPr/>
        </p:nvPicPr>
        <p:blipFill>
          <a:blip r:embed="rId1" cstate="print"/>
          <a:srcRect l="-14609" r="-14093"/>
          <a:stretch>
            <a:fillRect/>
          </a:stretch>
        </p:blipFill>
        <p:spPr bwMode="auto">
          <a:xfrm>
            <a:off x="1331913" y="692150"/>
            <a:ext cx="6335712" cy="465455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轴测图尺寸标注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76630" y="533961"/>
            <a:ext cx="688657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4-2-2-7  </a:t>
            </a:r>
            <a:r>
              <a:rPr lang="zh-CN" altLang="en-US" sz="1600" b="1">
                <a:latin typeface="宋体" panose="02010600030101010101" pitchFamily="2" charset="-122"/>
              </a:rPr>
              <a:t>标注轴测图的尺寸（数值从图上按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81392" y="542646"/>
            <a:ext cx="687705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4-2-2-7  </a:t>
            </a:r>
            <a:r>
              <a:rPr lang="zh-CN" altLang="en-US" sz="1600" b="1">
                <a:latin typeface="宋体" panose="02010600030101010101" pitchFamily="2" charset="-122"/>
              </a:rPr>
              <a:t>标注轴测图的尺寸（数值从图上按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4-2-2-7  </a:t>
            </a:r>
            <a:r>
              <a:rPr lang="zh-CN" altLang="en-US" sz="1600" b="1">
                <a:latin typeface="宋体" panose="02010600030101010101" pitchFamily="2" charset="-122"/>
              </a:rPr>
              <a:t>标注轴测图的尺寸（数值从图上按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151557" name="Rectangle 5"/>
          <p:cNvSpPr>
            <a:spLocks noChangeArrowheads="1"/>
          </p:cNvSpPr>
          <p:nvPr/>
        </p:nvSpPr>
        <p:spPr bwMode="auto">
          <a:xfrm>
            <a:off x="1403350" y="765175"/>
            <a:ext cx="1512888" cy="43195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51556" name="Picture 4"/>
          <p:cNvPicPr>
            <a:picLocks noChangeAspect="1" noChangeArrowheads="1"/>
          </p:cNvPicPr>
          <p:nvPr/>
        </p:nvPicPr>
        <p:blipFill>
          <a:blip r:embed="rId1" cstate="print"/>
          <a:srcRect l="30862" t="19823" r="21489" b="33186"/>
          <a:stretch>
            <a:fillRect/>
          </a:stretch>
        </p:blipFill>
        <p:spPr bwMode="auto">
          <a:xfrm>
            <a:off x="2412578" y="836613"/>
            <a:ext cx="5111750" cy="40322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4-2-2-8  </a:t>
            </a:r>
            <a:r>
              <a:rPr lang="zh-CN" altLang="en-US" sz="1600" b="1">
                <a:latin typeface="宋体" panose="02010600030101010101" pitchFamily="2" charset="-122"/>
              </a:rPr>
              <a:t>标注轴测图的尺寸（数值从图上按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76630" y="556093"/>
            <a:ext cx="6886575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81392" y="547408"/>
            <a:ext cx="687705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28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4-2-2-8  </a:t>
            </a:r>
            <a:r>
              <a:rPr lang="zh-CN" altLang="en-US" sz="1600" b="1">
                <a:latin typeface="宋体" panose="02010600030101010101" pitchFamily="2" charset="-122"/>
              </a:rPr>
              <a:t>标注轴测图的尺寸（数值从图上按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4-2-2-8  </a:t>
            </a:r>
            <a:r>
              <a:rPr lang="zh-CN" altLang="en-US" sz="1600" b="1">
                <a:latin typeface="宋体" panose="02010600030101010101" pitchFamily="2" charset="-122"/>
              </a:rPr>
              <a:t>标注轴测图的尺寸（数值从图上按</a:t>
            </a:r>
            <a:r>
              <a:rPr lang="en-US" altLang="zh-CN" sz="1600" b="1">
                <a:latin typeface="宋体" panose="02010600030101010101" pitchFamily="2" charset="-122"/>
              </a:rPr>
              <a:t>1:1</a:t>
            </a:r>
            <a:r>
              <a:rPr lang="zh-CN" altLang="en-US" sz="1600" b="1">
                <a:latin typeface="宋体" panose="02010600030101010101" pitchFamily="2" charset="-122"/>
              </a:rPr>
              <a:t>量取）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52579" name="Picture 3"/>
          <p:cNvPicPr>
            <a:picLocks noChangeAspect="1" noChangeArrowheads="1"/>
          </p:cNvPicPr>
          <p:nvPr/>
        </p:nvPicPr>
        <p:blipFill>
          <a:blip r:embed="rId1" cstate="print"/>
          <a:srcRect l="-17459" r="-12701"/>
          <a:stretch>
            <a:fillRect/>
          </a:stretch>
        </p:blipFill>
        <p:spPr bwMode="auto">
          <a:xfrm>
            <a:off x="1403350" y="908050"/>
            <a:ext cx="5905500" cy="398780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表达方法综合训练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4-3-1  </a:t>
            </a:r>
            <a:r>
              <a:rPr lang="zh-CN" altLang="en-US" sz="1600" b="1">
                <a:latin typeface="宋体" panose="02010600030101010101" pitchFamily="2" charset="-122"/>
              </a:rPr>
              <a:t>根据组合体的轴测图，默画其三视图。除已标注尺寸外，其余部分按相对比例绘制。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91680" y="620688"/>
            <a:ext cx="5238750" cy="493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4-3-1  </a:t>
            </a:r>
            <a:r>
              <a:rPr lang="zh-CN" altLang="en-US" sz="1600" b="1">
                <a:latin typeface="宋体" panose="02010600030101010101" pitchFamily="2" charset="-122"/>
              </a:rPr>
              <a:t>根据组合体的轴测图，默画其三视图。除已标注尺寸外，其余部分按相对比例绘制。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26240" y="1064841"/>
            <a:ext cx="662940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4-3-1  </a:t>
            </a:r>
            <a:r>
              <a:rPr lang="zh-CN" altLang="en-US" sz="1600" b="1">
                <a:latin typeface="宋体" panose="02010600030101010101" pitchFamily="2" charset="-122"/>
              </a:rPr>
              <a:t>根据组合体的轴测图，默画其三视图。除已标注尺寸外，其余部分按相对比例绘制。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53604" name="Picture 4"/>
          <p:cNvPicPr>
            <a:picLocks noChangeAspect="1" noChangeArrowheads="1"/>
          </p:cNvPicPr>
          <p:nvPr/>
        </p:nvPicPr>
        <p:blipFill>
          <a:blip r:embed="rId1" cstate="print"/>
          <a:srcRect l="-9230" r="-21582"/>
          <a:stretch>
            <a:fillRect/>
          </a:stretch>
        </p:blipFill>
        <p:spPr bwMode="auto">
          <a:xfrm>
            <a:off x="1331913" y="836613"/>
            <a:ext cx="6119812" cy="427355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4-3-2  </a:t>
            </a:r>
            <a:r>
              <a:rPr lang="zh-CN" altLang="en-US" sz="1600" b="1">
                <a:latin typeface="宋体" panose="02010600030101010101" pitchFamily="2" charset="-122"/>
              </a:rPr>
              <a:t>根据组合体的轴测图，默画其三视图。除已标注尺寸外，其余部分按相对比例绘制。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28775" y="620688"/>
            <a:ext cx="588645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4-3-2  </a:t>
            </a:r>
            <a:r>
              <a:rPr lang="zh-CN" altLang="en-US" sz="1600" b="1">
                <a:latin typeface="宋体" panose="02010600030101010101" pitchFamily="2" charset="-122"/>
              </a:rPr>
              <a:t>根据组合体的轴测图，默画其三视图。除已标注尺寸外，其余部分按相对比例绘制。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22574" y="723900"/>
            <a:ext cx="6848475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4-3-2  </a:t>
            </a:r>
            <a:r>
              <a:rPr lang="zh-CN" altLang="en-US" sz="1600" b="1">
                <a:latin typeface="宋体" panose="02010600030101010101" pitchFamily="2" charset="-122"/>
              </a:rPr>
              <a:t>根据组合体的轴测图，默画其三视图。除已标注尺寸外，其余部分按相对比例绘制。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54628" name="Picture 4"/>
          <p:cNvPicPr>
            <a:picLocks noChangeAspect="1" noChangeArrowheads="1"/>
          </p:cNvPicPr>
          <p:nvPr/>
        </p:nvPicPr>
        <p:blipFill>
          <a:blip r:embed="rId1" cstate="print"/>
          <a:srcRect l="-15886" r="-15851"/>
          <a:stretch>
            <a:fillRect/>
          </a:stretch>
        </p:blipFill>
        <p:spPr bwMode="auto">
          <a:xfrm>
            <a:off x="1403350" y="836613"/>
            <a:ext cx="5976938" cy="4002087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47664" y="649957"/>
            <a:ext cx="5762625" cy="486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137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4-3-3  </a:t>
            </a:r>
            <a:r>
              <a:rPr lang="zh-CN" altLang="en-US" sz="1600" b="1">
                <a:latin typeface="宋体" panose="02010600030101010101" pitchFamily="2" charset="-122"/>
              </a:rPr>
              <a:t>根据组合体的轴测图，默画其三视图。除已标注尺寸外，其余部分按相对比例绘制。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4-3-3  </a:t>
            </a:r>
            <a:r>
              <a:rPr lang="zh-CN" altLang="en-US" sz="1600" b="1">
                <a:latin typeface="宋体" panose="02010600030101010101" pitchFamily="2" charset="-122"/>
              </a:rPr>
              <a:t>根据组合体的轴测图，默画其三视图。除已标注尺寸外，其余部分按相对比例绘制。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81392" y="538724"/>
            <a:ext cx="6877050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4-3-3  </a:t>
            </a:r>
            <a:r>
              <a:rPr lang="zh-CN" altLang="en-US" sz="1600" b="1">
                <a:latin typeface="宋体" panose="02010600030101010101" pitchFamily="2" charset="-122"/>
              </a:rPr>
              <a:t>根据组合体的轴测图，默画其三视图。除已标注尺寸外，其余部分按相对比例绘制。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55652" name="Picture 4"/>
          <p:cNvPicPr>
            <a:picLocks noChangeAspect="1" noChangeArrowheads="1"/>
          </p:cNvPicPr>
          <p:nvPr/>
        </p:nvPicPr>
        <p:blipFill>
          <a:blip r:embed="rId1" cstate="print"/>
          <a:srcRect l="-18739" r="-12505"/>
          <a:stretch>
            <a:fillRect/>
          </a:stretch>
        </p:blipFill>
        <p:spPr bwMode="auto">
          <a:xfrm>
            <a:off x="1331913" y="692150"/>
            <a:ext cx="6048375" cy="450056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4-3-4  </a:t>
            </a:r>
            <a:r>
              <a:rPr lang="zh-CN" altLang="en-US" sz="1600" b="1">
                <a:latin typeface="宋体" panose="02010600030101010101" pitchFamily="2" charset="-122"/>
              </a:rPr>
              <a:t>根据组合体的轴测图，默画其三视图。除已标注尺寸外，其余部分按相对比例绘制。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24000" y="548680"/>
            <a:ext cx="6096000" cy="508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4-3-4  </a:t>
            </a:r>
            <a:r>
              <a:rPr lang="zh-CN" altLang="en-US" sz="1600" b="1">
                <a:latin typeface="宋体" panose="02010600030101010101" pitchFamily="2" charset="-122"/>
              </a:rPr>
              <a:t>根据组合体的轴测图，默画其三视图。除已标注尺寸外，其余部分按相对比例绘制。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81392" y="704850"/>
            <a:ext cx="687705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4-3-4  </a:t>
            </a:r>
            <a:r>
              <a:rPr lang="zh-CN" altLang="en-US" sz="1600" b="1">
                <a:latin typeface="宋体" panose="02010600030101010101" pitchFamily="2" charset="-122"/>
              </a:rPr>
              <a:t>根据组合体的轴测图，默画其三视图。除已标注尺寸外，其余部分按相对比例绘制。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56676" name="Picture 4"/>
          <p:cNvPicPr>
            <a:picLocks noChangeAspect="1" noChangeArrowheads="1"/>
          </p:cNvPicPr>
          <p:nvPr/>
        </p:nvPicPr>
        <p:blipFill>
          <a:blip r:embed="rId1" cstate="print"/>
          <a:srcRect l="-13840" r="-12314"/>
          <a:stretch>
            <a:fillRect/>
          </a:stretch>
        </p:blipFill>
        <p:spPr bwMode="auto">
          <a:xfrm>
            <a:off x="1331913" y="1052513"/>
            <a:ext cx="5903912" cy="3836987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4-3-5  </a:t>
            </a:r>
            <a:r>
              <a:rPr lang="en-US" altLang="en-US" sz="1600" b="1" dirty="0" err="1">
                <a:latin typeface="宋体" panose="02010600030101010101" pitchFamily="2" charset="-122"/>
              </a:rPr>
              <a:t>读图，选适当方案表达该机件并标注尺寸</a:t>
            </a:r>
            <a:r>
              <a:rPr lang="en-US" altLang="en-US" sz="1600" b="1" dirty="0">
                <a:latin typeface="宋体" panose="02010600030101010101" pitchFamily="2" charset="-122"/>
              </a:rPr>
              <a:t>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75656" y="692696"/>
            <a:ext cx="7272808" cy="40626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宋体" panose="02010600030101010101" pitchFamily="2" charset="-122"/>
              </a:rPr>
              <a:t>机件的表达和尺寸标注作业指示书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342900" indent="-342900">
              <a:buAutoNum type="ea1ChsPeriod"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作业目的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 sz="2000" b="1" dirty="0" smtClean="0">
                <a:latin typeface="宋体" panose="02010600030101010101" pitchFamily="2" charset="-122"/>
              </a:rPr>
              <a:t>练习表达方法的选择和视图、剖视的画法。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342900" indent="-342900"/>
            <a:r>
              <a:rPr lang="en-US" altLang="zh-CN" sz="2000" b="1" dirty="0" smtClean="0">
                <a:latin typeface="宋体" panose="02010600030101010101" pitchFamily="2" charset="-122"/>
              </a:rPr>
              <a:t>2.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练习尺寸标注。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342900" indent="-342900"/>
            <a:r>
              <a:rPr lang="en-US" altLang="zh-CN" sz="2000" b="1" dirty="0" smtClean="0">
                <a:latin typeface="宋体" panose="02010600030101010101" pitchFamily="2" charset="-122"/>
              </a:rPr>
              <a:t>3.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提高绘图技能。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342900" indent="-342900"/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342900" indent="-342900"/>
            <a:r>
              <a:rPr lang="zh-CN" altLang="en-US" sz="2000" b="1" dirty="0" smtClean="0">
                <a:latin typeface="宋体" panose="02010600030101010101" pitchFamily="2" charset="-122"/>
              </a:rPr>
              <a:t>二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.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作业内容和要求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342900" indent="-342900"/>
            <a:r>
              <a:rPr lang="en-US" altLang="zh-CN" sz="2000" b="1" dirty="0" smtClean="0">
                <a:latin typeface="宋体" panose="02010600030101010101" pitchFamily="2" charset="-122"/>
              </a:rPr>
              <a:t>1.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读懂所给视图，想清机件形状。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342900" indent="-342900"/>
            <a:r>
              <a:rPr lang="en-US" altLang="zh-CN" sz="2000" b="1" dirty="0" smtClean="0">
                <a:latin typeface="宋体" panose="02010600030101010101" pitchFamily="2" charset="-122"/>
              </a:rPr>
              <a:t>2.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保持主视图放置位置不变，选择适当的表达方案，将机件内、外形表达清楚，作到全图不用虚线。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342900" indent="-342900"/>
            <a:r>
              <a:rPr lang="en-US" altLang="zh-CN" sz="2000" b="1" dirty="0" smtClean="0">
                <a:latin typeface="宋体" panose="02010600030101010101" pitchFamily="2" charset="-122"/>
              </a:rPr>
              <a:t>3.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绘制草图、标注尺寸；抄绘到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A3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图纸上。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4-3-5  </a:t>
            </a:r>
            <a:r>
              <a:rPr lang="en-US" altLang="en-US" sz="1600" b="1" dirty="0" err="1">
                <a:latin typeface="宋体" panose="02010600030101010101" pitchFamily="2" charset="-122"/>
              </a:rPr>
              <a:t>读图，选适当方案表达该机件并标注尺寸</a:t>
            </a:r>
            <a:r>
              <a:rPr lang="en-US" altLang="en-US" sz="1600" b="1" dirty="0">
                <a:latin typeface="宋体" panose="02010600030101010101" pitchFamily="2" charset="-122"/>
              </a:rPr>
              <a:t>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75656" y="692696"/>
            <a:ext cx="7272808" cy="53245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宋体" panose="02010600030101010101" pitchFamily="2" charset="-122"/>
              </a:rPr>
              <a:t>机件的表达和尺寸标注作业指示书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342900" indent="-342900"/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342900" indent="-342900"/>
            <a:r>
              <a:rPr lang="zh-CN" altLang="en-US" sz="2000" b="1" dirty="0" smtClean="0">
                <a:latin typeface="宋体" panose="02010600030101010101" pitchFamily="2" charset="-122"/>
              </a:rPr>
              <a:t>三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.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对作业的指示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342900" indent="-342900"/>
            <a:r>
              <a:rPr lang="en-US" altLang="zh-CN" sz="2000" b="1" dirty="0" smtClean="0">
                <a:latin typeface="宋体" panose="02010600030101010101" pitchFamily="2" charset="-122"/>
              </a:rPr>
              <a:t>1.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选择表达方案时要注意将各组成部分内、外形状及其相对位置和连接关系表达清楚，注意思考、比较几种不同方案后调整确定。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342900" indent="-342900"/>
            <a:r>
              <a:rPr lang="en-US" altLang="zh-CN" sz="2000" b="1" dirty="0" smtClean="0">
                <a:latin typeface="宋体" panose="02010600030101010101" pitchFamily="2" charset="-122"/>
              </a:rPr>
              <a:t>2.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按所确定表达方案在方格纸上目测、徒手画成草图，图形大小与所给图形基本一致，并应保持各部分形体间的大致比例。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342900" indent="-342900"/>
            <a:r>
              <a:rPr lang="en-US" altLang="zh-CN" sz="2000" b="1" dirty="0" smtClean="0">
                <a:latin typeface="宋体" panose="02010600030101010101" pitchFamily="2" charset="-122"/>
              </a:rPr>
              <a:t>3.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运用形体分析法标注尺寸。首先确定应标注哪些尺寸，在方格纸上画出全部尺寸界线和尺寸线，再逐个形体逐一审查定形尺寸、定位尺寸和总体尺寸。作到规格正确、标注完整、布置清晰。再在所给视图上量取尺寸数值，放大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1.5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倍后（取整）填写尺寸数字。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342900" indent="-342900"/>
            <a:r>
              <a:rPr lang="en-US" altLang="zh-CN" sz="2000" b="1" dirty="0" smtClean="0">
                <a:latin typeface="宋体" panose="02010600030101010101" pitchFamily="2" charset="-122"/>
              </a:rPr>
              <a:t>4.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对所绘草图的图形、尺寸检查无误后，在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A3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幅面的绘图纸上，用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1︰1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比例抄绘成正规图。绘图时注意分形体画，利用投影关系几个视图联系起来画，以提高绘图质量和速度。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342900" indent="-342900"/>
            <a:r>
              <a:rPr lang="en-US" altLang="zh-CN" sz="2000" b="1" dirty="0" smtClean="0">
                <a:latin typeface="宋体" panose="02010600030101010101" pitchFamily="2" charset="-122"/>
              </a:rPr>
              <a:t>5.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描深要求同前，作业名称填写“机件体”。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4-3-5  读图，选适当方案表达该机件并标注尺寸。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1" cstate="print"/>
          <a:srcRect l="-3922"/>
          <a:stretch>
            <a:fillRect/>
          </a:stretch>
        </p:blipFill>
        <p:spPr bwMode="auto">
          <a:xfrm>
            <a:off x="1260673" y="836712"/>
            <a:ext cx="7631807" cy="34480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48907" y="546568"/>
            <a:ext cx="7172325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769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4-3-5  读图，选适当方案表达该机件并标注尺寸。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4-3-5  读图，选适当方案表达该机件并标注尺寸。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57700" name="Picture 4"/>
          <p:cNvPicPr>
            <a:picLocks noChangeAspect="1" noChangeArrowheads="1"/>
          </p:cNvPicPr>
          <p:nvPr/>
        </p:nvPicPr>
        <p:blipFill>
          <a:blip r:embed="rId1" cstate="print"/>
          <a:srcRect l="-24405" r="-18524"/>
          <a:stretch>
            <a:fillRect/>
          </a:stretch>
        </p:blipFill>
        <p:spPr bwMode="auto">
          <a:xfrm>
            <a:off x="1547664" y="620713"/>
            <a:ext cx="5472137" cy="4337688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357745" y="1171551"/>
            <a:ext cx="7786254" cy="409342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endParaRPr lang="en-US" altLang="zh-CN" sz="6000" b="1" dirty="0" smtClean="0">
              <a:latin typeface="宋体" panose="02010600030101010101" pitchFamily="2" charset="-122"/>
            </a:endParaRPr>
          </a:p>
          <a:p>
            <a:r>
              <a:rPr lang="zh-CN" altLang="en-US" sz="8000" b="1" dirty="0" smtClean="0">
                <a:latin typeface="宋体" panose="02010600030101010101" pitchFamily="2" charset="-122"/>
              </a:rPr>
              <a:t>   结  束</a:t>
            </a:r>
            <a:endParaRPr lang="en-US" altLang="zh-CN" sz="8000" b="1" dirty="0" smtClean="0">
              <a:latin typeface="宋体" panose="02010600030101010101" pitchFamily="2" charset="-122"/>
            </a:endParaRPr>
          </a:p>
          <a:p>
            <a:endParaRPr lang="en-US" altLang="zh-CN" sz="6000" b="1" dirty="0" smtClean="0">
              <a:latin typeface="宋体" panose="02010600030101010101" pitchFamily="2" charset="-122"/>
            </a:endParaRPr>
          </a:p>
          <a:p>
            <a:endParaRPr lang="zh-CN" altLang="en-US" sz="6000" b="1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8580,&quot;width&quot;:12420}"/>
</p:tagLst>
</file>

<file path=ppt/tags/tag2.xml><?xml version="1.0" encoding="utf-8"?>
<p:tagLst xmlns:p="http://schemas.openxmlformats.org/presentationml/2006/main">
  <p:tag name="KSO_WPP_MARK_KEY" val="02245183-b5f5-498e-963b-959e038141f5"/>
  <p:tag name="COMMONDATA" val="eyJoZGlkIjoiODJmN2FlNTk5ZDc5YWY1ZDIwZDMzYzFiYWNjYTQ1OTk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5546</Words>
  <Application>WPS 演示</Application>
  <PresentationFormat>全屏显示(4:3)</PresentationFormat>
  <Paragraphs>383</Paragraphs>
  <Slides>168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168</vt:i4>
      </vt:variant>
    </vt:vector>
  </HeadingPairs>
  <TitlesOfParts>
    <vt:vector size="177" baseType="lpstr">
      <vt:lpstr>Arial</vt:lpstr>
      <vt:lpstr>宋体</vt:lpstr>
      <vt:lpstr>Wingdings</vt:lpstr>
      <vt:lpstr>Tahoma</vt:lpstr>
      <vt:lpstr>隶书</vt:lpstr>
      <vt:lpstr>微软雅黑</vt:lpstr>
      <vt:lpstr>Arial Unicode MS</vt:lpstr>
      <vt:lpstr>Calibri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MC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当条咸鱼</cp:lastModifiedBy>
  <cp:revision>229</cp:revision>
  <dcterms:created xsi:type="dcterms:W3CDTF">2006-04-04T11:38:00Z</dcterms:created>
  <dcterms:modified xsi:type="dcterms:W3CDTF">2025-06-06T06:51:07Z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5340AD390EF94C2B91538369C355E11A</vt:lpwstr>
  </property>
  <property fmtid="{D5CDD505-2E9C-101B-9397-08002B2CF9AE}" pid="3" name="KSOProductBuildVer">
    <vt:lpwstr>2052-11.1.0.12165</vt:lpwstr>
  </property>
</Properties>
</file>