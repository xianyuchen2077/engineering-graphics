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82" r:id="rId2"/>
    <p:sldId id="259" r:id="rId3"/>
    <p:sldId id="262" r:id="rId4"/>
    <p:sldId id="374" r:id="rId5"/>
    <p:sldId id="354" r:id="rId6"/>
    <p:sldId id="420" r:id="rId7"/>
    <p:sldId id="421" r:id="rId8"/>
    <p:sldId id="392" r:id="rId9"/>
    <p:sldId id="422" r:id="rId10"/>
    <p:sldId id="375" r:id="rId11"/>
    <p:sldId id="423" r:id="rId12"/>
    <p:sldId id="424" r:id="rId13"/>
    <p:sldId id="425" r:id="rId14"/>
    <p:sldId id="426" r:id="rId15"/>
    <p:sldId id="428" r:id="rId16"/>
    <p:sldId id="427" r:id="rId17"/>
    <p:sldId id="429" r:id="rId18"/>
    <p:sldId id="434" r:id="rId19"/>
    <p:sldId id="436" r:id="rId20"/>
    <p:sldId id="430" r:id="rId21"/>
    <p:sldId id="431" r:id="rId22"/>
    <p:sldId id="437" r:id="rId23"/>
    <p:sldId id="432" r:id="rId24"/>
    <p:sldId id="441" r:id="rId25"/>
    <p:sldId id="440" r:id="rId26"/>
    <p:sldId id="443" r:id="rId27"/>
    <p:sldId id="438" r:id="rId28"/>
    <p:sldId id="444" r:id="rId29"/>
    <p:sldId id="447" r:id="rId30"/>
    <p:sldId id="439" r:id="rId31"/>
    <p:sldId id="448" r:id="rId32"/>
    <p:sldId id="445" r:id="rId33"/>
    <p:sldId id="419" r:id="rId34"/>
    <p:sldId id="446" r:id="rId35"/>
    <p:sldId id="372" r:id="rId36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5" autoAdjust="0"/>
    <p:restoredTop sz="96895" autoAdjust="0"/>
  </p:normalViewPr>
  <p:slideViewPr>
    <p:cSldViewPr>
      <p:cViewPr varScale="1">
        <p:scale>
          <a:sx n="102" d="100"/>
          <a:sy n="102" d="100"/>
        </p:scale>
        <p:origin x="87" y="17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32148" y="1626923"/>
            <a:ext cx="1189906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3902" y="1056168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2" y="366323"/>
            <a:ext cx="1366780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5625737" y="3733164"/>
            <a:ext cx="3640183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9144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4333" y="2817663"/>
            <a:ext cx="7075335" cy="5909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72690D-05E7-3DA8-44D6-C8381F4A3F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5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1763688" y="692696"/>
            <a:ext cx="6923112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05146" y="2697631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248562" y="2727900"/>
            <a:ext cx="264687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2737203" y="2132856"/>
            <a:ext cx="3669594" cy="32478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投影变换概述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新投影面选择原则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点的投影变换规律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4.4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四个基本问题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4.5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工程问题应用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3835260" y="454422"/>
            <a:ext cx="1473480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内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0" y="1412776"/>
            <a:ext cx="9144000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07223" y="2727900"/>
            <a:ext cx="492955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投影变换概述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6EFC0-EF48-EF6C-3B51-41E6426927BE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DCDC-4DDD-A212-028F-4C1036C0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BA20430-D34A-C6AD-94AA-13632189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6132A33-EB3F-EA1F-4EC6-B9D571DC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投影变换概述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511DD904-46EE-C52B-278F-866F9049E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5100" y="4739836"/>
            <a:ext cx="1645002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99B6B736-2741-1E2F-EDB3-DF57E75D54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466" y="2032497"/>
            <a:ext cx="1757363" cy="722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45E245B3-6344-53AC-84CC-59B5556CC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0829" y="2032497"/>
            <a:ext cx="0" cy="2582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DE989353-ABD4-6719-D1B4-E15B7E0671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941" y="3375522"/>
            <a:ext cx="836613" cy="515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D19066FE-41B8-95B6-CC91-79119743D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466" y="3886697"/>
            <a:ext cx="1757363" cy="728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B5F63435-BD56-9A6F-F9DE-EC20C64AC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029" y="2032497"/>
            <a:ext cx="1344613" cy="722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27A665B6-DB72-1D60-2337-05A374D14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641" y="2754809"/>
            <a:ext cx="0" cy="1033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D093DA4-382E-D945-659C-4B5ADF259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6266" y="3361234"/>
            <a:ext cx="944563" cy="1254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FC0E9664-19B6-B7F2-369C-530968749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466" y="2754809"/>
            <a:ext cx="0" cy="1136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92A7AFD-9535-C9B6-0244-D3ABC897A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029" y="2032497"/>
            <a:ext cx="0" cy="237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586F18C2-4E47-A11A-ECA5-BB141536E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3741" y="2372222"/>
            <a:ext cx="0" cy="1760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20" name="Line 42">
            <a:extLst>
              <a:ext uri="{FF2B5EF4-FFF2-40B4-BE49-F238E27FC236}">
                <a16:creationId xmlns:a16="http://schemas.microsoft.com/office/drawing/2014/main" id="{D1F2AF41-3FDE-6A30-B839-0046302830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679" y="4118472"/>
            <a:ext cx="633413" cy="292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21" name="Line 43">
            <a:extLst>
              <a:ext uri="{FF2B5EF4-FFF2-40B4-BE49-F238E27FC236}">
                <a16:creationId xmlns:a16="http://schemas.microsoft.com/office/drawing/2014/main" id="{B0E95AAA-616C-9A16-7CE7-D4B0786FC1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34579" y="3778747"/>
            <a:ext cx="379413" cy="182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22" name="Line 63">
            <a:extLst>
              <a:ext uri="{FF2B5EF4-FFF2-40B4-BE49-F238E27FC236}">
                <a16:creationId xmlns:a16="http://schemas.microsoft.com/office/drawing/2014/main" id="{8749E57D-2E6E-DA9B-BA3F-3511F46EEA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78966" y="2408734"/>
            <a:ext cx="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23" name="Line 93">
            <a:extLst>
              <a:ext uri="{FF2B5EF4-FFF2-40B4-BE49-F238E27FC236}">
                <a16:creationId xmlns:a16="http://schemas.microsoft.com/office/drawing/2014/main" id="{5ADA1666-F15A-63E0-CED8-6D67072DCF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8666" y="3978772"/>
            <a:ext cx="276225" cy="1238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grpSp>
        <p:nvGrpSpPr>
          <p:cNvPr id="25" name="Group 123">
            <a:extLst>
              <a:ext uri="{FF2B5EF4-FFF2-40B4-BE49-F238E27FC236}">
                <a16:creationId xmlns:a16="http://schemas.microsoft.com/office/drawing/2014/main" id="{7C953E97-55E7-846E-8FF6-6F892B578B71}"/>
              </a:ext>
            </a:extLst>
          </p:cNvPr>
          <p:cNvGrpSpPr>
            <a:grpSpLocks/>
          </p:cNvGrpSpPr>
          <p:nvPr/>
        </p:nvGrpSpPr>
        <p:grpSpPr bwMode="auto">
          <a:xfrm>
            <a:off x="1331353" y="2316659"/>
            <a:ext cx="98425" cy="1843088"/>
            <a:chOff x="916" y="918"/>
            <a:chExt cx="62" cy="1161"/>
          </a:xfrm>
        </p:grpSpPr>
        <p:sp>
          <p:nvSpPr>
            <p:cNvPr id="26" name="Oval 74">
              <a:extLst>
                <a:ext uri="{FF2B5EF4-FFF2-40B4-BE49-F238E27FC236}">
                  <a16:creationId xmlns:a16="http://schemas.microsoft.com/office/drawing/2014/main" id="{2D6BA5A1-F344-F259-6FC4-510EA1638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18"/>
              <a:ext cx="60" cy="59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27" name="Oval 96">
              <a:extLst>
                <a:ext uri="{FF2B5EF4-FFF2-40B4-BE49-F238E27FC236}">
                  <a16:creationId xmlns:a16="http://schemas.microsoft.com/office/drawing/2014/main" id="{F810E417-8DD4-5DA0-34D2-608BD63C7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2020"/>
              <a:ext cx="60" cy="59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sp>
        <p:nvSpPr>
          <p:cNvPr id="30" name="Line 28">
            <a:extLst>
              <a:ext uri="{FF2B5EF4-FFF2-40B4-BE49-F238E27FC236}">
                <a16:creationId xmlns:a16="http://schemas.microsoft.com/office/drawing/2014/main" id="{DC153808-B2D8-A7EB-E4FC-4D32BEDEE9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4511" y="1770560"/>
            <a:ext cx="579438" cy="646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701B0D1A-620C-C9C4-E922-25B559D8E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8837" y="2403972"/>
            <a:ext cx="1311275" cy="722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066F71C1-04CB-9D2E-55A1-E8FB976651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8074" y="1776910"/>
            <a:ext cx="750888" cy="1349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D9C81157-BD3B-B3DF-9870-4E0AA5D0C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4424" y="1776910"/>
            <a:ext cx="0" cy="191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95BF3D9-A206-18A7-8333-95626BB00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9000" y="3107235"/>
            <a:ext cx="0" cy="131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726A1186-AD06-E524-6BBC-07D75EE1B0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2512" y="2146797"/>
            <a:ext cx="979488" cy="587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6D1F5145-78EB-F86C-7C8D-4F65BBC6F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2000" y="2146797"/>
            <a:ext cx="0" cy="160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DB5FCF54-9BCA-F562-C170-609AC184AC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02511" y="3499347"/>
            <a:ext cx="998251" cy="24551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C8435BB4-D8EE-0011-FF1B-34AE42F59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7275" y="2727822"/>
            <a:ext cx="0" cy="784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35CD282A-D5C0-AC3B-5C0D-A7A81A1AD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9362" y="2618285"/>
            <a:ext cx="0" cy="154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54184B77-EF83-2871-C2C1-F702AC0E3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675" y="2343647"/>
            <a:ext cx="0" cy="1644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DCB59DD2-5B1D-85D1-359E-9F72D1CD2A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0312" y="3981947"/>
            <a:ext cx="5000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C7D54130-CA92-A022-FA42-A3F07B0C2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2512" y="3494585"/>
            <a:ext cx="79375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4" name="Line 45">
            <a:extLst>
              <a:ext uri="{FF2B5EF4-FFF2-40B4-BE49-F238E27FC236}">
                <a16:creationId xmlns:a16="http://schemas.microsoft.com/office/drawing/2014/main" id="{EFCCD3F9-FD67-BB4D-DF70-5D09A01A4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1416" y="4127997"/>
            <a:ext cx="120650" cy="5254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A6D9BE8A-1A06-913C-D306-D874C048E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887" y="4045447"/>
            <a:ext cx="361950" cy="106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6" name="Line 47">
            <a:extLst>
              <a:ext uri="{FF2B5EF4-FFF2-40B4-BE49-F238E27FC236}">
                <a16:creationId xmlns:a16="http://schemas.microsoft.com/office/drawing/2014/main" id="{6C37F545-24B9-07EA-ED21-C160E3065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812" y="3689847"/>
            <a:ext cx="296863" cy="303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7" name="Line 48">
            <a:extLst>
              <a:ext uri="{FF2B5EF4-FFF2-40B4-BE49-F238E27FC236}">
                <a16:creationId xmlns:a16="http://schemas.microsoft.com/office/drawing/2014/main" id="{1A119580-0D0C-49C6-B85B-727F39843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6412" y="4056560"/>
            <a:ext cx="371475" cy="374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8" name="Line 49">
            <a:extLst>
              <a:ext uri="{FF2B5EF4-FFF2-40B4-BE49-F238E27FC236}">
                <a16:creationId xmlns:a16="http://schemas.microsoft.com/office/drawing/2014/main" id="{3EB98ECB-6F82-91DE-26F6-314FAA27F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1150" y="4254997"/>
            <a:ext cx="577850" cy="174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9" name="Line 61">
            <a:extLst>
              <a:ext uri="{FF2B5EF4-FFF2-40B4-BE49-F238E27FC236}">
                <a16:creationId xmlns:a16="http://schemas.microsoft.com/office/drawing/2014/main" id="{127008EA-69AC-1F9D-9A08-DA7E4917A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5187" y="2413497"/>
            <a:ext cx="0" cy="1627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0" name="Line 38">
            <a:extLst>
              <a:ext uri="{FF2B5EF4-FFF2-40B4-BE49-F238E27FC236}">
                <a16:creationId xmlns:a16="http://schemas.microsoft.com/office/drawing/2014/main" id="{2BD610BF-F45C-C610-E6CD-2B40F1EEBE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716" y="3737472"/>
            <a:ext cx="754063" cy="909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1" name="Line 32">
            <a:extLst>
              <a:ext uri="{FF2B5EF4-FFF2-40B4-BE49-F238E27FC236}">
                <a16:creationId xmlns:a16="http://schemas.microsoft.com/office/drawing/2014/main" id="{CD363C54-39EB-CE52-828C-74EF18FF1B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2012" y="3694610"/>
            <a:ext cx="563563" cy="357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2" name="Line 91">
            <a:extLst>
              <a:ext uri="{FF2B5EF4-FFF2-40B4-BE49-F238E27FC236}">
                <a16:creationId xmlns:a16="http://schemas.microsoft.com/office/drawing/2014/main" id="{3CEF0430-F6F9-F552-4DB9-4B4F89F22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5874" y="4162922"/>
            <a:ext cx="280988" cy="8096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3" name="Line 92">
            <a:extLst>
              <a:ext uri="{FF2B5EF4-FFF2-40B4-BE49-F238E27FC236}">
                <a16:creationId xmlns:a16="http://schemas.microsoft.com/office/drawing/2014/main" id="{C103CB50-8D01-3A87-6E40-BD79F9FE3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3549" y="4010522"/>
            <a:ext cx="23813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4" name="Line 111">
            <a:extLst>
              <a:ext uri="{FF2B5EF4-FFF2-40B4-BE49-F238E27FC236}">
                <a16:creationId xmlns:a16="http://schemas.microsoft.com/office/drawing/2014/main" id="{34B07F96-E9C3-F3D2-E3AE-5DED1EC9A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9184" y="3898060"/>
            <a:ext cx="66109" cy="22874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grpSp>
        <p:nvGrpSpPr>
          <p:cNvPr id="57" name="Group 124">
            <a:extLst>
              <a:ext uri="{FF2B5EF4-FFF2-40B4-BE49-F238E27FC236}">
                <a16:creationId xmlns:a16="http://schemas.microsoft.com/office/drawing/2014/main" id="{9FA01D6C-11C5-6CE4-806E-5D45F6C5742D}"/>
              </a:ext>
            </a:extLst>
          </p:cNvPr>
          <p:cNvGrpSpPr>
            <a:grpSpLocks/>
          </p:cNvGrpSpPr>
          <p:nvPr/>
        </p:nvGrpSpPr>
        <p:grpSpPr bwMode="auto">
          <a:xfrm>
            <a:off x="3085074" y="2332535"/>
            <a:ext cx="492125" cy="1819275"/>
            <a:chOff x="2370" y="899"/>
            <a:chExt cx="310" cy="1146"/>
          </a:xfrm>
        </p:grpSpPr>
        <p:sp>
          <p:nvSpPr>
            <p:cNvPr id="58" name="Line 84">
              <a:extLst>
                <a:ext uri="{FF2B5EF4-FFF2-40B4-BE49-F238E27FC236}">
                  <a16:creationId xmlns:a16="http://schemas.microsoft.com/office/drawing/2014/main" id="{0A35A42E-B4D6-A883-9928-B13A2CEAA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0" y="899"/>
              <a:ext cx="310" cy="18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59" name="Line 98">
              <a:extLst>
                <a:ext uri="{FF2B5EF4-FFF2-40B4-BE49-F238E27FC236}">
                  <a16:creationId xmlns:a16="http://schemas.microsoft.com/office/drawing/2014/main" id="{0C3BDBC3-27C2-E2C5-5083-257AF87EB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0" y="1940"/>
              <a:ext cx="310" cy="10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sp>
        <p:nvSpPr>
          <p:cNvPr id="60" name="Line 67">
            <a:extLst>
              <a:ext uri="{FF2B5EF4-FFF2-40B4-BE49-F238E27FC236}">
                <a16:creationId xmlns:a16="http://schemas.microsoft.com/office/drawing/2014/main" id="{96ACCFB2-9DA4-313D-C15F-A0502F9D5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19" y="3257902"/>
            <a:ext cx="40799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FBE3E0F-C6BD-BDEA-0074-E73D8547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304933"/>
            <a:ext cx="8208912" cy="8375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当几何元素相对于投影面处于特殊位置时，其投影具有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实形性、积聚性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往往能够直接反映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交点、交线的位置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，或者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线段的实长、图形的实形</a:t>
            </a:r>
          </a:p>
        </p:txBody>
      </p:sp>
      <p:sp>
        <p:nvSpPr>
          <p:cNvPr id="64" name="Text Box 13">
            <a:extLst>
              <a:ext uri="{FF2B5EF4-FFF2-40B4-BE49-F238E27FC236}">
                <a16:creationId xmlns:a16="http://schemas.microsoft.com/office/drawing/2014/main" id="{1428FBD6-F0E7-52BE-B96F-4C11B3D5A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248" y="4739836"/>
            <a:ext cx="1645002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度量问题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24">
            <a:extLst>
              <a:ext uri="{FF2B5EF4-FFF2-40B4-BE49-F238E27FC236}">
                <a16:creationId xmlns:a16="http://schemas.microsoft.com/office/drawing/2014/main" id="{86FC8A64-A029-8195-00AA-7804F65D5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5933" y="3704467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0BA195F-F0D0-27A1-30DF-2D573924EAFD}"/>
              </a:ext>
            </a:extLst>
          </p:cNvPr>
          <p:cNvGrpSpPr/>
          <p:nvPr/>
        </p:nvGrpSpPr>
        <p:grpSpPr>
          <a:xfrm>
            <a:off x="5192272" y="1886099"/>
            <a:ext cx="1316038" cy="2062163"/>
            <a:chOff x="5576888" y="1689100"/>
            <a:chExt cx="1316038" cy="2062163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0A3B8C39-D3FA-2E4B-8F37-7E8153995E5B}"/>
                </a:ext>
              </a:extLst>
            </p:cNvPr>
            <p:cNvGrpSpPr/>
            <p:nvPr/>
          </p:nvGrpSpPr>
          <p:grpSpPr>
            <a:xfrm>
              <a:off x="5576888" y="1689100"/>
              <a:ext cx="1316038" cy="2062163"/>
              <a:chOff x="5576888" y="1689100"/>
              <a:chExt cx="1316038" cy="2062163"/>
            </a:xfrm>
          </p:grpSpPr>
          <p:sp>
            <p:nvSpPr>
              <p:cNvPr id="69" name="Line 21">
                <a:extLst>
                  <a:ext uri="{FF2B5EF4-FFF2-40B4-BE49-F238E27FC236}">
                    <a16:creationId xmlns:a16="http://schemas.microsoft.com/office/drawing/2014/main" id="{BCD70200-4A44-E464-930F-03CD2C0E5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396038" y="1689100"/>
                <a:ext cx="482600" cy="10398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70" name="Line 50">
                <a:extLst>
                  <a:ext uri="{FF2B5EF4-FFF2-40B4-BE49-F238E27FC236}">
                    <a16:creationId xmlns:a16="http://schemas.microsoft.com/office/drawing/2014/main" id="{A23591F0-8069-C058-E1AE-4F88AB468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76888" y="1698625"/>
                <a:ext cx="835025" cy="5476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71" name="Line 51">
                <a:extLst>
                  <a:ext uri="{FF2B5EF4-FFF2-40B4-BE49-F238E27FC236}">
                    <a16:creationId xmlns:a16="http://schemas.microsoft.com/office/drawing/2014/main" id="{9F5EFE76-9E9B-A658-4161-B36816EA7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9588" y="2227263"/>
                <a:ext cx="0" cy="1524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72" name="Line 52">
                <a:extLst>
                  <a:ext uri="{FF2B5EF4-FFF2-40B4-BE49-F238E27FC236}">
                    <a16:creationId xmlns:a16="http://schemas.microsoft.com/office/drawing/2014/main" id="{BF2905BF-CC18-D948-A1C3-16F60E4FB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9588" y="3751263"/>
                <a:ext cx="13033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73" name="Line 53">
                <a:extLst>
                  <a:ext uri="{FF2B5EF4-FFF2-40B4-BE49-F238E27FC236}">
                    <a16:creationId xmlns:a16="http://schemas.microsoft.com/office/drawing/2014/main" id="{16242D68-95F4-5D9B-E59B-7699D1D48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80226" y="2719388"/>
                <a:ext cx="0" cy="10318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  <p:sp>
          <p:nvSpPr>
            <p:cNvPr id="68" name="Line 54">
              <a:extLst>
                <a:ext uri="{FF2B5EF4-FFF2-40B4-BE49-F238E27FC236}">
                  <a16:creationId xmlns:a16="http://schemas.microsoft.com/office/drawing/2014/main" id="{EC6B9046-0011-F5E6-8672-4AE1A2045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89588" y="2233613"/>
              <a:ext cx="1290638" cy="4857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sp>
        <p:nvSpPr>
          <p:cNvPr id="76" name="Freeform 100">
            <a:extLst>
              <a:ext uri="{FF2B5EF4-FFF2-40B4-BE49-F238E27FC236}">
                <a16:creationId xmlns:a16="http://schemas.microsoft.com/office/drawing/2014/main" id="{19A8720E-5B7F-131C-B3EA-B2D9E4894376}"/>
              </a:ext>
            </a:extLst>
          </p:cNvPr>
          <p:cNvSpPr>
            <a:spLocks/>
          </p:cNvSpPr>
          <p:nvPr/>
        </p:nvSpPr>
        <p:spPr bwMode="auto">
          <a:xfrm>
            <a:off x="5201571" y="1895623"/>
            <a:ext cx="1279525" cy="1017588"/>
          </a:xfrm>
          <a:custGeom>
            <a:avLst/>
            <a:gdLst>
              <a:gd name="T0" fmla="*/ 0 w 806"/>
              <a:gd name="T1" fmla="*/ 342 h 641"/>
              <a:gd name="T2" fmla="*/ 806 w 806"/>
              <a:gd name="T3" fmla="*/ 641 h 641"/>
              <a:gd name="T4" fmla="*/ 510 w 806"/>
              <a:gd name="T5" fmla="*/ 0 h 641"/>
              <a:gd name="T6" fmla="*/ 0 w 806"/>
              <a:gd name="T7" fmla="*/ 342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6" h="641">
                <a:moveTo>
                  <a:pt x="0" y="342"/>
                </a:moveTo>
                <a:lnTo>
                  <a:pt x="806" y="641"/>
                </a:lnTo>
                <a:lnTo>
                  <a:pt x="510" y="0"/>
                </a:lnTo>
                <a:lnTo>
                  <a:pt x="0" y="342"/>
                </a:lnTo>
                <a:close/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620EB8B-B06D-011F-4EB2-C63C791251AA}"/>
              </a:ext>
            </a:extLst>
          </p:cNvPr>
          <p:cNvGrpSpPr/>
          <p:nvPr/>
        </p:nvGrpSpPr>
        <p:grpSpPr>
          <a:xfrm>
            <a:off x="4716016" y="1606253"/>
            <a:ext cx="849009" cy="572600"/>
            <a:chOff x="4729920" y="1606591"/>
            <a:chExt cx="849009" cy="572600"/>
          </a:xfrm>
        </p:grpSpPr>
        <p:sp>
          <p:nvSpPr>
            <p:cNvPr id="74" name="Text Box 78">
              <a:extLst>
                <a:ext uri="{FF2B5EF4-FFF2-40B4-BE49-F238E27FC236}">
                  <a16:creationId xmlns:a16="http://schemas.microsoft.com/office/drawing/2014/main" id="{DE0780F9-BD05-1AD4-AD27-D8DAF555A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9920" y="1606591"/>
              <a:ext cx="649537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 dirty="0">
                  <a:latin typeface="黑体" pitchFamily="49" charset="-122"/>
                  <a:ea typeface="黑体" pitchFamily="49" charset="-122"/>
                </a:rPr>
                <a:t>实形</a:t>
              </a:r>
            </a:p>
          </p:txBody>
        </p:sp>
        <p:sp>
          <p:nvSpPr>
            <p:cNvPr id="78" name="AutoShape 77">
              <a:extLst>
                <a:ext uri="{FF2B5EF4-FFF2-40B4-BE49-F238E27FC236}">
                  <a16:creationId xmlns:a16="http://schemas.microsoft.com/office/drawing/2014/main" id="{55DA29BF-C720-B5FD-A438-CFCD26697D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298159">
              <a:off x="5266192" y="1866454"/>
              <a:ext cx="319087" cy="306387"/>
            </a:xfrm>
            <a:prstGeom prst="leftArrow">
              <a:avLst>
                <a:gd name="adj1" fmla="val 44481"/>
                <a:gd name="adj2" fmla="val 46846"/>
              </a:avLst>
            </a:prstGeom>
            <a:solidFill>
              <a:srgbClr val="7030A0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60DADE6-A265-6BBB-77FE-AFC3D1598015}"/>
              </a:ext>
            </a:extLst>
          </p:cNvPr>
          <p:cNvGrpSpPr/>
          <p:nvPr/>
        </p:nvGrpSpPr>
        <p:grpSpPr>
          <a:xfrm>
            <a:off x="7261482" y="1807359"/>
            <a:ext cx="1087592" cy="2695575"/>
            <a:chOff x="7261482" y="1807359"/>
            <a:chExt cx="1087592" cy="2695575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7763D95-0464-2954-A8FE-9C7BB769B4F0}"/>
                </a:ext>
              </a:extLst>
            </p:cNvPr>
            <p:cNvGrpSpPr/>
            <p:nvPr/>
          </p:nvGrpSpPr>
          <p:grpSpPr>
            <a:xfrm>
              <a:off x="7302911" y="1807359"/>
              <a:ext cx="1046163" cy="2695575"/>
              <a:chOff x="7423151" y="1608138"/>
              <a:chExt cx="1046163" cy="2695575"/>
            </a:xfrm>
          </p:grpSpPr>
          <p:sp>
            <p:nvSpPr>
              <p:cNvPr id="82" name="Line 55">
                <a:extLst>
                  <a:ext uri="{FF2B5EF4-FFF2-40B4-BE49-F238E27FC236}">
                    <a16:creationId xmlns:a16="http://schemas.microsoft.com/office/drawing/2014/main" id="{FB26993E-BAEF-DBCE-706E-B8E12C332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23151" y="1608138"/>
                <a:ext cx="0" cy="1833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F4BBC8A1-C5A5-6693-D0B4-BFE029EA2FC6}"/>
                  </a:ext>
                </a:extLst>
              </p:cNvPr>
              <p:cNvGrpSpPr/>
              <p:nvPr/>
            </p:nvGrpSpPr>
            <p:grpSpPr>
              <a:xfrm>
                <a:off x="7423151" y="1608138"/>
                <a:ext cx="1046163" cy="2695575"/>
                <a:chOff x="7423151" y="1608138"/>
                <a:chExt cx="1046163" cy="2695575"/>
              </a:xfrm>
            </p:grpSpPr>
            <p:sp>
              <p:nvSpPr>
                <p:cNvPr id="84" name="Line 22">
                  <a:extLst>
                    <a:ext uri="{FF2B5EF4-FFF2-40B4-BE49-F238E27FC236}">
                      <a16:creationId xmlns:a16="http://schemas.microsoft.com/office/drawing/2014/main" id="{E3F03EB2-B8E9-52CE-BD52-66201303EA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835901" y="3351213"/>
                  <a:ext cx="633413" cy="9525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宋体" pitchFamily="2" charset="-122"/>
                  </a:endParaRPr>
                </a:p>
              </p:txBody>
            </p:sp>
            <p:sp>
              <p:nvSpPr>
                <p:cNvPr id="85" name="Line 23">
                  <a:extLst>
                    <a:ext uri="{FF2B5EF4-FFF2-40B4-BE49-F238E27FC236}">
                      <a16:creationId xmlns:a16="http://schemas.microsoft.com/office/drawing/2014/main" id="{7550273E-4F6E-9ADA-274D-43B6D52B2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37488" y="1914525"/>
                  <a:ext cx="631825" cy="61118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0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宋体" pitchFamily="2" charset="-122"/>
                  </a:endParaRPr>
                </a:p>
              </p:txBody>
            </p:sp>
            <p:sp>
              <p:nvSpPr>
                <p:cNvPr id="87" name="Line 56">
                  <a:extLst>
                    <a:ext uri="{FF2B5EF4-FFF2-40B4-BE49-F238E27FC236}">
                      <a16:creationId xmlns:a16="http://schemas.microsoft.com/office/drawing/2014/main" id="{2E218C45-0339-03F8-610E-C33CA09AC6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23151" y="1608138"/>
                  <a:ext cx="0" cy="100806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宋体" pitchFamily="2" charset="-122"/>
                  </a:endParaRPr>
                </a:p>
              </p:txBody>
            </p:sp>
            <p:sp>
              <p:nvSpPr>
                <p:cNvPr id="88" name="Line 58">
                  <a:extLst>
                    <a:ext uri="{FF2B5EF4-FFF2-40B4-BE49-F238E27FC236}">
                      <a16:creationId xmlns:a16="http://schemas.microsoft.com/office/drawing/2014/main" id="{0F105EDB-28B4-1FFD-CAA8-4279B4DF9B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37488" y="1917700"/>
                  <a:ext cx="0" cy="23780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宋体" pitchFamily="2" charset="-122"/>
                  </a:endParaRPr>
                </a:p>
              </p:txBody>
            </p:sp>
            <p:sp>
              <p:nvSpPr>
                <p:cNvPr id="89" name="Line 59">
                  <a:extLst>
                    <a:ext uri="{FF2B5EF4-FFF2-40B4-BE49-F238E27FC236}">
                      <a16:creationId xmlns:a16="http://schemas.microsoft.com/office/drawing/2014/main" id="{47D82051-F87B-B7FB-92D2-05C6EA926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56613" y="2516188"/>
                  <a:ext cx="0" cy="8477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宋体" pitchFamily="2" charset="-122"/>
                  </a:endParaRPr>
                </a:p>
              </p:txBody>
            </p:sp>
          </p:grpSp>
        </p:grpSp>
        <p:sp>
          <p:nvSpPr>
            <p:cNvPr id="90" name="Oval 60">
              <a:extLst>
                <a:ext uri="{FF2B5EF4-FFF2-40B4-BE49-F238E27FC236}">
                  <a16:creationId xmlns:a16="http://schemas.microsoft.com/office/drawing/2014/main" id="{65E29BB3-C6CD-4A70-0AC6-E15A26013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482" y="3623217"/>
              <a:ext cx="79375" cy="77787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sp>
        <p:nvSpPr>
          <p:cNvPr id="97" name="Line 67">
            <a:extLst>
              <a:ext uri="{FF2B5EF4-FFF2-40B4-BE49-F238E27FC236}">
                <a16:creationId xmlns:a16="http://schemas.microsoft.com/office/drawing/2014/main" id="{EC7522C7-3C4A-EA6D-BD0F-E37899BDF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953" y="3265240"/>
            <a:ext cx="382901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094933F-8EE7-6E4C-6040-6C0E7DF71C5D}"/>
              </a:ext>
            </a:extLst>
          </p:cNvPr>
          <p:cNvGrpSpPr/>
          <p:nvPr/>
        </p:nvGrpSpPr>
        <p:grpSpPr>
          <a:xfrm>
            <a:off x="1045354" y="1561080"/>
            <a:ext cx="649537" cy="697337"/>
            <a:chOff x="1045354" y="1561080"/>
            <a:chExt cx="649537" cy="697337"/>
          </a:xfrm>
        </p:grpSpPr>
        <p:sp>
          <p:nvSpPr>
            <p:cNvPr id="24" name="Text Box 81">
              <a:extLst>
                <a:ext uri="{FF2B5EF4-FFF2-40B4-BE49-F238E27FC236}">
                  <a16:creationId xmlns:a16="http://schemas.microsoft.com/office/drawing/2014/main" id="{C8719770-42E3-3C2A-28FC-37B1A23CB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5354" y="1561080"/>
              <a:ext cx="649537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 dirty="0">
                  <a:latin typeface="黑体" pitchFamily="49" charset="-122"/>
                  <a:ea typeface="黑体" pitchFamily="49" charset="-122"/>
                </a:rPr>
                <a:t>交点</a:t>
              </a:r>
            </a:p>
          </p:txBody>
        </p:sp>
        <p:sp>
          <p:nvSpPr>
            <p:cNvPr id="98" name="AutoShape 77">
              <a:extLst>
                <a:ext uri="{FF2B5EF4-FFF2-40B4-BE49-F238E27FC236}">
                  <a16:creationId xmlns:a16="http://schemas.microsoft.com/office/drawing/2014/main" id="{F4D7FD92-E990-A0AD-7A3B-E066B279E7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1219434" y="1945680"/>
              <a:ext cx="319087" cy="306387"/>
            </a:xfrm>
            <a:prstGeom prst="leftArrow">
              <a:avLst>
                <a:gd name="adj1" fmla="val 44481"/>
                <a:gd name="adj2" fmla="val 46846"/>
              </a:avLst>
            </a:prstGeom>
            <a:solidFill>
              <a:srgbClr val="7030A0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339F0A4-F6DE-0623-D135-70A8D69F4176}"/>
              </a:ext>
            </a:extLst>
          </p:cNvPr>
          <p:cNvGrpSpPr/>
          <p:nvPr/>
        </p:nvGrpSpPr>
        <p:grpSpPr>
          <a:xfrm>
            <a:off x="2473656" y="1648349"/>
            <a:ext cx="780920" cy="757352"/>
            <a:chOff x="2473656" y="1648349"/>
            <a:chExt cx="780920" cy="757352"/>
          </a:xfrm>
        </p:grpSpPr>
        <p:sp>
          <p:nvSpPr>
            <p:cNvPr id="55" name="Text Box 82">
              <a:extLst>
                <a:ext uri="{FF2B5EF4-FFF2-40B4-BE49-F238E27FC236}">
                  <a16:creationId xmlns:a16="http://schemas.microsoft.com/office/drawing/2014/main" id="{EE7EF8C6-74A0-9B7B-2597-38E111367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3656" y="1648349"/>
              <a:ext cx="649537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 dirty="0">
                  <a:latin typeface="黑体" pitchFamily="49" charset="-122"/>
                  <a:ea typeface="黑体" pitchFamily="49" charset="-122"/>
                </a:rPr>
                <a:t>交线</a:t>
              </a:r>
            </a:p>
          </p:txBody>
        </p:sp>
        <p:sp>
          <p:nvSpPr>
            <p:cNvPr id="99" name="AutoShape 77">
              <a:extLst>
                <a:ext uri="{FF2B5EF4-FFF2-40B4-BE49-F238E27FC236}">
                  <a16:creationId xmlns:a16="http://schemas.microsoft.com/office/drawing/2014/main" id="{9C8B2692-0177-5999-C0CF-445C850C8B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800677">
              <a:off x="2941839" y="2092964"/>
              <a:ext cx="319087" cy="306387"/>
            </a:xfrm>
            <a:prstGeom prst="leftArrow">
              <a:avLst>
                <a:gd name="adj1" fmla="val 44481"/>
                <a:gd name="adj2" fmla="val 46846"/>
              </a:avLst>
            </a:prstGeom>
            <a:solidFill>
              <a:srgbClr val="7030A0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3F0E050-F495-FE83-9959-E8F12F6683B6}"/>
              </a:ext>
            </a:extLst>
          </p:cNvPr>
          <p:cNvGrpSpPr/>
          <p:nvPr/>
        </p:nvGrpSpPr>
        <p:grpSpPr>
          <a:xfrm>
            <a:off x="6543112" y="3871198"/>
            <a:ext cx="1135588" cy="666916"/>
            <a:chOff x="6543112" y="3871198"/>
            <a:chExt cx="1135588" cy="666916"/>
          </a:xfrm>
        </p:grpSpPr>
        <p:sp>
          <p:nvSpPr>
            <p:cNvPr id="92" name="Text Box 80">
              <a:extLst>
                <a:ext uri="{FF2B5EF4-FFF2-40B4-BE49-F238E27FC236}">
                  <a16:creationId xmlns:a16="http://schemas.microsoft.com/office/drawing/2014/main" id="{AB16DB5C-249A-9F80-39E2-779199EAB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3112" y="4168782"/>
              <a:ext cx="1135588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b="1" dirty="0">
                  <a:latin typeface="黑体" pitchFamily="49" charset="-122"/>
                  <a:ea typeface="黑体" pitchFamily="49" charset="-122"/>
                </a:rPr>
                <a:t>距离实长</a:t>
              </a:r>
            </a:p>
          </p:txBody>
        </p:sp>
        <p:sp>
          <p:nvSpPr>
            <p:cNvPr id="100" name="AutoShape 77">
              <a:extLst>
                <a:ext uri="{FF2B5EF4-FFF2-40B4-BE49-F238E27FC236}">
                  <a16:creationId xmlns:a16="http://schemas.microsoft.com/office/drawing/2014/main" id="{7A798E02-E2B8-3972-5185-1F1420306E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00362">
              <a:off x="7317533" y="3877548"/>
              <a:ext cx="319087" cy="306387"/>
            </a:xfrm>
            <a:prstGeom prst="leftArrow">
              <a:avLst>
                <a:gd name="adj1" fmla="val 44481"/>
                <a:gd name="adj2" fmla="val 46846"/>
              </a:avLst>
            </a:prstGeom>
            <a:solidFill>
              <a:srgbClr val="7030A0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</p:grpSp>
      <p:sp>
        <p:nvSpPr>
          <p:cNvPr id="2" name="Text Box 13">
            <a:extLst>
              <a:ext uri="{FF2B5EF4-FFF2-40B4-BE49-F238E27FC236}">
                <a16:creationId xmlns:a16="http://schemas.microsoft.com/office/drawing/2014/main" id="{B3521472-7BD5-7C6F-9566-E4DE1336F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71" y="1117398"/>
            <a:ext cx="2927404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确定交点、交线位置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085F8C99-49EF-1068-E171-A372B76F0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741" y="1117398"/>
            <a:ext cx="2414444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确定实形、实长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D57B3DC4-34EB-AC7E-B4E1-850C88EDAA99}"/>
              </a:ext>
            </a:extLst>
          </p:cNvPr>
          <p:cNvGrpSpPr/>
          <p:nvPr/>
        </p:nvGrpSpPr>
        <p:grpSpPr>
          <a:xfrm>
            <a:off x="7314063" y="2393653"/>
            <a:ext cx="714375" cy="1677443"/>
            <a:chOff x="7314063" y="2393653"/>
            <a:chExt cx="714375" cy="1677443"/>
          </a:xfrm>
        </p:grpSpPr>
        <p:sp>
          <p:nvSpPr>
            <p:cNvPr id="9" name="Line 26">
              <a:extLst>
                <a:ext uri="{FF2B5EF4-FFF2-40B4-BE49-F238E27FC236}">
                  <a16:creationId xmlns:a16="http://schemas.microsoft.com/office/drawing/2014/main" id="{2329B8DA-7547-5D8B-22D3-B13F41BE5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5664" y="2393653"/>
              <a:ext cx="0" cy="1663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endParaRPr>
            </a:p>
          </p:txBody>
        </p:sp>
        <p:grpSp>
          <p:nvGrpSpPr>
            <p:cNvPr id="6" name="Group 131">
              <a:extLst>
                <a:ext uri="{FF2B5EF4-FFF2-40B4-BE49-F238E27FC236}">
                  <a16:creationId xmlns:a16="http://schemas.microsoft.com/office/drawing/2014/main" id="{DDF36747-9213-A6FD-8D45-758E558C69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4063" y="2394695"/>
              <a:ext cx="714375" cy="1676401"/>
              <a:chOff x="4676" y="1002"/>
              <a:chExt cx="450" cy="1056"/>
            </a:xfrm>
          </p:grpSpPr>
          <p:sp>
            <p:nvSpPr>
              <p:cNvPr id="7" name="Line 86">
                <a:extLst>
                  <a:ext uri="{FF2B5EF4-FFF2-40B4-BE49-F238E27FC236}">
                    <a16:creationId xmlns:a16="http://schemas.microsoft.com/office/drawing/2014/main" id="{9BDFAFD9-2DD8-8683-94FD-D4280E355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5" y="1813"/>
                <a:ext cx="433" cy="245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8" name="Line 104">
                <a:extLst>
                  <a:ext uri="{FF2B5EF4-FFF2-40B4-BE49-F238E27FC236}">
                    <a16:creationId xmlns:a16="http://schemas.microsoft.com/office/drawing/2014/main" id="{A03D9BDD-BA0B-F953-E322-98D344ED3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6" y="1002"/>
                <a:ext cx="450" cy="0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15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6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75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0" grpId="0" animBg="1"/>
      <p:bldP spid="62" grpId="0" animBg="1"/>
      <p:bldP spid="64" grpId="0"/>
      <p:bldP spid="76" grpId="0" animBg="1"/>
      <p:bldP spid="97" grpId="0" animBg="1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20D0-0851-C369-8C6A-5E8533139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02ADC2F-D0AD-F386-B2AF-61A42DA6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FA2AC02-8966-2849-1FB4-752F6F11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投影变换概述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45F1E28A-71C8-C5B9-D659-7F8A78898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012" y="2483808"/>
            <a:ext cx="2376263" cy="707886"/>
          </a:xfrm>
          <a:prstGeom prst="rect">
            <a:avLst/>
          </a:prstGeom>
          <a:noFill/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几何元素处于一般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位置时怎么办？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27B8F60-0816-CE46-AA81-170A43F0088A}"/>
              </a:ext>
            </a:extLst>
          </p:cNvPr>
          <p:cNvGrpSpPr/>
          <p:nvPr/>
        </p:nvGrpSpPr>
        <p:grpSpPr>
          <a:xfrm>
            <a:off x="2955857" y="2360697"/>
            <a:ext cx="1489647" cy="954107"/>
            <a:chOff x="2955857" y="2360697"/>
            <a:chExt cx="1489647" cy="95410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2741EEC-6315-4FD1-7526-23BC25C4E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864" y="2360697"/>
              <a:ext cx="1097640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 影变 换</a:t>
              </a:r>
              <a:endPara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箭头: 虚尾 90">
              <a:extLst>
                <a:ext uri="{FF2B5EF4-FFF2-40B4-BE49-F238E27FC236}">
                  <a16:creationId xmlns:a16="http://schemas.microsoft.com/office/drawing/2014/main" id="{560B86B7-CB9B-5668-8BF2-E4EDF052D9F6}"/>
                </a:ext>
              </a:extLst>
            </p:cNvPr>
            <p:cNvSpPr/>
            <p:nvPr/>
          </p:nvSpPr>
          <p:spPr>
            <a:xfrm>
              <a:off x="2955857" y="2576141"/>
              <a:ext cx="288032" cy="523220"/>
            </a:xfrm>
            <a:prstGeom prst="stripedRightArrow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50596A-5431-F0D5-2135-7171AE956E17}"/>
              </a:ext>
            </a:extLst>
          </p:cNvPr>
          <p:cNvGrpSpPr/>
          <p:nvPr/>
        </p:nvGrpSpPr>
        <p:grpSpPr>
          <a:xfrm>
            <a:off x="3803090" y="1588787"/>
            <a:ext cx="4696293" cy="719640"/>
            <a:chOff x="3803090" y="1588787"/>
            <a:chExt cx="4696293" cy="719640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3206D7E6-99D3-CFA0-9910-C2D163554697}"/>
                </a:ext>
              </a:extLst>
            </p:cNvPr>
            <p:cNvGrpSpPr/>
            <p:nvPr/>
          </p:nvGrpSpPr>
          <p:grpSpPr>
            <a:xfrm>
              <a:off x="4763200" y="1588787"/>
              <a:ext cx="3736183" cy="719640"/>
              <a:chOff x="5004048" y="2695040"/>
              <a:chExt cx="3736183" cy="719640"/>
            </a:xfrm>
          </p:grpSpPr>
          <p:sp>
            <p:nvSpPr>
              <p:cNvPr id="9" name="Text Box 13">
                <a:extLst>
                  <a:ext uri="{FF2B5EF4-FFF2-40B4-BE49-F238E27FC236}">
                    <a16:creationId xmlns:a16="http://schemas.microsoft.com/office/drawing/2014/main" id="{E850C50C-9E3F-9DC9-69A7-4BC84388FC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4048" y="2813122"/>
                <a:ext cx="1296144" cy="483476"/>
              </a:xfrm>
              <a:prstGeom prst="rect">
                <a:avLst/>
              </a:prstGeom>
              <a:solidFill>
                <a:srgbClr val="002060"/>
              </a:solidFill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67320" anchor="ctr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换面法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3">
                <a:extLst>
                  <a:ext uri="{FF2B5EF4-FFF2-40B4-BE49-F238E27FC236}">
                    <a16:creationId xmlns:a16="http://schemas.microsoft.com/office/drawing/2014/main" id="{23D517EF-6956-5CAC-DAC1-1E3407306E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7800" y="2695040"/>
                <a:ext cx="2322431" cy="719640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none" lIns="91440" tIns="45720" rIns="91440" bIns="42120" anchor="ctr">
                <a:spAutoFit/>
              </a:bodyPr>
              <a:lstStyle/>
              <a:p>
                <a:pPr marL="288000" indent="-288000">
                  <a:spcAft>
                    <a:spcPts val="6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几何元素保持不动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8000" indent="-288000">
                  <a:spcAft>
                    <a:spcPts val="6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变换投影面的位置</a:t>
                </a:r>
              </a:p>
            </p:txBody>
          </p:sp>
        </p:grpSp>
        <p:sp>
          <p:nvSpPr>
            <p:cNvPr id="96" name="箭头: 圆角右 95">
              <a:extLst>
                <a:ext uri="{FF2B5EF4-FFF2-40B4-BE49-F238E27FC236}">
                  <a16:creationId xmlns:a16="http://schemas.microsoft.com/office/drawing/2014/main" id="{2645C478-7DEA-8978-7310-07AC97EEB194}"/>
                </a:ext>
              </a:extLst>
            </p:cNvPr>
            <p:cNvSpPr/>
            <p:nvPr/>
          </p:nvSpPr>
          <p:spPr>
            <a:xfrm>
              <a:off x="3803090" y="1771949"/>
              <a:ext cx="792088" cy="523220"/>
            </a:xfrm>
            <a:prstGeom prst="bentArrow">
              <a:avLst>
                <a:gd name="adj1" fmla="val 25000"/>
                <a:gd name="adj2" fmla="val 31675"/>
                <a:gd name="adj3" fmla="val 50000"/>
                <a:gd name="adj4" fmla="val 43750"/>
              </a:avLst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F78407E-DC33-B7C1-6097-0448379D1B15}"/>
              </a:ext>
            </a:extLst>
          </p:cNvPr>
          <p:cNvGrpSpPr/>
          <p:nvPr/>
        </p:nvGrpSpPr>
        <p:grpSpPr>
          <a:xfrm>
            <a:off x="3803090" y="3350710"/>
            <a:ext cx="4696293" cy="719640"/>
            <a:chOff x="3803090" y="3350710"/>
            <a:chExt cx="4696293" cy="719640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B6CDBA97-83D5-FEAC-BE79-C6529CB9604B}"/>
                </a:ext>
              </a:extLst>
            </p:cNvPr>
            <p:cNvGrpSpPr/>
            <p:nvPr/>
          </p:nvGrpSpPr>
          <p:grpSpPr>
            <a:xfrm>
              <a:off x="4763200" y="3350710"/>
              <a:ext cx="3736183" cy="719640"/>
              <a:chOff x="5004048" y="3958990"/>
              <a:chExt cx="3736183" cy="719640"/>
            </a:xfrm>
          </p:grpSpPr>
          <p:sp>
            <p:nvSpPr>
              <p:cNvPr id="29" name="Text Box 13">
                <a:extLst>
                  <a:ext uri="{FF2B5EF4-FFF2-40B4-BE49-F238E27FC236}">
                    <a16:creationId xmlns:a16="http://schemas.microsoft.com/office/drawing/2014/main" id="{B1586259-226B-A6C5-9E71-FC84A3E29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4048" y="4077072"/>
                <a:ext cx="1296144" cy="483476"/>
              </a:xfrm>
              <a:prstGeom prst="rect">
                <a:avLst/>
              </a:prstGeom>
              <a:solidFill>
                <a:srgbClr val="002060"/>
              </a:solidFill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67320" anchor="ctr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旋转法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 Box 13">
                <a:extLst>
                  <a:ext uri="{FF2B5EF4-FFF2-40B4-BE49-F238E27FC236}">
                    <a16:creationId xmlns:a16="http://schemas.microsoft.com/office/drawing/2014/main" id="{F753EAB8-96FC-CA24-ED5B-A45E77139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7800" y="3958990"/>
                <a:ext cx="2322431" cy="719640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none" lIns="91440" tIns="45720" rIns="91440" bIns="42120" anchor="ctr">
                <a:spAutoFit/>
              </a:bodyPr>
              <a:lstStyle/>
              <a:p>
                <a:pPr marL="288000" indent="-288000">
                  <a:spcAft>
                    <a:spcPts val="6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投影面保持不动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8000" indent="-288000">
                  <a:spcAft>
                    <a:spcPts val="6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几何元素绕轴旋转</a:t>
                </a:r>
              </a:p>
            </p:txBody>
          </p:sp>
        </p:grpSp>
        <p:sp>
          <p:nvSpPr>
            <p:cNvPr id="101" name="箭头: 圆角右 100">
              <a:extLst>
                <a:ext uri="{FF2B5EF4-FFF2-40B4-BE49-F238E27FC236}">
                  <a16:creationId xmlns:a16="http://schemas.microsoft.com/office/drawing/2014/main" id="{4F105A7B-1358-FE69-3B9A-FC0A7E97FEEF}"/>
                </a:ext>
              </a:extLst>
            </p:cNvPr>
            <p:cNvSpPr/>
            <p:nvPr/>
          </p:nvSpPr>
          <p:spPr>
            <a:xfrm flipV="1">
              <a:off x="3803090" y="3370266"/>
              <a:ext cx="792088" cy="523220"/>
            </a:xfrm>
            <a:prstGeom prst="bentArrow">
              <a:avLst>
                <a:gd name="adj1" fmla="val 25000"/>
                <a:gd name="adj2" fmla="val 31675"/>
                <a:gd name="adj3" fmla="val 50000"/>
                <a:gd name="adj4" fmla="val 43750"/>
              </a:avLst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C4A004C-E2E8-C993-DABF-FFC7E46E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08" y="4816797"/>
            <a:ext cx="8034785" cy="9916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投影变化目的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：改变几何元素与投影面的相对位置，使之平行或垂直投影面，从而简化空间几何问题的求解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7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2B27-F470-DD90-50AD-16B00066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2F2553-A08C-0AFD-A161-A589EDC1D24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91671" y="2727900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新投影面选择原则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3EB91-193F-4164-A8DC-826D963A9440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8689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E3E9-CBC4-FBF1-525E-1FFC05F5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CFFBD163-52EF-6984-6B5D-23C9A67C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A4621E5F-C47C-F0A2-05BD-89045327E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新投影面选择原则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ADC802-A5A0-BFF9-CE57-EB858C12D992}"/>
              </a:ext>
            </a:extLst>
          </p:cNvPr>
          <p:cNvGrpSpPr>
            <a:grpSpLocks/>
          </p:cNvGrpSpPr>
          <p:nvPr/>
        </p:nvGrpSpPr>
        <p:grpSpPr bwMode="auto">
          <a:xfrm>
            <a:off x="438461" y="1412776"/>
            <a:ext cx="4422013" cy="4554538"/>
            <a:chOff x="818" y="744"/>
            <a:chExt cx="2746" cy="286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7223713-7760-4603-D141-433D31160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744"/>
              <a:ext cx="902" cy="2554"/>
            </a:xfrm>
            <a:custGeom>
              <a:avLst/>
              <a:gdLst>
                <a:gd name="T0" fmla="*/ 0 w 902"/>
                <a:gd name="T1" fmla="*/ 908 h 2554"/>
                <a:gd name="T2" fmla="*/ 0 w 902"/>
                <a:gd name="T3" fmla="*/ 2554 h 2554"/>
                <a:gd name="T4" fmla="*/ 902 w 902"/>
                <a:gd name="T5" fmla="*/ 1640 h 2554"/>
                <a:gd name="T6" fmla="*/ 902 w 902"/>
                <a:gd name="T7" fmla="*/ 0 h 2554"/>
                <a:gd name="T8" fmla="*/ 0 w 902"/>
                <a:gd name="T9" fmla="*/ 908 h 25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2"/>
                <a:gd name="T16" fmla="*/ 0 h 2554"/>
                <a:gd name="T17" fmla="*/ 902 w 902"/>
                <a:gd name="T18" fmla="*/ 2554 h 25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2" h="2554">
                  <a:moveTo>
                    <a:pt x="0" y="908"/>
                  </a:moveTo>
                  <a:lnTo>
                    <a:pt x="0" y="2554"/>
                  </a:lnTo>
                  <a:lnTo>
                    <a:pt x="902" y="1640"/>
                  </a:lnTo>
                  <a:lnTo>
                    <a:pt x="902" y="0"/>
                  </a:lnTo>
                  <a:lnTo>
                    <a:pt x="0" y="90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0195"/>
              </a:schemeClr>
            </a:solidFill>
            <a:ln w="38100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303D58C-8403-365E-AE06-54B0ED82C868}"/>
                </a:ext>
              </a:extLst>
            </p:cNvPr>
            <p:cNvSpPr>
              <a:spLocks/>
            </p:cNvSpPr>
            <p:nvPr/>
          </p:nvSpPr>
          <p:spPr bwMode="auto">
            <a:xfrm rot="780000">
              <a:off x="907" y="2476"/>
              <a:ext cx="2657" cy="1137"/>
            </a:xfrm>
            <a:custGeom>
              <a:avLst/>
              <a:gdLst>
                <a:gd name="T0" fmla="*/ 0 w 3344"/>
                <a:gd name="T1" fmla="*/ 1408 h 918"/>
                <a:gd name="T2" fmla="*/ 1544 w 3344"/>
                <a:gd name="T3" fmla="*/ 1390 h 918"/>
                <a:gd name="T4" fmla="*/ 2111 w 3344"/>
                <a:gd name="T5" fmla="*/ 14 h 918"/>
                <a:gd name="T6" fmla="*/ 555 w 3344"/>
                <a:gd name="T7" fmla="*/ 0 h 918"/>
                <a:gd name="T8" fmla="*/ 0 w 3344"/>
                <a:gd name="T9" fmla="*/ 1408 h 9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44"/>
                <a:gd name="T16" fmla="*/ 0 h 918"/>
                <a:gd name="T17" fmla="*/ 3344 w 3344"/>
                <a:gd name="T18" fmla="*/ 918 h 9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44" h="918">
                  <a:moveTo>
                    <a:pt x="0" y="918"/>
                  </a:moveTo>
                  <a:lnTo>
                    <a:pt x="2445" y="906"/>
                  </a:lnTo>
                  <a:lnTo>
                    <a:pt x="3344" y="9"/>
                  </a:lnTo>
                  <a:lnTo>
                    <a:pt x="880" y="0"/>
                  </a:lnTo>
                  <a:lnTo>
                    <a:pt x="0" y="918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38100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sp>
        <p:nvSpPr>
          <p:cNvPr id="8" name="Text Box 8">
            <a:extLst>
              <a:ext uri="{FF2B5EF4-FFF2-40B4-BE49-F238E27FC236}">
                <a16:creationId xmlns:a16="http://schemas.microsoft.com/office/drawing/2014/main" id="{194B7A3D-06CE-8C45-D756-76B332411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998" y="2716114"/>
            <a:ext cx="3710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66"/>
                </a:solidFill>
                <a:latin typeface="+mn-ea"/>
              </a:rPr>
              <a:t>V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1086B78-EBC5-E46B-3D4E-E4EF3E7D6EB7}"/>
              </a:ext>
            </a:extLst>
          </p:cNvPr>
          <p:cNvSpPr txBox="1">
            <a:spLocks noChangeArrowheads="1"/>
          </p:cNvSpPr>
          <p:nvPr/>
        </p:nvSpPr>
        <p:spPr bwMode="auto">
          <a:xfrm rot="-1140000">
            <a:off x="3137811" y="5634111"/>
            <a:ext cx="3710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BottomDown"/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333399"/>
                </a:solidFill>
                <a:latin typeface="+mn-ea"/>
              </a:rPr>
              <a:t>H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0D98CEC-A226-9322-9A99-B1164CA6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675" y="5423121"/>
            <a:ext cx="3710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+mn-ea"/>
              </a:rPr>
              <a:t>X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0A3A4B5-0A0B-0210-F831-D5AE06EF1FE5}"/>
              </a:ext>
            </a:extLst>
          </p:cNvPr>
          <p:cNvSpPr>
            <a:spLocks/>
          </p:cNvSpPr>
          <p:nvPr/>
        </p:nvSpPr>
        <p:spPr bwMode="auto">
          <a:xfrm>
            <a:off x="2865749" y="1831876"/>
            <a:ext cx="1591023" cy="3332163"/>
          </a:xfrm>
          <a:custGeom>
            <a:avLst/>
            <a:gdLst>
              <a:gd name="T0" fmla="*/ 0 w 1104"/>
              <a:gd name="T1" fmla="*/ 0 h 2183"/>
              <a:gd name="T2" fmla="*/ 0 w 1104"/>
              <a:gd name="T3" fmla="*/ 2147483647 h 2183"/>
              <a:gd name="T4" fmla="*/ 2147483647 w 1104"/>
              <a:gd name="T5" fmla="*/ 2147483647 h 2183"/>
              <a:gd name="T6" fmla="*/ 2147483647 w 1104"/>
              <a:gd name="T7" fmla="*/ 2147483647 h 2183"/>
              <a:gd name="T8" fmla="*/ 0 w 1104"/>
              <a:gd name="T9" fmla="*/ 0 h 2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2183"/>
              <a:gd name="T17" fmla="*/ 1104 w 1104"/>
              <a:gd name="T18" fmla="*/ 2183 h 2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2183">
                <a:moveTo>
                  <a:pt x="0" y="0"/>
                </a:moveTo>
                <a:lnTo>
                  <a:pt x="0" y="1546"/>
                </a:lnTo>
                <a:lnTo>
                  <a:pt x="1104" y="2183"/>
                </a:lnTo>
                <a:lnTo>
                  <a:pt x="1104" y="624"/>
                </a:lnTo>
                <a:lnTo>
                  <a:pt x="0" y="0"/>
                </a:lnTo>
                <a:close/>
              </a:path>
            </a:pathLst>
          </a:custGeom>
          <a:solidFill>
            <a:srgbClr val="FFFF66">
              <a:alpha val="50195"/>
            </a:srgbClr>
          </a:solidFill>
          <a:ln w="28575">
            <a:solidFill>
              <a:srgbClr val="FFC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5ED97-8392-6EBC-CB61-F7B099D48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117" y="2637246"/>
            <a:ext cx="6421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LeftDown"/>
            <a:lightRig rig="threePt" dir="t"/>
          </a:scene3d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A50021"/>
                </a:solidFill>
                <a:latin typeface="+mn-ea"/>
              </a:rPr>
              <a:t>P</a:t>
            </a:r>
            <a:r>
              <a:rPr lang="en-US" altLang="zh-CN" sz="2400" b="1" dirty="0">
                <a:solidFill>
                  <a:srgbClr val="A50021"/>
                </a:solidFill>
                <a:latin typeface="+mn-ea"/>
              </a:rPr>
              <a:t>1</a:t>
            </a: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5DCFA4F5-A5D1-424C-A36A-1F60FBDD10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0410" y="3733701"/>
            <a:ext cx="747201" cy="42703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11368E0F-8E98-F159-3094-AFB8FD8D30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6061" y="3747987"/>
            <a:ext cx="6441" cy="1220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3003489F-76E5-122B-2BC7-1D169960ABC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3088088" y="2615149"/>
            <a:ext cx="1026111" cy="112412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29CE420A-DE78-6F31-3508-41B3DA947F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8061" y="2603401"/>
            <a:ext cx="795511" cy="39528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242135F8-EA65-E749-0A8D-7D41EF0865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734" y="4959252"/>
            <a:ext cx="736328" cy="4191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6179BF76-711F-4FD6-1161-595F213BE7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6741" y="4333777"/>
            <a:ext cx="759491" cy="496886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FE4D4294-4038-FA14-0E98-5B8DAD83E5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7966" y="2627212"/>
            <a:ext cx="124" cy="17072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7740B955-FF7D-CFA6-70F1-56F763D04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576" y="5044138"/>
            <a:ext cx="502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X</a:t>
            </a:r>
            <a:r>
              <a:rPr lang="en-US" altLang="zh-CN" sz="2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1</a:t>
            </a:r>
            <a:endParaRPr lang="en-US" altLang="zh-CN" sz="2800" b="1" dirty="0">
              <a:solidFill>
                <a:srgbClr val="A5002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C12B1132-058A-3A86-B8F0-290BDF24D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197" y="2102889"/>
            <a:ext cx="502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A50021"/>
                </a:solidFill>
                <a:latin typeface="+mn-ea"/>
              </a:rPr>
              <a:t>a</a:t>
            </a:r>
            <a:r>
              <a:rPr lang="en-US" altLang="zh-CN" sz="2000" dirty="0">
                <a:solidFill>
                  <a:srgbClr val="A50021"/>
                </a:solidFill>
                <a:latin typeface="+mn-ea"/>
              </a:rPr>
              <a:t>1</a:t>
            </a:r>
            <a:endParaRPr lang="en-US" altLang="zh-CN" sz="2800" dirty="0">
              <a:solidFill>
                <a:srgbClr val="A50021"/>
              </a:solidFill>
              <a:latin typeface="+mn-ea"/>
            </a:endParaRP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F526190-7021-8513-27AF-DA8A3DB1B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843" y="3213366"/>
            <a:ext cx="502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A50021"/>
                </a:solidFill>
                <a:latin typeface="+mn-ea"/>
              </a:rPr>
              <a:t>b</a:t>
            </a:r>
            <a:r>
              <a:rPr lang="en-US" altLang="zh-CN" sz="2000" dirty="0">
                <a:solidFill>
                  <a:srgbClr val="A50021"/>
                </a:solidFill>
                <a:latin typeface="+mn-ea"/>
              </a:rPr>
              <a:t>1</a:t>
            </a:r>
            <a:endParaRPr lang="en-US" altLang="zh-CN" sz="2800" dirty="0">
              <a:solidFill>
                <a:srgbClr val="A50021"/>
              </a:solidFill>
              <a:latin typeface="+mn-ea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4455E0-8D9D-827F-4A44-80BC008B12C8}"/>
              </a:ext>
            </a:extLst>
          </p:cNvPr>
          <p:cNvGrpSpPr>
            <a:grpSpLocks/>
          </p:cNvGrpSpPr>
          <p:nvPr/>
        </p:nvGrpSpPr>
        <p:grpSpPr bwMode="auto">
          <a:xfrm>
            <a:off x="605400" y="2338289"/>
            <a:ext cx="3122462" cy="3417888"/>
            <a:chOff x="1079" y="1114"/>
            <a:chExt cx="1939" cy="2153"/>
          </a:xfrm>
        </p:grpSpPr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B5D8130F-479A-6099-F22B-178EB901C8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80000" flipH="1">
              <a:off x="1328" y="2092"/>
              <a:ext cx="1488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5DD6988-FA06-F914-28F9-7CCE4902D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9" y="1114"/>
              <a:ext cx="1939" cy="2153"/>
              <a:chOff x="1079" y="1114"/>
              <a:chExt cx="1939" cy="2153"/>
            </a:xfrm>
          </p:grpSpPr>
          <p:sp>
            <p:nvSpPr>
              <p:cNvPr id="29" name="Text Box 28">
                <a:extLst>
                  <a:ext uri="{FF2B5EF4-FFF2-40B4-BE49-F238E27FC236}">
                    <a16:creationId xmlns:a16="http://schemas.microsoft.com/office/drawing/2014/main" id="{50DA989D-F819-C696-57E2-5951E024A2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8" y="1223"/>
                <a:ext cx="23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+mn-ea"/>
                  </a:rPr>
                  <a:t>A</a:t>
                </a:r>
              </a:p>
            </p:txBody>
          </p:sp>
          <p:sp>
            <p:nvSpPr>
              <p:cNvPr id="30" name="Text Box 29">
                <a:extLst>
                  <a:ext uri="{FF2B5EF4-FFF2-40B4-BE49-F238E27FC236}">
                    <a16:creationId xmlns:a16="http://schemas.microsoft.com/office/drawing/2014/main" id="{8C41ADCB-37A2-BBBD-8177-AB55C834E0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2" y="2551"/>
                <a:ext cx="23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+mn-ea"/>
                  </a:rPr>
                  <a:t>a</a:t>
                </a:r>
              </a:p>
            </p:txBody>
          </p:sp>
          <p:sp>
            <p:nvSpPr>
              <p:cNvPr id="31" name="Text Box 30">
                <a:extLst>
                  <a:ext uri="{FF2B5EF4-FFF2-40B4-BE49-F238E27FC236}">
                    <a16:creationId xmlns:a16="http://schemas.microsoft.com/office/drawing/2014/main" id="{6C912182-E67C-FBF4-C824-243103F69B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9" y="2937"/>
                <a:ext cx="25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dirty="0">
                    <a:latin typeface="+mn-ea"/>
                  </a:rPr>
                  <a:t>b</a:t>
                </a:r>
              </a:p>
            </p:txBody>
          </p:sp>
          <p:sp>
            <p:nvSpPr>
              <p:cNvPr id="32" name="Text Box 31">
                <a:extLst>
                  <a:ext uri="{FF2B5EF4-FFF2-40B4-BE49-F238E27FC236}">
                    <a16:creationId xmlns:a16="http://schemas.microsoft.com/office/drawing/2014/main" id="{41D77C74-380A-52D4-2FE3-F3B2FE162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3" y="1114"/>
                <a:ext cx="34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+mn-ea"/>
                  </a:rPr>
                  <a:t>a'</a:t>
                </a:r>
              </a:p>
            </p:txBody>
          </p:sp>
          <p:sp>
            <p:nvSpPr>
              <p:cNvPr id="33" name="Text Box 32">
                <a:extLst>
                  <a:ext uri="{FF2B5EF4-FFF2-40B4-BE49-F238E27FC236}">
                    <a16:creationId xmlns:a16="http://schemas.microsoft.com/office/drawing/2014/main" id="{C577C401-23DB-EC0C-2D9D-0415B9734C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9" y="1867"/>
                <a:ext cx="34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latin typeface="+mn-ea"/>
                  </a:rPr>
                  <a:t>b'</a:t>
                </a:r>
              </a:p>
            </p:txBody>
          </p:sp>
          <p:sp>
            <p:nvSpPr>
              <p:cNvPr id="34" name="Text Box 33">
                <a:extLst>
                  <a:ext uri="{FF2B5EF4-FFF2-40B4-BE49-F238E27FC236}">
                    <a16:creationId xmlns:a16="http://schemas.microsoft.com/office/drawing/2014/main" id="{2D00C9F7-5605-EF3F-2230-C7BB57497E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8" y="2173"/>
                <a:ext cx="230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+mn-ea"/>
                  </a:rPr>
                  <a:t>B</a:t>
                </a: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B4256C-3222-E844-4ECA-3E308768D0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6" y="1382"/>
                <a:ext cx="1477" cy="1647"/>
                <a:chOff x="1326" y="1382"/>
                <a:chExt cx="1477" cy="1647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874A8D6F-9134-A1B7-0451-A0C12A19D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6" y="1382"/>
                  <a:ext cx="1477" cy="1647"/>
                  <a:chOff x="1326" y="1382"/>
                  <a:chExt cx="1477" cy="1647"/>
                </a:xfrm>
              </p:grpSpPr>
              <p:sp>
                <p:nvSpPr>
                  <p:cNvPr id="39" name="Line 36">
                    <a:extLst>
                      <a:ext uri="{FF2B5EF4-FFF2-40B4-BE49-F238E27FC236}">
                        <a16:creationId xmlns:a16="http://schemas.microsoft.com/office/drawing/2014/main" id="{95BC10C5-E252-2AB9-56CE-FD3B76BC1C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42" y="1382"/>
                    <a:ext cx="186" cy="574"/>
                  </a:xfrm>
                  <a:prstGeom prst="lin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0" name="Line 37">
                    <a:extLst>
                      <a:ext uri="{FF2B5EF4-FFF2-40B4-BE49-F238E27FC236}">
                        <a16:creationId xmlns:a16="http://schemas.microsoft.com/office/drawing/2014/main" id="{85AF5B70-AF31-E33C-BD88-E4744DF22C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51" y="1519"/>
                    <a:ext cx="0" cy="116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1" name="Line 38">
                    <a:extLst>
                      <a:ext uri="{FF2B5EF4-FFF2-40B4-BE49-F238E27FC236}">
                        <a16:creationId xmlns:a16="http://schemas.microsoft.com/office/drawing/2014/main" id="{C36B20F8-082F-6ECF-64DC-B938EC326B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780000" flipH="1">
                    <a:off x="1326" y="2861"/>
                    <a:ext cx="1472" cy="1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2" name="Line 39">
                    <a:extLst>
                      <a:ext uri="{FF2B5EF4-FFF2-40B4-BE49-F238E27FC236}">
                        <a16:creationId xmlns:a16="http://schemas.microsoft.com/office/drawing/2014/main" id="{0BF92034-C618-2790-6F67-9DECDBDC84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5" y="1391"/>
                    <a:ext cx="0" cy="115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3" name="Line 40">
                    <a:extLst>
                      <a:ext uri="{FF2B5EF4-FFF2-40B4-BE49-F238E27FC236}">
                        <a16:creationId xmlns:a16="http://schemas.microsoft.com/office/drawing/2014/main" id="{C324B524-58B4-82E2-4578-A8BCF42D0B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48" y="2684"/>
                    <a:ext cx="642" cy="345"/>
                  </a:xfrm>
                  <a:prstGeom prst="lin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4" name="Line 41">
                    <a:extLst>
                      <a:ext uri="{FF2B5EF4-FFF2-40B4-BE49-F238E27FC236}">
                        <a16:creationId xmlns:a16="http://schemas.microsoft.com/office/drawing/2014/main" id="{0867F509-C559-A970-6F4B-900F9D6266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780000" flipH="1" flipV="1">
                    <a:off x="1514" y="2614"/>
                    <a:ext cx="648" cy="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5" name="Line 42">
                    <a:extLst>
                      <a:ext uri="{FF2B5EF4-FFF2-40B4-BE49-F238E27FC236}">
                        <a16:creationId xmlns:a16="http://schemas.microsoft.com/office/drawing/2014/main" id="{D5277C18-869C-781C-746F-BD554979B2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780000" flipH="1">
                    <a:off x="1525" y="1462"/>
                    <a:ext cx="6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6" name="Line 43">
                    <a:extLst>
                      <a:ext uri="{FF2B5EF4-FFF2-40B4-BE49-F238E27FC236}">
                        <a16:creationId xmlns:a16="http://schemas.microsoft.com/office/drawing/2014/main" id="{08336852-0985-EEB7-30E9-70A949E9A063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 flipV="1">
                    <a:off x="2151" y="1525"/>
                    <a:ext cx="652" cy="734"/>
                  </a:xfrm>
                  <a:prstGeom prst="line">
                    <a:avLst/>
                  </a:prstGeom>
                  <a:noFill/>
                  <a:ln w="57150">
                    <a:solidFill>
                      <a:srgbClr val="333399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  <p:sp>
                <p:nvSpPr>
                  <p:cNvPr id="47" name="Line 44">
                    <a:extLst>
                      <a:ext uri="{FF2B5EF4-FFF2-40B4-BE49-F238E27FC236}">
                        <a16:creationId xmlns:a16="http://schemas.microsoft.com/office/drawing/2014/main" id="{E8C68293-F036-0A3F-E523-A075F4B491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44" y="1956"/>
                    <a:ext cx="0" cy="7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</p:grpSp>
            <p:sp>
              <p:nvSpPr>
                <p:cNvPr id="38" name="Line 45">
                  <a:extLst>
                    <a:ext uri="{FF2B5EF4-FFF2-40B4-BE49-F238E27FC236}">
                      <a16:creationId xmlns:a16="http://schemas.microsoft.com/office/drawing/2014/main" id="{B6952541-9A0A-D235-2A02-B91AAF3E0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91" y="2255"/>
                  <a:ext cx="0" cy="76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</p:grpSp>
      <p:sp>
        <p:nvSpPr>
          <p:cNvPr id="48" name="Oval 74">
            <a:extLst>
              <a:ext uri="{FF2B5EF4-FFF2-40B4-BE49-F238E27FC236}">
                <a16:creationId xmlns:a16="http://schemas.microsoft.com/office/drawing/2014/main" id="{80C16EE4-3D5D-191F-A2F2-D6A5BFFC0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068" y="2579278"/>
            <a:ext cx="95250" cy="93663"/>
          </a:xfrm>
          <a:prstGeom prst="ellipse">
            <a:avLst/>
          </a:prstGeom>
          <a:solidFill>
            <a:srgbClr val="E6F0FF"/>
          </a:solidFill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49" name="Oval 74">
            <a:extLst>
              <a:ext uri="{FF2B5EF4-FFF2-40B4-BE49-F238E27FC236}">
                <a16:creationId xmlns:a16="http://schemas.microsoft.com/office/drawing/2014/main" id="{85CD5460-2421-0A97-752E-300D85FE5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915" y="3682938"/>
            <a:ext cx="95250" cy="93663"/>
          </a:xfrm>
          <a:prstGeom prst="ellipse">
            <a:avLst/>
          </a:prstGeom>
          <a:solidFill>
            <a:srgbClr val="E6F0FF"/>
          </a:solidFill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20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</p:txBody>
      </p:sp>
      <p:sp>
        <p:nvSpPr>
          <p:cNvPr id="50" name="Text Box 3">
            <a:extLst>
              <a:ext uri="{FF2B5EF4-FFF2-40B4-BE49-F238E27FC236}">
                <a16:creationId xmlns:a16="http://schemas.microsoft.com/office/drawing/2014/main" id="{832EACA0-D48E-FD07-FEC1-79C1E52E1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1209" y="1333729"/>
            <a:ext cx="33954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如何求线段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的实长？</a:t>
            </a: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E9790655-9EDA-DEB4-57B7-E036925F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0691" y="1864986"/>
            <a:ext cx="31614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25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// AB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000" baseline="-25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AB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CD09468-C3DE-DAF1-FA22-C4FCF586A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244" y="4199557"/>
            <a:ext cx="3084063" cy="16142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新投影面必须垂直于原投影面体系中的某一投影面，以构成一个相互垂直的两投影面新体系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EDADB14-F472-3E27-3092-4B4B5C3ED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244" y="2673665"/>
            <a:ext cx="3084063" cy="122953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新投影面必须使空间几何元素处于有利于解题的位置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37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utoUpdateAnimBg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utoUpdateAnimBg="0"/>
      <p:bldP spid="22" grpId="0" build="p" autoUpdateAnimBg="0" advAuto="0"/>
      <p:bldP spid="23" grpId="0" build="p" autoUpdateAnimBg="0" advAuto="0"/>
      <p:bldP spid="48" grpId="0" animBg="1"/>
      <p:bldP spid="49" grpId="0" animBg="1"/>
      <p:bldP spid="51" grpId="0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EA93-95C4-1ABC-25B6-1B2736D9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E03535-9D39-2113-72D4-1247591609F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91670" y="2727900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43BF5-4E24-EA24-4929-2D4ACA8FA4C4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2977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ADB6-C3D5-0BE1-A899-A22B57E2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BEB5A93-9678-1C6E-2AF9-A845C2CD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10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BC4B15D-BDE3-EE33-8750-A45D05FFF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grpSp>
        <p:nvGrpSpPr>
          <p:cNvPr id="123" name="Group 3">
            <a:extLst>
              <a:ext uri="{FF2B5EF4-FFF2-40B4-BE49-F238E27FC236}">
                <a16:creationId xmlns:a16="http://schemas.microsoft.com/office/drawing/2014/main" id="{52E33E8A-C3B9-C8BF-C801-A205B6E77229}"/>
              </a:ext>
            </a:extLst>
          </p:cNvPr>
          <p:cNvGrpSpPr>
            <a:grpSpLocks/>
          </p:cNvGrpSpPr>
          <p:nvPr/>
        </p:nvGrpSpPr>
        <p:grpSpPr bwMode="auto">
          <a:xfrm>
            <a:off x="984279" y="2192937"/>
            <a:ext cx="3414733" cy="3649035"/>
            <a:chOff x="338" y="843"/>
            <a:chExt cx="2689" cy="2874"/>
          </a:xfrm>
        </p:grpSpPr>
        <p:sp>
          <p:nvSpPr>
            <p:cNvPr id="137" name="Freeform 4">
              <a:extLst>
                <a:ext uri="{FF2B5EF4-FFF2-40B4-BE49-F238E27FC236}">
                  <a16:creationId xmlns:a16="http://schemas.microsoft.com/office/drawing/2014/main" id="{03C3D3EC-7A79-42DF-4602-1A40375615D1}"/>
                </a:ext>
              </a:extLst>
            </p:cNvPr>
            <p:cNvSpPr>
              <a:spLocks/>
            </p:cNvSpPr>
            <p:nvPr/>
          </p:nvSpPr>
          <p:spPr bwMode="auto">
            <a:xfrm rot="780000">
              <a:off x="427" y="2607"/>
              <a:ext cx="2600" cy="1110"/>
            </a:xfrm>
            <a:custGeom>
              <a:avLst/>
              <a:gdLst>
                <a:gd name="T0" fmla="*/ 0 w 3369"/>
                <a:gd name="T1" fmla="*/ 1380 h 893"/>
                <a:gd name="T2" fmla="*/ 1478 w 3369"/>
                <a:gd name="T3" fmla="*/ 1380 h 893"/>
                <a:gd name="T4" fmla="*/ 2011 w 3369"/>
                <a:gd name="T5" fmla="*/ 0 h 893"/>
                <a:gd name="T6" fmla="*/ 532 w 3369"/>
                <a:gd name="T7" fmla="*/ 0 h 893"/>
                <a:gd name="T8" fmla="*/ 0 w 3369"/>
                <a:gd name="T9" fmla="*/ 1380 h 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9"/>
                <a:gd name="T16" fmla="*/ 0 h 893"/>
                <a:gd name="T17" fmla="*/ 3369 w 3369"/>
                <a:gd name="T18" fmla="*/ 893 h 893"/>
                <a:gd name="connsiteX0" fmla="*/ 0 w 9987"/>
                <a:gd name="connsiteY0" fmla="*/ 9837 h 10000"/>
                <a:gd name="connsiteX1" fmla="*/ 7336 w 9987"/>
                <a:gd name="connsiteY1" fmla="*/ 10000 h 10000"/>
                <a:gd name="connsiteX2" fmla="*/ 9987 w 9987"/>
                <a:gd name="connsiteY2" fmla="*/ 0 h 10000"/>
                <a:gd name="connsiteX3" fmla="*/ 2635 w 9987"/>
                <a:gd name="connsiteY3" fmla="*/ 0 h 10000"/>
                <a:gd name="connsiteX4" fmla="*/ 0 w 9987"/>
                <a:gd name="connsiteY4" fmla="*/ 983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" h="10000">
                  <a:moveTo>
                    <a:pt x="0" y="9837"/>
                  </a:moveTo>
                  <a:lnTo>
                    <a:pt x="7336" y="10000"/>
                  </a:lnTo>
                  <a:lnTo>
                    <a:pt x="9987" y="0"/>
                  </a:lnTo>
                  <a:lnTo>
                    <a:pt x="2635" y="0"/>
                  </a:lnTo>
                  <a:lnTo>
                    <a:pt x="0" y="9837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38100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Freeform 5">
              <a:extLst>
                <a:ext uri="{FF2B5EF4-FFF2-40B4-BE49-F238E27FC236}">
                  <a16:creationId xmlns:a16="http://schemas.microsoft.com/office/drawing/2014/main" id="{E1ED9DA1-1E4A-29BD-7840-C3F9C9660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" y="843"/>
              <a:ext cx="893" cy="2534"/>
            </a:xfrm>
            <a:custGeom>
              <a:avLst/>
              <a:gdLst>
                <a:gd name="T0" fmla="*/ 0 w 893"/>
                <a:gd name="T1" fmla="*/ 892 h 2534"/>
                <a:gd name="T2" fmla="*/ 0 w 893"/>
                <a:gd name="T3" fmla="*/ 2534 h 2534"/>
                <a:gd name="T4" fmla="*/ 893 w 893"/>
                <a:gd name="T5" fmla="*/ 1641 h 2534"/>
                <a:gd name="T6" fmla="*/ 893 w 893"/>
                <a:gd name="T7" fmla="*/ 0 h 2534"/>
                <a:gd name="T8" fmla="*/ 0 w 893"/>
                <a:gd name="T9" fmla="*/ 892 h 2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3"/>
                <a:gd name="T16" fmla="*/ 0 h 2534"/>
                <a:gd name="T17" fmla="*/ 893 w 893"/>
                <a:gd name="T18" fmla="*/ 2534 h 2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3" h="2534">
                  <a:moveTo>
                    <a:pt x="0" y="892"/>
                  </a:moveTo>
                  <a:lnTo>
                    <a:pt x="0" y="2534"/>
                  </a:lnTo>
                  <a:lnTo>
                    <a:pt x="893" y="1641"/>
                  </a:lnTo>
                  <a:lnTo>
                    <a:pt x="893" y="0"/>
                  </a:lnTo>
                  <a:lnTo>
                    <a:pt x="0" y="892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38100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4" name="Line 6">
            <a:extLst>
              <a:ext uri="{FF2B5EF4-FFF2-40B4-BE49-F238E27FC236}">
                <a16:creationId xmlns:a16="http://schemas.microsoft.com/office/drawing/2014/main" id="{8DFA92B9-468D-81B2-8C20-6CFEB5BE3D73}"/>
              </a:ext>
            </a:extLst>
          </p:cNvPr>
          <p:cNvSpPr>
            <a:spLocks noChangeShapeType="1"/>
          </p:cNvSpPr>
          <p:nvPr/>
        </p:nvSpPr>
        <p:spPr bwMode="auto">
          <a:xfrm rot="780000" flipH="1">
            <a:off x="1412472" y="5149154"/>
            <a:ext cx="1541231" cy="1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 Box 8">
            <a:extLst>
              <a:ext uri="{FF2B5EF4-FFF2-40B4-BE49-F238E27FC236}">
                <a16:creationId xmlns:a16="http://schemas.microsoft.com/office/drawing/2014/main" id="{C1666436-902D-6A91-9A2E-BF8EFCE26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650" y="5194440"/>
            <a:ext cx="321282" cy="46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7" name="Text Box 9">
            <a:extLst>
              <a:ext uri="{FF2B5EF4-FFF2-40B4-BE49-F238E27FC236}">
                <a16:creationId xmlns:a16="http://schemas.microsoft.com/office/drawing/2014/main" id="{A026F97D-BB65-09DD-DDCF-EFFD4C56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295" y="2973307"/>
            <a:ext cx="377157" cy="46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</a:p>
        </p:txBody>
      </p:sp>
      <p:sp>
        <p:nvSpPr>
          <p:cNvPr id="129" name="Text Box 11">
            <a:extLst>
              <a:ext uri="{FF2B5EF4-FFF2-40B4-BE49-F238E27FC236}">
                <a16:creationId xmlns:a16="http://schemas.microsoft.com/office/drawing/2014/main" id="{603784F1-68C0-8ACE-2F1D-A52380710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566" y="4648481"/>
            <a:ext cx="436842" cy="46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Line 14">
            <a:extLst>
              <a:ext uri="{FF2B5EF4-FFF2-40B4-BE49-F238E27FC236}">
                <a16:creationId xmlns:a16="http://schemas.microsoft.com/office/drawing/2014/main" id="{CC62030E-42F1-C4BF-9CFB-92615E549F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2550" y="3425788"/>
            <a:ext cx="0" cy="15553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 Box 16">
            <a:extLst>
              <a:ext uri="{FF2B5EF4-FFF2-40B4-BE49-F238E27FC236}">
                <a16:creationId xmlns:a16="http://schemas.microsoft.com/office/drawing/2014/main" id="{4F1A393B-E09B-06E5-6692-339EAE7D7BA4}"/>
              </a:ext>
            </a:extLst>
          </p:cNvPr>
          <p:cNvSpPr txBox="1">
            <a:spLocks noChangeArrowheads="1"/>
          </p:cNvSpPr>
          <p:nvPr/>
        </p:nvSpPr>
        <p:spPr bwMode="auto">
          <a:xfrm rot="20520000">
            <a:off x="3093566" y="5530902"/>
            <a:ext cx="463510" cy="52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BottomDown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32" name="Text Box 17">
            <a:extLst>
              <a:ext uri="{FF2B5EF4-FFF2-40B4-BE49-F238E27FC236}">
                <a16:creationId xmlns:a16="http://schemas.microsoft.com/office/drawing/2014/main" id="{4DF95C6F-16E9-B25E-F685-25393689F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6" y="5415362"/>
            <a:ext cx="407635" cy="46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grpSp>
        <p:nvGrpSpPr>
          <p:cNvPr id="139" name="Group 21">
            <a:extLst>
              <a:ext uri="{FF2B5EF4-FFF2-40B4-BE49-F238E27FC236}">
                <a16:creationId xmlns:a16="http://schemas.microsoft.com/office/drawing/2014/main" id="{CA1968F3-F9C4-D0C7-E86A-1DE898FEFD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71800" y="2420888"/>
            <a:ext cx="1461110" cy="2771775"/>
            <a:chOff x="2433" y="846"/>
            <a:chExt cx="1151" cy="2183"/>
          </a:xfrm>
        </p:grpSpPr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539BB2C0-2884-AFC6-D926-2AD46420C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846"/>
              <a:ext cx="1104" cy="2183"/>
            </a:xfrm>
            <a:custGeom>
              <a:avLst/>
              <a:gdLst>
                <a:gd name="T0" fmla="*/ 0 w 1104"/>
                <a:gd name="T1" fmla="*/ 0 h 2183"/>
                <a:gd name="T2" fmla="*/ 0 w 1104"/>
                <a:gd name="T3" fmla="*/ 1546 h 2183"/>
                <a:gd name="T4" fmla="*/ 1104 w 1104"/>
                <a:gd name="T5" fmla="*/ 2183 h 2183"/>
                <a:gd name="T6" fmla="*/ 1104 w 1104"/>
                <a:gd name="T7" fmla="*/ 624 h 2183"/>
                <a:gd name="T8" fmla="*/ 0 w 1104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2183"/>
                <a:gd name="T17" fmla="*/ 1104 w 1104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2183">
                  <a:moveTo>
                    <a:pt x="0" y="0"/>
                  </a:moveTo>
                  <a:lnTo>
                    <a:pt x="0" y="1546"/>
                  </a:lnTo>
                  <a:lnTo>
                    <a:pt x="1104" y="2183"/>
                  </a:lnTo>
                  <a:lnTo>
                    <a:pt x="1104" y="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Rectangle 23">
              <a:extLst>
                <a:ext uri="{FF2B5EF4-FFF2-40B4-BE49-F238E27FC236}">
                  <a16:creationId xmlns:a16="http://schemas.microsoft.com/office/drawing/2014/main" id="{8986BA24-D863-EFA4-056B-DEEF95BE1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1441"/>
              <a:ext cx="419" cy="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isometricLeftDown"/>
              <a:lightRig rig="threePt" dir="t"/>
            </a:scene3d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000" b="1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42" name="Text Box 20">
            <a:extLst>
              <a:ext uri="{FF2B5EF4-FFF2-40B4-BE49-F238E27FC236}">
                <a16:creationId xmlns:a16="http://schemas.microsoft.com/office/drawing/2014/main" id="{8DF8128B-A0AF-6A4F-208C-C4AADAFC25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40249" y="5090124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Line 24">
            <a:extLst>
              <a:ext uri="{FF2B5EF4-FFF2-40B4-BE49-F238E27FC236}">
                <a16:creationId xmlns:a16="http://schemas.microsoft.com/office/drawing/2014/main" id="{E45E6BDE-8C67-A875-3177-FCB77180DB8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37950" y="4888118"/>
            <a:ext cx="712317" cy="43463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Line 25">
            <a:extLst>
              <a:ext uri="{FF2B5EF4-FFF2-40B4-BE49-F238E27FC236}">
                <a16:creationId xmlns:a16="http://schemas.microsoft.com/office/drawing/2014/main" id="{1D69C6C8-6A7C-9664-264E-BE785754118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646537" y="3320854"/>
            <a:ext cx="0" cy="157003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27">
            <a:extLst>
              <a:ext uri="{FF2B5EF4-FFF2-40B4-BE49-F238E27FC236}">
                <a16:creationId xmlns:a16="http://schemas.microsoft.com/office/drawing/2014/main" id="{09E98E82-8273-076D-7AE6-35DE36C193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3674" y="3250212"/>
            <a:ext cx="138113" cy="1365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 Box 28">
            <a:extLst>
              <a:ext uri="{FF2B5EF4-FFF2-40B4-BE49-F238E27FC236}">
                <a16:creationId xmlns:a16="http://schemas.microsoft.com/office/drawing/2014/main" id="{BB89F55F-9755-DBF4-AF3D-169820185F2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40187" y="4510687"/>
            <a:ext cx="5068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 Box 29">
            <a:extLst>
              <a:ext uri="{FF2B5EF4-FFF2-40B4-BE49-F238E27FC236}">
                <a16:creationId xmlns:a16="http://schemas.microsoft.com/office/drawing/2014/main" id="{532FD3E0-A12C-8254-1549-57BA93966D6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13537" y="2836571"/>
            <a:ext cx="527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8" name="Group 30">
            <a:extLst>
              <a:ext uri="{FF2B5EF4-FFF2-40B4-BE49-F238E27FC236}">
                <a16:creationId xmlns:a16="http://schemas.microsoft.com/office/drawing/2014/main" id="{1305BC8B-3355-86C5-1D5F-EA9CAB1E89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92624" y="3099399"/>
            <a:ext cx="485775" cy="485775"/>
            <a:chOff x="3431" y="1270"/>
            <a:chExt cx="382" cy="382"/>
          </a:xfrm>
        </p:grpSpPr>
        <p:sp>
          <p:nvSpPr>
            <p:cNvPr id="149" name="Arc 31">
              <a:extLst>
                <a:ext uri="{FF2B5EF4-FFF2-40B4-BE49-F238E27FC236}">
                  <a16:creationId xmlns:a16="http://schemas.microsoft.com/office/drawing/2014/main" id="{7AECCD1A-EE86-D408-0367-D12A8024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1" y="1270"/>
              <a:ext cx="382" cy="3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AutoShape 32">
              <a:extLst>
                <a:ext uri="{FF2B5EF4-FFF2-40B4-BE49-F238E27FC236}">
                  <a16:creationId xmlns:a16="http://schemas.microsoft.com/office/drawing/2014/main" id="{AB4F2230-087F-AAA3-33DC-8E9132A8C6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566082">
              <a:off x="3758" y="1433"/>
              <a:ext cx="47" cy="218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1" name="Group 33">
            <a:extLst>
              <a:ext uri="{FF2B5EF4-FFF2-40B4-BE49-F238E27FC236}">
                <a16:creationId xmlns:a16="http://schemas.microsoft.com/office/drawing/2014/main" id="{0A320E5F-8287-1563-9F4B-D68371CB844D}"/>
              </a:ext>
            </a:extLst>
          </p:cNvPr>
          <p:cNvGrpSpPr>
            <a:grpSpLocks/>
          </p:cNvGrpSpPr>
          <p:nvPr/>
        </p:nvGrpSpPr>
        <p:grpSpPr bwMode="auto">
          <a:xfrm>
            <a:off x="5704289" y="1097828"/>
            <a:ext cx="2401887" cy="3111500"/>
            <a:chOff x="3589" y="409"/>
            <a:chExt cx="1513" cy="1960"/>
          </a:xfrm>
        </p:grpSpPr>
        <p:sp>
          <p:nvSpPr>
            <p:cNvPr id="152" name="Line 34">
              <a:extLst>
                <a:ext uri="{FF2B5EF4-FFF2-40B4-BE49-F238E27FC236}">
                  <a16:creationId xmlns:a16="http://schemas.microsoft.com/office/drawing/2014/main" id="{B952A20F-E66A-AD76-4F4B-E5641167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527"/>
              <a:ext cx="1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Line 35">
              <a:extLst>
                <a:ext uri="{FF2B5EF4-FFF2-40B4-BE49-F238E27FC236}">
                  <a16:creationId xmlns:a16="http://schemas.microsoft.com/office/drawing/2014/main" id="{B853F069-D8CA-8921-A2EE-4A7C71174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" y="698"/>
              <a:ext cx="0" cy="1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" name="Oval 36">
              <a:extLst>
                <a:ext uri="{FF2B5EF4-FFF2-40B4-BE49-F238E27FC236}">
                  <a16:creationId xmlns:a16="http://schemas.microsoft.com/office/drawing/2014/main" id="{4D2F778B-00CE-A282-178D-186069E98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665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Oval 37">
              <a:extLst>
                <a:ext uri="{FF2B5EF4-FFF2-40B4-BE49-F238E27FC236}">
                  <a16:creationId xmlns:a16="http://schemas.microsoft.com/office/drawing/2014/main" id="{9742671A-2E54-5A93-AB66-4179D6C41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207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Text Box 38">
              <a:extLst>
                <a:ext uri="{FF2B5EF4-FFF2-40B4-BE49-F238E27FC236}">
                  <a16:creationId xmlns:a16="http://schemas.microsoft.com/office/drawing/2014/main" id="{3C0E28A7-807C-3CF2-88D1-7F60B0F23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137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57" name="Text Box 39">
              <a:extLst>
                <a:ext uri="{FF2B5EF4-FFF2-40B4-BE49-F238E27FC236}">
                  <a16:creationId xmlns:a16="http://schemas.microsoft.com/office/drawing/2014/main" id="{37D11F9B-B472-8AED-FE63-D35B73C1D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1280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58" name="Text Box 40">
              <a:extLst>
                <a:ext uri="{FF2B5EF4-FFF2-40B4-BE49-F238E27FC236}">
                  <a16:creationId xmlns:a16="http://schemas.microsoft.com/office/drawing/2014/main" id="{E71AA158-2FB7-7F81-B84F-59A84F258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1513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59" name="Text Box 41">
              <a:extLst>
                <a:ext uri="{FF2B5EF4-FFF2-40B4-BE49-F238E27FC236}">
                  <a16:creationId xmlns:a16="http://schemas.microsoft.com/office/drawing/2014/main" id="{A15DFA36-DD2E-CB1F-3219-41A07D773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8" y="409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60" name="Text Box 42">
              <a:extLst>
                <a:ext uri="{FF2B5EF4-FFF2-40B4-BE49-F238E27FC236}">
                  <a16:creationId xmlns:a16="http://schemas.microsoft.com/office/drawing/2014/main" id="{DE7EA6AA-E240-8959-93E2-296364974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2078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1" name="Text Box 43">
              <a:extLst>
                <a:ext uri="{FF2B5EF4-FFF2-40B4-BE49-F238E27FC236}">
                  <a16:creationId xmlns:a16="http://schemas.microsoft.com/office/drawing/2014/main" id="{13669AA6-1B9E-E824-A489-473123D86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" y="1270"/>
              <a:ext cx="2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endPara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2" name="Line 44">
            <a:extLst>
              <a:ext uri="{FF2B5EF4-FFF2-40B4-BE49-F238E27FC236}">
                <a16:creationId xmlns:a16="http://schemas.microsoft.com/office/drawing/2014/main" id="{4528EF1A-21EF-ED4F-BA56-F9DE24A8C2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8051" y="4229302"/>
            <a:ext cx="1753109" cy="10515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 Box 45">
            <a:extLst>
              <a:ext uri="{FF2B5EF4-FFF2-40B4-BE49-F238E27FC236}">
                <a16:creationId xmlns:a16="http://schemas.microsoft.com/office/drawing/2014/main" id="{016BB458-A94E-B62C-C5CD-6347EBB50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5464" y="5155626"/>
            <a:ext cx="5228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Line 46">
            <a:extLst>
              <a:ext uri="{FF2B5EF4-FFF2-40B4-BE49-F238E27FC236}">
                <a16:creationId xmlns:a16="http://schemas.microsoft.com/office/drawing/2014/main" id="{DC4A17C8-5531-E974-441C-AD09DAD9C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701" y="4068040"/>
            <a:ext cx="1055687" cy="17526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 Box 47">
            <a:extLst>
              <a:ext uri="{FF2B5EF4-FFF2-40B4-BE49-F238E27FC236}">
                <a16:creationId xmlns:a16="http://schemas.microsoft.com/office/drawing/2014/main" id="{DCBA4BDF-6F77-6FC3-0C6C-F34BC7296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794" y="4822251"/>
            <a:ext cx="4235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66" name="Text Box 48">
            <a:extLst>
              <a:ext uri="{FF2B5EF4-FFF2-40B4-BE49-F238E27FC236}">
                <a16:creationId xmlns:a16="http://schemas.microsoft.com/office/drawing/2014/main" id="{ADA1F672-A927-B30B-E09B-BC6464373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465" y="5196901"/>
            <a:ext cx="4876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0" name="Group 52">
            <a:extLst>
              <a:ext uri="{FF2B5EF4-FFF2-40B4-BE49-F238E27FC236}">
                <a16:creationId xmlns:a16="http://schemas.microsoft.com/office/drawing/2014/main" id="{20E06034-11C8-C242-5E4A-312D2D8B77B5}"/>
              </a:ext>
            </a:extLst>
          </p:cNvPr>
          <p:cNvGrpSpPr>
            <a:grpSpLocks noChangeAspect="1"/>
          </p:cNvGrpSpPr>
          <p:nvPr/>
        </p:nvGrpSpPr>
        <p:grpSpPr bwMode="auto">
          <a:xfrm rot="-1032151">
            <a:off x="1324024" y="4172549"/>
            <a:ext cx="160338" cy="227013"/>
            <a:chOff x="3954" y="2451"/>
            <a:chExt cx="126" cy="178"/>
          </a:xfrm>
        </p:grpSpPr>
        <p:sp>
          <p:nvSpPr>
            <p:cNvPr id="171" name="Line 53">
              <a:extLst>
                <a:ext uri="{FF2B5EF4-FFF2-40B4-BE49-F238E27FC236}">
                  <a16:creationId xmlns:a16="http://schemas.microsoft.com/office/drawing/2014/main" id="{6AAECA7C-C028-CC50-9D9E-952161F8D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Line 54">
              <a:extLst>
                <a:ext uri="{FF2B5EF4-FFF2-40B4-BE49-F238E27FC236}">
                  <a16:creationId xmlns:a16="http://schemas.microsoft.com/office/drawing/2014/main" id="{6CB45A80-7742-391E-821A-FEA229FE6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3" name="Group 55">
            <a:extLst>
              <a:ext uri="{FF2B5EF4-FFF2-40B4-BE49-F238E27FC236}">
                <a16:creationId xmlns:a16="http://schemas.microsoft.com/office/drawing/2014/main" id="{2DBFF374-9A00-B001-A7D2-7F3310C1B4E7}"/>
              </a:ext>
            </a:extLst>
          </p:cNvPr>
          <p:cNvGrpSpPr>
            <a:grpSpLocks noChangeAspect="1"/>
          </p:cNvGrpSpPr>
          <p:nvPr/>
        </p:nvGrpSpPr>
        <p:grpSpPr bwMode="auto">
          <a:xfrm rot="-694704">
            <a:off x="3584624" y="3907437"/>
            <a:ext cx="160338" cy="225425"/>
            <a:chOff x="3954" y="2451"/>
            <a:chExt cx="126" cy="178"/>
          </a:xfrm>
        </p:grpSpPr>
        <p:sp>
          <p:nvSpPr>
            <p:cNvPr id="174" name="Line 56">
              <a:extLst>
                <a:ext uri="{FF2B5EF4-FFF2-40B4-BE49-F238E27FC236}">
                  <a16:creationId xmlns:a16="http://schemas.microsoft.com/office/drawing/2014/main" id="{96F78461-D56F-3114-5958-F6A6D24C3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Line 57">
              <a:extLst>
                <a:ext uri="{FF2B5EF4-FFF2-40B4-BE49-F238E27FC236}">
                  <a16:creationId xmlns:a16="http://schemas.microsoft.com/office/drawing/2014/main" id="{C01EBD7A-A3C7-3FB6-4465-A1A4805F5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6" name="Group 58">
            <a:extLst>
              <a:ext uri="{FF2B5EF4-FFF2-40B4-BE49-F238E27FC236}">
                <a16:creationId xmlns:a16="http://schemas.microsoft.com/office/drawing/2014/main" id="{611879C4-1F2C-A0E0-12B7-D7AA08E30DB8}"/>
              </a:ext>
            </a:extLst>
          </p:cNvPr>
          <p:cNvGrpSpPr>
            <a:grpSpLocks/>
          </p:cNvGrpSpPr>
          <p:nvPr/>
        </p:nvGrpSpPr>
        <p:grpSpPr bwMode="auto">
          <a:xfrm rot="-1120757">
            <a:off x="7088588" y="2078903"/>
            <a:ext cx="200025" cy="282575"/>
            <a:chOff x="3954" y="2451"/>
            <a:chExt cx="126" cy="178"/>
          </a:xfrm>
        </p:grpSpPr>
        <p:sp>
          <p:nvSpPr>
            <p:cNvPr id="177" name="Line 59">
              <a:extLst>
                <a:ext uri="{FF2B5EF4-FFF2-40B4-BE49-F238E27FC236}">
                  <a16:creationId xmlns:a16="http://schemas.microsoft.com/office/drawing/2014/main" id="{E8DB4843-9FC9-EF8F-09B6-266DDC135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  <p:sp>
          <p:nvSpPr>
            <p:cNvPr id="178" name="Line 60">
              <a:extLst>
                <a:ext uri="{FF2B5EF4-FFF2-40B4-BE49-F238E27FC236}">
                  <a16:creationId xmlns:a16="http://schemas.microsoft.com/office/drawing/2014/main" id="{E9F6E634-1312-D299-622B-06BA501AF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</p:grpSp>
      <p:grpSp>
        <p:nvGrpSpPr>
          <p:cNvPr id="179" name="Group 61">
            <a:extLst>
              <a:ext uri="{FF2B5EF4-FFF2-40B4-BE49-F238E27FC236}">
                <a16:creationId xmlns:a16="http://schemas.microsoft.com/office/drawing/2014/main" id="{8C89A5B9-1B5C-9987-4FD8-4D9E39CA67B8}"/>
              </a:ext>
            </a:extLst>
          </p:cNvPr>
          <p:cNvGrpSpPr>
            <a:grpSpLocks/>
          </p:cNvGrpSpPr>
          <p:nvPr/>
        </p:nvGrpSpPr>
        <p:grpSpPr bwMode="auto">
          <a:xfrm rot="-2709026">
            <a:off x="7802963" y="5103090"/>
            <a:ext cx="200025" cy="282575"/>
            <a:chOff x="3954" y="2451"/>
            <a:chExt cx="126" cy="178"/>
          </a:xfrm>
        </p:grpSpPr>
        <p:sp>
          <p:nvSpPr>
            <p:cNvPr id="180" name="Line 62">
              <a:extLst>
                <a:ext uri="{FF2B5EF4-FFF2-40B4-BE49-F238E27FC236}">
                  <a16:creationId xmlns:a16="http://schemas.microsoft.com/office/drawing/2014/main" id="{C0945CB4-C670-537C-20B2-2E050C450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Line 63">
              <a:extLst>
                <a:ext uri="{FF2B5EF4-FFF2-40B4-BE49-F238E27FC236}">
                  <a16:creationId xmlns:a16="http://schemas.microsoft.com/office/drawing/2014/main" id="{F4996ADC-22F7-2CDE-054A-C3D96DCC5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2" name="Oval 64">
            <a:extLst>
              <a:ext uri="{FF2B5EF4-FFF2-40B4-BE49-F238E27FC236}">
                <a16:creationId xmlns:a16="http://schemas.microsoft.com/office/drawing/2014/main" id="{E01057DE-F75B-D8FF-B977-C8B546F4A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476" y="5757140"/>
            <a:ext cx="157162" cy="1571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Text Box 65">
            <a:extLst>
              <a:ext uri="{FF2B5EF4-FFF2-40B4-BE49-F238E27FC236}">
                <a16:creationId xmlns:a16="http://schemas.microsoft.com/office/drawing/2014/main" id="{E85F356F-BC2C-36F9-E205-34DB37CEC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638" y="5589807"/>
            <a:ext cx="397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 Box 66">
            <a:extLst>
              <a:ext uri="{FF2B5EF4-FFF2-40B4-BE49-F238E27FC236}">
                <a16:creationId xmlns:a16="http://schemas.microsoft.com/office/drawing/2014/main" id="{F59AF240-36EA-31A1-8FB8-E9BFDBF47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763" y="4428403"/>
            <a:ext cx="5068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Text Box 3">
            <a:extLst>
              <a:ext uri="{FF2B5EF4-FFF2-40B4-BE49-F238E27FC236}">
                <a16:creationId xmlns:a16="http://schemas.microsoft.com/office/drawing/2014/main" id="{2EEDB4C0-9449-FF12-B4D1-4E9F18E78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5" y="1630474"/>
            <a:ext cx="2707793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0" dirty="0"/>
              <a:t> (1) </a:t>
            </a:r>
            <a:r>
              <a:rPr lang="zh-CN" altLang="en-US" b="0" dirty="0"/>
              <a:t>新投影体系的建立</a:t>
            </a:r>
          </a:p>
        </p:txBody>
      </p:sp>
      <p:sp>
        <p:nvSpPr>
          <p:cNvPr id="200" name="Line 26">
            <a:extLst>
              <a:ext uri="{FF2B5EF4-FFF2-40B4-BE49-F238E27FC236}">
                <a16:creationId xmlns:a16="http://schemas.microsoft.com/office/drawing/2014/main" id="{744351DF-F185-EC13-1C42-A597D447F7A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55974" y="3354987"/>
            <a:ext cx="657225" cy="42386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Text Box 13">
            <a:extLst>
              <a:ext uri="{FF2B5EF4-FFF2-40B4-BE49-F238E27FC236}">
                <a16:creationId xmlns:a16="http://schemas.microsoft.com/office/drawing/2014/main" id="{9F2C1C6F-96BD-3A55-DF3D-B3A40EB5F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点的一次换面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Text Box 13">
            <a:extLst>
              <a:ext uri="{FF2B5EF4-FFF2-40B4-BE49-F238E27FC236}">
                <a16:creationId xmlns:a16="http://schemas.microsoft.com/office/drawing/2014/main" id="{A154245D-09B1-2BEA-AF43-B8165096C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427" y="3298740"/>
            <a:ext cx="407635" cy="46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8" name="Line 10">
            <a:extLst>
              <a:ext uri="{FF2B5EF4-FFF2-40B4-BE49-F238E27FC236}">
                <a16:creationId xmlns:a16="http://schemas.microsoft.com/office/drawing/2014/main" id="{337B5FB0-20D1-55C1-6C43-604E532AB7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38639" y="3776217"/>
            <a:ext cx="0" cy="154645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7" name="Group 49">
            <a:extLst>
              <a:ext uri="{FF2B5EF4-FFF2-40B4-BE49-F238E27FC236}">
                <a16:creationId xmlns:a16="http://schemas.microsoft.com/office/drawing/2014/main" id="{E9194A43-8ECC-37B5-1D64-A769C06492B6}"/>
              </a:ext>
            </a:extLst>
          </p:cNvPr>
          <p:cNvGrpSpPr>
            <a:grpSpLocks noChangeAspect="1"/>
          </p:cNvGrpSpPr>
          <p:nvPr/>
        </p:nvGrpSpPr>
        <p:grpSpPr bwMode="auto">
          <a:xfrm rot="-733910">
            <a:off x="2863899" y="4388449"/>
            <a:ext cx="160338" cy="227013"/>
            <a:chOff x="3954" y="2451"/>
            <a:chExt cx="126" cy="178"/>
          </a:xfrm>
        </p:grpSpPr>
        <p:sp>
          <p:nvSpPr>
            <p:cNvPr id="168" name="Line 50">
              <a:extLst>
                <a:ext uri="{FF2B5EF4-FFF2-40B4-BE49-F238E27FC236}">
                  <a16:creationId xmlns:a16="http://schemas.microsoft.com/office/drawing/2014/main" id="{DF97517B-1095-287B-B687-BE57D9E10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Line 51">
              <a:extLst>
                <a:ext uri="{FF2B5EF4-FFF2-40B4-BE49-F238E27FC236}">
                  <a16:creationId xmlns:a16="http://schemas.microsoft.com/office/drawing/2014/main" id="{0E3B9A2A-3458-78DF-0411-74EC5255B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5" name="Line 7">
            <a:extLst>
              <a:ext uri="{FF2B5EF4-FFF2-40B4-BE49-F238E27FC236}">
                <a16:creationId xmlns:a16="http://schemas.microsoft.com/office/drawing/2014/main" id="{8F5EE02D-0BD8-E7FC-C520-AD11A7C468F1}"/>
              </a:ext>
            </a:extLst>
          </p:cNvPr>
          <p:cNvSpPr>
            <a:spLocks noChangeShapeType="1"/>
          </p:cNvSpPr>
          <p:nvPr/>
        </p:nvSpPr>
        <p:spPr bwMode="auto">
          <a:xfrm rot="780000" flipH="1">
            <a:off x="1417311" y="3608620"/>
            <a:ext cx="152640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Oval 12">
            <a:extLst>
              <a:ext uri="{FF2B5EF4-FFF2-40B4-BE49-F238E27FC236}">
                <a16:creationId xmlns:a16="http://schemas.microsoft.com/office/drawing/2014/main" id="{3317D11E-A744-2B2A-BDFC-E45EEA6F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764" y="3716542"/>
            <a:ext cx="105401" cy="105383"/>
          </a:xfrm>
          <a:prstGeom prst="ellipse">
            <a:avLst/>
          </a:prstGeom>
          <a:gradFill rotWithShape="0">
            <a:gsLst>
              <a:gs pos="0">
                <a:srgbClr val="3399FF"/>
              </a:gs>
              <a:gs pos="100000">
                <a:srgbClr val="030A1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Oval 18">
            <a:extLst>
              <a:ext uri="{FF2B5EF4-FFF2-40B4-BE49-F238E27FC236}">
                <a16:creationId xmlns:a16="http://schemas.microsoft.com/office/drawing/2014/main" id="{5164BF90-6B21-7A54-F035-D08FEB7A6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44" y="3388896"/>
            <a:ext cx="101591" cy="101574"/>
          </a:xfrm>
          <a:prstGeom prst="ellipse">
            <a:avLst/>
          </a:prstGeom>
          <a:gradFill rotWithShape="0">
            <a:gsLst>
              <a:gs pos="0">
                <a:srgbClr val="3399FF"/>
              </a:gs>
              <a:gs pos="100000">
                <a:srgbClr val="08192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 Box 15">
            <a:extLst>
              <a:ext uri="{FF2B5EF4-FFF2-40B4-BE49-F238E27FC236}">
                <a16:creationId xmlns:a16="http://schemas.microsoft.com/office/drawing/2014/main" id="{F4179F20-E346-6A83-5233-101F0C664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81" y="3235337"/>
            <a:ext cx="444461" cy="52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891A8348-718B-8654-F47E-CA1C8A9790DC}"/>
              </a:ext>
            </a:extLst>
          </p:cNvPr>
          <p:cNvSpPr/>
          <p:nvPr/>
        </p:nvSpPr>
        <p:spPr>
          <a:xfrm>
            <a:off x="797085" y="2142817"/>
            <a:ext cx="804000" cy="529093"/>
          </a:xfrm>
          <a:prstGeom prst="wedgeRoundRectCallout">
            <a:avLst>
              <a:gd name="adj1" fmla="val 32441"/>
              <a:gd name="adj2" fmla="val 132338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被代替的投影</a:t>
            </a: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D0B5C768-6FA5-5A04-E6FD-481A5A24B1CE}"/>
              </a:ext>
            </a:extLst>
          </p:cNvPr>
          <p:cNvSpPr/>
          <p:nvPr/>
        </p:nvSpPr>
        <p:spPr>
          <a:xfrm>
            <a:off x="2107579" y="5923872"/>
            <a:ext cx="804000" cy="529093"/>
          </a:xfrm>
          <a:prstGeom prst="wedgeRoundRectCallout">
            <a:avLst>
              <a:gd name="adj1" fmla="val 51502"/>
              <a:gd name="adj2" fmla="val -121209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被保留的投影</a:t>
            </a: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8C6AE300-D2B2-F621-2689-FA3DC213783B}"/>
              </a:ext>
            </a:extLst>
          </p:cNvPr>
          <p:cNvSpPr/>
          <p:nvPr/>
        </p:nvSpPr>
        <p:spPr>
          <a:xfrm>
            <a:off x="839365" y="5925431"/>
            <a:ext cx="924323" cy="328393"/>
          </a:xfrm>
          <a:prstGeom prst="wedgeRoundRectCallout">
            <a:avLst>
              <a:gd name="adj1" fmla="val -36511"/>
              <a:gd name="adj2" fmla="val -89062"/>
              <a:gd name="adj3" fmla="val 1666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原投影轴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6A71F2FB-2996-15E4-99CF-C30C177ADF7A}"/>
              </a:ext>
            </a:extLst>
          </p:cNvPr>
          <p:cNvSpPr/>
          <p:nvPr/>
        </p:nvSpPr>
        <p:spPr>
          <a:xfrm>
            <a:off x="4624551" y="4702845"/>
            <a:ext cx="924323" cy="328393"/>
          </a:xfrm>
          <a:prstGeom prst="wedgeRoundRectCallout">
            <a:avLst>
              <a:gd name="adj1" fmla="val -54647"/>
              <a:gd name="adj2" fmla="val 105851"/>
              <a:gd name="adj3" fmla="val 1666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新投影轴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D4C1029A-D922-63A5-CD9D-7530B9C2A885}"/>
              </a:ext>
            </a:extLst>
          </p:cNvPr>
          <p:cNvSpPr/>
          <p:nvPr/>
        </p:nvSpPr>
        <p:spPr>
          <a:xfrm>
            <a:off x="35495" y="2737014"/>
            <a:ext cx="976365" cy="529093"/>
          </a:xfrm>
          <a:prstGeom prst="wedgeRoundRectCallout">
            <a:avLst>
              <a:gd name="adj1" fmla="val 55514"/>
              <a:gd name="adj2" fmla="val 9345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被代替的投影面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C9012639-43DF-DB03-97FE-7E167686E021}"/>
              </a:ext>
            </a:extLst>
          </p:cNvPr>
          <p:cNvSpPr/>
          <p:nvPr/>
        </p:nvSpPr>
        <p:spPr>
          <a:xfrm>
            <a:off x="3763460" y="5755330"/>
            <a:ext cx="982721" cy="529093"/>
          </a:xfrm>
          <a:prstGeom prst="wedgeRoundRectCallout">
            <a:avLst>
              <a:gd name="adj1" fmla="val -80316"/>
              <a:gd name="adj2" fmla="val -36236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被保留的投影面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72528035-6E63-2607-96C2-68489AC56211}"/>
              </a:ext>
            </a:extLst>
          </p:cNvPr>
          <p:cNvSpPr/>
          <p:nvPr/>
        </p:nvSpPr>
        <p:spPr>
          <a:xfrm>
            <a:off x="4335511" y="3732682"/>
            <a:ext cx="924323" cy="328393"/>
          </a:xfrm>
          <a:prstGeom prst="wedgeRoundRectCallout">
            <a:avLst>
              <a:gd name="adj1" fmla="val -73196"/>
              <a:gd name="adj2" fmla="val -115746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新投影面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0A9C8CA-69BE-AADF-5FC0-E1A1F2CA4B1F}"/>
              </a:ext>
            </a:extLst>
          </p:cNvPr>
          <p:cNvSpPr/>
          <p:nvPr/>
        </p:nvSpPr>
        <p:spPr>
          <a:xfrm>
            <a:off x="3607653" y="2501688"/>
            <a:ext cx="820332" cy="328393"/>
          </a:xfrm>
          <a:prstGeom prst="wedgeRoundRectCallout">
            <a:avLst>
              <a:gd name="adj1" fmla="val -45329"/>
              <a:gd name="adj2" fmla="val 100050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440" tIns="16920" rIns="37440" bIns="16920"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新投影</a:t>
            </a:r>
          </a:p>
        </p:txBody>
      </p:sp>
    </p:spTree>
    <p:extLst>
      <p:ext uri="{BB962C8B-B14F-4D97-AF65-F5344CB8AC3E}">
        <p14:creationId xmlns:p14="http://schemas.microsoft.com/office/powerpoint/2010/main" val="329737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build="p" autoUpdateAnimBg="0"/>
      <p:bldP spid="143" grpId="0" animBg="1"/>
      <p:bldP spid="144" grpId="0" animBg="1"/>
      <p:bldP spid="145" grpId="0" animBg="1"/>
      <p:bldP spid="146" grpId="0" build="p" autoUpdateAnimBg="0"/>
      <p:bldP spid="147" grpId="0" build="p" autoUpdateAnimBg="0"/>
      <p:bldP spid="162" grpId="0" animBg="1"/>
      <p:bldP spid="163" grpId="0" autoUpdateAnimBg="0"/>
      <p:bldP spid="164" grpId="0" animBg="1"/>
      <p:bldP spid="165" grpId="0" build="p" autoUpdateAnimBg="0"/>
      <p:bldP spid="166" grpId="0" build="p" autoUpdateAnimBg="0"/>
      <p:bldP spid="182" grpId="0" animBg="1"/>
      <p:bldP spid="183" grpId="0" build="p" autoUpdateAnimBg="0"/>
      <p:bldP spid="184" grpId="0" build="p" autoUpdateAnimBg="0"/>
      <p:bldP spid="185" grpId="0"/>
      <p:bldP spid="200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8BBE-02E8-CF01-F5F2-43E84E57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5FCF93E-874A-F376-343B-7F15E76C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11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1E32A12-1077-D74D-4D95-3E3E0748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7D25BD2A-1BA8-D6EA-2BF0-B128A228B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点的一次换面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1BAD1D2-31EC-3A0E-9997-B5F410566A48}"/>
              </a:ext>
            </a:extLst>
          </p:cNvPr>
          <p:cNvGrpSpPr/>
          <p:nvPr/>
        </p:nvGrpSpPr>
        <p:grpSpPr>
          <a:xfrm>
            <a:off x="860541" y="2050355"/>
            <a:ext cx="2716925" cy="1099230"/>
            <a:chOff x="681844" y="2081808"/>
            <a:chExt cx="2716925" cy="1099230"/>
          </a:xfrm>
        </p:grpSpPr>
        <p:grpSp>
          <p:nvGrpSpPr>
            <p:cNvPr id="30" name="Group 123">
              <a:extLst>
                <a:ext uri="{FF2B5EF4-FFF2-40B4-BE49-F238E27FC236}">
                  <a16:creationId xmlns:a16="http://schemas.microsoft.com/office/drawing/2014/main" id="{EF5E924D-55D1-76BA-5E3A-41A2826B50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1844" y="2081808"/>
              <a:ext cx="2298701" cy="719138"/>
              <a:chOff x="336" y="3234"/>
              <a:chExt cx="1448" cy="453"/>
            </a:xfrm>
          </p:grpSpPr>
          <p:sp>
            <p:nvSpPr>
              <p:cNvPr id="31" name="Text Box 70">
                <a:extLst>
                  <a:ext uri="{FF2B5EF4-FFF2-40B4-BE49-F238E27FC236}">
                    <a16:creationId xmlns:a16="http://schemas.microsoft.com/office/drawing/2014/main" id="{8D705D70-9266-8184-5B4A-ABCDCB74D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330"/>
                <a:ext cx="142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chemeClr val="accent6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旧投影体系           </a:t>
                </a:r>
              </a:p>
            </p:txBody>
          </p:sp>
          <p:grpSp>
            <p:nvGrpSpPr>
              <p:cNvPr id="32" name="Group 79">
                <a:extLst>
                  <a:ext uri="{FF2B5EF4-FFF2-40B4-BE49-F238E27FC236}">
                    <a16:creationId xmlns:a16="http://schemas.microsoft.com/office/drawing/2014/main" id="{64EEB9B0-C27B-D68A-3A81-40468EB303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6" y="3234"/>
                <a:ext cx="528" cy="453"/>
                <a:chOff x="3656" y="834"/>
                <a:chExt cx="528" cy="453"/>
              </a:xfrm>
            </p:grpSpPr>
            <p:sp>
              <p:nvSpPr>
                <p:cNvPr id="33" name="Text Box 73">
                  <a:extLst>
                    <a:ext uri="{FF2B5EF4-FFF2-40B4-BE49-F238E27FC236}">
                      <a16:creationId xmlns:a16="http://schemas.microsoft.com/office/drawing/2014/main" id="{50D41231-F0DB-0307-347B-F1C0CE9DD4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0" y="834"/>
                  <a:ext cx="225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V</a:t>
                  </a:r>
                </a:p>
              </p:txBody>
            </p:sp>
            <p:sp>
              <p:nvSpPr>
                <p:cNvPr id="34" name="Text Box 74">
                  <a:extLst>
                    <a:ext uri="{FF2B5EF4-FFF2-40B4-BE49-F238E27FC236}">
                      <a16:creationId xmlns:a16="http://schemas.microsoft.com/office/drawing/2014/main" id="{7B84202A-FBE5-2C04-3ECC-C5A480B4E4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2" y="1035"/>
                  <a:ext cx="242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</a:p>
              </p:txBody>
            </p:sp>
            <p:sp>
              <p:nvSpPr>
                <p:cNvPr id="35" name="Text Box 78">
                  <a:extLst>
                    <a:ext uri="{FF2B5EF4-FFF2-40B4-BE49-F238E27FC236}">
                      <a16:creationId xmlns:a16="http://schemas.microsoft.com/office/drawing/2014/main" id="{10FBA911-95D3-846E-3296-72AFA71065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6" y="930"/>
                  <a:ext cx="52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—</a:t>
                  </a:r>
                </a:p>
              </p:txBody>
            </p:sp>
          </p:grpSp>
        </p:grpSp>
        <p:sp>
          <p:nvSpPr>
            <p:cNvPr id="36" name="Text Box 83">
              <a:extLst>
                <a:ext uri="{FF2B5EF4-FFF2-40B4-BE49-F238E27FC236}">
                  <a16:creationId xmlns:a16="http://schemas.microsoft.com/office/drawing/2014/main" id="{9097DE74-9CCE-3915-0FAA-02C80450E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97" y="2780928"/>
              <a:ext cx="269657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点的两个投影：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a'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E2F6373-B18A-59EF-871D-63489AE09157}"/>
              </a:ext>
            </a:extLst>
          </p:cNvPr>
          <p:cNvGrpSpPr/>
          <p:nvPr/>
        </p:nvGrpSpPr>
        <p:grpSpPr>
          <a:xfrm>
            <a:off x="860541" y="3202483"/>
            <a:ext cx="2755397" cy="1084297"/>
            <a:chOff x="681844" y="3344488"/>
            <a:chExt cx="2755397" cy="1084297"/>
          </a:xfrm>
        </p:grpSpPr>
        <p:grpSp>
          <p:nvGrpSpPr>
            <p:cNvPr id="38" name="Group 123">
              <a:extLst>
                <a:ext uri="{FF2B5EF4-FFF2-40B4-BE49-F238E27FC236}">
                  <a16:creationId xmlns:a16="http://schemas.microsoft.com/office/drawing/2014/main" id="{470FC0A2-0EDB-71CC-41D3-5E5B907E2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1844" y="3344488"/>
              <a:ext cx="2328863" cy="760413"/>
              <a:chOff x="336" y="3216"/>
              <a:chExt cx="1467" cy="479"/>
            </a:xfrm>
          </p:grpSpPr>
          <p:sp>
            <p:nvSpPr>
              <p:cNvPr id="39" name="Text Box 70">
                <a:extLst>
                  <a:ext uri="{FF2B5EF4-FFF2-40B4-BE49-F238E27FC236}">
                    <a16:creationId xmlns:a16="http://schemas.microsoft.com/office/drawing/2014/main" id="{B61F8F53-A26F-4C9D-366E-C966A0EC10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330"/>
                <a:ext cx="142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p"/>
                </a:pPr>
                <a:r>
                  <a:rPr lang="zh-CN" altLang="en-US" sz="2000" dirty="0">
                    <a:solidFill>
                      <a:schemeClr val="accent6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新投影体系           </a:t>
                </a:r>
              </a:p>
            </p:txBody>
          </p:sp>
          <p:grpSp>
            <p:nvGrpSpPr>
              <p:cNvPr id="40" name="Group 79">
                <a:extLst>
                  <a:ext uri="{FF2B5EF4-FFF2-40B4-BE49-F238E27FC236}">
                    <a16:creationId xmlns:a16="http://schemas.microsoft.com/office/drawing/2014/main" id="{D736638D-EABD-0F2E-46DC-F2A658CD6E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6" y="3216"/>
                <a:ext cx="547" cy="479"/>
                <a:chOff x="3656" y="816"/>
                <a:chExt cx="547" cy="479"/>
              </a:xfrm>
            </p:grpSpPr>
            <p:sp>
              <p:nvSpPr>
                <p:cNvPr id="41" name="Text Box 73">
                  <a:extLst>
                    <a:ext uri="{FF2B5EF4-FFF2-40B4-BE49-F238E27FC236}">
                      <a16:creationId xmlns:a16="http://schemas.microsoft.com/office/drawing/2014/main" id="{11ED643D-5538-9AAC-A067-690F054E4E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4" y="816"/>
                  <a:ext cx="279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</a:t>
                  </a:r>
                  <a:r>
                    <a:rPr lang="en-US" altLang="zh-CN" sz="2000" baseline="-25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42" name="Text Box 74">
                  <a:extLst>
                    <a:ext uri="{FF2B5EF4-FFF2-40B4-BE49-F238E27FC236}">
                      <a16:creationId xmlns:a16="http://schemas.microsoft.com/office/drawing/2014/main" id="{73D74461-23A9-D604-FBEF-078BDF6BF6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8" y="1043"/>
                  <a:ext cx="242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</a:t>
                  </a:r>
                </a:p>
              </p:txBody>
            </p:sp>
            <p:sp>
              <p:nvSpPr>
                <p:cNvPr id="43" name="Text Box 78">
                  <a:extLst>
                    <a:ext uri="{FF2B5EF4-FFF2-40B4-BE49-F238E27FC236}">
                      <a16:creationId xmlns:a16="http://schemas.microsoft.com/office/drawing/2014/main" id="{9FA9FAFC-6B29-6C34-70E8-A3A8DC2D45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6" y="930"/>
                  <a:ext cx="52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accent6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—</a:t>
                  </a:r>
                </a:p>
              </p:txBody>
            </p:sp>
          </p:grpSp>
        </p:grpSp>
        <p:sp>
          <p:nvSpPr>
            <p:cNvPr id="44" name="Text Box 83">
              <a:extLst>
                <a:ext uri="{FF2B5EF4-FFF2-40B4-BE49-F238E27FC236}">
                  <a16:creationId xmlns:a16="http://schemas.microsoft.com/office/drawing/2014/main" id="{83624342-23DC-82D1-F7FC-F5086BDFE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97" y="4028675"/>
              <a:ext cx="273504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点的两个投影：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100763F-8F66-9AF0-9E34-81B951127BCF}"/>
              </a:ext>
            </a:extLst>
          </p:cNvPr>
          <p:cNvGrpSpPr/>
          <p:nvPr/>
        </p:nvGrpSpPr>
        <p:grpSpPr>
          <a:xfrm>
            <a:off x="722986" y="4498627"/>
            <a:ext cx="4480002" cy="774104"/>
            <a:chOff x="544289" y="4509120"/>
            <a:chExt cx="4480002" cy="774104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136F929-68CF-403D-75D4-7A65D2745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7500" y="4509120"/>
              <a:ext cx="2956791" cy="77139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91440" tIns="45720" rIns="91440" bIns="6372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新投影面体系中，点的一对投影连线垂直于新投影轴</a:t>
              </a: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B8EA7D07-86AD-B578-0C46-13364D80103F}"/>
                </a:ext>
              </a:extLst>
            </p:cNvPr>
            <p:cNvGrpSpPr/>
            <p:nvPr/>
          </p:nvGrpSpPr>
          <p:grpSpPr>
            <a:xfrm>
              <a:off x="544289" y="4511829"/>
              <a:ext cx="1523172" cy="771395"/>
              <a:chOff x="3439352" y="4614916"/>
              <a:chExt cx="1523172" cy="771395"/>
            </a:xfrm>
          </p:grpSpPr>
          <p:sp>
            <p:nvSpPr>
              <p:cNvPr id="47" name="Text Box 3">
                <a:extLst>
                  <a:ext uri="{FF2B5EF4-FFF2-40B4-BE49-F238E27FC236}">
                    <a16:creationId xmlns:a16="http://schemas.microsoft.com/office/drawing/2014/main" id="{CFF75B7C-058C-B65B-8F08-E7E4CE825E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2783" y="4769781"/>
                <a:ext cx="12763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 X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4A5A150-46B3-64CE-AF92-ABD4FB4F87A7}"/>
                  </a:ext>
                </a:extLst>
              </p:cNvPr>
              <p:cNvSpPr/>
              <p:nvPr/>
            </p:nvSpPr>
            <p:spPr>
              <a:xfrm>
                <a:off x="3439352" y="4614916"/>
                <a:ext cx="1523172" cy="771395"/>
              </a:xfrm>
              <a:prstGeom prst="rect">
                <a:avLst/>
              </a:prstGeom>
              <a:noFill/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16E4D40-A1DD-2A98-39DC-45F506955C25}"/>
              </a:ext>
            </a:extLst>
          </p:cNvPr>
          <p:cNvGrpSpPr/>
          <p:nvPr/>
        </p:nvGrpSpPr>
        <p:grpSpPr>
          <a:xfrm>
            <a:off x="718009" y="5395662"/>
            <a:ext cx="4484979" cy="774104"/>
            <a:chOff x="539312" y="5406155"/>
            <a:chExt cx="4484979" cy="774104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23523C1-8573-EEC3-26B7-9CAE865BB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7500" y="5406155"/>
              <a:ext cx="2956791" cy="77139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91440" tIns="45720" rIns="91440" bIns="6372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新投影到新投影轴距离等于被代替投影到原投影轴距离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769E7F6-C5DA-FF68-8BE8-7A6A3B5115BF}"/>
                </a:ext>
              </a:extLst>
            </p:cNvPr>
            <p:cNvGrpSpPr/>
            <p:nvPr/>
          </p:nvGrpSpPr>
          <p:grpSpPr>
            <a:xfrm>
              <a:off x="539312" y="5408864"/>
              <a:ext cx="1523174" cy="771395"/>
              <a:chOff x="3439351" y="5511951"/>
              <a:chExt cx="1523174" cy="771395"/>
            </a:xfrm>
          </p:grpSpPr>
          <p:sp>
            <p:nvSpPr>
              <p:cNvPr id="48" name="Text Box 4">
                <a:extLst>
                  <a:ext uri="{FF2B5EF4-FFF2-40B4-BE49-F238E27FC236}">
                    <a16:creationId xmlns:a16="http://schemas.microsoft.com/office/drawing/2014/main" id="{372B6C69-704F-D212-6DAC-B7CD86DD3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9351" y="5667845"/>
                <a:ext cx="152317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a'a</a:t>
                </a:r>
                <a:r>
                  <a:rPr lang="en-US" altLang="zh-CN" sz="2400" baseline="-2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aseline="-2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x1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16B84078-D739-A593-0F23-E1F4EAF2B9D7}"/>
                  </a:ext>
                </a:extLst>
              </p:cNvPr>
              <p:cNvSpPr/>
              <p:nvPr/>
            </p:nvSpPr>
            <p:spPr>
              <a:xfrm>
                <a:off x="3439352" y="5511951"/>
                <a:ext cx="1523173" cy="771395"/>
              </a:xfrm>
              <a:prstGeom prst="rect">
                <a:avLst/>
              </a:prstGeom>
              <a:noFill/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5" name="Text Box 3">
            <a:extLst>
              <a:ext uri="{FF2B5EF4-FFF2-40B4-BE49-F238E27FC236}">
                <a16:creationId xmlns:a16="http://schemas.microsoft.com/office/drawing/2014/main" id="{225D288D-A0B7-654A-3195-ABE279946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5" y="1630474"/>
            <a:ext cx="2707793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0" dirty="0"/>
              <a:t> (1) </a:t>
            </a:r>
            <a:r>
              <a:rPr lang="zh-CN" altLang="en-US" b="0" dirty="0"/>
              <a:t>新投影体系的建立</a:t>
            </a:r>
          </a:p>
        </p:txBody>
      </p:sp>
      <p:grpSp>
        <p:nvGrpSpPr>
          <p:cNvPr id="57" name="Group 33">
            <a:extLst>
              <a:ext uri="{FF2B5EF4-FFF2-40B4-BE49-F238E27FC236}">
                <a16:creationId xmlns:a16="http://schemas.microsoft.com/office/drawing/2014/main" id="{387F7035-003A-1A8F-146B-AB8F2B66A64D}"/>
              </a:ext>
            </a:extLst>
          </p:cNvPr>
          <p:cNvGrpSpPr>
            <a:grpSpLocks/>
          </p:cNvGrpSpPr>
          <p:nvPr/>
        </p:nvGrpSpPr>
        <p:grpSpPr bwMode="auto">
          <a:xfrm>
            <a:off x="5704289" y="1097828"/>
            <a:ext cx="2401887" cy="3111500"/>
            <a:chOff x="3589" y="409"/>
            <a:chExt cx="1513" cy="1960"/>
          </a:xfrm>
        </p:grpSpPr>
        <p:sp>
          <p:nvSpPr>
            <p:cNvPr id="58" name="Line 34">
              <a:extLst>
                <a:ext uri="{FF2B5EF4-FFF2-40B4-BE49-F238E27FC236}">
                  <a16:creationId xmlns:a16="http://schemas.microsoft.com/office/drawing/2014/main" id="{6CDF12AF-4F2E-71EF-E8A7-13F56B8AF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527"/>
              <a:ext cx="1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35">
              <a:extLst>
                <a:ext uri="{FF2B5EF4-FFF2-40B4-BE49-F238E27FC236}">
                  <a16:creationId xmlns:a16="http://schemas.microsoft.com/office/drawing/2014/main" id="{7B069238-A68D-72D6-7A7D-19E2EDA0B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" y="698"/>
              <a:ext cx="0" cy="1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Oval 36">
              <a:extLst>
                <a:ext uri="{FF2B5EF4-FFF2-40B4-BE49-F238E27FC236}">
                  <a16:creationId xmlns:a16="http://schemas.microsoft.com/office/drawing/2014/main" id="{2A3D6CCA-73A3-3639-5D9E-EB2A1BCF1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665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Oval 37">
              <a:extLst>
                <a:ext uri="{FF2B5EF4-FFF2-40B4-BE49-F238E27FC236}">
                  <a16:creationId xmlns:a16="http://schemas.microsoft.com/office/drawing/2014/main" id="{A11B712D-55D2-27FD-A059-8BBB8A1DF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207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38">
              <a:extLst>
                <a:ext uri="{FF2B5EF4-FFF2-40B4-BE49-F238E27FC236}">
                  <a16:creationId xmlns:a16="http://schemas.microsoft.com/office/drawing/2014/main" id="{9AF9FBB7-9B4D-4606-D011-B779CE398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137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3" name="Text Box 39">
              <a:extLst>
                <a:ext uri="{FF2B5EF4-FFF2-40B4-BE49-F238E27FC236}">
                  <a16:creationId xmlns:a16="http://schemas.microsoft.com/office/drawing/2014/main" id="{DAD88F78-43DA-9472-CE8A-66A8D94A0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1280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64" name="Text Box 40">
              <a:extLst>
                <a:ext uri="{FF2B5EF4-FFF2-40B4-BE49-F238E27FC236}">
                  <a16:creationId xmlns:a16="http://schemas.microsoft.com/office/drawing/2014/main" id="{3391A5AD-4695-21BD-2382-34967AFA5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1513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" name="Text Box 41">
              <a:extLst>
                <a:ext uri="{FF2B5EF4-FFF2-40B4-BE49-F238E27FC236}">
                  <a16:creationId xmlns:a16="http://schemas.microsoft.com/office/drawing/2014/main" id="{23B8696F-C1B1-3420-15BA-DF0A0B941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8" y="409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66" name="Text Box 42">
              <a:extLst>
                <a:ext uri="{FF2B5EF4-FFF2-40B4-BE49-F238E27FC236}">
                  <a16:creationId xmlns:a16="http://schemas.microsoft.com/office/drawing/2014/main" id="{DE3D3BEC-1683-EA2E-11BD-79656A2FF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2078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7" name="Text Box 43">
              <a:extLst>
                <a:ext uri="{FF2B5EF4-FFF2-40B4-BE49-F238E27FC236}">
                  <a16:creationId xmlns:a16="http://schemas.microsoft.com/office/drawing/2014/main" id="{2A3DC16B-AC3A-A235-F12B-A5F517BF1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" y="1270"/>
              <a:ext cx="2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endPara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Line 44">
            <a:extLst>
              <a:ext uri="{FF2B5EF4-FFF2-40B4-BE49-F238E27FC236}">
                <a16:creationId xmlns:a16="http://schemas.microsoft.com/office/drawing/2014/main" id="{30119EAE-418B-7EB6-7CA4-1E2B81CF54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8051" y="4229302"/>
            <a:ext cx="1753109" cy="10515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Box 45">
            <a:extLst>
              <a:ext uri="{FF2B5EF4-FFF2-40B4-BE49-F238E27FC236}">
                <a16:creationId xmlns:a16="http://schemas.microsoft.com/office/drawing/2014/main" id="{DE2A5F13-E0E0-7E38-4E3E-F46E2188F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5464" y="5155626"/>
            <a:ext cx="5228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Line 46">
            <a:extLst>
              <a:ext uri="{FF2B5EF4-FFF2-40B4-BE49-F238E27FC236}">
                <a16:creationId xmlns:a16="http://schemas.microsoft.com/office/drawing/2014/main" id="{054B1641-D703-F5E9-0585-D9A4B9486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701" y="4068040"/>
            <a:ext cx="1055687" cy="17526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Box 47">
            <a:extLst>
              <a:ext uri="{FF2B5EF4-FFF2-40B4-BE49-F238E27FC236}">
                <a16:creationId xmlns:a16="http://schemas.microsoft.com/office/drawing/2014/main" id="{A566215A-B7B5-E9CB-6B36-DD531BAD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794" y="4822251"/>
            <a:ext cx="4235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72" name="Text Box 48">
            <a:extLst>
              <a:ext uri="{FF2B5EF4-FFF2-40B4-BE49-F238E27FC236}">
                <a16:creationId xmlns:a16="http://schemas.microsoft.com/office/drawing/2014/main" id="{11E029E3-B05A-AC42-0C60-BB9C947E5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465" y="5196901"/>
            <a:ext cx="4876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3" name="Group 58">
            <a:extLst>
              <a:ext uri="{FF2B5EF4-FFF2-40B4-BE49-F238E27FC236}">
                <a16:creationId xmlns:a16="http://schemas.microsoft.com/office/drawing/2014/main" id="{BD5144EF-0EAB-ADB9-11E3-68FBE1D122F6}"/>
              </a:ext>
            </a:extLst>
          </p:cNvPr>
          <p:cNvGrpSpPr>
            <a:grpSpLocks/>
          </p:cNvGrpSpPr>
          <p:nvPr/>
        </p:nvGrpSpPr>
        <p:grpSpPr bwMode="auto">
          <a:xfrm rot="-1120757">
            <a:off x="7088588" y="2078903"/>
            <a:ext cx="200025" cy="282575"/>
            <a:chOff x="3954" y="2451"/>
            <a:chExt cx="126" cy="178"/>
          </a:xfrm>
        </p:grpSpPr>
        <p:sp>
          <p:nvSpPr>
            <p:cNvPr id="74" name="Line 59">
              <a:extLst>
                <a:ext uri="{FF2B5EF4-FFF2-40B4-BE49-F238E27FC236}">
                  <a16:creationId xmlns:a16="http://schemas.microsoft.com/office/drawing/2014/main" id="{EF0A3087-F128-C44E-D01D-CBC5B036D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  <p:sp>
          <p:nvSpPr>
            <p:cNvPr id="75" name="Line 60">
              <a:extLst>
                <a:ext uri="{FF2B5EF4-FFF2-40B4-BE49-F238E27FC236}">
                  <a16:creationId xmlns:a16="http://schemas.microsoft.com/office/drawing/2014/main" id="{A5432AF0-15FA-301E-7C57-B4F10978C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</p:grpSp>
      <p:grpSp>
        <p:nvGrpSpPr>
          <p:cNvPr id="76" name="Group 61">
            <a:extLst>
              <a:ext uri="{FF2B5EF4-FFF2-40B4-BE49-F238E27FC236}">
                <a16:creationId xmlns:a16="http://schemas.microsoft.com/office/drawing/2014/main" id="{11C2A29F-5D34-31C3-83B7-8830F93B8ACA}"/>
              </a:ext>
            </a:extLst>
          </p:cNvPr>
          <p:cNvGrpSpPr>
            <a:grpSpLocks/>
          </p:cNvGrpSpPr>
          <p:nvPr/>
        </p:nvGrpSpPr>
        <p:grpSpPr bwMode="auto">
          <a:xfrm rot="-2709026">
            <a:off x="7802963" y="5103090"/>
            <a:ext cx="200025" cy="282575"/>
            <a:chOff x="3954" y="2451"/>
            <a:chExt cx="126" cy="178"/>
          </a:xfrm>
        </p:grpSpPr>
        <p:sp>
          <p:nvSpPr>
            <p:cNvPr id="77" name="Line 62">
              <a:extLst>
                <a:ext uri="{FF2B5EF4-FFF2-40B4-BE49-F238E27FC236}">
                  <a16:creationId xmlns:a16="http://schemas.microsoft.com/office/drawing/2014/main" id="{20405E17-81FE-A6FB-68DE-057F9B82B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63">
              <a:extLst>
                <a:ext uri="{FF2B5EF4-FFF2-40B4-BE49-F238E27FC236}">
                  <a16:creationId xmlns:a16="http://schemas.microsoft.com/office/drawing/2014/main" id="{1894EDB8-C98D-D916-7239-8F58B9D77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Oval 64">
            <a:extLst>
              <a:ext uri="{FF2B5EF4-FFF2-40B4-BE49-F238E27FC236}">
                <a16:creationId xmlns:a16="http://schemas.microsoft.com/office/drawing/2014/main" id="{A10FD82A-674A-9E2A-509C-8B85FC554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476" y="5757140"/>
            <a:ext cx="157162" cy="1571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Box 65">
            <a:extLst>
              <a:ext uri="{FF2B5EF4-FFF2-40B4-BE49-F238E27FC236}">
                <a16:creationId xmlns:a16="http://schemas.microsoft.com/office/drawing/2014/main" id="{91B1B3DE-E399-C371-6222-788E20F6C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638" y="5589807"/>
            <a:ext cx="397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Box 66">
            <a:extLst>
              <a:ext uri="{FF2B5EF4-FFF2-40B4-BE49-F238E27FC236}">
                <a16:creationId xmlns:a16="http://schemas.microsoft.com/office/drawing/2014/main" id="{8DB6C5F6-D5D9-A081-F1A1-D46500CE4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763" y="4428403"/>
            <a:ext cx="5068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0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83AF-C4CA-CBF2-D936-F384FFA1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3946879-FBF1-3786-78B0-5A49AEA9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12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CF50E55-2269-57DA-1E4C-3F555A80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60A3474C-BA42-C41F-8047-08484EC95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5" y="1702723"/>
            <a:ext cx="2707793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0" dirty="0"/>
              <a:t> (2) </a:t>
            </a:r>
            <a:r>
              <a:rPr lang="zh-CN" altLang="en-US" b="0" dirty="0"/>
              <a:t>点的一次换面作图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BC8A6C5A-992A-C8E2-714F-AA661F382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点的一次换面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33">
            <a:extLst>
              <a:ext uri="{FF2B5EF4-FFF2-40B4-BE49-F238E27FC236}">
                <a16:creationId xmlns:a16="http://schemas.microsoft.com/office/drawing/2014/main" id="{BFE004B8-F8E4-7E2A-AB36-63A8181A4E67}"/>
              </a:ext>
            </a:extLst>
          </p:cNvPr>
          <p:cNvGrpSpPr>
            <a:grpSpLocks/>
          </p:cNvGrpSpPr>
          <p:nvPr/>
        </p:nvGrpSpPr>
        <p:grpSpPr bwMode="auto">
          <a:xfrm>
            <a:off x="5436096" y="1105782"/>
            <a:ext cx="2889249" cy="3114675"/>
            <a:chOff x="3589" y="407"/>
            <a:chExt cx="1820" cy="1962"/>
          </a:xfrm>
        </p:grpSpPr>
        <p:sp>
          <p:nvSpPr>
            <p:cNvPr id="31" name="Line 34">
              <a:extLst>
                <a:ext uri="{FF2B5EF4-FFF2-40B4-BE49-F238E27FC236}">
                  <a16:creationId xmlns:a16="http://schemas.microsoft.com/office/drawing/2014/main" id="{9F10AA6A-D091-4AD5-8855-84780172E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527"/>
              <a:ext cx="15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35">
              <a:extLst>
                <a:ext uri="{FF2B5EF4-FFF2-40B4-BE49-F238E27FC236}">
                  <a16:creationId xmlns:a16="http://schemas.microsoft.com/office/drawing/2014/main" id="{87FBE69B-8D3C-FDEC-B7C0-D2468E8A4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8" y="698"/>
              <a:ext cx="0" cy="15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761DAA60-BFDD-88C1-0F2E-331FA4E37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665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DA2E6813-FAC1-2F33-3796-F7FF1DDE1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207"/>
              <a:ext cx="87" cy="87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D8E4B8CE-546F-444E-D25E-B59288EE2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137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6" name="Text Box 39">
              <a:extLst>
                <a:ext uri="{FF2B5EF4-FFF2-40B4-BE49-F238E27FC236}">
                  <a16:creationId xmlns:a16="http://schemas.microsoft.com/office/drawing/2014/main" id="{AF1156FD-B2DD-097C-1A82-D1599E2C7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1280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8255A6F9-145F-39EE-381E-B56D2422A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1513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9" name="Text Box 41">
              <a:extLst>
                <a:ext uri="{FF2B5EF4-FFF2-40B4-BE49-F238E27FC236}">
                  <a16:creationId xmlns:a16="http://schemas.microsoft.com/office/drawing/2014/main" id="{9A207025-9C25-85EE-7C04-DB177ECAE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9" y="407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7A1E3161-0525-560A-D9EB-59F286A51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9" y="2078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1" name="Text Box 43">
              <a:extLst>
                <a:ext uri="{FF2B5EF4-FFF2-40B4-BE49-F238E27FC236}">
                  <a16:creationId xmlns:a16="http://schemas.microsoft.com/office/drawing/2014/main" id="{9091B307-BA62-15D9-18D1-935DAD90E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0" y="1270"/>
              <a:ext cx="2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endPara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Line 44">
            <a:extLst>
              <a:ext uri="{FF2B5EF4-FFF2-40B4-BE49-F238E27FC236}">
                <a16:creationId xmlns:a16="http://schemas.microsoft.com/office/drawing/2014/main" id="{31912FF1-14E5-2938-097C-4BD6D5554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9859" y="4090282"/>
            <a:ext cx="2003425" cy="120173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45">
            <a:extLst>
              <a:ext uri="{FF2B5EF4-FFF2-40B4-BE49-F238E27FC236}">
                <a16:creationId xmlns:a16="http://schemas.microsoft.com/office/drawing/2014/main" id="{0A6E9CEC-8E7D-F6FE-0631-DABB5AA27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272" y="5166755"/>
            <a:ext cx="5228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D2CAC5A4-44A6-85AE-F988-582F9A9E6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509" y="4079169"/>
            <a:ext cx="1055687" cy="17526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4908855C-4DD3-B1F1-CD93-99913E43A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602" y="4833380"/>
            <a:ext cx="4235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1074B-B37B-5829-094B-C18F809BA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5273" y="5208030"/>
            <a:ext cx="4876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58">
            <a:extLst>
              <a:ext uri="{FF2B5EF4-FFF2-40B4-BE49-F238E27FC236}">
                <a16:creationId xmlns:a16="http://schemas.microsoft.com/office/drawing/2014/main" id="{287D9EDA-F669-96D8-3FE2-4D3EBA678F42}"/>
              </a:ext>
            </a:extLst>
          </p:cNvPr>
          <p:cNvGrpSpPr>
            <a:grpSpLocks/>
          </p:cNvGrpSpPr>
          <p:nvPr/>
        </p:nvGrpSpPr>
        <p:grpSpPr bwMode="auto">
          <a:xfrm rot="-1120757">
            <a:off x="6820396" y="2090032"/>
            <a:ext cx="200025" cy="282575"/>
            <a:chOff x="3954" y="2451"/>
            <a:chExt cx="126" cy="178"/>
          </a:xfrm>
        </p:grpSpPr>
        <p:sp>
          <p:nvSpPr>
            <p:cNvPr id="48" name="Line 59">
              <a:extLst>
                <a:ext uri="{FF2B5EF4-FFF2-40B4-BE49-F238E27FC236}">
                  <a16:creationId xmlns:a16="http://schemas.microsoft.com/office/drawing/2014/main" id="{8FE5C941-D00F-78F6-1C60-19D79B0CD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  <p:sp>
          <p:nvSpPr>
            <p:cNvPr id="49" name="Line 60">
              <a:extLst>
                <a:ext uri="{FF2B5EF4-FFF2-40B4-BE49-F238E27FC236}">
                  <a16:creationId xmlns:a16="http://schemas.microsoft.com/office/drawing/2014/main" id="{1E80CF1C-933D-ED43-2FBB-8CADA0B43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ea"/>
              </a:endParaRPr>
            </a:p>
          </p:txBody>
        </p:sp>
      </p:grpSp>
      <p:grpSp>
        <p:nvGrpSpPr>
          <p:cNvPr id="50" name="Group 61">
            <a:extLst>
              <a:ext uri="{FF2B5EF4-FFF2-40B4-BE49-F238E27FC236}">
                <a16:creationId xmlns:a16="http://schemas.microsoft.com/office/drawing/2014/main" id="{1F8E01A4-A49A-1155-D6BA-8B60888727BF}"/>
              </a:ext>
            </a:extLst>
          </p:cNvPr>
          <p:cNvGrpSpPr>
            <a:grpSpLocks/>
          </p:cNvGrpSpPr>
          <p:nvPr/>
        </p:nvGrpSpPr>
        <p:grpSpPr bwMode="auto">
          <a:xfrm rot="-2709026">
            <a:off x="7534771" y="5114219"/>
            <a:ext cx="200025" cy="282575"/>
            <a:chOff x="3954" y="2451"/>
            <a:chExt cx="126" cy="178"/>
          </a:xfrm>
        </p:grpSpPr>
        <p:sp>
          <p:nvSpPr>
            <p:cNvPr id="51" name="Line 62">
              <a:extLst>
                <a:ext uri="{FF2B5EF4-FFF2-40B4-BE49-F238E27FC236}">
                  <a16:creationId xmlns:a16="http://schemas.microsoft.com/office/drawing/2014/main" id="{FE117C28-4528-0424-F30A-3B774CF62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6" y="2451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63">
              <a:extLst>
                <a:ext uri="{FF2B5EF4-FFF2-40B4-BE49-F238E27FC236}">
                  <a16:creationId xmlns:a16="http://schemas.microsoft.com/office/drawing/2014/main" id="{26D06BB7-FA23-5F08-4CC4-6F296E53E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505"/>
              <a:ext cx="124" cy="1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Oval 64">
            <a:extLst>
              <a:ext uri="{FF2B5EF4-FFF2-40B4-BE49-F238E27FC236}">
                <a16:creationId xmlns:a16="http://schemas.microsoft.com/office/drawing/2014/main" id="{5045C902-9D22-883D-98EA-5F3D74A11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284" y="5768269"/>
            <a:ext cx="157162" cy="1571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65">
            <a:extLst>
              <a:ext uri="{FF2B5EF4-FFF2-40B4-BE49-F238E27FC236}">
                <a16:creationId xmlns:a16="http://schemas.microsoft.com/office/drawing/2014/main" id="{94BDF729-3C7E-A380-F07D-1ABA76B6C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9416" y="5774530"/>
            <a:ext cx="397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Box 66">
            <a:extLst>
              <a:ext uri="{FF2B5EF4-FFF2-40B4-BE49-F238E27FC236}">
                <a16:creationId xmlns:a16="http://schemas.microsoft.com/office/drawing/2014/main" id="{23676E74-64C9-36B7-1F96-5144A58D4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2080" y="4484340"/>
            <a:ext cx="5068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EF24F7B-0867-BA66-D4B0-DBCC21483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87" y="2630526"/>
            <a:ext cx="3634025" cy="8448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在由点被保留的原投影向新投影轴作垂线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B6EB05-A50D-0BE5-24CE-959C9370B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87" y="3855425"/>
            <a:ext cx="3634025" cy="122953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6372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在垂线上量取一段距离，使这段距离等于被代替的投影到原投影轴的距离</a:t>
            </a:r>
          </a:p>
        </p:txBody>
      </p:sp>
    </p:spTree>
    <p:extLst>
      <p:ext uri="{BB962C8B-B14F-4D97-AF65-F5344CB8AC3E}">
        <p14:creationId xmlns:p14="http://schemas.microsoft.com/office/powerpoint/2010/main" val="178630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utoUpdateAnimBg="0"/>
      <p:bldP spid="44" grpId="0" animBg="1"/>
      <p:bldP spid="45" grpId="0" build="p" autoUpdateAnimBg="0"/>
      <p:bldP spid="46" grpId="0" build="p" autoUpdateAnimBg="0"/>
      <p:bldP spid="53" grpId="0" animBg="1"/>
      <p:bldP spid="54" grpId="0" build="p" autoUpdateAnimBg="0"/>
      <p:bldP spid="55" grpId="0" build="p" autoUpdateAnimBg="0"/>
      <p:bldP spid="56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90CE-2834-2F76-D2F1-E948DD22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A066E9A-C473-2A23-6F06-4226FAB1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13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92674E7-E934-2C1C-5DBC-DE5C3CA06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1C6C70A5-692F-D3FF-94ED-BF797B3B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点的二次换面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F4C35CE-2000-D1FB-4046-A94A43885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5" y="1700808"/>
            <a:ext cx="2707793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0" dirty="0"/>
              <a:t> (1) </a:t>
            </a:r>
            <a:r>
              <a:rPr lang="zh-CN" altLang="en-US" b="0" dirty="0"/>
              <a:t>新投影体系的建立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0D4A23-40CA-C60B-9E8A-1FD59FF8FA32}"/>
              </a:ext>
            </a:extLst>
          </p:cNvPr>
          <p:cNvGrpSpPr>
            <a:grpSpLocks/>
          </p:cNvGrpSpPr>
          <p:nvPr/>
        </p:nvGrpSpPr>
        <p:grpSpPr bwMode="auto">
          <a:xfrm>
            <a:off x="4453283" y="1268760"/>
            <a:ext cx="4214813" cy="4545013"/>
            <a:chOff x="349" y="839"/>
            <a:chExt cx="2655" cy="286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3CF754C-3068-CB12-C390-D23BF21DCCDD}"/>
                </a:ext>
              </a:extLst>
            </p:cNvPr>
            <p:cNvSpPr>
              <a:spLocks/>
            </p:cNvSpPr>
            <p:nvPr/>
          </p:nvSpPr>
          <p:spPr bwMode="auto">
            <a:xfrm rot="780000">
              <a:off x="444" y="2577"/>
              <a:ext cx="2560" cy="1125"/>
            </a:xfrm>
            <a:custGeom>
              <a:avLst/>
              <a:gdLst>
                <a:gd name="T0" fmla="*/ 0 w 3369"/>
                <a:gd name="T1" fmla="*/ 1417 h 893"/>
                <a:gd name="T2" fmla="*/ 1429 w 3369"/>
                <a:gd name="T3" fmla="*/ 1417 h 893"/>
                <a:gd name="T4" fmla="*/ 1945 w 3369"/>
                <a:gd name="T5" fmla="*/ 0 h 893"/>
                <a:gd name="T6" fmla="*/ 515 w 3369"/>
                <a:gd name="T7" fmla="*/ 0 h 893"/>
                <a:gd name="T8" fmla="*/ 0 w 3369"/>
                <a:gd name="T9" fmla="*/ 1417 h 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9"/>
                <a:gd name="T16" fmla="*/ 0 h 893"/>
                <a:gd name="T17" fmla="*/ 3369 w 3369"/>
                <a:gd name="T18" fmla="*/ 893 h 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9" h="893">
                  <a:moveTo>
                    <a:pt x="0" y="893"/>
                  </a:moveTo>
                  <a:lnTo>
                    <a:pt x="2476" y="893"/>
                  </a:lnTo>
                  <a:lnTo>
                    <a:pt x="3369" y="0"/>
                  </a:lnTo>
                  <a:lnTo>
                    <a:pt x="892" y="0"/>
                  </a:lnTo>
                  <a:lnTo>
                    <a:pt x="0" y="893"/>
                  </a:lnTo>
                  <a:close/>
                </a:path>
              </a:pathLst>
            </a:custGeom>
            <a:solidFill>
              <a:srgbClr val="3399FF">
                <a:alpha val="50195"/>
              </a:srgbClr>
            </a:solidFill>
            <a:ln w="38100">
              <a:solidFill>
                <a:srgbClr val="3399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88E1FCB-7E9C-3F66-FF1D-BDE5E2271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839"/>
              <a:ext cx="920" cy="2569"/>
            </a:xfrm>
            <a:custGeom>
              <a:avLst/>
              <a:gdLst>
                <a:gd name="T0" fmla="*/ 0 w 893"/>
                <a:gd name="T1" fmla="*/ 892 h 2534"/>
                <a:gd name="T2" fmla="*/ 0 w 893"/>
                <a:gd name="T3" fmla="*/ 2534 h 2534"/>
                <a:gd name="T4" fmla="*/ 893 w 893"/>
                <a:gd name="T5" fmla="*/ 1641 h 2534"/>
                <a:gd name="T6" fmla="*/ 893 w 893"/>
                <a:gd name="T7" fmla="*/ 0 h 2534"/>
                <a:gd name="T8" fmla="*/ 0 w 893"/>
                <a:gd name="T9" fmla="*/ 892 h 2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3"/>
                <a:gd name="T16" fmla="*/ 0 h 2534"/>
                <a:gd name="T17" fmla="*/ 893 w 893"/>
                <a:gd name="T18" fmla="*/ 2534 h 2534"/>
                <a:gd name="connsiteX0" fmla="*/ 0 w 10000"/>
                <a:gd name="connsiteY0" fmla="*/ 3520 h 10000"/>
                <a:gd name="connsiteX1" fmla="*/ 0 w 10000"/>
                <a:gd name="connsiteY1" fmla="*/ 10000 h 10000"/>
                <a:gd name="connsiteX2" fmla="*/ 9808 w 10000"/>
                <a:gd name="connsiteY2" fmla="*/ 6260 h 10000"/>
                <a:gd name="connsiteX3" fmla="*/ 10000 w 10000"/>
                <a:gd name="connsiteY3" fmla="*/ 0 h 10000"/>
                <a:gd name="connsiteX4" fmla="*/ 0 w 10000"/>
                <a:gd name="connsiteY4" fmla="*/ 3520 h 10000"/>
                <a:gd name="connsiteX0" fmla="*/ 0 w 9856"/>
                <a:gd name="connsiteY0" fmla="*/ 3526 h 10006"/>
                <a:gd name="connsiteX1" fmla="*/ 0 w 9856"/>
                <a:gd name="connsiteY1" fmla="*/ 10006 h 10006"/>
                <a:gd name="connsiteX2" fmla="*/ 9808 w 9856"/>
                <a:gd name="connsiteY2" fmla="*/ 6266 h 10006"/>
                <a:gd name="connsiteX3" fmla="*/ 9856 w 9856"/>
                <a:gd name="connsiteY3" fmla="*/ 0 h 10006"/>
                <a:gd name="connsiteX4" fmla="*/ 0 w 9856"/>
                <a:gd name="connsiteY4" fmla="*/ 3526 h 10006"/>
                <a:gd name="connsiteX0" fmla="*/ 0 w 9952"/>
                <a:gd name="connsiteY0" fmla="*/ 3530 h 10006"/>
                <a:gd name="connsiteX1" fmla="*/ 0 w 9952"/>
                <a:gd name="connsiteY1" fmla="*/ 10006 h 10006"/>
                <a:gd name="connsiteX2" fmla="*/ 9951 w 9952"/>
                <a:gd name="connsiteY2" fmla="*/ 6268 h 10006"/>
                <a:gd name="connsiteX3" fmla="*/ 9870 w 9952"/>
                <a:gd name="connsiteY3" fmla="*/ 0 h 10006"/>
                <a:gd name="connsiteX4" fmla="*/ 0 w 9952"/>
                <a:gd name="connsiteY4" fmla="*/ 3530 h 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2" h="10006">
                  <a:moveTo>
                    <a:pt x="0" y="3530"/>
                  </a:moveTo>
                  <a:lnTo>
                    <a:pt x="0" y="10006"/>
                  </a:lnTo>
                  <a:lnTo>
                    <a:pt x="9951" y="6268"/>
                  </a:lnTo>
                  <a:cubicBezTo>
                    <a:pt x="9968" y="4180"/>
                    <a:pt x="9854" y="2088"/>
                    <a:pt x="9870" y="0"/>
                  </a:cubicBezTo>
                  <a:lnTo>
                    <a:pt x="0" y="3530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38100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7F19B019-CB4F-DAEF-0F1B-A4DEF47255C8}"/>
              </a:ext>
            </a:extLst>
          </p:cNvPr>
          <p:cNvGrpSpPr>
            <a:grpSpLocks/>
          </p:cNvGrpSpPr>
          <p:nvPr/>
        </p:nvGrpSpPr>
        <p:grpSpPr bwMode="auto">
          <a:xfrm>
            <a:off x="6510685" y="1544985"/>
            <a:ext cx="1878013" cy="3465513"/>
            <a:chOff x="1691" y="921"/>
            <a:chExt cx="1183" cy="2183"/>
          </a:xfrm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FE37611D-0ED5-EF52-C98C-BE062EA04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921"/>
              <a:ext cx="1104" cy="2183"/>
            </a:xfrm>
            <a:custGeom>
              <a:avLst/>
              <a:gdLst>
                <a:gd name="T0" fmla="*/ 0 w 1104"/>
                <a:gd name="T1" fmla="*/ 0 h 2183"/>
                <a:gd name="T2" fmla="*/ 0 w 1104"/>
                <a:gd name="T3" fmla="*/ 1546 h 2183"/>
                <a:gd name="T4" fmla="*/ 1104 w 1104"/>
                <a:gd name="T5" fmla="*/ 2183 h 2183"/>
                <a:gd name="T6" fmla="*/ 1104 w 1104"/>
                <a:gd name="T7" fmla="*/ 624 h 2183"/>
                <a:gd name="T8" fmla="*/ 0 w 1104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2183"/>
                <a:gd name="T17" fmla="*/ 1104 w 1104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2183">
                  <a:moveTo>
                    <a:pt x="0" y="0"/>
                  </a:moveTo>
                  <a:lnTo>
                    <a:pt x="0" y="1546"/>
                  </a:lnTo>
                  <a:lnTo>
                    <a:pt x="1104" y="2183"/>
                  </a:lnTo>
                  <a:lnTo>
                    <a:pt x="1104" y="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26A39E61-F44D-6CE1-750E-D6E6B9F68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417"/>
              <a:ext cx="33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isometricLeftDown"/>
              <a:lightRig rig="threePt" dir="t"/>
            </a:scene3d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0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0" name="Line 6">
            <a:extLst>
              <a:ext uri="{FF2B5EF4-FFF2-40B4-BE49-F238E27FC236}">
                <a16:creationId xmlns:a16="http://schemas.microsoft.com/office/drawing/2014/main" id="{C5C22393-035D-EB91-4E7E-4C5D1EBCDB26}"/>
              </a:ext>
            </a:extLst>
          </p:cNvPr>
          <p:cNvSpPr>
            <a:spLocks noChangeShapeType="1"/>
          </p:cNvSpPr>
          <p:nvPr/>
        </p:nvSpPr>
        <p:spPr bwMode="auto">
          <a:xfrm rot="780000" flipH="1" flipV="1">
            <a:off x="4953345" y="4973986"/>
            <a:ext cx="1941512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A01DCFB9-A0DE-F691-FA3E-4CA1BF59BD43}"/>
              </a:ext>
            </a:extLst>
          </p:cNvPr>
          <p:cNvSpPr>
            <a:spLocks noChangeShapeType="1"/>
          </p:cNvSpPr>
          <p:nvPr/>
        </p:nvSpPr>
        <p:spPr bwMode="auto">
          <a:xfrm rot="780000" flipH="1">
            <a:off x="4977158" y="3616673"/>
            <a:ext cx="1908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AF718B08-5430-5E98-62A5-9426C64B5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658" y="5056536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BB6C0C1B-96CF-4523-0126-CF7B88D9D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908" y="2880073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A10EFE13-6879-DE93-5A82-A5687E1636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4695" y="3826223"/>
            <a:ext cx="0" cy="136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E86275B0-4DB7-52A1-2840-51196E003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152" y="4405015"/>
            <a:ext cx="4491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62371C0E-FD02-88FD-3FA2-07135C5D3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0333" y="3402360"/>
            <a:ext cx="0" cy="136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484E8492-FEBD-C9E8-2FC3-03DAEE590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070" y="2578448"/>
            <a:ext cx="44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1149F2A0-55DC-7317-C8CC-7DFC98E2BCF4}"/>
              </a:ext>
            </a:extLst>
          </p:cNvPr>
          <p:cNvSpPr txBox="1">
            <a:spLocks noChangeArrowheads="1"/>
          </p:cNvSpPr>
          <p:nvPr/>
        </p:nvSpPr>
        <p:spPr bwMode="auto">
          <a:xfrm rot="-1140000">
            <a:off x="7112470" y="5508473"/>
            <a:ext cx="4635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BottomDown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3DAB29BB-922C-A5D1-D71E-FDFD545B7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421" y="5273730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85977C5B-46DF-06C1-8163-41767327B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070" y="3334098"/>
            <a:ext cx="127000" cy="127000"/>
          </a:xfrm>
          <a:prstGeom prst="ellipse">
            <a:avLst/>
          </a:prstGeom>
          <a:gradFill rotWithShape="0">
            <a:gsLst>
              <a:gs pos="0">
                <a:srgbClr val="3399FF"/>
              </a:gs>
              <a:gs pos="100000">
                <a:srgbClr val="08192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C8B3F154-3538-34EA-3B29-940124134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851" y="3311766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CF45D6C8-3DA9-9BC6-A8FF-3394B8024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994" y="4936745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EFF24758-264D-FEF1-2F20-4081416BC7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4138" y="4678709"/>
            <a:ext cx="843520" cy="520111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B1DCC10D-9268-D649-D311-D41615899E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10833" y="3307908"/>
            <a:ext cx="0" cy="13684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7162BE21-C009-2A91-EA4F-0F1301B826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86920" y="3291235"/>
            <a:ext cx="820738" cy="5302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CBD8B614-7591-7CAD-6453-7032F5E77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433" y="4275485"/>
            <a:ext cx="5261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58322D6A-7493-AAEB-42A9-916263865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4960" y="2797820"/>
            <a:ext cx="488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4A1D64BB-D519-1034-3358-BED5A03556F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252045" y="2326035"/>
            <a:ext cx="474663" cy="90011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26">
            <a:extLst>
              <a:ext uri="{FF2B5EF4-FFF2-40B4-BE49-F238E27FC236}">
                <a16:creationId xmlns:a16="http://schemas.microsoft.com/office/drawing/2014/main" id="{D2C8B5E5-B172-86AE-63F1-A40ACCA440B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402733" y="2924523"/>
            <a:ext cx="476250" cy="9001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A9E45BA8-1CF7-4054-7466-5B4016340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6152" y="2076947"/>
            <a:ext cx="5261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1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2">
            <a:extLst>
              <a:ext uri="{FF2B5EF4-FFF2-40B4-BE49-F238E27FC236}">
                <a16:creationId xmlns:a16="http://schemas.microsoft.com/office/drawing/2014/main" id="{7E626B0E-9ADD-229C-4D1E-DD9716E59B3F}"/>
              </a:ext>
            </a:extLst>
          </p:cNvPr>
          <p:cNvGrpSpPr>
            <a:grpSpLocks/>
          </p:cNvGrpSpPr>
          <p:nvPr/>
        </p:nvGrpSpPr>
        <p:grpSpPr bwMode="auto">
          <a:xfrm>
            <a:off x="5608983" y="2340322"/>
            <a:ext cx="1955800" cy="926511"/>
            <a:chOff x="1709735" y="2518905"/>
            <a:chExt cx="1956948" cy="926602"/>
          </a:xfrm>
        </p:grpSpPr>
        <p:sp>
          <p:nvSpPr>
            <p:cNvPr id="33" name="平行四边形 1">
              <a:extLst>
                <a:ext uri="{FF2B5EF4-FFF2-40B4-BE49-F238E27FC236}">
                  <a16:creationId xmlns:a16="http://schemas.microsoft.com/office/drawing/2014/main" id="{315BA27F-33C2-E040-0147-6BFE898831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400000">
              <a:off x="1709735" y="2518905"/>
              <a:ext cx="1956948" cy="694240"/>
            </a:xfrm>
            <a:prstGeom prst="parallelogram">
              <a:avLst>
                <a:gd name="adj" fmla="val 93270"/>
              </a:avLst>
            </a:prstGeom>
            <a:solidFill>
              <a:srgbClr val="FF9999">
                <a:alpha val="49411"/>
              </a:srgbClr>
            </a:solidFill>
            <a:ln w="38100" algn="ctr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7167C4A9-ED30-3863-59D0-A3C4A1C48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205" y="2983797"/>
              <a:ext cx="500751" cy="461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5" name="Line 26">
            <a:extLst>
              <a:ext uri="{FF2B5EF4-FFF2-40B4-BE49-F238E27FC236}">
                <a16:creationId xmlns:a16="http://schemas.microsoft.com/office/drawing/2014/main" id="{D8E9BF90-35CF-B1D5-D1F7-FDAF56F3E7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658" y="2326035"/>
            <a:ext cx="820737" cy="5302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3B838763-F0A4-6C33-ABF1-346F563FA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7146" y="2374117"/>
            <a:ext cx="488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27">
            <a:extLst>
              <a:ext uri="{FF2B5EF4-FFF2-40B4-BE49-F238E27FC236}">
                <a16:creationId xmlns:a16="http://schemas.microsoft.com/office/drawing/2014/main" id="{B2F8E4E2-B2F2-0361-5599-7C91C3794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7008" y="2803873"/>
            <a:ext cx="171450" cy="17145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20">
            <a:extLst>
              <a:ext uri="{FF2B5EF4-FFF2-40B4-BE49-F238E27FC236}">
                <a16:creationId xmlns:a16="http://schemas.microsoft.com/office/drawing/2014/main" id="{D0E8C776-9B26-9B62-29D7-1606AF2CA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926" y="1543858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27">
            <a:extLst>
              <a:ext uri="{FF2B5EF4-FFF2-40B4-BE49-F238E27FC236}">
                <a16:creationId xmlns:a16="http://schemas.microsoft.com/office/drawing/2014/main" id="{8ADCD54F-8576-5247-8A78-80F75A7C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808" y="3167410"/>
            <a:ext cx="171450" cy="17145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12">
            <a:extLst>
              <a:ext uri="{FF2B5EF4-FFF2-40B4-BE49-F238E27FC236}">
                <a16:creationId xmlns:a16="http://schemas.microsoft.com/office/drawing/2014/main" id="{45D8F1E7-5EF9-6E97-1886-0729E848A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845" y="3751611"/>
            <a:ext cx="131762" cy="131763"/>
          </a:xfrm>
          <a:prstGeom prst="ellipse">
            <a:avLst/>
          </a:prstGeom>
          <a:gradFill rotWithShape="0">
            <a:gsLst>
              <a:gs pos="0">
                <a:srgbClr val="3399FF"/>
              </a:gs>
              <a:gs pos="100000">
                <a:srgbClr val="030A1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113">
            <a:extLst>
              <a:ext uri="{FF2B5EF4-FFF2-40B4-BE49-F238E27FC236}">
                <a16:creationId xmlns:a16="http://schemas.microsoft.com/office/drawing/2014/main" id="{5A4B9DFA-B23F-D0A4-8ED9-AE0654718C39}"/>
              </a:ext>
            </a:extLst>
          </p:cNvPr>
          <p:cNvGrpSpPr>
            <a:grpSpLocks/>
          </p:cNvGrpSpPr>
          <p:nvPr/>
        </p:nvGrpSpPr>
        <p:grpSpPr bwMode="auto">
          <a:xfrm>
            <a:off x="403484" y="2495668"/>
            <a:ext cx="3627791" cy="1238250"/>
            <a:chOff x="349" y="3231"/>
            <a:chExt cx="2394" cy="780"/>
          </a:xfrm>
        </p:grpSpPr>
        <p:sp>
          <p:nvSpPr>
            <p:cNvPr id="43" name="Text Box 83">
              <a:extLst>
                <a:ext uri="{FF2B5EF4-FFF2-40B4-BE49-F238E27FC236}">
                  <a16:creationId xmlns:a16="http://schemas.microsoft.com/office/drawing/2014/main" id="{8D2B1170-A1FC-5617-05FF-092181473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" y="3231"/>
              <a:ext cx="2394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342900" indent="-342900" eaLnBrk="1" hangingPunct="1">
                <a:buFont typeface="Wingdings" panose="05000000000000000000" pitchFamily="2" charset="2"/>
                <a:buChar char="p"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先把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面换成平面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(P</a:t>
              </a:r>
              <a:r>
                <a:rPr lang="en-US" altLang="zh-CN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H)</a:t>
              </a:r>
            </a:p>
            <a:p>
              <a:pPr eaLnBrk="1" hangingPunct="1">
                <a:defRPr/>
              </a:pP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endParaRPr>
            </a:p>
            <a:p>
              <a:pPr eaLnBrk="1" hangingPunct="1"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  得到中间投影体系</a:t>
              </a:r>
              <a:endParaRPr lang="zh-CN" altLang="en-US" sz="2000" baseline="-20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84">
              <a:extLst>
                <a:ext uri="{FF2B5EF4-FFF2-40B4-BE49-F238E27FC236}">
                  <a16:creationId xmlns:a16="http://schemas.microsoft.com/office/drawing/2014/main" id="{53441A0A-FF48-8F2B-5C95-4CCB62D401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4" y="3497"/>
              <a:ext cx="595" cy="514"/>
              <a:chOff x="1953" y="2326"/>
              <a:chExt cx="595" cy="514"/>
            </a:xfrm>
          </p:grpSpPr>
          <p:sp>
            <p:nvSpPr>
              <p:cNvPr id="45" name="Text Box 85">
                <a:extLst>
                  <a:ext uri="{FF2B5EF4-FFF2-40B4-BE49-F238E27FC236}">
                    <a16:creationId xmlns:a16="http://schemas.microsoft.com/office/drawing/2014/main" id="{0DCBB378-5BC2-469A-EF6B-080BBEAEE4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4" y="2326"/>
                <a:ext cx="27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baseline="-2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 Box 86">
                <a:extLst>
                  <a:ext uri="{FF2B5EF4-FFF2-40B4-BE49-F238E27FC236}">
                    <a16:creationId xmlns:a16="http://schemas.microsoft.com/office/drawing/2014/main" id="{5CF72C12-3B98-A253-D9C0-3DFC10F22F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4" y="2607"/>
                <a:ext cx="23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</a:p>
            </p:txBody>
          </p:sp>
          <p:sp>
            <p:nvSpPr>
              <p:cNvPr id="47" name="Rectangle 87">
                <a:extLst>
                  <a:ext uri="{FF2B5EF4-FFF2-40B4-BE49-F238E27FC236}">
                    <a16:creationId xmlns:a16="http://schemas.microsoft.com/office/drawing/2014/main" id="{2C9CE029-3626-90B6-F187-FB5CDC1EE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3" y="2455"/>
                <a:ext cx="58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baseline="-2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—</a:t>
                </a:r>
              </a:p>
            </p:txBody>
          </p:sp>
        </p:grpSp>
      </p:grpSp>
      <p:grpSp>
        <p:nvGrpSpPr>
          <p:cNvPr id="48" name="Group 114">
            <a:extLst>
              <a:ext uri="{FF2B5EF4-FFF2-40B4-BE49-F238E27FC236}">
                <a16:creationId xmlns:a16="http://schemas.microsoft.com/office/drawing/2014/main" id="{B4D911EF-6678-383A-C3A4-37742ACAD544}"/>
              </a:ext>
            </a:extLst>
          </p:cNvPr>
          <p:cNvGrpSpPr>
            <a:grpSpLocks/>
          </p:cNvGrpSpPr>
          <p:nvPr/>
        </p:nvGrpSpPr>
        <p:grpSpPr bwMode="auto">
          <a:xfrm>
            <a:off x="403483" y="3933943"/>
            <a:ext cx="3839018" cy="1200150"/>
            <a:chOff x="3298" y="1238"/>
            <a:chExt cx="2580" cy="756"/>
          </a:xfrm>
        </p:grpSpPr>
        <p:sp>
          <p:nvSpPr>
            <p:cNvPr id="49" name="Text Box 88">
              <a:extLst>
                <a:ext uri="{FF2B5EF4-FFF2-40B4-BE49-F238E27FC236}">
                  <a16:creationId xmlns:a16="http://schemas.microsoft.com/office/drawing/2014/main" id="{6CF98E36-AEDE-FB9D-D9BF-4248C75F8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8" y="1238"/>
              <a:ext cx="2580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342900" indent="-342900" eaLnBrk="1" hangingPunct="1">
                <a:buFont typeface="Wingdings" panose="05000000000000000000" pitchFamily="2" charset="2"/>
                <a:buChar char="p"/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再把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面换成平面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</a:t>
              </a:r>
              <a:r>
                <a:rPr lang="en-US" altLang="zh-CN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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) 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defRPr/>
              </a:pP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得到新投影体系</a:t>
              </a:r>
              <a:endParaRPr lang="zh-CN" altLang="en-US" sz="2000" baseline="-20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Group 89">
              <a:extLst>
                <a:ext uri="{FF2B5EF4-FFF2-40B4-BE49-F238E27FC236}">
                  <a16:creationId xmlns:a16="http://schemas.microsoft.com/office/drawing/2014/main" id="{CD7C5BCD-BF0C-5A28-78A4-63BD584C1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7" y="1516"/>
              <a:ext cx="648" cy="478"/>
              <a:chOff x="4819" y="-183"/>
              <a:chExt cx="648" cy="478"/>
            </a:xfrm>
          </p:grpSpPr>
          <p:sp>
            <p:nvSpPr>
              <p:cNvPr id="51" name="Text Box 90">
                <a:extLst>
                  <a:ext uri="{FF2B5EF4-FFF2-40B4-BE49-F238E27FC236}">
                    <a16:creationId xmlns:a16="http://schemas.microsoft.com/office/drawing/2014/main" id="{E23881E2-1E77-297A-26FA-5B8E8AA5A3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6" y="-183"/>
                <a:ext cx="27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baseline="-2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Text Box 91">
                <a:extLst>
                  <a:ext uri="{FF2B5EF4-FFF2-40B4-BE49-F238E27FC236}">
                    <a16:creationId xmlns:a16="http://schemas.microsoft.com/office/drawing/2014/main" id="{AC3A1370-7DC4-10F4-48A4-94AA5A7164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6" y="62"/>
                <a:ext cx="331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P</a:t>
                </a:r>
                <a:r>
                  <a:rPr lang="en-US" altLang="zh-CN" baseline="-2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Rectangle 92">
                <a:extLst>
                  <a:ext uri="{FF2B5EF4-FFF2-40B4-BE49-F238E27FC236}">
                    <a16:creationId xmlns:a16="http://schemas.microsoft.com/office/drawing/2014/main" id="{0A6424F9-E8B8-5E75-92F7-056CCB79B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9" y="-70"/>
                <a:ext cx="64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baseline="-2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24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 build="p" autoUpdateAnimBg="0"/>
      <p:bldP spid="24" grpId="0" animBg="1"/>
      <p:bldP spid="25" grpId="0" animBg="1"/>
      <p:bldP spid="26" grpId="0" animBg="1"/>
      <p:bldP spid="27" grpId="0" build="p" autoUpdateAnimBg="0"/>
      <p:bldP spid="28" grpId="0" build="p" autoUpdateAnimBg="0"/>
      <p:bldP spid="29" grpId="0" animBg="1"/>
      <p:bldP spid="30" grpId="0" animBg="1"/>
      <p:bldP spid="31" grpId="0" build="p" autoUpdateAnimBg="0"/>
      <p:bldP spid="35" grpId="0" animBg="1"/>
      <p:bldP spid="36" grpId="0" build="p" autoUpdateAnimBg="0"/>
      <p:bldP spid="38" grpId="0" animBg="1"/>
      <p:bldP spid="39" grpId="0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593B6-26EA-B994-C4C6-F63BAE2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D64BC9A-D1CC-9590-8BCC-3B58C7F4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14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995E260-223F-A9A3-F5AC-B1B93B8CE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点的投影变换规律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4B50F97C-DCBD-B722-BB39-F61EC2315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点的二次换面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EDC3980-CA08-9BE9-1DBA-5468B8895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25" y="1700808"/>
            <a:ext cx="2707793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="0" dirty="0"/>
              <a:t> (2) </a:t>
            </a:r>
            <a:r>
              <a:rPr lang="zh-CN" altLang="en-US" b="0" dirty="0"/>
              <a:t>点的二次换面作图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AAD62BBF-25E8-9399-6263-CE45A8361ECD}"/>
              </a:ext>
            </a:extLst>
          </p:cNvPr>
          <p:cNvGrpSpPr>
            <a:grpSpLocks/>
          </p:cNvGrpSpPr>
          <p:nvPr/>
        </p:nvGrpSpPr>
        <p:grpSpPr bwMode="auto">
          <a:xfrm>
            <a:off x="3294429" y="1412776"/>
            <a:ext cx="1925638" cy="2946400"/>
            <a:chOff x="1078" y="562"/>
            <a:chExt cx="1213" cy="1856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95DEB864-C304-EAF1-DA35-F942B61E9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94"/>
              <a:ext cx="9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61991211-46F5-17B3-20E3-40354929E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8" y="821"/>
              <a:ext cx="0" cy="14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DA3C03EB-4F34-3992-5BE4-A284AD680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777"/>
              <a:ext cx="120" cy="120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26F5A7A-B11F-D7E1-10BB-2C0A78DDC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1561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14F5D6FD-5B0E-9026-23BC-79616B671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8" y="1415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23DF34B7-8DEF-3A58-54B0-2143CFF81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0" y="1692"/>
              <a:ext cx="2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8CCAE00F-C0CB-CA67-2255-F3CC201C7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562"/>
              <a:ext cx="23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C19244A-98EF-0F2E-3127-9F23B3D8E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" y="2127"/>
              <a:ext cx="2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A3700517-1DC8-B273-4DDE-C87F042C2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2217"/>
              <a:ext cx="120" cy="120"/>
            </a:xfrm>
            <a:prstGeom prst="ellipse">
              <a:avLst/>
            </a:prstGeom>
            <a:gradFill rotWithShape="0">
              <a:gsLst>
                <a:gs pos="0">
                  <a:srgbClr val="3399FF"/>
                </a:gs>
                <a:gs pos="100000">
                  <a:srgbClr val="030A1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Line 13">
            <a:extLst>
              <a:ext uri="{FF2B5EF4-FFF2-40B4-BE49-F238E27FC236}">
                <a16:creationId xmlns:a16="http://schemas.microsoft.com/office/drawing/2014/main" id="{9F36C72D-86AE-2037-841E-A41984452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9016" y="4190901"/>
            <a:ext cx="1955800" cy="95091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F1FA096B-D5E7-841D-DDEB-984684A09C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4916" y="3735289"/>
            <a:ext cx="965200" cy="18732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544B6E8B-9D90-0704-612C-E704DA5EF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3278" y="3597176"/>
            <a:ext cx="1457325" cy="175895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FB1A4A14-6112-D308-EA53-C0679B0C44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678" y="3727351"/>
            <a:ext cx="1701800" cy="140335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B4A37AAA-AD24-7F7A-E885-A9D50A12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291" y="3620989"/>
            <a:ext cx="211137" cy="211137"/>
          </a:xfrm>
          <a:prstGeom prst="ellipse">
            <a:avLst/>
          </a:prstGeom>
          <a:gradFill rotWithShape="0">
            <a:gsLst>
              <a:gs pos="0">
                <a:srgbClr val="3399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cs typeface="Times New Roman" panose="02020603050405020304" pitchFamily="18" charset="0"/>
            </a:endParaRP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7CF7311E-0F04-2E92-2239-42DD3A33C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853" y="5024339"/>
            <a:ext cx="201613" cy="201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cs typeface="Times New Roman" panose="02020603050405020304" pitchFamily="18" charset="0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73CEF27-74F2-F167-11B6-4CC90E8EF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4" y="5601544"/>
            <a:ext cx="5357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A5002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A50021"/>
                </a:solidFill>
                <a:cs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A50021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096F495F-5A2B-481C-49C4-F30121E23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649" y="5314881"/>
            <a:ext cx="5357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33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003300"/>
                </a:solidFill>
                <a:cs typeface="Times New Roman" panose="02020603050405020304" pitchFamily="18" charset="0"/>
              </a:rPr>
              <a:t>2</a:t>
            </a:r>
            <a:endParaRPr lang="en-US" altLang="zh-CN" dirty="0">
              <a:solidFill>
                <a:srgbClr val="0033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CF4D3534-FED9-D67B-40FD-46CAE557A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139" y="5179269"/>
            <a:ext cx="423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9B5E23D6-43AF-D7E3-04E0-03840D14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2324" y="5303937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rgbClr val="A50021"/>
                </a:solidFill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A997C205-FE46-D475-D507-1EE299723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621" y="5112029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rgbClr val="A50021"/>
                </a:solidFill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23E91672-34C2-79B1-D40E-C1C8D5E0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208" y="4854066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33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1800" b="1" dirty="0">
                <a:solidFill>
                  <a:srgbClr val="003300"/>
                </a:solidFill>
                <a:cs typeface="Times New Roman" panose="02020603050405020304" pitchFamily="18" charset="0"/>
              </a:rPr>
              <a:t>2</a:t>
            </a:r>
            <a:endParaRPr lang="en-US" altLang="zh-CN" b="1" dirty="0">
              <a:solidFill>
                <a:srgbClr val="003300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5897DC4A-9A76-A372-94BF-227AE4254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1141" y="5059264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A5002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A50021"/>
                </a:solidFill>
                <a:cs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A50021"/>
              </a:solidFill>
              <a:cs typeface="Times New Roman" panose="02020603050405020304" pitchFamily="18" charset="0"/>
            </a:endParaRP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96DBBF20-92D7-A10E-6133-FA5B60E75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2191" y="3362226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33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1800">
                <a:solidFill>
                  <a:srgbClr val="003300"/>
                </a:solidFill>
                <a:cs typeface="Times New Roman" panose="02020603050405020304" pitchFamily="18" charset="0"/>
              </a:rPr>
              <a:t>2</a:t>
            </a:r>
            <a:endParaRPr lang="en-US" altLang="zh-CN">
              <a:solidFill>
                <a:srgbClr val="003300"/>
              </a:solidFill>
              <a:cs typeface="Times New Roman" panose="02020603050405020304" pitchFamily="18" charset="0"/>
            </a:endParaRPr>
          </a:p>
        </p:txBody>
      </p:sp>
      <p:sp>
        <p:nvSpPr>
          <p:cNvPr id="29" name="AutoShape 27">
            <a:extLst>
              <a:ext uri="{FF2B5EF4-FFF2-40B4-BE49-F238E27FC236}">
                <a16:creationId xmlns:a16="http://schemas.microsoft.com/office/drawing/2014/main" id="{9EAA7F69-EFFE-5CCA-D767-55E15A879F6B}"/>
              </a:ext>
            </a:extLst>
          </p:cNvPr>
          <p:cNvSpPr>
            <a:spLocks noChangeArrowheads="1"/>
          </p:cNvSpPr>
          <p:nvPr/>
        </p:nvSpPr>
        <p:spPr bwMode="auto">
          <a:xfrm rot="1460322">
            <a:off x="5683616" y="4636989"/>
            <a:ext cx="74612" cy="346075"/>
          </a:xfrm>
          <a:prstGeom prst="triangle">
            <a:avLst>
              <a:gd name="adj" fmla="val 50000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cs typeface="Times New Roman" panose="02020603050405020304" pitchFamily="18" charset="0"/>
            </a:endParaRPr>
          </a:p>
        </p:txBody>
      </p:sp>
      <p:sp>
        <p:nvSpPr>
          <p:cNvPr id="30" name="AutoShape 28">
            <a:extLst>
              <a:ext uri="{FF2B5EF4-FFF2-40B4-BE49-F238E27FC236}">
                <a16:creationId xmlns:a16="http://schemas.microsoft.com/office/drawing/2014/main" id="{BE44EF1C-4B71-498F-7E76-D8D45F6C9AE3}"/>
              </a:ext>
            </a:extLst>
          </p:cNvPr>
          <p:cNvSpPr>
            <a:spLocks noChangeArrowheads="1"/>
          </p:cNvSpPr>
          <p:nvPr/>
        </p:nvSpPr>
        <p:spPr bwMode="auto">
          <a:xfrm rot="5089494">
            <a:off x="4367579" y="2614513"/>
            <a:ext cx="74612" cy="354013"/>
          </a:xfrm>
          <a:prstGeom prst="triangle">
            <a:avLst>
              <a:gd name="adj" fmla="val 50000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>
              <a:cs typeface="Times New Roman" panose="02020603050405020304" pitchFamily="18" charset="0"/>
            </a:endParaRPr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B0BFADF7-9E86-2B10-251F-A8EA77BC2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603" y="3887689"/>
            <a:ext cx="100013" cy="2413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CAD73CFC-7242-1D48-67C9-96207C14A5E7}"/>
              </a:ext>
            </a:extLst>
          </p:cNvPr>
          <p:cNvSpPr>
            <a:spLocks noChangeShapeType="1"/>
          </p:cNvSpPr>
          <p:nvPr/>
        </p:nvSpPr>
        <p:spPr bwMode="auto">
          <a:xfrm rot="2717797">
            <a:off x="4835097" y="4299645"/>
            <a:ext cx="100012" cy="2413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294FF0F6-B941-C44D-CB48-BFD7BD317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6033" y="1813901"/>
            <a:ext cx="29690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必须依次更换投影面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78E6E49-FE9F-7194-D389-A41A63D66EE4}"/>
              </a:ext>
            </a:extLst>
          </p:cNvPr>
          <p:cNvGrpSpPr/>
          <p:nvPr/>
        </p:nvGrpSpPr>
        <p:grpSpPr>
          <a:xfrm>
            <a:off x="261154" y="2269976"/>
            <a:ext cx="2956791" cy="1279464"/>
            <a:chOff x="261154" y="2269976"/>
            <a:chExt cx="2956791" cy="1279464"/>
          </a:xfrm>
        </p:grpSpPr>
        <p:sp>
          <p:nvSpPr>
            <p:cNvPr id="39" name="Text Box 45">
              <a:extLst>
                <a:ext uri="{FF2B5EF4-FFF2-40B4-BE49-F238E27FC236}">
                  <a16:creationId xmlns:a16="http://schemas.microsoft.com/office/drawing/2014/main" id="{EF641478-4951-11EF-D68C-27FCB4B20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907" y="2269976"/>
              <a:ext cx="136928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 X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2 </a:t>
              </a:r>
              <a:endPara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5CF4D4C-6751-00DE-216C-EC3CA67EB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54" y="2778045"/>
              <a:ext cx="2956791" cy="77139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91440" tIns="45720" rIns="91440" bIns="6372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新投影面体系中，点的一对投影连线垂直于新投影轴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A2BE730-972B-F9B8-8C1A-054DCD5FD063}"/>
              </a:ext>
            </a:extLst>
          </p:cNvPr>
          <p:cNvGrpSpPr/>
          <p:nvPr/>
        </p:nvGrpSpPr>
        <p:grpSpPr>
          <a:xfrm>
            <a:off x="261154" y="3815502"/>
            <a:ext cx="2956791" cy="1281063"/>
            <a:chOff x="261154" y="3815502"/>
            <a:chExt cx="2956791" cy="1281063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C38BFE3-BD60-2161-489B-55276E521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54" y="4325170"/>
              <a:ext cx="2956791" cy="77139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91440" tIns="45720" rIns="91440" bIns="6372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新投影到新投影轴距离等于被代替投影到原投影轴距离</a:t>
              </a:r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AEFD6D9B-873D-DE2F-9E9A-47D58C47C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423" y="3815502"/>
              <a:ext cx="16722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x2  </a:t>
              </a: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=  aa</a:t>
              </a:r>
              <a:r>
                <a:rPr lang="en-US" altLang="zh-CN" sz="2400" baseline="-20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itchFamily="18" charset="2"/>
                </a:rPr>
                <a:t>x1</a:t>
              </a:r>
              <a:endPara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460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utoUpdateAnimBg="0"/>
      <p:bldP spid="22" grpId="0" autoUpdateAnimBg="0"/>
      <p:bldP spid="23" grpId="0" build="p" autoUpdateAnimBg="0"/>
      <p:bldP spid="24" grpId="0" build="p" autoUpdateAnimBg="0"/>
      <p:bldP spid="25" grpId="0" build="p" autoUpdateAnimBg="0"/>
      <p:bldP spid="26" grpId="0" build="p" autoUpdateAnimBg="0"/>
      <p:bldP spid="27" grpId="0" build="p" autoUpdateAnimBg="0" advAuto="0"/>
      <p:bldP spid="28" grpId="0" build="p" autoUpdateAnimBg="0" advAuto="0"/>
      <p:bldP spid="29" grpId="0" animBg="1"/>
      <p:bldP spid="30" grpId="0" animBg="1"/>
      <p:bldP spid="31" grpId="0" animBg="1"/>
      <p:bldP spid="32" grpId="0" animBg="1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B2C-47CA-F189-5D58-67388A1B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DFCB63-9845-EDAC-5D1D-B7833151824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07223" y="2727900"/>
            <a:ext cx="492955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E9A07C-F653-404D-A95F-2D62056CB43A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4414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51C9-C9B6-F095-2C7F-554107E0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5120CF8-00F4-7AC3-FE4E-5854442F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16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B373B21-C9D6-4A11-55C0-60B532D7D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5B900314-2959-A4F1-19B1-09945A188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13560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：将一般位置直线变换为投影面平行线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E9318DA-5394-D8EB-6A2F-6312D7DD4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2" y="1752002"/>
            <a:ext cx="18461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实长及对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面倾角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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3EF33E30-925E-9108-3D52-5322E97DD2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1997" y="3810466"/>
            <a:ext cx="2162064" cy="188408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1995BB07-A2DE-1725-AE84-1EEA12250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872" y="3664068"/>
            <a:ext cx="1401683" cy="131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CD2393AC-10C5-6B28-1224-4EB137697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3031" y="4970193"/>
            <a:ext cx="668338" cy="6645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161378B-0217-38F0-3779-3D321016B2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8667" y="4969148"/>
            <a:ext cx="2341755" cy="670389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E7783D3F-C8F6-788C-183F-1FAAD49E1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5018" y="4869831"/>
            <a:ext cx="876880" cy="760181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C1B32F6-4779-1C9A-5127-60180ADFC958}"/>
              </a:ext>
            </a:extLst>
          </p:cNvPr>
          <p:cNvSpPr txBox="1">
            <a:spLocks noChangeArrowheads="1"/>
          </p:cNvSpPr>
          <p:nvPr/>
        </p:nvSpPr>
        <p:spPr bwMode="auto">
          <a:xfrm rot="19026616">
            <a:off x="1345901" y="5616646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99003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433EA6D-D059-22ED-68EF-409471D83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005" y="5488725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99003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396A090-1810-BB1D-3301-82DE67AFD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974" y="4924167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99003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Arc 13">
            <a:extLst>
              <a:ext uri="{FF2B5EF4-FFF2-40B4-BE49-F238E27FC236}">
                <a16:creationId xmlns:a16="http://schemas.microsoft.com/office/drawing/2014/main" id="{DC8619A3-B913-61F6-A994-368BBC466F29}"/>
              </a:ext>
            </a:extLst>
          </p:cNvPr>
          <p:cNvSpPr>
            <a:spLocks/>
          </p:cNvSpPr>
          <p:nvPr/>
        </p:nvSpPr>
        <p:spPr bwMode="auto">
          <a:xfrm>
            <a:off x="2986330" y="5214266"/>
            <a:ext cx="166885" cy="24993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249222A7-D25B-D5FB-837F-2430788A0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703" y="5169008"/>
            <a:ext cx="3786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9D1391CE-68CC-7D8C-7C79-4D1086DC4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526" y="5318727"/>
            <a:ext cx="146048" cy="313725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F168126B-1852-DBAD-3A77-1A7CC70F7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575" y="5640059"/>
            <a:ext cx="6463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实长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C3F2FD0C-40C6-17BB-D805-F9D044FD5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4993" y="5468088"/>
            <a:ext cx="114300" cy="1031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5CCC1199-5364-4A4F-FFC0-B57280281B5E}"/>
              </a:ext>
            </a:extLst>
          </p:cNvPr>
          <p:cNvSpPr>
            <a:spLocks noChangeShapeType="1"/>
          </p:cNvSpPr>
          <p:nvPr/>
        </p:nvSpPr>
        <p:spPr bwMode="auto">
          <a:xfrm rot="1555387" flipV="1">
            <a:off x="1762834" y="3069106"/>
            <a:ext cx="114300" cy="1031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8140F9A0-C45B-9403-EE33-83A9C9BD3161}"/>
              </a:ext>
            </a:extLst>
          </p:cNvPr>
          <p:cNvSpPr txBox="1">
            <a:spLocks noChangeArrowheads="1"/>
          </p:cNvSpPr>
          <p:nvPr/>
        </p:nvSpPr>
        <p:spPr bwMode="auto">
          <a:xfrm rot="19195245">
            <a:off x="1568750" y="5233366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66647674-3629-5F84-DA46-1371B0595D08}"/>
              </a:ext>
            </a:extLst>
          </p:cNvPr>
          <p:cNvSpPr txBox="1">
            <a:spLocks noChangeArrowheads="1"/>
          </p:cNvSpPr>
          <p:nvPr/>
        </p:nvSpPr>
        <p:spPr bwMode="auto">
          <a:xfrm rot="19072754">
            <a:off x="1779205" y="5493189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99003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10E7B247-2C87-099B-BA3C-1247887C5409}"/>
              </a:ext>
            </a:extLst>
          </p:cNvPr>
          <p:cNvGrpSpPr>
            <a:grpSpLocks/>
          </p:cNvGrpSpPr>
          <p:nvPr/>
        </p:nvGrpSpPr>
        <p:grpSpPr bwMode="auto">
          <a:xfrm>
            <a:off x="518944" y="1775021"/>
            <a:ext cx="4181854" cy="3397249"/>
            <a:chOff x="158" y="1359"/>
            <a:chExt cx="2019" cy="2140"/>
          </a:xfrm>
        </p:grpSpPr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32060031-2197-CFCB-B719-D815DD0A9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1" y="1509"/>
              <a:ext cx="772" cy="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CDF595D9-C13E-C56F-D4D7-ADB07A520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1509"/>
              <a:ext cx="0" cy="10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BEAEC1B6-EB89-A1E5-48EB-EA904B6E3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2072"/>
              <a:ext cx="0" cy="1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8E272F2F-2246-F6D5-B339-D02916866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" y="1903"/>
              <a:ext cx="18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387C1568-510E-C3D0-92A8-54AC31210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6" y="1359"/>
              <a:ext cx="19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E4C11D86-D97F-FE2F-22BF-3C03687D7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" y="3208"/>
              <a:ext cx="15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62119A7C-776C-F28A-E612-EF55E94A8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" y="2354"/>
              <a:ext cx="1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30D0D2A6-3450-F6B6-D943-08F26721E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161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5CEA847E-3453-5817-EA9D-3EDFDD57C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" y="2311"/>
              <a:ext cx="16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777E23AD-7842-DC24-ABD2-DEA67724B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" y="2039"/>
              <a:ext cx="19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1DAB3DE8-404B-A496-110D-9A0754B82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" y="2302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08C20BD3-C1A0-BC32-4142-65E3AEF18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173"/>
              <a:ext cx="19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76A9AEA6-4B63-0063-0D25-AAFE0B42C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0" y="2560"/>
              <a:ext cx="778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11DD3F2-3C40-DC2A-022D-E261EC61A34D}"/>
              </a:ext>
            </a:extLst>
          </p:cNvPr>
          <p:cNvGrpSpPr>
            <a:grpSpLocks/>
          </p:cNvGrpSpPr>
          <p:nvPr/>
        </p:nvGrpSpPr>
        <p:grpSpPr bwMode="auto">
          <a:xfrm>
            <a:off x="3996134" y="4324662"/>
            <a:ext cx="274638" cy="141288"/>
            <a:chOff x="1926" y="2944"/>
            <a:chExt cx="173" cy="89"/>
          </a:xfrm>
        </p:grpSpPr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57A34208-5185-A69A-1DA4-5F38ECF8A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6" y="2944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AF3C963C-47DA-C9B2-E657-B693B3E09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1" y="2963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8DC786-6909-053C-23C1-93E0CD6BB467}"/>
              </a:ext>
            </a:extLst>
          </p:cNvPr>
          <p:cNvGrpSpPr>
            <a:grpSpLocks/>
          </p:cNvGrpSpPr>
          <p:nvPr/>
        </p:nvGrpSpPr>
        <p:grpSpPr bwMode="auto">
          <a:xfrm>
            <a:off x="3296086" y="2740801"/>
            <a:ext cx="274638" cy="141288"/>
            <a:chOff x="1926" y="2944"/>
            <a:chExt cx="173" cy="89"/>
          </a:xfrm>
        </p:grpSpPr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132D68CA-957F-F41D-2942-6924095C1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6" y="2944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DE3879F3-D567-0DC2-C37C-2D04FD049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1" y="2963"/>
              <a:ext cx="148" cy="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 Box 32">
            <a:extLst>
              <a:ext uri="{FF2B5EF4-FFF2-40B4-BE49-F238E27FC236}">
                <a16:creationId xmlns:a16="http://schemas.microsoft.com/office/drawing/2014/main" id="{4E9FBD5A-5068-437D-6872-FF336BE17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936" y="1749967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45" name="Text Box 3">
            <a:extLst>
              <a:ext uri="{FF2B5EF4-FFF2-40B4-BE49-F238E27FC236}">
                <a16:creationId xmlns:a16="http://schemas.microsoft.com/office/drawing/2014/main" id="{28ACCD18-E47E-DB67-814B-71EB9D6B8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04" y="2189762"/>
            <a:ext cx="3263454" cy="72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当</a:t>
            </a:r>
            <a:r>
              <a:rPr lang="en-US" altLang="zh-CN" sz="1800" b="0" dirty="0"/>
              <a:t>AB</a:t>
            </a:r>
            <a:r>
              <a:rPr lang="zh-CN" altLang="en-US" sz="1800" b="0" dirty="0"/>
              <a:t>为新投影面平行线，则其投影直接反映实长</a:t>
            </a:r>
          </a:p>
        </p:txBody>
      </p:sp>
      <p:sp>
        <p:nvSpPr>
          <p:cNvPr id="46" name="Text Box 3">
            <a:extLst>
              <a:ext uri="{FF2B5EF4-FFF2-40B4-BE49-F238E27FC236}">
                <a16:creationId xmlns:a16="http://schemas.microsoft.com/office/drawing/2014/main" id="{FE6BAD78-0FE3-4C54-4F84-56E3EFDBD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309" y="2933353"/>
            <a:ext cx="623889" cy="43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dirty="0"/>
              <a:t>V</a:t>
            </a:r>
            <a:r>
              <a:rPr lang="zh-CN" altLang="en-US" dirty="0"/>
              <a:t>面</a:t>
            </a:r>
          </a:p>
        </p:txBody>
      </p:sp>
      <p:sp>
        <p:nvSpPr>
          <p:cNvPr id="47" name="Text Box 3">
            <a:extLst>
              <a:ext uri="{FF2B5EF4-FFF2-40B4-BE49-F238E27FC236}">
                <a16:creationId xmlns:a16="http://schemas.microsoft.com/office/drawing/2014/main" id="{6CBE62B5-ECE7-1AB4-6A6F-93DBEDFA5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9442" y="2953576"/>
            <a:ext cx="2031325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更换哪个投影面？</a:t>
            </a:r>
          </a:p>
        </p:txBody>
      </p:sp>
      <p:sp>
        <p:nvSpPr>
          <p:cNvPr id="48" name="Text Box 3">
            <a:extLst>
              <a:ext uri="{FF2B5EF4-FFF2-40B4-BE49-F238E27FC236}">
                <a16:creationId xmlns:a16="http://schemas.microsoft.com/office/drawing/2014/main" id="{F0A351D7-FABB-17BB-17F8-E76B7D7CE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121" y="3420098"/>
            <a:ext cx="3264220" cy="72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因为要求与</a:t>
            </a:r>
            <a:r>
              <a:rPr lang="en-US" altLang="zh-CN" sz="1800" b="0" dirty="0"/>
              <a:t>H</a:t>
            </a:r>
            <a:r>
              <a:rPr lang="zh-CN" altLang="en-US" sz="1800" b="0" dirty="0"/>
              <a:t>面倾角</a:t>
            </a:r>
            <a:r>
              <a:rPr lang="en-US" altLang="zh-CN" sz="1800" b="0" dirty="0"/>
              <a:t>α</a:t>
            </a:r>
            <a:r>
              <a:rPr lang="zh-CN" altLang="en-US" sz="1800" b="0" dirty="0"/>
              <a:t>，则必须保留</a:t>
            </a:r>
            <a:r>
              <a:rPr lang="en-US" altLang="zh-CN" sz="1800" b="0" dirty="0"/>
              <a:t>H</a:t>
            </a:r>
            <a:r>
              <a:rPr lang="zh-CN" altLang="en-US" sz="1800" b="0" dirty="0"/>
              <a:t>面并使</a:t>
            </a:r>
            <a:r>
              <a:rPr lang="en-US" altLang="zh-CN" sz="1800" b="0" dirty="0"/>
              <a:t>AB</a:t>
            </a:r>
            <a:r>
              <a:rPr lang="zh-CN" altLang="en-US" sz="1800" b="0" dirty="0"/>
              <a:t>平行于</a:t>
            </a:r>
            <a:r>
              <a:rPr lang="en-US" altLang="zh-CN" sz="1800" b="0" dirty="0"/>
              <a:t>P</a:t>
            </a:r>
            <a:r>
              <a:rPr lang="en-US" altLang="zh-CN" sz="1800" b="0" baseline="-25000" dirty="0"/>
              <a:t>1</a:t>
            </a:r>
            <a:endParaRPr lang="zh-CN" altLang="en-US" sz="1800" b="0" baseline="-25000" dirty="0"/>
          </a:p>
        </p:txBody>
      </p:sp>
      <p:sp>
        <p:nvSpPr>
          <p:cNvPr id="49" name="Text Box 32">
            <a:extLst>
              <a:ext uri="{FF2B5EF4-FFF2-40B4-BE49-F238E27FC236}">
                <a16:creationId xmlns:a16="http://schemas.microsoft.com/office/drawing/2014/main" id="{CD2756AA-8FBF-9881-1A7D-E6328867D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936" y="4285651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C3B9F35-7B22-9B2A-4885-C59C1B35D19E}"/>
              </a:ext>
            </a:extLst>
          </p:cNvPr>
          <p:cNvGrpSpPr/>
          <p:nvPr/>
        </p:nvGrpSpPr>
        <p:grpSpPr>
          <a:xfrm>
            <a:off x="5485025" y="4677451"/>
            <a:ext cx="3305627" cy="1508781"/>
            <a:chOff x="4919566" y="4685761"/>
            <a:chExt cx="3305627" cy="1508781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DCAA2188-9762-6132-12BE-17AAD8F22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9015" y="4685761"/>
              <a:ext cx="2276178" cy="1508781"/>
            </a:xfrm>
            <a:prstGeom prst="rect">
              <a:avLst/>
            </a:prstGeom>
          </p:spPr>
        </p:pic>
        <p:sp>
          <p:nvSpPr>
            <p:cNvPr id="52" name="Text Box 4">
              <a:extLst>
                <a:ext uri="{FF2B5EF4-FFF2-40B4-BE49-F238E27FC236}">
                  <a16:creationId xmlns:a16="http://schemas.microsoft.com/office/drawing/2014/main" id="{BA572665-CE05-3987-34C8-5B2AF5CAB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566" y="5697743"/>
              <a:ext cx="10294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b="1" baseline="-250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baseline="-250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 ab</a:t>
              </a:r>
            </a:p>
          </p:txBody>
        </p:sp>
      </p:grpSp>
      <p:sp>
        <p:nvSpPr>
          <p:cNvPr id="53" name="Text Box 32">
            <a:extLst>
              <a:ext uri="{FF2B5EF4-FFF2-40B4-BE49-F238E27FC236}">
                <a16:creationId xmlns:a16="http://schemas.microsoft.com/office/drawing/2014/main" id="{F962BD42-451A-D399-9802-9094035D5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22" y="1132502"/>
            <a:ext cx="1639536" cy="46166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一次换面</a:t>
            </a:r>
          </a:p>
        </p:txBody>
      </p:sp>
      <p:sp>
        <p:nvSpPr>
          <p:cNvPr id="42" name="Text Box 3">
            <a:extLst>
              <a:ext uri="{FF2B5EF4-FFF2-40B4-BE49-F238E27FC236}">
                <a16:creationId xmlns:a16="http://schemas.microsoft.com/office/drawing/2014/main" id="{3C3FCBD4-D3C8-2787-95E1-6F368AE2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95" y="4702859"/>
            <a:ext cx="1414959" cy="72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如何确定</a:t>
            </a:r>
            <a:r>
              <a:rPr lang="en-US" altLang="zh-CN" sz="1800" b="0" dirty="0"/>
              <a:t>X</a:t>
            </a:r>
            <a:r>
              <a:rPr lang="en-US" altLang="zh-CN" sz="1800" b="0" baseline="-25000" dirty="0"/>
              <a:t>1</a:t>
            </a:r>
            <a:r>
              <a:rPr lang="zh-CN" altLang="en-US" sz="1800" b="0" dirty="0"/>
              <a:t>轴的方向</a:t>
            </a:r>
          </a:p>
        </p:txBody>
      </p:sp>
    </p:spTree>
    <p:extLst>
      <p:ext uri="{BB962C8B-B14F-4D97-AF65-F5344CB8AC3E}">
        <p14:creationId xmlns:p14="http://schemas.microsoft.com/office/powerpoint/2010/main" val="143002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utoUpdateAnimBg="0"/>
      <p:bldP spid="10" grpId="0" build="p" autoUpdateAnimBg="0" advAuto="0"/>
      <p:bldP spid="12" grpId="0" build="p" autoUpdateAnimBg="0" advAuto="0"/>
      <p:bldP spid="13" grpId="0" animBg="1"/>
      <p:bldP spid="14" grpId="0" build="p" autoUpdateAnimBg="0"/>
      <p:bldP spid="15" grpId="0" animBg="1"/>
      <p:bldP spid="16" grpId="0" build="p" autoUpdateAnimBg="0" advAuto="0"/>
      <p:bldP spid="17" grpId="0" animBg="1"/>
      <p:bldP spid="18" grpId="0" animBg="1"/>
      <p:bldP spid="19" grpId="0" build="p" autoUpdateAnimBg="0"/>
      <p:bldP spid="20" grpId="0" build="p" autoUpdateAnimBg="0"/>
      <p:bldP spid="44" grpId="0"/>
      <p:bldP spid="45" grpId="0"/>
      <p:bldP spid="46" grpId="0"/>
      <p:bldP spid="47" grpId="0"/>
      <p:bldP spid="48" grpId="0"/>
      <p:bldP spid="49" grpId="0"/>
      <p:bldP spid="53" grpId="0" animBg="1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CF21-2DF7-7A45-1092-223A3A90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C1D9B86-BB50-9B1A-1859-CA388877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17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A9D2210-F4A2-9DDE-5FA1-7B95402B6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7C113434-A1AB-2E29-9091-C414BC71B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21575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：将一般位置直线变换为投影面垂直线</a:t>
            </a:r>
          </a:p>
        </p:txBody>
      </p:sp>
      <p:sp>
        <p:nvSpPr>
          <p:cNvPr id="3" name="Freeform 89">
            <a:extLst>
              <a:ext uri="{FF2B5EF4-FFF2-40B4-BE49-F238E27FC236}">
                <a16:creationId xmlns:a16="http://schemas.microsoft.com/office/drawing/2014/main" id="{BDBDED4B-7A38-C676-654F-78ADD7C08B20}"/>
              </a:ext>
            </a:extLst>
          </p:cNvPr>
          <p:cNvSpPr>
            <a:spLocks/>
          </p:cNvSpPr>
          <p:nvPr/>
        </p:nvSpPr>
        <p:spPr bwMode="auto">
          <a:xfrm>
            <a:off x="683568" y="4008140"/>
            <a:ext cx="4040187" cy="1755775"/>
          </a:xfrm>
          <a:custGeom>
            <a:avLst/>
            <a:gdLst>
              <a:gd name="T0" fmla="*/ 0 w 2545"/>
              <a:gd name="T1" fmla="*/ 2147483647 h 1106"/>
              <a:gd name="T2" fmla="*/ 2147483647 w 2545"/>
              <a:gd name="T3" fmla="*/ 0 h 1106"/>
              <a:gd name="T4" fmla="*/ 2147483647 w 2545"/>
              <a:gd name="T5" fmla="*/ 2147483647 h 1106"/>
              <a:gd name="T6" fmla="*/ 2147483647 w 2545"/>
              <a:gd name="T7" fmla="*/ 2147483647 h 1106"/>
              <a:gd name="T8" fmla="*/ 0 w 2545"/>
              <a:gd name="T9" fmla="*/ 2147483647 h 1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45"/>
              <a:gd name="T16" fmla="*/ 0 h 1106"/>
              <a:gd name="T17" fmla="*/ 2545 w 2545"/>
              <a:gd name="T18" fmla="*/ 1106 h 1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45" h="1106">
                <a:moveTo>
                  <a:pt x="0" y="727"/>
                </a:moveTo>
                <a:lnTo>
                  <a:pt x="945" y="0"/>
                </a:lnTo>
                <a:lnTo>
                  <a:pt x="2545" y="386"/>
                </a:lnTo>
                <a:lnTo>
                  <a:pt x="1600" y="1106"/>
                </a:lnTo>
                <a:lnTo>
                  <a:pt x="0" y="727"/>
                </a:lnTo>
                <a:close/>
              </a:path>
            </a:pathLst>
          </a:custGeom>
          <a:solidFill>
            <a:srgbClr val="3399FF">
              <a:alpha val="50195"/>
            </a:srgbClr>
          </a:solidFill>
          <a:ln w="19050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90">
            <a:extLst>
              <a:ext uri="{FF2B5EF4-FFF2-40B4-BE49-F238E27FC236}">
                <a16:creationId xmlns:a16="http://schemas.microsoft.com/office/drawing/2014/main" id="{2D0EB75F-809C-891A-D9D4-9480B63DC1A0}"/>
              </a:ext>
            </a:extLst>
          </p:cNvPr>
          <p:cNvSpPr>
            <a:spLocks/>
          </p:cNvSpPr>
          <p:nvPr/>
        </p:nvSpPr>
        <p:spPr bwMode="auto">
          <a:xfrm>
            <a:off x="683568" y="1988840"/>
            <a:ext cx="1489075" cy="3151188"/>
          </a:xfrm>
          <a:custGeom>
            <a:avLst/>
            <a:gdLst>
              <a:gd name="T0" fmla="*/ 0 w 938"/>
              <a:gd name="T1" fmla="*/ 2147483647 h 1985"/>
              <a:gd name="T2" fmla="*/ 0 w 938"/>
              <a:gd name="T3" fmla="*/ 2147483647 h 1985"/>
              <a:gd name="T4" fmla="*/ 2147483647 w 938"/>
              <a:gd name="T5" fmla="*/ 0 h 1985"/>
              <a:gd name="T6" fmla="*/ 2147483647 w 938"/>
              <a:gd name="T7" fmla="*/ 2147483647 h 1985"/>
              <a:gd name="T8" fmla="*/ 0 w 938"/>
              <a:gd name="T9" fmla="*/ 2147483647 h 19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8"/>
              <a:gd name="T16" fmla="*/ 0 h 1985"/>
              <a:gd name="T17" fmla="*/ 938 w 938"/>
              <a:gd name="T18" fmla="*/ 1985 h 19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8" h="1985">
                <a:moveTo>
                  <a:pt x="0" y="1985"/>
                </a:moveTo>
                <a:lnTo>
                  <a:pt x="0" y="713"/>
                </a:lnTo>
                <a:lnTo>
                  <a:pt x="938" y="0"/>
                </a:lnTo>
                <a:lnTo>
                  <a:pt x="938" y="1265"/>
                </a:lnTo>
                <a:lnTo>
                  <a:pt x="0" y="1985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190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92">
            <a:extLst>
              <a:ext uri="{FF2B5EF4-FFF2-40B4-BE49-F238E27FC236}">
                <a16:creationId xmlns:a16="http://schemas.microsoft.com/office/drawing/2014/main" id="{BD527E4D-6E47-49BB-AA63-7B1E1CF48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5243" y="3827165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93">
            <a:extLst>
              <a:ext uri="{FF2B5EF4-FFF2-40B4-BE49-F238E27FC236}">
                <a16:creationId xmlns:a16="http://schemas.microsoft.com/office/drawing/2014/main" id="{2ECCBF7E-A3CC-125B-43B8-BE1A95264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2943" y="4892378"/>
            <a:ext cx="0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94">
            <a:extLst>
              <a:ext uri="{FF2B5EF4-FFF2-40B4-BE49-F238E27FC236}">
                <a16:creationId xmlns:a16="http://schemas.microsoft.com/office/drawing/2014/main" id="{D760C681-5ED3-E07E-D75F-4A96B8F985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3768" y="4384376"/>
            <a:ext cx="1588" cy="500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95">
            <a:extLst>
              <a:ext uri="{FF2B5EF4-FFF2-40B4-BE49-F238E27FC236}">
                <a16:creationId xmlns:a16="http://schemas.microsoft.com/office/drawing/2014/main" id="{1282C953-E17F-A051-2FDE-A2CECF391F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9005" y="4892378"/>
            <a:ext cx="2293938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96">
            <a:extLst>
              <a:ext uri="{FF2B5EF4-FFF2-40B4-BE49-F238E27FC236}">
                <a16:creationId xmlns:a16="http://schemas.microsoft.com/office/drawing/2014/main" id="{538B628B-8CEA-2AE0-FD26-F8640AEA96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16980" y="3485853"/>
            <a:ext cx="0" cy="1158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Line 97">
            <a:extLst>
              <a:ext uri="{FF2B5EF4-FFF2-40B4-BE49-F238E27FC236}">
                <a16:creationId xmlns:a16="http://schemas.microsoft.com/office/drawing/2014/main" id="{34830163-D6B1-BA29-553A-52126237E1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28093" y="3496965"/>
            <a:ext cx="1339850" cy="334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ine 98">
            <a:extLst>
              <a:ext uri="{FF2B5EF4-FFF2-40B4-BE49-F238E27FC236}">
                <a16:creationId xmlns:a16="http://schemas.microsoft.com/office/drawing/2014/main" id="{7BDDB693-EBE7-1556-5231-CB0A1FE051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36193" y="4930478"/>
            <a:ext cx="666750" cy="4953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Line 99">
            <a:extLst>
              <a:ext uri="{FF2B5EF4-FFF2-40B4-BE49-F238E27FC236}">
                <a16:creationId xmlns:a16="http://schemas.microsoft.com/office/drawing/2014/main" id="{A24C40D8-2B8C-11A4-32A4-56E392317C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04280" y="4655840"/>
            <a:ext cx="1344614" cy="281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100">
            <a:extLst>
              <a:ext uri="{FF2B5EF4-FFF2-40B4-BE49-F238E27FC236}">
                <a16:creationId xmlns:a16="http://schemas.microsoft.com/office/drawing/2014/main" id="{8C66BAA8-6871-ED22-ECAA-CC009F384D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3768" y="3495378"/>
            <a:ext cx="301625" cy="89693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01">
            <a:extLst>
              <a:ext uri="{FF2B5EF4-FFF2-40B4-BE49-F238E27FC236}">
                <a16:creationId xmlns:a16="http://schemas.microsoft.com/office/drawing/2014/main" id="{259A6EDF-E910-EFD4-D3B3-9DF80F27F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54" y="2939465"/>
            <a:ext cx="44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6" name="Text Box 102">
            <a:extLst>
              <a:ext uri="{FF2B5EF4-FFF2-40B4-BE49-F238E27FC236}">
                <a16:creationId xmlns:a16="http://schemas.microsoft.com/office/drawing/2014/main" id="{5E1F4808-EBE5-9789-5E69-3B4489512749}"/>
              </a:ext>
            </a:extLst>
          </p:cNvPr>
          <p:cNvSpPr txBox="1">
            <a:spLocks noChangeArrowheads="1"/>
          </p:cNvSpPr>
          <p:nvPr/>
        </p:nvSpPr>
        <p:spPr bwMode="auto">
          <a:xfrm rot="-780000">
            <a:off x="2857529" y="5297954"/>
            <a:ext cx="4635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BottomDown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7" name="Text Box 103">
            <a:extLst>
              <a:ext uri="{FF2B5EF4-FFF2-40B4-BE49-F238E27FC236}">
                <a16:creationId xmlns:a16="http://schemas.microsoft.com/office/drawing/2014/main" id="{44EA8DD4-B7A7-201B-DFD9-3E258A95F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20" y="4983163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0" name="Text Box 106">
            <a:extLst>
              <a:ext uri="{FF2B5EF4-FFF2-40B4-BE49-F238E27FC236}">
                <a16:creationId xmlns:a16="http://schemas.microsoft.com/office/drawing/2014/main" id="{AC380816-9FC6-5044-2A76-1536EAD35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830" y="4766965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" name="Text Box 107">
            <a:extLst>
              <a:ext uri="{FF2B5EF4-FFF2-40B4-BE49-F238E27FC236}">
                <a16:creationId xmlns:a16="http://schemas.microsoft.com/office/drawing/2014/main" id="{96C207A9-1522-F815-6370-2ABFB30F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380" y="4773315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2" name="Text Box 108">
            <a:extLst>
              <a:ext uri="{FF2B5EF4-FFF2-40B4-BE49-F238E27FC236}">
                <a16:creationId xmlns:a16="http://schemas.microsoft.com/office/drawing/2014/main" id="{B855A8E5-15D5-69BE-BF08-1F7580D39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093" y="5301953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3" name="Text Box 109">
            <a:extLst>
              <a:ext uri="{FF2B5EF4-FFF2-40B4-BE49-F238E27FC236}">
                <a16:creationId xmlns:a16="http://schemas.microsoft.com/office/drawing/2014/main" id="{A50B47CA-9522-9AAA-8E75-7242EB023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198" y="3098407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</a:p>
        </p:txBody>
      </p:sp>
      <p:sp>
        <p:nvSpPr>
          <p:cNvPr id="24" name="Text Box 110">
            <a:extLst>
              <a:ext uri="{FF2B5EF4-FFF2-40B4-BE49-F238E27FC236}">
                <a16:creationId xmlns:a16="http://schemas.microsoft.com/office/drawing/2014/main" id="{A755451D-96A9-81DE-82F0-7DCE008F2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27" y="4131320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</a:t>
            </a:r>
          </a:p>
        </p:txBody>
      </p:sp>
      <p:sp>
        <p:nvSpPr>
          <p:cNvPr id="25" name="Text Box 111">
            <a:extLst>
              <a:ext uri="{FF2B5EF4-FFF2-40B4-BE49-F238E27FC236}">
                <a16:creationId xmlns:a16="http://schemas.microsoft.com/office/drawing/2014/main" id="{69FA4A2B-204B-827B-CD61-AEE19EC8B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493" y="3014365"/>
            <a:ext cx="625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Line 131">
            <a:extLst>
              <a:ext uri="{FF2B5EF4-FFF2-40B4-BE49-F238E27FC236}">
                <a16:creationId xmlns:a16="http://schemas.microsoft.com/office/drawing/2014/main" id="{4DCECC13-2642-A357-5495-FD9543456A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5355" y="4392315"/>
            <a:ext cx="2293938" cy="530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Box 132">
            <a:extLst>
              <a:ext uri="{FF2B5EF4-FFF2-40B4-BE49-F238E27FC236}">
                <a16:creationId xmlns:a16="http://schemas.microsoft.com/office/drawing/2014/main" id="{15D7C161-ABC9-D141-5620-D9943BD64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880" y="3569990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8" name="Line 133">
            <a:extLst>
              <a:ext uri="{FF2B5EF4-FFF2-40B4-BE49-F238E27FC236}">
                <a16:creationId xmlns:a16="http://schemas.microsoft.com/office/drawing/2014/main" id="{95D45057-98F8-F77A-3F3F-777443A88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6830" y="3825578"/>
            <a:ext cx="655638" cy="1093787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Box 32">
            <a:extLst>
              <a:ext uri="{FF2B5EF4-FFF2-40B4-BE49-F238E27FC236}">
                <a16:creationId xmlns:a16="http://schemas.microsoft.com/office/drawing/2014/main" id="{6B7D91DC-4B80-AAC9-05BD-32B154EFD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936" y="1652915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50" name="Text Box 3">
            <a:extLst>
              <a:ext uri="{FF2B5EF4-FFF2-40B4-BE49-F238E27FC236}">
                <a16:creationId xmlns:a16="http://schemas.microsoft.com/office/drawing/2014/main" id="{13F7727C-E4FC-23E3-BC08-7A4C8130D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558" y="2011896"/>
            <a:ext cx="3323347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一般位置直线 → 投影面垂直线</a:t>
            </a:r>
          </a:p>
        </p:txBody>
      </p:sp>
      <p:sp>
        <p:nvSpPr>
          <p:cNvPr id="51" name="Text Box 3">
            <a:extLst>
              <a:ext uri="{FF2B5EF4-FFF2-40B4-BE49-F238E27FC236}">
                <a16:creationId xmlns:a16="http://schemas.microsoft.com/office/drawing/2014/main" id="{3BED700C-5D40-DFFF-7232-E2ACA4D1D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905" y="2389975"/>
            <a:ext cx="2954655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仅更换一次投影面</a:t>
            </a:r>
            <a:r>
              <a:rPr lang="zh-CN" altLang="en-US" sz="1800" dirty="0">
                <a:solidFill>
                  <a:srgbClr val="C00000"/>
                </a:solidFill>
              </a:rPr>
              <a:t>不能</a:t>
            </a:r>
            <a:r>
              <a:rPr lang="zh-CN" altLang="en-US" sz="1800" b="0" dirty="0"/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202536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7588-930E-4F6A-9507-56C1BCB6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70FE6DB-D21B-5F16-D135-C8A18C81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18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35BA1734-0BFC-8C39-ED32-28F72EE16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FE457AF3-4FCC-30C5-52A7-E11E5D666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21575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：将一般位置直线变换为投影面垂直线</a:t>
            </a:r>
          </a:p>
        </p:txBody>
      </p:sp>
      <p:sp>
        <p:nvSpPr>
          <p:cNvPr id="3" name="Freeform 89">
            <a:extLst>
              <a:ext uri="{FF2B5EF4-FFF2-40B4-BE49-F238E27FC236}">
                <a16:creationId xmlns:a16="http://schemas.microsoft.com/office/drawing/2014/main" id="{1FB3B404-9990-3272-1E50-4D6F40F5DA6E}"/>
              </a:ext>
            </a:extLst>
          </p:cNvPr>
          <p:cNvSpPr>
            <a:spLocks/>
          </p:cNvSpPr>
          <p:nvPr/>
        </p:nvSpPr>
        <p:spPr bwMode="auto">
          <a:xfrm>
            <a:off x="683568" y="4008140"/>
            <a:ext cx="4040187" cy="1755775"/>
          </a:xfrm>
          <a:custGeom>
            <a:avLst/>
            <a:gdLst>
              <a:gd name="T0" fmla="*/ 0 w 2545"/>
              <a:gd name="T1" fmla="*/ 2147483647 h 1106"/>
              <a:gd name="T2" fmla="*/ 2147483647 w 2545"/>
              <a:gd name="T3" fmla="*/ 0 h 1106"/>
              <a:gd name="T4" fmla="*/ 2147483647 w 2545"/>
              <a:gd name="T5" fmla="*/ 2147483647 h 1106"/>
              <a:gd name="T6" fmla="*/ 2147483647 w 2545"/>
              <a:gd name="T7" fmla="*/ 2147483647 h 1106"/>
              <a:gd name="T8" fmla="*/ 0 w 2545"/>
              <a:gd name="T9" fmla="*/ 2147483647 h 1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45"/>
              <a:gd name="T16" fmla="*/ 0 h 1106"/>
              <a:gd name="T17" fmla="*/ 2545 w 2545"/>
              <a:gd name="T18" fmla="*/ 1106 h 1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45" h="1106">
                <a:moveTo>
                  <a:pt x="0" y="727"/>
                </a:moveTo>
                <a:lnTo>
                  <a:pt x="945" y="0"/>
                </a:lnTo>
                <a:lnTo>
                  <a:pt x="2545" y="386"/>
                </a:lnTo>
                <a:lnTo>
                  <a:pt x="1600" y="1106"/>
                </a:lnTo>
                <a:lnTo>
                  <a:pt x="0" y="727"/>
                </a:lnTo>
                <a:close/>
              </a:path>
            </a:pathLst>
          </a:custGeom>
          <a:solidFill>
            <a:srgbClr val="3399FF">
              <a:alpha val="50195"/>
            </a:srgbClr>
          </a:solidFill>
          <a:ln w="19050">
            <a:solidFill>
              <a:srgbClr val="3399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90">
            <a:extLst>
              <a:ext uri="{FF2B5EF4-FFF2-40B4-BE49-F238E27FC236}">
                <a16:creationId xmlns:a16="http://schemas.microsoft.com/office/drawing/2014/main" id="{5C44F971-A68F-3373-421C-BEA8C945AE5F}"/>
              </a:ext>
            </a:extLst>
          </p:cNvPr>
          <p:cNvSpPr>
            <a:spLocks/>
          </p:cNvSpPr>
          <p:nvPr/>
        </p:nvSpPr>
        <p:spPr bwMode="auto">
          <a:xfrm>
            <a:off x="683568" y="1988840"/>
            <a:ext cx="1489075" cy="3151188"/>
          </a:xfrm>
          <a:custGeom>
            <a:avLst/>
            <a:gdLst>
              <a:gd name="T0" fmla="*/ 0 w 938"/>
              <a:gd name="T1" fmla="*/ 2147483647 h 1985"/>
              <a:gd name="T2" fmla="*/ 0 w 938"/>
              <a:gd name="T3" fmla="*/ 2147483647 h 1985"/>
              <a:gd name="T4" fmla="*/ 2147483647 w 938"/>
              <a:gd name="T5" fmla="*/ 0 h 1985"/>
              <a:gd name="T6" fmla="*/ 2147483647 w 938"/>
              <a:gd name="T7" fmla="*/ 2147483647 h 1985"/>
              <a:gd name="T8" fmla="*/ 0 w 938"/>
              <a:gd name="T9" fmla="*/ 2147483647 h 19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8"/>
              <a:gd name="T16" fmla="*/ 0 h 1985"/>
              <a:gd name="T17" fmla="*/ 938 w 938"/>
              <a:gd name="T18" fmla="*/ 1985 h 19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8" h="1985">
                <a:moveTo>
                  <a:pt x="0" y="1985"/>
                </a:moveTo>
                <a:lnTo>
                  <a:pt x="0" y="713"/>
                </a:lnTo>
                <a:lnTo>
                  <a:pt x="938" y="0"/>
                </a:lnTo>
                <a:lnTo>
                  <a:pt x="938" y="1265"/>
                </a:lnTo>
                <a:lnTo>
                  <a:pt x="0" y="1985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19050">
            <a:solidFill>
              <a:srgbClr val="00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92">
            <a:extLst>
              <a:ext uri="{FF2B5EF4-FFF2-40B4-BE49-F238E27FC236}">
                <a16:creationId xmlns:a16="http://schemas.microsoft.com/office/drawing/2014/main" id="{2C4C9446-F63F-8DB3-C5DB-2E5ABB228B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5243" y="3827165"/>
            <a:ext cx="0" cy="1114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93">
            <a:extLst>
              <a:ext uri="{FF2B5EF4-FFF2-40B4-BE49-F238E27FC236}">
                <a16:creationId xmlns:a16="http://schemas.microsoft.com/office/drawing/2014/main" id="{E9A1FB15-ED80-1F53-3081-4D3DF8B969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2943" y="4892378"/>
            <a:ext cx="0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94">
            <a:extLst>
              <a:ext uri="{FF2B5EF4-FFF2-40B4-BE49-F238E27FC236}">
                <a16:creationId xmlns:a16="http://schemas.microsoft.com/office/drawing/2014/main" id="{3C7DE890-E0C1-13B0-29F2-5F19991DA8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3768" y="4384376"/>
            <a:ext cx="1588" cy="500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95">
            <a:extLst>
              <a:ext uri="{FF2B5EF4-FFF2-40B4-BE49-F238E27FC236}">
                <a16:creationId xmlns:a16="http://schemas.microsoft.com/office/drawing/2014/main" id="{6C23116C-A226-FAA3-075A-495DF85784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9005" y="4892378"/>
            <a:ext cx="2293938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96">
            <a:extLst>
              <a:ext uri="{FF2B5EF4-FFF2-40B4-BE49-F238E27FC236}">
                <a16:creationId xmlns:a16="http://schemas.microsoft.com/office/drawing/2014/main" id="{C44A02AF-B532-8B2F-F26C-55EC893191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16980" y="3485853"/>
            <a:ext cx="0" cy="1158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Line 97">
            <a:extLst>
              <a:ext uri="{FF2B5EF4-FFF2-40B4-BE49-F238E27FC236}">
                <a16:creationId xmlns:a16="http://schemas.microsoft.com/office/drawing/2014/main" id="{C82497CC-EC50-3071-EFB4-E20FF81906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28093" y="3496965"/>
            <a:ext cx="1339850" cy="334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ine 98">
            <a:extLst>
              <a:ext uri="{FF2B5EF4-FFF2-40B4-BE49-F238E27FC236}">
                <a16:creationId xmlns:a16="http://schemas.microsoft.com/office/drawing/2014/main" id="{BB65EE20-E944-8BDE-F7A7-DB50AFE377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36193" y="4930478"/>
            <a:ext cx="666750" cy="4953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Line 99">
            <a:extLst>
              <a:ext uri="{FF2B5EF4-FFF2-40B4-BE49-F238E27FC236}">
                <a16:creationId xmlns:a16="http://schemas.microsoft.com/office/drawing/2014/main" id="{016E46CA-ACC7-F7F2-A137-556AA02394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04280" y="4655840"/>
            <a:ext cx="1344614" cy="2819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100">
            <a:extLst>
              <a:ext uri="{FF2B5EF4-FFF2-40B4-BE49-F238E27FC236}">
                <a16:creationId xmlns:a16="http://schemas.microsoft.com/office/drawing/2014/main" id="{FC1D7FE5-34A2-096C-E4C8-0C90EE2D52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3768" y="3495378"/>
            <a:ext cx="301625" cy="89693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01">
            <a:extLst>
              <a:ext uri="{FF2B5EF4-FFF2-40B4-BE49-F238E27FC236}">
                <a16:creationId xmlns:a16="http://schemas.microsoft.com/office/drawing/2014/main" id="{A56D96CE-DFCD-FCDB-F56B-73794E06E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54" y="2939465"/>
            <a:ext cx="444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RightUp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6" name="Text Box 102">
            <a:extLst>
              <a:ext uri="{FF2B5EF4-FFF2-40B4-BE49-F238E27FC236}">
                <a16:creationId xmlns:a16="http://schemas.microsoft.com/office/drawing/2014/main" id="{631E1B4C-D21D-7ADE-82EA-6D042EB4589D}"/>
              </a:ext>
            </a:extLst>
          </p:cNvPr>
          <p:cNvSpPr txBox="1">
            <a:spLocks noChangeArrowheads="1"/>
          </p:cNvSpPr>
          <p:nvPr/>
        </p:nvSpPr>
        <p:spPr bwMode="auto">
          <a:xfrm rot="-780000">
            <a:off x="2857529" y="5297954"/>
            <a:ext cx="4635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isometricBottomDown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7" name="Text Box 103">
            <a:extLst>
              <a:ext uri="{FF2B5EF4-FFF2-40B4-BE49-F238E27FC236}">
                <a16:creationId xmlns:a16="http://schemas.microsoft.com/office/drawing/2014/main" id="{F69310F7-3530-001E-9A2B-A03DBBECF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20" y="4983163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8" name="Text Box 104">
            <a:extLst>
              <a:ext uri="{FF2B5EF4-FFF2-40B4-BE49-F238E27FC236}">
                <a16:creationId xmlns:a16="http://schemas.microsoft.com/office/drawing/2014/main" id="{D34C8E9E-76D8-D967-DCB4-2680AEAD9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2868" y="5057478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A5002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105">
            <a:extLst>
              <a:ext uri="{FF2B5EF4-FFF2-40B4-BE49-F238E27FC236}">
                <a16:creationId xmlns:a16="http://schemas.microsoft.com/office/drawing/2014/main" id="{5E866619-286F-0425-222E-D7472AC9E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445" y="2212032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A5002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106">
            <a:extLst>
              <a:ext uri="{FF2B5EF4-FFF2-40B4-BE49-F238E27FC236}">
                <a16:creationId xmlns:a16="http://schemas.microsoft.com/office/drawing/2014/main" id="{A4AE0528-667F-7916-6459-EE233AD7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830" y="4766965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1" name="Text Box 107">
            <a:extLst>
              <a:ext uri="{FF2B5EF4-FFF2-40B4-BE49-F238E27FC236}">
                <a16:creationId xmlns:a16="http://schemas.microsoft.com/office/drawing/2014/main" id="{E6C65005-C52A-526F-1FBA-DB41EBF0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380" y="4773315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2" name="Text Box 108">
            <a:extLst>
              <a:ext uri="{FF2B5EF4-FFF2-40B4-BE49-F238E27FC236}">
                <a16:creationId xmlns:a16="http://schemas.microsoft.com/office/drawing/2014/main" id="{451E8AD4-D50E-8FF8-685F-D6F2786BD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093" y="5301953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3" name="Text Box 109">
            <a:extLst>
              <a:ext uri="{FF2B5EF4-FFF2-40B4-BE49-F238E27FC236}">
                <a16:creationId xmlns:a16="http://schemas.microsoft.com/office/drawing/2014/main" id="{11EE3DED-997E-3BA0-5F0F-607EEEF3F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198" y="3098407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</a:p>
        </p:txBody>
      </p:sp>
      <p:sp>
        <p:nvSpPr>
          <p:cNvPr id="24" name="Text Box 110">
            <a:extLst>
              <a:ext uri="{FF2B5EF4-FFF2-40B4-BE49-F238E27FC236}">
                <a16:creationId xmlns:a16="http://schemas.microsoft.com/office/drawing/2014/main" id="{7D267A34-F6EA-B493-4109-B47905B97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27" y="4131320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</a:t>
            </a:r>
          </a:p>
        </p:txBody>
      </p:sp>
      <p:sp>
        <p:nvSpPr>
          <p:cNvPr id="25" name="Text Box 111">
            <a:extLst>
              <a:ext uri="{FF2B5EF4-FFF2-40B4-BE49-F238E27FC236}">
                <a16:creationId xmlns:a16="http://schemas.microsoft.com/office/drawing/2014/main" id="{D6C82B92-193B-BAF7-1741-8F96E381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493" y="3014365"/>
            <a:ext cx="625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112">
            <a:extLst>
              <a:ext uri="{FF2B5EF4-FFF2-40B4-BE49-F238E27FC236}">
                <a16:creationId xmlns:a16="http://schemas.microsoft.com/office/drawing/2014/main" id="{6743A7C8-BED0-2DBA-F8BC-6755A8D6B46B}"/>
              </a:ext>
            </a:extLst>
          </p:cNvPr>
          <p:cNvGrpSpPr>
            <a:grpSpLocks/>
          </p:cNvGrpSpPr>
          <p:nvPr/>
        </p:nvGrpSpPr>
        <p:grpSpPr bwMode="auto">
          <a:xfrm>
            <a:off x="2764782" y="2507953"/>
            <a:ext cx="1406526" cy="2620962"/>
            <a:chOff x="1762" y="1455"/>
            <a:chExt cx="886" cy="1651"/>
          </a:xfrm>
        </p:grpSpPr>
        <p:sp>
          <p:nvSpPr>
            <p:cNvPr id="27" name="Freeform 113">
              <a:extLst>
                <a:ext uri="{FF2B5EF4-FFF2-40B4-BE49-F238E27FC236}">
                  <a16:creationId xmlns:a16="http://schemas.microsoft.com/office/drawing/2014/main" id="{B188C7CC-66A6-91EF-1687-76660D4D8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" y="1455"/>
              <a:ext cx="814" cy="1651"/>
            </a:xfrm>
            <a:custGeom>
              <a:avLst/>
              <a:gdLst>
                <a:gd name="T0" fmla="*/ 0 w 814"/>
                <a:gd name="T1" fmla="*/ 0 h 1651"/>
                <a:gd name="T2" fmla="*/ 0 w 814"/>
                <a:gd name="T3" fmla="*/ 1047 h 1651"/>
                <a:gd name="T4" fmla="*/ 814 w 814"/>
                <a:gd name="T5" fmla="*/ 1651 h 1651"/>
                <a:gd name="T6" fmla="*/ 814 w 814"/>
                <a:gd name="T7" fmla="*/ 603 h 1651"/>
                <a:gd name="T8" fmla="*/ 0 w 814"/>
                <a:gd name="T9" fmla="*/ 0 h 16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4"/>
                <a:gd name="T16" fmla="*/ 0 h 1651"/>
                <a:gd name="T17" fmla="*/ 814 w 814"/>
                <a:gd name="T18" fmla="*/ 1651 h 16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4" h="1651">
                  <a:moveTo>
                    <a:pt x="0" y="0"/>
                  </a:moveTo>
                  <a:lnTo>
                    <a:pt x="0" y="1047"/>
                  </a:lnTo>
                  <a:lnTo>
                    <a:pt x="814" y="1651"/>
                  </a:lnTo>
                  <a:lnTo>
                    <a:pt x="814" y="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>
                <a:alpha val="49803"/>
              </a:srgbClr>
            </a:solidFill>
            <a:ln w="1905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114">
              <a:extLst>
                <a:ext uri="{FF2B5EF4-FFF2-40B4-BE49-F238E27FC236}">
                  <a16:creationId xmlns:a16="http://schemas.microsoft.com/office/drawing/2014/main" id="{B2D4F1DD-BC19-AEEA-58BD-D50BF4219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7" y="1954"/>
              <a:ext cx="37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isometricLeftDown"/>
              <a:lightRig rig="threePt" dir="t"/>
            </a:scene3d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4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Text Box 115">
            <a:extLst>
              <a:ext uri="{FF2B5EF4-FFF2-40B4-BE49-F238E27FC236}">
                <a16:creationId xmlns:a16="http://schemas.microsoft.com/office/drawing/2014/main" id="{4C94CF4B-6E49-EF2F-1D96-1BA47A01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243" y="4095453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116">
            <a:extLst>
              <a:ext uri="{FF2B5EF4-FFF2-40B4-BE49-F238E27FC236}">
                <a16:creationId xmlns:a16="http://schemas.microsoft.com/office/drawing/2014/main" id="{871CEB9D-29D8-DDA6-2D34-C321880924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2943" y="4989215"/>
            <a:ext cx="584200" cy="425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117">
            <a:extLst>
              <a:ext uri="{FF2B5EF4-FFF2-40B4-BE49-F238E27FC236}">
                <a16:creationId xmlns:a16="http://schemas.microsoft.com/office/drawing/2014/main" id="{5C3AB546-2204-34AA-0E7C-895CC04566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993" y="4511378"/>
            <a:ext cx="550862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118">
            <a:extLst>
              <a:ext uri="{FF2B5EF4-FFF2-40B4-BE49-F238E27FC236}">
                <a16:creationId xmlns:a16="http://schemas.microsoft.com/office/drawing/2014/main" id="{CC69AA3A-6473-9609-C114-7622E6120B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3655" y="4516140"/>
            <a:ext cx="579438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119">
            <a:extLst>
              <a:ext uri="{FF2B5EF4-FFF2-40B4-BE49-F238E27FC236}">
                <a16:creationId xmlns:a16="http://schemas.microsoft.com/office/drawing/2014/main" id="{53E9F420-B59F-78FD-B66A-71B3E6DFA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2705" y="3419178"/>
            <a:ext cx="560388" cy="407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120">
            <a:extLst>
              <a:ext uri="{FF2B5EF4-FFF2-40B4-BE49-F238E27FC236}">
                <a16:creationId xmlns:a16="http://schemas.microsoft.com/office/drawing/2014/main" id="{01F1FF70-69DB-8BCA-7851-9F67D24B2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093" y="3403303"/>
            <a:ext cx="644525" cy="11112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121">
            <a:extLst>
              <a:ext uri="{FF2B5EF4-FFF2-40B4-BE49-F238E27FC236}">
                <a16:creationId xmlns:a16="http://schemas.microsoft.com/office/drawing/2014/main" id="{5EC642A4-9D89-9082-26B5-682AEE743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8124" y="3006576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Line 122">
            <a:extLst>
              <a:ext uri="{FF2B5EF4-FFF2-40B4-BE49-F238E27FC236}">
                <a16:creationId xmlns:a16="http://schemas.microsoft.com/office/drawing/2014/main" id="{EDA8FD0E-83B3-C145-E32C-2F2EF33BB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6030" y="4506615"/>
            <a:ext cx="0" cy="500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Line 123">
            <a:extLst>
              <a:ext uri="{FF2B5EF4-FFF2-40B4-BE49-F238E27FC236}">
                <a16:creationId xmlns:a16="http://schemas.microsoft.com/office/drawing/2014/main" id="{D364D770-244F-6B21-6BCD-149F3F33C2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8330" y="3430290"/>
            <a:ext cx="0" cy="1085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reeform 124">
            <a:extLst>
              <a:ext uri="{FF2B5EF4-FFF2-40B4-BE49-F238E27FC236}">
                <a16:creationId xmlns:a16="http://schemas.microsoft.com/office/drawing/2014/main" id="{C75F2C4E-54D1-3F36-80E0-3ABEB0173187}"/>
              </a:ext>
            </a:extLst>
          </p:cNvPr>
          <p:cNvSpPr>
            <a:spLocks/>
          </p:cNvSpPr>
          <p:nvPr/>
        </p:nvSpPr>
        <p:spPr bwMode="auto">
          <a:xfrm>
            <a:off x="1605905" y="2446040"/>
            <a:ext cx="1511300" cy="1731963"/>
          </a:xfrm>
          <a:custGeom>
            <a:avLst/>
            <a:gdLst>
              <a:gd name="T0" fmla="*/ 2147483647 w 952"/>
              <a:gd name="T1" fmla="*/ 2147483647 h 1091"/>
              <a:gd name="T2" fmla="*/ 0 w 952"/>
              <a:gd name="T3" fmla="*/ 2147483647 h 1091"/>
              <a:gd name="T4" fmla="*/ 2147483647 w 952"/>
              <a:gd name="T5" fmla="*/ 2147483647 h 1091"/>
              <a:gd name="T6" fmla="*/ 2147483647 w 952"/>
              <a:gd name="T7" fmla="*/ 0 h 1091"/>
              <a:gd name="T8" fmla="*/ 2147483647 w 952"/>
              <a:gd name="T9" fmla="*/ 2147483647 h 10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52"/>
              <a:gd name="T16" fmla="*/ 0 h 1091"/>
              <a:gd name="T17" fmla="*/ 952 w 952"/>
              <a:gd name="T18" fmla="*/ 1091 h 10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52" h="1091">
                <a:moveTo>
                  <a:pt x="229" y="526"/>
                </a:moveTo>
                <a:lnTo>
                  <a:pt x="0" y="1091"/>
                </a:lnTo>
                <a:lnTo>
                  <a:pt x="734" y="562"/>
                </a:lnTo>
                <a:lnTo>
                  <a:pt x="952" y="0"/>
                </a:lnTo>
                <a:lnTo>
                  <a:pt x="229" y="526"/>
                </a:lnTo>
                <a:close/>
              </a:path>
            </a:pathLst>
          </a:custGeom>
          <a:solidFill>
            <a:srgbClr val="FF9999">
              <a:alpha val="49803"/>
            </a:srgb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Box 125">
            <a:extLst>
              <a:ext uri="{FF2B5EF4-FFF2-40B4-BE49-F238E27FC236}">
                <a16:creationId xmlns:a16="http://schemas.microsoft.com/office/drawing/2014/main" id="{75CE4472-F789-2877-57C3-89B977E52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8318" y="3190578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Line 126">
            <a:extLst>
              <a:ext uri="{FF2B5EF4-FFF2-40B4-BE49-F238E27FC236}">
                <a16:creationId xmlns:a16="http://schemas.microsoft.com/office/drawing/2014/main" id="{06887C46-2CBE-EAA5-6F16-269AB936F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5118" y="2906415"/>
            <a:ext cx="314325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127">
            <a:extLst>
              <a:ext uri="{FF2B5EF4-FFF2-40B4-BE49-F238E27FC236}">
                <a16:creationId xmlns:a16="http://schemas.microsoft.com/office/drawing/2014/main" id="{61B75887-80BD-5FAC-E5EF-3477B4A4A6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7743" y="2912765"/>
            <a:ext cx="582612" cy="409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Line 128">
            <a:extLst>
              <a:ext uri="{FF2B5EF4-FFF2-40B4-BE49-F238E27FC236}">
                <a16:creationId xmlns:a16="http://schemas.microsoft.com/office/drawing/2014/main" id="{2D1FBE14-EA0F-8AE8-7EFF-A3E97796E2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2505" y="3292178"/>
            <a:ext cx="32385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129">
            <a:extLst>
              <a:ext uri="{FF2B5EF4-FFF2-40B4-BE49-F238E27FC236}">
                <a16:creationId xmlns:a16="http://schemas.microsoft.com/office/drawing/2014/main" id="{5635AD67-D47F-BDA4-BC16-24DED3782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705" y="3238203"/>
            <a:ext cx="139700" cy="1365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Box 130">
            <a:extLst>
              <a:ext uri="{FF2B5EF4-FFF2-40B4-BE49-F238E27FC236}">
                <a16:creationId xmlns:a16="http://schemas.microsoft.com/office/drawing/2014/main" id="{89F52DE2-A5F6-4AD0-768F-4C8B06C41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268" y="2796878"/>
            <a:ext cx="8739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Line 131">
            <a:extLst>
              <a:ext uri="{FF2B5EF4-FFF2-40B4-BE49-F238E27FC236}">
                <a16:creationId xmlns:a16="http://schemas.microsoft.com/office/drawing/2014/main" id="{82B3625F-30BC-86CB-EA7F-3F02F073C4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5355" y="4392315"/>
            <a:ext cx="2293938" cy="530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Box 132">
            <a:extLst>
              <a:ext uri="{FF2B5EF4-FFF2-40B4-BE49-F238E27FC236}">
                <a16:creationId xmlns:a16="http://schemas.microsoft.com/office/drawing/2014/main" id="{387827E3-5EBC-C8D1-C6ED-6CAFEDC8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880" y="3569990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8" name="Line 133">
            <a:extLst>
              <a:ext uri="{FF2B5EF4-FFF2-40B4-BE49-F238E27FC236}">
                <a16:creationId xmlns:a16="http://schemas.microsoft.com/office/drawing/2014/main" id="{DC90E304-2833-F715-6A1D-17BAFB5C5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6830" y="3825578"/>
            <a:ext cx="655638" cy="1093787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Box 32">
            <a:extLst>
              <a:ext uri="{FF2B5EF4-FFF2-40B4-BE49-F238E27FC236}">
                <a16:creationId xmlns:a16="http://schemas.microsoft.com/office/drawing/2014/main" id="{D1DA2029-F4E7-91FB-9E79-5BDB24376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9936" y="1652915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50" name="Text Box 3">
            <a:extLst>
              <a:ext uri="{FF2B5EF4-FFF2-40B4-BE49-F238E27FC236}">
                <a16:creationId xmlns:a16="http://schemas.microsoft.com/office/drawing/2014/main" id="{1724684F-257F-ADAE-57CA-E0EFBECE8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559" y="2011896"/>
            <a:ext cx="3323346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投影面平行线 → 投影面垂直线</a:t>
            </a:r>
          </a:p>
        </p:txBody>
      </p:sp>
      <p:sp>
        <p:nvSpPr>
          <p:cNvPr id="51" name="Text Box 3">
            <a:extLst>
              <a:ext uri="{FF2B5EF4-FFF2-40B4-BE49-F238E27FC236}">
                <a16:creationId xmlns:a16="http://schemas.microsoft.com/office/drawing/2014/main" id="{AF57E593-85B9-3266-5E25-6E5E13BC0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21" y="2389975"/>
            <a:ext cx="2723824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变换一次投影面即可实现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96C8CC0-3532-3CE2-D760-70DAA048CD3E}"/>
              </a:ext>
            </a:extLst>
          </p:cNvPr>
          <p:cNvGrpSpPr/>
          <p:nvPr/>
        </p:nvGrpSpPr>
        <p:grpSpPr>
          <a:xfrm>
            <a:off x="5058187" y="3883146"/>
            <a:ext cx="3699272" cy="842933"/>
            <a:chOff x="5058187" y="4322048"/>
            <a:chExt cx="3699272" cy="842933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4FA4204-BD90-8598-2877-D08A23C56ECF}"/>
                </a:ext>
              </a:extLst>
            </p:cNvPr>
            <p:cNvSpPr/>
            <p:nvPr/>
          </p:nvSpPr>
          <p:spPr>
            <a:xfrm>
              <a:off x="5058187" y="4322048"/>
              <a:ext cx="3699272" cy="8429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Text Box 3">
              <a:extLst>
                <a:ext uri="{FF2B5EF4-FFF2-40B4-BE49-F238E27FC236}">
                  <a16:creationId xmlns:a16="http://schemas.microsoft.com/office/drawing/2014/main" id="{638D8F89-4BAE-D45F-70B5-559B02DDC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192" y="4322048"/>
              <a:ext cx="3623108" cy="396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0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800" b="0" dirty="0"/>
                <a:t>① 一般位置直线 → 投影面平行线</a:t>
              </a:r>
            </a:p>
          </p:txBody>
        </p:sp>
        <p:sp>
          <p:nvSpPr>
            <p:cNvPr id="86" name="Text Box 3">
              <a:extLst>
                <a:ext uri="{FF2B5EF4-FFF2-40B4-BE49-F238E27FC236}">
                  <a16:creationId xmlns:a16="http://schemas.microsoft.com/office/drawing/2014/main" id="{A3BE3861-0E0C-FA4B-FFC2-96B263250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3678" y="4746863"/>
              <a:ext cx="3623108" cy="396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0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800" b="0" dirty="0"/>
                <a:t>② 投影面平行线 → 投影面垂直线</a:t>
              </a:r>
            </a:p>
          </p:txBody>
        </p:sp>
      </p:grpSp>
      <p:sp>
        <p:nvSpPr>
          <p:cNvPr id="90" name="Text Box 3">
            <a:extLst>
              <a:ext uri="{FF2B5EF4-FFF2-40B4-BE49-F238E27FC236}">
                <a16:creationId xmlns:a16="http://schemas.microsoft.com/office/drawing/2014/main" id="{AC1E4053-B551-9C1B-B499-D1ABF415F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3406918"/>
            <a:ext cx="3323347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一般位置直线 → 投影面垂直线</a:t>
            </a:r>
          </a:p>
        </p:txBody>
      </p:sp>
      <p:sp>
        <p:nvSpPr>
          <p:cNvPr id="91" name="Text Box 32">
            <a:extLst>
              <a:ext uri="{FF2B5EF4-FFF2-40B4-BE49-F238E27FC236}">
                <a16:creationId xmlns:a16="http://schemas.microsoft.com/office/drawing/2014/main" id="{238D678C-296B-8009-D3E5-4BE8B40AD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22" y="1132502"/>
            <a:ext cx="1639536" cy="46166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两次换面</a:t>
            </a:r>
          </a:p>
        </p:txBody>
      </p:sp>
    </p:spTree>
    <p:extLst>
      <p:ext uri="{BB962C8B-B14F-4D97-AF65-F5344CB8AC3E}">
        <p14:creationId xmlns:p14="http://schemas.microsoft.com/office/powerpoint/2010/main" val="186732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19" grpId="0" build="p" autoUpdateAnimBg="0"/>
      <p:bldP spid="29" grpId="0" build="p" autoUpdateAnimBg="0" advAuto="0"/>
      <p:bldP spid="30" grpId="0" animBg="1"/>
      <p:bldP spid="31" grpId="0" animBg="1"/>
      <p:bldP spid="32" grpId="0" animBg="1"/>
      <p:bldP spid="33" grpId="0" animBg="1"/>
      <p:bldP spid="34" grpId="0" animBg="1"/>
      <p:bldP spid="35" grpId="0" build="p" autoUpdateAnimBg="0" advAuto="0"/>
      <p:bldP spid="36" grpId="0" animBg="1"/>
      <p:bldP spid="38" grpId="0" animBg="1"/>
      <p:bldP spid="39" grpId="0" animBg="1"/>
      <p:bldP spid="40" grpId="0" autoUpdateAnimBg="0"/>
      <p:bldP spid="41" grpId="0" animBg="1"/>
      <p:bldP spid="42" grpId="0" animBg="1"/>
      <p:bldP spid="43" grpId="0" animBg="1"/>
      <p:bldP spid="44" grpId="0" animBg="1"/>
      <p:bldP spid="45" grpId="0" autoUpdateAnimBg="0"/>
      <p:bldP spid="51" grpId="0"/>
      <p:bldP spid="90" grpId="0"/>
      <p:bldP spid="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6672-04E9-A79E-A6E6-F6CD52D4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68225C0-A2CA-5961-13B8-9CD04643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19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DCA45DE6-59B7-C80C-F6C2-4D5C0650D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E858C7E3-49AB-1794-83B6-8036DFF29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21575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：将一般位置直线变换为投影面垂直线</a:t>
            </a:r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0D661E90-B9A9-0B68-6428-A048B9017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" y="1678772"/>
            <a:ext cx="3623108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① 一般位置直线 → 投影面平行线</a:t>
            </a:r>
          </a:p>
        </p:txBody>
      </p:sp>
      <p:sp>
        <p:nvSpPr>
          <p:cNvPr id="85" name="Text Box 3">
            <a:extLst>
              <a:ext uri="{FF2B5EF4-FFF2-40B4-BE49-F238E27FC236}">
                <a16:creationId xmlns:a16="http://schemas.microsoft.com/office/drawing/2014/main" id="{F2715C26-40DC-D72A-6C5F-218E3669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08" y="2103587"/>
            <a:ext cx="3623108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1800" b="0" dirty="0"/>
              <a:t>② 投影面平行线 → 投影面垂直线</a:t>
            </a:r>
          </a:p>
        </p:txBody>
      </p:sp>
      <p:sp>
        <p:nvSpPr>
          <p:cNvPr id="53" name="Text Box 32">
            <a:extLst>
              <a:ext uri="{FF2B5EF4-FFF2-40B4-BE49-F238E27FC236}">
                <a16:creationId xmlns:a16="http://schemas.microsoft.com/office/drawing/2014/main" id="{4A62BABD-6C68-58A0-A72E-BD12D95DA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22" y="1132502"/>
            <a:ext cx="1639536" cy="46166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两次换面</a:t>
            </a:r>
          </a:p>
        </p:txBody>
      </p:sp>
      <p:sp>
        <p:nvSpPr>
          <p:cNvPr id="99" name="Line 2">
            <a:extLst>
              <a:ext uri="{FF2B5EF4-FFF2-40B4-BE49-F238E27FC236}">
                <a16:creationId xmlns:a16="http://schemas.microsoft.com/office/drawing/2014/main" id="{7BC645EE-8C7B-DFA4-9E2E-1BF36DD7B0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1142" y="3479320"/>
            <a:ext cx="2730245" cy="102273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Line 3">
            <a:extLst>
              <a:ext uri="{FF2B5EF4-FFF2-40B4-BE49-F238E27FC236}">
                <a16:creationId xmlns:a16="http://schemas.microsoft.com/office/drawing/2014/main" id="{E8E0D636-B309-7D74-0A87-24687E402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4949" y="3290461"/>
            <a:ext cx="587375" cy="1571625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Line 4">
            <a:extLst>
              <a:ext uri="{FF2B5EF4-FFF2-40B4-BE49-F238E27FC236}">
                <a16:creationId xmlns:a16="http://schemas.microsoft.com/office/drawing/2014/main" id="{DDFE1B77-7643-8F9D-79C6-F27977ACA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1437" y="3847673"/>
            <a:ext cx="217487" cy="585788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Line 5">
            <a:extLst>
              <a:ext uri="{FF2B5EF4-FFF2-40B4-BE49-F238E27FC236}">
                <a16:creationId xmlns:a16="http://schemas.microsoft.com/office/drawing/2014/main" id="{5CA7482B-56F3-5E02-C15F-C6E75DC7E9DF}"/>
              </a:ext>
            </a:extLst>
          </p:cNvPr>
          <p:cNvSpPr>
            <a:spLocks noChangeShapeType="1"/>
          </p:cNvSpPr>
          <p:nvPr/>
        </p:nvSpPr>
        <p:spPr bwMode="auto">
          <a:xfrm rot="21518790">
            <a:off x="6500262" y="4857323"/>
            <a:ext cx="749300" cy="192088"/>
          </a:xfrm>
          <a:prstGeom prst="line">
            <a:avLst/>
          </a:pr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Line 6">
            <a:extLst>
              <a:ext uri="{FF2B5EF4-FFF2-40B4-BE49-F238E27FC236}">
                <a16:creationId xmlns:a16="http://schemas.microsoft.com/office/drawing/2014/main" id="{5996F751-DEF9-338D-723D-39D77711C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1387" y="4211211"/>
            <a:ext cx="425450" cy="1704975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Box 7">
            <a:extLst>
              <a:ext uri="{FF2B5EF4-FFF2-40B4-BE49-F238E27FC236}">
                <a16:creationId xmlns:a16="http://schemas.microsoft.com/office/drawing/2014/main" id="{C29CD389-0023-8954-93B9-55CD20CE6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900" y="4356398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Box 8">
            <a:extLst>
              <a:ext uri="{FF2B5EF4-FFF2-40B4-BE49-F238E27FC236}">
                <a16:creationId xmlns:a16="http://schemas.microsoft.com/office/drawing/2014/main" id="{B558B3E7-7809-F899-53F3-E52AEA83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323" y="5856859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Oval 9">
            <a:extLst>
              <a:ext uri="{FF2B5EF4-FFF2-40B4-BE49-F238E27FC236}">
                <a16:creationId xmlns:a16="http://schemas.microsoft.com/office/drawing/2014/main" id="{59496BEB-C2E2-BFA0-E33A-C02CA5D03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949" y="4971623"/>
            <a:ext cx="141288" cy="13335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Box 10">
            <a:extLst>
              <a:ext uri="{FF2B5EF4-FFF2-40B4-BE49-F238E27FC236}">
                <a16:creationId xmlns:a16="http://schemas.microsoft.com/office/drawing/2014/main" id="{59D6B676-3ECA-B1D4-2F3B-681B29BD5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662" y="4446161"/>
            <a:ext cx="8739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Box 11">
            <a:extLst>
              <a:ext uri="{FF2B5EF4-FFF2-40B4-BE49-F238E27FC236}">
                <a16:creationId xmlns:a16="http://schemas.microsoft.com/office/drawing/2014/main" id="{42BAB802-0566-16F2-78CC-34AC0C92D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887" y="4303286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Box 12">
            <a:extLst>
              <a:ext uri="{FF2B5EF4-FFF2-40B4-BE49-F238E27FC236}">
                <a16:creationId xmlns:a16="http://schemas.microsoft.com/office/drawing/2014/main" id="{C0EA8AFA-3427-C4C5-22B3-33C37BD0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274" y="4739848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Line 13">
            <a:extLst>
              <a:ext uri="{FF2B5EF4-FFF2-40B4-BE49-F238E27FC236}">
                <a16:creationId xmlns:a16="http://schemas.microsoft.com/office/drawing/2014/main" id="{860202C9-AD97-D811-094C-A8A8A6438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9874" y="4433461"/>
            <a:ext cx="1817688" cy="4191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CBC99B8-8D30-F64E-6A7B-8B82588F4F5C}"/>
              </a:ext>
            </a:extLst>
          </p:cNvPr>
          <p:cNvGrpSpPr/>
          <p:nvPr/>
        </p:nvGrpSpPr>
        <p:grpSpPr>
          <a:xfrm>
            <a:off x="3262830" y="5100971"/>
            <a:ext cx="988476" cy="400110"/>
            <a:chOff x="2953537" y="5214823"/>
            <a:chExt cx="988476" cy="400110"/>
          </a:xfrm>
        </p:grpSpPr>
        <p:sp>
          <p:nvSpPr>
            <p:cNvPr id="111" name="AutoShape 14" descr="紫色网格">
              <a:extLst>
                <a:ext uri="{FF2B5EF4-FFF2-40B4-BE49-F238E27FC236}">
                  <a16:creationId xmlns:a16="http://schemas.microsoft.com/office/drawing/2014/main" id="{BD88E27F-F57F-D017-D147-3D9CD25BF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537" y="5216586"/>
              <a:ext cx="988476" cy="396584"/>
            </a:xfrm>
            <a:prstGeom prst="wedgeRoundRectCallout">
              <a:avLst>
                <a:gd name="adj1" fmla="val -12218"/>
                <a:gd name="adj2" fmla="val -122829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2ABBDA0-9BEC-8015-517F-D37797D49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4310" y="5214823"/>
              <a:ext cx="96693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//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BFC5C8-B1E6-9B0B-7F2A-06921D9E3C6A}"/>
              </a:ext>
            </a:extLst>
          </p:cNvPr>
          <p:cNvGrpSpPr/>
          <p:nvPr/>
        </p:nvGrpSpPr>
        <p:grpSpPr>
          <a:xfrm>
            <a:off x="4787691" y="5780295"/>
            <a:ext cx="1322798" cy="440638"/>
            <a:chOff x="4787691" y="5780295"/>
            <a:chExt cx="1322798" cy="440638"/>
          </a:xfrm>
        </p:grpSpPr>
        <p:sp>
          <p:nvSpPr>
            <p:cNvPr id="113" name="AutoShape 16" descr="紫色网格">
              <a:extLst>
                <a:ext uri="{FF2B5EF4-FFF2-40B4-BE49-F238E27FC236}">
                  <a16:creationId xmlns:a16="http://schemas.microsoft.com/office/drawing/2014/main" id="{CCB71F3F-443E-5FB7-84ED-A2C329B8B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1004" y="5780295"/>
              <a:ext cx="1247608" cy="440638"/>
            </a:xfrm>
            <a:prstGeom prst="wedgeRoundRectCallout">
              <a:avLst>
                <a:gd name="adj1" fmla="val 75074"/>
                <a:gd name="adj2" fmla="val 16217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 Box 17">
              <a:extLst>
                <a:ext uri="{FF2B5EF4-FFF2-40B4-BE49-F238E27FC236}">
                  <a16:creationId xmlns:a16="http://schemas.microsoft.com/office/drawing/2014/main" id="{D8D43F35-250F-4820-1897-29BFA2A38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691" y="5806702"/>
              <a:ext cx="13227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dirty="0"/>
                <a:t>X2 </a:t>
              </a:r>
              <a:r>
                <a:rPr lang="en-US" altLang="zh-CN" b="0" dirty="0">
                  <a:sym typeface="Symbol" pitchFamily="18" charset="2"/>
                </a:rPr>
                <a:t></a:t>
              </a:r>
              <a:r>
                <a:rPr lang="en-US" altLang="zh-CN" dirty="0">
                  <a:sym typeface="Symbol" pitchFamily="18" charset="2"/>
                </a:rPr>
                <a:t> </a:t>
              </a:r>
              <a:r>
                <a:rPr lang="en-US" altLang="zh-CN" b="0" dirty="0">
                  <a:sym typeface="Symbol" pitchFamily="18" charset="2"/>
                </a:rPr>
                <a:t>a1b1</a:t>
              </a:r>
              <a:endParaRPr lang="en-US" altLang="zh-CN" b="0" dirty="0"/>
            </a:p>
          </p:txBody>
        </p:sp>
      </p:grpSp>
      <p:sp>
        <p:nvSpPr>
          <p:cNvPr id="115" name="Line 18">
            <a:extLst>
              <a:ext uri="{FF2B5EF4-FFF2-40B4-BE49-F238E27FC236}">
                <a16:creationId xmlns:a16="http://schemas.microsoft.com/office/drawing/2014/main" id="{2283BFA0-20C1-6277-07DE-ABB859D63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5299" y="4095323"/>
            <a:ext cx="131763" cy="809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Line 19">
            <a:extLst>
              <a:ext uri="{FF2B5EF4-FFF2-40B4-BE49-F238E27FC236}">
                <a16:creationId xmlns:a16="http://schemas.microsoft.com/office/drawing/2014/main" id="{CF7A0289-C886-6242-A541-C186FB0578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2087" y="2380823"/>
            <a:ext cx="131762" cy="809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Line 20">
            <a:extLst>
              <a:ext uri="{FF2B5EF4-FFF2-40B4-BE49-F238E27FC236}">
                <a16:creationId xmlns:a16="http://schemas.microsoft.com/office/drawing/2014/main" id="{0BFF9196-7B5F-385B-9896-39162D6A7F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5737" y="4303286"/>
            <a:ext cx="130175" cy="508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Line 21">
            <a:extLst>
              <a:ext uri="{FF2B5EF4-FFF2-40B4-BE49-F238E27FC236}">
                <a16:creationId xmlns:a16="http://schemas.microsoft.com/office/drawing/2014/main" id="{C16DD317-A48F-6B03-6C90-E941760128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7774" y="2945973"/>
            <a:ext cx="130175" cy="508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Line 22">
            <a:extLst>
              <a:ext uri="{FF2B5EF4-FFF2-40B4-BE49-F238E27FC236}">
                <a16:creationId xmlns:a16="http://schemas.microsoft.com/office/drawing/2014/main" id="{3670775B-9688-6B90-796A-C9E27B0F27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27312" y="4908123"/>
            <a:ext cx="30162" cy="142875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Line 23">
            <a:extLst>
              <a:ext uri="{FF2B5EF4-FFF2-40B4-BE49-F238E27FC236}">
                <a16:creationId xmlns:a16="http://schemas.microsoft.com/office/drawing/2014/main" id="{D629D00A-D23C-0B81-00F8-96E346FC051F}"/>
              </a:ext>
            </a:extLst>
          </p:cNvPr>
          <p:cNvSpPr>
            <a:spLocks noChangeShapeType="1"/>
          </p:cNvSpPr>
          <p:nvPr/>
        </p:nvSpPr>
        <p:spPr bwMode="auto">
          <a:xfrm rot="3681466" flipH="1">
            <a:off x="5948606" y="3383329"/>
            <a:ext cx="30162" cy="142875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 Box 25">
            <a:extLst>
              <a:ext uri="{FF2B5EF4-FFF2-40B4-BE49-F238E27FC236}">
                <a16:creationId xmlns:a16="http://schemas.microsoft.com/office/drawing/2014/main" id="{0F0BEF3C-C971-7C53-B82F-9096E6F11083}"/>
              </a:ext>
            </a:extLst>
          </p:cNvPr>
          <p:cNvSpPr txBox="1">
            <a:spLocks noChangeArrowheads="1"/>
          </p:cNvSpPr>
          <p:nvPr/>
        </p:nvSpPr>
        <p:spPr bwMode="auto">
          <a:xfrm rot="20393549">
            <a:off x="3823518" y="4025665"/>
            <a:ext cx="42351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23" name="Text Box 26">
            <a:extLst>
              <a:ext uri="{FF2B5EF4-FFF2-40B4-BE49-F238E27FC236}">
                <a16:creationId xmlns:a16="http://schemas.microsoft.com/office/drawing/2014/main" id="{F24A04C7-3B07-1233-1B69-05907E9BD71C}"/>
              </a:ext>
            </a:extLst>
          </p:cNvPr>
          <p:cNvSpPr txBox="1">
            <a:spLocks noChangeArrowheads="1"/>
          </p:cNvSpPr>
          <p:nvPr/>
        </p:nvSpPr>
        <p:spPr bwMode="auto">
          <a:xfrm rot="20359003">
            <a:off x="3946958" y="4354183"/>
            <a:ext cx="4876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 Box 27">
            <a:extLst>
              <a:ext uri="{FF2B5EF4-FFF2-40B4-BE49-F238E27FC236}">
                <a16:creationId xmlns:a16="http://schemas.microsoft.com/office/drawing/2014/main" id="{AB9ABD41-0B25-D597-2E67-61B08311480E}"/>
              </a:ext>
            </a:extLst>
          </p:cNvPr>
          <p:cNvSpPr txBox="1">
            <a:spLocks noChangeArrowheads="1"/>
          </p:cNvSpPr>
          <p:nvPr/>
        </p:nvSpPr>
        <p:spPr bwMode="auto">
          <a:xfrm rot="893555">
            <a:off x="6181541" y="5462747"/>
            <a:ext cx="4876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Box 28">
            <a:extLst>
              <a:ext uri="{FF2B5EF4-FFF2-40B4-BE49-F238E27FC236}">
                <a16:creationId xmlns:a16="http://schemas.microsoft.com/office/drawing/2014/main" id="{0A687CF9-D714-F5F6-284F-1B642619F31E}"/>
              </a:ext>
            </a:extLst>
          </p:cNvPr>
          <p:cNvSpPr txBox="1">
            <a:spLocks noChangeArrowheads="1"/>
          </p:cNvSpPr>
          <p:nvPr/>
        </p:nvSpPr>
        <p:spPr bwMode="auto">
          <a:xfrm rot="883525">
            <a:off x="6638061" y="5588357"/>
            <a:ext cx="48763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" name="Group 32">
            <a:extLst>
              <a:ext uri="{FF2B5EF4-FFF2-40B4-BE49-F238E27FC236}">
                <a16:creationId xmlns:a16="http://schemas.microsoft.com/office/drawing/2014/main" id="{D70F7835-8BB0-89C5-4C94-73E7A434B852}"/>
              </a:ext>
            </a:extLst>
          </p:cNvPr>
          <p:cNvGrpSpPr>
            <a:grpSpLocks/>
          </p:cNvGrpSpPr>
          <p:nvPr/>
        </p:nvGrpSpPr>
        <p:grpSpPr bwMode="auto">
          <a:xfrm>
            <a:off x="3330024" y="1556910"/>
            <a:ext cx="3168650" cy="2509838"/>
            <a:chOff x="792" y="653"/>
            <a:chExt cx="1996" cy="1581"/>
          </a:xfrm>
        </p:grpSpPr>
        <p:sp>
          <p:nvSpPr>
            <p:cNvPr id="127" name="Line 33">
              <a:extLst>
                <a:ext uri="{FF2B5EF4-FFF2-40B4-BE49-F238E27FC236}">
                  <a16:creationId xmlns:a16="http://schemas.microsoft.com/office/drawing/2014/main" id="{814CF0F0-B357-3536-BEF1-110A7C69E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1608"/>
              <a:ext cx="1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Line 34">
              <a:extLst>
                <a:ext uri="{FF2B5EF4-FFF2-40B4-BE49-F238E27FC236}">
                  <a16:creationId xmlns:a16="http://schemas.microsoft.com/office/drawing/2014/main" id="{AF885812-BBEE-32AF-F97B-AC07ADAF6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805"/>
              <a:ext cx="0" cy="9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Line 35">
              <a:extLst>
                <a:ext uri="{FF2B5EF4-FFF2-40B4-BE49-F238E27FC236}">
                  <a16:creationId xmlns:a16="http://schemas.microsoft.com/office/drawing/2014/main" id="{68FA65C0-DB1D-80EB-9EDB-56D588902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8" y="1746"/>
              <a:ext cx="923" cy="3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ine 36">
              <a:extLst>
                <a:ext uri="{FF2B5EF4-FFF2-40B4-BE49-F238E27FC236}">
                  <a16:creationId xmlns:a16="http://schemas.microsoft.com/office/drawing/2014/main" id="{4639F630-4B31-C779-A21E-D622FCAC1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8" y="1473"/>
              <a:ext cx="0" cy="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Line 37">
              <a:extLst>
                <a:ext uri="{FF2B5EF4-FFF2-40B4-BE49-F238E27FC236}">
                  <a16:creationId xmlns:a16="http://schemas.microsoft.com/office/drawing/2014/main" id="{C3C76AFB-266D-BD1A-D766-055018877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9" y="790"/>
              <a:ext cx="933" cy="6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Text Box 38">
              <a:extLst>
                <a:ext uri="{FF2B5EF4-FFF2-40B4-BE49-F238E27FC236}">
                  <a16:creationId xmlns:a16="http://schemas.microsoft.com/office/drawing/2014/main" id="{25AE9832-DFF5-0902-CFE8-B852EE581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462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3" name="Text Box 39">
              <a:extLst>
                <a:ext uri="{FF2B5EF4-FFF2-40B4-BE49-F238E27FC236}">
                  <a16:creationId xmlns:a16="http://schemas.microsoft.com/office/drawing/2014/main" id="{E85D4D42-3B0D-9A24-EDF3-3D963EDEE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2" y="1943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4" name="Text Box 40">
              <a:extLst>
                <a:ext uri="{FF2B5EF4-FFF2-40B4-BE49-F238E27FC236}">
                  <a16:creationId xmlns:a16="http://schemas.microsoft.com/office/drawing/2014/main" id="{940C7F13-1218-9D0A-25F7-1FEBBD86A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4" y="1554"/>
              <a:ext cx="27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5" name="Text Box 41">
              <a:extLst>
                <a:ext uri="{FF2B5EF4-FFF2-40B4-BE49-F238E27FC236}">
                  <a16:creationId xmlns:a16="http://schemas.microsoft.com/office/drawing/2014/main" id="{79803BE0-EF87-CA70-84E8-A5D8E9661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" y="1261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36" name="Text Box 42">
              <a:extLst>
                <a:ext uri="{FF2B5EF4-FFF2-40B4-BE49-F238E27FC236}">
                  <a16:creationId xmlns:a16="http://schemas.microsoft.com/office/drawing/2014/main" id="{5927D6DD-9286-B418-C1A3-81F78ADBD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2" y="653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137" name="Text Box 43">
              <a:extLst>
                <a:ext uri="{FF2B5EF4-FFF2-40B4-BE49-F238E27FC236}">
                  <a16:creationId xmlns:a16="http://schemas.microsoft.com/office/drawing/2014/main" id="{E47FE1EF-0B55-A203-38AC-DDC9DF232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1587"/>
              <a:ext cx="26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8" name="Text Box 44">
              <a:extLst>
                <a:ext uri="{FF2B5EF4-FFF2-40B4-BE49-F238E27FC236}">
                  <a16:creationId xmlns:a16="http://schemas.microsoft.com/office/drawing/2014/main" id="{F6E22648-14F5-4A87-6073-76209BA52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338"/>
              <a:ext cx="25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</p:grpSp>
      <p:sp>
        <p:nvSpPr>
          <p:cNvPr id="139" name="Text Box 90" descr="棕色大理石">
            <a:extLst>
              <a:ext uri="{FF2B5EF4-FFF2-40B4-BE49-F238E27FC236}">
                <a16:creationId xmlns:a16="http://schemas.microsoft.com/office/drawing/2014/main" id="{B9DF43CF-5588-EC4F-A1B9-878748E8A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248" y="4138642"/>
            <a:ext cx="1780652" cy="64633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注意新投影轴方向的确定</a:t>
            </a:r>
          </a:p>
        </p:txBody>
      </p:sp>
    </p:spTree>
    <p:extLst>
      <p:ext uri="{BB962C8B-B14F-4D97-AF65-F5344CB8AC3E}">
        <p14:creationId xmlns:p14="http://schemas.microsoft.com/office/powerpoint/2010/main" val="390746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85" grpId="0"/>
      <p:bldP spid="99" grpId="0" animBg="1"/>
      <p:bldP spid="100" grpId="0" animBg="1"/>
      <p:bldP spid="101" grpId="0" animBg="1"/>
      <p:bldP spid="102" grpId="0" animBg="1"/>
      <p:bldP spid="103" grpId="0" animBg="1"/>
      <p:bldP spid="104" grpId="0" autoUpdateAnimBg="0"/>
      <p:bldP spid="105" grpId="0" autoUpdateAnimBg="0"/>
      <p:bldP spid="106" grpId="0" animBg="1"/>
      <p:bldP spid="107" grpId="0" autoUpdateAnimBg="0"/>
      <p:bldP spid="108" grpId="0" autoUpdateAnimBg="0"/>
      <p:bldP spid="109" grpId="0" autoUpdateAnimBg="0"/>
      <p:bldP spid="110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2" grpId="0" build="p" autoUpdateAnimBg="0"/>
      <p:bldP spid="123" grpId="0" build="p" autoUpdateAnimBg="0" advAuto="0"/>
      <p:bldP spid="124" grpId="0" build="p" autoUpdateAnimBg="0"/>
      <p:bldP spid="125" grpId="0" build="p" autoUpdateAnimBg="0" advAuto="0"/>
      <p:bldP spid="13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0021-E1E0-6C77-3750-9C4DCC8A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162C7D4-6C39-AFAF-E877-93D248F7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20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AD24063-6D54-56DD-4EA9-353804616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277E1A8-E20A-5846-02D8-AFE179EC8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21575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：将一般位置平面变换成投影面垂直面</a:t>
            </a: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21532B87-A8DE-5116-BBD6-9ADCFB801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407" y="2898426"/>
            <a:ext cx="1790700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75475544-7B2B-2BCD-250B-D917B84DC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994" y="4065239"/>
            <a:ext cx="3135313" cy="103028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2FF70DB9-7C91-F9DC-11D2-2CAC98D8A1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0144" y="3977442"/>
            <a:ext cx="775281" cy="2330934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9400B044-E5B4-4B38-F1DB-591807EA8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782" y="4204939"/>
            <a:ext cx="503237" cy="16668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0EC367C9-3D8A-C03C-5885-E00DB5808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9257" y="5425726"/>
            <a:ext cx="2803525" cy="90646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2FDAAE69-B871-1AB6-1ECF-E15B530F0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2819" y="2890489"/>
            <a:ext cx="0" cy="178276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20B9C015-686A-80F0-AEB9-71A96A729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789" y="6297560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8B3AB65B-9FD3-33ED-4557-BAE9FFB1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307" y="2589161"/>
            <a:ext cx="479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m'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27CE11B0-E37B-8321-E3B9-6183A21FD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882" y="4566009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72FE0533-B8F2-019C-F05C-6DC93C000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937" y="5925788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58F33496-15E9-F099-7C5A-E66C60FAA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44" y="4056479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AA8111E6-C969-BDBF-FF68-954E3E214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069" y="4808189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B24F675A-877A-82A4-F04E-CC55C03F4102}"/>
              </a:ext>
            </a:extLst>
          </p:cNvPr>
          <p:cNvSpPr>
            <a:spLocks noChangeShapeType="1"/>
          </p:cNvSpPr>
          <p:nvPr/>
        </p:nvSpPr>
        <p:spPr bwMode="auto">
          <a:xfrm rot="384692" flipH="1">
            <a:off x="3937407" y="5892451"/>
            <a:ext cx="80962" cy="16351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618B07E2-BAEE-9DFD-0FA0-ED2B27A0504F}"/>
              </a:ext>
            </a:extLst>
          </p:cNvPr>
          <p:cNvSpPr txBox="1">
            <a:spLocks noChangeArrowheads="1"/>
          </p:cNvSpPr>
          <p:nvPr/>
        </p:nvSpPr>
        <p:spPr bwMode="auto">
          <a:xfrm rot="1036988">
            <a:off x="2628423" y="5863507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59805B7E-E126-3FAD-4D2E-B3B3DE28E6C1}"/>
              </a:ext>
            </a:extLst>
          </p:cNvPr>
          <p:cNvSpPr txBox="1">
            <a:spLocks noChangeArrowheads="1"/>
          </p:cNvSpPr>
          <p:nvPr/>
        </p:nvSpPr>
        <p:spPr bwMode="auto">
          <a:xfrm rot="1035614">
            <a:off x="3002385" y="5981612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C06E218B-1A9B-9D7C-446C-21174F4F00DC}"/>
              </a:ext>
            </a:extLst>
          </p:cNvPr>
          <p:cNvSpPr>
            <a:spLocks noChangeShapeType="1"/>
          </p:cNvSpPr>
          <p:nvPr/>
        </p:nvSpPr>
        <p:spPr bwMode="auto">
          <a:xfrm rot="3123872" flipH="1">
            <a:off x="2186394" y="2438051"/>
            <a:ext cx="80963" cy="16351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4">
            <a:extLst>
              <a:ext uri="{FF2B5EF4-FFF2-40B4-BE49-F238E27FC236}">
                <a16:creationId xmlns:a16="http://schemas.microsoft.com/office/drawing/2014/main" id="{DD78AD8F-2CAB-37B8-767B-8F14DCE7D02C}"/>
              </a:ext>
            </a:extLst>
          </p:cNvPr>
          <p:cNvGrpSpPr>
            <a:grpSpLocks/>
          </p:cNvGrpSpPr>
          <p:nvPr/>
        </p:nvGrpSpPr>
        <p:grpSpPr bwMode="auto">
          <a:xfrm>
            <a:off x="79782" y="1471263"/>
            <a:ext cx="3600450" cy="4249739"/>
            <a:chOff x="283" y="1031"/>
            <a:chExt cx="2268" cy="2677"/>
          </a:xfrm>
        </p:grpSpPr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047FADCF-1AA8-1CB9-45AC-CCDC778A7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407"/>
              <a:ext cx="19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C25666B5-FDF6-CC9A-0D17-FE5D7D8F7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" y="2417"/>
              <a:ext cx="0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F3E98EFC-BD87-0BBB-B4DA-AC497F111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2" y="1153"/>
              <a:ext cx="762" cy="7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E5B05565-92D9-C431-29DF-F7E13D26A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1935"/>
              <a:ext cx="1345" cy="4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8D16DC46-A2A9-09ED-B7CF-926250213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1" y="1140"/>
              <a:ext cx="577" cy="1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9C15DEF0-C4BF-8D7C-E91B-2654F37B5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1935"/>
              <a:ext cx="0" cy="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155E99D4-D5B9-89A1-1C3A-CEF6CE651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4" y="2753"/>
              <a:ext cx="573" cy="7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4BB8F5DB-0B4D-31FD-4BAF-045DCD6AB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2662"/>
              <a:ext cx="1345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33">
              <a:extLst>
                <a:ext uri="{FF2B5EF4-FFF2-40B4-BE49-F238E27FC236}">
                  <a16:creationId xmlns:a16="http://schemas.microsoft.com/office/drawing/2014/main" id="{53C8AF17-8CC8-C10E-1685-AE62305F4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5" y="1163"/>
              <a:ext cx="0" cy="2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34">
              <a:extLst>
                <a:ext uri="{FF2B5EF4-FFF2-40B4-BE49-F238E27FC236}">
                  <a16:creationId xmlns:a16="http://schemas.microsoft.com/office/drawing/2014/main" id="{8B51C507-8214-DC83-A7BB-FF9E43E15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2663"/>
              <a:ext cx="77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35">
              <a:extLst>
                <a:ext uri="{FF2B5EF4-FFF2-40B4-BE49-F238E27FC236}">
                  <a16:creationId xmlns:a16="http://schemas.microsoft.com/office/drawing/2014/main" id="{8ABB8A81-7B5B-23CB-D56E-81D9F7844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9" y="1031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3F0502B8-E782-BFF6-2F16-7E104732F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" y="1740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CA8BD5A3-0D4B-5CD3-FA19-E480FD7F4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2160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c'</a:t>
              </a:r>
            </a:p>
          </p:txBody>
        </p:sp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226A795A-4659-6F5A-1444-D2775CAA8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" y="2613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6" name="Text Box 39">
              <a:extLst>
                <a:ext uri="{FF2B5EF4-FFF2-40B4-BE49-F238E27FC236}">
                  <a16:creationId xmlns:a16="http://schemas.microsoft.com/office/drawing/2014/main" id="{1A9ADAEB-4615-A04C-882B-6F8A457EC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" y="3417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CBF9F9C2-B6D1-5070-A34A-A5892BA40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2538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" name="Text Box 41">
              <a:extLst>
                <a:ext uri="{FF2B5EF4-FFF2-40B4-BE49-F238E27FC236}">
                  <a16:creationId xmlns:a16="http://schemas.microsoft.com/office/drawing/2014/main" id="{F3E0CE8C-CD67-42A1-722D-2F9C1C87E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" y="2264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1A00700E-A501-5741-A911-8B6853501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" y="2127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1" name="Text Box 43">
              <a:extLst>
                <a:ext uri="{FF2B5EF4-FFF2-40B4-BE49-F238E27FC236}">
                  <a16:creationId xmlns:a16="http://schemas.microsoft.com/office/drawing/2014/main" id="{F2BA828E-D943-8D3B-A225-F155C2C55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" y="2407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42" name="Arc 48">
            <a:extLst>
              <a:ext uri="{FF2B5EF4-FFF2-40B4-BE49-F238E27FC236}">
                <a16:creationId xmlns:a16="http://schemas.microsoft.com/office/drawing/2014/main" id="{A1D9144B-0035-F753-1B1B-18797565AAFB}"/>
              </a:ext>
            </a:extLst>
          </p:cNvPr>
          <p:cNvSpPr>
            <a:spLocks/>
          </p:cNvSpPr>
          <p:nvPr/>
        </p:nvSpPr>
        <p:spPr bwMode="auto">
          <a:xfrm rot="586577" flipV="1">
            <a:off x="3486557" y="4651026"/>
            <a:ext cx="393700" cy="206375"/>
          </a:xfrm>
          <a:custGeom>
            <a:avLst/>
            <a:gdLst>
              <a:gd name="T0" fmla="*/ 0 w 20609"/>
              <a:gd name="T1" fmla="*/ 0 h 21600"/>
              <a:gd name="T2" fmla="*/ 2147483647 w 20609"/>
              <a:gd name="T3" fmla="*/ 2147483647 h 21600"/>
              <a:gd name="T4" fmla="*/ 0 w 20609"/>
              <a:gd name="T5" fmla="*/ 2147483647 h 21600"/>
              <a:gd name="T6" fmla="*/ 0 60000 65536"/>
              <a:gd name="T7" fmla="*/ 0 60000 65536"/>
              <a:gd name="T8" fmla="*/ 0 60000 65536"/>
              <a:gd name="T9" fmla="*/ 0 w 20609"/>
              <a:gd name="T10" fmla="*/ 0 h 21600"/>
              <a:gd name="T11" fmla="*/ 20609 w 2060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09" h="21600" fill="none" extrusionOk="0">
                <a:moveTo>
                  <a:pt x="-1" y="0"/>
                </a:moveTo>
                <a:cubicBezTo>
                  <a:pt x="9438" y="0"/>
                  <a:pt x="17783" y="6127"/>
                  <a:pt x="20609" y="15132"/>
                </a:cubicBezTo>
              </a:path>
              <a:path w="20609" h="21600" stroke="0" extrusionOk="0">
                <a:moveTo>
                  <a:pt x="-1" y="0"/>
                </a:moveTo>
                <a:cubicBezTo>
                  <a:pt x="9438" y="0"/>
                  <a:pt x="17783" y="6127"/>
                  <a:pt x="20609" y="1513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49">
            <a:extLst>
              <a:ext uri="{FF2B5EF4-FFF2-40B4-BE49-F238E27FC236}">
                <a16:creationId xmlns:a16="http://schemas.microsoft.com/office/drawing/2014/main" id="{4C0AFE19-AE24-4C86-833F-1A0D00F95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071" y="4442239"/>
            <a:ext cx="34656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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Line 50">
            <a:extLst>
              <a:ext uri="{FF2B5EF4-FFF2-40B4-BE49-F238E27FC236}">
                <a16:creationId xmlns:a16="http://schemas.microsoft.com/office/drawing/2014/main" id="{2F915D61-F231-F098-56BD-A773CA540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7844" y="4360514"/>
            <a:ext cx="1401763" cy="1978025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AAE3E636-4B28-64D6-F5E2-2E4790E1D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83" y="1690287"/>
            <a:ext cx="37753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平面内某一直线垂直于该投影面</a:t>
            </a:r>
          </a:p>
        </p:txBody>
      </p:sp>
      <p:grpSp>
        <p:nvGrpSpPr>
          <p:cNvPr id="47" name="Group 96">
            <a:extLst>
              <a:ext uri="{FF2B5EF4-FFF2-40B4-BE49-F238E27FC236}">
                <a16:creationId xmlns:a16="http://schemas.microsoft.com/office/drawing/2014/main" id="{E88A7EEE-03DF-55C5-DADF-997A1CB66DA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01007" y="2166900"/>
            <a:ext cx="3706000" cy="3300574"/>
            <a:chOff x="961" y="764"/>
            <a:chExt cx="3492" cy="2512"/>
          </a:xfrm>
        </p:grpSpPr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1EEC453A-91D1-6A82-6758-88A9D797C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764"/>
              <a:ext cx="1999" cy="1744"/>
            </a:xfrm>
            <a:custGeom>
              <a:avLst/>
              <a:gdLst>
                <a:gd name="T0" fmla="*/ 0 w 1999"/>
                <a:gd name="T1" fmla="*/ 515 h 1744"/>
                <a:gd name="T2" fmla="*/ 1999 w 1999"/>
                <a:gd name="T3" fmla="*/ 0 h 1744"/>
                <a:gd name="T4" fmla="*/ 1999 w 1999"/>
                <a:gd name="T5" fmla="*/ 1211 h 1744"/>
                <a:gd name="T6" fmla="*/ 11 w 1999"/>
                <a:gd name="T7" fmla="*/ 1744 h 1744"/>
                <a:gd name="T8" fmla="*/ 11 w 1999"/>
                <a:gd name="T9" fmla="*/ 514 h 17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9" h="1744">
                  <a:moveTo>
                    <a:pt x="0" y="515"/>
                  </a:moveTo>
                  <a:lnTo>
                    <a:pt x="1999" y="0"/>
                  </a:lnTo>
                  <a:lnTo>
                    <a:pt x="1999" y="1211"/>
                  </a:lnTo>
                  <a:lnTo>
                    <a:pt x="11" y="1744"/>
                  </a:lnTo>
                  <a:lnTo>
                    <a:pt x="11" y="514"/>
                  </a:lnTo>
                </a:path>
              </a:pathLst>
            </a:custGeom>
            <a:solidFill>
              <a:srgbClr val="00CC99">
                <a:alpha val="50195"/>
              </a:srgbClr>
            </a:solidFill>
            <a:ln w="38100" cap="flat" cmpd="sng">
              <a:solidFill>
                <a:srgbClr val="00CC99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72BB6500-1C92-2BB9-ADA6-A7DB89A0E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1976"/>
              <a:ext cx="3223" cy="1246"/>
            </a:xfrm>
            <a:custGeom>
              <a:avLst/>
              <a:gdLst>
                <a:gd name="T0" fmla="*/ 0 w 3223"/>
                <a:gd name="T1" fmla="*/ 537 h 1246"/>
                <a:gd name="T2" fmla="*/ 1228 w 3223"/>
                <a:gd name="T3" fmla="*/ 1246 h 1246"/>
                <a:gd name="T4" fmla="*/ 3223 w 3223"/>
                <a:gd name="T5" fmla="*/ 720 h 1246"/>
                <a:gd name="T6" fmla="*/ 2000 w 3223"/>
                <a:gd name="T7" fmla="*/ 0 h 12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23" h="1246">
                  <a:moveTo>
                    <a:pt x="0" y="537"/>
                  </a:moveTo>
                  <a:lnTo>
                    <a:pt x="1228" y="1246"/>
                  </a:lnTo>
                  <a:lnTo>
                    <a:pt x="3223" y="720"/>
                  </a:lnTo>
                  <a:lnTo>
                    <a:pt x="2000" y="0"/>
                  </a:lnTo>
                </a:path>
              </a:pathLst>
            </a:custGeom>
            <a:solidFill>
              <a:srgbClr val="3399FF">
                <a:alpha val="50195"/>
              </a:srgbClr>
            </a:solidFill>
            <a:ln w="38100" cap="flat" cmpd="sng">
              <a:solidFill>
                <a:srgbClr val="3399FF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51">
              <a:extLst>
                <a:ext uri="{FF2B5EF4-FFF2-40B4-BE49-F238E27FC236}">
                  <a16:creationId xmlns:a16="http://schemas.microsoft.com/office/drawing/2014/main" id="{8C577DF7-FB05-EDE6-E2AD-232C201346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59" y="2361"/>
              <a:ext cx="689" cy="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Freeform 69">
              <a:extLst>
                <a:ext uri="{FF2B5EF4-FFF2-40B4-BE49-F238E27FC236}">
                  <a16:creationId xmlns:a16="http://schemas.microsoft.com/office/drawing/2014/main" id="{5D8346CC-AB41-CE14-BC8C-0262A184E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437"/>
              <a:ext cx="1300" cy="333"/>
            </a:xfrm>
            <a:custGeom>
              <a:avLst/>
              <a:gdLst>
                <a:gd name="T0" fmla="*/ 0 w 1300"/>
                <a:gd name="T1" fmla="*/ 224 h 333"/>
                <a:gd name="T2" fmla="*/ 672 w 1300"/>
                <a:gd name="T3" fmla="*/ 333 h 333"/>
                <a:gd name="T4" fmla="*/ 1300 w 1300"/>
                <a:gd name="T5" fmla="*/ 0 h 333"/>
                <a:gd name="T6" fmla="*/ 0 w 1300"/>
                <a:gd name="T7" fmla="*/ 224 h 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00" h="333">
                  <a:moveTo>
                    <a:pt x="0" y="224"/>
                  </a:moveTo>
                  <a:lnTo>
                    <a:pt x="672" y="333"/>
                  </a:lnTo>
                  <a:lnTo>
                    <a:pt x="1300" y="0"/>
                  </a:lnTo>
                  <a:lnTo>
                    <a:pt x="0" y="224"/>
                  </a:lnTo>
                  <a:close/>
                </a:path>
              </a:pathLst>
            </a:custGeom>
            <a:solidFill>
              <a:srgbClr val="66FF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71">
              <a:extLst>
                <a:ext uri="{FF2B5EF4-FFF2-40B4-BE49-F238E27FC236}">
                  <a16:creationId xmlns:a16="http://schemas.microsoft.com/office/drawing/2014/main" id="{62B764F8-F87F-4AAC-85F8-8072F535B4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8" y="1976"/>
              <a:ext cx="1984" cy="5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39">
              <a:extLst>
                <a:ext uri="{FF2B5EF4-FFF2-40B4-BE49-F238E27FC236}">
                  <a16:creationId xmlns:a16="http://schemas.microsoft.com/office/drawing/2014/main" id="{959CA28D-EAF0-A36D-EFE1-62816E2AA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175"/>
              <a:ext cx="0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40">
              <a:extLst>
                <a:ext uri="{FF2B5EF4-FFF2-40B4-BE49-F238E27FC236}">
                  <a16:creationId xmlns:a16="http://schemas.microsoft.com/office/drawing/2014/main" id="{B754976F-D605-19D4-016F-8A98D0B76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175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41">
              <a:extLst>
                <a:ext uri="{FF2B5EF4-FFF2-40B4-BE49-F238E27FC236}">
                  <a16:creationId xmlns:a16="http://schemas.microsoft.com/office/drawing/2014/main" id="{B952ED41-7B22-AA12-7B5B-832DFD65C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661"/>
              <a:ext cx="864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42">
              <a:extLst>
                <a:ext uri="{FF2B5EF4-FFF2-40B4-BE49-F238E27FC236}">
                  <a16:creationId xmlns:a16="http://schemas.microsoft.com/office/drawing/2014/main" id="{8E2DECBF-3A44-7DC1-88C0-F09773FE4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" y="2379"/>
              <a:ext cx="0" cy="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43">
              <a:extLst>
                <a:ext uri="{FF2B5EF4-FFF2-40B4-BE49-F238E27FC236}">
                  <a16:creationId xmlns:a16="http://schemas.microsoft.com/office/drawing/2014/main" id="{1C51D1E4-E8B4-24E9-B6A6-CABBD3DD10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0" y="2447"/>
              <a:ext cx="371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44">
              <a:extLst>
                <a:ext uri="{FF2B5EF4-FFF2-40B4-BE49-F238E27FC236}">
                  <a16:creationId xmlns:a16="http://schemas.microsoft.com/office/drawing/2014/main" id="{D10EF9F7-1D1D-BED0-EE80-BA8A32921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0" y="1957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45">
              <a:extLst>
                <a:ext uri="{FF2B5EF4-FFF2-40B4-BE49-F238E27FC236}">
                  <a16:creationId xmlns:a16="http://schemas.microsoft.com/office/drawing/2014/main" id="{5296A6BC-D7C8-6059-4BA8-7DB9BB7F7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4" y="1957"/>
              <a:ext cx="377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Line 46">
              <a:extLst>
                <a:ext uri="{FF2B5EF4-FFF2-40B4-BE49-F238E27FC236}">
                  <a16:creationId xmlns:a16="http://schemas.microsoft.com/office/drawing/2014/main" id="{B0E52583-CA6F-A233-BC01-FD3439133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7" y="1574"/>
              <a:ext cx="0" cy="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47">
              <a:extLst>
                <a:ext uri="{FF2B5EF4-FFF2-40B4-BE49-F238E27FC236}">
                  <a16:creationId xmlns:a16="http://schemas.microsoft.com/office/drawing/2014/main" id="{EC14AFD4-A1A4-98B0-1EB7-EEFC504BD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64" y="1265"/>
              <a:ext cx="534" cy="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Freeform 66">
              <a:extLst>
                <a:ext uri="{FF2B5EF4-FFF2-40B4-BE49-F238E27FC236}">
                  <a16:creationId xmlns:a16="http://schemas.microsoft.com/office/drawing/2014/main" id="{DE1F8746-994D-2F9A-BEFC-4D478291B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1259"/>
              <a:ext cx="1146" cy="749"/>
            </a:xfrm>
            <a:custGeom>
              <a:avLst/>
              <a:gdLst>
                <a:gd name="T0" fmla="*/ 1146 w 1146"/>
                <a:gd name="T1" fmla="*/ 0 h 749"/>
                <a:gd name="T2" fmla="*/ 0 w 1146"/>
                <a:gd name="T3" fmla="*/ 698 h 749"/>
                <a:gd name="T4" fmla="*/ 339 w 1146"/>
                <a:gd name="T5" fmla="*/ 749 h 749"/>
                <a:gd name="T6" fmla="*/ 1146 w 1146"/>
                <a:gd name="T7" fmla="*/ 0 h 7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6" h="749">
                  <a:moveTo>
                    <a:pt x="1146" y="0"/>
                  </a:moveTo>
                  <a:lnTo>
                    <a:pt x="0" y="698"/>
                  </a:lnTo>
                  <a:lnTo>
                    <a:pt x="339" y="749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66FF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id="{A0A6E1E4-F1B4-92F6-4D6F-3E6E900B4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62" y="2005"/>
              <a:ext cx="695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Line 68">
              <a:extLst>
                <a:ext uri="{FF2B5EF4-FFF2-40B4-BE49-F238E27FC236}">
                  <a16:creationId xmlns:a16="http://schemas.microsoft.com/office/drawing/2014/main" id="{BB11DA46-851D-28B4-30CC-B804A9A41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0" y="1803"/>
              <a:ext cx="583" cy="154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52">
              <a:extLst>
                <a:ext uri="{FF2B5EF4-FFF2-40B4-BE49-F238E27FC236}">
                  <a16:creationId xmlns:a16="http://schemas.microsoft.com/office/drawing/2014/main" id="{ED6AC232-0E8B-B45E-8676-B1199D13A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9" y="2003"/>
              <a:ext cx="0" cy="3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Line 67">
              <a:extLst>
                <a:ext uri="{FF2B5EF4-FFF2-40B4-BE49-F238E27FC236}">
                  <a16:creationId xmlns:a16="http://schemas.microsoft.com/office/drawing/2014/main" id="{CD2715BF-A281-49F9-D190-A817FCCA5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90" y="1801"/>
              <a:ext cx="634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73">
              <a:extLst>
                <a:ext uri="{FF2B5EF4-FFF2-40B4-BE49-F238E27FC236}">
                  <a16:creationId xmlns:a16="http://schemas.microsoft.com/office/drawing/2014/main" id="{CD333377-814D-C734-41F2-1873A8BAC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" y="1802"/>
              <a:ext cx="294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a'</a:t>
              </a:r>
            </a:p>
          </p:txBody>
        </p:sp>
        <p:sp>
          <p:nvSpPr>
            <p:cNvPr id="68" name="Text Box 74">
              <a:extLst>
                <a:ext uri="{FF2B5EF4-FFF2-40B4-BE49-F238E27FC236}">
                  <a16:creationId xmlns:a16="http://schemas.microsoft.com/office/drawing/2014/main" id="{F23F2265-7A76-AE0B-E2D6-36C69FE52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1845"/>
              <a:ext cx="304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b'</a:t>
              </a:r>
            </a:p>
          </p:txBody>
        </p:sp>
        <p:sp>
          <p:nvSpPr>
            <p:cNvPr id="69" name="Text Box 75">
              <a:extLst>
                <a:ext uri="{FF2B5EF4-FFF2-40B4-BE49-F238E27FC236}">
                  <a16:creationId xmlns:a16="http://schemas.microsoft.com/office/drawing/2014/main" id="{A02F6FE8-CF58-E68D-C272-3F3D1468F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1036"/>
              <a:ext cx="294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c'</a:t>
              </a:r>
            </a:p>
          </p:txBody>
        </p:sp>
        <p:sp>
          <p:nvSpPr>
            <p:cNvPr id="70" name="Text Box 76">
              <a:extLst>
                <a:ext uri="{FF2B5EF4-FFF2-40B4-BE49-F238E27FC236}">
                  <a16:creationId xmlns:a16="http://schemas.microsoft.com/office/drawing/2014/main" id="{845B7A80-37F7-C114-9A30-5BBC36995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3" y="2542"/>
              <a:ext cx="219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1" name="Text Box 77">
              <a:extLst>
                <a:ext uri="{FF2B5EF4-FFF2-40B4-BE49-F238E27FC236}">
                  <a16:creationId xmlns:a16="http://schemas.microsoft.com/office/drawing/2014/main" id="{58DB41E0-D54A-3632-9858-8A1F2C162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2709"/>
              <a:ext cx="228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2" name="Text Box 78">
              <a:extLst>
                <a:ext uri="{FF2B5EF4-FFF2-40B4-BE49-F238E27FC236}">
                  <a16:creationId xmlns:a16="http://schemas.microsoft.com/office/drawing/2014/main" id="{B90A7C4A-358D-343E-0E86-72627547F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2351"/>
              <a:ext cx="219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3" name="Text Box 79">
              <a:extLst>
                <a:ext uri="{FF2B5EF4-FFF2-40B4-BE49-F238E27FC236}">
                  <a16:creationId xmlns:a16="http://schemas.microsoft.com/office/drawing/2014/main" id="{A65521F3-47B3-5960-C20F-FDB198574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" y="2548"/>
              <a:ext cx="228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4" name="Text Box 80">
              <a:extLst>
                <a:ext uri="{FF2B5EF4-FFF2-40B4-BE49-F238E27FC236}">
                  <a16:creationId xmlns:a16="http://schemas.microsoft.com/office/drawing/2014/main" id="{07985AF1-C7E2-B7AA-E33B-6D4C10A6C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" y="1226"/>
              <a:ext cx="310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isometricRightUp"/>
              <a:lightRig rig="threePt" dir="t"/>
            </a:scene3d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75" name="Text Box 81">
              <a:extLst>
                <a:ext uri="{FF2B5EF4-FFF2-40B4-BE49-F238E27FC236}">
                  <a16:creationId xmlns:a16="http://schemas.microsoft.com/office/drawing/2014/main" id="{73C99D86-8E9F-E7D8-8B7E-ECD1F008D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60000">
              <a:off x="2351" y="2925"/>
              <a:ext cx="322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isometricBottomDown"/>
              <a:lightRig rig="threePt" dir="t"/>
            </a:scene3d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76" name="Text Box 86">
              <a:extLst>
                <a:ext uri="{FF2B5EF4-FFF2-40B4-BE49-F238E27FC236}">
                  <a16:creationId xmlns:a16="http://schemas.microsoft.com/office/drawing/2014/main" id="{82C8CA22-3971-3DCF-6416-A251BF404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7" y="2037"/>
              <a:ext cx="26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7" name="Text Box 87">
              <a:extLst>
                <a:ext uri="{FF2B5EF4-FFF2-40B4-BE49-F238E27FC236}">
                  <a16:creationId xmlns:a16="http://schemas.microsoft.com/office/drawing/2014/main" id="{2CC7A337-3726-EE40-E047-E29C9F761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2" y="2305"/>
              <a:ext cx="258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8" name="Text Box 88">
              <a:extLst>
                <a:ext uri="{FF2B5EF4-FFF2-40B4-BE49-F238E27FC236}">
                  <a16:creationId xmlns:a16="http://schemas.microsoft.com/office/drawing/2014/main" id="{0D369946-3699-97E1-45EB-338421CE6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" y="1344"/>
              <a:ext cx="26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9" name="Text Box 89">
              <a:extLst>
                <a:ext uri="{FF2B5EF4-FFF2-40B4-BE49-F238E27FC236}">
                  <a16:creationId xmlns:a16="http://schemas.microsoft.com/office/drawing/2014/main" id="{DC0F7919-85ED-25FD-DE1A-56AD0B591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" y="2094"/>
              <a:ext cx="26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0" name="Text Box 91">
              <a:extLst>
                <a:ext uri="{FF2B5EF4-FFF2-40B4-BE49-F238E27FC236}">
                  <a16:creationId xmlns:a16="http://schemas.microsoft.com/office/drawing/2014/main" id="{A1645F53-EA45-42B3-A180-37095D81B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" y="2399"/>
              <a:ext cx="26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89F11F6C-FCD7-1DF7-BAAE-CC63FAFB6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567"/>
              <a:ext cx="1319" cy="825"/>
            </a:xfrm>
            <a:custGeom>
              <a:avLst/>
              <a:gdLst>
                <a:gd name="T0" fmla="*/ 1319 w 1319"/>
                <a:gd name="T1" fmla="*/ 0 h 825"/>
                <a:gd name="T2" fmla="*/ 0 w 1319"/>
                <a:gd name="T3" fmla="*/ 608 h 825"/>
                <a:gd name="T4" fmla="*/ 666 w 1319"/>
                <a:gd name="T5" fmla="*/ 825 h 825"/>
                <a:gd name="T6" fmla="*/ 1319 w 1319"/>
                <a:gd name="T7" fmla="*/ 0 h 8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19" h="825">
                  <a:moveTo>
                    <a:pt x="1319" y="0"/>
                  </a:moveTo>
                  <a:lnTo>
                    <a:pt x="0" y="608"/>
                  </a:lnTo>
                  <a:lnTo>
                    <a:pt x="666" y="825"/>
                  </a:lnTo>
                  <a:lnTo>
                    <a:pt x="13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Line 38">
              <a:extLst>
                <a:ext uri="{FF2B5EF4-FFF2-40B4-BE49-F238E27FC236}">
                  <a16:creationId xmlns:a16="http://schemas.microsoft.com/office/drawing/2014/main" id="{54E3EA92-FE94-D0BE-C37E-4457BD21C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175"/>
              <a:ext cx="83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Group 94">
            <a:extLst>
              <a:ext uri="{FF2B5EF4-FFF2-40B4-BE49-F238E27FC236}">
                <a16:creationId xmlns:a16="http://schemas.microsoft.com/office/drawing/2014/main" id="{FE612075-F014-4A8E-ED1A-1F4285D744C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89903" y="2125190"/>
            <a:ext cx="896353" cy="3233564"/>
            <a:chOff x="3087" y="671"/>
            <a:chExt cx="845" cy="2461"/>
          </a:xfrm>
        </p:grpSpPr>
        <p:sp>
          <p:nvSpPr>
            <p:cNvPr id="84" name="Freeform 57">
              <a:extLst>
                <a:ext uri="{FF2B5EF4-FFF2-40B4-BE49-F238E27FC236}">
                  <a16:creationId xmlns:a16="http://schemas.microsoft.com/office/drawing/2014/main" id="{C0B0EC80-8A3A-525C-6284-C8437F14A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671"/>
              <a:ext cx="596" cy="2226"/>
            </a:xfrm>
            <a:custGeom>
              <a:avLst/>
              <a:gdLst>
                <a:gd name="T0" fmla="*/ 0 w 448"/>
                <a:gd name="T1" fmla="*/ 1103 h 2247"/>
                <a:gd name="T2" fmla="*/ 448 w 448"/>
                <a:gd name="T3" fmla="*/ 1785 h 2247"/>
                <a:gd name="T4" fmla="*/ 448 w 448"/>
                <a:gd name="T5" fmla="*/ 600 h 2247"/>
                <a:gd name="T6" fmla="*/ 0 w 448"/>
                <a:gd name="T7" fmla="*/ 0 h 2247"/>
                <a:gd name="T8" fmla="*/ 0 w 448"/>
                <a:gd name="T9" fmla="*/ 1103 h 2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0 w 12930"/>
                <a:gd name="connsiteY0" fmla="*/ 4967 h 10000"/>
                <a:gd name="connsiteX1" fmla="*/ 12930 w 12930"/>
                <a:gd name="connsiteY1" fmla="*/ 10000 h 10000"/>
                <a:gd name="connsiteX2" fmla="*/ 12930 w 12930"/>
                <a:gd name="connsiteY2" fmla="*/ 3364 h 10000"/>
                <a:gd name="connsiteX3" fmla="*/ 2930 w 12930"/>
                <a:gd name="connsiteY3" fmla="*/ 0 h 10000"/>
                <a:gd name="connsiteX4" fmla="*/ 0 w 12930"/>
                <a:gd name="connsiteY4" fmla="*/ 4967 h 10000"/>
                <a:gd name="connsiteX0" fmla="*/ 276 w 13206"/>
                <a:gd name="connsiteY0" fmla="*/ 5664 h 10697"/>
                <a:gd name="connsiteX1" fmla="*/ 13206 w 13206"/>
                <a:gd name="connsiteY1" fmla="*/ 10697 h 10697"/>
                <a:gd name="connsiteX2" fmla="*/ 13206 w 13206"/>
                <a:gd name="connsiteY2" fmla="*/ 4061 h 10697"/>
                <a:gd name="connsiteX3" fmla="*/ 0 w 13206"/>
                <a:gd name="connsiteY3" fmla="*/ 0 h 10697"/>
                <a:gd name="connsiteX4" fmla="*/ 276 w 13206"/>
                <a:gd name="connsiteY4" fmla="*/ 5664 h 1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06" h="10697">
                  <a:moveTo>
                    <a:pt x="276" y="5664"/>
                  </a:moveTo>
                  <a:lnTo>
                    <a:pt x="13206" y="10697"/>
                  </a:lnTo>
                  <a:lnTo>
                    <a:pt x="13206" y="4061"/>
                  </a:lnTo>
                  <a:lnTo>
                    <a:pt x="0" y="0"/>
                  </a:lnTo>
                  <a:lnTo>
                    <a:pt x="276" y="5664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DCA1DF68-8AAC-0671-9C4E-6B5967A2D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7" y="899"/>
              <a:ext cx="362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isometricLeftDown"/>
              <a:lightRig rig="threePt" dir="t"/>
            </a:scene3d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400" b="1" baseline="-2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90">
              <a:extLst>
                <a:ext uri="{FF2B5EF4-FFF2-40B4-BE49-F238E27FC236}">
                  <a16:creationId xmlns:a16="http://schemas.microsoft.com/office/drawing/2014/main" id="{D05E92E7-492F-DB7A-AA9D-2676ED182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8" y="1840"/>
              <a:ext cx="587" cy="106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Box 92">
              <a:extLst>
                <a:ext uri="{FF2B5EF4-FFF2-40B4-BE49-F238E27FC236}">
                  <a16:creationId xmlns:a16="http://schemas.microsoft.com/office/drawing/2014/main" id="{B582FE98-C4A6-8BFF-39B7-FD9CA33F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851"/>
              <a:ext cx="326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800" b="1" baseline="-2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Group 95">
            <a:extLst>
              <a:ext uri="{FF2B5EF4-FFF2-40B4-BE49-F238E27FC236}">
                <a16:creationId xmlns:a16="http://schemas.microsoft.com/office/drawing/2014/main" id="{E7C3D75E-E486-A4BC-934B-EE8FBBC2C6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86019" y="2855092"/>
            <a:ext cx="1773942" cy="1938446"/>
            <a:chOff x="2463" y="1285"/>
            <a:chExt cx="1672" cy="1475"/>
          </a:xfrm>
        </p:grpSpPr>
        <p:sp>
          <p:nvSpPr>
            <p:cNvPr id="89" name="Line 56">
              <a:extLst>
                <a:ext uri="{FF2B5EF4-FFF2-40B4-BE49-F238E27FC236}">
                  <a16:creationId xmlns:a16="http://schemas.microsoft.com/office/drawing/2014/main" id="{A50D4417-C963-E322-11BD-B99439B40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2175"/>
              <a:ext cx="9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Line 58">
              <a:extLst>
                <a:ext uri="{FF2B5EF4-FFF2-40B4-BE49-F238E27FC236}">
                  <a16:creationId xmlns:a16="http://schemas.microsoft.com/office/drawing/2014/main" id="{85824AF9-0CC4-2773-B5AA-77436CD61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1" y="1572"/>
              <a:ext cx="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Line 59">
              <a:extLst>
                <a:ext uri="{FF2B5EF4-FFF2-40B4-BE49-F238E27FC236}">
                  <a16:creationId xmlns:a16="http://schemas.microsoft.com/office/drawing/2014/main" id="{1B639488-BCCF-9959-1EE1-2E901E913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" y="2377"/>
              <a:ext cx="1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Line 61">
              <a:extLst>
                <a:ext uri="{FF2B5EF4-FFF2-40B4-BE49-F238E27FC236}">
                  <a16:creationId xmlns:a16="http://schemas.microsoft.com/office/drawing/2014/main" id="{5C76AF5D-C465-3A54-D9B6-EB7C069C1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2661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Line 62">
              <a:extLst>
                <a:ext uri="{FF2B5EF4-FFF2-40B4-BE49-F238E27FC236}">
                  <a16:creationId xmlns:a16="http://schemas.microsoft.com/office/drawing/2014/main" id="{EFA3D733-5E34-52FD-5B50-0B0247A2F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7" y="216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Line 63">
              <a:extLst>
                <a:ext uri="{FF2B5EF4-FFF2-40B4-BE49-F238E27FC236}">
                  <a16:creationId xmlns:a16="http://schemas.microsoft.com/office/drawing/2014/main" id="{761B4AD2-BAEC-9BD8-7970-D90C6583E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" y="2758"/>
              <a:ext cx="1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Line 64">
              <a:extLst>
                <a:ext uri="{FF2B5EF4-FFF2-40B4-BE49-F238E27FC236}">
                  <a16:creationId xmlns:a16="http://schemas.microsoft.com/office/drawing/2014/main" id="{BE3F163C-E843-B980-7F57-AA360C00B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5" y="2382"/>
              <a:ext cx="0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Line 65">
              <a:extLst>
                <a:ext uri="{FF2B5EF4-FFF2-40B4-BE49-F238E27FC236}">
                  <a16:creationId xmlns:a16="http://schemas.microsoft.com/office/drawing/2014/main" id="{AA10B454-6A32-6C79-2691-8BA84658E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9" y="1560"/>
              <a:ext cx="0" cy="8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Line 72">
              <a:extLst>
                <a:ext uri="{FF2B5EF4-FFF2-40B4-BE49-F238E27FC236}">
                  <a16:creationId xmlns:a16="http://schemas.microsoft.com/office/drawing/2014/main" id="{A67EEE33-A35B-4AAE-BD4E-5F920B4A6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7" y="2437"/>
              <a:ext cx="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 Box 83">
              <a:extLst>
                <a:ext uri="{FF2B5EF4-FFF2-40B4-BE49-F238E27FC236}">
                  <a16:creationId xmlns:a16="http://schemas.microsoft.com/office/drawing/2014/main" id="{2AEBE2DE-C3D3-F838-FFED-9FEC91B10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285"/>
              <a:ext cx="27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9" name="Text Box 85">
              <a:extLst>
                <a:ext uri="{FF2B5EF4-FFF2-40B4-BE49-F238E27FC236}">
                  <a16:creationId xmlns:a16="http://schemas.microsoft.com/office/drawing/2014/main" id="{40A78E11-F432-145F-4615-94F7F8E85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238"/>
              <a:ext cx="297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800" baseline="-2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 Box 84">
              <a:extLst>
                <a:ext uri="{FF2B5EF4-FFF2-40B4-BE49-F238E27FC236}">
                  <a16:creationId xmlns:a16="http://schemas.microsoft.com/office/drawing/2014/main" id="{DF847E45-B74D-64D1-85E4-9632A79D8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1985"/>
              <a:ext cx="540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1800" baseline="-2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</a:t>
              </a:r>
              <a:r>
                <a:rPr lang="en-US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2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Line 60">
              <a:extLst>
                <a:ext uri="{FF2B5EF4-FFF2-40B4-BE49-F238E27FC236}">
                  <a16:creationId xmlns:a16="http://schemas.microsoft.com/office/drawing/2014/main" id="{BA321E77-D7C0-964C-85BE-1CE415240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" y="1553"/>
              <a:ext cx="190" cy="83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2" name="Text Box 9">
            <a:extLst>
              <a:ext uri="{FF2B5EF4-FFF2-40B4-BE49-F238E27FC236}">
                <a16:creationId xmlns:a16="http://schemas.microsoft.com/office/drawing/2014/main" id="{61ED2EBE-4EEF-A8A6-30AC-992094B8D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102" y="5689123"/>
            <a:ext cx="22958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投影轴的方向？</a:t>
            </a:r>
          </a:p>
        </p:txBody>
      </p:sp>
      <p:sp>
        <p:nvSpPr>
          <p:cNvPr id="103" name="Text Box 17">
            <a:extLst>
              <a:ext uri="{FF2B5EF4-FFF2-40B4-BE49-F238E27FC236}">
                <a16:creationId xmlns:a16="http://schemas.microsoft.com/office/drawing/2014/main" id="{DFFC5053-C0EE-D1D6-1317-759F8E58F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8281" y="5640359"/>
            <a:ext cx="12586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400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</a:t>
            </a:r>
            <a:r>
              <a:rPr lang="en-US" altLang="zh-CN" sz="2400" b="0" dirty="0">
                <a:sym typeface="Symbol" pitchFamily="18" charset="2"/>
              </a:rPr>
              <a:t></a:t>
            </a:r>
            <a:r>
              <a:rPr lang="en-US" altLang="zh-CN" sz="2400" dirty="0">
                <a:sym typeface="Symbol" pitchFamily="18" charset="2"/>
              </a:rPr>
              <a:t> </a:t>
            </a:r>
            <a:r>
              <a:rPr lang="en-US" altLang="zh-CN" sz="2400" b="0" dirty="0">
                <a:sym typeface="Symbol" pitchFamily="18" charset="2"/>
              </a:rPr>
              <a:t>bm</a:t>
            </a:r>
            <a:endParaRPr lang="en-US" altLang="zh-CN" sz="2400" b="0" dirty="0"/>
          </a:p>
        </p:txBody>
      </p:sp>
      <p:sp>
        <p:nvSpPr>
          <p:cNvPr id="104" name="Text Box 32">
            <a:extLst>
              <a:ext uri="{FF2B5EF4-FFF2-40B4-BE49-F238E27FC236}">
                <a16:creationId xmlns:a16="http://schemas.microsoft.com/office/drawing/2014/main" id="{E94CB2E5-2BE6-C89D-93B0-85E5EB9CF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22" y="1132502"/>
            <a:ext cx="1639536" cy="46166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一次换面</a:t>
            </a:r>
          </a:p>
        </p:txBody>
      </p:sp>
      <p:sp>
        <p:nvSpPr>
          <p:cNvPr id="105" name="Text Box 32">
            <a:extLst>
              <a:ext uri="{FF2B5EF4-FFF2-40B4-BE49-F238E27FC236}">
                <a16:creationId xmlns:a16="http://schemas.microsoft.com/office/drawing/2014/main" id="{AB2636E7-33A1-6954-A853-4DD5310F3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253" y="1690287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</p:spTree>
    <p:extLst>
      <p:ext uri="{BB962C8B-B14F-4D97-AF65-F5344CB8AC3E}">
        <p14:creationId xmlns:p14="http://schemas.microsoft.com/office/powerpoint/2010/main" val="37781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nimBg="1"/>
      <p:bldP spid="18" grpId="0" build="p" autoUpdateAnimBg="0"/>
      <p:bldP spid="19" grpId="0" build="p" autoUpdateAnimBg="0"/>
      <p:bldP spid="20" grpId="0" animBg="1"/>
      <p:bldP spid="42" grpId="0" animBg="1"/>
      <p:bldP spid="43" grpId="0" autoUpdateAnimBg="0"/>
      <p:bldP spid="44" grpId="0" animBg="1"/>
      <p:bldP spid="46" grpId="0"/>
      <p:bldP spid="102" grpId="0"/>
      <p:bldP spid="103" grpId="0"/>
      <p:bldP spid="104" grpId="0" animBg="1"/>
      <p:bldP spid="10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3CB0-C5E1-0CD5-9382-EC01DFA2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54078EF-2DB3-563F-4707-CF768430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21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7122D7C-80D5-DDB7-F4F8-F40462EC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四个基本问题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74C73B9E-8AC6-7B7F-35DB-8E4E89634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6221575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：将一般位置平面变换为投影面平行面</a:t>
            </a: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E5F8999E-A667-C4E8-6017-CAE142F53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22" y="1132502"/>
            <a:ext cx="1639536" cy="461665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两次换面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3FE1B67-F252-7D2F-B15A-F3F07DF9DC05}"/>
              </a:ext>
            </a:extLst>
          </p:cNvPr>
          <p:cNvGrpSpPr>
            <a:grpSpLocks/>
          </p:cNvGrpSpPr>
          <p:nvPr/>
        </p:nvGrpSpPr>
        <p:grpSpPr bwMode="auto">
          <a:xfrm>
            <a:off x="24469" y="1448773"/>
            <a:ext cx="3677043" cy="4221163"/>
            <a:chOff x="330" y="1050"/>
            <a:chExt cx="2323" cy="2659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043E1684-E927-6515-3E84-94D600ECC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2407"/>
              <a:ext cx="2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974941A1-EC42-B403-B2B7-5FA569A28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3" y="2417"/>
              <a:ext cx="0" cy="3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2A084CA9-332C-CD4B-9B50-1107F1AC8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2" y="1153"/>
              <a:ext cx="762" cy="7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9F1CA47-C02D-86A8-A0C8-81BB23D60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1935"/>
              <a:ext cx="1345" cy="4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4FBD4D9-25B6-C2E1-3708-518F88717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1" y="1140"/>
              <a:ext cx="577" cy="1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68AD220D-D646-81D4-A14E-F0A884F74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1935"/>
              <a:ext cx="0" cy="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A3F91D3-C232-8136-190D-09A1F7827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4" y="2753"/>
              <a:ext cx="573" cy="7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B5A92B4F-0E55-E4B7-0BD4-58DA2E0FC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2662"/>
              <a:ext cx="1345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88210450-FCFF-7402-9C2E-B41B78AC5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5" y="1163"/>
              <a:ext cx="0" cy="2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7A5220D0-B274-1552-A374-31DDCBB3C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2663"/>
              <a:ext cx="77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B9C5994D-E097-8D9B-9A42-0BFAEDA79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" y="1050"/>
              <a:ext cx="21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16411DB2-3BAB-DD56-F023-2D46EE7EE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" y="1789"/>
              <a:ext cx="22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063260CE-7C41-9EAA-5B62-1145DC6CF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9" y="2194"/>
              <a:ext cx="21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c'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A71D104F-9FE7-755F-E267-B3817F49B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" y="2524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19A11583-E304-3786-8BEC-8D8B9E556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" y="3418"/>
              <a:ext cx="20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E67A8E80-7426-2973-A7E3-13834E62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7" y="2550"/>
              <a:ext cx="18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E6F32E7E-310A-F40E-5518-FAC2BDD40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" y="2282"/>
              <a:ext cx="23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CAB90116-707F-BF2F-DB16-CAB642092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" y="2186"/>
              <a:ext cx="23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E0399F19-CA93-35EB-55BE-AB0B9C4BC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" y="2379"/>
              <a:ext cx="24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26" name="Line 29">
            <a:extLst>
              <a:ext uri="{FF2B5EF4-FFF2-40B4-BE49-F238E27FC236}">
                <a16:creationId xmlns:a16="http://schemas.microsoft.com/office/drawing/2014/main" id="{55EC4047-F36C-E36D-DCB9-9F65D12EB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701" y="2839422"/>
            <a:ext cx="1761751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Line 30">
            <a:extLst>
              <a:ext uri="{FF2B5EF4-FFF2-40B4-BE49-F238E27FC236}">
                <a16:creationId xmlns:a16="http://schemas.microsoft.com/office/drawing/2014/main" id="{AABCB56E-DD45-5848-152F-94E7E9769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1001" y="2839422"/>
            <a:ext cx="0" cy="177800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8B5BBB7D-5EB6-3D14-2529-7EE4541BA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226" y="4030047"/>
            <a:ext cx="2937836" cy="9937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ine 32">
            <a:extLst>
              <a:ext uri="{FF2B5EF4-FFF2-40B4-BE49-F238E27FC236}">
                <a16:creationId xmlns:a16="http://schemas.microsoft.com/office/drawing/2014/main" id="{F4179E7E-F463-8FCA-0B93-EBA1F749EA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7432" y="4052272"/>
            <a:ext cx="752292" cy="2049611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4053904F-F7E6-4B4E-812E-0B17A1253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840" y="6001841"/>
            <a:ext cx="47320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34">
            <a:extLst>
              <a:ext uri="{FF2B5EF4-FFF2-40B4-BE49-F238E27FC236}">
                <a16:creationId xmlns:a16="http://schemas.microsoft.com/office/drawing/2014/main" id="{F9C53075-446C-F7B0-FA30-7F097280A4B6}"/>
              </a:ext>
            </a:extLst>
          </p:cNvPr>
          <p:cNvSpPr txBox="1">
            <a:spLocks noChangeArrowheads="1"/>
          </p:cNvSpPr>
          <p:nvPr/>
        </p:nvSpPr>
        <p:spPr bwMode="auto">
          <a:xfrm rot="1269066">
            <a:off x="2292956" y="5651154"/>
            <a:ext cx="36474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621D9F45-96CE-2DF8-C11E-0C2A0D31118B}"/>
              </a:ext>
            </a:extLst>
          </p:cNvPr>
          <p:cNvSpPr txBox="1">
            <a:spLocks noChangeArrowheads="1"/>
          </p:cNvSpPr>
          <p:nvPr/>
        </p:nvSpPr>
        <p:spPr bwMode="auto">
          <a:xfrm rot="1180361">
            <a:off x="2602486" y="5812273"/>
            <a:ext cx="49420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36">
            <a:extLst>
              <a:ext uri="{FF2B5EF4-FFF2-40B4-BE49-F238E27FC236}">
                <a16:creationId xmlns:a16="http://schemas.microsoft.com/office/drawing/2014/main" id="{9BDA615F-6070-E474-FCC3-BD1AC6969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851" y="5368309"/>
            <a:ext cx="2565857" cy="8667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37">
            <a:extLst>
              <a:ext uri="{FF2B5EF4-FFF2-40B4-BE49-F238E27FC236}">
                <a16:creationId xmlns:a16="http://schemas.microsoft.com/office/drawing/2014/main" id="{49B36637-C418-942C-AC5B-3E3B6BC6C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076" y="4157047"/>
            <a:ext cx="277004" cy="9366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Line 38">
            <a:extLst>
              <a:ext uri="{FF2B5EF4-FFF2-40B4-BE49-F238E27FC236}">
                <a16:creationId xmlns:a16="http://schemas.microsoft.com/office/drawing/2014/main" id="{6964C405-4F81-94E3-7C6F-9C5BB438B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188" y="4225309"/>
            <a:ext cx="1392939" cy="2020888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39">
            <a:extLst>
              <a:ext uri="{FF2B5EF4-FFF2-40B4-BE49-F238E27FC236}">
                <a16:creationId xmlns:a16="http://schemas.microsoft.com/office/drawing/2014/main" id="{EE7E5FDC-B000-C7DC-E5DE-AC3F4F589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813" y="3776047"/>
            <a:ext cx="1736426" cy="249555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9E0F713C-1FE4-D1E9-1E72-E32261032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9188" y="5427046"/>
            <a:ext cx="1058951" cy="79692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0FA03BA4-E8D7-A508-9EC8-919B35CD5E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2189" y="3741121"/>
            <a:ext cx="724962" cy="49688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4712C1C9-22CE-FD6E-C69A-4A85286A63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4001" y="3361708"/>
            <a:ext cx="2440809" cy="1649413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Line 43">
            <a:extLst>
              <a:ext uri="{FF2B5EF4-FFF2-40B4-BE49-F238E27FC236}">
                <a16:creationId xmlns:a16="http://schemas.microsoft.com/office/drawing/2014/main" id="{7390D839-163D-092F-4FED-9A9F0ADB8B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8151" y="3347422"/>
            <a:ext cx="2255611" cy="404812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4CDCE3DA-9635-4E6F-14A5-9B55DAA420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8526" y="3336309"/>
            <a:ext cx="519186" cy="20796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Line 45">
            <a:extLst>
              <a:ext uri="{FF2B5EF4-FFF2-40B4-BE49-F238E27FC236}">
                <a16:creationId xmlns:a16="http://schemas.microsoft.com/office/drawing/2014/main" id="{DB82D252-6F20-C1C1-E897-9CF6145ADE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89263" y="3752233"/>
            <a:ext cx="1738008" cy="168592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131AF161-A496-A72B-0FA6-9E26FB075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773" y="5979794"/>
            <a:ext cx="49420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ED83B1EC-351C-BFC8-11C2-D365F90CC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367" y="5268881"/>
            <a:ext cx="49420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A785CF0-FA0B-C9DA-8569-196D5EAA7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730" y="4914254"/>
            <a:ext cx="43027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6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93F330F7-4A24-10A4-4B41-B5451E6B6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257" y="3104504"/>
            <a:ext cx="44114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8" name="Rectangle 50">
            <a:extLst>
              <a:ext uri="{FF2B5EF4-FFF2-40B4-BE49-F238E27FC236}">
                <a16:creationId xmlns:a16="http://schemas.microsoft.com/office/drawing/2014/main" id="{E98F373B-35D8-0B64-1C04-CBD770974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618" y="4047479"/>
            <a:ext cx="43027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C8F56F8F-053F-5E9D-4995-75CAC5B7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093" y="3358504"/>
            <a:ext cx="43027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4FAF808B-BE7F-060E-63B8-1DCA51570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200" y="6311329"/>
            <a:ext cx="47320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Box 53">
            <a:extLst>
              <a:ext uri="{FF2B5EF4-FFF2-40B4-BE49-F238E27FC236}">
                <a16:creationId xmlns:a16="http://schemas.microsoft.com/office/drawing/2014/main" id="{E879DC5B-0106-5471-C052-40B56184061C}"/>
              </a:ext>
            </a:extLst>
          </p:cNvPr>
          <p:cNvSpPr txBox="1">
            <a:spLocks noChangeArrowheads="1"/>
          </p:cNvSpPr>
          <p:nvPr/>
        </p:nvSpPr>
        <p:spPr bwMode="auto">
          <a:xfrm rot="19535061">
            <a:off x="4910959" y="5987754"/>
            <a:ext cx="49420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54">
            <a:extLst>
              <a:ext uri="{FF2B5EF4-FFF2-40B4-BE49-F238E27FC236}">
                <a16:creationId xmlns:a16="http://schemas.microsoft.com/office/drawing/2014/main" id="{8E767A00-79FA-E32E-19F7-3BE8FC4C35AF}"/>
              </a:ext>
            </a:extLst>
          </p:cNvPr>
          <p:cNvSpPr txBox="1">
            <a:spLocks noChangeArrowheads="1"/>
          </p:cNvSpPr>
          <p:nvPr/>
        </p:nvSpPr>
        <p:spPr bwMode="auto">
          <a:xfrm rot="19413493">
            <a:off x="5239970" y="5788662"/>
            <a:ext cx="49420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Box 55">
            <a:extLst>
              <a:ext uri="{FF2B5EF4-FFF2-40B4-BE49-F238E27FC236}">
                <a16:creationId xmlns:a16="http://schemas.microsoft.com/office/drawing/2014/main" id="{89BE5FF9-62CC-B152-69E7-064C8F4B6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9200" y="2609554"/>
            <a:ext cx="545355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1'</a:t>
            </a:r>
          </a:p>
        </p:txBody>
      </p:sp>
      <p:sp>
        <p:nvSpPr>
          <p:cNvPr id="54" name="Text Box 56">
            <a:extLst>
              <a:ext uri="{FF2B5EF4-FFF2-40B4-BE49-F238E27FC236}">
                <a16:creationId xmlns:a16="http://schemas.microsoft.com/office/drawing/2014/main" id="{D9C897EA-73C7-4989-C92D-0B43A5104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0076" y="4610394"/>
            <a:ext cx="36474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7" name="Text Box 60">
            <a:extLst>
              <a:ext uri="{FF2B5EF4-FFF2-40B4-BE49-F238E27FC236}">
                <a16:creationId xmlns:a16="http://schemas.microsoft.com/office/drawing/2014/main" id="{451226AA-EE00-53E8-4EFA-5D2FD299D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65" y="3991545"/>
            <a:ext cx="69762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实形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3CD748D-0D74-2194-6652-60C5BFE85918}"/>
              </a:ext>
            </a:extLst>
          </p:cNvPr>
          <p:cNvGrpSpPr/>
          <p:nvPr/>
        </p:nvGrpSpPr>
        <p:grpSpPr>
          <a:xfrm>
            <a:off x="720246" y="5744602"/>
            <a:ext cx="1146882" cy="440638"/>
            <a:chOff x="720246" y="5744602"/>
            <a:chExt cx="1146882" cy="440638"/>
          </a:xfrm>
        </p:grpSpPr>
        <p:sp>
          <p:nvSpPr>
            <p:cNvPr id="58" name="AutoShape 16" descr="紫色网格">
              <a:extLst>
                <a:ext uri="{FF2B5EF4-FFF2-40B4-BE49-F238E27FC236}">
                  <a16:creationId xmlns:a16="http://schemas.microsoft.com/office/drawing/2014/main" id="{CAFC8883-B244-91B6-B059-59AB6E59C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6" y="5744602"/>
              <a:ext cx="1146882" cy="440638"/>
            </a:xfrm>
            <a:prstGeom prst="wedgeRoundRectCallout">
              <a:avLst>
                <a:gd name="adj1" fmla="val 76601"/>
                <a:gd name="adj2" fmla="val 51668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17">
              <a:extLst>
                <a:ext uri="{FF2B5EF4-FFF2-40B4-BE49-F238E27FC236}">
                  <a16:creationId xmlns:a16="http://schemas.microsoft.com/office/drawing/2014/main" id="{02DDFDCE-B676-6F57-7E31-963653F1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682" y="5764866"/>
              <a:ext cx="105189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dirty="0"/>
                <a:t>X1 </a:t>
              </a:r>
              <a:r>
                <a:rPr lang="en-US" altLang="zh-CN" b="0" dirty="0">
                  <a:sym typeface="Symbol" pitchFamily="18" charset="2"/>
                </a:rPr>
                <a:t></a:t>
              </a:r>
              <a:r>
                <a:rPr lang="en-US" altLang="zh-CN" dirty="0">
                  <a:sym typeface="Symbol" pitchFamily="18" charset="2"/>
                </a:rPr>
                <a:t> </a:t>
              </a:r>
              <a:r>
                <a:rPr lang="en-US" altLang="zh-CN" b="0" dirty="0">
                  <a:sym typeface="Symbol" pitchFamily="18" charset="2"/>
                </a:rPr>
                <a:t>b1</a:t>
              </a:r>
              <a:endParaRPr lang="en-US" altLang="zh-CN" b="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F4EFCAA-DFBF-1321-E7B1-842BCB16A09B}"/>
              </a:ext>
            </a:extLst>
          </p:cNvPr>
          <p:cNvGrpSpPr/>
          <p:nvPr/>
        </p:nvGrpSpPr>
        <p:grpSpPr>
          <a:xfrm>
            <a:off x="6031856" y="5876040"/>
            <a:ext cx="1276447" cy="440638"/>
            <a:chOff x="6031856" y="5876040"/>
            <a:chExt cx="1276447" cy="440638"/>
          </a:xfrm>
        </p:grpSpPr>
        <p:sp>
          <p:nvSpPr>
            <p:cNvPr id="60" name="AutoShape 16" descr="紫色网格">
              <a:extLst>
                <a:ext uri="{FF2B5EF4-FFF2-40B4-BE49-F238E27FC236}">
                  <a16:creationId xmlns:a16="http://schemas.microsoft.com/office/drawing/2014/main" id="{946C69E2-B7C5-863B-ECB3-BAD05D6D3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1856" y="5876040"/>
              <a:ext cx="1276447" cy="440638"/>
            </a:xfrm>
            <a:prstGeom prst="wedgeRoundRectCallout">
              <a:avLst>
                <a:gd name="adj1" fmla="val -80021"/>
                <a:gd name="adj2" fmla="val 70533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17118428-4BC8-0D20-0E0D-94E05CE7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946" y="5909210"/>
              <a:ext cx="125226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dirty="0"/>
                <a:t>X2 // </a:t>
              </a:r>
              <a:r>
                <a:rPr lang="en-US" altLang="zh-CN" b="0" dirty="0"/>
                <a:t>c1a1</a:t>
              </a:r>
            </a:p>
          </p:txBody>
        </p:sp>
      </p:grpSp>
      <p:sp>
        <p:nvSpPr>
          <p:cNvPr id="62" name="Text Box 32">
            <a:extLst>
              <a:ext uri="{FF2B5EF4-FFF2-40B4-BE49-F238E27FC236}">
                <a16:creationId xmlns:a16="http://schemas.microsoft.com/office/drawing/2014/main" id="{0193E7EE-DC9D-66A9-DE10-58BBD1605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6881" y="1980371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63" name="Text Box 9">
            <a:extLst>
              <a:ext uri="{FF2B5EF4-FFF2-40B4-BE49-F238E27FC236}">
                <a16:creationId xmlns:a16="http://schemas.microsoft.com/office/drawing/2014/main" id="{7CE25275-167A-FD7B-DE0D-3A39D8DBB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42" y="1821510"/>
            <a:ext cx="370860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投影面平行面，相对于投影面的投影能够直接反映实形</a:t>
            </a:r>
          </a:p>
        </p:txBody>
      </p:sp>
      <p:sp>
        <p:nvSpPr>
          <p:cNvPr id="64" name="Text Box 9">
            <a:extLst>
              <a:ext uri="{FF2B5EF4-FFF2-40B4-BE49-F238E27FC236}">
                <a16:creationId xmlns:a16="http://schemas.microsoft.com/office/drawing/2014/main" id="{D9520075-8F54-8B46-5ABD-22C89FA62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1231" y="2716447"/>
            <a:ext cx="209521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先将平面变换成投影面垂直面</a:t>
            </a:r>
          </a:p>
        </p:txBody>
      </p:sp>
      <p:sp>
        <p:nvSpPr>
          <p:cNvPr id="65" name="Text Box 9">
            <a:extLst>
              <a:ext uri="{FF2B5EF4-FFF2-40B4-BE49-F238E27FC236}">
                <a16:creationId xmlns:a16="http://schemas.microsoft.com/office/drawing/2014/main" id="{FBA93068-3CFF-928B-5886-8BDE954C2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1231" y="3628528"/>
            <a:ext cx="209521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再将平面变换成投影面平行面</a:t>
            </a:r>
          </a:p>
        </p:txBody>
      </p:sp>
    </p:spTree>
    <p:extLst>
      <p:ext uri="{BB962C8B-B14F-4D97-AF65-F5344CB8AC3E}">
        <p14:creationId xmlns:p14="http://schemas.microsoft.com/office/powerpoint/2010/main" val="18350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" grpId="0" animBg="1"/>
      <p:bldP spid="27" grpId="0" animBg="1"/>
      <p:bldP spid="28" grpId="0" animBg="1"/>
      <p:bldP spid="29" grpId="0" animBg="1"/>
      <p:bldP spid="30" grpId="0" autoUpdateAnimBg="0"/>
      <p:bldP spid="31" grpId="0" build="p" autoUpdateAnimBg="0"/>
      <p:bldP spid="32" grpId="0" build="p" autoUpdateAnimBg="0" advAuto="0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build="p" autoUpdateAnimBg="0"/>
      <p:bldP spid="52" grpId="0" build="p" autoUpdateAnimBg="0" advAuto="0"/>
      <p:bldP spid="53" grpId="0" autoUpdateAnimBg="0"/>
      <p:bldP spid="54" grpId="0" autoUpdateAnimBg="0"/>
      <p:bldP spid="57" grpId="0"/>
      <p:bldP spid="62" grpId="0"/>
      <p:bldP spid="63" grpId="0"/>
      <p:bldP spid="64" grpId="0"/>
      <p:bldP spid="6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AE47C-66D8-35CA-8B2D-EE877423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0181A6-F162-F084-8CB2-AE2B3774234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07222" y="2727900"/>
            <a:ext cx="492955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49AA3D-72EC-5786-BFA2-57EEEF4BEC00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3375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1E766-2B8A-21E5-BD9E-E807F7F5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E4ABF44-135F-0D77-BFDE-2CBBA0F2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23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89256415-66AD-42C6-C4AC-14C9B8583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9FABBE9-F80E-6AD5-A8AB-B2C85B32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58" y="4436357"/>
            <a:ext cx="7644484" cy="97347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square" anchor="ctr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应熟练掌握几何元素投影特性，点的投影变换规律，才能应用自如。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370AF98-0212-248A-BEBE-0EE091A4D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932" y="1448171"/>
            <a:ext cx="7571303" cy="268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利用换面法解决工程实际中所遇到的度量、定位问题：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将实际物体抽象为点、线、面 </a:t>
            </a:r>
            <a:endParaRPr lang="en-US" altLang="zh-CN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进行空间分析，明确换面目标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转化为四个基本问题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投影作图</a:t>
            </a:r>
          </a:p>
        </p:txBody>
      </p:sp>
    </p:spTree>
    <p:extLst>
      <p:ext uri="{BB962C8B-B14F-4D97-AF65-F5344CB8AC3E}">
        <p14:creationId xmlns:p14="http://schemas.microsoft.com/office/powerpoint/2010/main" val="333272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75FE-AFBB-725D-686C-826C0042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7972FDE7-2ECE-9125-43DB-6116EDD4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24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A2073D8-2012-B4C9-F9B1-A108E36E0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84852BF-2ABE-F224-6A54-AAEF4AA28BC2}"/>
              </a:ext>
            </a:extLst>
          </p:cNvPr>
          <p:cNvSpPr/>
          <p:nvPr/>
        </p:nvSpPr>
        <p:spPr>
          <a:xfrm>
            <a:off x="154380" y="1196752"/>
            <a:ext cx="7843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新工厂需要通路、通电、通水，要求距离最短。</a:t>
            </a:r>
          </a:p>
        </p:txBody>
      </p:sp>
      <p:pic>
        <p:nvPicPr>
          <p:cNvPr id="3" name="Picture 2" descr="http://img5.imgtn.bdimg.com/it/u=2782578568,2117803841&amp;fm=21&amp;gp=0.jpg">
            <a:extLst>
              <a:ext uri="{FF2B5EF4-FFF2-40B4-BE49-F238E27FC236}">
                <a16:creationId xmlns:a16="http://schemas.microsoft.com/office/drawing/2014/main" id="{CE1A7EDD-A0A9-B93D-8EB4-CCF0593FC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04" y="2192155"/>
            <a:ext cx="2395350" cy="1800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" name="Picture 4" descr="http://img5.imgtn.bdimg.com/it/u=2428420346,3057575287&amp;fm=21&amp;gp=0.jpg">
            <a:extLst>
              <a:ext uri="{FF2B5EF4-FFF2-40B4-BE49-F238E27FC236}">
                <a16:creationId xmlns:a16="http://schemas.microsoft.com/office/drawing/2014/main" id="{1CCB1C60-E39F-2DC1-7D66-A6E408BC5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757" y="2192156"/>
            <a:ext cx="2690600" cy="1800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6" descr="http://img3.imgtn.bdimg.com/it/u=1360134841,4178136828&amp;fm=21&amp;gp=0.jpg">
            <a:extLst>
              <a:ext uri="{FF2B5EF4-FFF2-40B4-BE49-F238E27FC236}">
                <a16:creationId xmlns:a16="http://schemas.microsoft.com/office/drawing/2014/main" id="{82CD4BB5-857A-761E-4198-0D1D71164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20031" y="2192156"/>
            <a:ext cx="2994550" cy="1800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AF1F951A-0179-C259-FA90-351DFE2DB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792045"/>
            <a:ext cx="121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修建公路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90B8AAD-C2B0-B004-828D-CCB501B20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706" y="1792045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铺设水管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5B3BF9D-38A2-1FDE-7728-B1F748309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763" y="1792045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架设线缆</a:t>
            </a:r>
          </a:p>
        </p:txBody>
      </p:sp>
    </p:spTree>
    <p:extLst>
      <p:ext uri="{BB962C8B-B14F-4D97-AF65-F5344CB8AC3E}">
        <p14:creationId xmlns:p14="http://schemas.microsoft.com/office/powerpoint/2010/main" val="89453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E61E9-AF26-0703-9DF7-8FCD2F85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592C3764-E68C-35E7-E457-BCA41F82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25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4A033276-6068-12EF-29CF-F8C36E9B7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74" name="Text Box 21">
            <a:extLst>
              <a:ext uri="{FF2B5EF4-FFF2-40B4-BE49-F238E27FC236}">
                <a16:creationId xmlns:a16="http://schemas.microsoft.com/office/drawing/2014/main" id="{330D6945-B9D3-5537-ABC6-9422793CD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391" y="1613154"/>
            <a:ext cx="45368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过点</a:t>
            </a:r>
            <a:r>
              <a:rPr lang="en-US" altLang="zh-CN" dirty="0"/>
              <a:t>K</a:t>
            </a:r>
            <a:r>
              <a:rPr lang="zh-CN" altLang="en-US" dirty="0"/>
              <a:t>作直线与</a:t>
            </a:r>
            <a:r>
              <a:rPr lang="en-US" altLang="zh-CN" dirty="0"/>
              <a:t>AB</a:t>
            </a:r>
            <a:r>
              <a:rPr lang="zh-CN" altLang="en-US" dirty="0"/>
              <a:t>垂直相交并求其实长</a:t>
            </a:r>
          </a:p>
        </p:txBody>
      </p:sp>
      <p:sp>
        <p:nvSpPr>
          <p:cNvPr id="77" name="Text Box 53">
            <a:extLst>
              <a:ext uri="{FF2B5EF4-FFF2-40B4-BE49-F238E27FC236}">
                <a16:creationId xmlns:a16="http://schemas.microsoft.com/office/drawing/2014/main" id="{F6A3D2BA-ACF8-B65C-380F-766D4DE66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391" y="2050074"/>
            <a:ext cx="51125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什么情况下所求线段的投影直接反映实长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grpSp>
        <p:nvGrpSpPr>
          <p:cNvPr id="78" name="Group 110">
            <a:extLst>
              <a:ext uri="{FF2B5EF4-FFF2-40B4-BE49-F238E27FC236}">
                <a16:creationId xmlns:a16="http://schemas.microsoft.com/office/drawing/2014/main" id="{0F4C35E3-A804-95D3-19AD-5491BDEF287A}"/>
              </a:ext>
            </a:extLst>
          </p:cNvPr>
          <p:cNvGrpSpPr>
            <a:grpSpLocks/>
          </p:cNvGrpSpPr>
          <p:nvPr/>
        </p:nvGrpSpPr>
        <p:grpSpPr bwMode="auto">
          <a:xfrm>
            <a:off x="4445000" y="2554779"/>
            <a:ext cx="2950714" cy="2382910"/>
            <a:chOff x="2966" y="1583"/>
            <a:chExt cx="1473" cy="1326"/>
          </a:xfrm>
        </p:grpSpPr>
        <p:sp>
          <p:nvSpPr>
            <p:cNvPr id="79" name="Text Box 55">
              <a:extLst>
                <a:ext uri="{FF2B5EF4-FFF2-40B4-BE49-F238E27FC236}">
                  <a16:creationId xmlns:a16="http://schemas.microsoft.com/office/drawing/2014/main" id="{023412B1-18A5-16C6-E45C-CB66431B8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1583"/>
              <a:ext cx="185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0" name="Group 109">
              <a:extLst>
                <a:ext uri="{FF2B5EF4-FFF2-40B4-BE49-F238E27FC236}">
                  <a16:creationId xmlns:a16="http://schemas.microsoft.com/office/drawing/2014/main" id="{2BD31912-8994-23BB-DB46-527F94717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6" y="1678"/>
              <a:ext cx="1473" cy="1231"/>
              <a:chOff x="2966" y="1678"/>
              <a:chExt cx="1473" cy="1231"/>
            </a:xfrm>
          </p:grpSpPr>
          <p:sp>
            <p:nvSpPr>
              <p:cNvPr id="81" name="Line 57">
                <a:extLst>
                  <a:ext uri="{FF2B5EF4-FFF2-40B4-BE49-F238E27FC236}">
                    <a16:creationId xmlns:a16="http://schemas.microsoft.com/office/drawing/2014/main" id="{5CEB4D24-042C-BC0A-2830-30557D537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9" y="1930"/>
                <a:ext cx="558" cy="73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A384A4AA-ED35-6D84-1825-3A6273EBE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678"/>
                <a:ext cx="0" cy="600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Text Box 59">
                <a:extLst>
                  <a:ext uri="{FF2B5EF4-FFF2-40B4-BE49-F238E27FC236}">
                    <a16:creationId xmlns:a16="http://schemas.microsoft.com/office/drawing/2014/main" id="{32C8EEB3-CE69-44EB-011A-9002E2E05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0" y="2103"/>
                <a:ext cx="178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Text Box 60">
                <a:extLst>
                  <a:ext uri="{FF2B5EF4-FFF2-40B4-BE49-F238E27FC236}">
                    <a16:creationId xmlns:a16="http://schemas.microsoft.com/office/drawing/2014/main" id="{EF3EFC3C-C0E7-E706-F780-49BC8AA95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2" y="1724"/>
                <a:ext cx="19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85" name="Text Box 61">
                <a:extLst>
                  <a:ext uri="{FF2B5EF4-FFF2-40B4-BE49-F238E27FC236}">
                    <a16:creationId xmlns:a16="http://schemas.microsoft.com/office/drawing/2014/main" id="{458574F2-F69A-EF1B-FB5D-1A7FC2276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0" y="1832"/>
                <a:ext cx="178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altLang="zh-CN" sz="3200" b="1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Freeform 62">
                <a:extLst>
                  <a:ext uri="{FF2B5EF4-FFF2-40B4-BE49-F238E27FC236}">
                    <a16:creationId xmlns:a16="http://schemas.microsoft.com/office/drawing/2014/main" id="{7404C8C3-D4BD-AF3C-ECF6-4EE5CB0DD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2433"/>
                <a:ext cx="1473" cy="460"/>
              </a:xfrm>
              <a:custGeom>
                <a:avLst/>
                <a:gdLst>
                  <a:gd name="T0" fmla="*/ 405 w 1473"/>
                  <a:gd name="T1" fmla="*/ 1 h 460"/>
                  <a:gd name="T2" fmla="*/ 0 w 1473"/>
                  <a:gd name="T3" fmla="*/ 460 h 460"/>
                  <a:gd name="T4" fmla="*/ 1139 w 1473"/>
                  <a:gd name="T5" fmla="*/ 460 h 460"/>
                  <a:gd name="T6" fmla="*/ 1473 w 1473"/>
                  <a:gd name="T7" fmla="*/ 0 h 460"/>
                  <a:gd name="T8" fmla="*/ 405 w 1473"/>
                  <a:gd name="T9" fmla="*/ 1 h 4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73"/>
                  <a:gd name="T16" fmla="*/ 0 h 460"/>
                  <a:gd name="T17" fmla="*/ 1473 w 1473"/>
                  <a:gd name="T18" fmla="*/ 460 h 4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73" h="460">
                    <a:moveTo>
                      <a:pt x="405" y="1"/>
                    </a:moveTo>
                    <a:lnTo>
                      <a:pt x="0" y="460"/>
                    </a:lnTo>
                    <a:lnTo>
                      <a:pt x="1139" y="460"/>
                    </a:lnTo>
                    <a:lnTo>
                      <a:pt x="1473" y="0"/>
                    </a:lnTo>
                    <a:lnTo>
                      <a:pt x="405" y="1"/>
                    </a:lnTo>
                    <a:close/>
                  </a:path>
                </a:pathLst>
              </a:custGeom>
              <a:solidFill>
                <a:srgbClr val="FFFF66">
                  <a:alpha val="50195"/>
                </a:srgbClr>
              </a:solidFill>
              <a:ln w="28575">
                <a:solidFill>
                  <a:srgbClr val="FFC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 Box 63">
                <a:extLst>
                  <a:ext uri="{FF2B5EF4-FFF2-40B4-BE49-F238E27FC236}">
                    <a16:creationId xmlns:a16="http://schemas.microsoft.com/office/drawing/2014/main" id="{4ED55B6A-791F-7138-66F0-816A7A4004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8" y="2686"/>
                <a:ext cx="171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Text Box 64">
                <a:extLst>
                  <a:ext uri="{FF2B5EF4-FFF2-40B4-BE49-F238E27FC236}">
                    <a16:creationId xmlns:a16="http://schemas.microsoft.com/office/drawing/2014/main" id="{DFF6925D-0D11-9D81-B9AD-552A4380FC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6" y="2624"/>
                <a:ext cx="44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b</a:t>
                </a:r>
                <a:r>
                  <a:rPr lang="en-US" altLang="zh-CN" sz="2400" dirty="0" err="1">
                    <a:solidFill>
                      <a:srgbClr val="8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l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Line 65">
                <a:extLst>
                  <a:ext uri="{FF2B5EF4-FFF2-40B4-BE49-F238E27FC236}">
                    <a16:creationId xmlns:a16="http://schemas.microsoft.com/office/drawing/2014/main" id="{76C596CF-F8B4-2D6D-A3CB-3B2CAB5D9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2279"/>
                <a:ext cx="0" cy="3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Line 66">
                <a:extLst>
                  <a:ext uri="{FF2B5EF4-FFF2-40B4-BE49-F238E27FC236}">
                    <a16:creationId xmlns:a16="http://schemas.microsoft.com/office/drawing/2014/main" id="{E349B614-8ED7-9EA0-227E-BB535A128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4" y="2546"/>
                <a:ext cx="563" cy="73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 Box 67">
                <a:extLst>
                  <a:ext uri="{FF2B5EF4-FFF2-40B4-BE49-F238E27FC236}">
                    <a16:creationId xmlns:a16="http://schemas.microsoft.com/office/drawing/2014/main" id="{7964460B-C45C-94E3-F3FE-CF1E449539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" y="2389"/>
                <a:ext cx="169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92" name="Line 68">
                <a:extLst>
                  <a:ext uri="{FF2B5EF4-FFF2-40B4-BE49-F238E27FC236}">
                    <a16:creationId xmlns:a16="http://schemas.microsoft.com/office/drawing/2014/main" id="{7401B2E1-7604-1127-23D9-8DFB3F173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2" y="1921"/>
                <a:ext cx="5" cy="6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Oval 69">
                <a:extLst>
                  <a:ext uri="{FF2B5EF4-FFF2-40B4-BE49-F238E27FC236}">
                    <a16:creationId xmlns:a16="http://schemas.microsoft.com/office/drawing/2014/main" id="{A76E4700-1AA1-5C9F-FF8A-2C12D67AA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0" y="2567"/>
                <a:ext cx="97" cy="97"/>
              </a:xfrm>
              <a:prstGeom prst="ellipse">
                <a:avLst/>
              </a:prstGeom>
              <a:gradFill rotWithShape="0">
                <a:gsLst>
                  <a:gs pos="0">
                    <a:srgbClr val="3399FF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4" name="Text Box 70">
            <a:extLst>
              <a:ext uri="{FF2B5EF4-FFF2-40B4-BE49-F238E27FC236}">
                <a16:creationId xmlns:a16="http://schemas.microsoft.com/office/drawing/2014/main" id="{209779D3-CF8F-B503-56E5-0ADA31E52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344" y="2839080"/>
            <a:ext cx="10422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 P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KL // P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7E529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kl = KL</a:t>
            </a:r>
            <a:endParaRPr lang="en-US" altLang="zh-CN" sz="2000" b="1" dirty="0">
              <a:solidFill>
                <a:srgbClr val="7E52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Box 71">
            <a:extLst>
              <a:ext uri="{FF2B5EF4-FFF2-40B4-BE49-F238E27FC236}">
                <a16:creationId xmlns:a16="http://schemas.microsoft.com/office/drawing/2014/main" id="{439E758D-73BC-6731-7342-8E8AD89BD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4662" y="5176820"/>
            <a:ext cx="3886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如何将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变换成投影面垂直线？</a:t>
            </a:r>
          </a:p>
        </p:txBody>
      </p:sp>
      <p:sp>
        <p:nvSpPr>
          <p:cNvPr id="96" name="Rectangle 72">
            <a:extLst>
              <a:ext uri="{FF2B5EF4-FFF2-40B4-BE49-F238E27FC236}">
                <a16:creationId xmlns:a16="http://schemas.microsoft.com/office/drawing/2014/main" id="{F5FD9A67-EE62-8E6A-A400-CC56DE40A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229" y="5576457"/>
            <a:ext cx="27029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① </a:t>
            </a:r>
            <a:r>
              <a:rPr lang="en-US" altLang="zh-CN" sz="2400" b="1" dirty="0">
                <a:solidFill>
                  <a:srgbClr val="000066"/>
                </a:solidFill>
                <a:latin typeface="+mn-ea"/>
                <a:sym typeface="Symbol" pitchFamily="18" charset="2"/>
              </a:rPr>
              <a:t> // </a:t>
            </a:r>
            <a:r>
              <a:rPr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sym typeface="Monotype Sorts" pitchFamily="2" charset="2"/>
              </a:rPr>
              <a:t>② </a:t>
            </a:r>
            <a:r>
              <a:rPr lang="en-US" altLang="zh-CN" sz="2400" b="1" dirty="0">
                <a:solidFill>
                  <a:srgbClr val="000066"/>
                </a:solidFill>
                <a:latin typeface="+mn-ea"/>
                <a:sym typeface="Symbol" pitchFamily="18" charset="2"/>
              </a:rPr>
              <a:t> </a:t>
            </a:r>
          </a:p>
        </p:txBody>
      </p:sp>
      <p:sp>
        <p:nvSpPr>
          <p:cNvPr id="119" name="Text Box 32">
            <a:extLst>
              <a:ext uri="{FF2B5EF4-FFF2-40B4-BE49-F238E27FC236}">
                <a16:creationId xmlns:a16="http://schemas.microsoft.com/office/drawing/2014/main" id="{2E6C2277-87B3-7FE7-CD4F-701F535C2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258" y="1619325"/>
            <a:ext cx="8506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97" name="Text Box 78">
            <a:extLst>
              <a:ext uri="{FF2B5EF4-FFF2-40B4-BE49-F238E27FC236}">
                <a16:creationId xmlns:a16="http://schemas.microsoft.com/office/drawing/2014/main" id="{102951FE-BFAA-4270-E0F9-775F03F9A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371" y="1095221"/>
            <a:ext cx="4363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到直线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</a:p>
        </p:txBody>
      </p:sp>
      <p:grpSp>
        <p:nvGrpSpPr>
          <p:cNvPr id="71" name="Group 2">
            <a:extLst>
              <a:ext uri="{FF2B5EF4-FFF2-40B4-BE49-F238E27FC236}">
                <a16:creationId xmlns:a16="http://schemas.microsoft.com/office/drawing/2014/main" id="{577E30E2-F799-9046-0EC7-5AA999A9476A}"/>
              </a:ext>
            </a:extLst>
          </p:cNvPr>
          <p:cNvGrpSpPr>
            <a:grpSpLocks/>
          </p:cNvGrpSpPr>
          <p:nvPr/>
        </p:nvGrpSpPr>
        <p:grpSpPr bwMode="auto">
          <a:xfrm>
            <a:off x="132920" y="1103804"/>
            <a:ext cx="3092450" cy="2782888"/>
            <a:chOff x="201" y="755"/>
            <a:chExt cx="1948" cy="1753"/>
          </a:xfrm>
        </p:grpSpPr>
        <p:sp>
          <p:nvSpPr>
            <p:cNvPr id="72" name="Line 3">
              <a:extLst>
                <a:ext uri="{FF2B5EF4-FFF2-40B4-BE49-F238E27FC236}">
                  <a16:creationId xmlns:a16="http://schemas.microsoft.com/office/drawing/2014/main" id="{ABD46C52-5F7C-1A51-4D16-72A27BE17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" y="1817"/>
              <a:ext cx="17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Line 4">
              <a:extLst>
                <a:ext uri="{FF2B5EF4-FFF2-40B4-BE49-F238E27FC236}">
                  <a16:creationId xmlns:a16="http://schemas.microsoft.com/office/drawing/2014/main" id="{A638D7FD-BD40-7283-3A3C-10A8995B4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076"/>
              <a:ext cx="0" cy="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Line 5">
              <a:extLst>
                <a:ext uri="{FF2B5EF4-FFF2-40B4-BE49-F238E27FC236}">
                  <a16:creationId xmlns:a16="http://schemas.microsoft.com/office/drawing/2014/main" id="{FCF281CB-29CA-6A96-1F71-ACDE8C67D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927"/>
              <a:ext cx="0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Line 6">
              <a:extLst>
                <a:ext uri="{FF2B5EF4-FFF2-40B4-BE49-F238E27FC236}">
                  <a16:creationId xmlns:a16="http://schemas.microsoft.com/office/drawing/2014/main" id="{DCFA911C-1A60-1F93-37EF-6F24D19CD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" y="1074"/>
              <a:ext cx="934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Oval 7">
              <a:extLst>
                <a:ext uri="{FF2B5EF4-FFF2-40B4-BE49-F238E27FC236}">
                  <a16:creationId xmlns:a16="http://schemas.microsoft.com/office/drawing/2014/main" id="{F4192FF3-55CD-B8A8-7AA0-F5AF37645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981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Oval 8">
              <a:extLst>
                <a:ext uri="{FF2B5EF4-FFF2-40B4-BE49-F238E27FC236}">
                  <a16:creationId xmlns:a16="http://schemas.microsoft.com/office/drawing/2014/main" id="{76469E0F-E1A1-BE73-6F49-A6AA9023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895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Text Box 9">
              <a:extLst>
                <a:ext uri="{FF2B5EF4-FFF2-40B4-BE49-F238E27FC236}">
                  <a16:creationId xmlns:a16="http://schemas.microsoft.com/office/drawing/2014/main" id="{1092D39D-82F7-502E-78DF-532C5AABC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" y="1378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01" name="Text Box 10">
              <a:extLst>
                <a:ext uri="{FF2B5EF4-FFF2-40B4-BE49-F238E27FC236}">
                  <a16:creationId xmlns:a16="http://schemas.microsoft.com/office/drawing/2014/main" id="{13B2ADE8-8D6A-5B34-0B2A-FEDFBA467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800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102" name="Text Box 11">
              <a:extLst>
                <a:ext uri="{FF2B5EF4-FFF2-40B4-BE49-F238E27FC236}">
                  <a16:creationId xmlns:a16="http://schemas.microsoft.com/office/drawing/2014/main" id="{D0998EF4-3541-2923-F290-40A9B66F8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755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k'</a:t>
              </a:r>
            </a:p>
          </p:txBody>
        </p:sp>
        <p:sp>
          <p:nvSpPr>
            <p:cNvPr id="103" name="Text Box 12">
              <a:extLst>
                <a:ext uri="{FF2B5EF4-FFF2-40B4-BE49-F238E27FC236}">
                  <a16:creationId xmlns:a16="http://schemas.microsoft.com/office/drawing/2014/main" id="{DCBB03AE-2EC3-9704-E4EA-855894C53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90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04" name="Text Box 13">
              <a:extLst>
                <a:ext uri="{FF2B5EF4-FFF2-40B4-BE49-F238E27FC236}">
                  <a16:creationId xmlns:a16="http://schemas.microsoft.com/office/drawing/2014/main" id="{E8FAFC8C-E719-0466-2377-D68878BDB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" y="2217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5" name="Text Box 14">
              <a:extLst>
                <a:ext uri="{FF2B5EF4-FFF2-40B4-BE49-F238E27FC236}">
                  <a16:creationId xmlns:a16="http://schemas.microsoft.com/office/drawing/2014/main" id="{1269B5E2-0B2F-46AA-D716-4C9BD8743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7" y="1831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6" name="Text Box 15">
              <a:extLst>
                <a:ext uri="{FF2B5EF4-FFF2-40B4-BE49-F238E27FC236}">
                  <a16:creationId xmlns:a16="http://schemas.microsoft.com/office/drawing/2014/main" id="{7B791818-E6A0-A82C-37D9-743F661F0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" y="166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F5ED7583-A4EC-22B2-B648-F4CD024EE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0" y="2016"/>
              <a:ext cx="937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Line 17">
              <a:extLst>
                <a:ext uri="{FF2B5EF4-FFF2-40B4-BE49-F238E27FC236}">
                  <a16:creationId xmlns:a16="http://schemas.microsoft.com/office/drawing/2014/main" id="{21E96B38-BB5E-982F-686A-538629222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1572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 Box 18">
              <a:extLst>
                <a:ext uri="{FF2B5EF4-FFF2-40B4-BE49-F238E27FC236}">
                  <a16:creationId xmlns:a16="http://schemas.microsoft.com/office/drawing/2014/main" id="{7450B7D7-8148-5AFE-CF81-F802896D9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" y="1562"/>
              <a:ext cx="25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10" name="Text Box 19">
              <a:extLst>
                <a:ext uri="{FF2B5EF4-FFF2-40B4-BE49-F238E27FC236}">
                  <a16:creationId xmlns:a16="http://schemas.microsoft.com/office/drawing/2014/main" id="{5A04DD16-D824-0D1F-5801-BFE2AF12B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1779"/>
              <a:ext cx="26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313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utoUpdateAnimBg="0"/>
      <p:bldP spid="77" grpId="0" autoUpdateAnimBg="0"/>
      <p:bldP spid="94" grpId="0"/>
      <p:bldP spid="95" grpId="0"/>
      <p:bldP spid="96" grpId="0"/>
      <p:bldP spid="1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C688-FBF2-F7CD-27A0-56151B26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533B3479-3ADA-12D7-1E70-83CBBA7F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26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AF366E8-5261-7D7B-9B2B-016CC2F6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Line 39">
            <a:extLst>
              <a:ext uri="{FF2B5EF4-FFF2-40B4-BE49-F238E27FC236}">
                <a16:creationId xmlns:a16="http://schemas.microsoft.com/office/drawing/2014/main" id="{03854E38-DBD4-2210-CD15-AF51AE35D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7220" y="3113578"/>
            <a:ext cx="484187" cy="24765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Line 22">
            <a:extLst>
              <a:ext uri="{FF2B5EF4-FFF2-40B4-BE49-F238E27FC236}">
                <a16:creationId xmlns:a16="http://schemas.microsoft.com/office/drawing/2014/main" id="{505E6BF5-46CF-9180-96AF-EE7409AF2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945" y="3204065"/>
            <a:ext cx="2727325" cy="1085850"/>
          </a:xfrm>
          <a:prstGeom prst="line">
            <a:avLst/>
          </a:prstGeom>
          <a:noFill/>
          <a:ln w="12700">
            <a:solidFill>
              <a:srgbClr val="0033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Line 23">
            <a:extLst>
              <a:ext uri="{FF2B5EF4-FFF2-40B4-BE49-F238E27FC236}">
                <a16:creationId xmlns:a16="http://schemas.microsoft.com/office/drawing/2014/main" id="{1BDAB095-D117-BCB1-1A46-141210E6B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6707" y="3675553"/>
            <a:ext cx="257175" cy="64135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4">
            <a:extLst>
              <a:ext uri="{FF2B5EF4-FFF2-40B4-BE49-F238E27FC236}">
                <a16:creationId xmlns:a16="http://schemas.microsoft.com/office/drawing/2014/main" id="{329BAD9D-C80B-2230-489B-EDFD2342F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1020" y="3094528"/>
            <a:ext cx="571500" cy="1412875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25">
            <a:extLst>
              <a:ext uri="{FF2B5EF4-FFF2-40B4-BE49-F238E27FC236}">
                <a16:creationId xmlns:a16="http://schemas.microsoft.com/office/drawing/2014/main" id="{4D0159A5-1977-9A4C-4292-CD072883A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2295" y="4305790"/>
            <a:ext cx="1798637" cy="207963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3C2FD967-374D-3C05-C4C4-67A8B01C0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757" y="4513753"/>
            <a:ext cx="723900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D88C4A5D-7A37-7AF6-E6D6-72FF265B9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5632" y="3137390"/>
            <a:ext cx="865188" cy="2014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28">
            <a:extLst>
              <a:ext uri="{FF2B5EF4-FFF2-40B4-BE49-F238E27FC236}">
                <a16:creationId xmlns:a16="http://schemas.microsoft.com/office/drawing/2014/main" id="{B625F378-18CE-2ABD-74AA-C05F66D473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8958" y="4083654"/>
            <a:ext cx="235049" cy="179361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FF89555C-6E15-33E5-20C3-CC5C30D1B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0" y="4150215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30">
            <a:extLst>
              <a:ext uri="{FF2B5EF4-FFF2-40B4-BE49-F238E27FC236}">
                <a16:creationId xmlns:a16="http://schemas.microsoft.com/office/drawing/2014/main" id="{BC839E2E-6894-F482-2187-6D0D8127E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477" y="4106708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71EC6216-F9EF-6839-F069-38028DA60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1124" y="5161451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AD75C336-3F78-E366-3C48-D2D202C1E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107" y="5172565"/>
            <a:ext cx="2006600" cy="227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A38BB644-EC0B-51A6-D54E-A94826EAE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2203" y="5846854"/>
            <a:ext cx="4732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318936BB-F75E-19D7-E70A-B17D3931F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4995" y="4594715"/>
            <a:ext cx="368300" cy="804863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35">
            <a:extLst>
              <a:ext uri="{FF2B5EF4-FFF2-40B4-BE49-F238E27FC236}">
                <a16:creationId xmlns:a16="http://schemas.microsoft.com/office/drawing/2014/main" id="{81B509EB-DB82-7A40-DF8A-9BA06B282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5582" y="4424853"/>
            <a:ext cx="93663" cy="681037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36">
            <a:extLst>
              <a:ext uri="{FF2B5EF4-FFF2-40B4-BE49-F238E27FC236}">
                <a16:creationId xmlns:a16="http://schemas.microsoft.com/office/drawing/2014/main" id="{D00C0B92-7ED0-16FD-A5A5-DEB7BA7E7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973" y="4391364"/>
            <a:ext cx="3850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37">
            <a:extLst>
              <a:ext uri="{FF2B5EF4-FFF2-40B4-BE49-F238E27FC236}">
                <a16:creationId xmlns:a16="http://schemas.microsoft.com/office/drawing/2014/main" id="{C2FCBB1E-31D9-A407-A989-CEC4CDDC29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17282" y="3348528"/>
            <a:ext cx="449263" cy="1057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38">
            <a:extLst>
              <a:ext uri="{FF2B5EF4-FFF2-40B4-BE49-F238E27FC236}">
                <a16:creationId xmlns:a16="http://schemas.microsoft.com/office/drawing/2014/main" id="{EC8A971E-DD3E-EB5B-FE9B-1538705B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541" y="2886359"/>
            <a:ext cx="269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21" name="Line 40">
            <a:extLst>
              <a:ext uri="{FF2B5EF4-FFF2-40B4-BE49-F238E27FC236}">
                <a16:creationId xmlns:a16="http://schemas.microsoft.com/office/drawing/2014/main" id="{1DF51BB4-1306-9B3F-019E-72B510D85F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07757" y="1999153"/>
            <a:ext cx="1588" cy="1379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Line 41">
            <a:extLst>
              <a:ext uri="{FF2B5EF4-FFF2-40B4-BE49-F238E27FC236}">
                <a16:creationId xmlns:a16="http://schemas.microsoft.com/office/drawing/2014/main" id="{E8EAF204-1BB4-6ADD-2E78-651559AD6C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8970" y="1443528"/>
            <a:ext cx="461962" cy="554037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42">
            <a:extLst>
              <a:ext uri="{FF2B5EF4-FFF2-40B4-BE49-F238E27FC236}">
                <a16:creationId xmlns:a16="http://schemas.microsoft.com/office/drawing/2014/main" id="{21F9FE38-4960-4292-924D-C8493A3F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517" y="1518438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</a:p>
        </p:txBody>
      </p:sp>
      <p:sp>
        <p:nvSpPr>
          <p:cNvPr id="24" name="Text Box 43" descr="紫色网格">
            <a:extLst>
              <a:ext uri="{FF2B5EF4-FFF2-40B4-BE49-F238E27FC236}">
                <a16:creationId xmlns:a16="http://schemas.microsoft.com/office/drawing/2014/main" id="{BD4CA305-C95C-EBD7-6366-14B2CAAD6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46" y="4692305"/>
            <a:ext cx="115929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 // </a:t>
            </a:r>
            <a:r>
              <a:rPr lang="en-US" altLang="zh-CN" b="0" dirty="0"/>
              <a:t>ab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AE7F48AE-90E5-0E22-387F-D9EEF58E0360}"/>
              </a:ext>
            </a:extLst>
          </p:cNvPr>
          <p:cNvGrpSpPr/>
          <p:nvPr/>
        </p:nvGrpSpPr>
        <p:grpSpPr>
          <a:xfrm>
            <a:off x="286909" y="5635771"/>
            <a:ext cx="1938338" cy="480358"/>
            <a:chOff x="286909" y="5635771"/>
            <a:chExt cx="1938338" cy="480358"/>
          </a:xfrm>
        </p:grpSpPr>
        <p:sp>
          <p:nvSpPr>
            <p:cNvPr id="25" name="AutoShape 44" descr="紫色网格">
              <a:extLst>
                <a:ext uri="{FF2B5EF4-FFF2-40B4-BE49-F238E27FC236}">
                  <a16:creationId xmlns:a16="http://schemas.microsoft.com/office/drawing/2014/main" id="{D163BE79-B264-6E19-1FE0-9566AE8A4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09" y="5635771"/>
              <a:ext cx="1938338" cy="480358"/>
            </a:xfrm>
            <a:prstGeom prst="wedgeEllipseCallout">
              <a:avLst>
                <a:gd name="adj1" fmla="val 45819"/>
                <a:gd name="adj2" fmla="val -90069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endPara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45">
              <a:extLst>
                <a:ext uri="{FF2B5EF4-FFF2-40B4-BE49-F238E27FC236}">
                  <a16:creationId xmlns:a16="http://schemas.microsoft.com/office/drawing/2014/main" id="{967F5525-7979-44BE-337C-0D53DA5C0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681" y="5637170"/>
              <a:ext cx="131478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// X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Oval 46">
            <a:extLst>
              <a:ext uri="{FF2B5EF4-FFF2-40B4-BE49-F238E27FC236}">
                <a16:creationId xmlns:a16="http://schemas.microsoft.com/office/drawing/2014/main" id="{25906254-7D31-51BB-32EF-5330FD6BB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220" y="4348653"/>
            <a:ext cx="155575" cy="1555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Box 47">
            <a:extLst>
              <a:ext uri="{FF2B5EF4-FFF2-40B4-BE49-F238E27FC236}">
                <a16:creationId xmlns:a16="http://schemas.microsoft.com/office/drawing/2014/main" id="{DB65B69E-32A9-092E-8F84-27654CE77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77" y="3798241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9" name="Text Box 48">
            <a:extLst>
              <a:ext uri="{FF2B5EF4-FFF2-40B4-BE49-F238E27FC236}">
                <a16:creationId xmlns:a16="http://schemas.microsoft.com/office/drawing/2014/main" id="{0B20F28C-CDA6-E0DC-349A-ED704BB41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80" y="4159101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Box 49">
            <a:extLst>
              <a:ext uri="{FF2B5EF4-FFF2-40B4-BE49-F238E27FC236}">
                <a16:creationId xmlns:a16="http://schemas.microsoft.com/office/drawing/2014/main" id="{5D3D952A-DBAB-EFBB-25FA-1EBD510C6B64}"/>
              </a:ext>
            </a:extLst>
          </p:cNvPr>
          <p:cNvSpPr txBox="1">
            <a:spLocks noChangeArrowheads="1"/>
          </p:cNvSpPr>
          <p:nvPr/>
        </p:nvSpPr>
        <p:spPr bwMode="auto">
          <a:xfrm rot="500137">
            <a:off x="3101030" y="5462724"/>
            <a:ext cx="5286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B412C2E1-4B7B-4D6E-0088-D83023B64CF4}"/>
              </a:ext>
            </a:extLst>
          </p:cNvPr>
          <p:cNvSpPr txBox="1">
            <a:spLocks noChangeArrowheads="1"/>
          </p:cNvSpPr>
          <p:nvPr/>
        </p:nvSpPr>
        <p:spPr bwMode="auto">
          <a:xfrm rot="443186">
            <a:off x="3520699" y="5535570"/>
            <a:ext cx="5286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9F59F3A0-7FD8-F2FF-AA7A-183817FF3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29" y="4210505"/>
            <a:ext cx="4748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3" name="Oval 74">
            <a:extLst>
              <a:ext uri="{FF2B5EF4-FFF2-40B4-BE49-F238E27FC236}">
                <a16:creationId xmlns:a16="http://schemas.microsoft.com/office/drawing/2014/main" id="{28390FF6-87DB-57D6-B24A-A0107A42D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270" y="5088428"/>
            <a:ext cx="168275" cy="168275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79">
            <a:extLst>
              <a:ext uri="{FF2B5EF4-FFF2-40B4-BE49-F238E27FC236}">
                <a16:creationId xmlns:a16="http://schemas.microsoft.com/office/drawing/2014/main" id="{6A61BDE0-8E06-1B15-5953-28F1B955B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032" y="4520103"/>
            <a:ext cx="155575" cy="144462"/>
          </a:xfrm>
          <a:prstGeom prst="ellipse">
            <a:avLst/>
          </a:prstGeom>
          <a:gradFill rotWithShape="0">
            <a:gsLst>
              <a:gs pos="0">
                <a:srgbClr val="99CC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Box 103" descr="紫色网格">
            <a:extLst>
              <a:ext uri="{FF2B5EF4-FFF2-40B4-BE49-F238E27FC236}">
                <a16:creationId xmlns:a16="http://schemas.microsoft.com/office/drawing/2014/main" id="{4A9A29BB-8454-73B5-B5BD-28F13CD38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015" y="6262215"/>
            <a:ext cx="141577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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104">
            <a:extLst>
              <a:ext uri="{FF2B5EF4-FFF2-40B4-BE49-F238E27FC236}">
                <a16:creationId xmlns:a16="http://schemas.microsoft.com/office/drawing/2014/main" id="{5CD5B0D1-A3E2-AFE1-6BD7-F0AFF1819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617" y="4103971"/>
            <a:ext cx="9316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105">
            <a:extLst>
              <a:ext uri="{FF2B5EF4-FFF2-40B4-BE49-F238E27FC236}">
                <a16:creationId xmlns:a16="http://schemas.microsoft.com/office/drawing/2014/main" id="{45BF12C7-1219-9546-B2EB-D9A95FA73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269" y="4090950"/>
            <a:ext cx="6303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 l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" name="Text Box 106">
            <a:extLst>
              <a:ext uri="{FF2B5EF4-FFF2-40B4-BE49-F238E27FC236}">
                <a16:creationId xmlns:a16="http://schemas.microsoft.com/office/drawing/2014/main" id="{14BAD66F-0036-0E23-AB9D-EA179D6D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901" y="5445913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2">
            <a:extLst>
              <a:ext uri="{FF2B5EF4-FFF2-40B4-BE49-F238E27FC236}">
                <a16:creationId xmlns:a16="http://schemas.microsoft.com/office/drawing/2014/main" id="{C23A1B12-A440-BDB1-82E0-B6F6E5F37BC2}"/>
              </a:ext>
            </a:extLst>
          </p:cNvPr>
          <p:cNvGrpSpPr>
            <a:grpSpLocks/>
          </p:cNvGrpSpPr>
          <p:nvPr/>
        </p:nvGrpSpPr>
        <p:grpSpPr bwMode="auto">
          <a:xfrm>
            <a:off x="132920" y="1103804"/>
            <a:ext cx="3092450" cy="2782888"/>
            <a:chOff x="201" y="755"/>
            <a:chExt cx="1948" cy="1753"/>
          </a:xfrm>
        </p:grpSpPr>
        <p:sp>
          <p:nvSpPr>
            <p:cNvPr id="42" name="Line 3">
              <a:extLst>
                <a:ext uri="{FF2B5EF4-FFF2-40B4-BE49-F238E27FC236}">
                  <a16:creationId xmlns:a16="http://schemas.microsoft.com/office/drawing/2014/main" id="{59F3665D-69D0-E633-D9F9-1530EA859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" y="1817"/>
              <a:ext cx="17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4">
              <a:extLst>
                <a:ext uri="{FF2B5EF4-FFF2-40B4-BE49-F238E27FC236}">
                  <a16:creationId xmlns:a16="http://schemas.microsoft.com/office/drawing/2014/main" id="{7D8C5091-17C5-EB58-F2F6-41A195245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076"/>
              <a:ext cx="0" cy="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Line 5">
              <a:extLst>
                <a:ext uri="{FF2B5EF4-FFF2-40B4-BE49-F238E27FC236}">
                  <a16:creationId xmlns:a16="http://schemas.microsoft.com/office/drawing/2014/main" id="{3ABBDF13-DA66-F6E2-D777-24060B520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927"/>
              <a:ext cx="0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Line 6">
              <a:extLst>
                <a:ext uri="{FF2B5EF4-FFF2-40B4-BE49-F238E27FC236}">
                  <a16:creationId xmlns:a16="http://schemas.microsoft.com/office/drawing/2014/main" id="{A9778AF6-83B2-793E-26C0-50E0C3C54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" y="1074"/>
              <a:ext cx="934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7">
              <a:extLst>
                <a:ext uri="{FF2B5EF4-FFF2-40B4-BE49-F238E27FC236}">
                  <a16:creationId xmlns:a16="http://schemas.microsoft.com/office/drawing/2014/main" id="{D29173A5-4BA9-6D23-DC53-D42DC6C65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981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8">
              <a:extLst>
                <a:ext uri="{FF2B5EF4-FFF2-40B4-BE49-F238E27FC236}">
                  <a16:creationId xmlns:a16="http://schemas.microsoft.com/office/drawing/2014/main" id="{FF23E132-147F-99BD-ACAD-C99D22F43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895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9">
              <a:extLst>
                <a:ext uri="{FF2B5EF4-FFF2-40B4-BE49-F238E27FC236}">
                  <a16:creationId xmlns:a16="http://schemas.microsoft.com/office/drawing/2014/main" id="{E379A7D9-97B8-B2F6-2DCB-6EEE036FB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" y="1378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49" name="Text Box 10">
              <a:extLst>
                <a:ext uri="{FF2B5EF4-FFF2-40B4-BE49-F238E27FC236}">
                  <a16:creationId xmlns:a16="http://schemas.microsoft.com/office/drawing/2014/main" id="{29ABC842-EE86-1C9F-EA30-39F42D279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800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50" name="Text Box 11">
              <a:extLst>
                <a:ext uri="{FF2B5EF4-FFF2-40B4-BE49-F238E27FC236}">
                  <a16:creationId xmlns:a16="http://schemas.microsoft.com/office/drawing/2014/main" id="{8686B1AB-CD2F-4930-E773-662E65F1A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755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k'</a:t>
              </a:r>
            </a:p>
          </p:txBody>
        </p:sp>
        <p:sp>
          <p:nvSpPr>
            <p:cNvPr id="51" name="Text Box 12">
              <a:extLst>
                <a:ext uri="{FF2B5EF4-FFF2-40B4-BE49-F238E27FC236}">
                  <a16:creationId xmlns:a16="http://schemas.microsoft.com/office/drawing/2014/main" id="{F6191ACB-54D0-FE3C-DE68-08EDF3732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90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2" name="Text Box 13">
              <a:extLst>
                <a:ext uri="{FF2B5EF4-FFF2-40B4-BE49-F238E27FC236}">
                  <a16:creationId xmlns:a16="http://schemas.microsoft.com/office/drawing/2014/main" id="{B66E7F85-7DA8-F5EB-F9C9-AA5DEB8E3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" y="2217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3" name="Text Box 14">
              <a:extLst>
                <a:ext uri="{FF2B5EF4-FFF2-40B4-BE49-F238E27FC236}">
                  <a16:creationId xmlns:a16="http://schemas.microsoft.com/office/drawing/2014/main" id="{B9E0627D-CC83-CD4D-0D10-64AFE74F3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7" y="1831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Text Box 15">
              <a:extLst>
                <a:ext uri="{FF2B5EF4-FFF2-40B4-BE49-F238E27FC236}">
                  <a16:creationId xmlns:a16="http://schemas.microsoft.com/office/drawing/2014/main" id="{007DD96F-147E-074D-5897-0F1DC182E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" y="166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5" name="Line 16">
              <a:extLst>
                <a:ext uri="{FF2B5EF4-FFF2-40B4-BE49-F238E27FC236}">
                  <a16:creationId xmlns:a16="http://schemas.microsoft.com/office/drawing/2014/main" id="{A184596C-697A-65F6-6DD1-AAF3049EC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0" y="2016"/>
              <a:ext cx="937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17">
              <a:extLst>
                <a:ext uri="{FF2B5EF4-FFF2-40B4-BE49-F238E27FC236}">
                  <a16:creationId xmlns:a16="http://schemas.microsoft.com/office/drawing/2014/main" id="{DA3D8DFD-1194-1B32-30C0-A20C0EF28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1572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18">
              <a:extLst>
                <a:ext uri="{FF2B5EF4-FFF2-40B4-BE49-F238E27FC236}">
                  <a16:creationId xmlns:a16="http://schemas.microsoft.com/office/drawing/2014/main" id="{072D6632-101D-7A6E-F3C6-7AFB5DB90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" y="1562"/>
              <a:ext cx="25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58" name="Text Box 19">
              <a:extLst>
                <a:ext uri="{FF2B5EF4-FFF2-40B4-BE49-F238E27FC236}">
                  <a16:creationId xmlns:a16="http://schemas.microsoft.com/office/drawing/2014/main" id="{9C9F1677-A440-2A4A-C6E9-CBB3A40B5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1779"/>
              <a:ext cx="26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59" name="Oval 76">
            <a:extLst>
              <a:ext uri="{FF2B5EF4-FFF2-40B4-BE49-F238E27FC236}">
                <a16:creationId xmlns:a16="http://schemas.microsoft.com/office/drawing/2014/main" id="{7361062C-730C-DC54-D488-78AEF565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432" y="3288203"/>
            <a:ext cx="150813" cy="1571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77">
            <a:extLst>
              <a:ext uri="{FF2B5EF4-FFF2-40B4-BE49-F238E27FC236}">
                <a16:creationId xmlns:a16="http://schemas.microsoft.com/office/drawing/2014/main" id="{084952B2-DD9F-3A14-92C8-B89558057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70" y="1921365"/>
            <a:ext cx="146050" cy="1444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1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ine 66">
            <a:extLst>
              <a:ext uri="{FF2B5EF4-FFF2-40B4-BE49-F238E27FC236}">
                <a16:creationId xmlns:a16="http://schemas.microsoft.com/office/drawing/2014/main" id="{27A21CA5-7BD2-96D3-0601-C58338A886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6707" y="2408728"/>
            <a:ext cx="0" cy="3810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Line 66">
            <a:extLst>
              <a:ext uri="{FF2B5EF4-FFF2-40B4-BE49-F238E27FC236}">
                <a16:creationId xmlns:a16="http://schemas.microsoft.com/office/drawing/2014/main" id="{1400CCF2-8D2C-9F2F-9BD0-F2A5C79FD6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17370" y="1629265"/>
            <a:ext cx="0" cy="11604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Line 66">
            <a:extLst>
              <a:ext uri="{FF2B5EF4-FFF2-40B4-BE49-F238E27FC236}">
                <a16:creationId xmlns:a16="http://schemas.microsoft.com/office/drawing/2014/main" id="{FB78D452-4A04-4FAB-42B3-6A1BD265F8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50532" y="3991465"/>
            <a:ext cx="131763" cy="3143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6B407C2B-FE81-D897-9176-70E60DB220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8332" y="1443528"/>
            <a:ext cx="0" cy="13462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Line 66">
            <a:extLst>
              <a:ext uri="{FF2B5EF4-FFF2-40B4-BE49-F238E27FC236}">
                <a16:creationId xmlns:a16="http://schemas.microsoft.com/office/drawing/2014/main" id="{80397BEA-2EA1-F28E-167F-02D1C0D2DE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41195" y="3399328"/>
            <a:ext cx="441325" cy="11049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Line 66">
            <a:extLst>
              <a:ext uri="{FF2B5EF4-FFF2-40B4-BE49-F238E27FC236}">
                <a16:creationId xmlns:a16="http://schemas.microsoft.com/office/drawing/2014/main" id="{FB73D108-CC40-1B86-DB5C-0832E347C6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03622" y="3793026"/>
            <a:ext cx="584147" cy="1359406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CD6BF28B-EB8A-A07F-5BF2-8BE726C94C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33057" y="3697778"/>
            <a:ext cx="131763" cy="3143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Line 66">
            <a:extLst>
              <a:ext uri="{FF2B5EF4-FFF2-40B4-BE49-F238E27FC236}">
                <a16:creationId xmlns:a16="http://schemas.microsoft.com/office/drawing/2014/main" id="{A71568CC-402F-949C-A028-8DF6C641C7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81084" y="4558642"/>
            <a:ext cx="282575" cy="317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ine 66">
            <a:extLst>
              <a:ext uri="{FF2B5EF4-FFF2-40B4-BE49-F238E27FC236}">
                <a16:creationId xmlns:a16="http://schemas.microsoft.com/office/drawing/2014/main" id="{CD9812F0-C4CD-ED7B-F947-BBF6A824A7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64845" y="3180253"/>
            <a:ext cx="247650" cy="62071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E2C251ED-2187-C19F-DD31-1663F18D6F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5257" y="5309090"/>
            <a:ext cx="804863" cy="10001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Box 78">
            <a:extLst>
              <a:ext uri="{FF2B5EF4-FFF2-40B4-BE49-F238E27FC236}">
                <a16:creationId xmlns:a16="http://schemas.microsoft.com/office/drawing/2014/main" id="{94D6EA86-DFC9-38BB-9939-0FCF53D53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371" y="1095221"/>
            <a:ext cx="4363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到直线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</a:p>
        </p:txBody>
      </p:sp>
      <p:sp>
        <p:nvSpPr>
          <p:cNvPr id="73" name="Rectangle 83">
            <a:extLst>
              <a:ext uri="{FF2B5EF4-FFF2-40B4-BE49-F238E27FC236}">
                <a16:creationId xmlns:a16="http://schemas.microsoft.com/office/drawing/2014/main" id="{F9D4F9A7-C5E5-A0B5-0448-9363ADD6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985" y="1726919"/>
            <a:ext cx="210304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如何确定</a:t>
            </a:r>
          </a:p>
          <a:p>
            <a:pPr algn="ctr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新投影轴的方向</a:t>
            </a:r>
          </a:p>
        </p:txBody>
      </p:sp>
      <p:sp>
        <p:nvSpPr>
          <p:cNvPr id="75" name="Text Box 84">
            <a:extLst>
              <a:ext uri="{FF2B5EF4-FFF2-40B4-BE49-F238E27FC236}">
                <a16:creationId xmlns:a16="http://schemas.microsoft.com/office/drawing/2014/main" id="{E8AF5B49-3EC0-2DB9-DF30-15363B64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722" y="2620217"/>
            <a:ext cx="316625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① 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AB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变成投影面平行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线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 Box 85">
            <a:extLst>
              <a:ext uri="{FF2B5EF4-FFF2-40B4-BE49-F238E27FC236}">
                <a16:creationId xmlns:a16="http://schemas.microsoft.com/office/drawing/2014/main" id="{AFED0C92-C729-C3BB-3085-B002C2EE0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722" y="3088498"/>
            <a:ext cx="316625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② 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AB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变成投影面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垂直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线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86">
            <a:extLst>
              <a:ext uri="{FF2B5EF4-FFF2-40B4-BE49-F238E27FC236}">
                <a16:creationId xmlns:a16="http://schemas.microsoft.com/office/drawing/2014/main" id="{8ACECBCC-0000-0110-93F1-6CE8C1203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941" y="3600910"/>
            <a:ext cx="27655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如何返回原投影面体系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8" name="Group 123">
            <a:extLst>
              <a:ext uri="{FF2B5EF4-FFF2-40B4-BE49-F238E27FC236}">
                <a16:creationId xmlns:a16="http://schemas.microsoft.com/office/drawing/2014/main" id="{7DDF2E4B-BC9D-C7FF-1399-5DECE20C093D}"/>
              </a:ext>
            </a:extLst>
          </p:cNvPr>
          <p:cNvGrpSpPr>
            <a:grpSpLocks/>
          </p:cNvGrpSpPr>
          <p:nvPr/>
        </p:nvGrpSpPr>
        <p:grpSpPr bwMode="auto">
          <a:xfrm>
            <a:off x="5491985" y="4069191"/>
            <a:ext cx="2542594" cy="2063298"/>
            <a:chOff x="916548" y="3052763"/>
            <a:chExt cx="1732374" cy="1705639"/>
          </a:xfrm>
        </p:grpSpPr>
        <p:sp>
          <p:nvSpPr>
            <p:cNvPr id="99" name="Freeform 95">
              <a:extLst>
                <a:ext uri="{FF2B5EF4-FFF2-40B4-BE49-F238E27FC236}">
                  <a16:creationId xmlns:a16="http://schemas.microsoft.com/office/drawing/2014/main" id="{1F60D8D4-8D89-318C-0676-CF39A43D8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75" y="4171059"/>
              <a:ext cx="1705947" cy="522560"/>
            </a:xfrm>
            <a:custGeom>
              <a:avLst/>
              <a:gdLst>
                <a:gd name="T0" fmla="*/ 2147483647 w 1473"/>
                <a:gd name="T1" fmla="*/ 1838033003 h 460"/>
                <a:gd name="T2" fmla="*/ 0 w 1473"/>
                <a:gd name="T3" fmla="*/ 2147483647 h 460"/>
                <a:gd name="T4" fmla="*/ 2147483647 w 1473"/>
                <a:gd name="T5" fmla="*/ 2147483647 h 460"/>
                <a:gd name="T6" fmla="*/ 2147483647 w 1473"/>
                <a:gd name="T7" fmla="*/ 0 h 460"/>
                <a:gd name="T8" fmla="*/ 2147483647 w 1473"/>
                <a:gd name="T9" fmla="*/ 1838033003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3"/>
                <a:gd name="T16" fmla="*/ 0 h 460"/>
                <a:gd name="T17" fmla="*/ 1473 w 1473"/>
                <a:gd name="T18" fmla="*/ 460 h 460"/>
                <a:gd name="connsiteX0" fmla="*/ 3117 w 10000"/>
                <a:gd name="connsiteY0" fmla="*/ 363 h 10000"/>
                <a:gd name="connsiteX1" fmla="*/ 0 w 10000"/>
                <a:gd name="connsiteY1" fmla="*/ 10000 h 10000"/>
                <a:gd name="connsiteX2" fmla="*/ 7733 w 10000"/>
                <a:gd name="connsiteY2" fmla="*/ 10000 h 10000"/>
                <a:gd name="connsiteX3" fmla="*/ 10000 w 10000"/>
                <a:gd name="connsiteY3" fmla="*/ 0 h 10000"/>
                <a:gd name="connsiteX4" fmla="*/ 3117 w 10000"/>
                <a:gd name="connsiteY4" fmla="*/ 363 h 10000"/>
                <a:gd name="connsiteX0" fmla="*/ 3117 w 10037"/>
                <a:gd name="connsiteY0" fmla="*/ 0 h 9637"/>
                <a:gd name="connsiteX1" fmla="*/ 0 w 10037"/>
                <a:gd name="connsiteY1" fmla="*/ 9637 h 9637"/>
                <a:gd name="connsiteX2" fmla="*/ 7733 w 10037"/>
                <a:gd name="connsiteY2" fmla="*/ 9637 h 9637"/>
                <a:gd name="connsiteX3" fmla="*/ 10037 w 10037"/>
                <a:gd name="connsiteY3" fmla="*/ 125 h 9637"/>
                <a:gd name="connsiteX4" fmla="*/ 3117 w 10037"/>
                <a:gd name="connsiteY4" fmla="*/ 0 h 9637"/>
                <a:gd name="connsiteX0" fmla="*/ 3106 w 9670"/>
                <a:gd name="connsiteY0" fmla="*/ 72 h 10072"/>
                <a:gd name="connsiteX1" fmla="*/ 0 w 9670"/>
                <a:gd name="connsiteY1" fmla="*/ 10072 h 10072"/>
                <a:gd name="connsiteX2" fmla="*/ 7704 w 9670"/>
                <a:gd name="connsiteY2" fmla="*/ 10072 h 10072"/>
                <a:gd name="connsiteX3" fmla="*/ 9670 w 9670"/>
                <a:gd name="connsiteY3" fmla="*/ 0 h 10072"/>
                <a:gd name="connsiteX4" fmla="*/ 3106 w 9670"/>
                <a:gd name="connsiteY4" fmla="*/ 72 h 10072"/>
                <a:gd name="connsiteX0" fmla="*/ 3212 w 9975"/>
                <a:gd name="connsiteY0" fmla="*/ 0 h 9929"/>
                <a:gd name="connsiteX1" fmla="*/ 0 w 9975"/>
                <a:gd name="connsiteY1" fmla="*/ 9929 h 9929"/>
                <a:gd name="connsiteX2" fmla="*/ 7967 w 9975"/>
                <a:gd name="connsiteY2" fmla="*/ 9929 h 9929"/>
                <a:gd name="connsiteX3" fmla="*/ 9975 w 9975"/>
                <a:gd name="connsiteY3" fmla="*/ 331 h 9929"/>
                <a:gd name="connsiteX4" fmla="*/ 3212 w 9975"/>
                <a:gd name="connsiteY4" fmla="*/ 0 h 9929"/>
                <a:gd name="connsiteX0" fmla="*/ 3220 w 10000"/>
                <a:gd name="connsiteY0" fmla="*/ 72 h 10072"/>
                <a:gd name="connsiteX1" fmla="*/ 0 w 10000"/>
                <a:gd name="connsiteY1" fmla="*/ 10072 h 10072"/>
                <a:gd name="connsiteX2" fmla="*/ 7987 w 10000"/>
                <a:gd name="connsiteY2" fmla="*/ 10072 h 10072"/>
                <a:gd name="connsiteX3" fmla="*/ 10000 w 10000"/>
                <a:gd name="connsiteY3" fmla="*/ 0 h 10072"/>
                <a:gd name="connsiteX4" fmla="*/ 3220 w 10000"/>
                <a:gd name="connsiteY4" fmla="*/ 72 h 1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72">
                  <a:moveTo>
                    <a:pt x="3220" y="72"/>
                  </a:moveTo>
                  <a:lnTo>
                    <a:pt x="0" y="10072"/>
                  </a:lnTo>
                  <a:lnTo>
                    <a:pt x="7987" y="10072"/>
                  </a:lnTo>
                  <a:lnTo>
                    <a:pt x="10000" y="0"/>
                  </a:lnTo>
                  <a:lnTo>
                    <a:pt x="3220" y="72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B7645CDA-154C-B223-981B-FF3A48BE98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43292" y="3052763"/>
              <a:ext cx="557041" cy="1630791"/>
            </a:xfrm>
            <a:custGeom>
              <a:avLst/>
              <a:gdLst>
                <a:gd name="T0" fmla="*/ 0 w 624"/>
                <a:gd name="T1" fmla="*/ 0 h 1968"/>
                <a:gd name="T2" fmla="*/ 0 w 624"/>
                <a:gd name="T3" fmla="*/ 1392 h 1968"/>
                <a:gd name="T4" fmla="*/ 624 w 624"/>
                <a:gd name="T5" fmla="*/ 1968 h 1968"/>
                <a:gd name="T6" fmla="*/ 624 w 624"/>
                <a:gd name="T7" fmla="*/ 624 h 1968"/>
                <a:gd name="T8" fmla="*/ 0 w 624"/>
                <a:gd name="T9" fmla="*/ 0 h 19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4" h="1968">
                  <a:moveTo>
                    <a:pt x="0" y="0"/>
                  </a:moveTo>
                  <a:lnTo>
                    <a:pt x="0" y="1392"/>
                  </a:lnTo>
                  <a:lnTo>
                    <a:pt x="624" y="1968"/>
                  </a:lnTo>
                  <a:lnTo>
                    <a:pt x="624" y="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66">
                <a:alpha val="61000"/>
              </a:srgb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kern="0">
                <a:solidFill>
                  <a:sysClr val="windowText" lastClr="000000"/>
                </a:solidFill>
                <a:latin typeface="Times New Roman" charset="0"/>
              </a:endParaRPr>
            </a:p>
          </p:txBody>
        </p:sp>
        <p:sp>
          <p:nvSpPr>
            <p:cNvPr id="101" name="Text Box 97">
              <a:extLst>
                <a:ext uri="{FF2B5EF4-FFF2-40B4-BE49-F238E27FC236}">
                  <a16:creationId xmlns:a16="http://schemas.microsoft.com/office/drawing/2014/main" id="{128EADA6-295F-B802-8271-C45B5C4AF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5751" y="3537084"/>
              <a:ext cx="291833" cy="330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Line 98">
              <a:extLst>
                <a:ext uri="{FF2B5EF4-FFF2-40B4-BE49-F238E27FC236}">
                  <a16:creationId xmlns:a16="http://schemas.microsoft.com/office/drawing/2014/main" id="{2A2173F0-D0B9-9487-D46C-D5DE6511F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22126" y="4243321"/>
              <a:ext cx="6630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98">
              <a:extLst>
                <a:ext uri="{FF2B5EF4-FFF2-40B4-BE49-F238E27FC236}">
                  <a16:creationId xmlns:a16="http://schemas.microsoft.com/office/drawing/2014/main" id="{944A1F72-640B-7921-0CD7-61C1AA908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9702" y="3845199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01">
              <a:extLst>
                <a:ext uri="{FF2B5EF4-FFF2-40B4-BE49-F238E27FC236}">
                  <a16:creationId xmlns:a16="http://schemas.microsoft.com/office/drawing/2014/main" id="{4C3E7E04-96A7-0DFB-2ED7-F77D548CF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2101" y="4249113"/>
              <a:ext cx="0" cy="322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Text Box 96">
              <a:extLst>
                <a:ext uri="{FF2B5EF4-FFF2-40B4-BE49-F238E27FC236}">
                  <a16:creationId xmlns:a16="http://schemas.microsoft.com/office/drawing/2014/main" id="{E27AD75E-414D-50DA-0511-C49D0ACF1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3985" y="3074044"/>
              <a:ext cx="500458" cy="330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isometricRightUp"/>
              <a:lightRig rig="threePt" dir="t"/>
            </a:scene3d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6" name="Line 91">
              <a:extLst>
                <a:ext uri="{FF2B5EF4-FFF2-40B4-BE49-F238E27FC236}">
                  <a16:creationId xmlns:a16="http://schemas.microsoft.com/office/drawing/2014/main" id="{9C9F668D-9D3E-6BC4-7F8A-2A7C70F68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4614" y="4335765"/>
              <a:ext cx="248273" cy="24695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Text Box 97">
              <a:extLst>
                <a:ext uri="{FF2B5EF4-FFF2-40B4-BE49-F238E27FC236}">
                  <a16:creationId xmlns:a16="http://schemas.microsoft.com/office/drawing/2014/main" id="{8C27BBCD-8C23-173D-E3DB-48974721A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548" y="4099420"/>
              <a:ext cx="271082" cy="381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l</a:t>
              </a: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 Box 97">
              <a:extLst>
                <a:ext uri="{FF2B5EF4-FFF2-40B4-BE49-F238E27FC236}">
                  <a16:creationId xmlns:a16="http://schemas.microsoft.com/office/drawing/2014/main" id="{060FD29A-B2D6-A619-D760-0E2F0A0CE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266" y="3553686"/>
              <a:ext cx="261252" cy="330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endPara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Line 101">
              <a:extLst>
                <a:ext uri="{FF2B5EF4-FFF2-40B4-BE49-F238E27FC236}">
                  <a16:creationId xmlns:a16="http://schemas.microsoft.com/office/drawing/2014/main" id="{CC15CAA6-63C2-698F-C0EE-BB66F1B78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6809" y="3853188"/>
              <a:ext cx="0" cy="487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Line 91">
              <a:extLst>
                <a:ext uri="{FF2B5EF4-FFF2-40B4-BE49-F238E27FC236}">
                  <a16:creationId xmlns:a16="http://schemas.microsoft.com/office/drawing/2014/main" id="{402557F6-7E5D-FA48-C580-128E3C62B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5423" y="3849702"/>
              <a:ext cx="244470" cy="39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91">
              <a:extLst>
                <a:ext uri="{FF2B5EF4-FFF2-40B4-BE49-F238E27FC236}">
                  <a16:creationId xmlns:a16="http://schemas.microsoft.com/office/drawing/2014/main" id="{D393C806-9D26-3CC8-DF9F-BFF1121AF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8363" y="3837879"/>
              <a:ext cx="244470" cy="39600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Text Box 96">
              <a:extLst>
                <a:ext uri="{FF2B5EF4-FFF2-40B4-BE49-F238E27FC236}">
                  <a16:creationId xmlns:a16="http://schemas.microsoft.com/office/drawing/2014/main" id="{66A63B28-C2E2-530C-12EE-0DC5AA973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70076">
              <a:off x="2296306" y="4097149"/>
              <a:ext cx="309308" cy="330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isometricBottomDown"/>
              <a:lightRig rig="threePt" dir="t"/>
            </a:scene3d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3" name="Text Box 97">
              <a:extLst>
                <a:ext uri="{FF2B5EF4-FFF2-40B4-BE49-F238E27FC236}">
                  <a16:creationId xmlns:a16="http://schemas.microsoft.com/office/drawing/2014/main" id="{BA517F8D-E9D3-CE25-071F-268F0328C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993" y="3903187"/>
              <a:ext cx="221933" cy="305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sym typeface="Symbol" pitchFamily="18" charset="2"/>
                </a:rPr>
                <a:t>L</a:t>
              </a:r>
              <a:endParaRPr lang="en-US" altLang="zh-CN" b="1" dirty="0">
                <a:solidFill>
                  <a:srgbClr val="000000"/>
                </a:solidFill>
              </a:endParaRPr>
            </a:p>
          </p:txBody>
        </p:sp>
        <p:sp>
          <p:nvSpPr>
            <p:cNvPr id="114" name="Text Box 97">
              <a:extLst>
                <a:ext uri="{FF2B5EF4-FFF2-40B4-BE49-F238E27FC236}">
                  <a16:creationId xmlns:a16="http://schemas.microsoft.com/office/drawing/2014/main" id="{95154A8E-8FB0-7FB6-DB7F-753E61F82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222" y="4376764"/>
              <a:ext cx="260161" cy="381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2D2DB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l</a:t>
              </a:r>
              <a:r>
                <a:rPr lang="en-US" altLang="zh-CN" dirty="0">
                  <a:solidFill>
                    <a:srgbClr val="2D2DB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dirty="0">
                <a:solidFill>
                  <a:srgbClr val="2D2DB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 Box 97">
              <a:extLst>
                <a:ext uri="{FF2B5EF4-FFF2-40B4-BE49-F238E27FC236}">
                  <a16:creationId xmlns:a16="http://schemas.microsoft.com/office/drawing/2014/main" id="{4D5CB6B2-220B-E964-E260-43854F9B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088" y="3984868"/>
              <a:ext cx="321323" cy="381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2D2DB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en-US" altLang="zh-CN" dirty="0">
                  <a:solidFill>
                    <a:srgbClr val="2D2DB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dirty="0">
                <a:solidFill>
                  <a:srgbClr val="2D2DB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Text Box 32">
            <a:extLst>
              <a:ext uri="{FF2B5EF4-FFF2-40B4-BE49-F238E27FC236}">
                <a16:creationId xmlns:a16="http://schemas.microsoft.com/office/drawing/2014/main" id="{F2B196E1-99A8-160C-A3A6-F324AE498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253" y="1665364"/>
            <a:ext cx="8506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34" name="Oval 75">
            <a:extLst>
              <a:ext uri="{FF2B5EF4-FFF2-40B4-BE49-F238E27FC236}">
                <a16:creationId xmlns:a16="http://schemas.microsoft.com/office/drawing/2014/main" id="{03F99B44-69B9-3BA5-4E84-160E61423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406" y="5333988"/>
            <a:ext cx="169863" cy="157162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5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utoUpdateAnimBg="0"/>
      <p:bldP spid="12" grpId="0" build="p" autoUpdateAnimBg="0"/>
      <p:bldP spid="13" grpId="0" build="p" autoUpdateAnimBg="0"/>
      <p:bldP spid="14" grpId="0" animBg="1"/>
      <p:bldP spid="15" grpId="0" autoUpdateAnimBg="0"/>
      <p:bldP spid="16" grpId="0" animBg="1"/>
      <p:bldP spid="17" grpId="0" animBg="1"/>
      <p:bldP spid="18" grpId="0" build="p" autoUpdateAnimBg="0"/>
      <p:bldP spid="19" grpId="0" animBg="1"/>
      <p:bldP spid="20" grpId="0" build="p" autoUpdateAnimBg="0"/>
      <p:bldP spid="21" grpId="0" animBg="1"/>
      <p:bldP spid="22" grpId="0" animBg="1"/>
      <p:bldP spid="23" grpId="0" build="p" autoUpdateAnimBg="0"/>
      <p:bldP spid="24" grpId="0" animBg="1"/>
      <p:bldP spid="27" grpId="0" animBg="1"/>
      <p:bldP spid="28" grpId="0" build="p" autoUpdateAnimBg="0"/>
      <p:bldP spid="29" grpId="0" build="p" autoUpdateAnimBg="0"/>
      <p:bldP spid="30" grpId="0" build="p" autoUpdateAnimBg="0"/>
      <p:bldP spid="31" grpId="0" build="p" autoUpdateAnimBg="0"/>
      <p:bldP spid="32" grpId="0" build="p" autoUpdateAnimBg="0"/>
      <p:bldP spid="33" grpId="0" animBg="1"/>
      <p:bldP spid="35" grpId="0" animBg="1"/>
      <p:bldP spid="36" grpId="0" animBg="1"/>
      <p:bldP spid="38" grpId="0" autoUpdateAnimBg="0"/>
      <p:bldP spid="39" grpId="0" build="p" autoUpdateAnimBg="0"/>
      <p:bldP spid="40" grpId="0" build="p" autoUpdateAnimBg="0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5" grpId="0"/>
      <p:bldP spid="76" grpId="0" build="p" autoUpdateAnimBg="0"/>
      <p:bldP spid="97" grpId="0"/>
      <p:bldP spid="3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DA630-E4B8-8950-1495-4DAB7B1B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F43892A-237B-4478-48E7-32881EA8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384" y="6433717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27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C848AEF-3C12-E678-E0D7-97BC07D2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86" name="Text Box 78">
            <a:extLst>
              <a:ext uri="{FF2B5EF4-FFF2-40B4-BE49-F238E27FC236}">
                <a16:creationId xmlns:a16="http://schemas.microsoft.com/office/drawing/2014/main" id="{B48F3744-1D77-9AB0-812D-3F9040075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01" y="1183010"/>
            <a:ext cx="4363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到直线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F25C4EF-2A97-58A7-B2F3-5D321E0D098F}"/>
              </a:ext>
            </a:extLst>
          </p:cNvPr>
          <p:cNvGrpSpPr>
            <a:grpSpLocks/>
          </p:cNvGrpSpPr>
          <p:nvPr/>
        </p:nvGrpSpPr>
        <p:grpSpPr bwMode="auto">
          <a:xfrm>
            <a:off x="4755646" y="2456713"/>
            <a:ext cx="2338386" cy="2196937"/>
            <a:chOff x="-3080661" y="2674137"/>
            <a:chExt cx="2338385" cy="2196241"/>
          </a:xfrm>
        </p:grpSpPr>
        <p:grpSp>
          <p:nvGrpSpPr>
            <p:cNvPr id="88" name="Group 110">
              <a:extLst>
                <a:ext uri="{FF2B5EF4-FFF2-40B4-BE49-F238E27FC236}">
                  <a16:creationId xmlns:a16="http://schemas.microsoft.com/office/drawing/2014/main" id="{21863F4D-C618-5546-EB0C-913E23318B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80661" y="2674137"/>
              <a:ext cx="2338385" cy="2116142"/>
              <a:chOff x="2969" y="1540"/>
              <a:chExt cx="1473" cy="1333"/>
            </a:xfrm>
          </p:grpSpPr>
          <p:sp>
            <p:nvSpPr>
              <p:cNvPr id="99" name="Text Box 55">
                <a:extLst>
                  <a:ext uri="{FF2B5EF4-FFF2-40B4-BE49-F238E27FC236}">
                    <a16:creationId xmlns:a16="http://schemas.microsoft.com/office/drawing/2014/main" id="{6CB51F6A-1FBD-2981-C7E4-AF0569C64A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9" y="1540"/>
                <a:ext cx="19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000000"/>
                    </a:solidFill>
                    <a:latin typeface="+mn-ea"/>
                  </a:rPr>
                  <a:t>A</a:t>
                </a:r>
                <a:endParaRPr lang="en-US" altLang="zh-CN" sz="2800" b="1">
                  <a:solidFill>
                    <a:srgbClr val="000000"/>
                  </a:solidFill>
                  <a:latin typeface="+mn-ea"/>
                </a:endParaRPr>
              </a:p>
            </p:txBody>
          </p:sp>
          <p:grpSp>
            <p:nvGrpSpPr>
              <p:cNvPr id="100" name="Group 109">
                <a:extLst>
                  <a:ext uri="{FF2B5EF4-FFF2-40B4-BE49-F238E27FC236}">
                    <a16:creationId xmlns:a16="http://schemas.microsoft.com/office/drawing/2014/main" id="{222E77FF-6C02-BE5A-942B-2ED80143D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9" y="1724"/>
                <a:ext cx="1473" cy="1149"/>
                <a:chOff x="2969" y="1724"/>
                <a:chExt cx="1473" cy="1149"/>
              </a:xfrm>
            </p:grpSpPr>
            <p:sp>
              <p:nvSpPr>
                <p:cNvPr id="101" name="Line 58">
                  <a:extLst>
                    <a:ext uri="{FF2B5EF4-FFF2-40B4-BE49-F238E27FC236}">
                      <a16:creationId xmlns:a16="http://schemas.microsoft.com/office/drawing/2014/main" id="{20943ACB-2BAA-EA92-3F62-29B861C2E8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700000">
                  <a:off x="3492" y="1669"/>
                  <a:ext cx="0" cy="600"/>
                </a:xfrm>
                <a:prstGeom prst="lin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2" name="Text Box 59">
                  <a:extLst>
                    <a:ext uri="{FF2B5EF4-FFF2-40B4-BE49-F238E27FC236}">
                      <a16:creationId xmlns:a16="http://schemas.microsoft.com/office/drawing/2014/main" id="{CC9DBB3A-2F54-CA56-7554-E6C674B674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7" y="2130"/>
                  <a:ext cx="19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000000"/>
                      </a:solidFill>
                      <a:latin typeface="+mn-ea"/>
                    </a:rPr>
                    <a:t>B</a:t>
                  </a:r>
                  <a:endParaRPr lang="en-US" altLang="zh-CN" sz="2800" b="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03" name="Text Box 60">
                  <a:extLst>
                    <a:ext uri="{FF2B5EF4-FFF2-40B4-BE49-F238E27FC236}">
                      <a16:creationId xmlns:a16="http://schemas.microsoft.com/office/drawing/2014/main" id="{03592607-0AD3-F130-3D74-1B3D7B4B47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2" y="1724"/>
                  <a:ext cx="19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solidFill>
                        <a:srgbClr val="A50021"/>
                      </a:solidFill>
                      <a:latin typeface="+mn-ea"/>
                    </a:rPr>
                    <a:t>K</a:t>
                  </a:r>
                </a:p>
              </p:txBody>
            </p:sp>
            <p:sp>
              <p:nvSpPr>
                <p:cNvPr id="104" name="Text Box 61">
                  <a:extLst>
                    <a:ext uri="{FF2B5EF4-FFF2-40B4-BE49-F238E27FC236}">
                      <a16:creationId xmlns:a16="http://schemas.microsoft.com/office/drawing/2014/main" id="{3EA4D20A-2FC0-E804-D326-37706CEF36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50" y="1796"/>
                  <a:ext cx="19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solidFill>
                        <a:srgbClr val="A50021"/>
                      </a:solidFill>
                      <a:latin typeface="+mn-ea"/>
                    </a:rPr>
                    <a:t>L</a:t>
                  </a:r>
                  <a:endParaRPr lang="en-US" altLang="zh-CN" sz="2800" b="1">
                    <a:solidFill>
                      <a:srgbClr val="A50021"/>
                    </a:solidFill>
                    <a:latin typeface="+mn-ea"/>
                  </a:endParaRPr>
                </a:p>
              </p:txBody>
            </p:sp>
            <p:sp>
              <p:nvSpPr>
                <p:cNvPr id="105" name="Freeform 62">
                  <a:extLst>
                    <a:ext uri="{FF2B5EF4-FFF2-40B4-BE49-F238E27FC236}">
                      <a16:creationId xmlns:a16="http://schemas.microsoft.com/office/drawing/2014/main" id="{C0947D3D-6F51-F834-DA60-35E6F8D4C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9" y="2358"/>
                  <a:ext cx="1473" cy="515"/>
                </a:xfrm>
                <a:custGeom>
                  <a:avLst/>
                  <a:gdLst>
                    <a:gd name="T0" fmla="*/ 405 w 1473"/>
                    <a:gd name="T1" fmla="*/ 1 h 460"/>
                    <a:gd name="T2" fmla="*/ 0 w 1473"/>
                    <a:gd name="T3" fmla="*/ 1593 h 460"/>
                    <a:gd name="T4" fmla="*/ 1139 w 1473"/>
                    <a:gd name="T5" fmla="*/ 1593 h 460"/>
                    <a:gd name="T6" fmla="*/ 1473 w 1473"/>
                    <a:gd name="T7" fmla="*/ 0 h 460"/>
                    <a:gd name="T8" fmla="*/ 405 w 1473"/>
                    <a:gd name="T9" fmla="*/ 1 h 46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73"/>
                    <a:gd name="T16" fmla="*/ 0 h 460"/>
                    <a:gd name="T17" fmla="*/ 1473 w 1473"/>
                    <a:gd name="T18" fmla="*/ 460 h 46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73" h="460">
                      <a:moveTo>
                        <a:pt x="405" y="1"/>
                      </a:moveTo>
                      <a:lnTo>
                        <a:pt x="0" y="460"/>
                      </a:lnTo>
                      <a:lnTo>
                        <a:pt x="1139" y="460"/>
                      </a:lnTo>
                      <a:lnTo>
                        <a:pt x="1473" y="0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FFFF66">
                    <a:alpha val="50195"/>
                  </a:srgbClr>
                </a:solidFill>
                <a:ln w="28575">
                  <a:solidFill>
                    <a:srgbClr val="FFC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6" name="Text Box 63">
                  <a:extLst>
                    <a:ext uri="{FF2B5EF4-FFF2-40B4-BE49-F238E27FC236}">
                      <a16:creationId xmlns:a16="http://schemas.microsoft.com/office/drawing/2014/main" id="{7E82C784-C68B-837A-F1AB-B980B6014A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39" y="2616"/>
                  <a:ext cx="19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>
                      <a:solidFill>
                        <a:srgbClr val="000000"/>
                      </a:solidFill>
                      <a:latin typeface="+mn-ea"/>
                    </a:rPr>
                    <a:t>P</a:t>
                  </a:r>
                  <a:endParaRPr lang="en-US" altLang="zh-CN" sz="2800" b="1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07" name="Text Box 64">
                  <a:extLst>
                    <a:ext uri="{FF2B5EF4-FFF2-40B4-BE49-F238E27FC236}">
                      <a16:creationId xmlns:a16="http://schemas.microsoft.com/office/drawing/2014/main" id="{7345B09F-A678-761B-BC8F-3221FE338E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5" y="2377"/>
                  <a:ext cx="230" cy="3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800000"/>
                      </a:solidFill>
                      <a:latin typeface="+mn-ea"/>
                      <a:sym typeface="Symbol" pitchFamily="18" charset="2"/>
                    </a:rPr>
                    <a:t>l</a:t>
                  </a:r>
                  <a:endParaRPr lang="en-US" altLang="zh-CN" sz="2800" b="1" dirty="0">
                    <a:solidFill>
                      <a:srgbClr val="000000"/>
                    </a:solidFill>
                    <a:latin typeface="+mn-ea"/>
                  </a:endParaRPr>
                </a:p>
              </p:txBody>
            </p:sp>
            <p:sp>
              <p:nvSpPr>
                <p:cNvPr id="108" name="Line 66">
                  <a:extLst>
                    <a:ext uri="{FF2B5EF4-FFF2-40B4-BE49-F238E27FC236}">
                      <a16:creationId xmlns:a16="http://schemas.microsoft.com/office/drawing/2014/main" id="{BEE30429-973D-2EC3-B2DF-A02FBC559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64" y="2546"/>
                  <a:ext cx="563" cy="73"/>
                </a:xfrm>
                <a:prstGeom prst="line">
                  <a:avLst/>
                </a:prstGeom>
                <a:noFill/>
                <a:ln w="28575">
                  <a:solidFill>
                    <a:srgbClr val="CC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" name="Text Box 67">
                  <a:extLst>
                    <a:ext uri="{FF2B5EF4-FFF2-40B4-BE49-F238E27FC236}">
                      <a16:creationId xmlns:a16="http://schemas.microsoft.com/office/drawing/2014/main" id="{CF105760-688B-7625-3C5D-511A573D77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6" y="2358"/>
                  <a:ext cx="230" cy="3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A50021"/>
                      </a:solidFill>
                      <a:latin typeface="+mn-ea"/>
                    </a:rPr>
                    <a:t>k</a:t>
                  </a:r>
                </a:p>
              </p:txBody>
            </p:sp>
            <p:sp>
              <p:nvSpPr>
                <p:cNvPr id="110" name="Line 68">
                  <a:extLst>
                    <a:ext uri="{FF2B5EF4-FFF2-40B4-BE49-F238E27FC236}">
                      <a16:creationId xmlns:a16="http://schemas.microsoft.com/office/drawing/2014/main" id="{8AC99A4C-647F-73BA-7146-A29907ED54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2" y="1921"/>
                  <a:ext cx="0" cy="6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" name="Line 57">
                  <a:extLst>
                    <a:ext uri="{FF2B5EF4-FFF2-40B4-BE49-F238E27FC236}">
                      <a16:creationId xmlns:a16="http://schemas.microsoft.com/office/drawing/2014/main" id="{4326B912-C646-DD8C-EBA5-CD95CDEBD9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63" y="1921"/>
                  <a:ext cx="558" cy="73"/>
                </a:xfrm>
                <a:prstGeom prst="line">
                  <a:avLst/>
                </a:prstGeom>
                <a:noFill/>
                <a:ln w="38100">
                  <a:solidFill>
                    <a:srgbClr val="CC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cxnSp>
          <p:nvCxnSpPr>
            <p:cNvPr id="89" name="直接连接符 5">
              <a:extLst>
                <a:ext uri="{FF2B5EF4-FFF2-40B4-BE49-F238E27FC236}">
                  <a16:creationId xmlns:a16="http://schemas.microsoft.com/office/drawing/2014/main" id="{987B5F89-759E-D899-DEBA-EB69B117F6E6}"/>
                </a:ext>
              </a:extLst>
            </p:cNvPr>
            <p:cNvCxnSpPr>
              <a:cxnSpLocks noChangeShapeType="1"/>
              <a:stCxn id="101" idx="0"/>
              <a:endCxn id="110" idx="0"/>
            </p:cNvCxnSpPr>
            <p:nvPr/>
          </p:nvCxnSpPr>
          <p:spPr bwMode="auto">
            <a:xfrm>
              <a:off x="-1913634" y="3018410"/>
              <a:ext cx="504615" cy="260560"/>
            </a:xfrm>
            <a:prstGeom prst="line">
              <a:avLst/>
            </a:prstGeom>
            <a:noFill/>
            <a:ln w="38100" algn="ctr">
              <a:solidFill>
                <a:srgbClr val="333399"/>
              </a:solidFill>
              <a:round/>
              <a:headEnd/>
              <a:tailEnd/>
            </a:ln>
          </p:spPr>
        </p:cxnSp>
        <p:cxnSp>
          <p:nvCxnSpPr>
            <p:cNvPr id="90" name="直接连接符 9">
              <a:extLst>
                <a:ext uri="{FF2B5EF4-FFF2-40B4-BE49-F238E27FC236}">
                  <a16:creationId xmlns:a16="http://schemas.microsoft.com/office/drawing/2014/main" id="{A3652010-D055-A1A2-FBA3-FC262F4A00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-2587154" y="3283733"/>
              <a:ext cx="1178135" cy="412960"/>
            </a:xfrm>
            <a:prstGeom prst="line">
              <a:avLst/>
            </a:prstGeom>
            <a:noFill/>
            <a:ln w="38100" algn="ctr">
              <a:solidFill>
                <a:srgbClr val="333399"/>
              </a:solidFill>
              <a:round/>
              <a:headEnd/>
              <a:tailEnd/>
            </a:ln>
          </p:spPr>
        </p:cxnSp>
        <p:cxnSp>
          <p:nvCxnSpPr>
            <p:cNvPr id="91" name="直接连接符 139">
              <a:extLst>
                <a:ext uri="{FF2B5EF4-FFF2-40B4-BE49-F238E27FC236}">
                  <a16:creationId xmlns:a16="http://schemas.microsoft.com/office/drawing/2014/main" id="{81CED46E-EE14-7D86-EDC2-071595A804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-2582407" y="4283947"/>
              <a:ext cx="1178135" cy="412960"/>
            </a:xfrm>
            <a:prstGeom prst="line">
              <a:avLst/>
            </a:prstGeom>
            <a:noFill/>
            <a:ln w="38100" algn="ctr">
              <a:solidFill>
                <a:srgbClr val="333399"/>
              </a:solidFill>
              <a:round/>
              <a:headEnd/>
              <a:tailEnd/>
            </a:ln>
          </p:spPr>
        </p:cxnSp>
        <p:cxnSp>
          <p:nvCxnSpPr>
            <p:cNvPr id="92" name="直接连接符 141">
              <a:extLst>
                <a:ext uri="{FF2B5EF4-FFF2-40B4-BE49-F238E27FC236}">
                  <a16:creationId xmlns:a16="http://schemas.microsoft.com/office/drawing/2014/main" id="{2F61A413-D45E-A979-AC5C-18439DA705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1923176" y="4013861"/>
              <a:ext cx="504615" cy="260560"/>
            </a:xfrm>
            <a:prstGeom prst="line">
              <a:avLst/>
            </a:prstGeom>
            <a:noFill/>
            <a:ln w="38100" algn="ctr">
              <a:solidFill>
                <a:srgbClr val="333399"/>
              </a:solidFill>
              <a:round/>
              <a:headEnd/>
              <a:tailEnd/>
            </a:ln>
          </p:spPr>
        </p:cxnSp>
        <p:sp>
          <p:nvSpPr>
            <p:cNvPr id="93" name="Line 58">
              <a:extLst>
                <a:ext uri="{FF2B5EF4-FFF2-40B4-BE49-F238E27FC236}">
                  <a16:creationId xmlns:a16="http://schemas.microsoft.com/office/drawing/2014/main" id="{67D5E18D-5C3A-6EDA-E95D-11BCAF58A5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-2259936" y="3879134"/>
              <a:ext cx="0" cy="95250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cxnSp>
          <p:nvCxnSpPr>
            <p:cNvPr id="94" name="直接连接符 12">
              <a:extLst>
                <a:ext uri="{FF2B5EF4-FFF2-40B4-BE49-F238E27FC236}">
                  <a16:creationId xmlns:a16="http://schemas.microsoft.com/office/drawing/2014/main" id="{4F5256B8-B3E3-CA11-CBD1-1B7E257A64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1923176" y="3018410"/>
              <a:ext cx="0" cy="99545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5" name="直接连接符 14">
              <a:extLst>
                <a:ext uri="{FF2B5EF4-FFF2-40B4-BE49-F238E27FC236}">
                  <a16:creationId xmlns:a16="http://schemas.microsoft.com/office/drawing/2014/main" id="{0B952D42-1753-76EB-C858-DED326918B0F}"/>
                </a:ext>
              </a:extLst>
            </p:cNvPr>
            <p:cNvCxnSpPr>
              <a:cxnSpLocks noChangeShapeType="1"/>
              <a:stCxn id="111" idx="0"/>
            </p:cNvCxnSpPr>
            <p:nvPr/>
          </p:nvCxnSpPr>
          <p:spPr bwMode="auto">
            <a:xfrm>
              <a:off x="-2296432" y="3394858"/>
              <a:ext cx="0" cy="98188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6" name="直接连接符 19">
              <a:extLst>
                <a:ext uri="{FF2B5EF4-FFF2-40B4-BE49-F238E27FC236}">
                  <a16:creationId xmlns:a16="http://schemas.microsoft.com/office/drawing/2014/main" id="{74CD5A3C-4AC9-0EEA-E611-7DFEF24C27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587169" y="3700464"/>
              <a:ext cx="0" cy="99168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97" name="Text Box 64">
              <a:extLst>
                <a:ext uri="{FF2B5EF4-FFF2-40B4-BE49-F238E27FC236}">
                  <a16:creationId xmlns:a16="http://schemas.microsoft.com/office/drawing/2014/main" id="{EFCDC4E6-A0CD-CA19-3191-415FB0DD5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298932" y="3700315"/>
              <a:ext cx="36420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000000"/>
                  </a:solidFill>
                  <a:latin typeface="+mn-ea"/>
                </a:rPr>
                <a:t>a</a:t>
              </a:r>
            </a:p>
          </p:txBody>
        </p:sp>
        <p:sp>
          <p:nvSpPr>
            <p:cNvPr id="98" name="Text Box 64">
              <a:extLst>
                <a:ext uri="{FF2B5EF4-FFF2-40B4-BE49-F238E27FC236}">
                  <a16:creationId xmlns:a16="http://schemas.microsoft.com/office/drawing/2014/main" id="{8BC65B51-7FDF-76CD-81B6-96063A355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02168" y="4347324"/>
              <a:ext cx="365806" cy="523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000000"/>
                  </a:solidFill>
                  <a:latin typeface="+mn-ea"/>
                  <a:sym typeface="Symbol" pitchFamily="18" charset="2"/>
                </a:rPr>
                <a:t>b</a:t>
              </a:r>
              <a:endParaRPr lang="en-US" altLang="zh-CN" sz="2800" b="1" dirty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114" name="Text Box 70">
            <a:extLst>
              <a:ext uri="{FF2B5EF4-FFF2-40B4-BE49-F238E27FC236}">
                <a16:creationId xmlns:a16="http://schemas.microsoft.com/office/drawing/2014/main" id="{8CC9F478-0421-E48D-C030-1AF09868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557" y="2630135"/>
            <a:ext cx="12234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ABK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+mn-ea"/>
                <a:sym typeface="Symbol" pitchFamily="18" charset="2"/>
              </a:rPr>
              <a:t>// P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+mn-ea"/>
                <a:sym typeface="Symbol" pitchFamily="18" charset="2"/>
              </a:rPr>
              <a:t>KL  AB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7E529F"/>
                </a:solidFill>
                <a:latin typeface="+mn-ea"/>
                <a:sym typeface="Symbol" pitchFamily="18" charset="2"/>
              </a:rPr>
              <a:t>kl = KL</a:t>
            </a:r>
            <a:endParaRPr lang="en-US" altLang="zh-CN" sz="2000" b="1" dirty="0">
              <a:solidFill>
                <a:srgbClr val="7E529F"/>
              </a:solidFill>
              <a:latin typeface="+mn-ea"/>
            </a:endParaRPr>
          </a:p>
        </p:txBody>
      </p:sp>
      <p:sp>
        <p:nvSpPr>
          <p:cNvPr id="115" name="Text Box 71">
            <a:extLst>
              <a:ext uri="{FF2B5EF4-FFF2-40B4-BE49-F238E27FC236}">
                <a16:creationId xmlns:a16="http://schemas.microsoft.com/office/drawing/2014/main" id="{DAB5900A-25B0-F025-2C78-10C4C0915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358" y="4880520"/>
            <a:ext cx="238596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000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如何将</a:t>
            </a:r>
            <a:r>
              <a:rPr lang="en-US" altLang="zh-CN" dirty="0"/>
              <a:t>ABK</a:t>
            </a:r>
            <a:r>
              <a:rPr lang="zh-CN" altLang="en-US" dirty="0"/>
              <a:t>变换成投影面平行面？</a:t>
            </a:r>
          </a:p>
        </p:txBody>
      </p:sp>
      <p:sp>
        <p:nvSpPr>
          <p:cNvPr id="116" name="Rectangle 72">
            <a:extLst>
              <a:ext uri="{FF2B5EF4-FFF2-40B4-BE49-F238E27FC236}">
                <a16:creationId xmlns:a16="http://schemas.microsoft.com/office/drawing/2014/main" id="{3377EEDD-DD02-DB89-9706-39EAC551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375" y="5709975"/>
            <a:ext cx="21547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①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+mn-ea"/>
                <a:sym typeface="Symbol" pitchFamily="18" charset="2"/>
              </a:rPr>
              <a:t> 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sym typeface="Monotype Sorts" pitchFamily="2" charset="2"/>
              </a:rPr>
              <a:t>②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+mn-ea"/>
                <a:sym typeface="Symbol" pitchFamily="18" charset="2"/>
              </a:rPr>
              <a:t> //</a:t>
            </a:r>
          </a:p>
        </p:txBody>
      </p:sp>
      <p:sp>
        <p:nvSpPr>
          <p:cNvPr id="125" name="Text Box 53">
            <a:extLst>
              <a:ext uri="{FF2B5EF4-FFF2-40B4-BE49-F238E27FC236}">
                <a16:creationId xmlns:a16="http://schemas.microsoft.com/office/drawing/2014/main" id="{A4D901EF-FD4C-6F96-FE34-345794581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066" y="1758399"/>
            <a:ext cx="280802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什么情况下所求线段的投影直接反映实长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126" name="Text Box 32">
            <a:extLst>
              <a:ext uri="{FF2B5EF4-FFF2-40B4-BE49-F238E27FC236}">
                <a16:creationId xmlns:a16="http://schemas.microsoft.com/office/drawing/2014/main" id="{B3336079-857F-DAC2-052A-6D36519F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802" y="1696844"/>
            <a:ext cx="8506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grpSp>
        <p:nvGrpSpPr>
          <p:cNvPr id="81" name="Group 2">
            <a:extLst>
              <a:ext uri="{FF2B5EF4-FFF2-40B4-BE49-F238E27FC236}">
                <a16:creationId xmlns:a16="http://schemas.microsoft.com/office/drawing/2014/main" id="{9C28CFB2-6C20-612F-4B37-0CD9D7091FAD}"/>
              </a:ext>
            </a:extLst>
          </p:cNvPr>
          <p:cNvGrpSpPr>
            <a:grpSpLocks/>
          </p:cNvGrpSpPr>
          <p:nvPr/>
        </p:nvGrpSpPr>
        <p:grpSpPr bwMode="auto">
          <a:xfrm>
            <a:off x="12874" y="1713880"/>
            <a:ext cx="2946400" cy="2954336"/>
            <a:chOff x="293" y="676"/>
            <a:chExt cx="1856" cy="1861"/>
          </a:xfrm>
        </p:grpSpPr>
        <p:sp>
          <p:nvSpPr>
            <p:cNvPr id="82" name="Oval 7">
              <a:extLst>
                <a:ext uri="{FF2B5EF4-FFF2-40B4-BE49-F238E27FC236}">
                  <a16:creationId xmlns:a16="http://schemas.microsoft.com/office/drawing/2014/main" id="{8555FE14-5465-7F59-DA51-17F84B522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981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Line 3">
              <a:extLst>
                <a:ext uri="{FF2B5EF4-FFF2-40B4-BE49-F238E27FC236}">
                  <a16:creationId xmlns:a16="http://schemas.microsoft.com/office/drawing/2014/main" id="{95BDBD36-E978-C339-E03E-E88E1ED94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" y="1817"/>
              <a:ext cx="16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Line 4">
              <a:extLst>
                <a:ext uri="{FF2B5EF4-FFF2-40B4-BE49-F238E27FC236}">
                  <a16:creationId xmlns:a16="http://schemas.microsoft.com/office/drawing/2014/main" id="{07BF1F5E-36CB-D312-359E-018C4EFE0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076"/>
              <a:ext cx="0" cy="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Line 5">
              <a:extLst>
                <a:ext uri="{FF2B5EF4-FFF2-40B4-BE49-F238E27FC236}">
                  <a16:creationId xmlns:a16="http://schemas.microsoft.com/office/drawing/2014/main" id="{99F303F5-A1CE-26CE-858E-7BCB1616B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927"/>
              <a:ext cx="0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ine 6">
              <a:extLst>
                <a:ext uri="{FF2B5EF4-FFF2-40B4-BE49-F238E27FC236}">
                  <a16:creationId xmlns:a16="http://schemas.microsoft.com/office/drawing/2014/main" id="{75E90EF0-A3EA-BB76-6C7A-E5FCBA981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" y="1074"/>
              <a:ext cx="934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 Box 9">
              <a:extLst>
                <a:ext uri="{FF2B5EF4-FFF2-40B4-BE49-F238E27FC236}">
                  <a16:creationId xmlns:a16="http://schemas.microsoft.com/office/drawing/2014/main" id="{FAE0E3F7-52CB-4908-B1C1-6FE7A11E8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393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117" name="Text Box 10">
              <a:extLst>
                <a:ext uri="{FF2B5EF4-FFF2-40B4-BE49-F238E27FC236}">
                  <a16:creationId xmlns:a16="http://schemas.microsoft.com/office/drawing/2014/main" id="{BA71EE67-B6B5-5E74-4D3A-489F77125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837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118" name="Text Box 11">
              <a:extLst>
                <a:ext uri="{FF2B5EF4-FFF2-40B4-BE49-F238E27FC236}">
                  <a16:creationId xmlns:a16="http://schemas.microsoft.com/office/drawing/2014/main" id="{69EE0973-459D-8C81-915A-468AF65BD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" y="676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k'</a:t>
              </a:r>
            </a:p>
          </p:txBody>
        </p:sp>
        <p:sp>
          <p:nvSpPr>
            <p:cNvPr id="119" name="Text Box 12">
              <a:extLst>
                <a:ext uri="{FF2B5EF4-FFF2-40B4-BE49-F238E27FC236}">
                  <a16:creationId xmlns:a16="http://schemas.microsoft.com/office/drawing/2014/main" id="{7776B817-5F2D-EA85-B795-D96B44DD2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" y="1774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120" name="Text Box 13">
              <a:extLst>
                <a:ext uri="{FF2B5EF4-FFF2-40B4-BE49-F238E27FC236}">
                  <a16:creationId xmlns:a16="http://schemas.microsoft.com/office/drawing/2014/main" id="{0F5323BB-69BD-DDAB-DC67-8C6684F0D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" y="2246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1" name="Text Box 14">
              <a:extLst>
                <a:ext uri="{FF2B5EF4-FFF2-40B4-BE49-F238E27FC236}">
                  <a16:creationId xmlns:a16="http://schemas.microsoft.com/office/drawing/2014/main" id="{583492E0-B553-BBD2-64A9-54B32C539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" y="1771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2" name="Text Box 15">
              <a:extLst>
                <a:ext uri="{FF2B5EF4-FFF2-40B4-BE49-F238E27FC236}">
                  <a16:creationId xmlns:a16="http://schemas.microsoft.com/office/drawing/2014/main" id="{AF917962-C907-C985-485E-6C6BFFE38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1665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3" name="Line 16">
              <a:extLst>
                <a:ext uri="{FF2B5EF4-FFF2-40B4-BE49-F238E27FC236}">
                  <a16:creationId xmlns:a16="http://schemas.microsoft.com/office/drawing/2014/main" id="{3F32DD93-DC7B-4A0B-EAD4-3DEFEDAE7A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0" y="2016"/>
              <a:ext cx="937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ine 17">
              <a:extLst>
                <a:ext uri="{FF2B5EF4-FFF2-40B4-BE49-F238E27FC236}">
                  <a16:creationId xmlns:a16="http://schemas.microsoft.com/office/drawing/2014/main" id="{2C4FE6F3-2353-7FB9-10E8-B7E0E291D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1572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Text Box 18">
              <a:extLst>
                <a:ext uri="{FF2B5EF4-FFF2-40B4-BE49-F238E27FC236}">
                  <a16:creationId xmlns:a16="http://schemas.microsoft.com/office/drawing/2014/main" id="{E9A082DD-6845-AD42-485B-6AF2B8098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" y="1565"/>
              <a:ext cx="25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28" name="Text Box 19">
              <a:extLst>
                <a:ext uri="{FF2B5EF4-FFF2-40B4-BE49-F238E27FC236}">
                  <a16:creationId xmlns:a16="http://schemas.microsoft.com/office/drawing/2014/main" id="{BEBC8101-324B-9DB1-E58E-D3830B5CF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" y="1798"/>
              <a:ext cx="26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29" name="Oval 8">
              <a:extLst>
                <a:ext uri="{FF2B5EF4-FFF2-40B4-BE49-F238E27FC236}">
                  <a16:creationId xmlns:a16="http://schemas.microsoft.com/office/drawing/2014/main" id="{D908D8CB-E7E2-E155-5828-C3BF1F6C0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895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0" name="Text Box 32">
            <a:extLst>
              <a:ext uri="{FF2B5EF4-FFF2-40B4-BE49-F238E27FC236}">
                <a16:creationId xmlns:a16="http://schemas.microsoft.com/office/drawing/2014/main" id="{11B017A6-6D98-40E0-40B9-36DC328C8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1155726"/>
            <a:ext cx="26468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第二种解题思路？</a:t>
            </a:r>
          </a:p>
        </p:txBody>
      </p:sp>
    </p:spTree>
    <p:extLst>
      <p:ext uri="{BB962C8B-B14F-4D97-AF65-F5344CB8AC3E}">
        <p14:creationId xmlns:p14="http://schemas.microsoft.com/office/powerpoint/2010/main" val="221923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  <p:bldP spid="116" grpId="0"/>
      <p:bldP spid="125" grpId="0"/>
      <p:bldP spid="1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74AC-1F66-9DE3-DED7-9677E3BFF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EDE05DE-FEEB-4053-F357-48A2D5C3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420" y="6434284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28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569720D-764B-93BD-6012-33EE9A36C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Line 39">
            <a:extLst>
              <a:ext uri="{FF2B5EF4-FFF2-40B4-BE49-F238E27FC236}">
                <a16:creationId xmlns:a16="http://schemas.microsoft.com/office/drawing/2014/main" id="{107977F4-56CE-12CA-826F-757FB73F4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1124" y="3849068"/>
            <a:ext cx="484188" cy="24765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9">
            <a:extLst>
              <a:ext uri="{FF2B5EF4-FFF2-40B4-BE49-F238E27FC236}">
                <a16:creationId xmlns:a16="http://schemas.microsoft.com/office/drawing/2014/main" id="{3A196669-03A7-1EEC-2C23-1F19EF21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353" y="4570917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8B1CC2F1-57A3-9667-9626-A03B9EA00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5049" y="3009280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54657E27-0A14-A4FD-C0BE-72A5A72BB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8362" y="3814143"/>
            <a:ext cx="3850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38">
            <a:extLst>
              <a:ext uri="{FF2B5EF4-FFF2-40B4-BE49-F238E27FC236}">
                <a16:creationId xmlns:a16="http://schemas.microsoft.com/office/drawing/2014/main" id="{740871C6-F8B8-BAA5-0FE6-2A3444254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62" y="3603005"/>
            <a:ext cx="269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7" name="Line 40">
            <a:extLst>
              <a:ext uri="{FF2B5EF4-FFF2-40B4-BE49-F238E27FC236}">
                <a16:creationId xmlns:a16="http://schemas.microsoft.com/office/drawing/2014/main" id="{51115F7E-AEAF-6018-4417-F74A1BA4EE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41662" y="2734643"/>
            <a:ext cx="1587" cy="1379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41">
            <a:extLst>
              <a:ext uri="{FF2B5EF4-FFF2-40B4-BE49-F238E27FC236}">
                <a16:creationId xmlns:a16="http://schemas.microsoft.com/office/drawing/2014/main" id="{56A0455A-17D9-4E56-7F0F-4DEB989976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82874" y="2179018"/>
            <a:ext cx="461963" cy="554037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42">
            <a:extLst>
              <a:ext uri="{FF2B5EF4-FFF2-40B4-BE49-F238E27FC236}">
                <a16:creationId xmlns:a16="http://schemas.microsoft.com/office/drawing/2014/main" id="{99EB63BA-79FF-722D-122A-48BC13DCC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407" y="2268637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</a:p>
        </p:txBody>
      </p:sp>
      <p:sp>
        <p:nvSpPr>
          <p:cNvPr id="10" name="Text Box 43" descr="紫色网格">
            <a:extLst>
              <a:ext uri="{FF2B5EF4-FFF2-40B4-BE49-F238E27FC236}">
                <a16:creationId xmlns:a16="http://schemas.microsoft.com/office/drawing/2014/main" id="{E48A1371-62C8-8AD8-B580-CAB3BCF7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727" y="4499725"/>
            <a:ext cx="11673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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47">
            <a:extLst>
              <a:ext uri="{FF2B5EF4-FFF2-40B4-BE49-F238E27FC236}">
                <a16:creationId xmlns:a16="http://schemas.microsoft.com/office/drawing/2014/main" id="{7955B5B2-EF6E-2D39-2354-7DA012777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765" y="4255170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3" name="Text Box 48">
            <a:extLst>
              <a:ext uri="{FF2B5EF4-FFF2-40B4-BE49-F238E27FC236}">
                <a16:creationId xmlns:a16="http://schemas.microsoft.com/office/drawing/2014/main" id="{9C008C2B-E12E-E587-3A28-B9E6EF689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015" y="4238161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49">
            <a:extLst>
              <a:ext uri="{FF2B5EF4-FFF2-40B4-BE49-F238E27FC236}">
                <a16:creationId xmlns:a16="http://schemas.microsoft.com/office/drawing/2014/main" id="{894C563C-8B96-3128-1398-CBFA6893A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292" y="3221632"/>
            <a:ext cx="5286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73">
            <a:extLst>
              <a:ext uri="{FF2B5EF4-FFF2-40B4-BE49-F238E27FC236}">
                <a16:creationId xmlns:a16="http://schemas.microsoft.com/office/drawing/2014/main" id="{7538CCCA-446E-D025-7753-F68123331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762" y="3709368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04">
            <a:extLst>
              <a:ext uri="{FF2B5EF4-FFF2-40B4-BE49-F238E27FC236}">
                <a16:creationId xmlns:a16="http://schemas.microsoft.com/office/drawing/2014/main" id="{B87F737F-84F0-6924-5FA8-5B141905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962" y="4045918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37D1D8B5-BC92-115B-F563-8BACEC4F04D7}"/>
              </a:ext>
            </a:extLst>
          </p:cNvPr>
          <p:cNvGrpSpPr>
            <a:grpSpLocks/>
          </p:cNvGrpSpPr>
          <p:nvPr/>
        </p:nvGrpSpPr>
        <p:grpSpPr bwMode="auto">
          <a:xfrm>
            <a:off x="12874" y="1713880"/>
            <a:ext cx="2946400" cy="2954336"/>
            <a:chOff x="293" y="676"/>
            <a:chExt cx="1856" cy="1861"/>
          </a:xfrm>
        </p:grpSpPr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82CC25AF-4C15-3A83-0010-4B54B1E05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1981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3">
              <a:extLst>
                <a:ext uri="{FF2B5EF4-FFF2-40B4-BE49-F238E27FC236}">
                  <a16:creationId xmlns:a16="http://schemas.microsoft.com/office/drawing/2014/main" id="{B6BD401E-B6B5-F2D1-6450-3CA1842D3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" y="1817"/>
              <a:ext cx="16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Line 4">
              <a:extLst>
                <a:ext uri="{FF2B5EF4-FFF2-40B4-BE49-F238E27FC236}">
                  <a16:creationId xmlns:a16="http://schemas.microsoft.com/office/drawing/2014/main" id="{03551108-1444-51CF-74E1-33D59026C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076"/>
              <a:ext cx="0" cy="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EA6DEB22-ACE9-FD2C-9EC8-6E71D53E0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927"/>
              <a:ext cx="0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8BB30A2-3987-994F-9554-51E0A824F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" y="1074"/>
              <a:ext cx="934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7DE10D69-D138-2E0B-1B00-AC547CCBE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393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A0BBD581-3BE0-AA0B-3F6C-79AAE7113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837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FD7F30EE-AC48-6D60-C41B-03061784A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" y="676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k'</a:t>
              </a:r>
            </a:p>
          </p:txBody>
        </p:sp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E4940416-94B9-EDDE-C106-1B4A2FAED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" y="1774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A569B67D-B4B7-9A32-739E-1EA276985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" y="2246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" name="Text Box 14">
              <a:extLst>
                <a:ext uri="{FF2B5EF4-FFF2-40B4-BE49-F238E27FC236}">
                  <a16:creationId xmlns:a16="http://schemas.microsoft.com/office/drawing/2014/main" id="{6ECC8955-7FD0-8D5A-6B52-1F4D0ACAD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" y="1771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" name="Text Box 15">
              <a:extLst>
                <a:ext uri="{FF2B5EF4-FFF2-40B4-BE49-F238E27FC236}">
                  <a16:creationId xmlns:a16="http://schemas.microsoft.com/office/drawing/2014/main" id="{AF46E4EF-7CEB-EE8C-009C-4022E2E9E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1665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7EDF20F8-C698-38DF-0789-1C518C20B3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0" y="2016"/>
              <a:ext cx="937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17">
              <a:extLst>
                <a:ext uri="{FF2B5EF4-FFF2-40B4-BE49-F238E27FC236}">
                  <a16:creationId xmlns:a16="http://schemas.microsoft.com/office/drawing/2014/main" id="{44BC6938-2774-B54E-6B43-300A86680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1572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4DC8CB44-9A65-FC6E-95AC-34D647EE1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" y="1565"/>
              <a:ext cx="25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8C6CB378-BB06-A258-60A1-11F0B1A65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" y="1798"/>
              <a:ext cx="267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34B2BD55-BC1D-E902-5F4E-2D8FDA2F5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895"/>
              <a:ext cx="91" cy="91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Oval 77">
            <a:extLst>
              <a:ext uri="{FF2B5EF4-FFF2-40B4-BE49-F238E27FC236}">
                <a16:creationId xmlns:a16="http://schemas.microsoft.com/office/drawing/2014/main" id="{94B8E22F-D9CA-923E-7B1D-2F7CC6378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874" y="2656855"/>
            <a:ext cx="146050" cy="1444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1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2193AFD-2DAC-B5CF-60D1-2E6567ACE76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60612" y="2121868"/>
            <a:ext cx="290512" cy="1014412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9B9B1E-FC0C-E11B-561F-9A6283A420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7624" y="2348880"/>
            <a:ext cx="126047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DD829A4-2DCC-0E8E-A123-63E15BB4D3D4}"/>
              </a:ext>
            </a:extLst>
          </p:cNvPr>
          <p:cNvCxnSpPr/>
          <p:nvPr/>
        </p:nvCxnSpPr>
        <p:spPr bwMode="auto">
          <a:xfrm flipH="1">
            <a:off x="960612" y="3871293"/>
            <a:ext cx="295275" cy="56038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AC6F469-D446-45B4-A31F-6BB1B4140F9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6037" y="2345705"/>
            <a:ext cx="0" cy="16779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4DBFE29-8FC4-29FC-A816-5795DE2498E3}"/>
              </a:ext>
            </a:extLst>
          </p:cNvPr>
          <p:cNvCxnSpPr>
            <a:cxnSpLocks noChangeAspect="1"/>
          </p:cNvCxnSpPr>
          <p:nvPr/>
        </p:nvCxnSpPr>
        <p:spPr bwMode="auto">
          <a:xfrm flipV="1">
            <a:off x="1262237" y="3464893"/>
            <a:ext cx="2819400" cy="40640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BCB3403-A27F-C509-3C4F-1CA2021C41A2}"/>
              </a:ext>
            </a:extLst>
          </p:cNvPr>
          <p:cNvCxnSpPr>
            <a:cxnSpLocks noChangeAspect="1"/>
          </p:cNvCxnSpPr>
          <p:nvPr/>
        </p:nvCxnSpPr>
        <p:spPr bwMode="auto">
          <a:xfrm flipV="1">
            <a:off x="971724" y="4107830"/>
            <a:ext cx="2208213" cy="3175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3" name="直接连接符 29">
            <a:extLst>
              <a:ext uri="{FF2B5EF4-FFF2-40B4-BE49-F238E27FC236}">
                <a16:creationId xmlns:a16="http://schemas.microsoft.com/office/drawing/2014/main" id="{869A64DE-D54F-A4C9-059D-DF72194D6AC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71999" y="3464893"/>
            <a:ext cx="901700" cy="642937"/>
          </a:xfrm>
          <a:prstGeom prst="line">
            <a:avLst/>
          </a:prstGeom>
          <a:noFill/>
          <a:ln w="38100" algn="ctr">
            <a:solidFill>
              <a:schemeClr val="accent6"/>
            </a:solidFill>
            <a:round/>
            <a:headEnd/>
            <a:tailEnd/>
          </a:ln>
        </p:spPr>
      </p:cxnSp>
      <p:cxnSp>
        <p:nvCxnSpPr>
          <p:cNvPr id="44" name="直接连接符 139">
            <a:extLst>
              <a:ext uri="{FF2B5EF4-FFF2-40B4-BE49-F238E27FC236}">
                <a16:creationId xmlns:a16="http://schemas.microsoft.com/office/drawing/2014/main" id="{D2DA68B3-E9F5-0AA1-2F42-CAA1691FADE8}"/>
              </a:ext>
            </a:extLst>
          </p:cNvPr>
          <p:cNvCxnSpPr>
            <a:cxnSpLocks noChangeAspect="1"/>
          </p:cNvCxnSpPr>
          <p:nvPr/>
        </p:nvCxnSpPr>
        <p:spPr bwMode="auto">
          <a:xfrm flipV="1">
            <a:off x="3248199" y="3461569"/>
            <a:ext cx="1734972" cy="1236811"/>
          </a:xfrm>
          <a:prstGeom prst="line">
            <a:avLst/>
          </a:prstGeom>
          <a:noFill/>
          <a:ln w="12700" algn="ctr">
            <a:solidFill>
              <a:srgbClr val="C00000"/>
            </a:solidFill>
            <a:round/>
            <a:headEnd/>
            <a:tailEnd/>
          </a:ln>
        </p:spPr>
      </p:cxnSp>
      <p:sp>
        <p:nvSpPr>
          <p:cNvPr id="45" name="Text Box 30">
            <a:extLst>
              <a:ext uri="{FF2B5EF4-FFF2-40B4-BE49-F238E27FC236}">
                <a16:creationId xmlns:a16="http://schemas.microsoft.com/office/drawing/2014/main" id="{D4EB66C9-B76A-9DD0-0DF1-8D55EB2B5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3162" y="3618880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067F589-604E-4379-D533-0AC154234249}"/>
              </a:ext>
            </a:extLst>
          </p:cNvPr>
          <p:cNvCxnSpPr>
            <a:cxnSpLocks noChangeAspect="1"/>
          </p:cNvCxnSpPr>
          <p:nvPr/>
        </p:nvCxnSpPr>
        <p:spPr bwMode="auto">
          <a:xfrm flipV="1">
            <a:off x="1181274" y="3631580"/>
            <a:ext cx="2654300" cy="382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CB05751-93E5-A6AB-7C83-773E5D9D2987}"/>
              </a:ext>
            </a:extLst>
          </p:cNvPr>
          <p:cNvCxnSpPr>
            <a:cxnSpLocks noChangeAspect="1"/>
          </p:cNvCxnSpPr>
          <p:nvPr/>
        </p:nvCxnSpPr>
        <p:spPr bwMode="auto">
          <a:xfrm rot="5400000" flipV="1">
            <a:off x="3860974" y="3696668"/>
            <a:ext cx="1603375" cy="11430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1D1C132-FBD4-D42E-FC6A-CAF7BDF0D141}"/>
              </a:ext>
            </a:extLst>
          </p:cNvPr>
          <p:cNvCxnSpPr>
            <a:cxnSpLocks noChangeAspect="1"/>
          </p:cNvCxnSpPr>
          <p:nvPr/>
        </p:nvCxnSpPr>
        <p:spPr bwMode="auto">
          <a:xfrm rot="5400000" flipV="1">
            <a:off x="3752231" y="3724449"/>
            <a:ext cx="681037" cy="4857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0E9A717-E7A3-5B62-4F26-7A7E9B008452}"/>
              </a:ext>
            </a:extLst>
          </p:cNvPr>
          <p:cNvCxnSpPr>
            <a:cxnSpLocks noChangeAspect="1"/>
          </p:cNvCxnSpPr>
          <p:nvPr/>
        </p:nvCxnSpPr>
        <p:spPr bwMode="auto">
          <a:xfrm rot="5400000" flipV="1">
            <a:off x="2900537" y="4371355"/>
            <a:ext cx="1924050" cy="13716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0" name="直接连接符 148">
            <a:extLst>
              <a:ext uri="{FF2B5EF4-FFF2-40B4-BE49-F238E27FC236}">
                <a16:creationId xmlns:a16="http://schemas.microsoft.com/office/drawing/2014/main" id="{7B683126-3208-AAA6-9805-0E46515286CF}"/>
              </a:ext>
            </a:extLst>
          </p:cNvPr>
          <p:cNvCxnSpPr>
            <a:cxnSpLocks noChangeAspect="1"/>
          </p:cNvCxnSpPr>
          <p:nvPr/>
        </p:nvCxnSpPr>
        <p:spPr bwMode="auto">
          <a:xfrm rot="5400000" flipV="1">
            <a:off x="3332337" y="4053855"/>
            <a:ext cx="1301750" cy="9271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A0AE919-8833-D265-6E93-C2A64A20701F}"/>
              </a:ext>
            </a:extLst>
          </p:cNvPr>
          <p:cNvCxnSpPr/>
          <p:nvPr/>
        </p:nvCxnSpPr>
        <p:spPr bwMode="auto">
          <a:xfrm>
            <a:off x="4335637" y="4298330"/>
            <a:ext cx="222250" cy="171608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1487DC5-80F6-309C-8117-2DC7F8F542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57887" y="5076205"/>
            <a:ext cx="681037" cy="938213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53" name="Text Box 104">
            <a:extLst>
              <a:ext uri="{FF2B5EF4-FFF2-40B4-BE49-F238E27FC236}">
                <a16:creationId xmlns:a16="http://schemas.microsoft.com/office/drawing/2014/main" id="{0EBA6D3E-0BAA-12A5-3212-1A73FCD32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6087" y="5806455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106">
            <a:extLst>
              <a:ext uri="{FF2B5EF4-FFF2-40B4-BE49-F238E27FC236}">
                <a16:creationId xmlns:a16="http://schemas.microsoft.com/office/drawing/2014/main" id="{65184989-B31F-FCAA-3567-DDFD84449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862" y="4796805"/>
            <a:ext cx="47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1A615AA-BE61-E3EF-2496-ADA36FD6D857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4787281" y="4727748"/>
            <a:ext cx="101600" cy="792163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56" name="Text Box 105">
            <a:extLst>
              <a:ext uri="{FF2B5EF4-FFF2-40B4-BE49-F238E27FC236}">
                <a16:creationId xmlns:a16="http://schemas.microsoft.com/office/drawing/2014/main" id="{F9EAD791-76BC-CB73-FFA8-33F47ABFD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727" y="4993895"/>
            <a:ext cx="3978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B426DA1-8CFA-2D50-B886-654D9ABCEA8A}"/>
              </a:ext>
            </a:extLst>
          </p:cNvPr>
          <p:cNvCxnSpPr>
            <a:cxnSpLocks noChangeAspect="1"/>
          </p:cNvCxnSpPr>
          <p:nvPr/>
        </p:nvCxnSpPr>
        <p:spPr bwMode="auto">
          <a:xfrm flipV="1">
            <a:off x="1790874" y="3860180"/>
            <a:ext cx="1720850" cy="24765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E23296A-2A79-B92B-758C-E0A965E3202F}"/>
              </a:ext>
            </a:extLst>
          </p:cNvPr>
          <p:cNvCxnSpPr>
            <a:cxnSpLocks noChangeAspect="1"/>
          </p:cNvCxnSpPr>
          <p:nvPr/>
        </p:nvCxnSpPr>
        <p:spPr bwMode="auto">
          <a:xfrm>
            <a:off x="2663999" y="3302968"/>
            <a:ext cx="192088" cy="133546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9" name="Text Box 10">
            <a:extLst>
              <a:ext uri="{FF2B5EF4-FFF2-40B4-BE49-F238E27FC236}">
                <a16:creationId xmlns:a16="http://schemas.microsoft.com/office/drawing/2014/main" id="{46334588-B3FC-A558-E3D6-2971FFA66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98" y="2125612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</a:t>
            </a: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F897DBF7-8B5A-F935-D1D9-6C075CA39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471" y="3722067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1" name="Text Box 33">
            <a:extLst>
              <a:ext uri="{FF2B5EF4-FFF2-40B4-BE49-F238E27FC236}">
                <a16:creationId xmlns:a16="http://schemas.microsoft.com/office/drawing/2014/main" id="{B6F72A4C-5F78-5B1F-A365-5F871783A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3930" y="3142902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Box 50">
            <a:extLst>
              <a:ext uri="{FF2B5EF4-FFF2-40B4-BE49-F238E27FC236}">
                <a16:creationId xmlns:a16="http://schemas.microsoft.com/office/drawing/2014/main" id="{7F7E1783-4353-101B-7733-8CF5936C8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649" y="3525217"/>
            <a:ext cx="528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Box 103" descr="紫色网格">
            <a:extLst>
              <a:ext uri="{FF2B5EF4-FFF2-40B4-BE49-F238E27FC236}">
                <a16:creationId xmlns:a16="http://schemas.microsoft.com/office/drawing/2014/main" id="{5D8F11F6-9A80-2CD2-599A-84BE1A1D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527" y="4947374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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47EE4706-D40E-B4CC-69AC-99013C3F55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48099" y="2356818"/>
            <a:ext cx="3175" cy="1157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Line 66">
            <a:extLst>
              <a:ext uri="{FF2B5EF4-FFF2-40B4-BE49-F238E27FC236}">
                <a16:creationId xmlns:a16="http://schemas.microsoft.com/office/drawing/2014/main" id="{7920CBAD-0EEF-E959-6C53-9F287F2488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7024" y="3641105"/>
            <a:ext cx="1069975" cy="1524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Line 66">
            <a:extLst>
              <a:ext uri="{FF2B5EF4-FFF2-40B4-BE49-F238E27FC236}">
                <a16:creationId xmlns:a16="http://schemas.microsoft.com/office/drawing/2014/main" id="{EADB36F4-C7E5-A915-54B8-92A0BC1B15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5762" y="4093543"/>
            <a:ext cx="396875" cy="762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Line 66">
            <a:extLst>
              <a:ext uri="{FF2B5EF4-FFF2-40B4-BE49-F238E27FC236}">
                <a16:creationId xmlns:a16="http://schemas.microsoft.com/office/drawing/2014/main" id="{789853AF-C0F4-8488-D499-3B15F3AEAD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5373" y="3145805"/>
            <a:ext cx="3175" cy="3984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Line 66">
            <a:extLst>
              <a:ext uri="{FF2B5EF4-FFF2-40B4-BE49-F238E27FC236}">
                <a16:creationId xmlns:a16="http://schemas.microsoft.com/office/drawing/2014/main" id="{C00B2B0A-D18E-E9D1-2109-B5F53D70AF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57474" y="2107580"/>
            <a:ext cx="3175" cy="14176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Line 66">
            <a:extLst>
              <a:ext uri="{FF2B5EF4-FFF2-40B4-BE49-F238E27FC236}">
                <a16:creationId xmlns:a16="http://schemas.microsoft.com/office/drawing/2014/main" id="{1B169F4E-5A9B-5AC6-98BF-A5E0D8A42A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7499" y="3471243"/>
            <a:ext cx="1336675" cy="1968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0072C7FF-7F85-1B2D-BF55-3B8E12A65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6962" y="4169743"/>
            <a:ext cx="1828800" cy="263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Line 66">
            <a:extLst>
              <a:ext uri="{FF2B5EF4-FFF2-40B4-BE49-F238E27FC236}">
                <a16:creationId xmlns:a16="http://schemas.microsoft.com/office/drawing/2014/main" id="{85B9AC27-ED05-8BA6-B925-E898F9C0F2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91088" y="4534867"/>
            <a:ext cx="1068388" cy="150971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Line 66">
            <a:extLst>
              <a:ext uri="{FF2B5EF4-FFF2-40B4-BE49-F238E27FC236}">
                <a16:creationId xmlns:a16="http://schemas.microsoft.com/office/drawing/2014/main" id="{F49C69D9-061C-2E3A-22E4-DCFE3CAA3D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4924" y="3790330"/>
            <a:ext cx="282575" cy="349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Line 66">
            <a:extLst>
              <a:ext uri="{FF2B5EF4-FFF2-40B4-BE49-F238E27FC236}">
                <a16:creationId xmlns:a16="http://schemas.microsoft.com/office/drawing/2014/main" id="{2CCAF855-0C73-DF6C-F297-FDDCFDB38B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4662" y="4047505"/>
            <a:ext cx="201612" cy="2587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Line 66">
            <a:extLst>
              <a:ext uri="{FF2B5EF4-FFF2-40B4-BE49-F238E27FC236}">
                <a16:creationId xmlns:a16="http://schemas.microsoft.com/office/drawing/2014/main" id="{9F1717F8-A590-9F5A-0A16-A33E334385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1124" y="3637930"/>
            <a:ext cx="1476375" cy="2111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Line 66">
            <a:extLst>
              <a:ext uri="{FF2B5EF4-FFF2-40B4-BE49-F238E27FC236}">
                <a16:creationId xmlns:a16="http://schemas.microsoft.com/office/drawing/2014/main" id="{7C80D75D-1C54-D985-7888-5179D482D4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7549" y="3888755"/>
            <a:ext cx="838200" cy="11731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Oval 79">
            <a:extLst>
              <a:ext uri="{FF2B5EF4-FFF2-40B4-BE49-F238E27FC236}">
                <a16:creationId xmlns:a16="http://schemas.microsoft.com/office/drawing/2014/main" id="{52743E22-5B81-3B6F-1611-39F832C35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499" y="5012705"/>
            <a:ext cx="155575" cy="144463"/>
          </a:xfrm>
          <a:prstGeom prst="ellipse">
            <a:avLst/>
          </a:prstGeom>
          <a:gradFill rotWithShape="0">
            <a:gsLst>
              <a:gs pos="0">
                <a:srgbClr val="99CCFF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Oval 74">
            <a:extLst>
              <a:ext uri="{FF2B5EF4-FFF2-40B4-BE49-F238E27FC236}">
                <a16:creationId xmlns:a16="http://schemas.microsoft.com/office/drawing/2014/main" id="{886F1EA4-391C-EAEB-B83C-A098F9584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499" y="3406155"/>
            <a:ext cx="168275" cy="168275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Oval 46">
            <a:extLst>
              <a:ext uri="{FF2B5EF4-FFF2-40B4-BE49-F238E27FC236}">
                <a16:creationId xmlns:a16="http://schemas.microsoft.com/office/drawing/2014/main" id="{A7CF813B-0198-8926-DF5F-516265A0B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874" y="3804618"/>
            <a:ext cx="155575" cy="1555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Oval 76">
            <a:extLst>
              <a:ext uri="{FF2B5EF4-FFF2-40B4-BE49-F238E27FC236}">
                <a16:creationId xmlns:a16="http://schemas.microsoft.com/office/drawing/2014/main" id="{BCE0B4A5-1B78-B44E-9AE0-A4E88471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337" y="4023693"/>
            <a:ext cx="150812" cy="1571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Oval 75">
            <a:extLst>
              <a:ext uri="{FF2B5EF4-FFF2-40B4-BE49-F238E27FC236}">
                <a16:creationId xmlns:a16="http://schemas.microsoft.com/office/drawing/2014/main" id="{4A14C9CC-D94F-98CF-39E4-C0D5491E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324" y="5107955"/>
            <a:ext cx="169863" cy="157163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Box 78">
            <a:extLst>
              <a:ext uri="{FF2B5EF4-FFF2-40B4-BE49-F238E27FC236}">
                <a16:creationId xmlns:a16="http://schemas.microsoft.com/office/drawing/2014/main" id="{959F5BC8-BF3D-EA4F-E5AD-A106631A9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01" y="1183010"/>
            <a:ext cx="4363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到直线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</a:p>
        </p:txBody>
      </p:sp>
      <p:sp>
        <p:nvSpPr>
          <p:cNvPr id="82" name="Text Box 84">
            <a:extLst>
              <a:ext uri="{FF2B5EF4-FFF2-40B4-BE49-F238E27FC236}">
                <a16:creationId xmlns:a16="http://schemas.microsoft.com/office/drawing/2014/main" id="{FCDE28A3-BF24-BDF0-A834-04FEFB416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068" y="2763490"/>
            <a:ext cx="332975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① 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ABK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变成投影面垂直面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Box 85">
            <a:extLst>
              <a:ext uri="{FF2B5EF4-FFF2-40B4-BE49-F238E27FC236}">
                <a16:creationId xmlns:a16="http://schemas.microsoft.com/office/drawing/2014/main" id="{909A55D0-B351-32D4-9523-D500F08C3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068" y="3231771"/>
            <a:ext cx="332975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② 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ABK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变成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投影面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平行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面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 Box 86">
            <a:extLst>
              <a:ext uri="{FF2B5EF4-FFF2-40B4-BE49-F238E27FC236}">
                <a16:creationId xmlns:a16="http://schemas.microsoft.com/office/drawing/2014/main" id="{D9185C93-15B4-6767-E678-753D8B8E2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661" y="4025220"/>
            <a:ext cx="27655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如何返回原投影面体系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B348EED5-1398-5FEB-B195-80541EA2EAE2}"/>
              </a:ext>
            </a:extLst>
          </p:cNvPr>
          <p:cNvGrpSpPr/>
          <p:nvPr/>
        </p:nvGrpSpPr>
        <p:grpSpPr>
          <a:xfrm>
            <a:off x="5557634" y="1808637"/>
            <a:ext cx="3035777" cy="830997"/>
            <a:chOff x="5321599" y="1808637"/>
            <a:chExt cx="3035777" cy="830997"/>
          </a:xfrm>
        </p:grpSpPr>
        <p:sp>
          <p:nvSpPr>
            <p:cNvPr id="81" name="Rectangle 83">
              <a:extLst>
                <a:ext uri="{FF2B5EF4-FFF2-40B4-BE49-F238E27FC236}">
                  <a16:creationId xmlns:a16="http://schemas.microsoft.com/office/drawing/2014/main" id="{534D0FA2-DF23-1D40-9770-337684B34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4331" y="1870192"/>
              <a:ext cx="2103045" cy="70788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如何确定</a:t>
              </a:r>
            </a:p>
            <a:p>
              <a:pPr algn="ctr">
                <a:defRPr/>
              </a:pPr>
              <a:r>
                <a: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新投影轴的方向</a:t>
              </a:r>
            </a:p>
          </p:txBody>
        </p:sp>
        <p:sp>
          <p:nvSpPr>
            <p:cNvPr id="85" name="Text Box 32">
              <a:extLst>
                <a:ext uri="{FF2B5EF4-FFF2-40B4-BE49-F238E27FC236}">
                  <a16:creationId xmlns:a16="http://schemas.microsoft.com/office/drawing/2014/main" id="{569BCCE3-27E7-8FE8-7958-6067F7BE8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1599" y="1808637"/>
              <a:ext cx="8506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投影分析</a:t>
              </a:r>
            </a:p>
          </p:txBody>
        </p:sp>
      </p:grpSp>
      <p:sp>
        <p:nvSpPr>
          <p:cNvPr id="88" name="Text Box 32">
            <a:extLst>
              <a:ext uri="{FF2B5EF4-FFF2-40B4-BE49-F238E27FC236}">
                <a16:creationId xmlns:a16="http://schemas.microsoft.com/office/drawing/2014/main" id="{CD724C05-0CAC-A438-1DB5-D788DF8B5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1155726"/>
            <a:ext cx="26468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第二种解题思路？</a:t>
            </a:r>
          </a:p>
        </p:txBody>
      </p:sp>
    </p:spTree>
    <p:extLst>
      <p:ext uri="{BB962C8B-B14F-4D97-AF65-F5344CB8AC3E}">
        <p14:creationId xmlns:p14="http://schemas.microsoft.com/office/powerpoint/2010/main" val="4505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utoUpdateAnimBg="0"/>
      <p:bldP spid="4" grpId="0" build="p" autoUpdateAnimBg="0"/>
      <p:bldP spid="5" grpId="0" build="p" autoUpdateAnimBg="0"/>
      <p:bldP spid="6" grpId="0" build="p" autoUpdateAnimBg="0"/>
      <p:bldP spid="7" grpId="0" animBg="1"/>
      <p:bldP spid="8" grpId="0" animBg="1"/>
      <p:bldP spid="9" grpId="0" build="p" autoUpdateAnimBg="0"/>
      <p:bldP spid="10" grpId="0"/>
      <p:bldP spid="12" grpId="0" build="p" autoUpdateAnimBg="0"/>
      <p:bldP spid="13" grpId="0" build="p" autoUpdateAnimBg="0"/>
      <p:bldP spid="14" grpId="0" build="p" autoUpdateAnimBg="0"/>
      <p:bldP spid="15" grpId="0" build="p" autoUpdateAnimBg="0"/>
      <p:bldP spid="16" grpId="0" autoUpdateAnimBg="0"/>
      <p:bldP spid="35" grpId="0" animBg="1"/>
      <p:bldP spid="45" grpId="0" build="p" autoUpdateAnimBg="0"/>
      <p:bldP spid="53" grpId="0" autoUpdateAnimBg="0"/>
      <p:bldP spid="54" grpId="0" build="p" autoUpdateAnimBg="0"/>
      <p:bldP spid="56" grpId="0" build="p" autoUpdateAnimBg="0"/>
      <p:bldP spid="59" grpId="0"/>
      <p:bldP spid="60" grpId="0"/>
      <p:bldP spid="61" grpId="0" autoUpdateAnimBg="0"/>
      <p:bldP spid="62" grpId="0" build="p" autoUpdateAnimBg="0"/>
      <p:bldP spid="63" grpId="0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2" grpId="0"/>
      <p:bldP spid="83" grpId="0"/>
      <p:bldP spid="8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6C5E-1F73-AB0A-BC4C-35ADDDED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64EA3642-FE3A-5B77-4715-890E599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29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616D665-8889-D384-21CC-26670898C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AB1E8D7-6665-C029-7DDA-0A26F16129B5}"/>
              </a:ext>
            </a:extLst>
          </p:cNvPr>
          <p:cNvSpPr/>
          <p:nvPr/>
        </p:nvSpPr>
        <p:spPr>
          <a:xfrm>
            <a:off x="154380" y="1196752"/>
            <a:ext cx="8068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已知相邻平面之间的夹角，设计飞机驾驶舱玻璃。</a:t>
            </a:r>
          </a:p>
        </p:txBody>
      </p:sp>
      <p:pic>
        <p:nvPicPr>
          <p:cNvPr id="7" name="Picture 4" descr="http://www.ccaonline.cn/editer/UploadFile/2005102392151289.jpg">
            <a:extLst>
              <a:ext uri="{FF2B5EF4-FFF2-40B4-BE49-F238E27FC236}">
                <a16:creationId xmlns:a16="http://schemas.microsoft.com/office/drawing/2014/main" id="{B2741E8F-BF99-9BFE-6653-E5EC09D22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7764" y="1916832"/>
            <a:ext cx="4248472" cy="353979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6132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D843-D56D-8ED0-E99E-9ECD3388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CA342083-D8A5-913C-74E5-B13B3F2C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7231" y="6434284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30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095E9DD7-CD33-CE82-E2A2-2E278EA07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29EF117-FD65-00B1-3541-43DB7EB9DA21}"/>
              </a:ext>
            </a:extLst>
          </p:cNvPr>
          <p:cNvCxnSpPr>
            <a:stCxn id="42" idx="0"/>
            <a:endCxn id="67" idx="4"/>
          </p:cNvCxnSpPr>
          <p:nvPr/>
        </p:nvCxnSpPr>
        <p:spPr bwMode="auto">
          <a:xfrm rot="16200000" flipH="1" flipV="1">
            <a:off x="2039838" y="5473700"/>
            <a:ext cx="719138" cy="14763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80D9753-5F4D-F387-971A-1A17B60B79F2}"/>
              </a:ext>
            </a:extLst>
          </p:cNvPr>
          <p:cNvGrpSpPr>
            <a:grpSpLocks/>
          </p:cNvGrpSpPr>
          <p:nvPr/>
        </p:nvGrpSpPr>
        <p:grpSpPr bwMode="auto">
          <a:xfrm>
            <a:off x="306288" y="1444626"/>
            <a:ext cx="3570288" cy="3451225"/>
            <a:chOff x="295" y="1041"/>
            <a:chExt cx="2249" cy="2174"/>
          </a:xfrm>
        </p:grpSpPr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BFA7B079-7C19-681F-C77B-CCEE7F862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1893"/>
              <a:ext cx="0" cy="1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4784E97D-C8CF-7AC2-6FAD-A5A87C967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762"/>
              <a:ext cx="0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5EEE2C11-1F3B-A794-801F-EBF7DB7ED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" y="1901"/>
              <a:ext cx="20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C8BB77F9-4308-0D0B-14D0-63D7C1B74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" y="1209"/>
              <a:ext cx="754" cy="6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DF991F28-2D62-2EB6-C159-4287F930F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4" y="1762"/>
              <a:ext cx="657" cy="1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6871875D-DF3A-0DBF-14A7-C915A36F2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7" y="1217"/>
              <a:ext cx="97" cy="5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EC727E53-E35A-253A-3293-AF21BC4A9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" y="1210"/>
              <a:ext cx="0" cy="15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C648524-144F-4450-AADB-9960177A7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3" y="2066"/>
              <a:ext cx="100" cy="6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D53AF994-C8A3-06E2-822D-60922DD2A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41" y="2722"/>
              <a:ext cx="771" cy="3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749F949-67B3-CF9E-9EB0-45833259D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1" y="2584"/>
              <a:ext cx="1028" cy="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FDDCC6B9-2116-245B-927B-AC124DCF8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" y="2576"/>
              <a:ext cx="263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1DBD563E-150B-71E2-0023-43C514703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4" y="2065"/>
              <a:ext cx="389" cy="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7ABAD9A6-573E-05F7-EFA3-8CC2ADF28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658"/>
              <a:ext cx="256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A6B6E42F-5E81-C97F-B75A-BC10DA39B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" y="2521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BCA5F91A-77CB-4B00-A164-06F3EB35B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851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C4E71D44-59C1-D626-8A92-23A9EAA86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7" y="2924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EE1E8B73-9AB4-4223-4BD2-324A39629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8" y="2417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055AA742-0FBB-0953-3E0A-B52E1BF84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1041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a'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E9996B7F-7B3D-3300-051E-9DB1889F1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" y="1513"/>
              <a:ext cx="23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c'</a:t>
              </a: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D143D627-9E72-FAE0-2977-2F899084D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1849"/>
              <a:ext cx="2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b'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391F0C6B-AF75-9D85-9D04-481C80CCA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759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E10A2EF8-478C-2EAB-5985-F4468F31E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" y="1647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C576B131-CD4E-F463-065C-DD61953FC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" y="1867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28" name="Text Box 28">
            <a:extLst>
              <a:ext uri="{FF2B5EF4-FFF2-40B4-BE49-F238E27FC236}">
                <a16:creationId xmlns:a16="http://schemas.microsoft.com/office/drawing/2014/main" id="{DF92AFC7-DC90-606F-7C41-6A8CAF75B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247" y="1074633"/>
            <a:ext cx="64027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ABC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 ABD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夹角为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60°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，求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a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b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UniversalMath1 BT" pitchFamily="18" charset="2"/>
              </a:rPr>
              <a:t>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26978A14-36CB-6D58-3C05-C4D270960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552" y="4333222"/>
            <a:ext cx="2549497" cy="112777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DDCB0B06-7BA8-8C0C-0B0C-C7173037E2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638" y="4133850"/>
            <a:ext cx="663575" cy="1552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CC56AB5F-9CC2-9DF9-50D9-36C30625BF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2875" y="3095625"/>
            <a:ext cx="715963" cy="1687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3597A322-C95A-1F38-1417-188CB907A9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0525" y="4660900"/>
            <a:ext cx="225425" cy="523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2C0DBCDE-DD2B-C332-57FE-A29C55F53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87" y="4619203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82F30FF8-E5AF-1DC7-00BE-B9B36E72A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44" y="5448883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E43A166A-A38B-FB56-8A04-55BE63836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3156" y="5078159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4E5EF339-7A4E-90F6-1A00-1070DB430B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875" y="4767263"/>
            <a:ext cx="130175" cy="94138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478DD8A3-3A05-1CA5-6784-7A5B2A5F9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288" y="5184775"/>
            <a:ext cx="1649412" cy="51276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431A6D08-3FF4-060D-BC5F-78F660656F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3350" y="4781550"/>
            <a:ext cx="1531938" cy="4079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10E7DFFC-C0AB-F31E-761B-F6BC99AB7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" y="3984830"/>
            <a:ext cx="53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8F356B9B-8FB1-5C03-3B02-EF78FB85E3F4}"/>
              </a:ext>
            </a:extLst>
          </p:cNvPr>
          <p:cNvSpPr>
            <a:spLocks noChangeShapeType="1"/>
          </p:cNvSpPr>
          <p:nvPr/>
        </p:nvSpPr>
        <p:spPr bwMode="auto">
          <a:xfrm rot="21535381">
            <a:off x="3625750" y="3557588"/>
            <a:ext cx="819150" cy="24288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0E705FFE-E52B-4F96-5E30-7E5CF6C14E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3225" y="4498975"/>
            <a:ext cx="2046288" cy="6889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A4379EC7-AC63-7E8C-B654-3464843C30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0825" y="3913188"/>
            <a:ext cx="787400" cy="193198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8C88A5D1-354E-B7CC-F2C7-1D5A2929A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575" y="4464050"/>
            <a:ext cx="947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 </a:t>
            </a: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E2CB3DE8-19F5-89BE-79AD-105AB01C59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9813" y="2192338"/>
            <a:ext cx="0" cy="170973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4C0644EF-2733-786A-95DF-38A7F878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25" y="3953173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2C75AB1F-CEF1-0D38-CC6F-436EFB946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54" y="4322109"/>
            <a:ext cx="4876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Box 47">
            <a:extLst>
              <a:ext uri="{FF2B5EF4-FFF2-40B4-BE49-F238E27FC236}">
                <a16:creationId xmlns:a16="http://schemas.microsoft.com/office/drawing/2014/main" id="{21A4A28C-3E51-7C68-1A46-6B376247D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3373" y="5785820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E196E4-1B9A-09F0-4842-2C85754D7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752" y="1813372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</a:t>
            </a:r>
          </a:p>
        </p:txBody>
      </p:sp>
      <p:sp>
        <p:nvSpPr>
          <p:cNvPr id="50" name="Line 49">
            <a:extLst>
              <a:ext uri="{FF2B5EF4-FFF2-40B4-BE49-F238E27FC236}">
                <a16:creationId xmlns:a16="http://schemas.microsoft.com/office/drawing/2014/main" id="{D13E2215-3881-8C27-20A5-E2A8FA6423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84363" y="2206625"/>
            <a:ext cx="417512" cy="600075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4B1DD717-B863-940D-99A0-B9DBD6BA853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06438" y="1706563"/>
            <a:ext cx="1595437" cy="496887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5D14E31E-E254-42A2-E9E0-0671D4ED0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140" y="5875142"/>
            <a:ext cx="53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3" name="Text Box 52">
            <a:extLst>
              <a:ext uri="{FF2B5EF4-FFF2-40B4-BE49-F238E27FC236}">
                <a16:creationId xmlns:a16="http://schemas.microsoft.com/office/drawing/2014/main" id="{00C65388-952B-18E0-203A-EF0F208A9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600" y="5565775"/>
            <a:ext cx="5004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4F0047E4-F457-BD64-EB8E-6C6367925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750" y="5535613"/>
            <a:ext cx="5004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D3C3EF7C-F1E6-6817-C558-93B14CDA9450}"/>
              </a:ext>
            </a:extLst>
          </p:cNvPr>
          <p:cNvSpPr>
            <a:spLocks/>
          </p:cNvSpPr>
          <p:nvPr/>
        </p:nvSpPr>
        <p:spPr bwMode="auto">
          <a:xfrm rot="440063">
            <a:off x="4651787" y="4255345"/>
            <a:ext cx="174012" cy="503105"/>
          </a:xfrm>
          <a:custGeom>
            <a:avLst/>
            <a:gdLst>
              <a:gd name="T0" fmla="*/ 0 w 19967"/>
              <a:gd name="T1" fmla="*/ 0 h 21600"/>
              <a:gd name="T2" fmla="*/ 2147483647 w 19967"/>
              <a:gd name="T3" fmla="*/ 2147483647 h 21600"/>
              <a:gd name="T4" fmla="*/ 0 w 19967"/>
              <a:gd name="T5" fmla="*/ 2147483647 h 21600"/>
              <a:gd name="T6" fmla="*/ 0 60000 65536"/>
              <a:gd name="T7" fmla="*/ 0 60000 65536"/>
              <a:gd name="T8" fmla="*/ 0 60000 65536"/>
              <a:gd name="T9" fmla="*/ 0 w 19967"/>
              <a:gd name="T10" fmla="*/ 0 h 21600"/>
              <a:gd name="T11" fmla="*/ 19967 w 199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67" h="21600" fill="none" extrusionOk="0">
                <a:moveTo>
                  <a:pt x="-1" y="0"/>
                </a:moveTo>
                <a:cubicBezTo>
                  <a:pt x="8746" y="0"/>
                  <a:pt x="16629" y="5274"/>
                  <a:pt x="19966" y="13360"/>
                </a:cubicBezTo>
              </a:path>
              <a:path w="19967" h="21600" stroke="0" extrusionOk="0">
                <a:moveTo>
                  <a:pt x="-1" y="0"/>
                </a:moveTo>
                <a:cubicBezTo>
                  <a:pt x="8746" y="0"/>
                  <a:pt x="16629" y="5274"/>
                  <a:pt x="19966" y="1336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ine 55">
            <a:extLst>
              <a:ext uri="{FF2B5EF4-FFF2-40B4-BE49-F238E27FC236}">
                <a16:creationId xmlns:a16="http://schemas.microsoft.com/office/drawing/2014/main" id="{55F52ACC-BE60-971C-3828-86960A649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713" y="4756150"/>
            <a:ext cx="106362" cy="16827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Line 56">
            <a:extLst>
              <a:ext uri="{FF2B5EF4-FFF2-40B4-BE49-F238E27FC236}">
                <a16:creationId xmlns:a16="http://schemas.microsoft.com/office/drawing/2014/main" id="{22F826EE-60AE-F27B-E1E2-BFCA50FA3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9325" y="2543175"/>
            <a:ext cx="152400" cy="3016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30BF44FD-4B7C-3B12-A52B-09B1872044F6}"/>
              </a:ext>
            </a:extLst>
          </p:cNvPr>
          <p:cNvSpPr>
            <a:spLocks noChangeShapeType="1"/>
          </p:cNvSpPr>
          <p:nvPr/>
        </p:nvSpPr>
        <p:spPr bwMode="auto">
          <a:xfrm rot="1961740">
            <a:off x="2347813" y="5568950"/>
            <a:ext cx="152400" cy="30163"/>
          </a:xfrm>
          <a:prstGeom prst="line">
            <a:avLst/>
          </a:prstGeom>
          <a:noFill/>
          <a:ln w="571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1203976-1930-B6AA-D88F-42426A868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438" y="2130425"/>
            <a:ext cx="136525" cy="1508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Line 63">
            <a:extLst>
              <a:ext uri="{FF2B5EF4-FFF2-40B4-BE49-F238E27FC236}">
                <a16:creationId xmlns:a16="http://schemas.microsoft.com/office/drawing/2014/main" id="{23D07EE1-E8CA-0347-25DF-CA0FF67961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3350" y="3429000"/>
            <a:ext cx="4316413" cy="136842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Box 64">
            <a:extLst>
              <a:ext uri="{FF2B5EF4-FFF2-40B4-BE49-F238E27FC236}">
                <a16:creationId xmlns:a16="http://schemas.microsoft.com/office/drawing/2014/main" id="{F62C9AC7-F1C9-97B7-FC9D-75B070E36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281" y="3003329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Line 65">
            <a:extLst>
              <a:ext uri="{FF2B5EF4-FFF2-40B4-BE49-F238E27FC236}">
                <a16:creationId xmlns:a16="http://schemas.microsoft.com/office/drawing/2014/main" id="{FD8D79CD-32E6-210F-5089-3C16E6B16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575" y="3432175"/>
            <a:ext cx="728663" cy="1058863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Line 66">
            <a:extLst>
              <a:ext uri="{FF2B5EF4-FFF2-40B4-BE49-F238E27FC236}">
                <a16:creationId xmlns:a16="http://schemas.microsoft.com/office/drawing/2014/main" id="{E86CE4D6-6376-8A3A-691A-D71D44F0A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400" y="4505325"/>
            <a:ext cx="1346200" cy="263525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Line 67">
            <a:extLst>
              <a:ext uri="{FF2B5EF4-FFF2-40B4-BE49-F238E27FC236}">
                <a16:creationId xmlns:a16="http://schemas.microsoft.com/office/drawing/2014/main" id="{87B02375-9056-C94F-F72E-902D2DBCC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8813" y="3870325"/>
            <a:ext cx="495300" cy="149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Line 68">
            <a:extLst>
              <a:ext uri="{FF2B5EF4-FFF2-40B4-BE49-F238E27FC236}">
                <a16:creationId xmlns:a16="http://schemas.microsoft.com/office/drawing/2014/main" id="{36CDFDF0-13D2-A818-3E74-3BDD741999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0825" y="4729163"/>
            <a:ext cx="3213100" cy="1100137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Oval 69">
            <a:extLst>
              <a:ext uri="{FF2B5EF4-FFF2-40B4-BE49-F238E27FC236}">
                <a16:creationId xmlns:a16="http://schemas.microsoft.com/office/drawing/2014/main" id="{BD90BDB9-7E05-FF8C-FEE2-CF38F9A10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950" y="4438650"/>
            <a:ext cx="152400" cy="15240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Oval 70">
            <a:extLst>
              <a:ext uri="{FF2B5EF4-FFF2-40B4-BE49-F238E27FC236}">
                <a16:creationId xmlns:a16="http://schemas.microsoft.com/office/drawing/2014/main" id="{DCB67C3B-AFD9-332B-FDF4-7825EEEE9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213" y="5748338"/>
            <a:ext cx="158750" cy="15875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Line 71">
            <a:extLst>
              <a:ext uri="{FF2B5EF4-FFF2-40B4-BE49-F238E27FC236}">
                <a16:creationId xmlns:a16="http://schemas.microsoft.com/office/drawing/2014/main" id="{33501701-3513-AD1A-DB1F-7A0FDBB2E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688" y="5219700"/>
            <a:ext cx="106362" cy="16827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Box 72">
            <a:extLst>
              <a:ext uri="{FF2B5EF4-FFF2-40B4-BE49-F238E27FC236}">
                <a16:creationId xmlns:a16="http://schemas.microsoft.com/office/drawing/2014/main" id="{E4B6547C-3C92-5989-E464-DD37F9987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1284" y="4268832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0" name="Text Box 73">
            <a:extLst>
              <a:ext uri="{FF2B5EF4-FFF2-40B4-BE49-F238E27FC236}">
                <a16:creationId xmlns:a16="http://schemas.microsoft.com/office/drawing/2014/main" id="{6AC447A1-E4B4-8418-94A3-B480DFD3F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711" y="4162465"/>
            <a:ext cx="6479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60°</a:t>
            </a:r>
          </a:p>
        </p:txBody>
      </p:sp>
      <p:sp>
        <p:nvSpPr>
          <p:cNvPr id="71" name="Oval 74">
            <a:extLst>
              <a:ext uri="{FF2B5EF4-FFF2-40B4-BE49-F238E27FC236}">
                <a16:creationId xmlns:a16="http://schemas.microsoft.com/office/drawing/2014/main" id="{C5725C32-0183-222A-E461-5E7B6DCE8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425" y="4641850"/>
            <a:ext cx="152400" cy="15240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D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Line 75">
            <a:extLst>
              <a:ext uri="{FF2B5EF4-FFF2-40B4-BE49-F238E27FC236}">
                <a16:creationId xmlns:a16="http://schemas.microsoft.com/office/drawing/2014/main" id="{C9EDF84C-9EC4-7346-ED88-C7E2B1A487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8850" y="5021263"/>
            <a:ext cx="1360488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2A907D9-D3D3-4EB1-9160-D1267375DFF3}"/>
              </a:ext>
            </a:extLst>
          </p:cNvPr>
          <p:cNvCxnSpPr>
            <a:stCxn id="38" idx="0"/>
            <a:endCxn id="67" idx="2"/>
          </p:cNvCxnSpPr>
          <p:nvPr/>
        </p:nvCxnSpPr>
        <p:spPr bwMode="auto">
          <a:xfrm rot="16200000" flipH="1">
            <a:off x="1465163" y="5046663"/>
            <a:ext cx="130175" cy="143192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Text Box 61">
            <a:extLst>
              <a:ext uri="{FF2B5EF4-FFF2-40B4-BE49-F238E27FC236}">
                <a16:creationId xmlns:a16="http://schemas.microsoft.com/office/drawing/2014/main" id="{52F5E079-F4C0-DAE4-566A-587F6B3EB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56" y="2661156"/>
            <a:ext cx="33586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将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AB 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投影面垂直线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Box 77">
            <a:extLst>
              <a:ext uri="{FF2B5EF4-FFF2-40B4-BE49-F238E27FC236}">
                <a16:creationId xmlns:a16="http://schemas.microsoft.com/office/drawing/2014/main" id="{7C2E0BDB-1056-86CA-7947-5110242C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517" y="3942719"/>
            <a:ext cx="284788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将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AB  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投影面平行线新投影轴 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X1//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ab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  <p:sp>
        <p:nvSpPr>
          <p:cNvPr id="90" name="Text Box 78">
            <a:extLst>
              <a:ext uri="{FF2B5EF4-FFF2-40B4-BE49-F238E27FC236}">
                <a16:creationId xmlns:a16="http://schemas.microsoft.com/office/drawing/2014/main" id="{4775A6C4-F8CF-7794-E94A-A5CD8DBA4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833" y="4729949"/>
            <a:ext cx="290725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Ø"/>
              <a:defRPr sz="20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Symbol" pitchFamily="18" charset="2"/>
              </a:rPr>
              <a:t>将</a:t>
            </a:r>
            <a:r>
              <a:rPr lang="en-US" altLang="zh-CN" dirty="0">
                <a:sym typeface="Symbol" pitchFamily="18" charset="2"/>
              </a:rPr>
              <a:t>AB  </a:t>
            </a:r>
            <a:r>
              <a:rPr lang="zh-CN" altLang="en-US" dirty="0">
                <a:sym typeface="Symbol" pitchFamily="18" charset="2"/>
              </a:rPr>
              <a:t>投影面垂直线新投影轴</a:t>
            </a:r>
            <a:r>
              <a:rPr lang="en-US" altLang="zh-CN" dirty="0">
                <a:sym typeface="Symbol" pitchFamily="18" charset="2"/>
              </a:rPr>
              <a:t>X2a1b1</a:t>
            </a: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D6E662CD-AE4A-6D66-8ED6-E2B2B0276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500" y="1635307"/>
            <a:ext cx="33971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当两平面的交线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垂直于新投影面时，它们在该投影面上的投影反映夹角实际大小</a:t>
            </a:r>
          </a:p>
        </p:txBody>
      </p:sp>
      <p:sp>
        <p:nvSpPr>
          <p:cNvPr id="92" name="Text Box 32">
            <a:extLst>
              <a:ext uri="{FF2B5EF4-FFF2-40B4-BE49-F238E27FC236}">
                <a16:creationId xmlns:a16="http://schemas.microsoft.com/office/drawing/2014/main" id="{25FA270D-DA0E-9799-030A-62EA34038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209" y="1727640"/>
            <a:ext cx="8506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93" name="Text Box 32">
            <a:extLst>
              <a:ext uri="{FF2B5EF4-FFF2-40B4-BE49-F238E27FC236}">
                <a16:creationId xmlns:a16="http://schemas.microsoft.com/office/drawing/2014/main" id="{958B779E-BA16-A4F2-0EF1-67D90E15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752" y="3406307"/>
            <a:ext cx="16296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</p:spTree>
    <p:extLst>
      <p:ext uri="{BB962C8B-B14F-4D97-AF65-F5344CB8AC3E}">
        <p14:creationId xmlns:p14="http://schemas.microsoft.com/office/powerpoint/2010/main" val="256079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utoUpdateAnimBg="0"/>
      <p:bldP spid="34" grpId="0" autoUpdateAnimBg="0"/>
      <p:bldP spid="35" grpId="0" autoUpdateAnimBg="0"/>
      <p:bldP spid="36" grpId="0" animBg="1"/>
      <p:bldP spid="38" grpId="0" animBg="1"/>
      <p:bldP spid="39" grpId="0" animBg="1"/>
      <p:bldP spid="40" grpId="0" autoUpdateAnimBg="0"/>
      <p:bldP spid="41" grpId="0" animBg="1"/>
      <p:bldP spid="42" grpId="0" animBg="1"/>
      <p:bldP spid="43" grpId="0" animBg="1"/>
      <p:bldP spid="44" grpId="0" autoUpdateAnimBg="0"/>
      <p:bldP spid="45" grpId="0" animBg="1"/>
      <p:bldP spid="46" grpId="0" autoUpdateAnimBg="0"/>
      <p:bldP spid="47" grpId="0" autoUpdateAnimBg="0"/>
      <p:bldP spid="48" grpId="0" autoUpdateAnimBg="0"/>
      <p:bldP spid="49" grpId="0" autoUpdateAnimBg="0"/>
      <p:bldP spid="50" grpId="0" animBg="1"/>
      <p:bldP spid="51" grpId="0" animBg="1"/>
      <p:bldP spid="52" grpId="0" autoUpdateAnimBg="0"/>
      <p:bldP spid="53" grpId="0" autoUpdateAnimBg="0"/>
      <p:bldP spid="54" grpId="0" autoUpdateAnimBg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utoUpdateAnimBg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utoUpdateAnimBg="0"/>
      <p:bldP spid="70" grpId="0" autoUpdateAnimBg="0"/>
      <p:bldP spid="71" grpId="0" animBg="1"/>
      <p:bldP spid="72" grpId="0" animBg="1"/>
      <p:bldP spid="86" grpId="0"/>
      <p:bldP spid="89" grpId="0"/>
      <p:bldP spid="90" grpId="0"/>
      <p:bldP spid="91" grpId="0"/>
      <p:bldP spid="92" grpId="0"/>
      <p:bldP spid="9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625F-77F3-F491-4E0D-D11EBCD0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72B0A445-4DFE-0873-46B4-01CF203B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31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D6E79CCE-49E6-5141-769A-9413485AB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7B9468-FA7C-988C-EBC2-C35C92FE3F75}"/>
              </a:ext>
            </a:extLst>
          </p:cNvPr>
          <p:cNvSpPr/>
          <p:nvPr/>
        </p:nvSpPr>
        <p:spPr>
          <a:xfrm>
            <a:off x="154380" y="1196752"/>
            <a:ext cx="8376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判断机械臂的工作空间是否安全，是否会发生碰撞。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0EFD56-A09D-DBE5-3719-0091D764A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17" y="1972989"/>
            <a:ext cx="5667766" cy="372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04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14E6-1746-0DFC-E945-6910BD28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407363F-A47B-2651-4390-96645134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8096" y="6433085"/>
            <a:ext cx="341760" cy="261610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 sz="1100"/>
              <a:pPr/>
              <a:t>32</a:t>
            </a:fld>
            <a:endParaRPr lang="en-US" altLang="zh-CN" sz="1100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340CFBB-0574-B441-2B55-0021C4D59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34899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工程应用问题</a:t>
            </a:r>
          </a:p>
        </p:txBody>
      </p:sp>
      <p:sp>
        <p:nvSpPr>
          <p:cNvPr id="2" name="Oval 77">
            <a:extLst>
              <a:ext uri="{FF2B5EF4-FFF2-40B4-BE49-F238E27FC236}">
                <a16:creationId xmlns:a16="http://schemas.microsoft.com/office/drawing/2014/main" id="{64EF5EB2-51CC-BD5C-C741-96CFEC7DA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1508" y="2042085"/>
            <a:ext cx="146050" cy="1444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1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9">
            <a:extLst>
              <a:ext uri="{FF2B5EF4-FFF2-40B4-BE49-F238E27FC236}">
                <a16:creationId xmlns:a16="http://schemas.microsoft.com/office/drawing/2014/main" id="{4D542BB3-8BD5-EA5D-8840-BBF9CF623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14" y="3764528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47">
            <a:extLst>
              <a:ext uri="{FF2B5EF4-FFF2-40B4-BE49-F238E27FC236}">
                <a16:creationId xmlns:a16="http://schemas.microsoft.com/office/drawing/2014/main" id="{545C82E1-2A08-C33A-3389-B5985F883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587" y="4803192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5" name="Text Box 49">
            <a:extLst>
              <a:ext uri="{FF2B5EF4-FFF2-40B4-BE49-F238E27FC236}">
                <a16:creationId xmlns:a16="http://schemas.microsoft.com/office/drawing/2014/main" id="{85EBF652-1381-17F7-F866-9E0FDF92E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97" y="3290897"/>
            <a:ext cx="5286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078C2406-0E8E-1AC2-658D-5B2714FAD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445" y="3216835"/>
            <a:ext cx="144463" cy="144463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AA1FF9B0-3E3B-FB86-6B81-C4EC031A3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745" y="5245660"/>
            <a:ext cx="144463" cy="144463"/>
          </a:xfrm>
          <a:prstGeom prst="ellipse">
            <a:avLst/>
          </a:prstGeom>
          <a:gradFill rotWithShape="0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4C1CEA16-66FF-1853-6634-6352BD108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135" y="4815448"/>
            <a:ext cx="331184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073BCCDF-6347-C760-5080-3628391778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633" y="3474010"/>
            <a:ext cx="0" cy="2795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0A342E5C-6D7A-35F0-9237-FE5AB6A8C6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5470" y="3289860"/>
            <a:ext cx="0" cy="2016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7AD6DC61-1981-4CF1-849D-A0F19181C0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6570" y="6269598"/>
            <a:ext cx="1619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8F949FB4-A44C-65F3-E265-ED2777815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90" y="3345180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8E36304C-788A-1769-EF2B-BEA4F848F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673" y="5904076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4233F03F-DAC0-141A-987D-524BA55A3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21" y="4597464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158E4B31-05D3-6A11-8ED9-FD31A088D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620" y="5298048"/>
            <a:ext cx="1165225" cy="868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C3C0C8E3-F4A4-1D16-046B-CA30BDC8C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617" y="4409620"/>
            <a:ext cx="40748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8" name="Oval 77">
            <a:extLst>
              <a:ext uri="{FF2B5EF4-FFF2-40B4-BE49-F238E27FC236}">
                <a16:creationId xmlns:a16="http://schemas.microsoft.com/office/drawing/2014/main" id="{755D75AE-E639-4B9B-C44A-A6CCC99B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983" y="1926198"/>
            <a:ext cx="146050" cy="1444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1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95D06BF-C47C-EA8A-11AD-4237305DC43F}"/>
              </a:ext>
            </a:extLst>
          </p:cNvPr>
          <p:cNvCxnSpPr>
            <a:cxnSpLocks noChangeShapeType="1"/>
          </p:cNvCxnSpPr>
          <p:nvPr/>
        </p:nvCxnSpPr>
        <p:spPr bwMode="auto">
          <a:xfrm rot="8100000" flipH="1">
            <a:off x="1701045" y="3564498"/>
            <a:ext cx="169227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直接连接符 17">
            <a:extLst>
              <a:ext uri="{FF2B5EF4-FFF2-40B4-BE49-F238E27FC236}">
                <a16:creationId xmlns:a16="http://schemas.microsoft.com/office/drawing/2014/main" id="{A210CA71-5A48-3D4E-9D30-D44A62578AE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110620" y="4370948"/>
            <a:ext cx="0" cy="6477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C599DF0-DA47-67DB-EF64-02309830CB66}"/>
              </a:ext>
            </a:extLst>
          </p:cNvPr>
          <p:cNvCxnSpPr>
            <a:cxnSpLocks noChangeAspect="1"/>
            <a:stCxn id="57" idx="0"/>
            <a:endCxn id="56" idx="0"/>
          </p:cNvCxnSpPr>
          <p:nvPr/>
        </p:nvCxnSpPr>
        <p:spPr bwMode="auto">
          <a:xfrm flipH="1">
            <a:off x="783470" y="1210235"/>
            <a:ext cx="606425" cy="18002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Line 6">
            <a:extLst>
              <a:ext uri="{FF2B5EF4-FFF2-40B4-BE49-F238E27FC236}">
                <a16:creationId xmlns:a16="http://schemas.microsoft.com/office/drawing/2014/main" id="{DFD260BF-9400-E3E4-2F1F-3428543A5452}"/>
              </a:ext>
            </a:extLst>
          </p:cNvPr>
          <p:cNvSpPr>
            <a:spLocks noChangeShapeType="1"/>
          </p:cNvSpPr>
          <p:nvPr/>
        </p:nvSpPr>
        <p:spPr bwMode="auto">
          <a:xfrm rot="7080000" flipV="1">
            <a:off x="1066839" y="5633804"/>
            <a:ext cx="1439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01855372-1BC2-4CBE-1343-5898E74E35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4433" y="4998010"/>
            <a:ext cx="1619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Line 6">
            <a:extLst>
              <a:ext uri="{FF2B5EF4-FFF2-40B4-BE49-F238E27FC236}">
                <a16:creationId xmlns:a16="http://schemas.microsoft.com/office/drawing/2014/main" id="{EF1AE57E-EA24-B455-CF77-1EFCEB089B5D}"/>
              </a:ext>
            </a:extLst>
          </p:cNvPr>
          <p:cNvSpPr>
            <a:spLocks noChangeShapeType="1"/>
          </p:cNvSpPr>
          <p:nvPr/>
        </p:nvSpPr>
        <p:spPr bwMode="auto">
          <a:xfrm rot="7080000" flipV="1">
            <a:off x="2705138" y="5641742"/>
            <a:ext cx="14398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492288BA-02DA-E50B-C625-11EDFC9B65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56658" y="565523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39010A82-0012-A679-34BC-7FFFC8265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3799" y="4688925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920E8AD6-7FD8-807B-197E-EBA939CF9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160" y="480319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7E1E001F-EBFB-5F45-B00E-FFD9717B3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108" y="6211401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EF748D83-AC9A-EF5B-B311-E5FB743DE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103" y="5409691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194D4644-7C5B-18E1-942E-C33719277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133" y="5356785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1" name="Line 6">
            <a:extLst>
              <a:ext uri="{FF2B5EF4-FFF2-40B4-BE49-F238E27FC236}">
                <a16:creationId xmlns:a16="http://schemas.microsoft.com/office/drawing/2014/main" id="{B5FFDCBC-7076-B697-83B6-7B516FF87AB8}"/>
              </a:ext>
            </a:extLst>
          </p:cNvPr>
          <p:cNvSpPr>
            <a:spLocks noChangeShapeType="1"/>
          </p:cNvSpPr>
          <p:nvPr/>
        </p:nvSpPr>
        <p:spPr bwMode="auto">
          <a:xfrm rot="9600000" flipV="1">
            <a:off x="2083633" y="4105835"/>
            <a:ext cx="17287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40CCEDA5-3700-A874-6C02-F01F0A9C1515}"/>
              </a:ext>
            </a:extLst>
          </p:cNvPr>
          <p:cNvSpPr>
            <a:spLocks noChangeShapeType="1"/>
          </p:cNvSpPr>
          <p:nvPr/>
        </p:nvSpPr>
        <p:spPr bwMode="auto">
          <a:xfrm rot="9600000" flipV="1">
            <a:off x="1408945" y="3183498"/>
            <a:ext cx="17287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6">
            <a:extLst>
              <a:ext uri="{FF2B5EF4-FFF2-40B4-BE49-F238E27FC236}">
                <a16:creationId xmlns:a16="http://schemas.microsoft.com/office/drawing/2014/main" id="{73761F53-C1B9-C3A2-09CF-09719984BEC9}"/>
              </a:ext>
            </a:extLst>
          </p:cNvPr>
          <p:cNvSpPr>
            <a:spLocks noChangeShapeType="1"/>
          </p:cNvSpPr>
          <p:nvPr/>
        </p:nvSpPr>
        <p:spPr bwMode="auto">
          <a:xfrm rot="3240000" flipV="1">
            <a:off x="1226382" y="395819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Line 6">
            <a:extLst>
              <a:ext uri="{FF2B5EF4-FFF2-40B4-BE49-F238E27FC236}">
                <a16:creationId xmlns:a16="http://schemas.microsoft.com/office/drawing/2014/main" id="{517170C0-C1F3-B0E8-2341-AADCB26B888A}"/>
              </a:ext>
            </a:extLst>
          </p:cNvPr>
          <p:cNvSpPr>
            <a:spLocks noChangeShapeType="1"/>
          </p:cNvSpPr>
          <p:nvPr/>
        </p:nvSpPr>
        <p:spPr bwMode="auto">
          <a:xfrm rot="3240000" flipV="1">
            <a:off x="2849601" y="3339867"/>
            <a:ext cx="1150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Line 4">
            <a:extLst>
              <a:ext uri="{FF2B5EF4-FFF2-40B4-BE49-F238E27FC236}">
                <a16:creationId xmlns:a16="http://schemas.microsoft.com/office/drawing/2014/main" id="{A1E5BAEA-5035-BA37-9494-88AED2EDC1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75820" y="2888223"/>
            <a:ext cx="0" cy="3389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6D153E76-D5F0-62B7-8683-79BD841A0F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7333" y="3785160"/>
            <a:ext cx="1587" cy="1212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id="{36B547D3-48BF-4122-ECCA-5F6E7780FD5F}"/>
              </a:ext>
            </a:extLst>
          </p:cNvPr>
          <p:cNvSpPr>
            <a:spLocks noChangeShapeType="1"/>
          </p:cNvSpPr>
          <p:nvPr/>
        </p:nvSpPr>
        <p:spPr bwMode="auto">
          <a:xfrm rot="2700000" flipV="1">
            <a:off x="1988383" y="329779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4">
            <a:extLst>
              <a:ext uri="{FF2B5EF4-FFF2-40B4-BE49-F238E27FC236}">
                <a16:creationId xmlns:a16="http://schemas.microsoft.com/office/drawing/2014/main" id="{55B5635A-DB25-8CC4-1B07-EED334AF19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8245" y="2891398"/>
            <a:ext cx="0" cy="278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Line 4">
            <a:extLst>
              <a:ext uri="{FF2B5EF4-FFF2-40B4-BE49-F238E27FC236}">
                <a16:creationId xmlns:a16="http://schemas.microsoft.com/office/drawing/2014/main" id="{B041C48C-E22A-3B01-6428-43818E4F1F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3108" y="3701023"/>
            <a:ext cx="0" cy="1978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Box 13">
            <a:extLst>
              <a:ext uri="{FF2B5EF4-FFF2-40B4-BE49-F238E27FC236}">
                <a16:creationId xmlns:a16="http://schemas.microsoft.com/office/drawing/2014/main" id="{FB511C41-1A7A-BC3F-A63B-531839D52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766" y="4278236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e'</a:t>
            </a:r>
          </a:p>
        </p:txBody>
      </p:sp>
      <p:sp>
        <p:nvSpPr>
          <p:cNvPr id="42" name="Text Box 13">
            <a:extLst>
              <a:ext uri="{FF2B5EF4-FFF2-40B4-BE49-F238E27FC236}">
                <a16:creationId xmlns:a16="http://schemas.microsoft.com/office/drawing/2014/main" id="{2A27FF8F-BDD0-2098-23B3-FF154A576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170" y="3497823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</a:t>
            </a:r>
          </a:p>
        </p:txBody>
      </p:sp>
      <p:sp>
        <p:nvSpPr>
          <p:cNvPr id="43" name="Text Box 13">
            <a:extLst>
              <a:ext uri="{FF2B5EF4-FFF2-40B4-BE49-F238E27FC236}">
                <a16:creationId xmlns:a16="http://schemas.microsoft.com/office/drawing/2014/main" id="{24B3DCEC-A35B-C6B6-9934-54DD1EB4D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626" y="2436484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c'</a:t>
            </a:r>
          </a:p>
        </p:txBody>
      </p:sp>
      <p:sp>
        <p:nvSpPr>
          <p:cNvPr id="44" name="Text Box 13">
            <a:extLst>
              <a:ext uri="{FF2B5EF4-FFF2-40B4-BE49-F238E27FC236}">
                <a16:creationId xmlns:a16="http://schemas.microsoft.com/office/drawing/2014/main" id="{E51FB1CD-FBF7-DB90-8DC4-4993EBAC2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058" y="2727104"/>
            <a:ext cx="479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m'</a:t>
            </a:r>
          </a:p>
        </p:txBody>
      </p:sp>
      <p:sp>
        <p:nvSpPr>
          <p:cNvPr id="45" name="Text Box 13">
            <a:extLst>
              <a:ext uri="{FF2B5EF4-FFF2-40B4-BE49-F238E27FC236}">
                <a16:creationId xmlns:a16="http://schemas.microsoft.com/office/drawing/2014/main" id="{20E6B057-1A88-DD36-C333-1C9A7C4C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698" y="3557370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n'</a:t>
            </a:r>
          </a:p>
        </p:txBody>
      </p:sp>
      <p:sp>
        <p:nvSpPr>
          <p:cNvPr id="46" name="Line 3">
            <a:extLst>
              <a:ext uri="{FF2B5EF4-FFF2-40B4-BE49-F238E27FC236}">
                <a16:creationId xmlns:a16="http://schemas.microsoft.com/office/drawing/2014/main" id="{8A798A47-B036-5AA2-2C65-CFE85CA47A0A}"/>
              </a:ext>
            </a:extLst>
          </p:cNvPr>
          <p:cNvSpPr>
            <a:spLocks noChangeShapeType="1"/>
          </p:cNvSpPr>
          <p:nvPr/>
        </p:nvSpPr>
        <p:spPr bwMode="auto">
          <a:xfrm rot="2700000" flipV="1">
            <a:off x="1094620" y="2454835"/>
            <a:ext cx="12588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8">
            <a:extLst>
              <a:ext uri="{FF2B5EF4-FFF2-40B4-BE49-F238E27FC236}">
                <a16:creationId xmlns:a16="http://schemas.microsoft.com/office/drawing/2014/main" id="{65D62794-D63A-18E2-E99A-E7617578229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6300" y="1690700"/>
            <a:ext cx="2165905" cy="216590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8" name="Line 4">
            <a:extLst>
              <a:ext uri="{FF2B5EF4-FFF2-40B4-BE49-F238E27FC236}">
                <a16:creationId xmlns:a16="http://schemas.microsoft.com/office/drawing/2014/main" id="{E08966CD-F389-0FA7-AF0C-6F1C7908E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8695" y="4131235"/>
            <a:ext cx="0" cy="1217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Line 4">
            <a:extLst>
              <a:ext uri="{FF2B5EF4-FFF2-40B4-BE49-F238E27FC236}">
                <a16:creationId xmlns:a16="http://schemas.microsoft.com/office/drawing/2014/main" id="{EFE73EF3-AE44-D44B-E18B-285664666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8845" y="2959660"/>
            <a:ext cx="0" cy="320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Line 66">
            <a:extLst>
              <a:ext uri="{FF2B5EF4-FFF2-40B4-BE49-F238E27FC236}">
                <a16:creationId xmlns:a16="http://schemas.microsoft.com/office/drawing/2014/main" id="{C52F9865-E4B4-1A46-F812-079C25A57B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7767" y="4815448"/>
            <a:ext cx="0" cy="8397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Line 66">
            <a:extLst>
              <a:ext uri="{FF2B5EF4-FFF2-40B4-BE49-F238E27FC236}">
                <a16:creationId xmlns:a16="http://schemas.microsoft.com/office/drawing/2014/main" id="{E8403EE8-B60E-E556-E089-4AE6FC1AB450}"/>
              </a:ext>
            </a:extLst>
          </p:cNvPr>
          <p:cNvSpPr>
            <a:spLocks noChangeShapeType="1"/>
          </p:cNvSpPr>
          <p:nvPr/>
        </p:nvSpPr>
        <p:spPr bwMode="auto">
          <a:xfrm rot="8100000" flipH="1" flipV="1">
            <a:off x="1567695" y="1883335"/>
            <a:ext cx="0" cy="84137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104">
            <a:extLst>
              <a:ext uri="{FF2B5EF4-FFF2-40B4-BE49-F238E27FC236}">
                <a16:creationId xmlns:a16="http://schemas.microsoft.com/office/drawing/2014/main" id="{D7AAF12E-A4AA-C88A-9992-DFC61997F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00" y="1518061"/>
            <a:ext cx="10118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n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Line 3">
            <a:extLst>
              <a:ext uri="{FF2B5EF4-FFF2-40B4-BE49-F238E27FC236}">
                <a16:creationId xmlns:a16="http://schemas.microsoft.com/office/drawing/2014/main" id="{32ADE329-E47F-A59F-859B-F3B6A2B9C6D8}"/>
              </a:ext>
            </a:extLst>
          </p:cNvPr>
          <p:cNvSpPr>
            <a:spLocks noChangeShapeType="1"/>
          </p:cNvSpPr>
          <p:nvPr/>
        </p:nvSpPr>
        <p:spPr bwMode="auto">
          <a:xfrm rot="2700000" flipV="1">
            <a:off x="1408945" y="2707248"/>
            <a:ext cx="1649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66">
            <a:extLst>
              <a:ext uri="{FF2B5EF4-FFF2-40B4-BE49-F238E27FC236}">
                <a16:creationId xmlns:a16="http://schemas.microsoft.com/office/drawing/2014/main" id="{8FF4BB7F-D400-B459-B05D-5E48D3D723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5057" y="4824973"/>
            <a:ext cx="0" cy="5159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Line 66">
            <a:extLst>
              <a:ext uri="{FF2B5EF4-FFF2-40B4-BE49-F238E27FC236}">
                <a16:creationId xmlns:a16="http://schemas.microsoft.com/office/drawing/2014/main" id="{FF40032C-9A68-113C-DDE6-CF9813FF80D5}"/>
              </a:ext>
            </a:extLst>
          </p:cNvPr>
          <p:cNvSpPr>
            <a:spLocks noChangeShapeType="1"/>
          </p:cNvSpPr>
          <p:nvPr/>
        </p:nvSpPr>
        <p:spPr bwMode="auto">
          <a:xfrm rot="8100000" flipH="1" flipV="1">
            <a:off x="1850270" y="2038910"/>
            <a:ext cx="0" cy="5159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ine 3">
            <a:extLst>
              <a:ext uri="{FF2B5EF4-FFF2-40B4-BE49-F238E27FC236}">
                <a16:creationId xmlns:a16="http://schemas.microsoft.com/office/drawing/2014/main" id="{B92FDD84-D511-1267-088B-71E7142CCDC6}"/>
              </a:ext>
            </a:extLst>
          </p:cNvPr>
          <p:cNvSpPr>
            <a:spLocks noChangeShapeType="1"/>
          </p:cNvSpPr>
          <p:nvPr/>
        </p:nvSpPr>
        <p:spPr bwMode="auto">
          <a:xfrm rot="2700000" flipV="1">
            <a:off x="542170" y="3593073"/>
            <a:ext cx="1649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Line 3">
            <a:extLst>
              <a:ext uri="{FF2B5EF4-FFF2-40B4-BE49-F238E27FC236}">
                <a16:creationId xmlns:a16="http://schemas.microsoft.com/office/drawing/2014/main" id="{615A41C6-82BF-AB3C-605B-DB822A978AD1}"/>
              </a:ext>
            </a:extLst>
          </p:cNvPr>
          <p:cNvSpPr>
            <a:spLocks noChangeShapeType="1"/>
          </p:cNvSpPr>
          <p:nvPr/>
        </p:nvSpPr>
        <p:spPr bwMode="auto">
          <a:xfrm rot="2700000" flipV="1">
            <a:off x="1026358" y="2088123"/>
            <a:ext cx="2484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Line 66">
            <a:extLst>
              <a:ext uri="{FF2B5EF4-FFF2-40B4-BE49-F238E27FC236}">
                <a16:creationId xmlns:a16="http://schemas.microsoft.com/office/drawing/2014/main" id="{B4C88967-09F1-F888-08A4-DAB05E7A1D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45523" y="4810685"/>
            <a:ext cx="0" cy="496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Line 66">
            <a:extLst>
              <a:ext uri="{FF2B5EF4-FFF2-40B4-BE49-F238E27FC236}">
                <a16:creationId xmlns:a16="http://schemas.microsoft.com/office/drawing/2014/main" id="{12B059B5-EAD6-59A9-13C2-81B5D0BD67CD}"/>
              </a:ext>
            </a:extLst>
          </p:cNvPr>
          <p:cNvSpPr>
            <a:spLocks noChangeShapeType="1"/>
          </p:cNvSpPr>
          <p:nvPr/>
        </p:nvSpPr>
        <p:spPr bwMode="auto">
          <a:xfrm rot="8100000" flipH="1" flipV="1">
            <a:off x="954920" y="2929498"/>
            <a:ext cx="0" cy="4968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Line 66">
            <a:extLst>
              <a:ext uri="{FF2B5EF4-FFF2-40B4-BE49-F238E27FC236}">
                <a16:creationId xmlns:a16="http://schemas.microsoft.com/office/drawing/2014/main" id="{2BC01367-F541-6A23-164D-EBE5B4BBA9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8367" y="4824973"/>
            <a:ext cx="0" cy="13414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Line 66">
            <a:extLst>
              <a:ext uri="{FF2B5EF4-FFF2-40B4-BE49-F238E27FC236}">
                <a16:creationId xmlns:a16="http://schemas.microsoft.com/office/drawing/2014/main" id="{6B753F35-D136-48F0-194C-7DE4C0600C27}"/>
              </a:ext>
            </a:extLst>
          </p:cNvPr>
          <p:cNvSpPr>
            <a:spLocks noChangeShapeType="1"/>
          </p:cNvSpPr>
          <p:nvPr/>
        </p:nvSpPr>
        <p:spPr bwMode="auto">
          <a:xfrm rot="8100000" flipV="1">
            <a:off x="1892339" y="1028466"/>
            <a:ext cx="0" cy="13414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19">
            <a:extLst>
              <a:ext uri="{FF2B5EF4-FFF2-40B4-BE49-F238E27FC236}">
                <a16:creationId xmlns:a16="http://schemas.microsoft.com/office/drawing/2014/main" id="{4C7D5466-B1B7-6FE0-64C9-7EF43DEE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83" y="1607110"/>
            <a:ext cx="777875" cy="777875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Box 18">
            <a:extLst>
              <a:ext uri="{FF2B5EF4-FFF2-40B4-BE49-F238E27FC236}">
                <a16:creationId xmlns:a16="http://schemas.microsoft.com/office/drawing/2014/main" id="{1AEA9F2D-2AED-FC8D-C6E0-28294DE7A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38" y="3654097"/>
            <a:ext cx="40748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64" name="Text Box 13">
            <a:extLst>
              <a:ext uri="{FF2B5EF4-FFF2-40B4-BE49-F238E27FC236}">
                <a16:creationId xmlns:a16="http://schemas.microsoft.com/office/drawing/2014/main" id="{E0562C67-7DA9-FA99-4F9C-F2BA6801D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244" y="406948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D2FDBB17-1F08-E555-075F-17225CD35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752" y="2683672"/>
            <a:ext cx="3946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</a:p>
        </p:txBody>
      </p:sp>
      <p:sp>
        <p:nvSpPr>
          <p:cNvPr id="66" name="Text Box 13">
            <a:extLst>
              <a:ext uri="{FF2B5EF4-FFF2-40B4-BE49-F238E27FC236}">
                <a16:creationId xmlns:a16="http://schemas.microsoft.com/office/drawing/2014/main" id="{2F023363-4920-A552-D385-0CB6391E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168" y="5046280"/>
            <a:ext cx="2872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7" name="Text Box 13">
            <a:extLst>
              <a:ext uri="{FF2B5EF4-FFF2-40B4-BE49-F238E27FC236}">
                <a16:creationId xmlns:a16="http://schemas.microsoft.com/office/drawing/2014/main" id="{07677EA2-00C2-9B51-5A0F-6BA882B1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818" y="5823808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68" name="Text Box 13">
            <a:extLst>
              <a:ext uri="{FF2B5EF4-FFF2-40B4-BE49-F238E27FC236}">
                <a16:creationId xmlns:a16="http://schemas.microsoft.com/office/drawing/2014/main" id="{67F545E4-08FA-127C-0322-0D3061395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595" y="3062848"/>
            <a:ext cx="37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</a:p>
        </p:txBody>
      </p:sp>
      <p:sp>
        <p:nvSpPr>
          <p:cNvPr id="69" name="Text Box 104">
            <a:extLst>
              <a:ext uri="{FF2B5EF4-FFF2-40B4-BE49-F238E27FC236}">
                <a16:creationId xmlns:a16="http://schemas.microsoft.com/office/drawing/2014/main" id="{1E861276-438B-21F5-B46C-566C223A6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66" y="1671684"/>
            <a:ext cx="436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13">
            <a:extLst>
              <a:ext uri="{FF2B5EF4-FFF2-40B4-BE49-F238E27FC236}">
                <a16:creationId xmlns:a16="http://schemas.microsoft.com/office/drawing/2014/main" id="{8D7C1B12-CA7B-A2CB-DCD4-FB755B532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597" y="5075152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1" name="Text Box 104">
            <a:extLst>
              <a:ext uri="{FF2B5EF4-FFF2-40B4-BE49-F238E27FC236}">
                <a16:creationId xmlns:a16="http://schemas.microsoft.com/office/drawing/2014/main" id="{C01EDF97-FD58-BA3E-74B0-489628381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75" y="2649696"/>
            <a:ext cx="4026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Box 104">
            <a:extLst>
              <a:ext uri="{FF2B5EF4-FFF2-40B4-BE49-F238E27FC236}">
                <a16:creationId xmlns:a16="http://schemas.microsoft.com/office/drawing/2014/main" id="{CDE01228-FB0D-5C25-3458-8AC0D40D9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1553" y="923656"/>
            <a:ext cx="453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Box 78">
            <a:extLst>
              <a:ext uri="{FF2B5EF4-FFF2-40B4-BE49-F238E27FC236}">
                <a16:creationId xmlns:a16="http://schemas.microsoft.com/office/drawing/2014/main" id="{B39FE9DD-9B05-7F2D-2939-92BF9D792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1111831"/>
            <a:ext cx="48250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轴旋转是否和平面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碰撞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C40BBEB1-B7EA-6836-EB93-E8C2B5920959}"/>
              </a:ext>
            </a:extLst>
          </p:cNvPr>
          <p:cNvGrpSpPr/>
          <p:nvPr/>
        </p:nvGrpSpPr>
        <p:grpSpPr>
          <a:xfrm>
            <a:off x="4228989" y="2311605"/>
            <a:ext cx="4259302" cy="830997"/>
            <a:chOff x="4228989" y="1988247"/>
            <a:chExt cx="4259302" cy="830997"/>
          </a:xfrm>
        </p:grpSpPr>
        <p:sp>
          <p:nvSpPr>
            <p:cNvPr id="76" name="Text Box 53">
              <a:extLst>
                <a:ext uri="{FF2B5EF4-FFF2-40B4-BE49-F238E27FC236}">
                  <a16:creationId xmlns:a16="http://schemas.microsoft.com/office/drawing/2014/main" id="{17609837-F3A0-F1A2-CF6D-FDEC5F079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1117" y="2049802"/>
              <a:ext cx="339717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在什么情况下点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所形成的轨迹与平面相撞？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679480BF-5A7D-5EC9-C10F-F8C71E2A8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989" y="1988247"/>
              <a:ext cx="8506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空间分析</a:t>
              </a:r>
            </a:p>
          </p:txBody>
        </p:sp>
      </p:grpSp>
      <p:grpSp>
        <p:nvGrpSpPr>
          <p:cNvPr id="78" name="Group 6">
            <a:extLst>
              <a:ext uri="{FF2B5EF4-FFF2-40B4-BE49-F238E27FC236}">
                <a16:creationId xmlns:a16="http://schemas.microsoft.com/office/drawing/2014/main" id="{72C6BFCF-D486-ECD4-270B-8DFAA06364A2}"/>
              </a:ext>
            </a:extLst>
          </p:cNvPr>
          <p:cNvGrpSpPr>
            <a:grpSpLocks/>
          </p:cNvGrpSpPr>
          <p:nvPr/>
        </p:nvGrpSpPr>
        <p:grpSpPr bwMode="auto">
          <a:xfrm>
            <a:off x="4206221" y="3119187"/>
            <a:ext cx="2761869" cy="2608967"/>
            <a:chOff x="5859122" y="2482500"/>
            <a:chExt cx="2338388" cy="2024053"/>
          </a:xfrm>
        </p:grpSpPr>
        <p:sp>
          <p:nvSpPr>
            <p:cNvPr id="79" name="Text Box 55">
              <a:extLst>
                <a:ext uri="{FF2B5EF4-FFF2-40B4-BE49-F238E27FC236}">
                  <a16:creationId xmlns:a16="http://schemas.microsoft.com/office/drawing/2014/main" id="{E1EC1CB1-E4E9-1DB4-1493-4EEB490E1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7454" y="2482500"/>
              <a:ext cx="324645" cy="310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80" name="Text Box 59">
              <a:extLst>
                <a:ext uri="{FF2B5EF4-FFF2-40B4-BE49-F238E27FC236}">
                  <a16:creationId xmlns:a16="http://schemas.microsoft.com/office/drawing/2014/main" id="{7CE56662-8D8E-56C5-8214-E6B101CD2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5998" y="2950006"/>
              <a:ext cx="289357" cy="310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Freeform 62">
              <a:extLst>
                <a:ext uri="{FF2B5EF4-FFF2-40B4-BE49-F238E27FC236}">
                  <a16:creationId xmlns:a16="http://schemas.microsoft.com/office/drawing/2014/main" id="{585D4CC5-1E08-713C-8AD4-CBC8F12AD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22" y="3657374"/>
              <a:ext cx="2338388" cy="817824"/>
            </a:xfrm>
            <a:custGeom>
              <a:avLst/>
              <a:gdLst>
                <a:gd name="T0" fmla="*/ 2147483647 w 1473"/>
                <a:gd name="T1" fmla="*/ 2147483647 h 460"/>
                <a:gd name="T2" fmla="*/ 0 w 1473"/>
                <a:gd name="T3" fmla="*/ 2147483647 h 460"/>
                <a:gd name="T4" fmla="*/ 2147483647 w 1473"/>
                <a:gd name="T5" fmla="*/ 2147483647 h 460"/>
                <a:gd name="T6" fmla="*/ 2147483647 w 1473"/>
                <a:gd name="T7" fmla="*/ 0 h 460"/>
                <a:gd name="T8" fmla="*/ 2147483647 w 1473"/>
                <a:gd name="T9" fmla="*/ 2147483647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73"/>
                <a:gd name="T16" fmla="*/ 0 h 460"/>
                <a:gd name="T17" fmla="*/ 1473 w 1473"/>
                <a:gd name="T18" fmla="*/ 460 h 4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73" h="460">
                  <a:moveTo>
                    <a:pt x="405" y="1"/>
                  </a:moveTo>
                  <a:lnTo>
                    <a:pt x="0" y="460"/>
                  </a:lnTo>
                  <a:lnTo>
                    <a:pt x="1139" y="460"/>
                  </a:lnTo>
                  <a:lnTo>
                    <a:pt x="1473" y="0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FFFF66">
                <a:alpha val="50195"/>
              </a:srgbClr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 Box 63">
              <a:extLst>
                <a:ext uri="{FF2B5EF4-FFF2-40B4-BE49-F238E27FC236}">
                  <a16:creationId xmlns:a16="http://schemas.microsoft.com/office/drawing/2014/main" id="{2C731B74-EE7E-4D8F-053F-5942BF1F7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8191" y="3607083"/>
              <a:ext cx="289357" cy="310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" name="直接连接符 12">
              <a:extLst>
                <a:ext uri="{FF2B5EF4-FFF2-40B4-BE49-F238E27FC236}">
                  <a16:creationId xmlns:a16="http://schemas.microsoft.com/office/drawing/2014/main" id="{C7F89CA8-2363-76CA-6B67-5585AB8844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16603" y="2722468"/>
              <a:ext cx="0" cy="99576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4" name="直接连接符 14">
              <a:extLst>
                <a:ext uri="{FF2B5EF4-FFF2-40B4-BE49-F238E27FC236}">
                  <a16:creationId xmlns:a16="http://schemas.microsoft.com/office/drawing/2014/main" id="{A5A80C64-1E32-D223-25FD-7A78637F2B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84865" y="3332059"/>
              <a:ext cx="7460" cy="64471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5" name="直接连接符 19">
              <a:extLst>
                <a:ext uri="{FF2B5EF4-FFF2-40B4-BE49-F238E27FC236}">
                  <a16:creationId xmlns:a16="http://schemas.microsoft.com/office/drawing/2014/main" id="{CD19AF89-AB47-FC0C-0301-40B171E261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52610" y="3355476"/>
              <a:ext cx="0" cy="9919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6" name="Text Box 64">
              <a:extLst>
                <a:ext uri="{FF2B5EF4-FFF2-40B4-BE49-F238E27FC236}">
                  <a16:creationId xmlns:a16="http://schemas.microsoft.com/office/drawing/2014/main" id="{98C72C16-F4DC-7B57-DC50-093A7504C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350" y="3403439"/>
              <a:ext cx="286643" cy="35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87" name="Text Box 64">
              <a:extLst>
                <a:ext uri="{FF2B5EF4-FFF2-40B4-BE49-F238E27FC236}">
                  <a16:creationId xmlns:a16="http://schemas.microsoft.com/office/drawing/2014/main" id="{0F98B1F6-D665-8B03-B221-06B0B0B6D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2938" y="4148390"/>
              <a:ext cx="243212" cy="35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grpSp>
          <p:nvGrpSpPr>
            <p:cNvPr id="88" name="Group 4">
              <a:extLst>
                <a:ext uri="{FF2B5EF4-FFF2-40B4-BE49-F238E27FC236}">
                  <a16:creationId xmlns:a16="http://schemas.microsoft.com/office/drawing/2014/main" id="{667D2E16-1A2F-4202-37A6-A5CE83000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3135" y="2707844"/>
              <a:ext cx="1306512" cy="622499"/>
              <a:chOff x="6213135" y="2707844"/>
              <a:chExt cx="1306512" cy="622499"/>
            </a:xfrm>
          </p:grpSpPr>
          <p:sp>
            <p:nvSpPr>
              <p:cNvPr id="95" name="Line 58">
                <a:extLst>
                  <a:ext uri="{FF2B5EF4-FFF2-40B4-BE49-F238E27FC236}">
                    <a16:creationId xmlns:a16="http://schemas.microsoft.com/office/drawing/2014/main" id="{DBFCF01B-8890-7F1D-93E9-AB964B3E1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6689385" y="2563389"/>
                <a:ext cx="0" cy="952500"/>
              </a:xfrm>
              <a:prstGeom prst="line">
                <a:avLst/>
              </a:prstGeom>
              <a:noFill/>
              <a:ln w="381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Line 57">
                <a:extLst>
                  <a:ext uri="{FF2B5EF4-FFF2-40B4-BE49-F238E27FC236}">
                    <a16:creationId xmlns:a16="http://schemas.microsoft.com/office/drawing/2014/main" id="{37387F72-A34E-6CCE-4D3D-6BD10A951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89208" y="2707844"/>
                <a:ext cx="3175" cy="622499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Oval 3">
                <a:extLst>
                  <a:ext uri="{FF2B5EF4-FFF2-40B4-BE49-F238E27FC236}">
                    <a16:creationId xmlns:a16="http://schemas.microsoft.com/office/drawing/2014/main" id="{C149D98A-0938-332B-BDA0-0F7EE3874F9D}"/>
                  </a:ext>
                </a:extLst>
              </p:cNvPr>
              <p:cNvSpPr/>
              <p:nvPr/>
            </p:nvSpPr>
            <p:spPr bwMode="auto">
              <a:xfrm>
                <a:off x="6656047" y="2815420"/>
                <a:ext cx="863600" cy="431799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9" name="Line 58">
              <a:extLst>
                <a:ext uri="{FF2B5EF4-FFF2-40B4-BE49-F238E27FC236}">
                  <a16:creationId xmlns:a16="http://schemas.microsoft.com/office/drawing/2014/main" id="{78B7828F-2CFE-8464-3807-FCC3212444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6684606" y="3563603"/>
              <a:ext cx="0" cy="95250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Oval 111">
              <a:extLst>
                <a:ext uri="{FF2B5EF4-FFF2-40B4-BE49-F238E27FC236}">
                  <a16:creationId xmlns:a16="http://schemas.microsoft.com/office/drawing/2014/main" id="{6441C67C-5043-EDF2-A889-E6FB15080F1B}"/>
                </a:ext>
              </a:extLst>
            </p:cNvPr>
            <p:cNvSpPr/>
            <p:nvPr/>
          </p:nvSpPr>
          <p:spPr bwMode="auto">
            <a:xfrm>
              <a:off x="6651285" y="3815544"/>
              <a:ext cx="863600" cy="431799"/>
            </a:xfrm>
            <a:prstGeom prst="ellipse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Oval 77">
              <a:extLst>
                <a:ext uri="{FF2B5EF4-FFF2-40B4-BE49-F238E27FC236}">
                  <a16:creationId xmlns:a16="http://schemas.microsoft.com/office/drawing/2014/main" id="{A5B8804A-C714-5756-28C9-97D720710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6603" y="3972009"/>
              <a:ext cx="146050" cy="14446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1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 Box 55">
              <a:extLst>
                <a:ext uri="{FF2B5EF4-FFF2-40B4-BE49-F238E27FC236}">
                  <a16:creationId xmlns:a16="http://schemas.microsoft.com/office/drawing/2014/main" id="{2607E65D-414E-46FC-41DD-2536AC846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3165" y="2490457"/>
              <a:ext cx="361290" cy="310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93" name="Text Box 55">
              <a:extLst>
                <a:ext uri="{FF2B5EF4-FFF2-40B4-BE49-F238E27FC236}">
                  <a16:creationId xmlns:a16="http://schemas.microsoft.com/office/drawing/2014/main" id="{1ACF22E4-5CCD-77C3-78BF-22E7D8D8E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9245" y="3200338"/>
              <a:ext cx="313787" cy="310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4" name="Text Box 104">
              <a:extLst>
                <a:ext uri="{FF2B5EF4-FFF2-40B4-BE49-F238E27FC236}">
                  <a16:creationId xmlns:a16="http://schemas.microsoft.com/office/drawing/2014/main" id="{A20CCF91-6F96-37F7-02A9-E345F0869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2607" y="3983241"/>
              <a:ext cx="631375" cy="35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 err="1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dirty="0" err="1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n</a:t>
              </a:r>
              <a:endPara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8" name="Text Box 70">
            <a:extLst>
              <a:ext uri="{FF2B5EF4-FFF2-40B4-BE49-F238E27FC236}">
                <a16:creationId xmlns:a16="http://schemas.microsoft.com/office/drawing/2014/main" id="{D40740CE-4841-1B0E-8227-C323B2733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885" y="3074490"/>
            <a:ext cx="115768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MN  P</a:t>
            </a:r>
          </a:p>
          <a:p>
            <a:pPr>
              <a:defRPr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圆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// P</a:t>
            </a:r>
          </a:p>
        </p:txBody>
      </p:sp>
      <p:sp>
        <p:nvSpPr>
          <p:cNvPr id="99" name="Text Box 71">
            <a:extLst>
              <a:ext uri="{FF2B5EF4-FFF2-40B4-BE49-F238E27FC236}">
                <a16:creationId xmlns:a16="http://schemas.microsoft.com/office/drawing/2014/main" id="{7F675CC7-0E48-485B-F273-09728F9FB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572" y="3826020"/>
            <a:ext cx="21363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如何将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变换成投影面垂直线？</a:t>
            </a:r>
          </a:p>
        </p:txBody>
      </p:sp>
      <p:sp>
        <p:nvSpPr>
          <p:cNvPr id="100" name="Rectangle 72">
            <a:extLst>
              <a:ext uri="{FF2B5EF4-FFF2-40B4-BE49-F238E27FC236}">
                <a16:creationId xmlns:a16="http://schemas.microsoft.com/office/drawing/2014/main" id="{504A7773-69E7-AD95-71A0-C3CF0984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588" y="4706182"/>
            <a:ext cx="12602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//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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 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2DBC51A-CFFF-39A6-430B-1B2DEBACC323}"/>
              </a:ext>
            </a:extLst>
          </p:cNvPr>
          <p:cNvGrpSpPr/>
          <p:nvPr/>
        </p:nvGrpSpPr>
        <p:grpSpPr>
          <a:xfrm>
            <a:off x="4248983" y="5823808"/>
            <a:ext cx="4434144" cy="461665"/>
            <a:chOff x="4248983" y="5673243"/>
            <a:chExt cx="4434144" cy="461665"/>
          </a:xfrm>
        </p:grpSpPr>
        <p:sp>
          <p:nvSpPr>
            <p:cNvPr id="101" name="Text Box 53">
              <a:extLst>
                <a:ext uri="{FF2B5EF4-FFF2-40B4-BE49-F238E27FC236}">
                  <a16:creationId xmlns:a16="http://schemas.microsoft.com/office/drawing/2014/main" id="{26088BE6-CD82-0571-F6FE-0BF6554CC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1678" y="5704020"/>
              <a:ext cx="295144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just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MN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变成投影面垂直线</a:t>
              </a:r>
            </a:p>
          </p:txBody>
        </p:sp>
        <p:sp>
          <p:nvSpPr>
            <p:cNvPr id="102" name="Text Box 32">
              <a:extLst>
                <a:ext uri="{FF2B5EF4-FFF2-40B4-BE49-F238E27FC236}">
                  <a16:creationId xmlns:a16="http://schemas.microsoft.com/office/drawing/2014/main" id="{6BDC015A-F27E-BD4B-65B0-6C97EF667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983" y="5673243"/>
              <a:ext cx="14157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投影分析</a:t>
              </a:r>
            </a:p>
          </p:txBody>
        </p:sp>
      </p:grpSp>
      <p:sp>
        <p:nvSpPr>
          <p:cNvPr id="103" name="Rectangle 2">
            <a:extLst>
              <a:ext uri="{FF2B5EF4-FFF2-40B4-BE49-F238E27FC236}">
                <a16:creationId xmlns:a16="http://schemas.microsoft.com/office/drawing/2014/main" id="{E29D876E-E8E7-058F-D7CC-59C13B23975D}"/>
              </a:ext>
            </a:extLst>
          </p:cNvPr>
          <p:cNvSpPr/>
          <p:nvPr/>
        </p:nvSpPr>
        <p:spPr>
          <a:xfrm>
            <a:off x="3739791" y="1926198"/>
            <a:ext cx="5227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首先确定点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运动轨迹与平面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的交线</a:t>
            </a:r>
          </a:p>
        </p:txBody>
      </p:sp>
    </p:spTree>
    <p:extLst>
      <p:ext uri="{BB962C8B-B14F-4D97-AF65-F5344CB8AC3E}">
        <p14:creationId xmlns:p14="http://schemas.microsoft.com/office/powerpoint/2010/main" val="20327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utoUpdateAnimBg="0"/>
      <p:bldP spid="5" grpId="0" build="p" autoUpdateAnimBg="0"/>
      <p:bldP spid="16" grpId="0" animBg="1"/>
      <p:bldP spid="18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utoUpdateAnimBg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65" grpId="0"/>
      <p:bldP spid="66" grpId="0"/>
      <p:bldP spid="67" grpId="0"/>
      <p:bldP spid="69" grpId="0" autoUpdateAnimBg="0"/>
      <p:bldP spid="71" grpId="0" autoUpdateAnimBg="0"/>
      <p:bldP spid="72" grpId="0" autoUpdateAnimBg="0"/>
      <p:bldP spid="98" grpId="0"/>
      <p:bldP spid="99" grpId="0"/>
      <p:bldP spid="100" grpId="0"/>
      <p:bldP spid="10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CDD7-2A96-89E3-58E1-5DEDD139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3647DFA-A237-B3B7-E3DD-5B48D25D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CCD8073-8C8C-BCB7-C750-C6B4D77E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F2D184F-DE8D-86DE-C573-6EF75E13D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89B94CF-C62B-F3B9-87B9-0CFD2A77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376" y="1841550"/>
            <a:ext cx="27815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选择新投影面的原则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B88FCA-9503-BA94-FB3A-97CDEAB4B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376" y="2445688"/>
            <a:ext cx="27815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点的一次换面的作图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B16F41-1446-078E-1F96-E4D08740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376" y="3069306"/>
            <a:ext cx="27815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四个基本作图问题：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107D6D2B-327C-376E-6E45-1278F3CA0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606" y="5543122"/>
            <a:ext cx="46346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将一般位置平面变换成投影面平行面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AF77F399-2CE0-56CA-EEB5-A29A96991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606" y="4926390"/>
            <a:ext cx="46346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将一般位置平面变换成投影面垂直面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894E2BF9-CF62-499C-18B9-E8504583D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606" y="4309657"/>
            <a:ext cx="46346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将一般位置直线变换成投影面垂直线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E1ED63A6-2808-7EFD-7DE1-C7DA5AE8F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606" y="3692924"/>
            <a:ext cx="46346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将一般位置直线变换成投影面平行线</a:t>
            </a:r>
          </a:p>
        </p:txBody>
      </p:sp>
    </p:spTree>
    <p:extLst>
      <p:ext uri="{BB962C8B-B14F-4D97-AF65-F5344CB8AC3E}">
        <p14:creationId xmlns:p14="http://schemas.microsoft.com/office/powerpoint/2010/main" val="222980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42E2-7EC8-E025-60BD-489BDBF6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5B9DE31-E55A-35BE-9952-F05DFF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965E339-68FD-F22F-DB92-9BDE3EF7C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投影变换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7B665BC-AD44-3E1A-734E-843EBE5F9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BAA779A-A784-4BB1-99BC-871B11D168A6}"/>
              </a:ext>
            </a:extLst>
          </p:cNvPr>
          <p:cNvGrpSpPr/>
          <p:nvPr/>
        </p:nvGrpSpPr>
        <p:grpSpPr>
          <a:xfrm>
            <a:off x="827585" y="2492896"/>
            <a:ext cx="1728191" cy="2204805"/>
            <a:chOff x="827585" y="2492896"/>
            <a:chExt cx="1728191" cy="2204805"/>
          </a:xfrm>
        </p:grpSpPr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CDE55D3B-4A95-E2B9-8F7B-FC50C6BCB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5" y="2492896"/>
              <a:ext cx="1728191" cy="483476"/>
            </a:xfrm>
            <a:prstGeom prst="rect">
              <a:avLst/>
            </a:prstGeom>
            <a:solidFill>
              <a:srgbClr val="002060"/>
            </a:solidFill>
            <a:ln w="190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wrap="square" lIns="91440" tIns="45720" rIns="91440" bIns="67320" anchor="ctr">
              <a:spAutoFit/>
            </a:bodyPr>
            <a:lstStyle/>
            <a:p>
              <a:pPr algn="ctr"/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空间分析</a:t>
              </a:r>
              <a:endParaRPr lang="zh-CN" altLang="en-US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964B335-F265-1E27-63D4-31A261F6D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5" y="3501008"/>
              <a:ext cx="1728191" cy="1196693"/>
            </a:xfrm>
            <a:prstGeom prst="rect">
              <a:avLst/>
            </a:prstGeom>
            <a:noFill/>
            <a:ln w="190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wrap="square" lIns="91440" tIns="45720" rIns="91440" bIns="4212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建立所求结果的空间几何模型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ECAA4A-8184-17D1-87BE-750874EF1C71}"/>
              </a:ext>
            </a:extLst>
          </p:cNvPr>
          <p:cNvGrpSpPr/>
          <p:nvPr/>
        </p:nvGrpSpPr>
        <p:grpSpPr>
          <a:xfrm>
            <a:off x="2748502" y="2456892"/>
            <a:ext cx="2857023" cy="2979473"/>
            <a:chOff x="2748502" y="2456892"/>
            <a:chExt cx="2857023" cy="297947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B17D4A0-FAEC-1389-AE07-5CD4CE4E87B8}"/>
                </a:ext>
              </a:extLst>
            </p:cNvPr>
            <p:cNvGrpSpPr/>
            <p:nvPr/>
          </p:nvGrpSpPr>
          <p:grpSpPr>
            <a:xfrm>
              <a:off x="3589301" y="2492896"/>
              <a:ext cx="2016224" cy="2943469"/>
              <a:chOff x="3563888" y="2492896"/>
              <a:chExt cx="2016224" cy="2943469"/>
            </a:xfrm>
          </p:grpSpPr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E282172B-555B-B623-CB6A-94F028122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3888" y="2492896"/>
                <a:ext cx="2016224" cy="483476"/>
              </a:xfrm>
              <a:prstGeom prst="rect">
                <a:avLst/>
              </a:prstGeom>
              <a:solidFill>
                <a:srgbClr val="002060"/>
              </a:solidFill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67320" anchor="ctr">
                <a:spAutoFit/>
              </a:bodyPr>
              <a:lstStyle/>
              <a:p>
                <a:pPr algn="ctr"/>
                <a:r>
                  <a:rPr lang="zh-CN" altLang="en-US" sz="2400" b="1" spc="3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过程分析</a:t>
                </a:r>
                <a:endParaRPr lang="zh-CN" altLang="en-US" sz="24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1ECB6D17-2CA7-4308-975A-79431D393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3888" y="3501008"/>
                <a:ext cx="2016224" cy="1935357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2120" anchor="ctr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分析如何从原投影面体系变换到新投影面体系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需几次变换）</a:t>
                </a:r>
              </a:p>
            </p:txBody>
          </p:sp>
        </p:grpSp>
        <p:sp>
          <p:nvSpPr>
            <p:cNvPr id="22" name="箭头: 虚尾 21">
              <a:extLst>
                <a:ext uri="{FF2B5EF4-FFF2-40B4-BE49-F238E27FC236}">
                  <a16:creationId xmlns:a16="http://schemas.microsoft.com/office/drawing/2014/main" id="{CF0374B9-C241-FCE0-2BB7-ED48CCD88EAF}"/>
                </a:ext>
              </a:extLst>
            </p:cNvPr>
            <p:cNvSpPr/>
            <p:nvPr/>
          </p:nvSpPr>
          <p:spPr>
            <a:xfrm>
              <a:off x="2748502" y="2456892"/>
              <a:ext cx="648072" cy="555484"/>
            </a:xfrm>
            <a:prstGeom prst="striped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24A46C-C853-E65C-F3EE-D17CF37163A8}"/>
              </a:ext>
            </a:extLst>
          </p:cNvPr>
          <p:cNvGrpSpPr/>
          <p:nvPr/>
        </p:nvGrpSpPr>
        <p:grpSpPr>
          <a:xfrm>
            <a:off x="5798251" y="2456892"/>
            <a:ext cx="2568989" cy="2610141"/>
            <a:chOff x="5798251" y="2456892"/>
            <a:chExt cx="2568989" cy="2610141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1553179-62F2-A442-2B61-09316F3E82C4}"/>
                </a:ext>
              </a:extLst>
            </p:cNvPr>
            <p:cNvGrpSpPr/>
            <p:nvPr/>
          </p:nvGrpSpPr>
          <p:grpSpPr>
            <a:xfrm>
              <a:off x="6639049" y="2492896"/>
              <a:ext cx="1728191" cy="2574137"/>
              <a:chOff x="6639049" y="2492896"/>
              <a:chExt cx="1728191" cy="2574137"/>
            </a:xfrm>
          </p:grpSpPr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7AB963F0-184A-BF7C-99C5-031C76FB77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9049" y="2492896"/>
                <a:ext cx="1728191" cy="483476"/>
              </a:xfrm>
              <a:prstGeom prst="rect">
                <a:avLst/>
              </a:prstGeom>
              <a:solidFill>
                <a:srgbClr val="002060"/>
              </a:solidFill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67320" anchor="ctr">
                <a:spAutoFit/>
              </a:bodyPr>
              <a:lstStyle/>
              <a:p>
                <a:pPr algn="ctr"/>
                <a:r>
                  <a:rPr lang="zh-CN" altLang="en-US" sz="2400" b="1" spc="3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投影分析</a:t>
                </a:r>
                <a:endParaRPr lang="zh-CN" altLang="en-US" sz="240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 Box 13">
                <a:extLst>
                  <a:ext uri="{FF2B5EF4-FFF2-40B4-BE49-F238E27FC236}">
                    <a16:creationId xmlns:a16="http://schemas.microsoft.com/office/drawing/2014/main" id="{270B796B-65D8-35DF-2CAF-1976311FD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9049" y="3501008"/>
                <a:ext cx="1728191" cy="1566025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  <a:miter lim="800000"/>
                <a:headEnd/>
                <a:tailEnd/>
              </a:ln>
              <a:effectLst/>
            </p:spPr>
            <p:txBody>
              <a:bodyPr wrap="square" lIns="91440" tIns="45720" rIns="91440" bIns="4212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每一次变换中新投影轴的方向如何确定</a:t>
                </a:r>
              </a:p>
            </p:txBody>
          </p:sp>
        </p:grpSp>
        <p:sp>
          <p:nvSpPr>
            <p:cNvPr id="23" name="箭头: 虚尾 22">
              <a:extLst>
                <a:ext uri="{FF2B5EF4-FFF2-40B4-BE49-F238E27FC236}">
                  <a16:creationId xmlns:a16="http://schemas.microsoft.com/office/drawing/2014/main" id="{44FD758C-5119-92F8-7800-EB5A077052E2}"/>
                </a:ext>
              </a:extLst>
            </p:cNvPr>
            <p:cNvSpPr/>
            <p:nvPr/>
          </p:nvSpPr>
          <p:spPr>
            <a:xfrm>
              <a:off x="5798251" y="2456892"/>
              <a:ext cx="648072" cy="555484"/>
            </a:xfrm>
            <a:prstGeom prst="striped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952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0E4F6B3-07A3-185A-EF90-7F58A87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35</a:t>
            </a:fld>
            <a:endParaRPr lang="en-US" altLang="zh-CN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420" y="412173"/>
            <a:ext cx="30091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FCC83B-C54B-FD42-4C25-CE5769A4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9162" y="1556792"/>
            <a:ext cx="2005677" cy="1630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P13 – 1, 2, 4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P14 – 7, 8, 9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P16 – 2, 3</a:t>
            </a:r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6150</TotalTime>
  <Words>2013</Words>
  <Application>Microsoft Office PowerPoint</Application>
  <PresentationFormat>全屏显示(4:3)</PresentationFormat>
  <Paragraphs>642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黑体</vt:lpstr>
      <vt:lpstr>华文细黑</vt:lpstr>
      <vt:lpstr>华文新魏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主题​​</vt:lpstr>
      <vt:lpstr>PowerPoint 演示文稿</vt:lpstr>
      <vt:lpstr>投影变换</vt:lpstr>
      <vt:lpstr>PowerPoint 演示文稿</vt:lpstr>
      <vt:lpstr>4.1 投影变换概述</vt:lpstr>
      <vt:lpstr>PowerPoint 演示文稿</vt:lpstr>
      <vt:lpstr>PowerPoint 演示文稿</vt:lpstr>
      <vt:lpstr>4.2 新投影面选择原则</vt:lpstr>
      <vt:lpstr>PowerPoint 演示文稿</vt:lpstr>
      <vt:lpstr>4.3 点的投影变换规律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四个基本问题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 工程应用问题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1046</cp:revision>
  <dcterms:created xsi:type="dcterms:W3CDTF">2013-06-24T05:49:57Z</dcterms:created>
  <dcterms:modified xsi:type="dcterms:W3CDTF">2025-03-03T04:43:05Z</dcterms:modified>
</cp:coreProperties>
</file>