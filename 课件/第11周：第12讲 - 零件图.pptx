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82" r:id="rId3"/>
    <p:sldId id="259" r:id="rId4"/>
    <p:sldId id="262" r:id="rId5"/>
    <p:sldId id="647" r:id="rId7"/>
    <p:sldId id="478" r:id="rId8"/>
    <p:sldId id="706" r:id="rId9"/>
    <p:sldId id="707" r:id="rId10"/>
    <p:sldId id="708" r:id="rId11"/>
    <p:sldId id="710" r:id="rId12"/>
    <p:sldId id="715" r:id="rId13"/>
    <p:sldId id="713" r:id="rId14"/>
    <p:sldId id="714" r:id="rId15"/>
    <p:sldId id="711" r:id="rId16"/>
    <p:sldId id="712" r:id="rId17"/>
    <p:sldId id="666" r:id="rId18"/>
    <p:sldId id="663" r:id="rId19"/>
    <p:sldId id="716" r:id="rId20"/>
    <p:sldId id="717" r:id="rId21"/>
    <p:sldId id="718" r:id="rId22"/>
    <p:sldId id="719" r:id="rId23"/>
    <p:sldId id="720" r:id="rId24"/>
    <p:sldId id="721" r:id="rId25"/>
    <p:sldId id="722" r:id="rId26"/>
    <p:sldId id="723" r:id="rId27"/>
    <p:sldId id="728" r:id="rId28"/>
    <p:sldId id="729" r:id="rId29"/>
    <p:sldId id="730" r:id="rId30"/>
    <p:sldId id="724" r:id="rId31"/>
    <p:sldId id="725" r:id="rId32"/>
    <p:sldId id="726" r:id="rId33"/>
    <p:sldId id="731" r:id="rId34"/>
    <p:sldId id="732" r:id="rId35"/>
    <p:sldId id="733" r:id="rId36"/>
    <p:sldId id="734" r:id="rId37"/>
    <p:sldId id="735" r:id="rId38"/>
    <p:sldId id="736" r:id="rId39"/>
    <p:sldId id="727" r:id="rId40"/>
    <p:sldId id="737" r:id="rId41"/>
    <p:sldId id="738" r:id="rId42"/>
    <p:sldId id="739" r:id="rId43"/>
    <p:sldId id="740" r:id="rId44"/>
    <p:sldId id="741" r:id="rId45"/>
    <p:sldId id="742" r:id="rId46"/>
    <p:sldId id="743" r:id="rId47"/>
    <p:sldId id="747" r:id="rId48"/>
    <p:sldId id="683" r:id="rId49"/>
    <p:sldId id="680" r:id="rId50"/>
    <p:sldId id="750" r:id="rId51"/>
    <p:sldId id="751" r:id="rId52"/>
    <p:sldId id="752" r:id="rId53"/>
    <p:sldId id="753" r:id="rId54"/>
    <p:sldId id="755" r:id="rId55"/>
    <p:sldId id="756" r:id="rId56"/>
    <p:sldId id="758" r:id="rId57"/>
    <p:sldId id="764" r:id="rId58"/>
    <p:sldId id="765" r:id="rId59"/>
    <p:sldId id="766" r:id="rId60"/>
    <p:sldId id="767" r:id="rId61"/>
    <p:sldId id="768" r:id="rId62"/>
    <p:sldId id="762" r:id="rId63"/>
    <p:sldId id="763" r:id="rId64"/>
    <p:sldId id="769" r:id="rId65"/>
    <p:sldId id="770" r:id="rId66"/>
    <p:sldId id="771" r:id="rId67"/>
    <p:sldId id="772" r:id="rId68"/>
    <p:sldId id="773" r:id="rId69"/>
    <p:sldId id="774" r:id="rId70"/>
    <p:sldId id="775" r:id="rId71"/>
    <p:sldId id="776" r:id="rId72"/>
    <p:sldId id="759" r:id="rId73"/>
    <p:sldId id="760" r:id="rId74"/>
    <p:sldId id="761" r:id="rId75"/>
    <p:sldId id="372" r:id="rId76"/>
  </p:sldIdLst>
  <p:sldSz cx="12192000" cy="6858000"/>
  <p:notesSz cx="6858000" cy="9144000"/>
  <p:custDataLst>
    <p:tags r:id="rId8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D67"/>
    <a:srgbClr val="006049"/>
    <a:srgbClr val="8A12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8" autoAdjust="0"/>
    <p:restoredTop sz="91938" autoAdjust="0"/>
  </p:normalViewPr>
  <p:slideViewPr>
    <p:cSldViewPr>
      <p:cViewPr varScale="1">
        <p:scale>
          <a:sx n="88" d="100"/>
          <a:sy n="88" d="100"/>
        </p:scale>
        <p:origin x="54" y="864"/>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gs" Target="tags/tag1.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42BA9AD9-FC80-4497-8484-7A4D9608DE10}"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D718B667-CE80-41CC-B4D3-969832BB2FCC}"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zh-CN" altLang="en-US" dirty="0"/>
          </a:p>
        </p:txBody>
      </p:sp>
      <p:sp>
        <p:nvSpPr>
          <p:cNvPr id="4" name="Slide Number Placeholder 3"/>
          <p:cNvSpPr>
            <a:spLocks noGrp="1"/>
          </p:cNvSpPr>
          <p:nvPr>
            <p:ph type="sldNum" sz="quarter" idx="10"/>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718B667-CE80-41CC-B4D3-969832BB2FC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每讲标题页">
    <p:spTree>
      <p:nvGrpSpPr>
        <p:cNvPr id="1" name=""/>
        <p:cNvGrpSpPr/>
        <p:nvPr/>
      </p:nvGrpSpPr>
      <p:grpSpPr>
        <a:xfrm>
          <a:off x="0" y="0"/>
          <a:ext cx="0" cy="0"/>
          <a:chOff x="0" y="0"/>
          <a:chExt cx="0" cy="0"/>
        </a:xfrm>
      </p:grpSpPr>
      <p:sp>
        <p:nvSpPr>
          <p:cNvPr id="13" name="Rectangle 2"/>
          <p:cNvSpPr>
            <a:spLocks noGrp="1" noChangeArrowheads="1"/>
          </p:cNvSpPr>
          <p:nvPr>
            <p:ph type="ctrTitle" idx="4294967295" hasCustomPrompt="1"/>
          </p:nvPr>
        </p:nvSpPr>
        <p:spPr>
          <a:xfrm>
            <a:off x="719403" y="2420888"/>
            <a:ext cx="10464800" cy="1371600"/>
          </a:xfrm>
        </p:spPr>
        <p:txBody>
          <a:bodyPr/>
          <a:lstStyle>
            <a:lvl1pPr>
              <a:defRPr/>
            </a:lvl1pPr>
          </a:lstStyle>
          <a:p>
            <a:r>
              <a:rPr lang="zh-CN" altLang="en-US" b="1" dirty="0">
                <a:latin typeface="黑体" panose="02010609060101010101" pitchFamily="2" charset="-122"/>
                <a:ea typeface="黑体" panose="02010609060101010101" pitchFamily="2" charset="-122"/>
              </a:rPr>
              <a:t>第 </a:t>
            </a:r>
            <a:r>
              <a:rPr lang="en-US" altLang="zh-CN" b="1" dirty="0">
                <a:latin typeface="黑体" panose="02010609060101010101" pitchFamily="2" charset="-122"/>
                <a:ea typeface="黑体" panose="02010609060101010101" pitchFamily="2" charset="-122"/>
              </a:rPr>
              <a:t># </a:t>
            </a:r>
            <a:r>
              <a:rPr lang="zh-CN" altLang="en-US" b="1" dirty="0">
                <a:latin typeface="黑体" panose="02010609060101010101" pitchFamily="2" charset="-122"/>
                <a:ea typeface="黑体" panose="02010609060101010101" pitchFamily="2" charset="-122"/>
              </a:rPr>
              <a:t>讲  标题</a:t>
            </a:r>
            <a:endParaRPr lang="zh-CN" altLang="en-US" sz="2000" dirty="0">
              <a:latin typeface="黑体" panose="02010609060101010101" pitchFamily="2" charset="-122"/>
              <a:ea typeface="黑体" panose="02010609060101010101" pitchFamily="2" charset="-122"/>
            </a:endParaRPr>
          </a:p>
        </p:txBody>
      </p:sp>
      <p:sp>
        <p:nvSpPr>
          <p:cNvPr id="14" name="Rectangle 2"/>
          <p:cNvSpPr>
            <a:spLocks noChangeArrowheads="1"/>
          </p:cNvSpPr>
          <p:nvPr userDrawn="1"/>
        </p:nvSpPr>
        <p:spPr bwMode="auto">
          <a:xfrm>
            <a:off x="2216749" y="1656783"/>
            <a:ext cx="1586541" cy="45719"/>
          </a:xfrm>
          <a:prstGeom prst="rect">
            <a:avLst/>
          </a:prstGeom>
          <a:gradFill rotWithShape="0">
            <a:gsLst>
              <a:gs pos="0">
                <a:srgbClr val="DCDCEA"/>
              </a:gs>
              <a:gs pos="100000">
                <a:srgbClr val="000066"/>
              </a:gs>
            </a:gsLst>
            <a:lin ang="5400000" scaled="1"/>
          </a:gradFill>
          <a:ln w="9525">
            <a:noFill/>
            <a:miter lim="800000"/>
          </a:ln>
        </p:spPr>
        <p:txBody>
          <a:bodyPr wrap="none" anchor="ctr"/>
          <a:lstStyle/>
          <a:p>
            <a:pPr eaLnBrk="0" hangingPunct="0"/>
            <a:endParaRPr lang="zh-CN" altLang="en-US" sz="2000"/>
          </a:p>
        </p:txBody>
      </p:sp>
      <p:sp>
        <p:nvSpPr>
          <p:cNvPr id="15" name="Text Box 10"/>
          <p:cNvSpPr txBox="1">
            <a:spLocks noChangeArrowheads="1"/>
          </p:cNvSpPr>
          <p:nvPr userDrawn="1"/>
        </p:nvSpPr>
        <p:spPr bwMode="auto">
          <a:xfrm>
            <a:off x="2228395" y="1056171"/>
            <a:ext cx="1563248" cy="646331"/>
          </a:xfrm>
          <a:prstGeom prst="rect">
            <a:avLst/>
          </a:prstGeom>
          <a:noFill/>
          <a:ln w="9525">
            <a:noFill/>
            <a:miter lim="800000"/>
          </a:ln>
        </p:spPr>
        <p:txBody>
          <a:bodyPr wrap="none">
            <a:spAutoFit/>
          </a:bodyPr>
          <a:lstStyle/>
          <a:p>
            <a:pPr eaLnBrk="0" hangingPunct="0"/>
            <a:r>
              <a:rPr lang="zh-CN" altLang="en-US" sz="3600" b="1" dirty="0">
                <a:solidFill>
                  <a:srgbClr val="010000"/>
                </a:solidFill>
                <a:latin typeface="华文新魏" panose="02010800040101010101" pitchFamily="2" charset="-122"/>
                <a:ea typeface="华文新魏" panose="02010800040101010101" pitchFamily="2" charset="-122"/>
              </a:rPr>
              <a:t>第    讲</a:t>
            </a:r>
            <a:endParaRPr lang="zh-CN" altLang="en-US" sz="3600" b="1" dirty="0">
              <a:solidFill>
                <a:srgbClr val="010000"/>
              </a:solidFill>
              <a:latin typeface="华文新魏" panose="02010800040101010101" pitchFamily="2" charset="-122"/>
              <a:ea typeface="华文新魏" panose="02010800040101010101" pitchFamily="2" charset="-122"/>
            </a:endParaRPr>
          </a:p>
        </p:txBody>
      </p:sp>
      <p:pic>
        <p:nvPicPr>
          <p:cNvPr id="1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82832" y="366323"/>
            <a:ext cx="1561418" cy="1379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每讲标题页">
    <p:spTree>
      <p:nvGrpSpPr>
        <p:cNvPr id="1" name=""/>
        <p:cNvGrpSpPr/>
        <p:nvPr/>
      </p:nvGrpSpPr>
      <p:grpSpPr>
        <a:xfrm>
          <a:off x="0" y="0"/>
          <a:ext cx="0" cy="0"/>
          <a:chOff x="0" y="0"/>
          <a:chExt cx="0" cy="0"/>
        </a:xfrm>
      </p:grpSpPr>
      <p:pic>
        <p:nvPicPr>
          <p:cNvPr id="2" name="图片 1" descr="建筑的设计&#10;&#10;描述已自动生成"/>
          <p:cNvPicPr>
            <a:picLocks noChangeAspect="1"/>
          </p:cNvPicPr>
          <p:nvPr userDrawn="1"/>
        </p:nvPicPr>
        <p:blipFill rotWithShape="1">
          <a:blip r:embed="rId2">
            <a:alphaModFix amt="20000"/>
            <a:extLst>
              <a:ext uri="{28A0092B-C50C-407E-A947-70E740481C1C}">
                <a14:useLocalDpi xmlns:a14="http://schemas.microsoft.com/office/drawing/2010/main" val="0"/>
              </a:ext>
            </a:extLst>
          </a:blip>
          <a:srcRect l="19483" r="2347"/>
          <a:stretch>
            <a:fillRect/>
          </a:stretch>
        </p:blipFill>
        <p:spPr>
          <a:xfrm>
            <a:off x="8184232" y="3733164"/>
            <a:ext cx="4170330" cy="3124836"/>
          </a:xfrm>
          <a:prstGeom prst="rect">
            <a:avLst/>
          </a:prstGeom>
        </p:spPr>
      </p:pic>
      <p:sp>
        <p:nvSpPr>
          <p:cNvPr id="3" name="矩形 2"/>
          <p:cNvSpPr/>
          <p:nvPr userDrawn="1"/>
        </p:nvSpPr>
        <p:spPr>
          <a:xfrm>
            <a:off x="0" y="1624935"/>
            <a:ext cx="12192000" cy="144000"/>
          </a:xfrm>
          <a:prstGeom prst="rect">
            <a:avLst/>
          </a:prstGeom>
          <a:gradFill>
            <a:gsLst>
              <a:gs pos="50000">
                <a:schemeClr val="accent3">
                  <a:lumMod val="20000"/>
                  <a:lumOff val="80000"/>
                </a:schemeClr>
              </a:gs>
              <a:gs pos="0">
                <a:schemeClr val="accent3"/>
              </a:gs>
              <a:gs pos="25000">
                <a:srgbClr val="800D90">
                  <a:alpha val="50000"/>
                  <a:lumMod val="100000"/>
                </a:srgbClr>
              </a:gs>
              <a:gs pos="75000">
                <a:srgbClr val="800D90">
                  <a:alpha val="50000"/>
                  <a:lumMod val="100000"/>
                </a:srgbClr>
              </a:gs>
              <a:gs pos="100000">
                <a:schemeClr val="accent3"/>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874"/>
              </a:solidFill>
            </a:endParaRPr>
          </a:p>
        </p:txBody>
      </p:sp>
      <p:sp>
        <p:nvSpPr>
          <p:cNvPr id="4" name="文本占位符 19"/>
          <p:cNvSpPr>
            <a:spLocks noGrp="1"/>
          </p:cNvSpPr>
          <p:nvPr>
            <p:ph type="body" sz="quarter" idx="11" hasCustomPrompt="1"/>
          </p:nvPr>
        </p:nvSpPr>
        <p:spPr>
          <a:xfrm>
            <a:off x="2558334" y="2789966"/>
            <a:ext cx="7075334" cy="646331"/>
          </a:xfrm>
        </p:spPr>
        <p:txBody>
          <a:bodyPr wrap="none" anchor="ctr" anchorCtr="0">
            <a:spAutoFit/>
          </a:bodyPr>
          <a:lstStyle>
            <a:lvl1pPr marL="0" indent="0" algn="ctr">
              <a:buNone/>
              <a:defRPr sz="3600" b="1" i="0">
                <a:solidFill>
                  <a:schemeClr val="accent3"/>
                </a:solidFill>
                <a:latin typeface="微软雅黑" panose="020B0503020204020204" pitchFamily="34" charset="-122"/>
                <a:ea typeface="微软雅黑" panose="020B0503020204020204" pitchFamily="34" charset="-122"/>
              </a:defRPr>
            </a:lvl1pPr>
          </a:lstStyle>
          <a:p>
            <a:pPr lvl="0"/>
            <a:r>
              <a:rPr kumimoji="1" lang="zh-CN" altLang="en-US" dirty="0"/>
              <a:t>标题，微软雅黑，</a:t>
            </a:r>
            <a:r>
              <a:rPr kumimoji="1" lang="en-US" altLang="zh-CN" dirty="0"/>
              <a:t>regular</a:t>
            </a:r>
            <a:r>
              <a:rPr kumimoji="1" lang="zh-CN" altLang="en-US" dirty="0"/>
              <a:t>，</a:t>
            </a:r>
            <a:r>
              <a:rPr kumimoji="1" lang="en-US" altLang="zh-CN" dirty="0"/>
              <a:t>36pt</a:t>
            </a:r>
            <a:endParaRPr kumimoji="1" lang="zh-CN" altLang="en-US" dirty="0"/>
          </a:p>
        </p:txBody>
      </p:sp>
      <p:pic>
        <p:nvPicPr>
          <p:cNvPr id="6" name="图片 5"/>
          <p:cNvPicPr>
            <a:picLocks noChangeAspect="1"/>
          </p:cNvPicPr>
          <p:nvPr userDrawn="1"/>
        </p:nvPicPr>
        <p:blipFill>
          <a:blip r:embed="rId3"/>
          <a:stretch>
            <a:fillRect/>
          </a:stretch>
        </p:blipFill>
        <p:spPr>
          <a:xfrm>
            <a:off x="174076" y="123774"/>
            <a:ext cx="3988851" cy="13487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431371" y="1351309"/>
            <a:ext cx="10972800" cy="4525963"/>
          </a:xfrm>
        </p:spPr>
        <p:txBody>
          <a:bodyPr/>
          <a:lstStyle>
            <a:lvl1pPr>
              <a:defRPr b="1">
                <a:latin typeface="黑体" panose="02010609060101010101" pitchFamily="2" charset="-122"/>
                <a:ea typeface="黑体" panose="02010609060101010101" pitchFamily="2" charset="-122"/>
              </a:defRPr>
            </a:lvl1pPr>
            <a:lvl2pPr>
              <a:buNone/>
              <a:defRPr>
                <a:latin typeface="黑体" panose="02010609060101010101" pitchFamily="2" charset="-122"/>
                <a:ea typeface="黑体" panose="02010609060101010101" pitchFamily="2" charset="-122"/>
              </a:defRPr>
            </a:lvl2pPr>
          </a:lstStyle>
          <a:p>
            <a:pPr lvl="0"/>
            <a:r>
              <a:rPr lang="zh-CN" altLang="en-US" dirty="0"/>
              <a:t>三级标题 黑体 </a:t>
            </a:r>
            <a:r>
              <a:rPr lang="en-US" altLang="zh-CN" dirty="0"/>
              <a:t>30</a:t>
            </a:r>
            <a:r>
              <a:rPr lang="zh-CN" altLang="en-US" dirty="0"/>
              <a:t>磅</a:t>
            </a:r>
            <a:endParaRPr lang="zh-CN" altLang="en-US" dirty="0"/>
          </a:p>
          <a:p>
            <a:pPr lvl="1"/>
            <a:r>
              <a:rPr lang="zh-CN" altLang="en-US" dirty="0"/>
              <a:t>正文 （</a:t>
            </a:r>
            <a:r>
              <a:rPr lang="en-US" altLang="zh-CN" dirty="0"/>
              <a:t>24~30</a:t>
            </a:r>
            <a:r>
              <a:rPr lang="zh-CN" altLang="en-US" dirty="0"/>
              <a:t>磅）</a:t>
            </a:r>
            <a:endParaRPr lang="zh-CN" altLang="en-US" dirty="0"/>
          </a:p>
        </p:txBody>
      </p:sp>
      <p:sp>
        <p:nvSpPr>
          <p:cNvPr id="7" name="矩形 4"/>
          <p:cNvSpPr/>
          <p:nvPr userDrawn="1"/>
        </p:nvSpPr>
        <p:spPr>
          <a:xfrm>
            <a:off x="0" y="332659"/>
            <a:ext cx="12192000" cy="72007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11" name="Slide Number Placeholder 4"/>
          <p:cNvSpPr>
            <a:spLocks noGrp="1"/>
          </p:cNvSpPr>
          <p:nvPr>
            <p:ph type="sldNum" sz="quarter" idx="12"/>
          </p:nvPr>
        </p:nvSpPr>
        <p:spPr>
          <a:xfrm>
            <a:off x="9168341" y="6425394"/>
            <a:ext cx="2844800" cy="276999"/>
          </a:xfrm>
        </p:spPr>
        <p:txBody>
          <a:bodyPr wrap="square">
            <a:spAutoFit/>
          </a:bodyPr>
          <a:lstStyle>
            <a:lvl1pPr>
              <a:defRPr>
                <a:solidFill>
                  <a:schemeClr val="tx1">
                    <a:lumMod val="75000"/>
                    <a:lumOff val="25000"/>
                  </a:schemeClr>
                </a:solidFill>
              </a:defRPr>
            </a:lvl1pPr>
          </a:lstStyle>
          <a:p>
            <a:pPr>
              <a:defRPr/>
            </a:pPr>
            <a:fld id="{E5434602-5AA4-4CE6-AF47-D5586F532BC3}" type="slidenum">
              <a:rPr lang="zh-CN" altLang="en-US" smtClean="0"/>
            </a:fld>
            <a:endParaRPr lang="zh-CN" altLang="en-US" dirty="0"/>
          </a:p>
        </p:txBody>
      </p:sp>
      <p:sp>
        <p:nvSpPr>
          <p:cNvPr id="15" name="Rectangle 14"/>
          <p:cNvSpPr>
            <a:spLocks noChangeArrowheads="1"/>
          </p:cNvSpPr>
          <p:nvPr userDrawn="1"/>
        </p:nvSpPr>
        <p:spPr bwMode="auto">
          <a:xfrm flipV="1">
            <a:off x="526734" y="6332240"/>
            <a:ext cx="11665268" cy="49091"/>
          </a:xfrm>
          <a:prstGeom prst="rect">
            <a:avLst/>
          </a:prstGeom>
          <a:solidFill>
            <a:schemeClr val="accent6">
              <a:lumMod val="50000"/>
              <a:alpha val="8117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lstStyle/>
          <a:p>
            <a:pPr algn="ctr"/>
            <a:endParaRPr lang="zh-CN" altLang="zh-CN" sz="4400">
              <a:solidFill>
                <a:srgbClr val="1F497D"/>
              </a:solidFill>
            </a:endParaRPr>
          </a:p>
        </p:txBody>
      </p:sp>
      <p:sp>
        <p:nvSpPr>
          <p:cNvPr id="12" name="Rectangle 11"/>
          <p:cNvSpPr/>
          <p:nvPr userDrawn="1"/>
        </p:nvSpPr>
        <p:spPr>
          <a:xfrm>
            <a:off x="526732" y="6433594"/>
            <a:ext cx="1261884" cy="307777"/>
          </a:xfrm>
          <a:prstGeom prst="rect">
            <a:avLst/>
          </a:prstGeom>
        </p:spPr>
        <p:txBody>
          <a:bodyPr wrap="none">
            <a:spAutoFit/>
          </a:bodyPr>
          <a:lstStyle/>
          <a:p>
            <a:pPr>
              <a:defRPr/>
            </a:pPr>
            <a:r>
              <a:rPr lang="en-US" altLang="zh-CN" sz="1400" b="1" dirty="0">
                <a:solidFill>
                  <a:schemeClr val="tx1">
                    <a:lumMod val="65000"/>
                    <a:lumOff val="35000"/>
                  </a:schemeClr>
                </a:solidFill>
                <a:latin typeface="+mn-ea"/>
                <a:ea typeface="+mn-ea"/>
              </a:rPr>
              <a:t>《</a:t>
            </a:r>
            <a:r>
              <a:rPr lang="zh-CN" altLang="en-US" sz="1400" b="1" dirty="0">
                <a:solidFill>
                  <a:schemeClr val="tx1">
                    <a:lumMod val="65000"/>
                    <a:lumOff val="35000"/>
                  </a:schemeClr>
                </a:solidFill>
                <a:latin typeface="+mn-ea"/>
                <a:ea typeface="+mn-ea"/>
              </a:rPr>
              <a:t>工程图学</a:t>
            </a:r>
            <a:r>
              <a:rPr lang="en-US" altLang="zh-CN" sz="1400" b="1" dirty="0">
                <a:solidFill>
                  <a:schemeClr val="tx1">
                    <a:lumMod val="65000"/>
                    <a:lumOff val="35000"/>
                  </a:schemeClr>
                </a:solidFill>
                <a:latin typeface="+mn-ea"/>
                <a:ea typeface="+mn-ea"/>
              </a:rPr>
              <a:t>》</a:t>
            </a:r>
            <a:endParaRPr lang="zh-CN" altLang="en-US" sz="1400" b="1" dirty="0">
              <a:solidFill>
                <a:schemeClr val="tx1">
                  <a:lumMod val="65000"/>
                  <a:lumOff val="35000"/>
                </a:schemeClr>
              </a:solidFill>
              <a:latin typeface="+mn-ea"/>
              <a:ea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9168341" y="6381331"/>
            <a:ext cx="2844800" cy="365125"/>
          </a:xfrm>
        </p:spPr>
        <p:txBody>
          <a:bodyPr/>
          <a:lstStyle>
            <a:lvl1pPr>
              <a:defRPr>
                <a:solidFill>
                  <a:schemeClr val="tx1">
                    <a:lumMod val="75000"/>
                    <a:lumOff val="25000"/>
                  </a:schemeClr>
                </a:solidFill>
              </a:defRPr>
            </a:lvl1pPr>
          </a:lstStyle>
          <a:p>
            <a:pPr>
              <a:defRPr/>
            </a:pPr>
            <a:fld id="{E5434602-5AA4-4CE6-AF47-D5586F532BC3}" type="slidenum">
              <a:rPr lang="zh-CN" altLang="en-US" smtClean="0"/>
            </a:fld>
            <a:endParaRPr lang="zh-CN" altLang="en-US" dirty="0"/>
          </a:p>
        </p:txBody>
      </p:sp>
      <p:sp>
        <p:nvSpPr>
          <p:cNvPr id="6" name="Rectangle 5"/>
          <p:cNvSpPr>
            <a:spLocks noChangeArrowheads="1"/>
          </p:cNvSpPr>
          <p:nvPr userDrawn="1"/>
        </p:nvSpPr>
        <p:spPr bwMode="auto">
          <a:xfrm flipV="1">
            <a:off x="526734" y="6332240"/>
            <a:ext cx="11665268" cy="49091"/>
          </a:xfrm>
          <a:prstGeom prst="rect">
            <a:avLst/>
          </a:prstGeom>
          <a:solidFill>
            <a:schemeClr val="accent6">
              <a:lumMod val="50000"/>
              <a:alpha val="8117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lstStyle/>
          <a:p>
            <a:pPr algn="ctr"/>
            <a:endParaRPr lang="zh-CN" altLang="zh-CN" sz="4400">
              <a:solidFill>
                <a:srgbClr val="1F497D"/>
              </a:solidFill>
            </a:endParaRPr>
          </a:p>
        </p:txBody>
      </p:sp>
      <p:sp>
        <p:nvSpPr>
          <p:cNvPr id="8" name="Rectangle 7"/>
          <p:cNvSpPr/>
          <p:nvPr userDrawn="1"/>
        </p:nvSpPr>
        <p:spPr>
          <a:xfrm>
            <a:off x="526732" y="6433594"/>
            <a:ext cx="1261884" cy="307777"/>
          </a:xfrm>
          <a:prstGeom prst="rect">
            <a:avLst/>
          </a:prstGeom>
        </p:spPr>
        <p:txBody>
          <a:bodyPr wrap="none">
            <a:spAutoFit/>
          </a:bodyPr>
          <a:lstStyle/>
          <a:p>
            <a:pPr>
              <a:defRPr/>
            </a:pPr>
            <a:r>
              <a:rPr lang="en-US" altLang="zh-CN" sz="1400" b="1" dirty="0">
                <a:solidFill>
                  <a:schemeClr val="tx1">
                    <a:lumMod val="65000"/>
                    <a:lumOff val="35000"/>
                  </a:schemeClr>
                </a:solidFill>
                <a:latin typeface="+mn-ea"/>
                <a:ea typeface="+mn-ea"/>
              </a:rPr>
              <a:t>《</a:t>
            </a:r>
            <a:r>
              <a:rPr lang="zh-CN" altLang="en-US" sz="1400" b="1" dirty="0">
                <a:solidFill>
                  <a:schemeClr val="tx1">
                    <a:lumMod val="65000"/>
                    <a:lumOff val="35000"/>
                  </a:schemeClr>
                </a:solidFill>
                <a:latin typeface="+mn-ea"/>
                <a:ea typeface="+mn-ea"/>
              </a:rPr>
              <a:t>工程图学</a:t>
            </a:r>
            <a:r>
              <a:rPr lang="en-US" altLang="zh-CN" sz="1400" b="1" dirty="0">
                <a:solidFill>
                  <a:schemeClr val="tx1">
                    <a:lumMod val="65000"/>
                    <a:lumOff val="35000"/>
                  </a:schemeClr>
                </a:solidFill>
                <a:latin typeface="+mn-ea"/>
                <a:ea typeface="+mn-ea"/>
              </a:rPr>
              <a:t>》</a:t>
            </a:r>
            <a:endParaRPr lang="zh-CN" altLang="en-US" sz="1400" b="1" dirty="0">
              <a:solidFill>
                <a:schemeClr val="tx1">
                  <a:lumMod val="65000"/>
                  <a:lumOff val="35000"/>
                </a:schemeClr>
              </a:solidFill>
              <a:latin typeface="+mn-ea"/>
              <a:ea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FF4F1FC-A211-41D3-9527-7868687E14E0}"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8D5F606-63DB-4A4B-B594-22747EE2947F}"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434" name="标题占位符 1"/>
          <p:cNvSpPr>
            <a:spLocks noGrp="1"/>
          </p:cNvSpPr>
          <p:nvPr>
            <p:ph type="title"/>
          </p:nvPr>
        </p:nvSpPr>
        <p:spPr bwMode="auto">
          <a:xfrm>
            <a:off x="2351584" y="692696"/>
            <a:ext cx="9230816" cy="724942"/>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8435" name="文本占位符 2"/>
          <p:cNvSpPr>
            <a:spLocks noGrp="1"/>
          </p:cNvSpPr>
          <p:nvPr>
            <p:ph type="body" idx="1"/>
          </p:nvPr>
        </p:nvSpPr>
        <p:spPr bwMode="auto">
          <a:xfrm>
            <a:off x="609600" y="1600203"/>
            <a:ext cx="10972800" cy="452596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9C7F1263-A734-46DB-B37F-609C84242B91}" type="datetimeFigureOut">
              <a:rPr lang="zh-CN" altLang="en-US"/>
            </a:fld>
            <a:endParaRPr lang="zh-CN" altLang="en-US"/>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E5434602-5AA4-4CE6-AF47-D5586F532BC3}"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emf"/></Relationships>
</file>

<file path=ppt/slides/_rels/slide6.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3" Type="http://schemas.openxmlformats.org/officeDocument/2006/relationships/notesSlide" Target="../notesSlides/notesSlide3.xml"/><Relationship Id="rId12" Type="http://schemas.openxmlformats.org/officeDocument/2006/relationships/slideLayout" Target="../slideLayouts/slideLayout3.xml"/><Relationship Id="rId11" Type="http://schemas.openxmlformats.org/officeDocument/2006/relationships/image" Target="../media/image15.png"/><Relationship Id="rId10" Type="http://schemas.openxmlformats.org/officeDocument/2006/relationships/image" Target="../media/image14.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3.xml"/><Relationship Id="rId3" Type="http://schemas.openxmlformats.org/officeDocument/2006/relationships/image" Target="../media/image23.GIF"/><Relationship Id="rId2" Type="http://schemas.openxmlformats.org/officeDocument/2006/relationships/image" Target="../media/image22.png"/><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3.xml"/><Relationship Id="rId2" Type="http://schemas.openxmlformats.org/officeDocument/2006/relationships/image" Target="../media/image32.jpeg"/><Relationship Id="rId1" Type="http://schemas.openxmlformats.org/officeDocument/2006/relationships/image" Target="../media/image16.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16.jpe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29.xml"/><Relationship Id="rId8" Type="http://schemas.openxmlformats.org/officeDocument/2006/relationships/slideLayout" Target="../slideLayouts/slideLayout3.xml"/><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3.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3.xml"/><Relationship Id="rId2" Type="http://schemas.openxmlformats.org/officeDocument/2006/relationships/image" Target="../media/image44.png"/><Relationship Id="rId1" Type="http://schemas.openxmlformats.org/officeDocument/2006/relationships/image" Target="../media/image43.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3.xml"/><Relationship Id="rId2" Type="http://schemas.openxmlformats.org/officeDocument/2006/relationships/image" Target="../media/image46.png"/><Relationship Id="rId1"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46.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3.xml"/><Relationship Id="rId2" Type="http://schemas.openxmlformats.org/officeDocument/2006/relationships/image" Target="../media/image48.png"/><Relationship Id="rId1"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image" Target="../media/image49.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3.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3.xml"/><Relationship Id="rId4" Type="http://schemas.openxmlformats.org/officeDocument/2006/relationships/image" Target="../media/image55.png"/><Relationship Id="rId3" Type="http://schemas.openxmlformats.org/officeDocument/2006/relationships/image" Target="../media/image52.png"/><Relationship Id="rId2" Type="http://schemas.openxmlformats.org/officeDocument/2006/relationships/image" Target="../media/image54.png"/><Relationship Id="rId1" Type="http://schemas.openxmlformats.org/officeDocument/2006/relationships/image" Target="../media/image5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xml"/><Relationship Id="rId2" Type="http://schemas.openxmlformats.org/officeDocument/2006/relationships/image" Target="../media/image57.png"/><Relationship Id="rId1" Type="http://schemas.openxmlformats.org/officeDocument/2006/relationships/image" Target="../media/image5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4229146" y="2697634"/>
            <a:ext cx="3733714" cy="830997"/>
          </a:xfrm>
        </p:spPr>
        <p:txBody>
          <a:bodyPr/>
          <a:lstStyle/>
          <a:p>
            <a:r>
              <a:rPr lang="zh-CN" altLang="en-US" sz="4800" spc="600" dirty="0">
                <a:solidFill>
                  <a:srgbClr val="002060"/>
                </a:solidFill>
                <a:latin typeface="华文细黑" panose="02010600040101010101" pitchFamily="2" charset="-122"/>
                <a:ea typeface="华文细黑" panose="02010600040101010101" pitchFamily="2" charset="-122"/>
              </a:rPr>
              <a:t>工 程 图 学</a:t>
            </a:r>
            <a:endParaRPr lang="zh-CN" altLang="en-US" sz="4800" spc="600" dirty="0">
              <a:solidFill>
                <a:srgbClr val="002060"/>
              </a:solidFill>
              <a:latin typeface="华文细黑" panose="02010600040101010101" pitchFamily="2" charset="-122"/>
              <a:ea typeface="华文细黑" panose="02010600040101010101" pitchFamily="2" charset="-122"/>
            </a:endParaRPr>
          </a:p>
        </p:txBody>
      </p:sp>
      <p:sp>
        <p:nvSpPr>
          <p:cNvPr id="3" name="Rectangle 5"/>
          <p:cNvSpPr>
            <a:spLocks noChangeArrowheads="1"/>
          </p:cNvSpPr>
          <p:nvPr/>
        </p:nvSpPr>
        <p:spPr bwMode="auto">
          <a:xfrm>
            <a:off x="4849506" y="4218819"/>
            <a:ext cx="249299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ctr">
              <a:lnSpc>
                <a:spcPct val="150000"/>
              </a:lnSpc>
              <a:spcBef>
                <a:spcPts val="0"/>
              </a:spcBef>
              <a:buNone/>
            </a:pPr>
            <a:r>
              <a:rPr lang="zh-CN" altLang="en-US" sz="2400" b="1" dirty="0">
                <a:latin typeface="微软雅黑" panose="020B0503020204020204" pitchFamily="34" charset="-122"/>
                <a:ea typeface="微软雅黑" panose="020B0503020204020204" pitchFamily="34" charset="-122"/>
              </a:rPr>
              <a:t>姜   峣</a:t>
            </a:r>
            <a:endParaRPr lang="en-US" altLang="zh-CN" sz="2400" b="1" dirty="0">
              <a:latin typeface="微软雅黑" panose="020B0503020204020204" pitchFamily="34" charset="-122"/>
              <a:ea typeface="微软雅黑" panose="020B0503020204020204" pitchFamily="34" charset="-122"/>
            </a:endParaRPr>
          </a:p>
          <a:p>
            <a:pPr algn="ctr">
              <a:lnSpc>
                <a:spcPct val="150000"/>
              </a:lnSpc>
              <a:spcBef>
                <a:spcPts val="0"/>
              </a:spcBef>
              <a:buNone/>
            </a:pP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副研究员</a:t>
            </a:r>
            <a:endPar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spcBef>
                <a:spcPts val="0"/>
              </a:spcBef>
              <a:buNone/>
            </a:pP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清华大学，机械工程系</a:t>
            </a:r>
            <a:endPar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Rectangle 5"/>
          <p:cNvSpPr>
            <a:spLocks noChangeArrowheads="1"/>
          </p:cNvSpPr>
          <p:nvPr/>
        </p:nvSpPr>
        <p:spPr bwMode="auto">
          <a:xfrm>
            <a:off x="7962860" y="162352"/>
            <a:ext cx="3865161" cy="1340382"/>
          </a:xfrm>
          <a:prstGeom prst="rect">
            <a:avLst/>
          </a:prstGeom>
          <a:solidFill>
            <a:schemeClr val="bg2">
              <a:lumMod val="20000"/>
              <a:lumOff val="80000"/>
            </a:schemeClr>
          </a:solidFill>
          <a:ln>
            <a:noFill/>
          </a:ln>
          <a:effectLst/>
        </p:spPr>
        <p:txBody>
          <a:bodyPr wrap="none" lIns="91440" tIns="60120" rIns="91440" bIns="63720">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nSpc>
                <a:spcPct val="100000"/>
              </a:lnSpc>
              <a:spcBef>
                <a:spcPts val="0"/>
              </a:spcBef>
              <a:spcAft>
                <a:spcPts val="600"/>
              </a:spcAft>
              <a:buNone/>
            </a:pPr>
            <a:r>
              <a:rPr lang="zh-CN" altLang="en-US" sz="1800" b="1" dirty="0">
                <a:latin typeface="微软雅黑" panose="020B0503020204020204" pitchFamily="34" charset="-122"/>
                <a:ea typeface="微软雅黑" panose="020B0503020204020204" pitchFamily="34" charset="-122"/>
              </a:rPr>
              <a:t>联系方式：</a:t>
            </a:r>
            <a:endParaRPr lang="en-US" altLang="zh-CN" sz="1800" b="1" dirty="0">
              <a:latin typeface="微软雅黑" panose="020B0503020204020204" pitchFamily="34" charset="-122"/>
              <a:ea typeface="微软雅黑" panose="020B0503020204020204" pitchFamily="34" charset="-122"/>
            </a:endParaRPr>
          </a:p>
          <a:p>
            <a:pPr>
              <a:lnSpc>
                <a:spcPct val="120000"/>
              </a:lnSpc>
              <a:spcBef>
                <a:spcPts val="0"/>
              </a:spcBef>
              <a:buNone/>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办公室：李兆基科技大楼</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A1011</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20000"/>
              </a:lnSpc>
              <a:spcBef>
                <a:spcPts val="0"/>
              </a:spcBef>
              <a:buNone/>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手机号：</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18210064570</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20000"/>
              </a:lnSpc>
              <a:spcBef>
                <a:spcPts val="0"/>
              </a:spcBef>
              <a:buNone/>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邮箱：</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jiangyao@mail.tsinghua.edu.cn</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idx="4294967295"/>
          </p:nvPr>
        </p:nvSpPr>
        <p:spPr>
          <a:xfrm>
            <a:off x="5080335" y="2727903"/>
            <a:ext cx="2031326" cy="830997"/>
          </a:xfrm>
          <a:solidFill>
            <a:schemeClr val="bg1"/>
          </a:solidFill>
        </p:spPr>
        <p:txBody>
          <a:bodyPr wrap="none">
            <a:spAutoFit/>
          </a:bodyPr>
          <a:lstStyle/>
          <a:p>
            <a:r>
              <a:rPr lang="zh-CN" altLang="en-US" sz="4800" dirty="0">
                <a:solidFill>
                  <a:schemeClr val="accent6">
                    <a:lumMod val="50000"/>
                  </a:schemeClr>
                </a:solidFill>
                <a:latin typeface="微软雅黑" panose="020B0503020204020204" pitchFamily="34" charset="-122"/>
                <a:ea typeface="微软雅黑" panose="020B0503020204020204" pitchFamily="34" charset="-122"/>
              </a:rPr>
              <a:t>零件图</a:t>
            </a:r>
            <a:endParaRPr lang="zh-CN" altLang="en-US" sz="4800" dirty="0">
              <a:solidFill>
                <a:schemeClr val="accent6">
                  <a:lumMod val="50000"/>
                </a:schemeClr>
              </a:solidFill>
              <a:latin typeface="微软雅黑" panose="020B0503020204020204" pitchFamily="34" charset="-122"/>
              <a:ea typeface="微软雅黑" panose="020B0503020204020204" pitchFamily="34" charset="-122"/>
            </a:endParaRPr>
          </a:p>
        </p:txBody>
      </p:sp>
      <p:sp>
        <p:nvSpPr>
          <p:cNvPr id="3" name="Rectangle 2"/>
          <p:cNvSpPr/>
          <p:nvPr/>
        </p:nvSpPr>
        <p:spPr>
          <a:xfrm>
            <a:off x="2701879" y="1136817"/>
            <a:ext cx="582211" cy="584775"/>
          </a:xfrm>
          <a:prstGeom prst="rect">
            <a:avLst/>
          </a:prstGeom>
        </p:spPr>
        <p:txBody>
          <a:bodyPr wrap="none">
            <a:spAutoFit/>
          </a:bodyPr>
          <a:lstStyle/>
          <a:p>
            <a:pPr algn="ctr"/>
            <a:r>
              <a:rPr lang="en-US" altLang="zh-CN" sz="3200" b="1" dirty="0">
                <a:solidFill>
                  <a:srgbClr val="A50021"/>
                </a:solidFill>
                <a:latin typeface="华文新魏" panose="02010800040101010101" pitchFamily="2" charset="-122"/>
                <a:ea typeface="华文新魏" panose="02010800040101010101" pitchFamily="2" charset="-122"/>
              </a:rPr>
              <a:t>12</a:t>
            </a:r>
            <a:endParaRPr lang="zh-CN" altLang="en-US" sz="3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6"/>
          <p:cNvSpPr txBox="1"/>
          <p:nvPr/>
        </p:nvSpPr>
        <p:spPr bwMode="auto">
          <a:xfrm>
            <a:off x="4335742" y="2132856"/>
            <a:ext cx="3520516" cy="1955215"/>
          </a:xfrm>
          <a:prstGeom prst="rect">
            <a:avLst/>
          </a:prstGeom>
          <a:solidFill>
            <a:schemeClr val="bg1"/>
          </a:solidFill>
          <a:ln w="9525">
            <a:noFill/>
            <a:miter lim="800000"/>
          </a:ln>
        </p:spPr>
        <p:txBody>
          <a:bodyPr vert="horz" wrap="none" lIns="91440" tIns="45720" rIns="91440" bIns="45720" numCol="1" anchor="t" anchorCtr="0" compatLnSpc="1">
            <a:spAutoFit/>
          </a:bodyPr>
          <a:lstStyle/>
          <a:p>
            <a:pPr marL="514350" indent="-514350">
              <a:lnSpc>
                <a:spcPct val="150000"/>
              </a:lnSpc>
              <a:defRPr/>
            </a:pPr>
            <a:r>
              <a:rPr lang="en-US" altLang="zh-CN" sz="2800" dirty="0">
                <a:solidFill>
                  <a:schemeClr val="accent6">
                    <a:lumMod val="50000"/>
                  </a:schemeClr>
                </a:solidFill>
                <a:latin typeface="微软雅黑" panose="020B0503020204020204" pitchFamily="34" charset="-122"/>
                <a:ea typeface="微软雅黑" panose="020B0503020204020204" pitchFamily="34" charset="-122"/>
                <a:cs typeface="+mj-cs"/>
              </a:rPr>
              <a:t>12.1 </a:t>
            </a:r>
            <a:r>
              <a:rPr lang="zh-CN" altLang="en-US" sz="2800" dirty="0">
                <a:solidFill>
                  <a:schemeClr val="accent6">
                    <a:lumMod val="50000"/>
                  </a:schemeClr>
                </a:solidFill>
                <a:latin typeface="微软雅黑" panose="020B0503020204020204" pitchFamily="34" charset="-122"/>
                <a:ea typeface="微软雅黑" panose="020B0503020204020204" pitchFamily="34" charset="-122"/>
                <a:cs typeface="+mj-cs"/>
              </a:rPr>
              <a:t>零件图概述</a:t>
            </a:r>
            <a:endParaRPr lang="en-US" altLang="zh-CN" sz="2800" dirty="0">
              <a:solidFill>
                <a:schemeClr val="accent6">
                  <a:lumMod val="50000"/>
                </a:schemeClr>
              </a:solidFill>
              <a:latin typeface="微软雅黑" panose="020B0503020204020204" pitchFamily="34" charset="-122"/>
              <a:ea typeface="微软雅黑" panose="020B0503020204020204" pitchFamily="34" charset="-122"/>
              <a:cs typeface="+mj-cs"/>
            </a:endParaRPr>
          </a:p>
          <a:p>
            <a:pPr marL="514350" indent="-514350">
              <a:lnSpc>
                <a:spcPct val="150000"/>
              </a:lnSpc>
              <a:defRPr/>
            </a:pPr>
            <a:r>
              <a:rPr lang="en-US" altLang="zh-CN" sz="2800" dirty="0">
                <a:solidFill>
                  <a:schemeClr val="accent6">
                    <a:lumMod val="50000"/>
                  </a:schemeClr>
                </a:solidFill>
                <a:latin typeface="微软雅黑" panose="020B0503020204020204" pitchFamily="34" charset="-122"/>
                <a:ea typeface="微软雅黑" panose="020B0503020204020204" pitchFamily="34" charset="-122"/>
                <a:cs typeface="+mj-cs"/>
              </a:rPr>
              <a:t>12.2 </a:t>
            </a:r>
            <a:r>
              <a:rPr lang="zh-CN" altLang="en-US" sz="2800" dirty="0">
                <a:solidFill>
                  <a:schemeClr val="accent6">
                    <a:lumMod val="50000"/>
                  </a:schemeClr>
                </a:solidFill>
                <a:latin typeface="微软雅黑" panose="020B0503020204020204" pitchFamily="34" charset="-122"/>
                <a:ea typeface="微软雅黑" panose="020B0503020204020204" pitchFamily="34" charset="-122"/>
                <a:cs typeface="+mj-cs"/>
              </a:rPr>
              <a:t>视图选择与绘制</a:t>
            </a:r>
            <a:endParaRPr lang="en-US" altLang="zh-CN" sz="2800" dirty="0">
              <a:solidFill>
                <a:schemeClr val="accent6">
                  <a:lumMod val="50000"/>
                </a:schemeClr>
              </a:solidFill>
              <a:latin typeface="微软雅黑" panose="020B0503020204020204" pitchFamily="34" charset="-122"/>
              <a:ea typeface="微软雅黑" panose="020B0503020204020204" pitchFamily="34" charset="-122"/>
              <a:cs typeface="+mj-cs"/>
            </a:endParaRPr>
          </a:p>
          <a:p>
            <a:pPr marL="514350" indent="-514350">
              <a:lnSpc>
                <a:spcPct val="150000"/>
              </a:lnSpc>
              <a:defRPr/>
            </a:pPr>
            <a:r>
              <a:rPr lang="en-US" altLang="zh-CN" sz="2800" dirty="0">
                <a:solidFill>
                  <a:schemeClr val="accent6">
                    <a:lumMod val="50000"/>
                  </a:schemeClr>
                </a:solidFill>
                <a:latin typeface="微软雅黑" panose="020B0503020204020204" pitchFamily="34" charset="-122"/>
                <a:ea typeface="微软雅黑" panose="020B0503020204020204" pitchFamily="34" charset="-122"/>
                <a:cs typeface="+mj-cs"/>
              </a:rPr>
              <a:t>12.3 </a:t>
            </a:r>
            <a:r>
              <a:rPr lang="zh-CN" altLang="en-US" sz="2800" dirty="0">
                <a:solidFill>
                  <a:schemeClr val="accent6">
                    <a:lumMod val="50000"/>
                  </a:schemeClr>
                </a:solidFill>
                <a:latin typeface="微软雅黑" panose="020B0503020204020204" pitchFamily="34" charset="-122"/>
                <a:ea typeface="微软雅黑" panose="020B0503020204020204" pitchFamily="34" charset="-122"/>
                <a:cs typeface="+mj-cs"/>
              </a:rPr>
              <a:t>技术要求</a:t>
            </a:r>
            <a:endParaRPr lang="en-US" altLang="zh-CN" sz="2800" dirty="0">
              <a:solidFill>
                <a:schemeClr val="accent6">
                  <a:lumMod val="50000"/>
                </a:schemeClr>
              </a:solidFill>
              <a:latin typeface="微软雅黑" panose="020B0503020204020204" pitchFamily="34" charset="-122"/>
              <a:ea typeface="微软雅黑" panose="020B0503020204020204" pitchFamily="34" charset="-122"/>
              <a:cs typeface="+mj-cs"/>
            </a:endParaRPr>
          </a:p>
        </p:txBody>
      </p:sp>
      <p:sp>
        <p:nvSpPr>
          <p:cNvPr id="8" name="Title 6"/>
          <p:cNvSpPr txBox="1"/>
          <p:nvPr/>
        </p:nvSpPr>
        <p:spPr bwMode="auto">
          <a:xfrm>
            <a:off x="5202166" y="454425"/>
            <a:ext cx="1787669" cy="769441"/>
          </a:xfrm>
          <a:prstGeom prst="rect">
            <a:avLst/>
          </a:prstGeom>
          <a:solidFill>
            <a:schemeClr val="bg1"/>
          </a:solidFill>
          <a:ln w="9525">
            <a:noFill/>
            <a:miter lim="800000"/>
          </a:ln>
        </p:spPr>
        <p:txBody>
          <a:bodyPr vert="horz" wrap="none" lIns="91440" tIns="45720" rIns="91440" bIns="45720" numCol="1" anchor="ctr" anchorCtr="0" compatLnSpc="1">
            <a:spAutoFit/>
          </a:bodyPr>
          <a:lstStyle/>
          <a:p>
            <a:pPr algn="ctr">
              <a:defRPr/>
            </a:pPr>
            <a:r>
              <a:rPr lang="zh-CN" altLang="en-US" sz="4400" b="1" dirty="0">
                <a:solidFill>
                  <a:srgbClr val="C00000"/>
                </a:solidFill>
                <a:latin typeface="+mj-lt"/>
                <a:ea typeface="+mj-ea"/>
                <a:cs typeface="+mj-cs"/>
              </a:rPr>
              <a:t>内   容</a:t>
            </a:r>
            <a:endParaRPr lang="zh-CN" altLang="en-US" sz="4400" b="1" dirty="0">
              <a:solidFill>
                <a:srgbClr val="C00000"/>
              </a:solidFill>
              <a:latin typeface="+mj-lt"/>
              <a:ea typeface="+mj-ea"/>
              <a:cs typeface="+mj-cs"/>
            </a:endParaRPr>
          </a:p>
        </p:txBody>
      </p:sp>
      <p:grpSp>
        <p:nvGrpSpPr>
          <p:cNvPr id="2" name="组合 12"/>
          <p:cNvGrpSpPr/>
          <p:nvPr/>
        </p:nvGrpSpPr>
        <p:grpSpPr>
          <a:xfrm flipV="1">
            <a:off x="191344" y="1412776"/>
            <a:ext cx="11809312" cy="288032"/>
            <a:chOff x="-40060" y="4227605"/>
            <a:chExt cx="15641884" cy="367574"/>
          </a:xfrm>
          <a:solidFill>
            <a:schemeClr val="accent6">
              <a:lumMod val="75000"/>
            </a:schemeClr>
          </a:solidFill>
          <a:effectLst>
            <a:outerShdw blurRad="50800" dist="38100" dir="2700000" algn="tl" rotWithShape="0">
              <a:prstClr val="black">
                <a:alpha val="40000"/>
              </a:prstClr>
            </a:outerShdw>
          </a:effectLst>
        </p:grpSpPr>
        <p:grpSp>
          <p:nvGrpSpPr>
            <p:cNvPr id="10" name="组合 13"/>
            <p:cNvGrpSpPr/>
            <p:nvPr/>
          </p:nvGrpSpPr>
          <p:grpSpPr>
            <a:xfrm>
              <a:off x="-40060" y="4227605"/>
              <a:ext cx="7820942" cy="364510"/>
              <a:chOff x="4635815" y="4227605"/>
              <a:chExt cx="7820942" cy="364510"/>
            </a:xfrm>
            <a:grpFill/>
          </p:grpSpPr>
          <p:sp>
            <p:nvSpPr>
              <p:cNvPr id="16" name="矩形 18"/>
              <p:cNvSpPr/>
              <p:nvPr/>
            </p:nvSpPr>
            <p:spPr>
              <a:xfrm>
                <a:off x="6786027" y="4320679"/>
                <a:ext cx="5670730" cy="2700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矩形 19"/>
              <p:cNvSpPr/>
              <p:nvPr/>
            </p:nvSpPr>
            <p:spPr>
              <a:xfrm>
                <a:off x="4635815" y="4227605"/>
                <a:ext cx="1800000" cy="2700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8" name="矩形 4"/>
              <p:cNvSpPr/>
              <p:nvPr/>
            </p:nvSpPr>
            <p:spPr>
              <a:xfrm>
                <a:off x="6426510" y="4227606"/>
                <a:ext cx="368581" cy="364509"/>
              </a:xfrm>
              <a:custGeom>
                <a:avLst/>
                <a:gdLst>
                  <a:gd name="connsiteX0" fmla="*/ 0 w 360000"/>
                  <a:gd name="connsiteY0" fmla="*/ 0 h 270030"/>
                  <a:gd name="connsiteX1" fmla="*/ 360000 w 360000"/>
                  <a:gd name="connsiteY1" fmla="*/ 0 h 270030"/>
                  <a:gd name="connsiteX2" fmla="*/ 360000 w 360000"/>
                  <a:gd name="connsiteY2" fmla="*/ 270030 h 270030"/>
                  <a:gd name="connsiteX3" fmla="*/ 0 w 360000"/>
                  <a:gd name="connsiteY3" fmla="*/ 270030 h 270030"/>
                  <a:gd name="connsiteX4" fmla="*/ 0 w 360000"/>
                  <a:gd name="connsiteY4" fmla="*/ 0 h 270030"/>
                  <a:gd name="connsiteX0-1" fmla="*/ 0 w 364864"/>
                  <a:gd name="connsiteY0-2" fmla="*/ 0 h 270030"/>
                  <a:gd name="connsiteX1-3" fmla="*/ 364864 w 364864"/>
                  <a:gd name="connsiteY1-4" fmla="*/ 72957 h 270030"/>
                  <a:gd name="connsiteX2-5" fmla="*/ 360000 w 364864"/>
                  <a:gd name="connsiteY2-6" fmla="*/ 270030 h 270030"/>
                  <a:gd name="connsiteX3-7" fmla="*/ 0 w 364864"/>
                  <a:gd name="connsiteY3-8" fmla="*/ 270030 h 270030"/>
                  <a:gd name="connsiteX4-9" fmla="*/ 0 w 364864"/>
                  <a:gd name="connsiteY4-10" fmla="*/ 0 h 270030"/>
                  <a:gd name="connsiteX0-11" fmla="*/ 0 w 364864"/>
                  <a:gd name="connsiteY0-12" fmla="*/ 0 h 294349"/>
                  <a:gd name="connsiteX1-13" fmla="*/ 364864 w 364864"/>
                  <a:gd name="connsiteY1-14" fmla="*/ 72957 h 294349"/>
                  <a:gd name="connsiteX2-15" fmla="*/ 364864 w 364864"/>
                  <a:gd name="connsiteY2-16" fmla="*/ 294349 h 294349"/>
                  <a:gd name="connsiteX3-17" fmla="*/ 0 w 364864"/>
                  <a:gd name="connsiteY3-18" fmla="*/ 270030 h 294349"/>
                  <a:gd name="connsiteX4-19" fmla="*/ 0 w 364864"/>
                  <a:gd name="connsiteY4-20" fmla="*/ 0 h 294349"/>
                  <a:gd name="connsiteX0-21" fmla="*/ 0 w 364864"/>
                  <a:gd name="connsiteY0-22" fmla="*/ 0 h 290893"/>
                  <a:gd name="connsiteX1-23" fmla="*/ 364864 w 364864"/>
                  <a:gd name="connsiteY1-24" fmla="*/ 72957 h 290893"/>
                  <a:gd name="connsiteX2-25" fmla="*/ 363396 w 364864"/>
                  <a:gd name="connsiteY2-26" fmla="*/ 290893 h 290893"/>
                  <a:gd name="connsiteX3-27" fmla="*/ 358533 w 364864"/>
                  <a:gd name="connsiteY3-28" fmla="*/ 266574 h 290893"/>
                  <a:gd name="connsiteX4-29" fmla="*/ 0 w 364864"/>
                  <a:gd name="connsiteY4-30" fmla="*/ 270030 h 290893"/>
                  <a:gd name="connsiteX5" fmla="*/ 0 w 364864"/>
                  <a:gd name="connsiteY5" fmla="*/ 0 h 290893"/>
                  <a:gd name="connsiteX0-31" fmla="*/ 0 w 368581"/>
                  <a:gd name="connsiteY0-32" fmla="*/ 0 h 321274"/>
                  <a:gd name="connsiteX1-33" fmla="*/ 364864 w 368581"/>
                  <a:gd name="connsiteY1-34" fmla="*/ 72957 h 321274"/>
                  <a:gd name="connsiteX2-35" fmla="*/ 363396 w 368581"/>
                  <a:gd name="connsiteY2-36" fmla="*/ 290893 h 321274"/>
                  <a:gd name="connsiteX3-37" fmla="*/ 368261 w 368581"/>
                  <a:gd name="connsiteY3-38" fmla="*/ 320076 h 321274"/>
                  <a:gd name="connsiteX4-39" fmla="*/ 0 w 368581"/>
                  <a:gd name="connsiteY4-40" fmla="*/ 270030 h 321274"/>
                  <a:gd name="connsiteX5-41" fmla="*/ 0 w 368581"/>
                  <a:gd name="connsiteY5-42" fmla="*/ 0 h 321274"/>
                  <a:gd name="connsiteX0-43" fmla="*/ 0 w 368581"/>
                  <a:gd name="connsiteY0-44" fmla="*/ 0 h 321274"/>
                  <a:gd name="connsiteX1-45" fmla="*/ 364864 w 368581"/>
                  <a:gd name="connsiteY1-46" fmla="*/ 87549 h 321274"/>
                  <a:gd name="connsiteX2-47" fmla="*/ 363396 w 368581"/>
                  <a:gd name="connsiteY2-48" fmla="*/ 290893 h 321274"/>
                  <a:gd name="connsiteX3-49" fmla="*/ 368261 w 368581"/>
                  <a:gd name="connsiteY3-50" fmla="*/ 320076 h 321274"/>
                  <a:gd name="connsiteX4-51" fmla="*/ 0 w 368581"/>
                  <a:gd name="connsiteY4-52" fmla="*/ 270030 h 321274"/>
                  <a:gd name="connsiteX5-53" fmla="*/ 0 w 368581"/>
                  <a:gd name="connsiteY5-54" fmla="*/ 0 h 321274"/>
                  <a:gd name="connsiteX0-55" fmla="*/ 0 w 368581"/>
                  <a:gd name="connsiteY0-56" fmla="*/ 0 h 364509"/>
                  <a:gd name="connsiteX1-57" fmla="*/ 364864 w 368581"/>
                  <a:gd name="connsiteY1-58" fmla="*/ 87549 h 364509"/>
                  <a:gd name="connsiteX2-59" fmla="*/ 363396 w 368581"/>
                  <a:gd name="connsiteY2-60" fmla="*/ 290893 h 364509"/>
                  <a:gd name="connsiteX3-61" fmla="*/ 368261 w 368581"/>
                  <a:gd name="connsiteY3-62" fmla="*/ 363850 h 364509"/>
                  <a:gd name="connsiteX4-63" fmla="*/ 0 w 368581"/>
                  <a:gd name="connsiteY4-64" fmla="*/ 270030 h 364509"/>
                  <a:gd name="connsiteX5-65" fmla="*/ 0 w 368581"/>
                  <a:gd name="connsiteY5-66" fmla="*/ 0 h 3645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41" y="connsiteY5-42"/>
                  </a:cxn>
                </a:cxnLst>
                <a:rect l="l" t="t" r="r" b="b"/>
                <a:pathLst>
                  <a:path w="368581" h="364509">
                    <a:moveTo>
                      <a:pt x="0" y="0"/>
                    </a:moveTo>
                    <a:lnTo>
                      <a:pt x="364864" y="87549"/>
                    </a:lnTo>
                    <a:cubicBezTo>
                      <a:pt x="364375" y="160194"/>
                      <a:pt x="363885" y="218248"/>
                      <a:pt x="363396" y="290893"/>
                    </a:cubicBezTo>
                    <a:cubicBezTo>
                      <a:pt x="361286" y="281635"/>
                      <a:pt x="370371" y="373108"/>
                      <a:pt x="368261" y="363850"/>
                    </a:cubicBezTo>
                    <a:lnTo>
                      <a:pt x="0" y="27003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11" name="组合 14"/>
            <p:cNvGrpSpPr/>
            <p:nvPr/>
          </p:nvGrpSpPr>
          <p:grpSpPr>
            <a:xfrm flipH="1">
              <a:off x="7780882" y="4230669"/>
              <a:ext cx="7820942" cy="364510"/>
              <a:chOff x="4635815" y="4227605"/>
              <a:chExt cx="7820942" cy="364510"/>
            </a:xfrm>
            <a:grpFill/>
          </p:grpSpPr>
          <p:sp>
            <p:nvSpPr>
              <p:cNvPr id="13" name="矩形 15"/>
              <p:cNvSpPr/>
              <p:nvPr/>
            </p:nvSpPr>
            <p:spPr>
              <a:xfrm>
                <a:off x="6786027" y="4320679"/>
                <a:ext cx="5670730" cy="2700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矩形 16"/>
              <p:cNvSpPr/>
              <p:nvPr/>
            </p:nvSpPr>
            <p:spPr>
              <a:xfrm>
                <a:off x="4635815" y="4227605"/>
                <a:ext cx="1800000" cy="2700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矩形 4"/>
              <p:cNvSpPr/>
              <p:nvPr/>
            </p:nvSpPr>
            <p:spPr>
              <a:xfrm>
                <a:off x="6426510" y="4227606"/>
                <a:ext cx="368581" cy="364509"/>
              </a:xfrm>
              <a:custGeom>
                <a:avLst/>
                <a:gdLst>
                  <a:gd name="connsiteX0" fmla="*/ 0 w 360000"/>
                  <a:gd name="connsiteY0" fmla="*/ 0 h 270030"/>
                  <a:gd name="connsiteX1" fmla="*/ 360000 w 360000"/>
                  <a:gd name="connsiteY1" fmla="*/ 0 h 270030"/>
                  <a:gd name="connsiteX2" fmla="*/ 360000 w 360000"/>
                  <a:gd name="connsiteY2" fmla="*/ 270030 h 270030"/>
                  <a:gd name="connsiteX3" fmla="*/ 0 w 360000"/>
                  <a:gd name="connsiteY3" fmla="*/ 270030 h 270030"/>
                  <a:gd name="connsiteX4" fmla="*/ 0 w 360000"/>
                  <a:gd name="connsiteY4" fmla="*/ 0 h 270030"/>
                  <a:gd name="connsiteX0-1" fmla="*/ 0 w 364864"/>
                  <a:gd name="connsiteY0-2" fmla="*/ 0 h 270030"/>
                  <a:gd name="connsiteX1-3" fmla="*/ 364864 w 364864"/>
                  <a:gd name="connsiteY1-4" fmla="*/ 72957 h 270030"/>
                  <a:gd name="connsiteX2-5" fmla="*/ 360000 w 364864"/>
                  <a:gd name="connsiteY2-6" fmla="*/ 270030 h 270030"/>
                  <a:gd name="connsiteX3-7" fmla="*/ 0 w 364864"/>
                  <a:gd name="connsiteY3-8" fmla="*/ 270030 h 270030"/>
                  <a:gd name="connsiteX4-9" fmla="*/ 0 w 364864"/>
                  <a:gd name="connsiteY4-10" fmla="*/ 0 h 270030"/>
                  <a:gd name="connsiteX0-11" fmla="*/ 0 w 364864"/>
                  <a:gd name="connsiteY0-12" fmla="*/ 0 h 294349"/>
                  <a:gd name="connsiteX1-13" fmla="*/ 364864 w 364864"/>
                  <a:gd name="connsiteY1-14" fmla="*/ 72957 h 294349"/>
                  <a:gd name="connsiteX2-15" fmla="*/ 364864 w 364864"/>
                  <a:gd name="connsiteY2-16" fmla="*/ 294349 h 294349"/>
                  <a:gd name="connsiteX3-17" fmla="*/ 0 w 364864"/>
                  <a:gd name="connsiteY3-18" fmla="*/ 270030 h 294349"/>
                  <a:gd name="connsiteX4-19" fmla="*/ 0 w 364864"/>
                  <a:gd name="connsiteY4-20" fmla="*/ 0 h 294349"/>
                  <a:gd name="connsiteX0-21" fmla="*/ 0 w 364864"/>
                  <a:gd name="connsiteY0-22" fmla="*/ 0 h 290893"/>
                  <a:gd name="connsiteX1-23" fmla="*/ 364864 w 364864"/>
                  <a:gd name="connsiteY1-24" fmla="*/ 72957 h 290893"/>
                  <a:gd name="connsiteX2-25" fmla="*/ 363396 w 364864"/>
                  <a:gd name="connsiteY2-26" fmla="*/ 290893 h 290893"/>
                  <a:gd name="connsiteX3-27" fmla="*/ 358533 w 364864"/>
                  <a:gd name="connsiteY3-28" fmla="*/ 266574 h 290893"/>
                  <a:gd name="connsiteX4-29" fmla="*/ 0 w 364864"/>
                  <a:gd name="connsiteY4-30" fmla="*/ 270030 h 290893"/>
                  <a:gd name="connsiteX5" fmla="*/ 0 w 364864"/>
                  <a:gd name="connsiteY5" fmla="*/ 0 h 290893"/>
                  <a:gd name="connsiteX0-31" fmla="*/ 0 w 368581"/>
                  <a:gd name="connsiteY0-32" fmla="*/ 0 h 321274"/>
                  <a:gd name="connsiteX1-33" fmla="*/ 364864 w 368581"/>
                  <a:gd name="connsiteY1-34" fmla="*/ 72957 h 321274"/>
                  <a:gd name="connsiteX2-35" fmla="*/ 363396 w 368581"/>
                  <a:gd name="connsiteY2-36" fmla="*/ 290893 h 321274"/>
                  <a:gd name="connsiteX3-37" fmla="*/ 368261 w 368581"/>
                  <a:gd name="connsiteY3-38" fmla="*/ 320076 h 321274"/>
                  <a:gd name="connsiteX4-39" fmla="*/ 0 w 368581"/>
                  <a:gd name="connsiteY4-40" fmla="*/ 270030 h 321274"/>
                  <a:gd name="connsiteX5-41" fmla="*/ 0 w 368581"/>
                  <a:gd name="connsiteY5-42" fmla="*/ 0 h 321274"/>
                  <a:gd name="connsiteX0-43" fmla="*/ 0 w 368581"/>
                  <a:gd name="connsiteY0-44" fmla="*/ 0 h 321274"/>
                  <a:gd name="connsiteX1-45" fmla="*/ 364864 w 368581"/>
                  <a:gd name="connsiteY1-46" fmla="*/ 87549 h 321274"/>
                  <a:gd name="connsiteX2-47" fmla="*/ 363396 w 368581"/>
                  <a:gd name="connsiteY2-48" fmla="*/ 290893 h 321274"/>
                  <a:gd name="connsiteX3-49" fmla="*/ 368261 w 368581"/>
                  <a:gd name="connsiteY3-50" fmla="*/ 320076 h 321274"/>
                  <a:gd name="connsiteX4-51" fmla="*/ 0 w 368581"/>
                  <a:gd name="connsiteY4-52" fmla="*/ 270030 h 321274"/>
                  <a:gd name="connsiteX5-53" fmla="*/ 0 w 368581"/>
                  <a:gd name="connsiteY5-54" fmla="*/ 0 h 321274"/>
                  <a:gd name="connsiteX0-55" fmla="*/ 0 w 368581"/>
                  <a:gd name="connsiteY0-56" fmla="*/ 0 h 364509"/>
                  <a:gd name="connsiteX1-57" fmla="*/ 364864 w 368581"/>
                  <a:gd name="connsiteY1-58" fmla="*/ 87549 h 364509"/>
                  <a:gd name="connsiteX2-59" fmla="*/ 363396 w 368581"/>
                  <a:gd name="connsiteY2-60" fmla="*/ 290893 h 364509"/>
                  <a:gd name="connsiteX3-61" fmla="*/ 368261 w 368581"/>
                  <a:gd name="connsiteY3-62" fmla="*/ 363850 h 364509"/>
                  <a:gd name="connsiteX4-63" fmla="*/ 0 w 368581"/>
                  <a:gd name="connsiteY4-64" fmla="*/ 270030 h 364509"/>
                  <a:gd name="connsiteX5-65" fmla="*/ 0 w 368581"/>
                  <a:gd name="connsiteY5-66" fmla="*/ 0 h 3645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41" y="connsiteY5-42"/>
                  </a:cxn>
                </a:cxnLst>
                <a:rect l="l" t="t" r="r" b="b"/>
                <a:pathLst>
                  <a:path w="368581" h="364509">
                    <a:moveTo>
                      <a:pt x="0" y="0"/>
                    </a:moveTo>
                    <a:lnTo>
                      <a:pt x="364864" y="87549"/>
                    </a:lnTo>
                    <a:cubicBezTo>
                      <a:pt x="364375" y="160194"/>
                      <a:pt x="363885" y="218248"/>
                      <a:pt x="363396" y="290893"/>
                    </a:cubicBezTo>
                    <a:cubicBezTo>
                      <a:pt x="361286" y="281635"/>
                      <a:pt x="370371" y="373108"/>
                      <a:pt x="368261" y="363850"/>
                    </a:cubicBezTo>
                    <a:lnTo>
                      <a:pt x="0" y="27003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sp>
        <p:nvSpPr>
          <p:cNvPr id="19" name="灯片编号占位符 3"/>
          <p:cNvSpPr>
            <a:spLocks noGrp="1"/>
          </p:cNvSpPr>
          <p:nvPr>
            <p:ph type="sldNum" sz="quarter" idx="12"/>
          </p:nvPr>
        </p:nvSpPr>
        <p:spPr>
          <a:xfrm>
            <a:off x="11640616" y="6425394"/>
            <a:ext cx="269625" cy="276999"/>
          </a:xfrm>
        </p:spPr>
        <p:txBody>
          <a:bodyPr wrap="none">
            <a:spAutoFit/>
          </a:bodyPr>
          <a:lstStyle/>
          <a:p>
            <a:fld id="{0A5DABDC-C7A3-4A62-BB87-5F550D6AD4B8}" type="slidenum">
              <a:rPr lang="en-US" altLang="zh-CN"/>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idx="4294967295"/>
          </p:nvPr>
        </p:nvSpPr>
        <p:spPr>
          <a:xfrm>
            <a:off x="3758670" y="2727903"/>
            <a:ext cx="4674678" cy="830997"/>
          </a:xfrm>
          <a:solidFill>
            <a:schemeClr val="bg1"/>
          </a:solidFill>
        </p:spPr>
        <p:txBody>
          <a:bodyPr wrap="none">
            <a:spAutoFit/>
          </a:bodyPr>
          <a:lstStyle/>
          <a:p>
            <a:r>
              <a:rPr lang="en-US" altLang="zh-CN" sz="4800" dirty="0">
                <a:solidFill>
                  <a:schemeClr val="accent6">
                    <a:lumMod val="50000"/>
                  </a:schemeClr>
                </a:solidFill>
                <a:latin typeface="微软雅黑" panose="020B0503020204020204" pitchFamily="34" charset="-122"/>
                <a:ea typeface="微软雅黑" panose="020B0503020204020204" pitchFamily="34" charset="-122"/>
              </a:rPr>
              <a:t>12.1 </a:t>
            </a:r>
            <a:r>
              <a:rPr lang="zh-CN" altLang="en-US" sz="4800" dirty="0">
                <a:solidFill>
                  <a:schemeClr val="accent6">
                    <a:lumMod val="50000"/>
                  </a:schemeClr>
                </a:solidFill>
                <a:latin typeface="微软雅黑" panose="020B0503020204020204" pitchFamily="34" charset="-122"/>
                <a:ea typeface="微软雅黑" panose="020B0503020204020204" pitchFamily="34" charset="-122"/>
              </a:rPr>
              <a:t>零件图概述</a:t>
            </a:r>
            <a:endParaRPr lang="zh-CN" altLang="en-US" sz="4800" dirty="0">
              <a:solidFill>
                <a:schemeClr val="accent6">
                  <a:lumMod val="50000"/>
                </a:schemeClr>
              </a:solidFill>
              <a:latin typeface="微软雅黑" panose="020B0503020204020204" pitchFamily="34" charset="-122"/>
              <a:ea typeface="微软雅黑" panose="020B0503020204020204" pitchFamily="34" charset="-122"/>
            </a:endParaRPr>
          </a:p>
        </p:txBody>
      </p:sp>
      <p:sp>
        <p:nvSpPr>
          <p:cNvPr id="2" name="Rectangle 2"/>
          <p:cNvSpPr/>
          <p:nvPr/>
        </p:nvSpPr>
        <p:spPr>
          <a:xfrm>
            <a:off x="2701879" y="1136817"/>
            <a:ext cx="582211" cy="584775"/>
          </a:xfrm>
          <a:prstGeom prst="rect">
            <a:avLst/>
          </a:prstGeom>
        </p:spPr>
        <p:txBody>
          <a:bodyPr wrap="none">
            <a:spAutoFit/>
          </a:bodyPr>
          <a:lstStyle/>
          <a:p>
            <a:pPr algn="ctr"/>
            <a:r>
              <a:rPr lang="en-US" altLang="zh-CN" sz="3200" b="1" dirty="0">
                <a:solidFill>
                  <a:srgbClr val="A50021"/>
                </a:solidFill>
                <a:latin typeface="华文新魏" panose="02010800040101010101" pitchFamily="2" charset="-122"/>
                <a:ea typeface="华文新魏" panose="02010800040101010101" pitchFamily="2" charset="-122"/>
              </a:rPr>
              <a:t>12</a:t>
            </a:r>
            <a:endParaRPr lang="zh-CN" altLang="en-US" sz="3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24416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什么是零件</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35" name="Text Box 4"/>
          <p:cNvSpPr txBox="1">
            <a:spLocks noChangeArrowheads="1"/>
          </p:cNvSpPr>
          <p:nvPr/>
        </p:nvSpPr>
        <p:spPr bwMode="auto">
          <a:xfrm>
            <a:off x="623392" y="2161534"/>
            <a:ext cx="4185761"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defRPr/>
            </a:pPr>
            <a:r>
              <a:rPr kumimoji="1" lang="zh-CN" altLang="en-US" sz="2400" dirty="0">
                <a:latin typeface="微软雅黑" panose="020B0503020204020204" pitchFamily="34" charset="-122"/>
                <a:ea typeface="微软雅黑" panose="020B0503020204020204" pitchFamily="34" charset="-122"/>
              </a:rPr>
              <a:t>零件：组成部件的最小单元。</a:t>
            </a:r>
            <a:endParaRPr kumimoji="1" lang="zh-CN" altLang="en-US" sz="2400" dirty="0">
              <a:latin typeface="微软雅黑" panose="020B0503020204020204" pitchFamily="34" charset="-122"/>
              <a:ea typeface="微软雅黑" panose="020B0503020204020204" pitchFamily="34" charset="-122"/>
            </a:endParaRPr>
          </a:p>
        </p:txBody>
      </p:sp>
      <p:sp>
        <p:nvSpPr>
          <p:cNvPr id="36" name="Text Box 33"/>
          <p:cNvSpPr txBox="1">
            <a:spLocks noChangeArrowheads="1"/>
          </p:cNvSpPr>
          <p:nvPr/>
        </p:nvSpPr>
        <p:spPr bwMode="auto">
          <a:xfrm>
            <a:off x="623392" y="3068960"/>
            <a:ext cx="4801314"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kumimoji="1" lang="zh-CN" altLang="en-US" sz="2400" dirty="0">
                <a:latin typeface="微软雅黑" panose="020B0503020204020204" pitchFamily="34" charset="-122"/>
                <a:ea typeface="微软雅黑" panose="020B0503020204020204" pitchFamily="34" charset="-122"/>
              </a:rPr>
              <a:t>例如：球阀（部件）中的各个零件</a:t>
            </a:r>
            <a:endParaRPr kumimoji="1" lang="zh-CN" altLang="en-US" sz="2400" dirty="0">
              <a:latin typeface="微软雅黑" panose="020B0503020204020204" pitchFamily="34" charset="-122"/>
              <a:ea typeface="微软雅黑" panose="020B0503020204020204" pitchFamily="34" charset="-122"/>
            </a:endParaRPr>
          </a:p>
        </p:txBody>
      </p:sp>
      <p:pic>
        <p:nvPicPr>
          <p:cNvPr id="38" name="图片 37"/>
          <p:cNvPicPr>
            <a:picLocks noChangeAspect="1"/>
          </p:cNvPicPr>
          <p:nvPr/>
        </p:nvPicPr>
        <p:blipFill>
          <a:blip r:embed="rId1"/>
          <a:stretch>
            <a:fillRect/>
          </a:stretch>
        </p:blipFill>
        <p:spPr>
          <a:xfrm>
            <a:off x="6390610" y="1196752"/>
            <a:ext cx="5040560" cy="48536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3" name="组合 2"/>
          <p:cNvGrpSpPr/>
          <p:nvPr/>
        </p:nvGrpSpPr>
        <p:grpSpPr>
          <a:xfrm>
            <a:off x="4943872" y="1055997"/>
            <a:ext cx="7205663" cy="5280109"/>
            <a:chOff x="4467913" y="1015998"/>
            <a:chExt cx="7205663" cy="5280109"/>
          </a:xfrm>
        </p:grpSpPr>
        <p:pic>
          <p:nvPicPr>
            <p:cNvPr id="4" name="Picture 3" descr="10-1-4"/>
            <p:cNvPicPr>
              <a:picLocks noChangeAspect="1" noChangeArrowheads="1"/>
            </p:cNvPicPr>
            <p:nvPr/>
          </p:nvPicPr>
          <p:blipFill>
            <a:blip r:embed="rId1">
              <a:extLst>
                <a:ext uri="{28A0092B-C50C-407E-A947-70E740481C1C}">
                  <a14:useLocalDpi xmlns:a14="http://schemas.microsoft.com/office/drawing/2010/main" val="0"/>
                </a:ext>
              </a:extLst>
            </a:blip>
            <a:srcRect l="30460" t="17470" r="39081" b="13855"/>
            <a:stretch>
              <a:fillRect/>
            </a:stretch>
          </p:blipFill>
          <p:spPr bwMode="auto">
            <a:xfrm>
              <a:off x="9227238" y="2068595"/>
              <a:ext cx="5715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9-6a"/>
            <p:cNvPicPr>
              <a:picLocks noChangeAspect="1" noChangeArrowheads="1"/>
            </p:cNvPicPr>
            <p:nvPr/>
          </p:nvPicPr>
          <p:blipFill>
            <a:blip r:embed="rId2">
              <a:extLst>
                <a:ext uri="{28A0092B-C50C-407E-A947-70E740481C1C}">
                  <a14:useLocalDpi xmlns:a14="http://schemas.microsoft.com/office/drawing/2010/main" val="0"/>
                </a:ext>
              </a:extLst>
            </a:blip>
            <a:srcRect l="48479" r="13506" b="6627"/>
            <a:stretch>
              <a:fillRect/>
            </a:stretch>
          </p:blipFill>
          <p:spPr bwMode="auto">
            <a:xfrm>
              <a:off x="8617638" y="3135395"/>
              <a:ext cx="201771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bwMode="auto">
            <a:xfrm>
              <a:off x="6882501" y="4811795"/>
              <a:ext cx="1336675" cy="1484312"/>
              <a:chOff x="1534" y="2911"/>
              <a:chExt cx="842" cy="935"/>
            </a:xfrm>
          </p:grpSpPr>
          <p:pic>
            <p:nvPicPr>
              <p:cNvPr id="55" name="Picture 6" descr="10-1-3b1"/>
              <p:cNvPicPr>
                <a:picLocks noChangeAspect="1" noChangeArrowheads="1"/>
              </p:cNvPicPr>
              <p:nvPr/>
            </p:nvPicPr>
            <p:blipFill>
              <a:blip r:embed="rId3">
                <a:extLst>
                  <a:ext uri="{28A0092B-C50C-407E-A947-70E740481C1C}">
                    <a14:useLocalDpi xmlns:a14="http://schemas.microsoft.com/office/drawing/2010/main" val="0"/>
                  </a:ext>
                </a:extLst>
              </a:blip>
              <a:srcRect l="31645" t="27612" r="44620" b="6717"/>
              <a:stretch>
                <a:fillRect/>
              </a:stretch>
            </p:blipFill>
            <p:spPr bwMode="auto">
              <a:xfrm>
                <a:off x="1534" y="2911"/>
                <a:ext cx="415"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 7"/>
              <p:cNvGrpSpPr/>
              <p:nvPr/>
            </p:nvGrpSpPr>
            <p:grpSpPr bwMode="auto">
              <a:xfrm>
                <a:off x="1577" y="3407"/>
                <a:ext cx="799" cy="439"/>
                <a:chOff x="1334" y="3396"/>
                <a:chExt cx="1434" cy="622"/>
              </a:xfrm>
            </p:grpSpPr>
            <p:sp>
              <p:nvSpPr>
                <p:cNvPr id="57" name="Text Box 8"/>
                <p:cNvSpPr txBox="1">
                  <a:spLocks noChangeArrowheads="1"/>
                </p:cNvSpPr>
                <p:nvPr/>
              </p:nvSpPr>
              <p:spPr bwMode="auto">
                <a:xfrm>
                  <a:off x="1334" y="3606"/>
                  <a:ext cx="1434"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密封圈</a:t>
                  </a:r>
                  <a:r>
                    <a:rPr kumimoji="1" lang="en-US" altLang="zh-CN" sz="2400">
                      <a:solidFill>
                        <a:srgbClr val="FF0000"/>
                      </a:solidFill>
                      <a:latin typeface="+mn-ea"/>
                      <a:ea typeface="+mn-ea"/>
                    </a:rPr>
                    <a:t>3</a:t>
                  </a:r>
                  <a:endParaRPr kumimoji="1" lang="en-US" altLang="zh-CN" sz="2400">
                    <a:solidFill>
                      <a:srgbClr val="FF0000"/>
                    </a:solidFill>
                    <a:latin typeface="+mn-ea"/>
                    <a:ea typeface="+mn-ea"/>
                  </a:endParaRPr>
                </a:p>
              </p:txBody>
            </p:sp>
            <p:sp>
              <p:nvSpPr>
                <p:cNvPr id="58" name="Line 9"/>
                <p:cNvSpPr>
                  <a:spLocks noChangeShapeType="1"/>
                </p:cNvSpPr>
                <p:nvPr/>
              </p:nvSpPr>
              <p:spPr bwMode="auto">
                <a:xfrm>
                  <a:off x="1704" y="3396"/>
                  <a:ext cx="180" cy="24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grpSp>
          <p:nvGrpSpPr>
            <p:cNvPr id="7" name="Group 10"/>
            <p:cNvGrpSpPr/>
            <p:nvPr/>
          </p:nvGrpSpPr>
          <p:grpSpPr bwMode="auto">
            <a:xfrm>
              <a:off x="8076301" y="4125995"/>
              <a:ext cx="1620837" cy="1704975"/>
              <a:chOff x="3643" y="2496"/>
              <a:chExt cx="1021" cy="1074"/>
            </a:xfrm>
          </p:grpSpPr>
          <p:pic>
            <p:nvPicPr>
              <p:cNvPr id="50" name="Picture 11" descr="10-1-9"/>
              <p:cNvPicPr>
                <a:picLocks noChangeAspect="1" noChangeArrowheads="1"/>
              </p:cNvPicPr>
              <p:nvPr/>
            </p:nvPicPr>
            <p:blipFill>
              <a:blip r:embed="rId4">
                <a:extLst>
                  <a:ext uri="{28A0092B-C50C-407E-A947-70E740481C1C}">
                    <a14:useLocalDpi xmlns:a14="http://schemas.microsoft.com/office/drawing/2010/main" val="0"/>
                  </a:ext>
                </a:extLst>
              </a:blip>
              <a:srcRect l="27873" t="21085" r="57184" b="22289"/>
              <a:stretch>
                <a:fillRect/>
              </a:stretch>
            </p:blipFill>
            <p:spPr bwMode="auto">
              <a:xfrm>
                <a:off x="3947" y="2496"/>
                <a:ext cx="389"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12" descr="10-1-3a1"/>
              <p:cNvPicPr>
                <a:picLocks noChangeAspect="1" noChangeArrowheads="1"/>
              </p:cNvPicPr>
              <p:nvPr/>
            </p:nvPicPr>
            <p:blipFill>
              <a:blip r:embed="rId5">
                <a:extLst>
                  <a:ext uri="{28A0092B-C50C-407E-A947-70E740481C1C}">
                    <a14:useLocalDpi xmlns:a14="http://schemas.microsoft.com/office/drawing/2010/main" val="0"/>
                  </a:ext>
                </a:extLst>
              </a:blip>
              <a:srcRect l="32111" t="15862" r="45566" b="27586"/>
              <a:stretch>
                <a:fillRect/>
              </a:stretch>
            </p:blipFill>
            <p:spPr bwMode="auto">
              <a:xfrm>
                <a:off x="3643" y="2667"/>
                <a:ext cx="437"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 name="Group 13"/>
              <p:cNvGrpSpPr/>
              <p:nvPr/>
            </p:nvGrpSpPr>
            <p:grpSpPr bwMode="auto">
              <a:xfrm>
                <a:off x="3865" y="3134"/>
                <a:ext cx="799" cy="436"/>
                <a:chOff x="3182" y="3408"/>
                <a:chExt cx="1434" cy="617"/>
              </a:xfrm>
            </p:grpSpPr>
            <p:sp>
              <p:nvSpPr>
                <p:cNvPr id="53" name="Text Box 14"/>
                <p:cNvSpPr txBox="1">
                  <a:spLocks noChangeArrowheads="1"/>
                </p:cNvSpPr>
                <p:nvPr/>
              </p:nvSpPr>
              <p:spPr bwMode="auto">
                <a:xfrm>
                  <a:off x="3182" y="3613"/>
                  <a:ext cx="1434"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调整垫</a:t>
                  </a:r>
                  <a:r>
                    <a:rPr kumimoji="1" lang="en-US" altLang="zh-CN" sz="2400">
                      <a:solidFill>
                        <a:srgbClr val="FF0000"/>
                      </a:solidFill>
                      <a:latin typeface="+mn-ea"/>
                      <a:ea typeface="+mn-ea"/>
                    </a:rPr>
                    <a:t>5</a:t>
                  </a:r>
                  <a:endParaRPr kumimoji="1" lang="en-US" altLang="zh-CN" sz="2400">
                    <a:solidFill>
                      <a:srgbClr val="FF0000"/>
                    </a:solidFill>
                    <a:latin typeface="+mn-ea"/>
                    <a:ea typeface="+mn-ea"/>
                  </a:endParaRPr>
                </a:p>
              </p:txBody>
            </p:sp>
            <p:sp>
              <p:nvSpPr>
                <p:cNvPr id="54" name="Line 15"/>
                <p:cNvSpPr>
                  <a:spLocks noChangeShapeType="1"/>
                </p:cNvSpPr>
                <p:nvPr/>
              </p:nvSpPr>
              <p:spPr bwMode="auto">
                <a:xfrm flipH="1">
                  <a:off x="3488" y="3408"/>
                  <a:ext cx="132" cy="264"/>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grpSp>
          <p:nvGrpSpPr>
            <p:cNvPr id="8" name="Group 16"/>
            <p:cNvGrpSpPr/>
            <p:nvPr/>
          </p:nvGrpSpPr>
          <p:grpSpPr bwMode="auto">
            <a:xfrm>
              <a:off x="4467913" y="4192670"/>
              <a:ext cx="958850" cy="1152525"/>
              <a:chOff x="1584" y="1199"/>
              <a:chExt cx="604" cy="726"/>
            </a:xfrm>
          </p:grpSpPr>
          <p:pic>
            <p:nvPicPr>
              <p:cNvPr id="46" name="Picture 17" descr="10-1-7"/>
              <p:cNvPicPr>
                <a:picLocks noChangeAspect="1" noChangeArrowheads="1"/>
              </p:cNvPicPr>
              <p:nvPr/>
            </p:nvPicPr>
            <p:blipFill>
              <a:blip r:embed="rId6" cstate="print">
                <a:extLst>
                  <a:ext uri="{28A0092B-C50C-407E-A947-70E740481C1C}">
                    <a14:useLocalDpi xmlns:a14="http://schemas.microsoft.com/office/drawing/2010/main" val="0"/>
                  </a:ext>
                </a:extLst>
              </a:blip>
              <a:srcRect l="31322" t="19879" r="51149" b="40361"/>
              <a:stretch>
                <a:fillRect/>
              </a:stretch>
            </p:blipFill>
            <p:spPr bwMode="auto">
              <a:xfrm>
                <a:off x="1714" y="1610"/>
                <a:ext cx="29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 name="Group 18"/>
              <p:cNvGrpSpPr/>
              <p:nvPr/>
            </p:nvGrpSpPr>
            <p:grpSpPr bwMode="auto">
              <a:xfrm>
                <a:off x="1584" y="1199"/>
                <a:ext cx="604" cy="417"/>
                <a:chOff x="1394" y="1080"/>
                <a:chExt cx="1081" cy="592"/>
              </a:xfrm>
            </p:grpSpPr>
            <p:sp>
              <p:nvSpPr>
                <p:cNvPr id="48" name="Text Box 19"/>
                <p:cNvSpPr txBox="1">
                  <a:spLocks noChangeArrowheads="1"/>
                </p:cNvSpPr>
                <p:nvPr/>
              </p:nvSpPr>
              <p:spPr bwMode="auto">
                <a:xfrm>
                  <a:off x="1394" y="1080"/>
                  <a:ext cx="1081"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螺母</a:t>
                  </a:r>
                  <a:r>
                    <a:rPr kumimoji="1" lang="en-US" altLang="zh-CN" sz="2400">
                      <a:solidFill>
                        <a:srgbClr val="FF0000"/>
                      </a:solidFill>
                      <a:latin typeface="+mn-ea"/>
                      <a:ea typeface="+mn-ea"/>
                    </a:rPr>
                    <a:t>7</a:t>
                  </a:r>
                  <a:endParaRPr kumimoji="1" lang="en-US" altLang="zh-CN" sz="2400">
                    <a:solidFill>
                      <a:srgbClr val="FF0000"/>
                    </a:solidFill>
                    <a:latin typeface="+mn-ea"/>
                    <a:ea typeface="+mn-ea"/>
                  </a:endParaRPr>
                </a:p>
              </p:txBody>
            </p:sp>
            <p:sp>
              <p:nvSpPr>
                <p:cNvPr id="49" name="Line 20"/>
                <p:cNvSpPr>
                  <a:spLocks noChangeShapeType="1"/>
                </p:cNvSpPr>
                <p:nvPr/>
              </p:nvSpPr>
              <p:spPr bwMode="auto">
                <a:xfrm>
                  <a:off x="1658" y="1444"/>
                  <a:ext cx="108" cy="228"/>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grpSp>
          <p:nvGrpSpPr>
            <p:cNvPr id="9" name="Group 21"/>
            <p:cNvGrpSpPr/>
            <p:nvPr/>
          </p:nvGrpSpPr>
          <p:grpSpPr bwMode="auto">
            <a:xfrm>
              <a:off x="5066401" y="3744995"/>
              <a:ext cx="1427162" cy="1246187"/>
              <a:chOff x="617" y="1200"/>
              <a:chExt cx="899" cy="785"/>
            </a:xfrm>
          </p:grpSpPr>
          <p:pic>
            <p:nvPicPr>
              <p:cNvPr id="42" name="Picture 22" descr="10-1-8"/>
              <p:cNvPicPr>
                <a:picLocks noChangeAspect="1" noChangeArrowheads="1"/>
              </p:cNvPicPr>
              <p:nvPr/>
            </p:nvPicPr>
            <p:blipFill>
              <a:blip r:embed="rId7" cstate="print">
                <a:extLst>
                  <a:ext uri="{28A0092B-C50C-407E-A947-70E740481C1C}">
                    <a14:useLocalDpi xmlns:a14="http://schemas.microsoft.com/office/drawing/2010/main" val="0"/>
                  </a:ext>
                </a:extLst>
              </a:blip>
              <a:srcRect l="23851" t="32530" r="44827" b="18073"/>
              <a:stretch>
                <a:fillRect/>
              </a:stretch>
            </p:blipFill>
            <p:spPr bwMode="auto">
              <a:xfrm>
                <a:off x="617" y="1594"/>
                <a:ext cx="520"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 name="Group 23"/>
              <p:cNvGrpSpPr/>
              <p:nvPr/>
            </p:nvGrpSpPr>
            <p:grpSpPr bwMode="auto">
              <a:xfrm>
                <a:off x="912" y="1200"/>
                <a:ext cx="604" cy="484"/>
                <a:chOff x="710" y="1070"/>
                <a:chExt cx="1081" cy="685"/>
              </a:xfrm>
            </p:grpSpPr>
            <p:sp>
              <p:nvSpPr>
                <p:cNvPr id="44" name="Text Box 24"/>
                <p:cNvSpPr txBox="1">
                  <a:spLocks noChangeArrowheads="1"/>
                </p:cNvSpPr>
                <p:nvPr/>
              </p:nvSpPr>
              <p:spPr bwMode="auto">
                <a:xfrm>
                  <a:off x="710" y="1070"/>
                  <a:ext cx="1081"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螺柱</a:t>
                  </a:r>
                  <a:r>
                    <a:rPr kumimoji="1" lang="en-US" altLang="zh-CN" sz="2400">
                      <a:solidFill>
                        <a:srgbClr val="FF0000"/>
                      </a:solidFill>
                      <a:latin typeface="+mn-ea"/>
                      <a:ea typeface="+mn-ea"/>
                    </a:rPr>
                    <a:t>6</a:t>
                  </a:r>
                  <a:endParaRPr kumimoji="1" lang="en-US" altLang="zh-CN" sz="2400">
                    <a:solidFill>
                      <a:srgbClr val="FF0000"/>
                    </a:solidFill>
                    <a:latin typeface="+mn-ea"/>
                    <a:ea typeface="+mn-ea"/>
                  </a:endParaRPr>
                </a:p>
              </p:txBody>
            </p:sp>
            <p:sp>
              <p:nvSpPr>
                <p:cNvPr id="45" name="Line 25"/>
                <p:cNvSpPr>
                  <a:spLocks noChangeShapeType="1"/>
                </p:cNvSpPr>
                <p:nvPr/>
              </p:nvSpPr>
              <p:spPr bwMode="auto">
                <a:xfrm flipH="1">
                  <a:off x="936" y="1440"/>
                  <a:ext cx="36" cy="315"/>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grpSp>
          <p:nvGrpSpPr>
            <p:cNvPr id="10" name="Group 26"/>
            <p:cNvGrpSpPr/>
            <p:nvPr/>
          </p:nvGrpSpPr>
          <p:grpSpPr bwMode="auto">
            <a:xfrm>
              <a:off x="6477688" y="3321132"/>
              <a:ext cx="1584325" cy="1225550"/>
              <a:chOff x="2274" y="1989"/>
              <a:chExt cx="998" cy="772"/>
            </a:xfrm>
          </p:grpSpPr>
          <p:pic>
            <p:nvPicPr>
              <p:cNvPr id="38" name="Picture 27" descr="10-1-5a"/>
              <p:cNvPicPr>
                <a:picLocks noChangeAspect="1" noChangeArrowheads="1"/>
              </p:cNvPicPr>
              <p:nvPr/>
            </p:nvPicPr>
            <p:blipFill>
              <a:blip r:embed="rId8" cstate="print">
                <a:extLst>
                  <a:ext uri="{28A0092B-C50C-407E-A947-70E740481C1C}">
                    <a14:useLocalDpi xmlns:a14="http://schemas.microsoft.com/office/drawing/2010/main" val="0"/>
                  </a:ext>
                </a:extLst>
              </a:blip>
              <a:srcRect l="34195" r="47414" b="3012"/>
              <a:stretch>
                <a:fillRect/>
              </a:stretch>
            </p:blipFill>
            <p:spPr bwMode="auto">
              <a:xfrm>
                <a:off x="2976" y="2016"/>
                <a:ext cx="296" cy="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 name="Group 28"/>
              <p:cNvGrpSpPr/>
              <p:nvPr/>
            </p:nvGrpSpPr>
            <p:grpSpPr bwMode="auto">
              <a:xfrm>
                <a:off x="2274" y="1989"/>
                <a:ext cx="702" cy="399"/>
                <a:chOff x="1458" y="69"/>
                <a:chExt cx="702" cy="399"/>
              </a:xfrm>
            </p:grpSpPr>
            <p:sp>
              <p:nvSpPr>
                <p:cNvPr id="40" name="Text Box 29"/>
                <p:cNvSpPr txBox="1">
                  <a:spLocks noChangeArrowheads="1"/>
                </p:cNvSpPr>
                <p:nvPr/>
              </p:nvSpPr>
              <p:spPr bwMode="auto">
                <a:xfrm>
                  <a:off x="1458" y="69"/>
                  <a:ext cx="70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阀杆</a:t>
                  </a:r>
                  <a:r>
                    <a:rPr kumimoji="1" lang="en-US" altLang="zh-CN" sz="2400">
                      <a:solidFill>
                        <a:srgbClr val="FF0000"/>
                      </a:solidFill>
                      <a:latin typeface="+mn-ea"/>
                      <a:ea typeface="+mn-ea"/>
                    </a:rPr>
                    <a:t>12</a:t>
                  </a:r>
                  <a:endParaRPr kumimoji="1" lang="en-US" altLang="zh-CN" sz="2400">
                    <a:solidFill>
                      <a:srgbClr val="FF0000"/>
                    </a:solidFill>
                    <a:latin typeface="+mn-ea"/>
                    <a:ea typeface="+mn-ea"/>
                  </a:endParaRPr>
                </a:p>
              </p:txBody>
            </p:sp>
            <p:sp>
              <p:nvSpPr>
                <p:cNvPr id="41" name="Line 30"/>
                <p:cNvSpPr>
                  <a:spLocks noChangeShapeType="1"/>
                </p:cNvSpPr>
                <p:nvPr/>
              </p:nvSpPr>
              <p:spPr bwMode="auto">
                <a:xfrm>
                  <a:off x="2011" y="316"/>
                  <a:ext cx="143" cy="152"/>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grpSp>
          <p:nvGrpSpPr>
            <p:cNvPr id="11" name="Group 31"/>
            <p:cNvGrpSpPr/>
            <p:nvPr/>
          </p:nvGrpSpPr>
          <p:grpSpPr bwMode="auto">
            <a:xfrm>
              <a:off x="9760638" y="1693945"/>
              <a:ext cx="1912938" cy="830866"/>
              <a:chOff x="4643" y="160"/>
              <a:chExt cx="980" cy="1893"/>
            </a:xfrm>
          </p:grpSpPr>
          <p:sp>
            <p:nvSpPr>
              <p:cNvPr id="35" name="Text Box 32"/>
              <p:cNvSpPr txBox="1">
                <a:spLocks noChangeArrowheads="1"/>
              </p:cNvSpPr>
              <p:nvPr/>
            </p:nvSpPr>
            <p:spPr bwMode="auto">
              <a:xfrm>
                <a:off x="4859" y="160"/>
                <a:ext cx="764" cy="18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填料压紧盖</a:t>
                </a:r>
                <a:r>
                  <a:rPr kumimoji="1" lang="en-US" altLang="zh-CN" sz="2400">
                    <a:solidFill>
                      <a:srgbClr val="FF0000"/>
                    </a:solidFill>
                    <a:latin typeface="+mn-ea"/>
                    <a:ea typeface="+mn-ea"/>
                  </a:rPr>
                  <a:t>11</a:t>
                </a:r>
                <a:endParaRPr kumimoji="1" lang="en-US" altLang="zh-CN" sz="2400">
                  <a:solidFill>
                    <a:srgbClr val="FF0000"/>
                  </a:solidFill>
                  <a:latin typeface="+mn-ea"/>
                  <a:ea typeface="+mn-ea"/>
                </a:endParaRPr>
              </a:p>
            </p:txBody>
          </p:sp>
          <p:sp>
            <p:nvSpPr>
              <p:cNvPr id="36" name="Line 33"/>
              <p:cNvSpPr>
                <a:spLocks noChangeShapeType="1"/>
              </p:cNvSpPr>
              <p:nvPr/>
            </p:nvSpPr>
            <p:spPr bwMode="auto">
              <a:xfrm flipV="1">
                <a:off x="4643" y="982"/>
                <a:ext cx="253" cy="595"/>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nvGrpSpPr>
            <p:cNvPr id="12" name="Group 34"/>
            <p:cNvGrpSpPr/>
            <p:nvPr/>
          </p:nvGrpSpPr>
          <p:grpSpPr bwMode="auto">
            <a:xfrm>
              <a:off x="10444851" y="3183020"/>
              <a:ext cx="1003300" cy="711200"/>
              <a:chOff x="4944" y="1778"/>
              <a:chExt cx="1134" cy="634"/>
            </a:xfrm>
          </p:grpSpPr>
          <p:sp>
            <p:nvSpPr>
              <p:cNvPr id="33" name="Text Box 35"/>
              <p:cNvSpPr txBox="1">
                <a:spLocks noChangeArrowheads="1"/>
              </p:cNvSpPr>
              <p:nvPr/>
            </p:nvSpPr>
            <p:spPr bwMode="auto">
              <a:xfrm>
                <a:off x="4994" y="1778"/>
                <a:ext cx="1084"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阀体</a:t>
                </a:r>
                <a:r>
                  <a:rPr kumimoji="1" lang="en-US" altLang="zh-CN" sz="2400">
                    <a:solidFill>
                      <a:srgbClr val="FF0000"/>
                    </a:solidFill>
                    <a:latin typeface="+mn-ea"/>
                    <a:ea typeface="+mn-ea"/>
                  </a:rPr>
                  <a:t>1</a:t>
                </a:r>
                <a:endParaRPr kumimoji="1" lang="en-US" altLang="zh-CN" sz="2400">
                  <a:solidFill>
                    <a:srgbClr val="FF0000"/>
                  </a:solidFill>
                  <a:latin typeface="+mn-ea"/>
                  <a:ea typeface="+mn-ea"/>
                </a:endParaRPr>
              </a:p>
            </p:txBody>
          </p:sp>
          <p:sp>
            <p:nvSpPr>
              <p:cNvPr id="34" name="Line 36"/>
              <p:cNvSpPr>
                <a:spLocks noChangeShapeType="1"/>
              </p:cNvSpPr>
              <p:nvPr/>
            </p:nvSpPr>
            <p:spPr bwMode="auto">
              <a:xfrm flipH="1">
                <a:off x="4944" y="2113"/>
                <a:ext cx="526" cy="299"/>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nvGrpSpPr>
            <p:cNvPr id="13" name="Group 37"/>
            <p:cNvGrpSpPr/>
            <p:nvPr/>
          </p:nvGrpSpPr>
          <p:grpSpPr bwMode="auto">
            <a:xfrm>
              <a:off x="5587101" y="3972007"/>
              <a:ext cx="1971675" cy="2254250"/>
              <a:chOff x="370" y="2021"/>
              <a:chExt cx="1242" cy="1420"/>
            </a:xfrm>
          </p:grpSpPr>
          <p:pic>
            <p:nvPicPr>
              <p:cNvPr id="29" name="Picture 38" descr="9-6a"/>
              <p:cNvPicPr>
                <a:picLocks noChangeAspect="1" noChangeArrowheads="1"/>
              </p:cNvPicPr>
              <p:nvPr/>
            </p:nvPicPr>
            <p:blipFill>
              <a:blip r:embed="rId2">
                <a:extLst>
                  <a:ext uri="{28A0092B-C50C-407E-A947-70E740481C1C}">
                    <a14:useLocalDpi xmlns:a14="http://schemas.microsoft.com/office/drawing/2010/main" val="0"/>
                  </a:ext>
                </a:extLst>
              </a:blip>
              <a:srcRect l="9195" t="11694" r="65715" b="7158"/>
              <a:stretch>
                <a:fillRect/>
              </a:stretch>
            </p:blipFill>
            <p:spPr bwMode="auto">
              <a:xfrm>
                <a:off x="370" y="2148"/>
                <a:ext cx="838" cy="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39"/>
              <p:cNvGrpSpPr/>
              <p:nvPr/>
            </p:nvGrpSpPr>
            <p:grpSpPr bwMode="auto">
              <a:xfrm>
                <a:off x="1008" y="2021"/>
                <a:ext cx="604" cy="453"/>
                <a:chOff x="818" y="1898"/>
                <a:chExt cx="1081" cy="642"/>
              </a:xfrm>
            </p:grpSpPr>
            <p:sp>
              <p:nvSpPr>
                <p:cNvPr id="31" name="Text Box 40"/>
                <p:cNvSpPr txBox="1">
                  <a:spLocks noChangeArrowheads="1"/>
                </p:cNvSpPr>
                <p:nvPr/>
              </p:nvSpPr>
              <p:spPr bwMode="auto">
                <a:xfrm>
                  <a:off x="818" y="1898"/>
                  <a:ext cx="1081"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CC3300"/>
                      </a:solidFill>
                      <a:latin typeface="+mn-ea"/>
                      <a:ea typeface="+mn-ea"/>
                    </a:rPr>
                    <a:t>阀盖</a:t>
                  </a:r>
                  <a:r>
                    <a:rPr kumimoji="1" lang="en-US" altLang="zh-CN" sz="2400">
                      <a:solidFill>
                        <a:srgbClr val="CC3300"/>
                      </a:solidFill>
                      <a:latin typeface="+mn-ea"/>
                      <a:ea typeface="+mn-ea"/>
                    </a:rPr>
                    <a:t>2</a:t>
                  </a:r>
                  <a:endParaRPr kumimoji="1" lang="en-US" altLang="zh-CN" sz="2400">
                    <a:solidFill>
                      <a:srgbClr val="CC3300"/>
                    </a:solidFill>
                    <a:latin typeface="+mn-ea"/>
                    <a:ea typeface="+mn-ea"/>
                  </a:endParaRPr>
                </a:p>
              </p:txBody>
            </p:sp>
            <p:sp>
              <p:nvSpPr>
                <p:cNvPr id="32" name="Line 41"/>
                <p:cNvSpPr>
                  <a:spLocks noChangeShapeType="1"/>
                </p:cNvSpPr>
                <p:nvPr/>
              </p:nvSpPr>
              <p:spPr bwMode="auto">
                <a:xfrm flipH="1">
                  <a:off x="1080" y="2252"/>
                  <a:ext cx="84" cy="288"/>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grpSp>
        </p:grpSp>
        <p:grpSp>
          <p:nvGrpSpPr>
            <p:cNvPr id="14" name="Group 42"/>
            <p:cNvGrpSpPr/>
            <p:nvPr/>
          </p:nvGrpSpPr>
          <p:grpSpPr bwMode="auto">
            <a:xfrm>
              <a:off x="9190726" y="2562307"/>
              <a:ext cx="2063750" cy="828675"/>
              <a:chOff x="1968" y="1613"/>
              <a:chExt cx="1300" cy="522"/>
            </a:xfrm>
          </p:grpSpPr>
          <p:pic>
            <p:nvPicPr>
              <p:cNvPr id="25" name="Picture 43" descr="10-1-10"/>
              <p:cNvPicPr>
                <a:picLocks noChangeAspect="1" noChangeArrowheads="1"/>
              </p:cNvPicPr>
              <p:nvPr/>
            </p:nvPicPr>
            <p:blipFill>
              <a:blip r:embed="rId9">
                <a:extLst>
                  <a:ext uri="{28A0092B-C50C-407E-A947-70E740481C1C}">
                    <a14:useLocalDpi xmlns:a14="http://schemas.microsoft.com/office/drawing/2010/main" val="0"/>
                  </a:ext>
                </a:extLst>
              </a:blip>
              <a:srcRect l="52873" t="28915" r="34483" b="52409"/>
              <a:stretch>
                <a:fillRect/>
              </a:stretch>
            </p:blipFill>
            <p:spPr bwMode="auto">
              <a:xfrm>
                <a:off x="1968" y="1872"/>
                <a:ext cx="37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44"/>
              <p:cNvGrpSpPr/>
              <p:nvPr/>
            </p:nvGrpSpPr>
            <p:grpSpPr bwMode="auto">
              <a:xfrm>
                <a:off x="2327" y="1613"/>
                <a:ext cx="941" cy="359"/>
                <a:chOff x="2531" y="1898"/>
                <a:chExt cx="1689" cy="508"/>
              </a:xfrm>
            </p:grpSpPr>
            <p:sp>
              <p:nvSpPr>
                <p:cNvPr id="27" name="Text Box 45"/>
                <p:cNvSpPr txBox="1">
                  <a:spLocks noChangeArrowheads="1"/>
                </p:cNvSpPr>
                <p:nvPr/>
              </p:nvSpPr>
              <p:spPr bwMode="auto">
                <a:xfrm>
                  <a:off x="2788" y="1898"/>
                  <a:ext cx="1432"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填料垫</a:t>
                  </a:r>
                  <a:r>
                    <a:rPr kumimoji="1" lang="en-US" altLang="zh-CN" sz="2400">
                      <a:solidFill>
                        <a:srgbClr val="FF0000"/>
                      </a:solidFill>
                      <a:latin typeface="+mn-ea"/>
                      <a:ea typeface="+mn-ea"/>
                    </a:rPr>
                    <a:t>8</a:t>
                  </a:r>
                  <a:endParaRPr kumimoji="1" lang="en-US" altLang="zh-CN" sz="2400">
                    <a:solidFill>
                      <a:srgbClr val="FF0000"/>
                    </a:solidFill>
                    <a:latin typeface="+mn-ea"/>
                    <a:ea typeface="+mn-ea"/>
                  </a:endParaRPr>
                </a:p>
              </p:txBody>
            </p:sp>
            <p:sp>
              <p:nvSpPr>
                <p:cNvPr id="28" name="Line 46"/>
                <p:cNvSpPr>
                  <a:spLocks noChangeShapeType="1"/>
                </p:cNvSpPr>
                <p:nvPr/>
              </p:nvSpPr>
              <p:spPr bwMode="auto">
                <a:xfrm flipH="1">
                  <a:off x="2531" y="2246"/>
                  <a:ext cx="475" cy="16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grpSp>
        <p:grpSp>
          <p:nvGrpSpPr>
            <p:cNvPr id="15" name="Group 47"/>
            <p:cNvGrpSpPr/>
            <p:nvPr/>
          </p:nvGrpSpPr>
          <p:grpSpPr bwMode="auto">
            <a:xfrm>
              <a:off x="7417488" y="4513345"/>
              <a:ext cx="1666875" cy="1676400"/>
              <a:chOff x="2098" y="2775"/>
              <a:chExt cx="1050" cy="1056"/>
            </a:xfrm>
          </p:grpSpPr>
          <p:grpSp>
            <p:nvGrpSpPr>
              <p:cNvPr id="21" name="Group 48"/>
              <p:cNvGrpSpPr/>
              <p:nvPr/>
            </p:nvGrpSpPr>
            <p:grpSpPr bwMode="auto">
              <a:xfrm>
                <a:off x="2544" y="3361"/>
                <a:ext cx="604" cy="470"/>
                <a:chOff x="2402" y="3360"/>
                <a:chExt cx="1081" cy="665"/>
              </a:xfrm>
            </p:grpSpPr>
            <p:sp>
              <p:nvSpPr>
                <p:cNvPr id="23" name="Text Box 49"/>
                <p:cNvSpPr txBox="1">
                  <a:spLocks noChangeArrowheads="1"/>
                </p:cNvSpPr>
                <p:nvPr/>
              </p:nvSpPr>
              <p:spPr bwMode="auto">
                <a:xfrm>
                  <a:off x="2402" y="3613"/>
                  <a:ext cx="1081"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FF0000"/>
                      </a:solidFill>
                      <a:latin typeface="+mn-ea"/>
                      <a:ea typeface="+mn-ea"/>
                    </a:rPr>
                    <a:t>阀芯</a:t>
                  </a:r>
                  <a:r>
                    <a:rPr kumimoji="1" lang="en-US" altLang="zh-CN" sz="2400">
                      <a:solidFill>
                        <a:srgbClr val="FF0000"/>
                      </a:solidFill>
                      <a:latin typeface="+mn-ea"/>
                      <a:ea typeface="+mn-ea"/>
                    </a:rPr>
                    <a:t>4</a:t>
                  </a:r>
                  <a:endParaRPr kumimoji="1" lang="en-US" altLang="zh-CN" sz="2400">
                    <a:solidFill>
                      <a:srgbClr val="FF0000"/>
                    </a:solidFill>
                    <a:latin typeface="+mn-ea"/>
                    <a:ea typeface="+mn-ea"/>
                  </a:endParaRPr>
                </a:p>
              </p:txBody>
            </p:sp>
            <p:sp>
              <p:nvSpPr>
                <p:cNvPr id="24" name="Line 50"/>
                <p:cNvSpPr>
                  <a:spLocks noChangeShapeType="1"/>
                </p:cNvSpPr>
                <p:nvPr/>
              </p:nvSpPr>
              <p:spPr bwMode="auto">
                <a:xfrm>
                  <a:off x="2544" y="3360"/>
                  <a:ext cx="200" cy="345"/>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FF0000"/>
                    </a:solidFill>
                    <a:latin typeface="+mn-ea"/>
                  </a:endParaRPr>
                </a:p>
              </p:txBody>
            </p:sp>
          </p:grpSp>
          <p:pic>
            <p:nvPicPr>
              <p:cNvPr id="22" name="Picture 51" descr="10-1-2aa"/>
              <p:cNvPicPr>
                <a:picLocks noChangeAspect="1" noChangeArrowheads="1"/>
              </p:cNvPicPr>
              <p:nvPr/>
            </p:nvPicPr>
            <p:blipFill>
              <a:blip r:embed="rId10">
                <a:extLst>
                  <a:ext uri="{28A0092B-C50C-407E-A947-70E740481C1C}">
                    <a14:useLocalDpi xmlns:a14="http://schemas.microsoft.com/office/drawing/2010/main" val="0"/>
                  </a:ext>
                </a:extLst>
              </a:blip>
              <a:srcRect l="24713" t="27711" r="44540" b="8434"/>
              <a:stretch>
                <a:fillRect/>
              </a:stretch>
            </p:blipFill>
            <p:spPr bwMode="auto">
              <a:xfrm>
                <a:off x="2098" y="2775"/>
                <a:ext cx="635"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Group 53"/>
            <p:cNvGrpSpPr/>
            <p:nvPr/>
          </p:nvGrpSpPr>
          <p:grpSpPr bwMode="auto">
            <a:xfrm>
              <a:off x="7455588" y="1363745"/>
              <a:ext cx="1114425" cy="671512"/>
              <a:chOff x="4838" y="769"/>
              <a:chExt cx="1258" cy="599"/>
            </a:xfrm>
          </p:grpSpPr>
          <p:sp>
            <p:nvSpPr>
              <p:cNvPr id="19" name="Text Box 54"/>
              <p:cNvSpPr txBox="1">
                <a:spLocks noChangeArrowheads="1"/>
              </p:cNvSpPr>
              <p:nvPr/>
            </p:nvSpPr>
            <p:spPr bwMode="auto">
              <a:xfrm>
                <a:off x="4838" y="769"/>
                <a:ext cx="1258"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CC3300"/>
                    </a:solidFill>
                    <a:latin typeface="+mn-ea"/>
                    <a:ea typeface="+mn-ea"/>
                  </a:rPr>
                  <a:t>扳手</a:t>
                </a:r>
                <a:r>
                  <a:rPr kumimoji="1" lang="en-US" altLang="zh-CN" sz="2400">
                    <a:solidFill>
                      <a:srgbClr val="CC3300"/>
                    </a:solidFill>
                    <a:latin typeface="+mn-ea"/>
                    <a:ea typeface="+mn-ea"/>
                  </a:rPr>
                  <a:t>13</a:t>
                </a:r>
                <a:endParaRPr kumimoji="1" lang="en-US" altLang="zh-CN" sz="2400">
                  <a:solidFill>
                    <a:srgbClr val="CC3300"/>
                  </a:solidFill>
                  <a:latin typeface="+mn-ea"/>
                  <a:ea typeface="+mn-ea"/>
                </a:endParaRPr>
              </a:p>
            </p:txBody>
          </p:sp>
          <p:sp>
            <p:nvSpPr>
              <p:cNvPr id="20" name="Line 55"/>
              <p:cNvSpPr>
                <a:spLocks noChangeShapeType="1"/>
              </p:cNvSpPr>
              <p:nvPr/>
            </p:nvSpPr>
            <p:spPr bwMode="auto">
              <a:xfrm flipH="1" flipV="1">
                <a:off x="5628" y="1152"/>
                <a:ext cx="216" cy="216"/>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grpSp>
        <p:pic>
          <p:nvPicPr>
            <p:cNvPr id="18" name="Picture 56" descr="10-1-6"/>
            <p:cNvPicPr>
              <a:picLocks noChangeAspect="1" noChangeArrowheads="1"/>
            </p:cNvPicPr>
            <p:nvPr/>
          </p:nvPicPr>
          <p:blipFill>
            <a:blip r:embed="rId11">
              <a:extLst>
                <a:ext uri="{28A0092B-C50C-407E-A947-70E740481C1C}">
                  <a14:useLocalDpi xmlns:a14="http://schemas.microsoft.com/office/drawing/2010/main" val="0"/>
                </a:ext>
              </a:extLst>
            </a:blip>
            <a:srcRect l="22414" t="4819" r="23563" b="4819"/>
            <a:stretch>
              <a:fillRect/>
            </a:stretch>
          </p:blipFill>
          <p:spPr bwMode="auto">
            <a:xfrm>
              <a:off x="7357163" y="1015998"/>
              <a:ext cx="3186113"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组合 1"/>
          <p:cNvGrpSpPr/>
          <p:nvPr/>
        </p:nvGrpSpPr>
        <p:grpSpPr>
          <a:xfrm>
            <a:off x="665128" y="2752325"/>
            <a:ext cx="2614613" cy="522288"/>
            <a:chOff x="665128" y="2752325"/>
            <a:chExt cx="2614613" cy="522288"/>
          </a:xfrm>
        </p:grpSpPr>
        <p:sp>
          <p:nvSpPr>
            <p:cNvPr id="59" name="Text Box 57"/>
            <p:cNvSpPr txBox="1">
              <a:spLocks noChangeArrowheads="1"/>
            </p:cNvSpPr>
            <p:nvPr/>
          </p:nvSpPr>
          <p:spPr bwMode="auto">
            <a:xfrm>
              <a:off x="665128" y="2812650"/>
              <a:ext cx="1149350"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a:solidFill>
                    <a:srgbClr val="000000"/>
                  </a:solidFill>
                  <a:latin typeface="微软雅黑" panose="020B0503020204020204" pitchFamily="34" charset="-122"/>
                  <a:ea typeface="微软雅黑" panose="020B0503020204020204" pitchFamily="34" charset="-122"/>
                </a:rPr>
                <a:t>轴类</a:t>
              </a:r>
              <a:endParaRPr kumimoji="1" lang="zh-CN" altLang="en-US" sz="2400">
                <a:solidFill>
                  <a:srgbClr val="000000"/>
                </a:solidFill>
                <a:latin typeface="微软雅黑" panose="020B0503020204020204" pitchFamily="34" charset="-122"/>
                <a:ea typeface="微软雅黑" panose="020B0503020204020204" pitchFamily="34" charset="-122"/>
              </a:endParaRPr>
            </a:p>
          </p:txBody>
        </p:sp>
        <p:sp>
          <p:nvSpPr>
            <p:cNvPr id="63" name="Text Box 61"/>
            <p:cNvSpPr txBox="1">
              <a:spLocks noChangeArrowheads="1"/>
            </p:cNvSpPr>
            <p:nvPr/>
          </p:nvSpPr>
          <p:spPr bwMode="auto">
            <a:xfrm>
              <a:off x="1755741" y="2752325"/>
              <a:ext cx="1524000" cy="52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800" dirty="0">
                  <a:solidFill>
                    <a:srgbClr val="000000"/>
                  </a:solidFill>
                  <a:latin typeface="微软雅黑" panose="020B0503020204020204" pitchFamily="34" charset="-122"/>
                  <a:ea typeface="微软雅黑" panose="020B0503020204020204" pitchFamily="34" charset="-122"/>
                </a:rPr>
                <a:t>（</a:t>
              </a:r>
              <a:r>
                <a:rPr kumimoji="1" lang="zh-CN" altLang="en-US" sz="2400" dirty="0">
                  <a:solidFill>
                    <a:srgbClr val="C00000"/>
                  </a:solidFill>
                  <a:latin typeface="微软雅黑" panose="020B0503020204020204" pitchFamily="34" charset="-122"/>
                  <a:ea typeface="微软雅黑" panose="020B0503020204020204" pitchFamily="34" charset="-122"/>
                </a:rPr>
                <a:t>阀杆</a:t>
              </a:r>
              <a:r>
                <a:rPr kumimoji="1" lang="zh-CN" altLang="en-US" sz="2800" dirty="0">
                  <a:solidFill>
                    <a:srgbClr val="000000"/>
                  </a:solidFill>
                  <a:latin typeface="微软雅黑" panose="020B0503020204020204" pitchFamily="34" charset="-122"/>
                  <a:ea typeface="微软雅黑" panose="020B0503020204020204" pitchFamily="34" charset="-122"/>
                </a:rPr>
                <a:t>）</a:t>
              </a:r>
              <a:endParaRPr kumimoji="1" lang="zh-CN" altLang="en-US" sz="2800" dirty="0">
                <a:solidFill>
                  <a:srgbClr val="000000"/>
                </a:solidFill>
                <a:latin typeface="微软雅黑" panose="020B0503020204020204" pitchFamily="34" charset="-122"/>
                <a:ea typeface="微软雅黑" panose="020B0503020204020204" pitchFamily="34" charset="-122"/>
              </a:endParaRPr>
            </a:p>
          </p:txBody>
        </p:sp>
      </p:grpSp>
      <p:grpSp>
        <p:nvGrpSpPr>
          <p:cNvPr id="69" name="组合 68"/>
          <p:cNvGrpSpPr/>
          <p:nvPr/>
        </p:nvGrpSpPr>
        <p:grpSpPr>
          <a:xfrm>
            <a:off x="665128" y="3325413"/>
            <a:ext cx="2665413" cy="523875"/>
            <a:chOff x="665128" y="3325413"/>
            <a:chExt cx="2665413" cy="523875"/>
          </a:xfrm>
        </p:grpSpPr>
        <p:sp>
          <p:nvSpPr>
            <p:cNvPr id="60" name="Text Box 58"/>
            <p:cNvSpPr txBox="1">
              <a:spLocks noChangeArrowheads="1"/>
            </p:cNvSpPr>
            <p:nvPr/>
          </p:nvSpPr>
          <p:spPr bwMode="auto">
            <a:xfrm>
              <a:off x="665128" y="3371450"/>
              <a:ext cx="1149350"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盘类</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64" name="Text Box 62"/>
            <p:cNvSpPr txBox="1">
              <a:spLocks noChangeArrowheads="1"/>
            </p:cNvSpPr>
            <p:nvPr/>
          </p:nvSpPr>
          <p:spPr bwMode="auto">
            <a:xfrm>
              <a:off x="1806541" y="3325413"/>
              <a:ext cx="15240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800" dirty="0">
                  <a:solidFill>
                    <a:srgbClr val="000000"/>
                  </a:solidFill>
                  <a:latin typeface="微软雅黑" panose="020B0503020204020204" pitchFamily="34" charset="-122"/>
                  <a:ea typeface="微软雅黑" panose="020B0503020204020204" pitchFamily="34" charset="-122"/>
                </a:rPr>
                <a:t>（</a:t>
              </a:r>
              <a:r>
                <a:rPr kumimoji="1" lang="zh-CN" altLang="en-US" sz="2400" dirty="0">
                  <a:solidFill>
                    <a:srgbClr val="C00000"/>
                  </a:solidFill>
                  <a:latin typeface="微软雅黑" panose="020B0503020204020204" pitchFamily="34" charset="-122"/>
                  <a:ea typeface="微软雅黑" panose="020B0503020204020204" pitchFamily="34" charset="-122"/>
                </a:rPr>
                <a:t>阀盖</a:t>
              </a:r>
              <a:r>
                <a:rPr kumimoji="1" lang="zh-CN" altLang="en-US" sz="2800" dirty="0">
                  <a:solidFill>
                    <a:srgbClr val="000000"/>
                  </a:solidFill>
                  <a:latin typeface="微软雅黑" panose="020B0503020204020204" pitchFamily="34" charset="-122"/>
                  <a:ea typeface="微软雅黑" panose="020B0503020204020204" pitchFamily="34" charset="-122"/>
                </a:rPr>
                <a:t>）</a:t>
              </a:r>
              <a:endParaRPr kumimoji="1" lang="zh-CN" altLang="en-US" sz="2800" dirty="0">
                <a:solidFill>
                  <a:srgbClr val="000000"/>
                </a:solidFill>
                <a:latin typeface="微软雅黑" panose="020B0503020204020204" pitchFamily="34" charset="-122"/>
                <a:ea typeface="微软雅黑" panose="020B0503020204020204" pitchFamily="34" charset="-122"/>
              </a:endParaRPr>
            </a:p>
          </p:txBody>
        </p:sp>
      </p:grpSp>
      <p:grpSp>
        <p:nvGrpSpPr>
          <p:cNvPr id="71" name="组合 70"/>
          <p:cNvGrpSpPr/>
          <p:nvPr/>
        </p:nvGrpSpPr>
        <p:grpSpPr>
          <a:xfrm>
            <a:off x="665128" y="4438250"/>
            <a:ext cx="3728979" cy="523220"/>
            <a:chOff x="665128" y="4438250"/>
            <a:chExt cx="3728979" cy="523220"/>
          </a:xfrm>
        </p:grpSpPr>
        <p:sp>
          <p:nvSpPr>
            <p:cNvPr id="62" name="Text Box 60"/>
            <p:cNvSpPr txBox="1">
              <a:spLocks noChangeArrowheads="1"/>
            </p:cNvSpPr>
            <p:nvPr/>
          </p:nvSpPr>
          <p:spPr bwMode="auto">
            <a:xfrm>
              <a:off x="665128" y="4485875"/>
              <a:ext cx="1458913"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标准件</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65" name="Text Box 63"/>
            <p:cNvSpPr txBox="1">
              <a:spLocks noChangeArrowheads="1"/>
            </p:cNvSpPr>
            <p:nvPr/>
          </p:nvSpPr>
          <p:spPr bwMode="auto">
            <a:xfrm>
              <a:off x="1952413" y="4438250"/>
              <a:ext cx="2441694"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800">
                  <a:solidFill>
                    <a:srgbClr val="000000"/>
                  </a:solidFill>
                  <a:latin typeface="微软雅黑" panose="020B0503020204020204" pitchFamily="34" charset="-122"/>
                  <a:ea typeface="微软雅黑" panose="020B0503020204020204" pitchFamily="34" charset="-122"/>
                </a:rPr>
                <a:t>（</a:t>
              </a:r>
              <a:r>
                <a:rPr kumimoji="1" lang="zh-CN" altLang="en-US" sz="2400">
                  <a:solidFill>
                    <a:srgbClr val="C00000"/>
                  </a:solidFill>
                  <a:latin typeface="微软雅黑" panose="020B0503020204020204" pitchFamily="34" charset="-122"/>
                  <a:ea typeface="微软雅黑" panose="020B0503020204020204" pitchFamily="34" charset="-122"/>
                </a:rPr>
                <a:t>螺栓、销等</a:t>
              </a:r>
              <a:r>
                <a:rPr kumimoji="1" lang="zh-CN" altLang="en-US" sz="2800">
                  <a:solidFill>
                    <a:srgbClr val="000000"/>
                  </a:solidFill>
                  <a:latin typeface="微软雅黑" panose="020B0503020204020204" pitchFamily="34" charset="-122"/>
                  <a:ea typeface="微软雅黑" panose="020B0503020204020204" pitchFamily="34" charset="-122"/>
                </a:rPr>
                <a:t>）</a:t>
              </a:r>
              <a:endParaRPr kumimoji="1" lang="zh-CN" altLang="en-US" sz="2800">
                <a:solidFill>
                  <a:srgbClr val="000000"/>
                </a:solidFill>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665128" y="3885800"/>
            <a:ext cx="3686048" cy="522288"/>
            <a:chOff x="665128" y="3885800"/>
            <a:chExt cx="3686048" cy="522288"/>
          </a:xfrm>
        </p:grpSpPr>
        <p:sp>
          <p:nvSpPr>
            <p:cNvPr id="61" name="Text Box 59"/>
            <p:cNvSpPr txBox="1">
              <a:spLocks noChangeArrowheads="1"/>
            </p:cNvSpPr>
            <p:nvPr/>
          </p:nvSpPr>
          <p:spPr bwMode="auto">
            <a:xfrm>
              <a:off x="665128" y="3928663"/>
              <a:ext cx="23876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箱体、支架类</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66" name="Text Box 64"/>
            <p:cNvSpPr txBox="1">
              <a:spLocks noChangeArrowheads="1"/>
            </p:cNvSpPr>
            <p:nvPr/>
          </p:nvSpPr>
          <p:spPr bwMode="auto">
            <a:xfrm>
              <a:off x="2827176" y="3885800"/>
              <a:ext cx="1524000" cy="52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800" dirty="0">
                  <a:solidFill>
                    <a:srgbClr val="000000"/>
                  </a:solidFill>
                  <a:latin typeface="微软雅黑" panose="020B0503020204020204" pitchFamily="34" charset="-122"/>
                  <a:ea typeface="微软雅黑" panose="020B0503020204020204" pitchFamily="34" charset="-122"/>
                </a:rPr>
                <a:t>（</a:t>
              </a:r>
              <a:r>
                <a:rPr kumimoji="1" lang="zh-CN" altLang="en-US" sz="2400" dirty="0">
                  <a:solidFill>
                    <a:srgbClr val="C00000"/>
                  </a:solidFill>
                  <a:latin typeface="微软雅黑" panose="020B0503020204020204" pitchFamily="34" charset="-122"/>
                  <a:ea typeface="微软雅黑" panose="020B0503020204020204" pitchFamily="34" charset="-122"/>
                </a:rPr>
                <a:t>阀体</a:t>
              </a:r>
              <a:r>
                <a:rPr kumimoji="1" lang="zh-CN" altLang="en-US" sz="2800" dirty="0">
                  <a:solidFill>
                    <a:srgbClr val="000000"/>
                  </a:solidFill>
                  <a:latin typeface="微软雅黑" panose="020B0503020204020204" pitchFamily="34" charset="-122"/>
                  <a:ea typeface="微软雅黑" panose="020B0503020204020204" pitchFamily="34" charset="-122"/>
                </a:rPr>
                <a:t>）</a:t>
              </a:r>
              <a:endParaRPr kumimoji="1" lang="zh-CN" altLang="en-US" sz="2800" dirty="0">
                <a:solidFill>
                  <a:srgbClr val="000000"/>
                </a:solidFill>
                <a:latin typeface="微软雅黑" panose="020B0503020204020204" pitchFamily="34" charset="-122"/>
                <a:ea typeface="微软雅黑" panose="020B0503020204020204" pitchFamily="34" charset="-122"/>
              </a:endParaRPr>
            </a:p>
          </p:txBody>
        </p:sp>
      </p:grpSp>
      <p:sp>
        <p:nvSpPr>
          <p:cNvPr id="67" name="矩形 3"/>
          <p:cNvSpPr>
            <a:spLocks noChangeArrowheads="1"/>
          </p:cNvSpPr>
          <p:nvPr/>
        </p:nvSpPr>
        <p:spPr bwMode="auto">
          <a:xfrm>
            <a:off x="673315" y="1902278"/>
            <a:ext cx="3888432"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zh-CN" altLang="en-US" sz="2400" dirty="0">
                <a:latin typeface="微软雅黑" panose="020B0503020204020204" pitchFamily="34" charset="-122"/>
                <a:ea typeface="微软雅黑" panose="020B0503020204020204" pitchFamily="34" charset="-122"/>
              </a:rPr>
              <a:t>根据零件结构、加工特点，通常零件分为以下几大类</a:t>
            </a:r>
            <a:r>
              <a:rPr kumimoji="1" lang="en-US" altLang="zh-CN" sz="2400" dirty="0">
                <a:latin typeface="微软雅黑" panose="020B0503020204020204" pitchFamily="34" charset="-122"/>
                <a:ea typeface="微软雅黑" panose="020B0503020204020204" pitchFamily="34" charset="-122"/>
              </a:rPr>
              <a:t>:</a:t>
            </a:r>
            <a:endParaRPr kumimoji="1" lang="zh-CN" altLang="en-US" sz="2400" dirty="0">
              <a:latin typeface="微软雅黑" panose="020B0503020204020204" pitchFamily="34" charset="-122"/>
              <a:ea typeface="微软雅黑" panose="020B0503020204020204" pitchFamily="34" charset="-122"/>
            </a:endParaRPr>
          </a:p>
        </p:txBody>
      </p:sp>
      <p:sp>
        <p:nvSpPr>
          <p:cNvPr id="68" name="Text Box 87"/>
          <p:cNvSpPr txBox="1">
            <a:spLocks noChangeArrowheads="1"/>
          </p:cNvSpPr>
          <p:nvPr/>
        </p:nvSpPr>
        <p:spPr bwMode="auto">
          <a:xfrm>
            <a:off x="479376" y="1268089"/>
            <a:ext cx="24416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什么是零件</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fade">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
                                        </p:tgtEl>
                                        <p:attrNameLst>
                                          <p:attrName>style.visibility</p:attrName>
                                        </p:attrNameLst>
                                      </p:cBhvr>
                                      <p:to>
                                        <p:strVal val="visible"/>
                                      </p:to>
                                    </p:set>
                                    <p:animEffect transition="in" filter="fade">
                                      <p:cBhvr>
                                        <p:cTn id="2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2800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零件图的作用</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3" name="Rectangle 5"/>
          <p:cNvSpPr>
            <a:spLocks noChangeArrowheads="1"/>
          </p:cNvSpPr>
          <p:nvPr/>
        </p:nvSpPr>
        <p:spPr bwMode="auto">
          <a:xfrm>
            <a:off x="1055440" y="4509120"/>
            <a:ext cx="100335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ts val="0"/>
              </a:spcBef>
              <a:spcAft>
                <a:spcPct val="0"/>
              </a:spcAft>
              <a:defRPr/>
            </a:pPr>
            <a:r>
              <a:rPr kumimoji="1" lang="zh-CN" altLang="en-US" sz="2400" b="1" dirty="0">
                <a:latin typeface="微软雅黑" panose="020B0503020204020204" pitchFamily="34" charset="-122"/>
                <a:ea typeface="微软雅黑" panose="020B0503020204020204" pitchFamily="34" charset="-122"/>
              </a:rPr>
              <a:t>零件图作用</a:t>
            </a:r>
            <a:r>
              <a:rPr kumimoji="1" lang="zh-CN" altLang="en-US" sz="2400" dirty="0">
                <a:latin typeface="微软雅黑" panose="020B0503020204020204" pitchFamily="34" charset="-122"/>
                <a:ea typeface="微软雅黑" panose="020B0503020204020204" pitchFamily="34" charset="-122"/>
              </a:rPr>
              <a:t>：传达设计信息的主要媒介，是制造和检验零件的技术依据。</a:t>
            </a:r>
            <a:endParaRPr kumimoji="1" lang="en-US" altLang="zh-CN" sz="2400" dirty="0">
              <a:latin typeface="微软雅黑" panose="020B0503020204020204" pitchFamily="34" charset="-122"/>
              <a:ea typeface="微软雅黑" panose="020B0503020204020204" pitchFamily="34" charset="-122"/>
            </a:endParaRPr>
          </a:p>
        </p:txBody>
      </p:sp>
      <p:sp>
        <p:nvSpPr>
          <p:cNvPr id="4" name="Text Box 10"/>
          <p:cNvSpPr txBox="1">
            <a:spLocks noChangeArrowheads="1"/>
          </p:cNvSpPr>
          <p:nvPr/>
        </p:nvSpPr>
        <p:spPr bwMode="auto">
          <a:xfrm>
            <a:off x="1055440" y="2217130"/>
            <a:ext cx="8496944"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r>
              <a:rPr kumimoji="1" lang="zh-CN" altLang="en-US" sz="2800" b="1" dirty="0">
                <a:latin typeface="微软雅黑" panose="020B0503020204020204" pitchFamily="34" charset="-122"/>
                <a:ea typeface="微软雅黑" panose="020B0503020204020204" pitchFamily="34" charset="-122"/>
              </a:rPr>
              <a:t>零件图</a:t>
            </a:r>
            <a:r>
              <a:rPr kumimoji="1" lang="zh-CN" altLang="en-US" sz="2800" dirty="0">
                <a:latin typeface="微软雅黑" panose="020B0503020204020204" pitchFamily="34" charset="-122"/>
                <a:ea typeface="微软雅黑" panose="020B0503020204020204" pitchFamily="34" charset="-122"/>
              </a:rPr>
              <a:t>：表示零件 </a:t>
            </a:r>
            <a:r>
              <a:rPr kumimoji="1" lang="zh-CN" altLang="en-US" sz="2800" u="sng" dirty="0">
                <a:latin typeface="微软雅黑" panose="020B0503020204020204" pitchFamily="34" charset="-122"/>
                <a:ea typeface="微软雅黑" panose="020B0503020204020204" pitchFamily="34" charset="-122"/>
              </a:rPr>
              <a:t>结构</a:t>
            </a:r>
            <a:r>
              <a:rPr kumimoji="1" lang="zh-CN" altLang="en-US" sz="2800" dirty="0">
                <a:latin typeface="微软雅黑" panose="020B0503020204020204" pitchFamily="34" charset="-122"/>
                <a:ea typeface="微软雅黑" panose="020B0503020204020204" pitchFamily="34" charset="-122"/>
              </a:rPr>
              <a:t>、</a:t>
            </a:r>
            <a:r>
              <a:rPr kumimoji="1" lang="zh-CN" altLang="en-US" sz="2800" u="sng" dirty="0">
                <a:latin typeface="微软雅黑" panose="020B0503020204020204" pitchFamily="34" charset="-122"/>
                <a:ea typeface="微软雅黑" panose="020B0503020204020204" pitchFamily="34" charset="-122"/>
              </a:rPr>
              <a:t>大小</a:t>
            </a:r>
            <a:r>
              <a:rPr kumimoji="1" lang="zh-CN" altLang="en-US" sz="2800" dirty="0">
                <a:latin typeface="微软雅黑" panose="020B0503020204020204" pitchFamily="34" charset="-122"/>
                <a:ea typeface="微软雅黑" panose="020B0503020204020204" pitchFamily="34" charset="-122"/>
              </a:rPr>
              <a:t> 及 </a:t>
            </a:r>
            <a:r>
              <a:rPr kumimoji="1" lang="zh-CN" altLang="en-US" sz="2800" u="sng" dirty="0">
                <a:latin typeface="微软雅黑" panose="020B0503020204020204" pitchFamily="34" charset="-122"/>
                <a:ea typeface="微软雅黑" panose="020B0503020204020204" pitchFamily="34" charset="-122"/>
              </a:rPr>
              <a:t>技术要求</a:t>
            </a:r>
            <a:r>
              <a:rPr kumimoji="1" lang="zh-CN" altLang="en-US" sz="2800" dirty="0">
                <a:latin typeface="微软雅黑" panose="020B0503020204020204" pitchFamily="34" charset="-122"/>
                <a:ea typeface="微软雅黑" panose="020B0503020204020204" pitchFamily="34" charset="-122"/>
              </a:rPr>
              <a:t> 的图样。</a:t>
            </a:r>
            <a:endParaRPr kumimoji="1" lang="zh-CN" altLang="en-US" sz="2800" dirty="0">
              <a:latin typeface="微软雅黑" panose="020B0503020204020204" pitchFamily="34" charset="-122"/>
              <a:ea typeface="微软雅黑" panose="020B0503020204020204" pitchFamily="34" charset="-122"/>
            </a:endParaRPr>
          </a:p>
        </p:txBody>
      </p:sp>
      <p:sp>
        <p:nvSpPr>
          <p:cNvPr id="5" name="Rectangle 11"/>
          <p:cNvSpPr>
            <a:spLocks noChangeArrowheads="1"/>
          </p:cNvSpPr>
          <p:nvPr/>
        </p:nvSpPr>
        <p:spPr bwMode="auto">
          <a:xfrm>
            <a:off x="1055440" y="2996952"/>
            <a:ext cx="9453527" cy="94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marL="342900" indent="-342900" fontAlgn="base">
              <a:lnSpc>
                <a:spcPct val="120000"/>
              </a:lnSpc>
              <a:spcBef>
                <a:spcPct val="0"/>
              </a:spcBef>
              <a:spcAft>
                <a:spcPct val="0"/>
              </a:spcAft>
              <a:buFont typeface="Wingdings" panose="05000000000000000000" pitchFamily="2" charset="2"/>
              <a:buChar char="l"/>
              <a:defRPr/>
            </a:pPr>
            <a:r>
              <a:rPr kumimoji="1" lang="zh-CN" altLang="en-US" sz="2400" b="1" dirty="0">
                <a:latin typeface="微软雅黑" panose="020B0503020204020204" pitchFamily="34" charset="-122"/>
                <a:ea typeface="微软雅黑" panose="020B0503020204020204" pitchFamily="34" charset="-122"/>
              </a:rPr>
              <a:t>零件结构</a:t>
            </a:r>
            <a:r>
              <a:rPr kumimoji="1" lang="zh-CN" altLang="en-US" sz="2400" dirty="0">
                <a:latin typeface="微软雅黑" panose="020B0503020204020204" pitchFamily="34" charset="-122"/>
                <a:ea typeface="微软雅黑" panose="020B0503020204020204" pitchFamily="34" charset="-122"/>
              </a:rPr>
              <a:t>：零件的各组成部分及其相互关系；</a:t>
            </a:r>
            <a:endParaRPr kumimoji="1" lang="zh-CN" altLang="en-US" sz="2400" dirty="0">
              <a:latin typeface="微软雅黑" panose="020B0503020204020204" pitchFamily="34" charset="-122"/>
              <a:ea typeface="微软雅黑" panose="020B0503020204020204" pitchFamily="34" charset="-122"/>
            </a:endParaRPr>
          </a:p>
          <a:p>
            <a:pPr marL="342900" indent="-342900" fontAlgn="base">
              <a:lnSpc>
                <a:spcPct val="120000"/>
              </a:lnSpc>
              <a:spcBef>
                <a:spcPct val="0"/>
              </a:spcBef>
              <a:spcAft>
                <a:spcPct val="0"/>
              </a:spcAft>
              <a:buFont typeface="Wingdings" panose="05000000000000000000" pitchFamily="2" charset="2"/>
              <a:buChar char="l"/>
              <a:defRPr/>
            </a:pPr>
            <a:r>
              <a:rPr kumimoji="1" lang="zh-CN" altLang="en-US" sz="2400" b="1" dirty="0">
                <a:latin typeface="微软雅黑" panose="020B0503020204020204" pitchFamily="34" charset="-122"/>
                <a:ea typeface="微软雅黑" panose="020B0503020204020204" pitchFamily="34" charset="-122"/>
              </a:rPr>
              <a:t>技术要求</a:t>
            </a:r>
            <a:r>
              <a:rPr kumimoji="1" lang="zh-CN" altLang="en-US" sz="2400" dirty="0">
                <a:latin typeface="微软雅黑" panose="020B0503020204020204" pitchFamily="34" charset="-122"/>
                <a:ea typeface="微软雅黑" panose="020B0503020204020204" pitchFamily="34" charset="-122"/>
              </a:rPr>
              <a:t>：为保证零件的功能，在制造过程中应达到的质量标准。</a:t>
            </a:r>
            <a:endParaRPr kumimoji="1"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2800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零件图的内容</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171895" y="1825167"/>
            <a:ext cx="3914071" cy="954471"/>
            <a:chOff x="1171895" y="1825167"/>
            <a:chExt cx="3914071" cy="954471"/>
          </a:xfrm>
        </p:grpSpPr>
        <p:sp>
          <p:nvSpPr>
            <p:cNvPr id="3" name="Text Box 6"/>
            <p:cNvSpPr txBox="1">
              <a:spLocks noChangeArrowheads="1"/>
            </p:cNvSpPr>
            <p:nvPr/>
          </p:nvSpPr>
          <p:spPr bwMode="auto">
            <a:xfrm>
              <a:off x="1171895" y="1825167"/>
              <a:ext cx="1877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sym typeface="Monotype Sorts" pitchFamily="2" charset="2"/>
                </a:rPr>
                <a:t>一组视图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7" name="Text Box 10"/>
            <p:cNvSpPr txBox="1">
              <a:spLocks noChangeArrowheads="1"/>
            </p:cNvSpPr>
            <p:nvPr/>
          </p:nvSpPr>
          <p:spPr bwMode="auto">
            <a:xfrm>
              <a:off x="1823534" y="2317973"/>
              <a:ext cx="326243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表达零件的结构形状。</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1171895" y="2976160"/>
            <a:ext cx="4529624" cy="923330"/>
            <a:chOff x="1171895" y="2976160"/>
            <a:chExt cx="4529624" cy="923330"/>
          </a:xfrm>
        </p:grpSpPr>
        <p:sp>
          <p:nvSpPr>
            <p:cNvPr id="4" name="Text Box 7"/>
            <p:cNvSpPr txBox="1">
              <a:spLocks noChangeArrowheads="1"/>
            </p:cNvSpPr>
            <p:nvPr/>
          </p:nvSpPr>
          <p:spPr bwMode="auto">
            <a:xfrm>
              <a:off x="1171895" y="2976160"/>
              <a:ext cx="21852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sym typeface="Monotype Sorts" pitchFamily="2" charset="2"/>
                </a:rPr>
                <a:t>完整的尺寸</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8" name="Text Box 11"/>
            <p:cNvSpPr txBox="1">
              <a:spLocks noChangeArrowheads="1"/>
            </p:cNvSpPr>
            <p:nvPr/>
          </p:nvSpPr>
          <p:spPr bwMode="auto">
            <a:xfrm>
              <a:off x="1823534" y="3437825"/>
              <a:ext cx="3877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确定各部分的大小和位置。</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1171895" y="4105288"/>
            <a:ext cx="4837400" cy="864340"/>
            <a:chOff x="1171895" y="4105288"/>
            <a:chExt cx="4837400" cy="864340"/>
          </a:xfrm>
        </p:grpSpPr>
        <p:sp>
          <p:nvSpPr>
            <p:cNvPr id="5" name="Text Box 8"/>
            <p:cNvSpPr txBox="1">
              <a:spLocks noChangeArrowheads="1"/>
            </p:cNvSpPr>
            <p:nvPr/>
          </p:nvSpPr>
          <p:spPr bwMode="auto">
            <a:xfrm>
              <a:off x="1171895" y="4105288"/>
              <a:ext cx="1877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sym typeface="Monotype Sorts" pitchFamily="2" charset="2"/>
                </a:rPr>
                <a:t>技术要求</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9" name="Text Box 12"/>
            <p:cNvSpPr txBox="1">
              <a:spLocks noChangeArrowheads="1"/>
            </p:cNvSpPr>
            <p:nvPr/>
          </p:nvSpPr>
          <p:spPr bwMode="auto">
            <a:xfrm>
              <a:off x="1823534" y="4507963"/>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加工、检验达到的技术指标。</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1171895" y="5128246"/>
            <a:ext cx="5760730" cy="932392"/>
            <a:chOff x="1171895" y="5128246"/>
            <a:chExt cx="5760730" cy="932392"/>
          </a:xfrm>
        </p:grpSpPr>
        <p:sp>
          <p:nvSpPr>
            <p:cNvPr id="6" name="Text Box 9"/>
            <p:cNvSpPr txBox="1">
              <a:spLocks noChangeArrowheads="1"/>
            </p:cNvSpPr>
            <p:nvPr/>
          </p:nvSpPr>
          <p:spPr bwMode="auto">
            <a:xfrm>
              <a:off x="1171895" y="5128246"/>
              <a:ext cx="15696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sym typeface="Monotype Sorts" pitchFamily="2" charset="2"/>
                </a:rPr>
                <a:t>标题栏</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0" name="Text Box 13"/>
            <p:cNvSpPr txBox="1">
              <a:spLocks noChangeArrowheads="1"/>
            </p:cNvSpPr>
            <p:nvPr/>
          </p:nvSpPr>
          <p:spPr bwMode="auto">
            <a:xfrm>
              <a:off x="1823534" y="5598973"/>
              <a:ext cx="51090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a:solidFill>
                    <a:srgbClr val="000000"/>
                  </a:solidFill>
                  <a:latin typeface="微软雅黑" panose="020B0503020204020204" pitchFamily="34" charset="-122"/>
                  <a:ea typeface="微软雅黑" panose="020B0503020204020204" pitchFamily="34" charset="-122"/>
                </a:rPr>
                <a:t>零件名称、数量、材料及必要签署。</a:t>
              </a:r>
              <a:endParaRPr kumimoji="1" lang="zh-CN" altLang="en-US" sz="2400">
                <a:solidFill>
                  <a:srgbClr val="000000"/>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bwMode="auto">
          <a:xfrm>
            <a:off x="7734295" y="1837200"/>
            <a:ext cx="2606675" cy="3929062"/>
            <a:chOff x="6221164" y="416746"/>
            <a:chExt cx="2607171" cy="3930065"/>
          </a:xfrm>
        </p:grpSpPr>
        <p:pic>
          <p:nvPicPr>
            <p:cNvPr id="12" name="Picture 37" descr="H:\助教任务\捕获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21164" y="416746"/>
              <a:ext cx="2607171" cy="347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006"/>
            <p:cNvSpPr txBox="1">
              <a:spLocks noChangeArrowheads="1"/>
            </p:cNvSpPr>
            <p:nvPr/>
          </p:nvSpPr>
          <p:spPr bwMode="auto">
            <a:xfrm>
              <a:off x="7236296" y="3883025"/>
              <a:ext cx="1109663" cy="463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a:solidFill>
                    <a:srgbClr val="000000"/>
                  </a:solidFill>
                  <a:latin typeface="微软雅黑" panose="020B0503020204020204" pitchFamily="34" charset="-122"/>
                  <a:ea typeface="微软雅黑" panose="020B0503020204020204" pitchFamily="34" charset="-122"/>
                </a:rPr>
                <a:t>轴承座</a:t>
              </a:r>
              <a:endParaRPr kumimoji="1" lang="zh-CN" altLang="en-US" sz="240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3" name="Picture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7608" y="1052736"/>
            <a:ext cx="8099666" cy="5732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7608" y="1052736"/>
            <a:ext cx="8099666" cy="5732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981"/>
          <p:cNvSpPr>
            <a:spLocks noChangeArrowheads="1"/>
          </p:cNvSpPr>
          <p:nvPr/>
        </p:nvSpPr>
        <p:spPr bwMode="auto">
          <a:xfrm>
            <a:off x="191344" y="2076217"/>
            <a:ext cx="2222883" cy="1015663"/>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defTabSz="914400" eaLnBrk="1" fontAlgn="base" latinLnBrk="0" hangingPunct="1">
              <a:lnSpc>
                <a:spcPct val="100000"/>
              </a:lnSpc>
              <a:spcBef>
                <a:spcPct val="0"/>
              </a:spcBef>
              <a:spcAft>
                <a:spcPct val="25000"/>
              </a:spcAft>
              <a:buClrTx/>
              <a:buSzTx/>
              <a:buFontTx/>
              <a:buNone/>
              <a:defRPr/>
            </a:pPr>
            <a:r>
              <a:rPr kumimoji="1" lang="zh-CN" altLang="en-US"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包括视图、剖视图、断面图等，表达零件的结构形状</a:t>
            </a:r>
            <a:endParaRPr kumimoji="1" lang="zh-CN" altLang="en-US"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4" name="Rectangle 2982"/>
          <p:cNvSpPr>
            <a:spLocks noChangeArrowheads="1"/>
          </p:cNvSpPr>
          <p:nvPr/>
        </p:nvSpPr>
        <p:spPr bwMode="auto">
          <a:xfrm>
            <a:off x="551965" y="1304661"/>
            <a:ext cx="1412864"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zh-CN" altLang="en-US" sz="2400" b="1" dirty="0">
                <a:solidFill>
                  <a:srgbClr val="CC3300"/>
                </a:solidFill>
                <a:latin typeface="微软雅黑" panose="020B0503020204020204" pitchFamily="34" charset="-122"/>
                <a:ea typeface="微软雅黑" panose="020B0503020204020204" pitchFamily="34" charset="-122"/>
              </a:rPr>
              <a:t>一组视图</a:t>
            </a:r>
            <a:endParaRPr kumimoji="1" lang="zh-CN" altLang="en-US" sz="2400" b="1" dirty="0">
              <a:solidFill>
                <a:srgbClr val="CC3300"/>
              </a:solidFill>
              <a:latin typeface="微软雅黑" panose="020B0503020204020204" pitchFamily="34" charset="-122"/>
              <a:ea typeface="微软雅黑" panose="020B0503020204020204" pitchFamily="34" charset="-122"/>
            </a:endParaRPr>
          </a:p>
        </p:txBody>
      </p:sp>
      <p:sp>
        <p:nvSpPr>
          <p:cNvPr id="5" name="Text Box 2983"/>
          <p:cNvSpPr txBox="1">
            <a:spLocks noChangeArrowheads="1"/>
          </p:cNvSpPr>
          <p:nvPr/>
        </p:nvSpPr>
        <p:spPr bwMode="auto">
          <a:xfrm>
            <a:off x="6106179" y="1702716"/>
            <a:ext cx="1573997" cy="710067"/>
          </a:xfrm>
          <a:prstGeom prst="rect">
            <a:avLst/>
          </a:prstGeom>
          <a:solidFill>
            <a:srgbClr val="D7CEE6">
              <a:alpha val="40000"/>
            </a:srgbClr>
          </a:solidFill>
          <a:ln>
            <a:noFill/>
          </a:ln>
          <a:effectLst/>
        </p:spPr>
        <p:txBody>
          <a:bodyPr wrap="square" lIns="90000" tIns="46800" rIns="36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zh-CN" altLang="en-US" sz="2000" b="1" dirty="0">
                <a:solidFill>
                  <a:srgbClr val="CC3300"/>
                </a:solidFill>
                <a:latin typeface="微软雅黑" panose="020B0503020204020204" pitchFamily="34" charset="-122"/>
                <a:ea typeface="微软雅黑" panose="020B0503020204020204" pitchFamily="34" charset="-122"/>
              </a:rPr>
              <a:t>主视图 </a:t>
            </a:r>
            <a:endParaRPr kumimoji="1" lang="en-US" altLang="zh-CN" sz="2000" b="1" dirty="0">
              <a:solidFill>
                <a:srgbClr val="CC33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kumimoji="1" lang="zh-CN" altLang="en-US" sz="2000" b="1" dirty="0">
                <a:solidFill>
                  <a:srgbClr val="CC3300"/>
                </a:solidFill>
                <a:latin typeface="微软雅黑" panose="020B0503020204020204" pitchFamily="34" charset="-122"/>
                <a:ea typeface="微软雅黑" panose="020B0503020204020204" pitchFamily="34" charset="-122"/>
              </a:rPr>
              <a:t>局部剖视图</a:t>
            </a:r>
            <a:endParaRPr kumimoji="1" lang="zh-CN" altLang="en-US" sz="2000" b="1" dirty="0">
              <a:solidFill>
                <a:srgbClr val="CC3300"/>
              </a:solidFill>
              <a:latin typeface="微软雅黑" panose="020B0503020204020204" pitchFamily="34" charset="-122"/>
              <a:ea typeface="微软雅黑" panose="020B0503020204020204" pitchFamily="34" charset="-122"/>
            </a:endParaRPr>
          </a:p>
        </p:txBody>
      </p:sp>
      <p:sp>
        <p:nvSpPr>
          <p:cNvPr id="6" name="Text Box 2984"/>
          <p:cNvSpPr txBox="1">
            <a:spLocks noChangeArrowheads="1"/>
          </p:cNvSpPr>
          <p:nvPr/>
        </p:nvSpPr>
        <p:spPr bwMode="auto">
          <a:xfrm>
            <a:off x="2063551" y="5816921"/>
            <a:ext cx="1849437" cy="710067"/>
          </a:xfrm>
          <a:prstGeom prst="rect">
            <a:avLst/>
          </a:prstGeom>
          <a:solidFill>
            <a:srgbClr val="D7CEE6">
              <a:alpha val="40000"/>
            </a:srgbClr>
          </a:solidFill>
          <a:ln>
            <a:noFill/>
          </a:ln>
          <a:effectLst/>
        </p:spPr>
        <p:txBody>
          <a:bodyPr wrap="squar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en-US" altLang="zh-CN" sz="2000" b="1" dirty="0">
                <a:solidFill>
                  <a:srgbClr val="CC3300"/>
                </a:solidFill>
                <a:latin typeface="微软雅黑" panose="020B0503020204020204" pitchFamily="34" charset="-122"/>
                <a:ea typeface="微软雅黑" panose="020B0503020204020204" pitchFamily="34" charset="-122"/>
              </a:rPr>
              <a:t> </a:t>
            </a:r>
            <a:r>
              <a:rPr kumimoji="1" lang="zh-CN" altLang="en-US" sz="2000" b="1" dirty="0">
                <a:solidFill>
                  <a:srgbClr val="CC3300"/>
                </a:solidFill>
                <a:latin typeface="微软雅黑" panose="020B0503020204020204" pitchFamily="34" charset="-122"/>
                <a:ea typeface="微软雅黑" panose="020B0503020204020204" pitchFamily="34" charset="-122"/>
              </a:rPr>
              <a:t>俯视图</a:t>
            </a:r>
            <a:endParaRPr kumimoji="1" lang="en-US" altLang="zh-CN" sz="2000" b="1" dirty="0">
              <a:solidFill>
                <a:srgbClr val="CC33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kumimoji="1" lang="en-US" altLang="zh-CN" sz="2000" b="1" dirty="0">
                <a:solidFill>
                  <a:srgbClr val="CC3300"/>
                </a:solidFill>
                <a:latin typeface="微软雅黑" panose="020B0503020204020204" pitchFamily="34" charset="-122"/>
                <a:ea typeface="微软雅黑" panose="020B0503020204020204" pitchFamily="34" charset="-122"/>
              </a:rPr>
              <a:t>A-A</a:t>
            </a:r>
            <a:r>
              <a:rPr kumimoji="1" lang="zh-CN" altLang="en-US" sz="2000" b="1" dirty="0">
                <a:solidFill>
                  <a:srgbClr val="CC3300"/>
                </a:solidFill>
                <a:latin typeface="微软雅黑" panose="020B0503020204020204" pitchFamily="34" charset="-122"/>
                <a:ea typeface="微软雅黑" panose="020B0503020204020204" pitchFamily="34" charset="-122"/>
              </a:rPr>
              <a:t>全剖视图</a:t>
            </a:r>
            <a:endParaRPr kumimoji="1" lang="zh-CN" altLang="en-US" sz="2000" b="1" dirty="0">
              <a:solidFill>
                <a:srgbClr val="CC3300"/>
              </a:solidFill>
              <a:latin typeface="微软雅黑" panose="020B0503020204020204" pitchFamily="34" charset="-122"/>
              <a:ea typeface="微软雅黑" panose="020B0503020204020204" pitchFamily="34" charset="-122"/>
            </a:endParaRPr>
          </a:p>
        </p:txBody>
      </p:sp>
      <p:sp>
        <p:nvSpPr>
          <p:cNvPr id="7" name="Text Box 2985"/>
          <p:cNvSpPr txBox="1">
            <a:spLocks noChangeArrowheads="1"/>
          </p:cNvSpPr>
          <p:nvPr/>
        </p:nvSpPr>
        <p:spPr bwMode="auto">
          <a:xfrm>
            <a:off x="9658347" y="1536584"/>
            <a:ext cx="2017854" cy="1017844"/>
          </a:xfrm>
          <a:prstGeom prst="rect">
            <a:avLst/>
          </a:prstGeom>
          <a:solidFill>
            <a:srgbClr val="D7CEE6">
              <a:alpha val="40000"/>
            </a:srgbClr>
          </a:solidFill>
          <a:ln>
            <a:noFill/>
          </a:ln>
          <a:effectLst/>
        </p:spPr>
        <p:txBody>
          <a:bodyPr wrap="squar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en-US" altLang="zh-CN" sz="2000" b="1" dirty="0">
                <a:solidFill>
                  <a:srgbClr val="CC3300"/>
                </a:solidFill>
                <a:latin typeface="微软雅黑" panose="020B0503020204020204" pitchFamily="34" charset="-122"/>
                <a:ea typeface="微软雅黑" panose="020B0503020204020204" pitchFamily="34" charset="-122"/>
              </a:rPr>
              <a:t>  </a:t>
            </a:r>
            <a:r>
              <a:rPr kumimoji="1" lang="zh-CN" altLang="en-US" sz="2000" b="1" dirty="0">
                <a:solidFill>
                  <a:srgbClr val="CC3300"/>
                </a:solidFill>
                <a:latin typeface="微软雅黑" panose="020B0503020204020204" pitchFamily="34" charset="-122"/>
                <a:ea typeface="微软雅黑" panose="020B0503020204020204" pitchFamily="34" charset="-122"/>
              </a:rPr>
              <a:t>左视图</a:t>
            </a:r>
            <a:endParaRPr kumimoji="1" lang="en-US" altLang="zh-CN" sz="2000" b="1" dirty="0">
              <a:solidFill>
                <a:srgbClr val="CC33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kumimoji="1" lang="zh-CN" altLang="en-US" sz="2000" b="1" dirty="0">
                <a:solidFill>
                  <a:srgbClr val="CC3300"/>
                </a:solidFill>
                <a:latin typeface="微软雅黑" panose="020B0503020204020204" pitchFamily="34" charset="-122"/>
                <a:ea typeface="微软雅黑" panose="020B0503020204020204" pitchFamily="34" charset="-122"/>
              </a:rPr>
              <a:t>沿对称平面剖切的全剖视图</a:t>
            </a:r>
            <a:endParaRPr kumimoji="1" lang="zh-CN" altLang="en-US" sz="2000" b="1" dirty="0">
              <a:solidFill>
                <a:srgbClr val="CC3300"/>
              </a:solidFill>
              <a:latin typeface="微软雅黑" panose="020B0503020204020204" pitchFamily="34" charset="-122"/>
              <a:ea typeface="微软雅黑" panose="020B0503020204020204" pitchFamily="34" charset="-122"/>
            </a:endParaRPr>
          </a:p>
        </p:txBody>
      </p:sp>
      <p:sp>
        <p:nvSpPr>
          <p:cNvPr id="8" name="Text Box 2986"/>
          <p:cNvSpPr txBox="1">
            <a:spLocks noChangeArrowheads="1"/>
          </p:cNvSpPr>
          <p:nvPr/>
        </p:nvSpPr>
        <p:spPr bwMode="auto">
          <a:xfrm>
            <a:off x="7176120" y="5085184"/>
            <a:ext cx="1761211" cy="402291"/>
          </a:xfrm>
          <a:prstGeom prst="rect">
            <a:avLst/>
          </a:prstGeom>
          <a:solidFill>
            <a:srgbClr val="D7CEE6">
              <a:alpha val="40000"/>
            </a:srgbClr>
          </a:solidFill>
          <a:ln>
            <a:noFill/>
          </a:ln>
          <a:effectLst/>
        </p:spPr>
        <p:txBody>
          <a:bodyPr wrap="squar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en-US" altLang="zh-CN" sz="2000" b="1" dirty="0">
                <a:solidFill>
                  <a:srgbClr val="CC3300"/>
                </a:solidFill>
                <a:latin typeface="微软雅黑" panose="020B0503020204020204" pitchFamily="34" charset="-122"/>
                <a:ea typeface="微软雅黑" panose="020B0503020204020204" pitchFamily="34" charset="-122"/>
              </a:rPr>
              <a:t>B</a:t>
            </a:r>
            <a:r>
              <a:rPr kumimoji="1" lang="zh-CN" altLang="en-US" sz="2000" b="1" dirty="0">
                <a:solidFill>
                  <a:srgbClr val="CC3300"/>
                </a:solidFill>
                <a:latin typeface="微软雅黑" panose="020B0503020204020204" pitchFamily="34" charset="-122"/>
                <a:ea typeface="微软雅黑" panose="020B0503020204020204" pitchFamily="34" charset="-122"/>
              </a:rPr>
              <a:t>向局部视图    </a:t>
            </a:r>
            <a:endParaRPr kumimoji="1" lang="zh-CN" altLang="en-US" sz="2000" b="1" dirty="0">
              <a:solidFill>
                <a:srgbClr val="CC3300"/>
              </a:solidFill>
              <a:latin typeface="微软雅黑" panose="020B0503020204020204" pitchFamily="34" charset="-122"/>
              <a:ea typeface="微软雅黑" panose="020B0503020204020204" pitchFamily="34" charset="-122"/>
            </a:endParaRPr>
          </a:p>
        </p:txBody>
      </p:sp>
      <p:sp>
        <p:nvSpPr>
          <p:cNvPr id="9" name="Text Box 2987"/>
          <p:cNvSpPr txBox="1">
            <a:spLocks noChangeArrowheads="1"/>
          </p:cNvSpPr>
          <p:nvPr/>
        </p:nvSpPr>
        <p:spPr bwMode="auto">
          <a:xfrm>
            <a:off x="9384989" y="3705334"/>
            <a:ext cx="974544" cy="402291"/>
          </a:xfrm>
          <a:prstGeom prst="rect">
            <a:avLst/>
          </a:prstGeom>
          <a:solidFill>
            <a:srgbClr val="D7CEE6">
              <a:alpha val="40000"/>
            </a:srgbClr>
          </a:solidFill>
          <a:ln>
            <a:noFill/>
          </a:ln>
          <a:effectLst/>
        </p:spPr>
        <p:txBody>
          <a:bodyPr wrap="squar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000" b="1" dirty="0">
                <a:solidFill>
                  <a:srgbClr val="CC3300"/>
                </a:solidFill>
                <a:latin typeface="微软雅黑" panose="020B0503020204020204" pitchFamily="34" charset="-122"/>
                <a:ea typeface="微软雅黑" panose="020B0503020204020204" pitchFamily="34" charset="-122"/>
              </a:rPr>
              <a:t>断面图    </a:t>
            </a:r>
            <a:endParaRPr kumimoji="1" lang="zh-CN" altLang="en-US" sz="2000" b="1" dirty="0">
              <a:solidFill>
                <a:srgbClr val="CC33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Rectangle 2981"/>
          <p:cNvSpPr>
            <a:spLocks noChangeArrowheads="1"/>
          </p:cNvSpPr>
          <p:nvPr/>
        </p:nvSpPr>
        <p:spPr bwMode="auto">
          <a:xfrm>
            <a:off x="505547" y="2132856"/>
            <a:ext cx="1728192" cy="1015663"/>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defTabSz="914400" eaLnBrk="1" fontAlgn="base" latinLnBrk="0" hangingPunct="1">
              <a:lnSpc>
                <a:spcPct val="100000"/>
              </a:lnSpc>
              <a:spcBef>
                <a:spcPct val="0"/>
              </a:spcBef>
              <a:spcAft>
                <a:spcPct val="25000"/>
              </a:spcAft>
              <a:buClrTx/>
              <a:buSzTx/>
              <a:buFontTx/>
              <a:buNone/>
              <a:defRPr/>
            </a:pPr>
            <a:r>
              <a:rPr kumimoji="1" lang="zh-CN" altLang="en-US"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确定零件结构形状的大小及相对位置</a:t>
            </a:r>
            <a:endParaRPr kumimoji="1" lang="zh-CN" altLang="en-US"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 name="Rectangle 2982"/>
          <p:cNvSpPr>
            <a:spLocks noChangeArrowheads="1"/>
          </p:cNvSpPr>
          <p:nvPr/>
        </p:nvSpPr>
        <p:spPr bwMode="auto">
          <a:xfrm>
            <a:off x="483022" y="1371645"/>
            <a:ext cx="1720641"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zh-CN" altLang="en-US" sz="2400" b="1" dirty="0">
                <a:solidFill>
                  <a:srgbClr val="CC0000"/>
                </a:solidFill>
                <a:latin typeface="微软雅黑" panose="020B0503020204020204" pitchFamily="34" charset="-122"/>
                <a:ea typeface="微软雅黑" panose="020B0503020204020204" pitchFamily="34" charset="-122"/>
              </a:rPr>
              <a:t>完整的尺寸</a:t>
            </a:r>
            <a:endParaRPr kumimoji="1" lang="zh-CN" altLang="en-US" sz="2400" b="1" dirty="0">
              <a:solidFill>
                <a:srgbClr val="CC0000"/>
              </a:solidFill>
              <a:latin typeface="微软雅黑" panose="020B0503020204020204" pitchFamily="34" charset="-122"/>
              <a:ea typeface="微软雅黑" panose="020B0503020204020204" pitchFamily="34" charset="-122"/>
            </a:endParaRPr>
          </a:p>
        </p:txBody>
      </p:sp>
      <p:pic>
        <p:nvPicPr>
          <p:cNvPr id="4" name="Picture 5"/>
          <p:cNvPicPr>
            <a:picLocks noChangeAspect="1" noChangeArrowheads="1"/>
          </p:cNvPicPr>
          <p:nvPr/>
        </p:nvPicPr>
        <p:blipFill>
          <a:blip r:embed="rId1"/>
          <a:srcRect/>
          <a:stretch>
            <a:fillRect/>
          </a:stretch>
        </p:blipFill>
        <p:spPr bwMode="auto">
          <a:xfrm>
            <a:off x="2567608" y="1052736"/>
            <a:ext cx="8099664" cy="5732202"/>
          </a:xfrm>
          <a:prstGeom prst="rect">
            <a:avLst/>
          </a:prstGeom>
          <a:solidFill>
            <a:schemeClr val="accent3">
              <a:lumMod val="85000"/>
            </a:schemeClr>
          </a:solidFill>
          <a:ln>
            <a:noFill/>
          </a:ln>
          <a:effectLst/>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5606" y="1052736"/>
            <a:ext cx="8099664" cy="5732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981"/>
          <p:cNvSpPr>
            <a:spLocks noChangeArrowheads="1"/>
          </p:cNvSpPr>
          <p:nvPr/>
        </p:nvSpPr>
        <p:spPr bwMode="auto">
          <a:xfrm>
            <a:off x="557375" y="1363365"/>
            <a:ext cx="1412864"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eaLnBrk="0" hangingPunct="0"/>
            <a:r>
              <a:rPr kumimoji="1" lang="zh-CN" altLang="en-US" sz="2400" b="1" dirty="0">
                <a:solidFill>
                  <a:srgbClr val="CC0000"/>
                </a:solidFill>
                <a:latin typeface="微软雅黑" panose="020B0503020204020204" pitchFamily="34" charset="-122"/>
                <a:ea typeface="微软雅黑" panose="020B0503020204020204" pitchFamily="34" charset="-122"/>
              </a:rPr>
              <a:t>技术要求</a:t>
            </a:r>
            <a:endParaRPr kumimoji="1" lang="zh-CN" altLang="en-US" sz="2400" b="1" dirty="0">
              <a:solidFill>
                <a:srgbClr val="CC0000"/>
              </a:solidFill>
              <a:latin typeface="微软雅黑" panose="020B0503020204020204" pitchFamily="34" charset="-122"/>
              <a:ea typeface="微软雅黑" panose="020B0503020204020204" pitchFamily="34" charset="-122"/>
            </a:endParaRPr>
          </a:p>
        </p:txBody>
      </p:sp>
      <p:sp>
        <p:nvSpPr>
          <p:cNvPr id="4" name="Rectangle 2982"/>
          <p:cNvSpPr>
            <a:spLocks noChangeArrowheads="1"/>
          </p:cNvSpPr>
          <p:nvPr/>
        </p:nvSpPr>
        <p:spPr bwMode="auto">
          <a:xfrm>
            <a:off x="317118" y="2125848"/>
            <a:ext cx="2087090" cy="1938992"/>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a:spcAft>
                <a:spcPct val="25000"/>
              </a:spcAft>
            </a:pPr>
            <a:r>
              <a:rPr kumimoji="1" lang="zh-CN" altLang="en-US" sz="2000" kern="0" dirty="0">
                <a:solidFill>
                  <a:schemeClr val="tx1"/>
                </a:solidFill>
                <a:latin typeface="微软雅黑" panose="020B0503020204020204" pitchFamily="34" charset="-122"/>
                <a:ea typeface="微软雅黑" panose="020B0503020204020204" pitchFamily="34" charset="-122"/>
              </a:rPr>
              <a:t>说明零件在制造和检验时应达到的质量标准，如表面结构、尺寸公差、几何公差、材料及热处理等</a:t>
            </a:r>
            <a:endParaRPr kumimoji="1" lang="zh-CN" altLang="en-US" sz="2000" kern="0" dirty="0">
              <a:solidFill>
                <a:schemeClr val="tx1"/>
              </a:solidFill>
              <a:latin typeface="微软雅黑" panose="020B0503020204020204" pitchFamily="34" charset="-122"/>
              <a:ea typeface="微软雅黑" panose="020B0503020204020204" pitchFamily="34" charset="-122"/>
            </a:endParaRPr>
          </a:p>
        </p:txBody>
      </p:sp>
      <p:grpSp>
        <p:nvGrpSpPr>
          <p:cNvPr id="5" name="组合 4"/>
          <p:cNvGrpSpPr/>
          <p:nvPr/>
        </p:nvGrpSpPr>
        <p:grpSpPr bwMode="auto">
          <a:xfrm>
            <a:off x="7681987" y="2639071"/>
            <a:ext cx="603250" cy="1624012"/>
            <a:chOff x="5844738" y="1916832"/>
            <a:chExt cx="603687" cy="1622962"/>
          </a:xfrm>
          <a:solidFill>
            <a:schemeClr val="accent5">
              <a:lumMod val="40000"/>
              <a:lumOff val="60000"/>
            </a:schemeClr>
          </a:solidFill>
        </p:grpSpPr>
        <p:sp>
          <p:nvSpPr>
            <p:cNvPr id="6" name="Text Box 3109"/>
            <p:cNvSpPr txBox="1">
              <a:spLocks noChangeArrowheads="1"/>
            </p:cNvSpPr>
            <p:nvPr/>
          </p:nvSpPr>
          <p:spPr bwMode="auto">
            <a:xfrm>
              <a:off x="5844738" y="2216675"/>
              <a:ext cx="476595" cy="1323119"/>
            </a:xfrm>
            <a:prstGeom prst="rect">
              <a:avLst/>
            </a:prstGeom>
            <a:solidFill>
              <a:schemeClr val="accent6">
                <a:lumMod val="50000"/>
                <a:alpha val="9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defPPr>
                <a:defRPr lang="zh-CN"/>
              </a:defPPr>
              <a:lvl1pPr marR="0" lvl="0" indent="0" fontAlgn="base">
                <a:lnSpc>
                  <a:spcPct val="100000"/>
                </a:lnSpc>
                <a:spcBef>
                  <a:spcPct val="0"/>
                </a:spcBef>
                <a:spcAft>
                  <a:spcPct val="0"/>
                </a:spcAft>
                <a:buClrTx/>
                <a:buSzTx/>
                <a:buFontTx/>
                <a:buNone/>
                <a:defRPr kumimoji="0" sz="2000" b="0" i="0" u="none" strike="noStrike" kern="0" cap="none" spc="0" normalizeH="0" baseline="0">
                  <a:ln>
                    <a:noFill/>
                  </a:ln>
                  <a:solidFill>
                    <a:schemeClr val="bg1"/>
                  </a:solidFill>
                  <a:effectLst/>
                  <a:uLnTx/>
                  <a:uFillTx/>
                  <a:latin typeface="+mn-ea"/>
                </a:defRPr>
              </a:lvl1pPr>
            </a:lstStyle>
            <a:p>
              <a:r>
                <a:rPr lang="zh-CN" altLang="en-US" dirty="0"/>
                <a:t>尺寸公差</a:t>
              </a:r>
              <a:endParaRPr lang="zh-CN" altLang="en-US" dirty="0"/>
            </a:p>
          </p:txBody>
        </p:sp>
        <p:sp>
          <p:nvSpPr>
            <p:cNvPr id="7" name="Line 3108"/>
            <p:cNvSpPr>
              <a:spLocks noChangeShapeType="1"/>
            </p:cNvSpPr>
            <p:nvPr/>
          </p:nvSpPr>
          <p:spPr bwMode="auto">
            <a:xfrm flipV="1">
              <a:off x="6083300" y="1916832"/>
              <a:ext cx="365125" cy="290512"/>
            </a:xfrm>
            <a:prstGeom prst="line">
              <a:avLst/>
            </a:prstGeom>
            <a:ln>
              <a:headEnd type="none" w="sm" len="lg"/>
              <a:tailEnd type="none" w="sm" len="lg"/>
            </a:ln>
          </p:spPr>
          <p:style>
            <a:lnRef idx="2">
              <a:schemeClr val="accent6">
                <a:shade val="50000"/>
              </a:schemeClr>
            </a:lnRef>
            <a:fillRef idx="1">
              <a:schemeClr val="accent6"/>
            </a:fillRef>
            <a:effectRef idx="0">
              <a:schemeClr val="accent6"/>
            </a:effectRef>
            <a:fontRef idx="minor">
              <a:schemeClr val="lt1"/>
            </a:fontRef>
          </p:style>
          <p:txBody>
            <a:bodyPr lIns="90000" tIns="46800" rIns="90000" bIns="46800">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chemeClr val="tx1"/>
                </a:solidFill>
                <a:effectLst/>
                <a:uLnTx/>
                <a:uFillTx/>
                <a:latin typeface="+mn-ea"/>
              </a:endParaRPr>
            </a:p>
          </p:txBody>
        </p:sp>
      </p:grpSp>
      <p:grpSp>
        <p:nvGrpSpPr>
          <p:cNvPr id="8" name="组合 7"/>
          <p:cNvGrpSpPr/>
          <p:nvPr/>
        </p:nvGrpSpPr>
        <p:grpSpPr bwMode="auto">
          <a:xfrm>
            <a:off x="10105105" y="1373896"/>
            <a:ext cx="1409291" cy="712762"/>
            <a:chOff x="7555336" y="765595"/>
            <a:chExt cx="1409152" cy="712900"/>
          </a:xfrm>
          <a:solidFill>
            <a:schemeClr val="accent5">
              <a:lumMod val="40000"/>
              <a:lumOff val="60000"/>
            </a:schemeClr>
          </a:solidFill>
        </p:grpSpPr>
        <p:sp>
          <p:nvSpPr>
            <p:cNvPr id="9" name="Line 3111"/>
            <p:cNvSpPr>
              <a:spLocks noChangeShapeType="1"/>
            </p:cNvSpPr>
            <p:nvPr/>
          </p:nvSpPr>
          <p:spPr bwMode="auto">
            <a:xfrm flipH="1" flipV="1">
              <a:off x="7555336" y="765595"/>
              <a:ext cx="153562" cy="310189"/>
            </a:xfrm>
            <a:prstGeom prst="line">
              <a:avLst/>
            </a:prstGeom>
            <a:ln>
              <a:headEnd type="none" w="sm" len="lg"/>
              <a:tailEnd type="none" w="sm" len="lg"/>
            </a:ln>
          </p:spPr>
          <p:style>
            <a:lnRef idx="2">
              <a:schemeClr val="accent6">
                <a:shade val="50000"/>
              </a:schemeClr>
            </a:lnRef>
            <a:fillRef idx="1">
              <a:schemeClr val="accent6"/>
            </a:fillRef>
            <a:effectRef idx="0">
              <a:schemeClr val="accent6"/>
            </a:effectRef>
            <a:fontRef idx="minor">
              <a:schemeClr val="lt1"/>
            </a:fontRef>
          </p:style>
          <p:txBody>
            <a:bodyPr wrap="square" lIns="90000" tIns="46800" rIns="90000" bIns="46800">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chemeClr val="tx1"/>
                </a:solidFill>
                <a:effectLst/>
                <a:uLnTx/>
                <a:uFillTx/>
                <a:latin typeface="+mn-ea"/>
              </a:endParaRPr>
            </a:p>
          </p:txBody>
        </p:sp>
        <p:sp>
          <p:nvSpPr>
            <p:cNvPr id="10" name="Text Box 3112"/>
            <p:cNvSpPr txBox="1">
              <a:spLocks noChangeArrowheads="1"/>
            </p:cNvSpPr>
            <p:nvPr/>
          </p:nvSpPr>
          <p:spPr bwMode="auto">
            <a:xfrm>
              <a:off x="7708899" y="1078368"/>
              <a:ext cx="1255589" cy="400127"/>
            </a:xfrm>
            <a:prstGeom prst="rect">
              <a:avLst/>
            </a:prstGeom>
            <a:solidFill>
              <a:schemeClr val="accent6">
                <a:lumMod val="50000"/>
                <a:alpha val="9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defPPr>
                <a:defRPr lang="zh-CN"/>
              </a:defPPr>
              <a:lvl1pPr marR="0" lvl="0" indent="0" fontAlgn="base">
                <a:lnSpc>
                  <a:spcPct val="100000"/>
                </a:lnSpc>
                <a:spcBef>
                  <a:spcPct val="0"/>
                </a:spcBef>
                <a:spcAft>
                  <a:spcPct val="0"/>
                </a:spcAft>
                <a:buClrTx/>
                <a:buSzTx/>
                <a:buFontTx/>
                <a:buNone/>
                <a:defRPr kumimoji="0" sz="2000" b="0" i="0" u="none" strike="noStrike" kern="0" cap="none" spc="0" normalizeH="0" baseline="0">
                  <a:ln>
                    <a:noFill/>
                  </a:ln>
                  <a:solidFill>
                    <a:schemeClr val="bg1"/>
                  </a:solidFill>
                  <a:effectLst/>
                  <a:uLnTx/>
                  <a:uFillTx/>
                  <a:latin typeface="+mn-ea"/>
                </a:defRPr>
              </a:lvl1pPr>
            </a:lstStyle>
            <a:p>
              <a:r>
                <a:rPr lang="zh-CN" altLang="en-US" dirty="0"/>
                <a:t>表面结构</a:t>
              </a:r>
              <a:endParaRPr lang="zh-CN" altLang="en-US" dirty="0"/>
            </a:p>
          </p:txBody>
        </p:sp>
      </p:grpSp>
      <p:grpSp>
        <p:nvGrpSpPr>
          <p:cNvPr id="11" name="Group 3113"/>
          <p:cNvGrpSpPr/>
          <p:nvPr/>
        </p:nvGrpSpPr>
        <p:grpSpPr bwMode="auto">
          <a:xfrm>
            <a:off x="4799828" y="1158726"/>
            <a:ext cx="2714876" cy="708025"/>
            <a:chOff x="2207" y="93"/>
            <a:chExt cx="1138" cy="446"/>
          </a:xfrm>
          <a:solidFill>
            <a:schemeClr val="accent5">
              <a:lumMod val="40000"/>
              <a:lumOff val="60000"/>
            </a:schemeClr>
          </a:solidFill>
        </p:grpSpPr>
        <p:sp>
          <p:nvSpPr>
            <p:cNvPr id="12" name="Line 3114"/>
            <p:cNvSpPr>
              <a:spLocks noChangeShapeType="1"/>
            </p:cNvSpPr>
            <p:nvPr/>
          </p:nvSpPr>
          <p:spPr bwMode="auto">
            <a:xfrm flipV="1">
              <a:off x="3175" y="293"/>
              <a:ext cx="170" cy="150"/>
            </a:xfrm>
            <a:prstGeom prst="line">
              <a:avLst/>
            </a:prstGeom>
            <a:ln>
              <a:headEnd type="none" w="sm" len="lg"/>
              <a:tailEnd type="none" w="sm" len="lg"/>
            </a:ln>
          </p:spPr>
          <p:style>
            <a:lnRef idx="2">
              <a:schemeClr val="accent6">
                <a:shade val="50000"/>
              </a:schemeClr>
            </a:lnRef>
            <a:fillRef idx="1">
              <a:schemeClr val="accent6"/>
            </a:fillRef>
            <a:effectRef idx="0">
              <a:schemeClr val="accent6"/>
            </a:effectRef>
            <a:fontRef idx="minor">
              <a:schemeClr val="lt1"/>
            </a:fontRef>
          </p:style>
          <p:txBody>
            <a:bodyPr wrap="square" lIns="90000" tIns="46800" rIns="90000" bIns="46800">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chemeClr val="tx1"/>
                </a:solidFill>
                <a:effectLst/>
                <a:uLnTx/>
                <a:uFillTx/>
                <a:latin typeface="+mn-ea"/>
              </a:endParaRPr>
            </a:p>
          </p:txBody>
        </p:sp>
        <p:sp>
          <p:nvSpPr>
            <p:cNvPr id="13" name="Text Box 3115"/>
            <p:cNvSpPr txBox="1">
              <a:spLocks noChangeArrowheads="1"/>
            </p:cNvSpPr>
            <p:nvPr/>
          </p:nvSpPr>
          <p:spPr bwMode="auto">
            <a:xfrm>
              <a:off x="2207" y="93"/>
              <a:ext cx="968" cy="446"/>
            </a:xfrm>
            <a:prstGeom prst="rect">
              <a:avLst/>
            </a:prstGeom>
            <a:solidFill>
              <a:schemeClr val="accent6">
                <a:lumMod val="50000"/>
                <a:alpha val="9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defPPr>
                <a:defRPr lang="zh-CN"/>
              </a:defPPr>
              <a:lvl1pPr>
                <a:defRPr sz="2400" b="1">
                  <a:solidFill>
                    <a:schemeClr val="bg1"/>
                  </a:solidFill>
                  <a:latin typeface="黑体" panose="02010609060101010101" pitchFamily="2" charset="-122"/>
                  <a:ea typeface="黑体" panose="02010609060101010101" pitchFamily="2" charset="-122"/>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dirty="0">
                  <a:ln>
                    <a:noFill/>
                  </a:ln>
                  <a:effectLst/>
                  <a:uLnTx/>
                  <a:uFillTx/>
                  <a:latin typeface="+mn-ea"/>
                  <a:ea typeface="+mn-ea"/>
                </a:rPr>
                <a:t>端面对于孔轴线的端面圆跳动误差</a:t>
              </a:r>
              <a:endParaRPr kumimoji="0" lang="zh-CN" altLang="en-US" sz="2000" b="0" i="0" u="none" strike="noStrike" kern="0" cap="none" spc="0" normalizeH="0" baseline="0" noProof="0" dirty="0">
                <a:ln>
                  <a:noFill/>
                </a:ln>
                <a:effectLst/>
                <a:uLnTx/>
                <a:uFillTx/>
                <a:latin typeface="+mn-ea"/>
                <a:ea typeface="+mn-ea"/>
              </a:endParaRPr>
            </a:p>
          </p:txBody>
        </p:sp>
      </p:grpSp>
      <p:grpSp>
        <p:nvGrpSpPr>
          <p:cNvPr id="14" name="Group 3116"/>
          <p:cNvGrpSpPr/>
          <p:nvPr/>
        </p:nvGrpSpPr>
        <p:grpSpPr bwMode="auto">
          <a:xfrm>
            <a:off x="6050568" y="1764553"/>
            <a:ext cx="1707887" cy="1235087"/>
            <a:chOff x="2514" y="595"/>
            <a:chExt cx="1051" cy="776"/>
          </a:xfrm>
          <a:solidFill>
            <a:schemeClr val="accent5">
              <a:lumMod val="40000"/>
              <a:lumOff val="60000"/>
            </a:schemeClr>
          </a:solidFill>
        </p:grpSpPr>
        <p:sp>
          <p:nvSpPr>
            <p:cNvPr id="15" name="Line 3117"/>
            <p:cNvSpPr>
              <a:spLocks noChangeShapeType="1"/>
            </p:cNvSpPr>
            <p:nvPr/>
          </p:nvSpPr>
          <p:spPr bwMode="auto">
            <a:xfrm flipV="1">
              <a:off x="3466" y="595"/>
              <a:ext cx="99" cy="227"/>
            </a:xfrm>
            <a:prstGeom prst="line">
              <a:avLst/>
            </a:prstGeom>
            <a:ln>
              <a:headEnd type="none" w="sm" len="lg"/>
              <a:tailEnd type="none" w="sm" len="lg"/>
            </a:ln>
          </p:spPr>
          <p:style>
            <a:lnRef idx="2">
              <a:schemeClr val="accent6">
                <a:shade val="50000"/>
              </a:schemeClr>
            </a:lnRef>
            <a:fillRef idx="1">
              <a:schemeClr val="accent6"/>
            </a:fillRef>
            <a:effectRef idx="0">
              <a:schemeClr val="accent6"/>
            </a:effectRef>
            <a:fontRef idx="minor">
              <a:schemeClr val="lt1"/>
            </a:fontRef>
          </p:style>
          <p:txBody>
            <a:bodyPr wrap="square" lIns="90000" tIns="46800" rIns="90000" bIns="46800">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chemeClr val="tx1"/>
                </a:solidFill>
                <a:effectLst/>
                <a:uLnTx/>
                <a:uFillTx/>
                <a:latin typeface="+mn-ea"/>
              </a:endParaRPr>
            </a:p>
          </p:txBody>
        </p:sp>
        <p:sp>
          <p:nvSpPr>
            <p:cNvPr id="17" name="Text Box 3118"/>
            <p:cNvSpPr txBox="1">
              <a:spLocks noChangeArrowheads="1"/>
            </p:cNvSpPr>
            <p:nvPr/>
          </p:nvSpPr>
          <p:spPr bwMode="auto">
            <a:xfrm>
              <a:off x="2514" y="732"/>
              <a:ext cx="952" cy="639"/>
            </a:xfrm>
            <a:prstGeom prst="rect">
              <a:avLst/>
            </a:prstGeom>
            <a:solidFill>
              <a:schemeClr val="accent6">
                <a:lumMod val="50000"/>
                <a:alpha val="9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defPPr>
                <a:defRPr lang="zh-CN"/>
              </a:defPPr>
              <a:lvl1pPr marR="0" lvl="0" indent="0" fontAlgn="base">
                <a:lnSpc>
                  <a:spcPct val="100000"/>
                </a:lnSpc>
                <a:spcBef>
                  <a:spcPct val="0"/>
                </a:spcBef>
                <a:spcAft>
                  <a:spcPct val="0"/>
                </a:spcAft>
                <a:buClrTx/>
                <a:buSzTx/>
                <a:buFontTx/>
                <a:buNone/>
                <a:defRPr kumimoji="0" sz="2000" b="0" i="0" u="none" strike="noStrike" kern="0" cap="none" spc="0" normalizeH="0" baseline="0">
                  <a:ln>
                    <a:noFill/>
                  </a:ln>
                  <a:solidFill>
                    <a:schemeClr val="bg1"/>
                  </a:solidFill>
                  <a:effectLst/>
                  <a:uLnTx/>
                  <a:uFillTx/>
                  <a:latin typeface="+mn-ea"/>
                </a:defRPr>
              </a:lvl1pPr>
            </a:lstStyle>
            <a:p>
              <a:pPr algn="ctr"/>
              <a:r>
                <a:rPr lang="zh-CN" altLang="en-US" dirty="0"/>
                <a:t>孔轴线对于底面的平行度误差</a:t>
              </a:r>
              <a:endParaRPr lang="zh-CN" altLang="en-US" dirty="0"/>
            </a:p>
          </p:txBody>
        </p:sp>
      </p:grpSp>
      <p:grpSp>
        <p:nvGrpSpPr>
          <p:cNvPr id="18" name="组合 17"/>
          <p:cNvGrpSpPr/>
          <p:nvPr/>
        </p:nvGrpSpPr>
        <p:grpSpPr bwMode="auto">
          <a:xfrm>
            <a:off x="9687613" y="4496036"/>
            <a:ext cx="1794286" cy="867002"/>
            <a:chOff x="7058162" y="3985057"/>
            <a:chExt cx="1795968" cy="866512"/>
          </a:xfrm>
          <a:solidFill>
            <a:schemeClr val="accent5">
              <a:lumMod val="40000"/>
              <a:lumOff val="60000"/>
            </a:schemeClr>
          </a:solidFill>
        </p:grpSpPr>
        <p:sp>
          <p:nvSpPr>
            <p:cNvPr id="19" name="Line 3120"/>
            <p:cNvSpPr>
              <a:spLocks noChangeShapeType="1"/>
            </p:cNvSpPr>
            <p:nvPr/>
          </p:nvSpPr>
          <p:spPr bwMode="auto">
            <a:xfrm flipV="1">
              <a:off x="7058162" y="4533517"/>
              <a:ext cx="288018" cy="318052"/>
            </a:xfrm>
            <a:prstGeom prst="line">
              <a:avLst/>
            </a:prstGeom>
            <a:ln>
              <a:headEnd type="none" w="sm" len="lg"/>
              <a:tailEnd type="none" w="sm" len="lg"/>
            </a:ln>
          </p:spPr>
          <p:style>
            <a:lnRef idx="2">
              <a:schemeClr val="accent6">
                <a:shade val="50000"/>
              </a:schemeClr>
            </a:lnRef>
            <a:fillRef idx="1">
              <a:schemeClr val="accent6"/>
            </a:fillRef>
            <a:effectRef idx="0">
              <a:schemeClr val="accent6"/>
            </a:effectRef>
            <a:fontRef idx="minor">
              <a:schemeClr val="lt1"/>
            </a:fontRef>
          </p:style>
          <p:txBody>
            <a:bodyPr lIns="90000" tIns="46800" rIns="90000" bIns="46800">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i="0" u="none" strike="noStrike" kern="0" cap="none" spc="0" normalizeH="0" baseline="0" noProof="0">
                <a:ln>
                  <a:noFill/>
                </a:ln>
                <a:solidFill>
                  <a:schemeClr val="tx1"/>
                </a:solidFill>
                <a:effectLst/>
                <a:uLnTx/>
                <a:uFillTx/>
                <a:latin typeface="+mn-ea"/>
              </a:endParaRPr>
            </a:p>
          </p:txBody>
        </p:sp>
        <p:sp>
          <p:nvSpPr>
            <p:cNvPr id="20" name="Text Box 3121"/>
            <p:cNvSpPr txBox="1">
              <a:spLocks noChangeArrowheads="1"/>
            </p:cNvSpPr>
            <p:nvPr/>
          </p:nvSpPr>
          <p:spPr bwMode="auto">
            <a:xfrm>
              <a:off x="7346180" y="3985057"/>
              <a:ext cx="1507950" cy="707486"/>
            </a:xfrm>
            <a:prstGeom prst="rect">
              <a:avLst/>
            </a:prstGeom>
            <a:solidFill>
              <a:schemeClr val="accent6">
                <a:lumMod val="50000"/>
                <a:alpha val="9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defPPr>
                <a:defRPr lang="zh-CN"/>
              </a:defPPr>
              <a:lvl1pPr marR="0" lvl="0" indent="0" fontAlgn="base">
                <a:lnSpc>
                  <a:spcPct val="100000"/>
                </a:lnSpc>
                <a:spcBef>
                  <a:spcPct val="0"/>
                </a:spcBef>
                <a:spcAft>
                  <a:spcPct val="0"/>
                </a:spcAft>
                <a:buClrTx/>
                <a:buSzTx/>
                <a:buFontTx/>
                <a:buNone/>
                <a:defRPr kumimoji="0" sz="2000" b="0" i="0" u="none" strike="noStrike" kern="0" cap="none" spc="0" normalizeH="0" baseline="0">
                  <a:ln>
                    <a:noFill/>
                  </a:ln>
                  <a:solidFill>
                    <a:schemeClr val="bg1"/>
                  </a:solidFill>
                  <a:effectLst/>
                  <a:uLnTx/>
                  <a:uFillTx/>
                  <a:latin typeface="+mn-ea"/>
                </a:defRPr>
              </a:lvl1pPr>
            </a:lstStyle>
            <a:p>
              <a:pPr algn="ctr"/>
              <a:r>
                <a:rPr lang="zh-CN" altLang="en-US" dirty="0"/>
                <a:t>文字说明的技术要求</a:t>
              </a: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3" name="Picture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7608" y="1052736"/>
            <a:ext cx="8099666" cy="5732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981"/>
          <p:cNvSpPr>
            <a:spLocks noChangeArrowheads="1"/>
          </p:cNvSpPr>
          <p:nvPr/>
        </p:nvSpPr>
        <p:spPr bwMode="auto">
          <a:xfrm>
            <a:off x="9085300" y="5802649"/>
            <a:ext cx="1849437"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25000"/>
              </a:spcAft>
              <a:buFontTx/>
              <a:buNone/>
            </a:pPr>
            <a:r>
              <a:rPr kumimoji="1" lang="zh-CN" altLang="en-US" sz="2400" b="1" dirty="0">
                <a:solidFill>
                  <a:srgbClr val="CC0000"/>
                </a:solidFill>
                <a:latin typeface="+mn-ea"/>
                <a:ea typeface="+mn-ea"/>
              </a:rPr>
              <a:t>标题栏</a:t>
            </a:r>
            <a:endParaRPr kumimoji="1" lang="zh-CN" altLang="en-US" sz="2400" b="1" dirty="0">
              <a:solidFill>
                <a:srgbClr val="CC0000"/>
              </a:solidFill>
              <a:latin typeface="+mn-ea"/>
              <a:ea typeface="+mn-ea"/>
            </a:endParaRPr>
          </a:p>
        </p:txBody>
      </p:sp>
      <p:sp>
        <p:nvSpPr>
          <p:cNvPr id="5" name="Rectangle 2982"/>
          <p:cNvSpPr>
            <a:spLocks noChangeArrowheads="1"/>
          </p:cNvSpPr>
          <p:nvPr/>
        </p:nvSpPr>
        <p:spPr bwMode="auto">
          <a:xfrm>
            <a:off x="8237616" y="6271841"/>
            <a:ext cx="2334452" cy="404148"/>
          </a:xfrm>
          <a:prstGeom prst="rect">
            <a:avLst/>
          </a:prstGeom>
          <a:noFill/>
          <a:ln w="38100">
            <a:solidFill>
              <a:srgbClr val="FF0000"/>
            </a:solidFill>
            <a:miter lim="800000"/>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a typeface="+mn-ea"/>
            </a:endParaRPr>
          </a:p>
        </p:txBody>
      </p:sp>
      <p:sp>
        <p:nvSpPr>
          <p:cNvPr id="6" name="Rectangle 2983"/>
          <p:cNvSpPr>
            <a:spLocks noChangeArrowheads="1"/>
          </p:cNvSpPr>
          <p:nvPr/>
        </p:nvSpPr>
        <p:spPr bwMode="auto">
          <a:xfrm>
            <a:off x="499531" y="1916832"/>
            <a:ext cx="1528551" cy="1323439"/>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defTabSz="914400" eaLnBrk="1" fontAlgn="base" latinLnBrk="0" hangingPunct="1">
              <a:lnSpc>
                <a:spcPct val="100000"/>
              </a:lnSpc>
              <a:spcBef>
                <a:spcPct val="0"/>
              </a:spcBef>
              <a:spcAft>
                <a:spcPct val="25000"/>
              </a:spcAft>
              <a:buClrTx/>
              <a:buSzTx/>
              <a:buFontTx/>
              <a:buNone/>
              <a:defRPr/>
            </a:pPr>
            <a:r>
              <a:rPr kumimoji="1" lang="zh-CN" altLang="en-US" sz="20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说明零件的名称、材料、数量、图号、签署等</a:t>
            </a:r>
            <a:endParaRPr kumimoji="1" lang="zh-CN" altLang="en-US" sz="20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 name="Rectangle 2981"/>
          <p:cNvSpPr>
            <a:spLocks noChangeArrowheads="1"/>
          </p:cNvSpPr>
          <p:nvPr/>
        </p:nvSpPr>
        <p:spPr bwMode="auto">
          <a:xfrm>
            <a:off x="711263" y="1363365"/>
            <a:ext cx="110508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eaLnBrk="0" hangingPunct="0"/>
            <a:r>
              <a:rPr kumimoji="1" lang="zh-CN" altLang="en-US" sz="2400" b="1" dirty="0">
                <a:solidFill>
                  <a:srgbClr val="CC0000"/>
                </a:solidFill>
                <a:latin typeface="微软雅黑" panose="020B0503020204020204" pitchFamily="34" charset="-122"/>
                <a:ea typeface="微软雅黑" panose="020B0503020204020204" pitchFamily="34" charset="-122"/>
              </a:rPr>
              <a:t>标题栏</a:t>
            </a:r>
            <a:endParaRPr kumimoji="1" lang="zh-CN" altLang="en-US" sz="2400" b="1" dirty="0">
              <a:solidFill>
                <a:srgbClr val="CC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179075"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12.1 </a:t>
            </a:r>
            <a:r>
              <a:rPr lang="zh-CN" altLang="en-US" sz="3200" dirty="0">
                <a:solidFill>
                  <a:srgbClr val="FFFFFF"/>
                </a:solidFill>
                <a:latin typeface="微软雅黑" panose="020B0503020204020204" pitchFamily="34" charset="-122"/>
                <a:ea typeface="微软雅黑" panose="020B0503020204020204" pitchFamily="34" charset="-122"/>
              </a:rPr>
              <a:t>零件图概述</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3" name="Picture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0301" y="1052736"/>
            <a:ext cx="8099666" cy="5732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Box 2981"/>
          <p:cNvSpPr txBox="1">
            <a:spLocks noChangeArrowheads="1"/>
          </p:cNvSpPr>
          <p:nvPr/>
        </p:nvSpPr>
        <p:spPr bwMode="auto">
          <a:xfrm>
            <a:off x="316637" y="1355481"/>
            <a:ext cx="2028417"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25000"/>
              </a:spcAft>
              <a:buFontTx/>
              <a:buNone/>
            </a:pPr>
            <a:r>
              <a:rPr kumimoji="1" lang="zh-CN" altLang="en-US" sz="2400" b="1" dirty="0">
                <a:solidFill>
                  <a:srgbClr val="CC0000"/>
                </a:solidFill>
                <a:latin typeface="微软雅黑" panose="020B0503020204020204" pitchFamily="34" charset="-122"/>
                <a:ea typeface="微软雅黑" panose="020B0503020204020204" pitchFamily="34" charset="-122"/>
              </a:rPr>
              <a:t>零件图的内容</a:t>
            </a:r>
            <a:endParaRPr kumimoji="1" lang="zh-CN" altLang="en-US" sz="2400" b="1" dirty="0">
              <a:solidFill>
                <a:srgbClr val="CC0000"/>
              </a:solidFill>
              <a:latin typeface="微软雅黑" panose="020B0503020204020204" pitchFamily="34" charset="-122"/>
              <a:ea typeface="微软雅黑" panose="020B0503020204020204" pitchFamily="34" charset="-122"/>
            </a:endParaRPr>
          </a:p>
        </p:txBody>
      </p:sp>
      <p:grpSp>
        <p:nvGrpSpPr>
          <p:cNvPr id="5" name="Group 2982"/>
          <p:cNvGrpSpPr/>
          <p:nvPr/>
        </p:nvGrpSpPr>
        <p:grpSpPr bwMode="auto">
          <a:xfrm>
            <a:off x="5874346" y="1918160"/>
            <a:ext cx="2516187" cy="841375"/>
            <a:chOff x="2504" y="805"/>
            <a:chExt cx="1220" cy="530"/>
          </a:xfrm>
          <a:solidFill>
            <a:schemeClr val="accent5">
              <a:lumMod val="40000"/>
              <a:lumOff val="60000"/>
            </a:schemeClr>
          </a:solidFill>
        </p:grpSpPr>
        <p:sp>
          <p:nvSpPr>
            <p:cNvPr id="6" name="AutoShape 2983"/>
            <p:cNvSpPr>
              <a:spLocks noChangeArrowheads="1"/>
            </p:cNvSpPr>
            <p:nvPr/>
          </p:nvSpPr>
          <p:spPr bwMode="auto">
            <a:xfrm>
              <a:off x="2532" y="805"/>
              <a:ext cx="1134" cy="530"/>
            </a:xfrm>
            <a:prstGeom prst="wedgeRoundRectCallout">
              <a:avLst>
                <a:gd name="adj1" fmla="val -59567"/>
                <a:gd name="adj2" fmla="val 146416"/>
                <a:gd name="adj3" fmla="val 16667"/>
              </a:avLst>
            </a:prstGeom>
            <a:solidFill>
              <a:schemeClr val="accent5">
                <a:lumMod val="20000"/>
                <a:lumOff val="80000"/>
                <a:alpha val="90000"/>
              </a:schemeClr>
            </a:solidFill>
            <a:ln>
              <a:headEnd type="none" w="sm" len="lg"/>
              <a:tailEnd type="none" w="sm" len="lg"/>
            </a:ln>
          </p:spPr>
          <p:style>
            <a:lnRef idx="2">
              <a:schemeClr val="accent5"/>
            </a:lnRef>
            <a:fillRef idx="1">
              <a:schemeClr val="lt1"/>
            </a:fillRef>
            <a:effectRef idx="0">
              <a:schemeClr val="accent5"/>
            </a:effectRef>
            <a:fontRef idx="minor">
              <a:schemeClr val="dk1"/>
            </a:fontRef>
          </p:style>
          <p:txBody>
            <a:bodyPr lIns="90000" tIns="46800" rIns="90000" bIns="468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endParaRPr lang="zh-CN" altLang="zh-CN">
                <a:solidFill>
                  <a:srgbClr val="080808"/>
                </a:solidFill>
                <a:latin typeface="微软雅黑" panose="020B0503020204020204" pitchFamily="34" charset="-122"/>
                <a:ea typeface="微软雅黑" panose="020B0503020204020204" pitchFamily="34" charset="-122"/>
              </a:endParaRPr>
            </a:p>
          </p:txBody>
        </p:sp>
        <p:sp>
          <p:nvSpPr>
            <p:cNvPr id="7" name="Text Box 2984"/>
            <p:cNvSpPr txBox="1">
              <a:spLocks noChangeArrowheads="1"/>
            </p:cNvSpPr>
            <p:nvPr/>
          </p:nvSpPr>
          <p:spPr bwMode="auto">
            <a:xfrm>
              <a:off x="2504" y="839"/>
              <a:ext cx="1220" cy="4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lang="zh-CN" altLang="en-US" sz="2000" b="1" dirty="0">
                  <a:solidFill>
                    <a:srgbClr val="CC0000"/>
                  </a:solidFill>
                  <a:latin typeface="微软雅黑" panose="020B0503020204020204" pitchFamily="34" charset="-122"/>
                  <a:ea typeface="微软雅黑" panose="020B0503020204020204" pitchFamily="34" charset="-122"/>
                </a:rPr>
                <a:t>一组视图</a:t>
              </a:r>
              <a:endParaRPr lang="zh-CN" altLang="en-US" sz="2000" b="1" dirty="0">
                <a:solidFill>
                  <a:srgbClr val="CC00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lang="zh-CN" altLang="en-US" sz="1800" dirty="0">
                  <a:solidFill>
                    <a:srgbClr val="000066"/>
                  </a:solidFill>
                  <a:latin typeface="微软雅黑" panose="020B0503020204020204" pitchFamily="34" charset="-122"/>
                  <a:ea typeface="微软雅黑" panose="020B0503020204020204" pitchFamily="34" charset="-122"/>
                </a:rPr>
                <a:t>表达零件的结构形状</a:t>
              </a:r>
              <a:endParaRPr lang="zh-CN" altLang="en-US" sz="1800" dirty="0">
                <a:solidFill>
                  <a:srgbClr val="000066"/>
                </a:solidFill>
                <a:latin typeface="微软雅黑" panose="020B0503020204020204" pitchFamily="34" charset="-122"/>
                <a:ea typeface="微软雅黑" panose="020B0503020204020204" pitchFamily="34" charset="-122"/>
              </a:endParaRPr>
            </a:p>
          </p:txBody>
        </p:sp>
      </p:grpSp>
      <p:grpSp>
        <p:nvGrpSpPr>
          <p:cNvPr id="8" name="Group 2985"/>
          <p:cNvGrpSpPr/>
          <p:nvPr/>
        </p:nvGrpSpPr>
        <p:grpSpPr bwMode="auto">
          <a:xfrm>
            <a:off x="2762420" y="3077280"/>
            <a:ext cx="2605088" cy="1089025"/>
            <a:chOff x="191" y="2608"/>
            <a:chExt cx="1641" cy="686"/>
          </a:xfrm>
          <a:solidFill>
            <a:schemeClr val="accent5">
              <a:lumMod val="40000"/>
              <a:lumOff val="60000"/>
            </a:schemeClr>
          </a:solidFill>
        </p:grpSpPr>
        <p:sp>
          <p:nvSpPr>
            <p:cNvPr id="9" name="AutoShape 2986"/>
            <p:cNvSpPr>
              <a:spLocks noChangeArrowheads="1"/>
            </p:cNvSpPr>
            <p:nvPr/>
          </p:nvSpPr>
          <p:spPr bwMode="auto">
            <a:xfrm>
              <a:off x="250" y="2608"/>
              <a:ext cx="1554" cy="686"/>
            </a:xfrm>
            <a:prstGeom prst="wedgeRoundRectCallout">
              <a:avLst>
                <a:gd name="adj1" fmla="val 53023"/>
                <a:gd name="adj2" fmla="val 73903"/>
                <a:gd name="adj3" fmla="val 16667"/>
              </a:avLst>
            </a:prstGeom>
            <a:solidFill>
              <a:schemeClr val="accent5">
                <a:lumMod val="20000"/>
                <a:lumOff val="80000"/>
                <a:alpha val="90000"/>
              </a:schemeClr>
            </a:solidFill>
            <a:ln>
              <a:headEnd type="none" w="sm" len="lg"/>
              <a:tailEnd type="none" w="sm" len="lg"/>
            </a:ln>
          </p:spPr>
          <p:style>
            <a:lnRef idx="2">
              <a:schemeClr val="accent5"/>
            </a:lnRef>
            <a:fillRef idx="1">
              <a:schemeClr val="lt1"/>
            </a:fillRef>
            <a:effectRef idx="0">
              <a:schemeClr val="accent5"/>
            </a:effectRef>
            <a:fontRef idx="minor">
              <a:schemeClr val="dk1"/>
            </a:fontRef>
          </p:style>
          <p:txBody>
            <a:bodyPr lIns="90000" tIns="46800" rIns="90000" bIns="468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endParaRPr lang="zh-CN" altLang="zh-CN">
                <a:solidFill>
                  <a:srgbClr val="080808"/>
                </a:solidFill>
                <a:latin typeface="微软雅黑" panose="020B0503020204020204" pitchFamily="34" charset="-122"/>
                <a:ea typeface="微软雅黑" panose="020B0503020204020204" pitchFamily="34" charset="-122"/>
              </a:endParaRPr>
            </a:p>
          </p:txBody>
        </p:sp>
        <p:sp>
          <p:nvSpPr>
            <p:cNvPr id="10" name="Text Box 2987"/>
            <p:cNvSpPr txBox="1">
              <a:spLocks noChangeArrowheads="1"/>
            </p:cNvSpPr>
            <p:nvPr/>
          </p:nvSpPr>
          <p:spPr bwMode="auto">
            <a:xfrm>
              <a:off x="191" y="2652"/>
              <a:ext cx="1641" cy="60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lang="zh-CN" altLang="en-US" sz="2000" b="1" dirty="0">
                  <a:solidFill>
                    <a:srgbClr val="CC0000"/>
                  </a:solidFill>
                  <a:latin typeface="微软雅黑" panose="020B0503020204020204" pitchFamily="34" charset="-122"/>
                  <a:ea typeface="微软雅黑" panose="020B0503020204020204" pitchFamily="34" charset="-122"/>
                </a:rPr>
                <a:t>完整的尺寸</a:t>
              </a:r>
              <a:endParaRPr lang="zh-CN" altLang="en-US" sz="2000" b="1" dirty="0">
                <a:solidFill>
                  <a:srgbClr val="CC00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lang="zh-CN" altLang="en-US" sz="1800" dirty="0">
                  <a:solidFill>
                    <a:srgbClr val="000066"/>
                  </a:solidFill>
                  <a:latin typeface="微软雅黑" panose="020B0503020204020204" pitchFamily="34" charset="-122"/>
                  <a:ea typeface="微软雅黑" panose="020B0503020204020204" pitchFamily="34" charset="-122"/>
                </a:rPr>
                <a:t>确定零件各部分结构形状的大小和相对位置</a:t>
              </a:r>
              <a:endParaRPr lang="zh-CN" altLang="en-US" sz="1800" dirty="0">
                <a:solidFill>
                  <a:srgbClr val="000066"/>
                </a:solidFill>
                <a:latin typeface="微软雅黑" panose="020B0503020204020204" pitchFamily="34" charset="-122"/>
                <a:ea typeface="微软雅黑" panose="020B0503020204020204" pitchFamily="34" charset="-122"/>
              </a:endParaRPr>
            </a:p>
          </p:txBody>
        </p:sp>
      </p:grpSp>
      <p:grpSp>
        <p:nvGrpSpPr>
          <p:cNvPr id="11" name="Group 2988"/>
          <p:cNvGrpSpPr/>
          <p:nvPr/>
        </p:nvGrpSpPr>
        <p:grpSpPr bwMode="auto">
          <a:xfrm>
            <a:off x="9310121" y="2311860"/>
            <a:ext cx="1936750" cy="1293812"/>
            <a:chOff x="4383" y="1075"/>
            <a:chExt cx="1220" cy="815"/>
          </a:xfrm>
          <a:solidFill>
            <a:schemeClr val="accent5">
              <a:lumMod val="40000"/>
              <a:lumOff val="60000"/>
            </a:schemeClr>
          </a:solidFill>
        </p:grpSpPr>
        <p:sp>
          <p:nvSpPr>
            <p:cNvPr id="12" name="AutoShape 2989"/>
            <p:cNvSpPr>
              <a:spLocks noChangeArrowheads="1"/>
            </p:cNvSpPr>
            <p:nvPr/>
          </p:nvSpPr>
          <p:spPr bwMode="auto">
            <a:xfrm flipV="1">
              <a:off x="4386" y="1075"/>
              <a:ext cx="1207" cy="815"/>
            </a:xfrm>
            <a:prstGeom prst="wedgeRoundRectCallout">
              <a:avLst>
                <a:gd name="adj1" fmla="val -109905"/>
                <a:gd name="adj2" fmla="val 115028"/>
                <a:gd name="adj3" fmla="val 16667"/>
              </a:avLst>
            </a:prstGeom>
            <a:solidFill>
              <a:schemeClr val="accent5">
                <a:lumMod val="20000"/>
                <a:lumOff val="80000"/>
                <a:alpha val="90000"/>
              </a:schemeClr>
            </a:solidFill>
            <a:ln>
              <a:headEnd type="none" w="sm" len="lg"/>
              <a:tailEnd type="none" w="sm" len="lg"/>
            </a:ln>
          </p:spPr>
          <p:style>
            <a:lnRef idx="2">
              <a:schemeClr val="accent5"/>
            </a:lnRef>
            <a:fillRef idx="1">
              <a:schemeClr val="lt1"/>
            </a:fillRef>
            <a:effectRef idx="0">
              <a:schemeClr val="accent5"/>
            </a:effectRef>
            <a:fontRef idx="minor">
              <a:schemeClr val="dk1"/>
            </a:fontRef>
          </p:style>
          <p:txBody>
            <a:bodyPr rot="10800000" lIns="90000" tIns="46800" rIns="90000" bIns="468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endParaRPr lang="zh-CN" altLang="zh-CN">
                <a:solidFill>
                  <a:srgbClr val="080808"/>
                </a:solidFill>
                <a:latin typeface="微软雅黑" panose="020B0503020204020204" pitchFamily="34" charset="-122"/>
                <a:ea typeface="微软雅黑" panose="020B0503020204020204" pitchFamily="34" charset="-122"/>
              </a:endParaRPr>
            </a:p>
          </p:txBody>
        </p:sp>
        <p:sp>
          <p:nvSpPr>
            <p:cNvPr id="13" name="Text Box 2990"/>
            <p:cNvSpPr txBox="1">
              <a:spLocks noChangeArrowheads="1"/>
            </p:cNvSpPr>
            <p:nvPr/>
          </p:nvSpPr>
          <p:spPr bwMode="auto">
            <a:xfrm>
              <a:off x="4383" y="1092"/>
              <a:ext cx="1220" cy="77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lang="zh-CN" altLang="en-US" sz="2000" b="1" dirty="0">
                  <a:solidFill>
                    <a:srgbClr val="CC0000"/>
                  </a:solidFill>
                  <a:latin typeface="微软雅黑" panose="020B0503020204020204" pitchFamily="34" charset="-122"/>
                  <a:ea typeface="微软雅黑" panose="020B0503020204020204" pitchFamily="34" charset="-122"/>
                </a:rPr>
                <a:t>技术要求</a:t>
              </a:r>
              <a:endParaRPr lang="zh-CN" altLang="en-US" sz="2000" b="1" dirty="0">
                <a:solidFill>
                  <a:srgbClr val="CC00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lang="zh-CN" altLang="en-US" sz="1800" dirty="0">
                  <a:solidFill>
                    <a:srgbClr val="000066"/>
                  </a:solidFill>
                  <a:latin typeface="微软雅黑" panose="020B0503020204020204" pitchFamily="34" charset="-122"/>
                  <a:ea typeface="微软雅黑" panose="020B0503020204020204" pitchFamily="34" charset="-122"/>
                </a:rPr>
                <a:t>说明零件在制造和检验时应达到的质量标准</a:t>
              </a:r>
              <a:endParaRPr lang="zh-CN" altLang="en-US" sz="1800" dirty="0">
                <a:solidFill>
                  <a:srgbClr val="000066"/>
                </a:solidFill>
                <a:latin typeface="微软雅黑" panose="020B0503020204020204" pitchFamily="34" charset="-122"/>
                <a:ea typeface="微软雅黑" panose="020B0503020204020204" pitchFamily="34" charset="-122"/>
              </a:endParaRPr>
            </a:p>
          </p:txBody>
        </p:sp>
      </p:grpSp>
      <p:grpSp>
        <p:nvGrpSpPr>
          <p:cNvPr id="14" name="Group 2991"/>
          <p:cNvGrpSpPr/>
          <p:nvPr/>
        </p:nvGrpSpPr>
        <p:grpSpPr bwMode="auto">
          <a:xfrm>
            <a:off x="6216870" y="4382197"/>
            <a:ext cx="1936750" cy="1420813"/>
            <a:chOff x="2841" y="2708"/>
            <a:chExt cx="1220" cy="895"/>
          </a:xfrm>
          <a:solidFill>
            <a:schemeClr val="accent5">
              <a:lumMod val="40000"/>
              <a:lumOff val="60000"/>
            </a:schemeClr>
          </a:solidFill>
        </p:grpSpPr>
        <p:sp>
          <p:nvSpPr>
            <p:cNvPr id="15" name="AutoShape 2992"/>
            <p:cNvSpPr>
              <a:spLocks noChangeArrowheads="1"/>
            </p:cNvSpPr>
            <p:nvPr/>
          </p:nvSpPr>
          <p:spPr bwMode="auto">
            <a:xfrm>
              <a:off x="2859" y="2708"/>
              <a:ext cx="1162" cy="895"/>
            </a:xfrm>
            <a:prstGeom prst="wedgeRoundRectCallout">
              <a:avLst>
                <a:gd name="adj1" fmla="val 72116"/>
                <a:gd name="adj2" fmla="val 77935"/>
                <a:gd name="adj3" fmla="val 16667"/>
              </a:avLst>
            </a:prstGeom>
            <a:solidFill>
              <a:schemeClr val="accent5">
                <a:lumMod val="20000"/>
                <a:lumOff val="80000"/>
                <a:alpha val="90000"/>
              </a:schemeClr>
            </a:solidFill>
            <a:ln>
              <a:headEnd type="none" w="sm" len="lg"/>
              <a:tailEnd type="none" w="sm" len="lg"/>
            </a:ln>
          </p:spPr>
          <p:style>
            <a:lnRef idx="2">
              <a:schemeClr val="accent5"/>
            </a:lnRef>
            <a:fillRef idx="1">
              <a:schemeClr val="lt1"/>
            </a:fillRef>
            <a:effectRef idx="0">
              <a:schemeClr val="accent5"/>
            </a:effectRef>
            <a:fontRef idx="minor">
              <a:schemeClr val="dk1"/>
            </a:fontRef>
          </p:style>
          <p:txBody>
            <a:bodyPr lIns="90000" tIns="46800" rIns="90000" bIns="468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endParaRPr lang="zh-CN" altLang="zh-CN">
                <a:solidFill>
                  <a:srgbClr val="080808"/>
                </a:solidFill>
                <a:latin typeface="微软雅黑" panose="020B0503020204020204" pitchFamily="34" charset="-122"/>
                <a:ea typeface="微软雅黑" panose="020B0503020204020204" pitchFamily="34" charset="-122"/>
              </a:endParaRPr>
            </a:p>
          </p:txBody>
        </p:sp>
        <p:sp>
          <p:nvSpPr>
            <p:cNvPr id="17" name="Text Box 2993"/>
            <p:cNvSpPr txBox="1">
              <a:spLocks noChangeArrowheads="1"/>
            </p:cNvSpPr>
            <p:nvPr/>
          </p:nvSpPr>
          <p:spPr bwMode="auto">
            <a:xfrm>
              <a:off x="2841" y="2761"/>
              <a:ext cx="1220" cy="77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lang="zh-CN" altLang="en-US" sz="2000" b="1" dirty="0">
                  <a:solidFill>
                    <a:srgbClr val="CC0000"/>
                  </a:solidFill>
                  <a:latin typeface="微软雅黑" panose="020B0503020204020204" pitchFamily="34" charset="-122"/>
                  <a:ea typeface="微软雅黑" panose="020B0503020204020204" pitchFamily="34" charset="-122"/>
                </a:rPr>
                <a:t>标题栏</a:t>
              </a:r>
              <a:endParaRPr lang="zh-CN" altLang="en-US" sz="2000" b="1" dirty="0">
                <a:solidFill>
                  <a:srgbClr val="CC0000"/>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buFontTx/>
                <a:buNone/>
              </a:pPr>
              <a:r>
                <a:rPr lang="zh-CN" altLang="en-US" sz="1800" dirty="0">
                  <a:solidFill>
                    <a:srgbClr val="000066"/>
                  </a:solidFill>
                  <a:latin typeface="微软雅黑" panose="020B0503020204020204" pitchFamily="34" charset="-122"/>
                  <a:ea typeface="微软雅黑" panose="020B0503020204020204" pitchFamily="34" charset="-122"/>
                </a:rPr>
                <a:t>说明零件的名称材料、数量以及必要的签署</a:t>
              </a:r>
              <a:endParaRPr lang="zh-CN" altLang="en-US" sz="1800" dirty="0">
                <a:solidFill>
                  <a:srgbClr val="000066"/>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idx="4294967295"/>
          </p:nvPr>
        </p:nvSpPr>
        <p:spPr>
          <a:xfrm>
            <a:off x="3143115" y="2727903"/>
            <a:ext cx="5905784" cy="830997"/>
          </a:xfrm>
          <a:solidFill>
            <a:schemeClr val="bg1"/>
          </a:solidFill>
        </p:spPr>
        <p:txBody>
          <a:bodyPr wrap="none">
            <a:spAutoFit/>
          </a:bodyPr>
          <a:lstStyle/>
          <a:p>
            <a:r>
              <a:rPr lang="en-US" altLang="zh-CN" sz="4800" dirty="0">
                <a:solidFill>
                  <a:schemeClr val="accent6">
                    <a:lumMod val="50000"/>
                  </a:schemeClr>
                </a:solidFill>
                <a:latin typeface="微软雅黑" panose="020B0503020204020204" pitchFamily="34" charset="-122"/>
                <a:ea typeface="微软雅黑" panose="020B0503020204020204" pitchFamily="34" charset="-122"/>
              </a:rPr>
              <a:t>12.2 </a:t>
            </a:r>
            <a:r>
              <a:rPr lang="zh-CN" altLang="en-US" sz="4800" dirty="0">
                <a:solidFill>
                  <a:schemeClr val="accent6">
                    <a:lumMod val="50000"/>
                  </a:schemeClr>
                </a:solidFill>
                <a:latin typeface="微软雅黑" panose="020B0503020204020204" pitchFamily="34" charset="-122"/>
                <a:ea typeface="微软雅黑" panose="020B0503020204020204" pitchFamily="34" charset="-122"/>
              </a:rPr>
              <a:t>视图选择与绘制</a:t>
            </a:r>
            <a:endParaRPr lang="zh-CN" altLang="en-US" sz="4800" dirty="0">
              <a:solidFill>
                <a:schemeClr val="accent6">
                  <a:lumMod val="50000"/>
                </a:schemeClr>
              </a:solidFill>
              <a:latin typeface="微软雅黑" panose="020B0503020204020204" pitchFamily="34" charset="-122"/>
              <a:ea typeface="微软雅黑" panose="020B0503020204020204" pitchFamily="34" charset="-122"/>
            </a:endParaRPr>
          </a:p>
        </p:txBody>
      </p:sp>
      <p:sp>
        <p:nvSpPr>
          <p:cNvPr id="2" name="Rectangle 2"/>
          <p:cNvSpPr/>
          <p:nvPr/>
        </p:nvSpPr>
        <p:spPr>
          <a:xfrm>
            <a:off x="2701879" y="1136817"/>
            <a:ext cx="582211" cy="584775"/>
          </a:xfrm>
          <a:prstGeom prst="rect">
            <a:avLst/>
          </a:prstGeom>
        </p:spPr>
        <p:txBody>
          <a:bodyPr wrap="none">
            <a:spAutoFit/>
          </a:bodyPr>
          <a:lstStyle/>
          <a:p>
            <a:pPr algn="ctr"/>
            <a:r>
              <a:rPr lang="en-US" altLang="zh-CN" sz="3200" b="1" dirty="0">
                <a:solidFill>
                  <a:srgbClr val="A50021"/>
                </a:solidFill>
                <a:latin typeface="华文新魏" panose="02010800040101010101" pitchFamily="2" charset="-122"/>
                <a:ea typeface="华文新魏" panose="02010800040101010101" pitchFamily="2" charset="-122"/>
              </a:rPr>
              <a:t>12</a:t>
            </a:r>
            <a:endParaRPr lang="zh-CN" altLang="en-US" sz="3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6"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视图选择的目的</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7" name="Text Box 6"/>
          <p:cNvSpPr txBox="1">
            <a:spLocks noChangeArrowheads="1"/>
          </p:cNvSpPr>
          <p:nvPr/>
        </p:nvSpPr>
        <p:spPr bwMode="auto">
          <a:xfrm>
            <a:off x="767408" y="1930760"/>
            <a:ext cx="10657184" cy="941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20000"/>
              </a:lnSpc>
              <a:spcBef>
                <a:spcPct val="0"/>
              </a:spcBef>
              <a:spcAft>
                <a:spcPct val="0"/>
              </a:spcAft>
              <a:defRPr/>
            </a:pPr>
            <a:r>
              <a:rPr kumimoji="1" lang="en-US" altLang="zh-CN" sz="2400" dirty="0">
                <a:latin typeface="微软雅黑" panose="020B0503020204020204" pitchFamily="34" charset="-122"/>
                <a:ea typeface="微软雅黑" panose="020B0503020204020204" pitchFamily="34" charset="-122"/>
              </a:rPr>
              <a:t>       </a:t>
            </a:r>
            <a:r>
              <a:rPr kumimoji="1" lang="zh-CN" altLang="en-US" sz="2400" dirty="0">
                <a:latin typeface="微软雅黑" panose="020B0503020204020204" pitchFamily="34" charset="-122"/>
                <a:ea typeface="微软雅黑" panose="020B0503020204020204" pitchFamily="34" charset="-122"/>
              </a:rPr>
              <a:t>为满足生产的需要，零件图的一组视图应视零件的功用及结构形状的不同而采用不同的视图及表达方法。</a:t>
            </a:r>
            <a:endParaRPr kumimoji="1" lang="zh-CN" altLang="en-US" sz="2400" dirty="0">
              <a:latin typeface="微软雅黑" panose="020B0503020204020204" pitchFamily="34" charset="-122"/>
              <a:ea typeface="微软雅黑" panose="020B0503020204020204" pitchFamily="34" charset="-122"/>
            </a:endParaRPr>
          </a:p>
        </p:txBody>
      </p:sp>
      <p:grpSp>
        <p:nvGrpSpPr>
          <p:cNvPr id="3" name="组合 2"/>
          <p:cNvGrpSpPr/>
          <p:nvPr/>
        </p:nvGrpSpPr>
        <p:grpSpPr>
          <a:xfrm>
            <a:off x="6596295" y="3150486"/>
            <a:ext cx="2336800" cy="2483799"/>
            <a:chOff x="6596295" y="3150486"/>
            <a:chExt cx="2336800" cy="2483799"/>
          </a:xfrm>
        </p:grpSpPr>
        <p:sp>
          <p:nvSpPr>
            <p:cNvPr id="9" name="Text Box 8"/>
            <p:cNvSpPr txBox="1">
              <a:spLocks noChangeArrowheads="1"/>
            </p:cNvSpPr>
            <p:nvPr/>
          </p:nvSpPr>
          <p:spPr bwMode="auto">
            <a:xfrm>
              <a:off x="6630030" y="3150486"/>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FontTx/>
                <a:buNone/>
              </a:pPr>
              <a:r>
                <a:rPr kumimoji="1" lang="zh-CN" altLang="en-US" sz="2400" dirty="0">
                  <a:latin typeface="微软雅黑" panose="020B0503020204020204" pitchFamily="34" charset="-122"/>
                  <a:ea typeface="微软雅黑" panose="020B0503020204020204" pitchFamily="34" charset="-122"/>
                </a:rPr>
                <a:t>一个视图即可</a:t>
              </a:r>
              <a:endParaRPr kumimoji="1" lang="zh-CN" altLang="en-US" sz="2400" dirty="0">
                <a:latin typeface="微软雅黑" panose="020B0503020204020204" pitchFamily="34" charset="-122"/>
                <a:ea typeface="微软雅黑" panose="020B0503020204020204" pitchFamily="34" charset="-122"/>
              </a:endParaRPr>
            </a:p>
          </p:txBody>
        </p:sp>
        <p:grpSp>
          <p:nvGrpSpPr>
            <p:cNvPr id="10" name="Group 9"/>
            <p:cNvGrpSpPr/>
            <p:nvPr/>
          </p:nvGrpSpPr>
          <p:grpSpPr bwMode="auto">
            <a:xfrm>
              <a:off x="6596295" y="4205535"/>
              <a:ext cx="2336800" cy="1428750"/>
              <a:chOff x="3120" y="2768"/>
              <a:chExt cx="1471" cy="900"/>
            </a:xfrm>
          </p:grpSpPr>
          <p:sp>
            <p:nvSpPr>
              <p:cNvPr id="11" name="Text Box 10"/>
              <p:cNvSpPr txBox="1">
                <a:spLocks noChangeArrowheads="1"/>
              </p:cNvSpPr>
              <p:nvPr/>
            </p:nvSpPr>
            <p:spPr bwMode="auto">
              <a:xfrm rot="16200000">
                <a:off x="4025" y="2996"/>
                <a:ext cx="362"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000" u="none" strike="noStrike" kern="0" cap="none" spc="0" normalizeH="0" baseline="0" noProof="0" dirty="0">
                    <a:ln>
                      <a:noFill/>
                    </a:ln>
                    <a:effectLst/>
                    <a:uLnTx/>
                    <a:uFillTx/>
                    <a:latin typeface="+mn-ea"/>
                    <a:ea typeface="+mn-ea"/>
                    <a:sym typeface="Symbol" panose="05050102010706020507" pitchFamily="18" charset="2"/>
                  </a:rPr>
                  <a:t></a:t>
                </a:r>
                <a:r>
                  <a:rPr kumimoji="1" lang="en-US" altLang="zh-CN" sz="2000" u="none" strike="noStrike" kern="0" cap="none" spc="0" normalizeH="0" baseline="0" noProof="0" dirty="0">
                    <a:ln>
                      <a:noFill/>
                    </a:ln>
                    <a:effectLst/>
                    <a:uLnTx/>
                    <a:uFillTx/>
                    <a:latin typeface="+mn-ea"/>
                    <a:ea typeface="+mn-ea"/>
                  </a:rPr>
                  <a:t>10</a:t>
                </a:r>
                <a:endParaRPr kumimoji="1" lang="en-US" altLang="zh-CN" sz="2400" u="none" strike="noStrike" kern="0" cap="none" spc="0" normalizeH="0" baseline="0" noProof="0" dirty="0">
                  <a:ln>
                    <a:noFill/>
                  </a:ln>
                  <a:effectLst/>
                  <a:uLnTx/>
                  <a:uFillTx/>
                  <a:latin typeface="+mn-ea"/>
                  <a:ea typeface="+mn-ea"/>
                </a:endParaRPr>
              </a:p>
            </p:txBody>
          </p:sp>
          <p:sp>
            <p:nvSpPr>
              <p:cNvPr id="12" name="Line 11"/>
              <p:cNvSpPr>
                <a:spLocks noChangeShapeType="1"/>
              </p:cNvSpPr>
              <p:nvPr/>
            </p:nvSpPr>
            <p:spPr bwMode="auto">
              <a:xfrm>
                <a:off x="3120" y="3080"/>
                <a:ext cx="1080" cy="0"/>
              </a:xfrm>
              <a:prstGeom prst="line">
                <a:avLst/>
              </a:prstGeom>
              <a:noFill/>
              <a:ln w="9525">
                <a:solidFill>
                  <a:srgbClr val="000000"/>
                </a:solidFill>
                <a:prstDash val="lgDashDot"/>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13" name="Rectangle 12"/>
              <p:cNvSpPr>
                <a:spLocks noChangeArrowheads="1"/>
              </p:cNvSpPr>
              <p:nvPr/>
            </p:nvSpPr>
            <p:spPr bwMode="auto">
              <a:xfrm>
                <a:off x="3252" y="2780"/>
                <a:ext cx="852" cy="600"/>
              </a:xfrm>
              <a:prstGeom prst="rect">
                <a:avLst/>
              </a:prstGeom>
              <a:noFill/>
              <a:ln w="38100">
                <a:solidFill>
                  <a:srgbClr val="000000"/>
                </a:solidFill>
                <a:miter lim="800000"/>
              </a:ln>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a typeface="+mn-ea"/>
                </a:endParaRPr>
              </a:p>
            </p:txBody>
          </p:sp>
          <p:sp>
            <p:nvSpPr>
              <p:cNvPr id="14" name="Line 13"/>
              <p:cNvSpPr>
                <a:spLocks noChangeShapeType="1"/>
              </p:cNvSpPr>
              <p:nvPr/>
            </p:nvSpPr>
            <p:spPr bwMode="auto">
              <a:xfrm>
                <a:off x="3252" y="2888"/>
                <a:ext cx="85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15" name="Line 14"/>
              <p:cNvSpPr>
                <a:spLocks noChangeShapeType="1"/>
              </p:cNvSpPr>
              <p:nvPr/>
            </p:nvSpPr>
            <p:spPr bwMode="auto">
              <a:xfrm>
                <a:off x="3252" y="3272"/>
                <a:ext cx="85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17" name="Line 15"/>
              <p:cNvSpPr>
                <a:spLocks noChangeShapeType="1"/>
              </p:cNvSpPr>
              <p:nvPr/>
            </p:nvSpPr>
            <p:spPr bwMode="auto">
              <a:xfrm flipV="1">
                <a:off x="3252" y="2768"/>
                <a:ext cx="120" cy="12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18" name="Line 16"/>
              <p:cNvSpPr>
                <a:spLocks noChangeShapeType="1"/>
              </p:cNvSpPr>
              <p:nvPr/>
            </p:nvSpPr>
            <p:spPr bwMode="auto">
              <a:xfrm flipV="1">
                <a:off x="3432" y="2768"/>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19" name="Line 17"/>
              <p:cNvSpPr>
                <a:spLocks noChangeShapeType="1"/>
              </p:cNvSpPr>
              <p:nvPr/>
            </p:nvSpPr>
            <p:spPr bwMode="auto">
              <a:xfrm flipV="1">
                <a:off x="3612" y="2780"/>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0" name="Line 18"/>
              <p:cNvSpPr>
                <a:spLocks noChangeShapeType="1"/>
              </p:cNvSpPr>
              <p:nvPr/>
            </p:nvSpPr>
            <p:spPr bwMode="auto">
              <a:xfrm flipV="1">
                <a:off x="3816" y="2768"/>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1" name="Line 19"/>
              <p:cNvSpPr>
                <a:spLocks noChangeShapeType="1"/>
              </p:cNvSpPr>
              <p:nvPr/>
            </p:nvSpPr>
            <p:spPr bwMode="auto">
              <a:xfrm flipV="1">
                <a:off x="3252" y="3272"/>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2" name="Line 20"/>
              <p:cNvSpPr>
                <a:spLocks noChangeShapeType="1"/>
              </p:cNvSpPr>
              <p:nvPr/>
            </p:nvSpPr>
            <p:spPr bwMode="auto">
              <a:xfrm flipV="1">
                <a:off x="3444" y="3272"/>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3" name="Line 21"/>
              <p:cNvSpPr>
                <a:spLocks noChangeShapeType="1"/>
              </p:cNvSpPr>
              <p:nvPr/>
            </p:nvSpPr>
            <p:spPr bwMode="auto">
              <a:xfrm flipV="1">
                <a:off x="3648" y="3272"/>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4" name="Line 22"/>
              <p:cNvSpPr>
                <a:spLocks noChangeShapeType="1"/>
              </p:cNvSpPr>
              <p:nvPr/>
            </p:nvSpPr>
            <p:spPr bwMode="auto">
              <a:xfrm flipV="1">
                <a:off x="3828" y="3272"/>
                <a:ext cx="108" cy="1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5" name="Line 23"/>
              <p:cNvSpPr>
                <a:spLocks noChangeShapeType="1"/>
              </p:cNvSpPr>
              <p:nvPr/>
            </p:nvSpPr>
            <p:spPr bwMode="auto">
              <a:xfrm flipV="1">
                <a:off x="4008" y="3284"/>
                <a:ext cx="96"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6" name="Line 24"/>
              <p:cNvSpPr>
                <a:spLocks noChangeShapeType="1"/>
              </p:cNvSpPr>
              <p:nvPr/>
            </p:nvSpPr>
            <p:spPr bwMode="auto">
              <a:xfrm flipV="1">
                <a:off x="3996" y="2792"/>
                <a:ext cx="96"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7" name="Line 25"/>
              <p:cNvSpPr>
                <a:spLocks noChangeShapeType="1"/>
              </p:cNvSpPr>
              <p:nvPr/>
            </p:nvSpPr>
            <p:spPr bwMode="auto">
              <a:xfrm>
                <a:off x="4104" y="2888"/>
                <a:ext cx="26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8" name="Line 26"/>
              <p:cNvSpPr>
                <a:spLocks noChangeShapeType="1"/>
              </p:cNvSpPr>
              <p:nvPr/>
            </p:nvSpPr>
            <p:spPr bwMode="auto">
              <a:xfrm>
                <a:off x="4104" y="3272"/>
                <a:ext cx="26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29" name="Line 27"/>
              <p:cNvSpPr>
                <a:spLocks noChangeShapeType="1"/>
              </p:cNvSpPr>
              <p:nvPr/>
            </p:nvSpPr>
            <p:spPr bwMode="auto">
              <a:xfrm>
                <a:off x="4296" y="2878"/>
                <a:ext cx="0" cy="408"/>
              </a:xfrm>
              <a:prstGeom prst="line">
                <a:avLst/>
              </a:prstGeom>
              <a:noFill/>
              <a:ln w="9525">
                <a:solidFill>
                  <a:srgbClr val="000000"/>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0" name="Line 28"/>
              <p:cNvSpPr>
                <a:spLocks noChangeShapeType="1"/>
              </p:cNvSpPr>
              <p:nvPr/>
            </p:nvSpPr>
            <p:spPr bwMode="auto">
              <a:xfrm>
                <a:off x="4104" y="2780"/>
                <a:ext cx="4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1" name="Line 29"/>
              <p:cNvSpPr>
                <a:spLocks noChangeShapeType="1"/>
              </p:cNvSpPr>
              <p:nvPr/>
            </p:nvSpPr>
            <p:spPr bwMode="auto">
              <a:xfrm>
                <a:off x="4104" y="3380"/>
                <a:ext cx="487"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2" name="Line 30"/>
              <p:cNvSpPr>
                <a:spLocks noChangeShapeType="1"/>
              </p:cNvSpPr>
              <p:nvPr/>
            </p:nvSpPr>
            <p:spPr bwMode="auto">
              <a:xfrm flipH="1">
                <a:off x="4536" y="2775"/>
                <a:ext cx="0" cy="616"/>
              </a:xfrm>
              <a:prstGeom prst="line">
                <a:avLst/>
              </a:prstGeom>
              <a:noFill/>
              <a:ln w="9525">
                <a:solidFill>
                  <a:srgbClr val="000000"/>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3" name="Line 31"/>
              <p:cNvSpPr>
                <a:spLocks noChangeShapeType="1"/>
              </p:cNvSpPr>
              <p:nvPr/>
            </p:nvSpPr>
            <p:spPr bwMode="auto">
              <a:xfrm>
                <a:off x="3252" y="3368"/>
                <a:ext cx="0" cy="3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4" name="Line 32"/>
              <p:cNvSpPr>
                <a:spLocks noChangeShapeType="1"/>
              </p:cNvSpPr>
              <p:nvPr/>
            </p:nvSpPr>
            <p:spPr bwMode="auto">
              <a:xfrm>
                <a:off x="4104" y="3356"/>
                <a:ext cx="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5" name="Line 33"/>
              <p:cNvSpPr>
                <a:spLocks noChangeShapeType="1"/>
              </p:cNvSpPr>
              <p:nvPr/>
            </p:nvSpPr>
            <p:spPr bwMode="auto">
              <a:xfrm>
                <a:off x="3252" y="3620"/>
                <a:ext cx="852" cy="0"/>
              </a:xfrm>
              <a:prstGeom prst="line">
                <a:avLst/>
              </a:prstGeom>
              <a:noFill/>
              <a:ln w="9525">
                <a:solidFill>
                  <a:srgbClr val="000000"/>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effectLst/>
                  <a:uLnTx/>
                  <a:uFillTx/>
                  <a:latin typeface="+mn-ea"/>
                </a:endParaRPr>
              </a:p>
            </p:txBody>
          </p:sp>
          <p:sp>
            <p:nvSpPr>
              <p:cNvPr id="36" name="Text Box 34"/>
              <p:cNvSpPr txBox="1">
                <a:spLocks noChangeArrowheads="1"/>
              </p:cNvSpPr>
              <p:nvPr/>
            </p:nvSpPr>
            <p:spPr bwMode="auto">
              <a:xfrm>
                <a:off x="3578" y="3415"/>
                <a:ext cx="278"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000" u="none" strike="noStrike" kern="0" cap="none" spc="0" normalizeH="0" baseline="0" noProof="0" dirty="0">
                    <a:ln>
                      <a:noFill/>
                    </a:ln>
                    <a:effectLst/>
                    <a:uLnTx/>
                    <a:uFillTx/>
                    <a:latin typeface="+mn-ea"/>
                    <a:ea typeface="+mn-ea"/>
                  </a:rPr>
                  <a:t>25</a:t>
                </a:r>
                <a:endParaRPr kumimoji="1" lang="en-US" altLang="zh-CN" sz="2400" u="none" strike="noStrike" kern="0" cap="none" spc="0" normalizeH="0" baseline="0" noProof="0" dirty="0">
                  <a:ln>
                    <a:noFill/>
                  </a:ln>
                  <a:effectLst/>
                  <a:uLnTx/>
                  <a:uFillTx/>
                  <a:latin typeface="+mn-ea"/>
                  <a:ea typeface="+mn-ea"/>
                </a:endParaRPr>
              </a:p>
            </p:txBody>
          </p:sp>
          <p:sp>
            <p:nvSpPr>
              <p:cNvPr id="38" name="Text Box 35"/>
              <p:cNvSpPr txBox="1">
                <a:spLocks noChangeArrowheads="1"/>
              </p:cNvSpPr>
              <p:nvPr/>
            </p:nvSpPr>
            <p:spPr bwMode="auto">
              <a:xfrm rot="16200000">
                <a:off x="4265" y="2996"/>
                <a:ext cx="362"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000" u="none" strike="noStrike" kern="0" cap="none" spc="0" normalizeH="0" baseline="0" noProof="0" dirty="0">
                    <a:ln>
                      <a:noFill/>
                    </a:ln>
                    <a:effectLst/>
                    <a:uLnTx/>
                    <a:uFillTx/>
                    <a:latin typeface="+mn-ea"/>
                    <a:ea typeface="+mn-ea"/>
                    <a:sym typeface="Symbol" panose="05050102010706020507" pitchFamily="18" charset="2"/>
                  </a:rPr>
                  <a:t></a:t>
                </a:r>
                <a:r>
                  <a:rPr kumimoji="1" lang="en-US" altLang="zh-CN" sz="2000" u="none" strike="noStrike" kern="0" cap="none" spc="0" normalizeH="0" baseline="0" noProof="0" dirty="0">
                    <a:ln>
                      <a:noFill/>
                    </a:ln>
                    <a:effectLst/>
                    <a:uLnTx/>
                    <a:uFillTx/>
                    <a:latin typeface="+mn-ea"/>
                    <a:ea typeface="+mn-ea"/>
                  </a:rPr>
                  <a:t>18</a:t>
                </a:r>
                <a:endParaRPr kumimoji="1" lang="en-US" altLang="zh-CN" sz="2400" u="none" strike="noStrike" kern="0" cap="none" spc="0" normalizeH="0" baseline="0" noProof="0" dirty="0">
                  <a:ln>
                    <a:noFill/>
                  </a:ln>
                  <a:effectLst/>
                  <a:uLnTx/>
                  <a:uFillTx/>
                  <a:latin typeface="+mn-ea"/>
                  <a:ea typeface="+mn-ea"/>
                </a:endParaRPr>
              </a:p>
            </p:txBody>
          </p:sp>
        </p:grpSp>
      </p:grpSp>
      <p:grpSp>
        <p:nvGrpSpPr>
          <p:cNvPr id="2" name="组合 1"/>
          <p:cNvGrpSpPr/>
          <p:nvPr/>
        </p:nvGrpSpPr>
        <p:grpSpPr>
          <a:xfrm>
            <a:off x="2423592" y="3147644"/>
            <a:ext cx="1905000" cy="2485054"/>
            <a:chOff x="2423592" y="3147644"/>
            <a:chExt cx="1905000" cy="2485054"/>
          </a:xfrm>
        </p:grpSpPr>
        <p:sp>
          <p:nvSpPr>
            <p:cNvPr id="8" name="Text Box 7"/>
            <p:cNvSpPr txBox="1">
              <a:spLocks noChangeArrowheads="1"/>
            </p:cNvSpPr>
            <p:nvPr/>
          </p:nvSpPr>
          <p:spPr bwMode="auto">
            <a:xfrm>
              <a:off x="2668206" y="3147644"/>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defRPr/>
              </a:pPr>
              <a:r>
                <a:rPr kumimoji="1" lang="zh-CN" altLang="en-US" sz="2400" dirty="0">
                  <a:latin typeface="微软雅黑" panose="020B0503020204020204" pitchFamily="34" charset="-122"/>
                  <a:ea typeface="微软雅黑" panose="020B0503020204020204" pitchFamily="34" charset="-122"/>
                </a:rPr>
                <a:t>如：轴套</a:t>
              </a:r>
              <a:endParaRPr kumimoji="1" lang="zh-CN" altLang="en-US" sz="2400" dirty="0">
                <a:latin typeface="微软雅黑" panose="020B0503020204020204" pitchFamily="34" charset="-122"/>
                <a:ea typeface="微软雅黑" panose="020B0503020204020204" pitchFamily="34" charset="-122"/>
              </a:endParaRPr>
            </a:p>
          </p:txBody>
        </p:sp>
        <p:pic>
          <p:nvPicPr>
            <p:cNvPr id="39" name="Picture 36" descr="9-套"/>
            <p:cNvPicPr>
              <a:picLocks noChangeAspect="1" noChangeArrowheads="1"/>
            </p:cNvPicPr>
            <p:nvPr/>
          </p:nvPicPr>
          <p:blipFill>
            <a:blip r:embed="rId1">
              <a:extLst>
                <a:ext uri="{28A0092B-C50C-407E-A947-70E740481C1C}">
                  <a14:useLocalDpi xmlns:a14="http://schemas.microsoft.com/office/drawing/2010/main" val="0"/>
                </a:ext>
              </a:extLst>
            </a:blip>
            <a:srcRect l="28162" t="27109" r="43103" b="16867"/>
            <a:stretch>
              <a:fillRect/>
            </a:stretch>
          </p:blipFill>
          <p:spPr bwMode="auto">
            <a:xfrm>
              <a:off x="2423592" y="3861048"/>
              <a:ext cx="19050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42370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视图选择的要求和原则</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774339" y="2423299"/>
            <a:ext cx="9042915" cy="503493"/>
            <a:chOff x="1774339" y="2355481"/>
            <a:chExt cx="9042915" cy="503493"/>
          </a:xfrm>
        </p:grpSpPr>
        <p:sp>
          <p:nvSpPr>
            <p:cNvPr id="3" name="Text Box 2"/>
            <p:cNvSpPr txBox="1">
              <a:spLocks noChangeArrowheads="1"/>
            </p:cNvSpPr>
            <p:nvPr/>
          </p:nvSpPr>
          <p:spPr bwMode="auto">
            <a:xfrm>
              <a:off x="1774339" y="2355481"/>
              <a:ext cx="1569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lang="zh-CN" altLang="en-US" sz="2400">
                  <a:solidFill>
                    <a:srgbClr val="C00000"/>
                  </a:solidFill>
                  <a:latin typeface="微软雅黑" panose="020B0503020204020204" pitchFamily="34" charset="-122"/>
                  <a:ea typeface="微软雅黑" panose="020B0503020204020204" pitchFamily="34" charset="-122"/>
                  <a:sym typeface="Monotype Sorts" pitchFamily="2" charset="2"/>
                </a:rPr>
                <a:t>完全：</a:t>
              </a:r>
              <a:endParaRPr lang="zh-CN" altLang="en-US" sz="2400">
                <a:solidFill>
                  <a:srgbClr val="C00000"/>
                </a:solidFill>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3245951" y="2361017"/>
              <a:ext cx="7571303" cy="497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latin typeface="微软雅黑" panose="020B0503020204020204" pitchFamily="34" charset="-122"/>
                  <a:ea typeface="微软雅黑" panose="020B0503020204020204" pitchFamily="34" charset="-122"/>
                </a:rPr>
                <a:t>零件的结构、形状及其相对位置表达完全且唯一确定。</a:t>
              </a:r>
              <a:endParaRPr kumimoji="1" lang="zh-CN" altLang="en-US" sz="2400" dirty="0">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774339" y="3112406"/>
            <a:ext cx="7811809" cy="497957"/>
            <a:chOff x="1774339" y="3119069"/>
            <a:chExt cx="7811809" cy="497957"/>
          </a:xfrm>
        </p:grpSpPr>
        <p:sp>
          <p:nvSpPr>
            <p:cNvPr id="4" name="Text Box 3"/>
            <p:cNvSpPr txBox="1">
              <a:spLocks noChangeArrowheads="1"/>
            </p:cNvSpPr>
            <p:nvPr/>
          </p:nvSpPr>
          <p:spPr bwMode="auto">
            <a:xfrm>
              <a:off x="1774339" y="3119069"/>
              <a:ext cx="1569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lang="zh-CN" altLang="en-US" sz="2400">
                  <a:solidFill>
                    <a:srgbClr val="C00000"/>
                  </a:solidFill>
                  <a:latin typeface="微软雅黑" panose="020B0503020204020204" pitchFamily="34" charset="-122"/>
                  <a:ea typeface="微软雅黑" panose="020B0503020204020204" pitchFamily="34" charset="-122"/>
                  <a:sym typeface="Monotype Sorts" pitchFamily="2" charset="2"/>
                </a:rPr>
                <a:t>正确：</a:t>
              </a:r>
              <a:endParaRPr lang="zh-CN" altLang="en-US" sz="2400">
                <a:solidFill>
                  <a:srgbClr val="C00000"/>
                </a:solidFill>
                <a:latin typeface="微软雅黑" panose="020B0503020204020204" pitchFamily="34" charset="-122"/>
                <a:ea typeface="微软雅黑" panose="020B0503020204020204" pitchFamily="34" charset="-122"/>
              </a:endParaRPr>
            </a:p>
          </p:txBody>
        </p:sp>
        <p:sp>
          <p:nvSpPr>
            <p:cNvPr id="7" name="Text Box 6"/>
            <p:cNvSpPr txBox="1">
              <a:spLocks noChangeArrowheads="1"/>
            </p:cNvSpPr>
            <p:nvPr/>
          </p:nvSpPr>
          <p:spPr bwMode="auto">
            <a:xfrm>
              <a:off x="3245951" y="3119069"/>
              <a:ext cx="6340197" cy="497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投影关系正确，图样画法符合国家标准规定</a:t>
              </a:r>
              <a:r>
                <a:rPr kumimoji="1" lang="zh-CN" altLang="en-US" sz="2400" dirty="0">
                  <a:solidFill>
                    <a:srgbClr val="404040"/>
                  </a:solidFill>
                  <a:latin typeface="微软雅黑" panose="020B0503020204020204" pitchFamily="34" charset="-122"/>
                  <a:ea typeface="微软雅黑" panose="020B0503020204020204" pitchFamily="34" charset="-122"/>
                </a:rPr>
                <a:t>。</a:t>
              </a:r>
              <a:endParaRPr kumimoji="1" lang="zh-CN" altLang="en-US" sz="2400" dirty="0">
                <a:solidFill>
                  <a:srgbClr val="404040"/>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1774339" y="3795977"/>
            <a:ext cx="5368925" cy="497957"/>
            <a:chOff x="1774339" y="3848245"/>
            <a:chExt cx="5368925" cy="497957"/>
          </a:xfrm>
        </p:grpSpPr>
        <p:sp>
          <p:nvSpPr>
            <p:cNvPr id="5" name="Text Box 4"/>
            <p:cNvSpPr txBox="1">
              <a:spLocks noChangeArrowheads="1"/>
            </p:cNvSpPr>
            <p:nvPr/>
          </p:nvSpPr>
          <p:spPr bwMode="auto">
            <a:xfrm>
              <a:off x="1774339" y="3877587"/>
              <a:ext cx="1569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lang="zh-CN" altLang="en-US" sz="2400">
                  <a:solidFill>
                    <a:srgbClr val="C00000"/>
                  </a:solidFill>
                  <a:latin typeface="微软雅黑" panose="020B0503020204020204" pitchFamily="34" charset="-122"/>
                  <a:ea typeface="微软雅黑" panose="020B0503020204020204" pitchFamily="34" charset="-122"/>
                  <a:sym typeface="Monotype Sorts" pitchFamily="2" charset="2"/>
                </a:rPr>
                <a:t>清楚：</a:t>
              </a:r>
              <a:endParaRPr lang="zh-CN" altLang="en-US" sz="2400">
                <a:solidFill>
                  <a:srgbClr val="C00000"/>
                </a:solidFill>
                <a:latin typeface="微软雅黑" panose="020B0503020204020204" pitchFamily="34" charset="-122"/>
                <a:ea typeface="微软雅黑" panose="020B0503020204020204" pitchFamily="34" charset="-122"/>
              </a:endParaRPr>
            </a:p>
          </p:txBody>
        </p:sp>
        <p:sp>
          <p:nvSpPr>
            <p:cNvPr id="8" name="Text Box 7"/>
            <p:cNvSpPr txBox="1">
              <a:spLocks noChangeArrowheads="1"/>
            </p:cNvSpPr>
            <p:nvPr/>
          </p:nvSpPr>
          <p:spPr bwMode="auto">
            <a:xfrm>
              <a:off x="3245951" y="3848245"/>
              <a:ext cx="3897313" cy="497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latin typeface="微软雅黑" panose="020B0503020204020204" pitchFamily="34" charset="-122"/>
                  <a:ea typeface="微软雅黑" panose="020B0503020204020204" pitchFamily="34" charset="-122"/>
                </a:rPr>
                <a:t>图面清晰、整洁，便于看图</a:t>
              </a:r>
              <a:endParaRPr kumimoji="1" lang="zh-CN" altLang="en-US" sz="2400" dirty="0">
                <a:latin typeface="微软雅黑" panose="020B0503020204020204" pitchFamily="34" charset="-122"/>
                <a:ea typeface="微软雅黑" panose="020B0503020204020204" pitchFamily="34" charset="-122"/>
              </a:endParaRPr>
            </a:p>
          </p:txBody>
        </p:sp>
      </p:grpSp>
      <p:sp>
        <p:nvSpPr>
          <p:cNvPr id="9" name="Text Box 10"/>
          <p:cNvSpPr txBox="1">
            <a:spLocks noChangeArrowheads="1"/>
          </p:cNvSpPr>
          <p:nvPr/>
        </p:nvSpPr>
        <p:spPr bwMode="auto">
          <a:xfrm>
            <a:off x="1847528" y="5222016"/>
            <a:ext cx="8672727" cy="830997"/>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defPPr>
              <a:defRPr lang="zh-CN"/>
            </a:defPPr>
            <a:lvl1pPr>
              <a:defRPr sz="2400" b="1">
                <a:solidFill>
                  <a:schemeClr val="bg1"/>
                </a:solidFill>
                <a:latin typeface="黑体" panose="02010609060101010101" pitchFamily="2" charset="-122"/>
                <a:ea typeface="黑体" panose="02010609060101010101" pitchFamily="2" charset="-122"/>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恰当地选择视图，正确、完全、清晰地表达零件的形状结构，是学习零件图的一个主要内容。</a:t>
            </a:r>
            <a:endPar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0" name="矩形 1"/>
          <p:cNvSpPr>
            <a:spLocks noChangeArrowheads="1"/>
          </p:cNvSpPr>
          <p:nvPr/>
        </p:nvSpPr>
        <p:spPr bwMode="auto">
          <a:xfrm>
            <a:off x="1722841" y="4479547"/>
            <a:ext cx="34163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 typeface="Wingdings" panose="05000000000000000000" pitchFamily="2" charset="2"/>
              <a:buChar char="ü"/>
            </a:pPr>
            <a:r>
              <a:rPr lang="zh-CN" altLang="en-US" sz="2400" dirty="0">
                <a:solidFill>
                  <a:srgbClr val="C00000"/>
                </a:solidFill>
                <a:latin typeface="微软雅黑" panose="020B0503020204020204" pitchFamily="34" charset="-122"/>
                <a:ea typeface="微软雅黑" panose="020B0503020204020204" pitchFamily="34" charset="-122"/>
              </a:rPr>
              <a:t>便于绘图及标注尺寸</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11" name="Rectangle 63"/>
          <p:cNvSpPr>
            <a:spLocks noChangeArrowheads="1"/>
          </p:cNvSpPr>
          <p:nvPr/>
        </p:nvSpPr>
        <p:spPr bwMode="auto">
          <a:xfrm>
            <a:off x="508968" y="1817318"/>
            <a:ext cx="3135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fontAlgn="base" hangingPunct="0">
              <a:spcBef>
                <a:spcPts val="600"/>
              </a:spcBef>
              <a:spcAft>
                <a:spcPct val="0"/>
              </a:spcAft>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400" b="1" dirty="0">
                <a:solidFill>
                  <a:schemeClr val="accent6">
                    <a:lumMod val="75000"/>
                  </a:schemeClr>
                </a:solidFill>
                <a:latin typeface="微软雅黑" panose="020B0503020204020204" pitchFamily="34" charset="-122"/>
                <a:ea typeface="微软雅黑" panose="020B0503020204020204" pitchFamily="34" charset="-122"/>
              </a:rPr>
              <a:t>1</a:t>
            </a: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）视图选择的要求</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11" name="Text Box 87"/>
          <p:cNvSpPr txBox="1">
            <a:spLocks noChangeArrowheads="1"/>
          </p:cNvSpPr>
          <p:nvPr/>
        </p:nvSpPr>
        <p:spPr bwMode="auto">
          <a:xfrm>
            <a:off x="479376" y="1268089"/>
            <a:ext cx="42370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视图选择的要求和原则</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2" name="Text Box 10"/>
          <p:cNvSpPr txBox="1">
            <a:spLocks noChangeArrowheads="1"/>
          </p:cNvSpPr>
          <p:nvPr/>
        </p:nvSpPr>
        <p:spPr bwMode="auto">
          <a:xfrm>
            <a:off x="1847528" y="2492896"/>
            <a:ext cx="7473950" cy="497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 typeface="Wingdings" panose="05000000000000000000" pitchFamily="2" charset="2"/>
              <a:buChar char="ü"/>
            </a:pPr>
            <a:r>
              <a:rPr kumimoji="1" lang="zh-CN" altLang="en-US" sz="2400" dirty="0">
                <a:solidFill>
                  <a:srgbClr val="404040"/>
                </a:solidFill>
                <a:latin typeface="微软雅黑" panose="020B0503020204020204" pitchFamily="34" charset="-122"/>
                <a:ea typeface="微软雅黑" panose="020B0503020204020204" pitchFamily="34" charset="-122"/>
              </a:rPr>
              <a:t>应以反映零件信息量最大的那个视图作为主视图；</a:t>
            </a:r>
            <a:endParaRPr kumimoji="1" lang="zh-CN" altLang="en-US" sz="2400" dirty="0">
              <a:solidFill>
                <a:srgbClr val="404040"/>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1847528" y="3257265"/>
            <a:ext cx="7704857" cy="941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eaLnBrk="1" hangingPunct="1">
              <a:lnSpc>
                <a:spcPct val="120000"/>
              </a:lnSpc>
              <a:defRPr kumimoji="1" sz="2400" b="1">
                <a:solidFill>
                  <a:schemeClr val="tx1">
                    <a:lumMod val="75000"/>
                    <a:lumOff val="25000"/>
                  </a:schemeClr>
                </a:solidFill>
                <a:latin typeface="黑体" panose="02010609060101010101" pitchFamily="2" charset="-122"/>
                <a:ea typeface="黑体" panose="02010609060101010101" pitchFamily="2"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342900" marR="0" lvl="0" indent="-342900" defTabSz="914400" eaLnBrk="1" fontAlgn="base" latinLnBrk="0" hangingPunct="1">
              <a:lnSpc>
                <a:spcPct val="120000"/>
              </a:lnSpc>
              <a:spcBef>
                <a:spcPct val="0"/>
              </a:spcBef>
              <a:spcAft>
                <a:spcPct val="0"/>
              </a:spcAft>
              <a:buClrTx/>
              <a:buSzTx/>
              <a:buFont typeface="Wingdings" panose="05000000000000000000" pitchFamily="2" charset="2"/>
              <a:buChar char="ü"/>
              <a:defRPr/>
            </a:pPr>
            <a:r>
              <a:rPr kumimoji="1" lang="zh-CN" altLang="en-US" sz="2400" b="0" i="0" u="none" strike="noStrike" kern="0" cap="none" spc="0" normalizeH="0" baseline="0" noProof="0" dirty="0">
                <a:ln>
                  <a:noFill/>
                </a:ln>
                <a:solidFill>
                  <a:srgbClr val="000000">
                    <a:lumMod val="75000"/>
                    <a:lumOff val="25000"/>
                  </a:srgbClr>
                </a:solidFill>
                <a:uLnTx/>
                <a:uFillTx/>
                <a:latin typeface="微软雅黑" panose="020B0503020204020204" pitchFamily="34" charset="-122"/>
                <a:ea typeface="微软雅黑" panose="020B0503020204020204" pitchFamily="34" charset="-122"/>
              </a:rPr>
              <a:t>在满足要求的前提下，使视图（包括剖视图、断面图）的数量为最少，力求制图简便；</a:t>
            </a:r>
            <a:endParaRPr kumimoji="1" lang="zh-CN" altLang="en-US" sz="2400" b="0" i="0" u="none" strike="noStrike" kern="0" cap="none" spc="0" normalizeH="0" baseline="0" noProof="0" dirty="0">
              <a:ln>
                <a:noFill/>
              </a:ln>
              <a:solidFill>
                <a:srgbClr val="000000">
                  <a:lumMod val="75000"/>
                  <a:lumOff val="25000"/>
                </a:srgbClr>
              </a:solidFill>
              <a:uLnTx/>
              <a:uFillTx/>
              <a:latin typeface="微软雅黑" panose="020B0503020204020204" pitchFamily="34" charset="-122"/>
              <a:ea typeface="微软雅黑" panose="020B0503020204020204" pitchFamily="34" charset="-122"/>
            </a:endParaRPr>
          </a:p>
        </p:txBody>
      </p:sp>
      <p:sp>
        <p:nvSpPr>
          <p:cNvPr id="14" name="Text Box 12"/>
          <p:cNvSpPr txBox="1">
            <a:spLocks noChangeArrowheads="1"/>
          </p:cNvSpPr>
          <p:nvPr/>
        </p:nvSpPr>
        <p:spPr bwMode="auto">
          <a:xfrm>
            <a:off x="1847528" y="4464832"/>
            <a:ext cx="5455340" cy="497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 typeface="Wingdings" panose="05000000000000000000" pitchFamily="2" charset="2"/>
              <a:buChar char="ü"/>
            </a:pPr>
            <a:r>
              <a:rPr kumimoji="1" lang="zh-CN" altLang="en-US" sz="2400">
                <a:solidFill>
                  <a:srgbClr val="404040"/>
                </a:solidFill>
                <a:latin typeface="微软雅黑" panose="020B0503020204020204" pitchFamily="34" charset="-122"/>
                <a:ea typeface="微软雅黑" panose="020B0503020204020204" pitchFamily="34" charset="-122"/>
              </a:rPr>
              <a:t>尽量避免使用虚线表达零件的结构；</a:t>
            </a:r>
            <a:endParaRPr kumimoji="1" lang="zh-CN" altLang="en-US" sz="2400">
              <a:solidFill>
                <a:srgbClr val="404040"/>
              </a:solidFill>
              <a:latin typeface="微软雅黑" panose="020B0503020204020204" pitchFamily="34" charset="-122"/>
              <a:ea typeface="微软雅黑" panose="020B0503020204020204" pitchFamily="34" charset="-122"/>
            </a:endParaRPr>
          </a:p>
        </p:txBody>
      </p:sp>
      <p:sp>
        <p:nvSpPr>
          <p:cNvPr id="15" name="Text Box 13"/>
          <p:cNvSpPr txBox="1">
            <a:spLocks noChangeArrowheads="1"/>
          </p:cNvSpPr>
          <p:nvPr/>
        </p:nvSpPr>
        <p:spPr bwMode="auto">
          <a:xfrm>
            <a:off x="1847528" y="5229200"/>
            <a:ext cx="3916457" cy="497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 typeface="Wingdings" panose="05000000000000000000" pitchFamily="2" charset="2"/>
              <a:buChar char="ü"/>
            </a:pPr>
            <a:r>
              <a:rPr kumimoji="1" lang="zh-CN" altLang="en-US" sz="2400">
                <a:solidFill>
                  <a:srgbClr val="404040"/>
                </a:solidFill>
                <a:latin typeface="微软雅黑" panose="020B0503020204020204" pitchFamily="34" charset="-122"/>
                <a:ea typeface="微软雅黑" panose="020B0503020204020204" pitchFamily="34" charset="-122"/>
              </a:rPr>
              <a:t>避免不必要的细节重复。</a:t>
            </a:r>
            <a:endParaRPr kumimoji="1" lang="zh-CN" altLang="en-US" sz="2400">
              <a:solidFill>
                <a:srgbClr val="404040"/>
              </a:solidFill>
              <a:latin typeface="微软雅黑" panose="020B0503020204020204" pitchFamily="34" charset="-122"/>
              <a:ea typeface="微软雅黑" panose="020B0503020204020204" pitchFamily="34" charset="-122"/>
            </a:endParaRPr>
          </a:p>
        </p:txBody>
      </p:sp>
      <p:sp>
        <p:nvSpPr>
          <p:cNvPr id="18" name="Rectangle 63"/>
          <p:cNvSpPr>
            <a:spLocks noChangeArrowheads="1"/>
          </p:cNvSpPr>
          <p:nvPr/>
        </p:nvSpPr>
        <p:spPr bwMode="auto">
          <a:xfrm>
            <a:off x="508968" y="1817318"/>
            <a:ext cx="3135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fontAlgn="base" hangingPunct="0">
              <a:spcBef>
                <a:spcPts val="600"/>
              </a:spcBef>
              <a:spcAft>
                <a:spcPct val="0"/>
              </a:spcAft>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a:t>
            </a:r>
            <a:r>
              <a:rPr lang="en-US" altLang="zh-CN" sz="2400" b="1" dirty="0">
                <a:solidFill>
                  <a:schemeClr val="accent6">
                    <a:lumMod val="75000"/>
                  </a:schemeClr>
                </a:solidFill>
                <a:latin typeface="微软雅黑" panose="020B0503020204020204" pitchFamily="34" charset="-122"/>
                <a:ea typeface="微软雅黑" panose="020B0503020204020204" pitchFamily="34" charset="-122"/>
              </a:rPr>
              <a:t>2</a:t>
            </a: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）视图选择的原则</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视图选择的方法</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4" name="Text Box 12"/>
          <p:cNvSpPr txBox="1">
            <a:spLocks noChangeArrowheads="1"/>
          </p:cNvSpPr>
          <p:nvPr/>
        </p:nvSpPr>
        <p:spPr bwMode="auto">
          <a:xfrm>
            <a:off x="1559496" y="2535274"/>
            <a:ext cx="858163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0" hangingPunct="0">
              <a:buFont typeface="Wingdings" panose="05000000000000000000" pitchFamily="2" charset="2"/>
              <a:buChar char="ü"/>
              <a:defRPr sz="2400" b="1">
                <a:solidFill>
                  <a:srgbClr val="C00000"/>
                </a:solidFill>
                <a:latin typeface="黑体" panose="02010609060101010101" pitchFamily="2" charset="-122"/>
                <a:ea typeface="黑体" panose="02010609060101010101" pitchFamily="2"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457200" marR="0" lvl="0" indent="-457200" defTabSz="914400" eaLnBrk="1" fontAlgn="base" latinLnBrk="0" hangingPunct="1">
              <a:lnSpc>
                <a:spcPct val="120000"/>
              </a:lnSpc>
              <a:spcBef>
                <a:spcPct val="0"/>
              </a:spcBef>
              <a:spcAft>
                <a:spcPct val="0"/>
              </a:spcAft>
              <a:buClrTx/>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C00000"/>
                </a:solidFill>
                <a:uLnTx/>
                <a:uFillTx/>
                <a:latin typeface="微软雅黑" panose="020B0503020204020204" pitchFamily="34" charset="-122"/>
                <a:ea typeface="微软雅黑" panose="020B0503020204020204" pitchFamily="34" charset="-122"/>
              </a:rPr>
              <a:t>功能分析</a:t>
            </a:r>
            <a:r>
              <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rPr>
              <a:t>－分析零件的功能、工作状态、定位方法。</a:t>
            </a:r>
            <a:endPar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endParaRPr>
          </a:p>
        </p:txBody>
      </p:sp>
      <p:sp>
        <p:nvSpPr>
          <p:cNvPr id="5" name="Text Box 13"/>
          <p:cNvSpPr txBox="1">
            <a:spLocks noChangeArrowheads="1"/>
          </p:cNvSpPr>
          <p:nvPr/>
        </p:nvSpPr>
        <p:spPr bwMode="auto">
          <a:xfrm>
            <a:off x="1559496" y="3368639"/>
            <a:ext cx="8558331" cy="9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0" hangingPunct="0">
              <a:buFont typeface="Wingdings" panose="05000000000000000000" pitchFamily="2" charset="2"/>
              <a:buChar char="ü"/>
              <a:defRPr sz="2400" b="1">
                <a:solidFill>
                  <a:srgbClr val="C00000"/>
                </a:solidFill>
                <a:latin typeface="黑体" panose="02010609060101010101" pitchFamily="2" charset="-122"/>
                <a:ea typeface="黑体" panose="02010609060101010101" pitchFamily="2"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457200" marR="0" lvl="0" indent="-457200" defTabSz="914400" eaLnBrk="1" fontAlgn="base" latinLnBrk="0" hangingPunct="1">
              <a:lnSpc>
                <a:spcPct val="120000"/>
              </a:lnSpc>
              <a:spcBef>
                <a:spcPct val="0"/>
              </a:spcBef>
              <a:spcAft>
                <a:spcPct val="0"/>
              </a:spcAft>
              <a:buClrTx/>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C00000"/>
                </a:solidFill>
                <a:uLnTx/>
                <a:uFillTx/>
                <a:latin typeface="微软雅黑" panose="020B0503020204020204" pitchFamily="34" charset="-122"/>
                <a:ea typeface="微软雅黑" panose="020B0503020204020204" pitchFamily="34" charset="-122"/>
              </a:rPr>
              <a:t>结构分析</a:t>
            </a:r>
            <a:r>
              <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rPr>
              <a:t>－分析零件的结构：由哪些基本形体构成，相互    </a:t>
            </a:r>
            <a:endParaRPr kumimoji="1" lang="en-US" altLang="zh-CN"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endParaRPr>
          </a:p>
          <a:p>
            <a:pPr marL="0" marR="0" lvl="0" indent="0" defTabSz="914400" eaLnBrk="1" fontAlgn="base" latinLnBrk="0" hangingPunct="1">
              <a:lnSpc>
                <a:spcPct val="120000"/>
              </a:lnSpc>
              <a:spcBef>
                <a:spcPct val="0"/>
              </a:spcBef>
              <a:spcAft>
                <a:spcPct val="0"/>
              </a:spcAft>
              <a:buClrTx/>
              <a:buSzTx/>
              <a:buNone/>
              <a:defRPr/>
            </a:pPr>
            <a:r>
              <a:rPr kumimoji="1" lang="en-US" altLang="zh-CN" b="0" kern="0" noProof="0" dirty="0">
                <a:solidFill>
                  <a:schemeClr val="tx1"/>
                </a:solidFill>
                <a:latin typeface="微软雅黑" panose="020B0503020204020204" pitchFamily="34" charset="-122"/>
                <a:ea typeface="微软雅黑" panose="020B0503020204020204" pitchFamily="34" charset="-122"/>
              </a:rPr>
              <a:t>                      </a:t>
            </a:r>
            <a:r>
              <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rPr>
              <a:t>关系如何？有哪些局部功能结构和工艺结构？</a:t>
            </a:r>
            <a:endPar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endParaRPr>
          </a:p>
        </p:txBody>
      </p:sp>
      <p:sp>
        <p:nvSpPr>
          <p:cNvPr id="6" name="Text Box 14"/>
          <p:cNvSpPr txBox="1">
            <a:spLocks noChangeArrowheads="1"/>
          </p:cNvSpPr>
          <p:nvPr/>
        </p:nvSpPr>
        <p:spPr bwMode="auto">
          <a:xfrm>
            <a:off x="1559496" y="4545691"/>
            <a:ext cx="8467078"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0" hangingPunct="0">
              <a:buFont typeface="Wingdings" panose="05000000000000000000" pitchFamily="2" charset="2"/>
              <a:buChar char="ü"/>
              <a:defRPr sz="2400" b="1">
                <a:solidFill>
                  <a:srgbClr val="C00000"/>
                </a:solidFill>
                <a:latin typeface="黑体" panose="02010609060101010101" pitchFamily="2" charset="-122"/>
                <a:ea typeface="黑体" panose="02010609060101010101" pitchFamily="2"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457200" marR="0" lvl="0" indent="-457200" defTabSz="914400" eaLnBrk="1" fontAlgn="base" latinLnBrk="0" hangingPunct="1">
              <a:lnSpc>
                <a:spcPct val="120000"/>
              </a:lnSpc>
              <a:spcBef>
                <a:spcPct val="0"/>
              </a:spcBef>
              <a:spcAft>
                <a:spcPct val="0"/>
              </a:spcAft>
              <a:buClrTx/>
              <a:buSzTx/>
              <a:buFont typeface="Wingdings" panose="05000000000000000000" pitchFamily="2" charset="2"/>
              <a:buChar char="ü"/>
              <a:defRPr/>
            </a:pPr>
            <a:r>
              <a:rPr kumimoji="0" lang="zh-CN" altLang="en-US" sz="2400" b="0" i="0" u="none" strike="noStrike" kern="0" cap="none" spc="0" normalizeH="0" baseline="0" noProof="0" dirty="0">
                <a:ln>
                  <a:noFill/>
                </a:ln>
                <a:solidFill>
                  <a:srgbClr val="C00000"/>
                </a:solidFill>
                <a:uLnTx/>
                <a:uFillTx/>
                <a:latin typeface="微软雅黑" panose="020B0503020204020204" pitchFamily="34" charset="-122"/>
                <a:ea typeface="微软雅黑" panose="020B0503020204020204" pitchFamily="34" charset="-122"/>
              </a:rPr>
              <a:t>加工分析</a:t>
            </a:r>
            <a:r>
              <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rPr>
              <a:t>－分析零件的制造过程、加工方法、</a:t>
            </a:r>
            <a:r>
              <a:rPr kumimoji="1" lang="zh-CN" altLang="en-US" sz="2400" b="0" i="0" u="none" strike="noStrike" kern="0" cap="none" spc="0" normalizeH="0" noProof="0" dirty="0">
                <a:ln>
                  <a:noFill/>
                </a:ln>
                <a:solidFill>
                  <a:schemeClr val="tx1"/>
                </a:solidFill>
                <a:uLnTx/>
                <a:uFillTx/>
                <a:latin typeface="微软雅黑" panose="020B0503020204020204" pitchFamily="34" charset="-122"/>
                <a:ea typeface="微软雅黑" panose="020B0503020204020204" pitchFamily="34" charset="-122"/>
              </a:rPr>
              <a:t> </a:t>
            </a:r>
            <a:r>
              <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rPr>
              <a:t>加工状态。</a:t>
            </a:r>
            <a:endParaRPr kumimoji="1" lang="zh-CN" altLang="en-US" sz="2400" b="0" i="0" u="none" strike="noStrike" kern="0" cap="none" spc="0" normalizeH="0" baseline="0" noProof="0" dirty="0">
              <a:ln>
                <a:noFill/>
              </a:ln>
              <a:solidFill>
                <a:schemeClr val="tx1"/>
              </a:solidFill>
              <a:uLnTx/>
              <a:uFillTx/>
              <a:latin typeface="微软雅黑" panose="020B0503020204020204" pitchFamily="34" charset="-122"/>
              <a:ea typeface="微软雅黑" panose="020B0503020204020204" pitchFamily="34" charset="-122"/>
            </a:endParaRPr>
          </a:p>
        </p:txBody>
      </p:sp>
      <p:sp>
        <p:nvSpPr>
          <p:cNvPr id="7" name="Text Box 4"/>
          <p:cNvSpPr txBox="1">
            <a:spLocks noChangeArrowheads="1"/>
          </p:cNvSpPr>
          <p:nvPr/>
        </p:nvSpPr>
        <p:spPr bwMode="auto">
          <a:xfrm>
            <a:off x="335360" y="1886067"/>
            <a:ext cx="22124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marL="0" indent="0">
              <a:buNone/>
            </a:pPr>
            <a:r>
              <a:rPr lang="zh-CN" altLang="en-US" sz="2400" b="1" dirty="0">
                <a:latin typeface="微软雅黑" panose="020B0503020204020204" pitchFamily="34" charset="-122"/>
                <a:ea typeface="微软雅黑" panose="020B0503020204020204" pitchFamily="34" charset="-122"/>
                <a:sym typeface="Monotype Sorts" pitchFamily="2" charset="2"/>
              </a:rPr>
              <a:t>（</a:t>
            </a:r>
            <a:r>
              <a:rPr lang="en-US" altLang="zh-CN" sz="2400" b="1" dirty="0">
                <a:latin typeface="微软雅黑" panose="020B0503020204020204" pitchFamily="34" charset="-122"/>
                <a:ea typeface="微软雅黑" panose="020B0503020204020204" pitchFamily="34" charset="-122"/>
                <a:sym typeface="Monotype Sorts" pitchFamily="2" charset="2"/>
              </a:rPr>
              <a:t>1</a:t>
            </a:r>
            <a:r>
              <a:rPr lang="zh-CN" altLang="en-US" sz="2400" b="1" dirty="0">
                <a:latin typeface="微软雅黑" panose="020B0503020204020204" pitchFamily="34" charset="-122"/>
                <a:ea typeface="微软雅黑" panose="020B0503020204020204" pitchFamily="34" charset="-122"/>
                <a:sym typeface="Monotype Sorts" pitchFamily="2" charset="2"/>
              </a:rPr>
              <a:t>）分析零件</a:t>
            </a:r>
            <a:endParaRPr lang="zh-CN" altLang="en-US" sz="2400" b="1" dirty="0">
              <a:latin typeface="微软雅黑" panose="020B0503020204020204" pitchFamily="34" charset="-122"/>
              <a:ea typeface="微软雅黑" panose="020B0503020204020204" pitchFamily="34" charset="-122"/>
              <a:sym typeface="Monotype Sorts"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视图选择的方法</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3" name="Rectangle 14"/>
          <p:cNvSpPr>
            <a:spLocks noChangeArrowheads="1"/>
          </p:cNvSpPr>
          <p:nvPr/>
        </p:nvSpPr>
        <p:spPr bwMode="auto">
          <a:xfrm>
            <a:off x="767408" y="4447168"/>
            <a:ext cx="6306535"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b="1" dirty="0">
                <a:solidFill>
                  <a:srgbClr val="000000"/>
                </a:solidFill>
                <a:latin typeface="微软雅黑" panose="020B0503020204020204" pitchFamily="34" charset="-122"/>
                <a:ea typeface="微软雅黑" panose="020B0503020204020204" pitchFamily="34" charset="-122"/>
              </a:rPr>
              <a:t>确定两个问题</a:t>
            </a:r>
            <a:r>
              <a:rPr kumimoji="1" lang="zh-CN" altLang="en-US" sz="2400" dirty="0">
                <a:solidFill>
                  <a:srgbClr val="000000"/>
                </a:solidFill>
                <a:latin typeface="微软雅黑" panose="020B0503020204020204" pitchFamily="34" charset="-122"/>
                <a:ea typeface="微软雅黑" panose="020B0503020204020204" pitchFamily="34" charset="-122"/>
              </a:rPr>
              <a:t>：零件的 </a:t>
            </a:r>
            <a:r>
              <a:rPr kumimoji="1" lang="zh-CN" altLang="en-US" sz="2400" dirty="0">
                <a:solidFill>
                  <a:srgbClr val="CC3300"/>
                </a:solidFill>
                <a:latin typeface="微软雅黑" panose="020B0503020204020204" pitchFamily="34" charset="-122"/>
                <a:ea typeface="微软雅黑" panose="020B0503020204020204" pitchFamily="34" charset="-122"/>
              </a:rPr>
              <a:t>摆放位置 </a:t>
            </a:r>
            <a:r>
              <a:rPr kumimoji="1" lang="zh-CN" altLang="en-US" sz="2400" dirty="0">
                <a:solidFill>
                  <a:srgbClr val="000000"/>
                </a:solidFill>
                <a:latin typeface="微软雅黑" panose="020B0503020204020204" pitchFamily="34" charset="-122"/>
                <a:ea typeface="微软雅黑" panose="020B0503020204020204" pitchFamily="34" charset="-122"/>
              </a:rPr>
              <a:t>和 </a:t>
            </a:r>
            <a:r>
              <a:rPr kumimoji="1" lang="zh-CN" altLang="en-US" sz="2400" dirty="0">
                <a:solidFill>
                  <a:srgbClr val="CC3300"/>
                </a:solidFill>
                <a:latin typeface="微软雅黑" panose="020B0503020204020204" pitchFamily="34" charset="-122"/>
                <a:ea typeface="微软雅黑" panose="020B0503020204020204" pitchFamily="34" charset="-122"/>
              </a:rPr>
              <a:t>投影方向</a:t>
            </a:r>
            <a:endParaRPr kumimoji="1" lang="zh-CN" altLang="en-US" sz="2400" dirty="0">
              <a:solidFill>
                <a:srgbClr val="CC3300"/>
              </a:solidFill>
              <a:latin typeface="微软雅黑" panose="020B0503020204020204" pitchFamily="34" charset="-122"/>
              <a:ea typeface="微软雅黑" panose="020B0503020204020204" pitchFamily="34" charset="-122"/>
            </a:endParaRPr>
          </a:p>
        </p:txBody>
      </p:sp>
      <p:sp>
        <p:nvSpPr>
          <p:cNvPr id="4" name="Rectangle 15"/>
          <p:cNvSpPr>
            <a:spLocks noChangeArrowheads="1"/>
          </p:cNvSpPr>
          <p:nvPr/>
        </p:nvSpPr>
        <p:spPr bwMode="auto">
          <a:xfrm>
            <a:off x="767408" y="3470032"/>
            <a:ext cx="7879080"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b="1" dirty="0">
                <a:solidFill>
                  <a:srgbClr val="000000"/>
                </a:solidFill>
                <a:latin typeface="微软雅黑" panose="020B0503020204020204" pitchFamily="34" charset="-122"/>
                <a:ea typeface="微软雅黑" panose="020B0503020204020204" pitchFamily="34" charset="-122"/>
              </a:rPr>
              <a:t>基本原则</a:t>
            </a:r>
            <a:r>
              <a:rPr kumimoji="1" lang="zh-CN" altLang="en-US" sz="2400" dirty="0">
                <a:solidFill>
                  <a:srgbClr val="000000"/>
                </a:solidFill>
                <a:latin typeface="微软雅黑" panose="020B0503020204020204" pitchFamily="34" charset="-122"/>
                <a:ea typeface="微软雅黑" panose="020B0503020204020204" pitchFamily="34" charset="-122"/>
              </a:rPr>
              <a:t>：以反映零件信息量最大的那个视图作为主视图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Rectangle 17"/>
          <p:cNvSpPr>
            <a:spLocks noChangeArrowheads="1"/>
          </p:cNvSpPr>
          <p:nvPr/>
        </p:nvSpPr>
        <p:spPr bwMode="auto">
          <a:xfrm>
            <a:off x="767408" y="2492896"/>
            <a:ext cx="11264622"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20000"/>
              </a:lnSpc>
              <a:spcBef>
                <a:spcPct val="0"/>
              </a:spcBef>
              <a:spcAft>
                <a:spcPct val="0"/>
              </a:spcAft>
              <a:defRPr/>
            </a:pPr>
            <a:r>
              <a:rPr kumimoji="1" lang="zh-CN" altLang="en-US" sz="2400" dirty="0">
                <a:solidFill>
                  <a:srgbClr val="000000"/>
                </a:solidFill>
                <a:latin typeface="微软雅黑" panose="020B0503020204020204" pitchFamily="34" charset="-122"/>
                <a:ea typeface="微软雅黑" panose="020B0503020204020204" pitchFamily="34" charset="-122"/>
              </a:rPr>
              <a:t>主视图是最重要的视图，表达零件时，应首先确定</a:t>
            </a:r>
            <a:r>
              <a:rPr kumimoji="1" lang="zh-CN" altLang="en-US" sz="2400" dirty="0">
                <a:solidFill>
                  <a:srgbClr val="000000">
                    <a:lumMod val="75000"/>
                    <a:lumOff val="25000"/>
                  </a:srgbClr>
                </a:solidFill>
                <a:latin typeface="微软雅黑" panose="020B0503020204020204" pitchFamily="34" charset="-122"/>
                <a:ea typeface="微软雅黑" panose="020B0503020204020204" pitchFamily="34" charset="-122"/>
              </a:rPr>
              <a:t>主视图</a:t>
            </a:r>
            <a:r>
              <a:rPr kumimoji="1" lang="zh-CN" altLang="en-US" sz="2400" dirty="0">
                <a:solidFill>
                  <a:srgbClr val="000000"/>
                </a:solidFill>
                <a:latin typeface="微软雅黑" panose="020B0503020204020204" pitchFamily="34" charset="-122"/>
                <a:ea typeface="微软雅黑" panose="020B0503020204020204" pitchFamily="34" charset="-122"/>
              </a:rPr>
              <a:t>，然后再确定其他视图。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7" name="Text Box 4"/>
          <p:cNvSpPr txBox="1">
            <a:spLocks noChangeArrowheads="1"/>
          </p:cNvSpPr>
          <p:nvPr/>
        </p:nvSpPr>
        <p:spPr bwMode="auto">
          <a:xfrm>
            <a:off x="335360" y="1886067"/>
            <a:ext cx="22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marL="0" indent="0">
              <a:buNone/>
            </a:pPr>
            <a:r>
              <a:rPr lang="zh-CN" altLang="en-US" sz="2400" b="1" dirty="0">
                <a:latin typeface="微软雅黑" panose="020B0503020204020204" pitchFamily="34" charset="-122"/>
                <a:ea typeface="微软雅黑" panose="020B0503020204020204" pitchFamily="34" charset="-122"/>
                <a:sym typeface="Monotype Sorts" pitchFamily="2" charset="2"/>
              </a:rPr>
              <a:t>（</a:t>
            </a:r>
            <a:r>
              <a:rPr lang="en-US" altLang="zh-CN" sz="2400" b="1" dirty="0">
                <a:latin typeface="微软雅黑" panose="020B0503020204020204" pitchFamily="34" charset="-122"/>
                <a:ea typeface="微软雅黑" panose="020B0503020204020204" pitchFamily="34" charset="-122"/>
                <a:sym typeface="Monotype Sorts" pitchFamily="2" charset="2"/>
              </a:rPr>
              <a:t>2</a:t>
            </a:r>
            <a:r>
              <a:rPr lang="zh-CN" altLang="en-US" sz="2400" b="1" dirty="0">
                <a:latin typeface="微软雅黑" panose="020B0503020204020204" pitchFamily="34" charset="-122"/>
                <a:ea typeface="微软雅黑" panose="020B0503020204020204" pitchFamily="34" charset="-122"/>
                <a:sym typeface="Monotype Sorts" pitchFamily="2" charset="2"/>
              </a:rPr>
              <a:t>）选主视图</a:t>
            </a:r>
            <a:endParaRPr lang="zh-CN" altLang="en-US" sz="2400" b="1" dirty="0">
              <a:latin typeface="微软雅黑" panose="020B0503020204020204" pitchFamily="34" charset="-122"/>
              <a:ea typeface="微软雅黑" panose="020B0503020204020204" pitchFamily="34" charset="-122"/>
              <a:sym typeface="Monotype Sorts"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视图选择的方法</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3" name="Text Box 5"/>
          <p:cNvSpPr txBox="1">
            <a:spLocks noChangeArrowheads="1"/>
          </p:cNvSpPr>
          <p:nvPr/>
        </p:nvSpPr>
        <p:spPr bwMode="auto">
          <a:xfrm>
            <a:off x="3451689" y="2112893"/>
            <a:ext cx="2339102"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a:solidFill>
                  <a:srgbClr val="000000"/>
                </a:solidFill>
                <a:latin typeface="微软雅黑" panose="020B0503020204020204" pitchFamily="34" charset="-122"/>
                <a:ea typeface="微软雅黑" panose="020B0503020204020204" pitchFamily="34" charset="-122"/>
              </a:rPr>
              <a:t>零件的摆放位置</a:t>
            </a:r>
            <a:endParaRPr kumimoji="1" lang="zh-CN" altLang="en-US" sz="2400">
              <a:solidFill>
                <a:srgbClr val="000000"/>
              </a:solidFill>
              <a:latin typeface="微软雅黑" panose="020B0503020204020204" pitchFamily="34" charset="-122"/>
              <a:ea typeface="微软雅黑" panose="020B0503020204020204" pitchFamily="34" charset="-122"/>
            </a:endParaRPr>
          </a:p>
        </p:txBody>
      </p:sp>
      <p:sp>
        <p:nvSpPr>
          <p:cNvPr id="4" name="Text Box 6"/>
          <p:cNvSpPr txBox="1">
            <a:spLocks noChangeArrowheads="1"/>
          </p:cNvSpPr>
          <p:nvPr/>
        </p:nvSpPr>
        <p:spPr bwMode="auto">
          <a:xfrm>
            <a:off x="6250199" y="1559557"/>
            <a:ext cx="3353803"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en-US" altLang="zh-CN" sz="2400">
                <a:solidFill>
                  <a:srgbClr val="000000"/>
                </a:solidFill>
                <a:latin typeface="微软雅黑" panose="020B0503020204020204" pitchFamily="34" charset="-122"/>
                <a:ea typeface="微软雅黑" panose="020B0503020204020204" pitchFamily="34" charset="-122"/>
              </a:rPr>
              <a:t> </a:t>
            </a:r>
            <a:r>
              <a:rPr kumimoji="1" lang="zh-CN" altLang="en-US" sz="2400">
                <a:solidFill>
                  <a:srgbClr val="000000"/>
                </a:solidFill>
                <a:latin typeface="微软雅黑" panose="020B0503020204020204" pitchFamily="34" charset="-122"/>
                <a:ea typeface="微软雅黑" panose="020B0503020204020204" pitchFamily="34" charset="-122"/>
              </a:rPr>
              <a:t>加工位置（轴、盘类）</a:t>
            </a:r>
            <a:endParaRPr kumimoji="1" lang="zh-CN" altLang="en-US" sz="2400">
              <a:solidFill>
                <a:srgbClr val="000000"/>
              </a:solidFill>
              <a:latin typeface="微软雅黑" panose="020B0503020204020204" pitchFamily="34" charset="-122"/>
              <a:ea typeface="微软雅黑" panose="020B0503020204020204" pitchFamily="34" charset="-122"/>
            </a:endParaRPr>
          </a:p>
        </p:txBody>
      </p:sp>
      <p:sp>
        <p:nvSpPr>
          <p:cNvPr id="5" name="Text Box 7"/>
          <p:cNvSpPr txBox="1">
            <a:spLocks noChangeArrowheads="1"/>
          </p:cNvSpPr>
          <p:nvPr/>
        </p:nvSpPr>
        <p:spPr bwMode="auto">
          <a:xfrm>
            <a:off x="6252302" y="2583154"/>
            <a:ext cx="3969356"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工作位置（支架、壳体类）</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6" name="AutoShape 8"/>
          <p:cNvSpPr/>
          <p:nvPr/>
        </p:nvSpPr>
        <p:spPr bwMode="auto">
          <a:xfrm>
            <a:off x="5979555" y="1808536"/>
            <a:ext cx="269875" cy="1050925"/>
          </a:xfrm>
          <a:prstGeom prst="leftBrace">
            <a:avLst>
              <a:gd name="adj1" fmla="val 32451"/>
              <a:gd name="adj2" fmla="val 50000"/>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80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7" name="Picture 10" descr="车轴"/>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149036" y="4039957"/>
            <a:ext cx="3835400" cy="1317625"/>
          </a:xfrm>
          <a:prstGeom prst="rect">
            <a:avLst/>
          </a:prstGeom>
          <a:noFill/>
          <a:ln>
            <a:noFill/>
          </a:ln>
          <a:effectLst>
            <a:glow rad="228600">
              <a:srgbClr val="FFFF00">
                <a:alpha val="40000"/>
              </a:srgbClr>
            </a:glow>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12"/>
          <p:cNvGrpSpPr/>
          <p:nvPr/>
        </p:nvGrpSpPr>
        <p:grpSpPr bwMode="auto">
          <a:xfrm>
            <a:off x="6485603" y="3460147"/>
            <a:ext cx="1627188" cy="904875"/>
            <a:chOff x="4268" y="2016"/>
            <a:chExt cx="1025" cy="570"/>
          </a:xfrm>
        </p:grpSpPr>
        <p:sp>
          <p:nvSpPr>
            <p:cNvPr id="9" name="Text Box 13"/>
            <p:cNvSpPr txBox="1">
              <a:spLocks noChangeArrowheads="1"/>
            </p:cNvSpPr>
            <p:nvPr/>
          </p:nvSpPr>
          <p:spPr bwMode="auto">
            <a:xfrm>
              <a:off x="4528" y="2016"/>
              <a:ext cx="7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工件旋转</a:t>
              </a:r>
              <a:endParaRPr kumimoji="1"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 name="Line 14"/>
            <p:cNvSpPr>
              <a:spLocks noChangeShapeType="1"/>
            </p:cNvSpPr>
            <p:nvPr/>
          </p:nvSpPr>
          <p:spPr bwMode="auto">
            <a:xfrm flipV="1">
              <a:off x="4268" y="2262"/>
              <a:ext cx="324" cy="324"/>
            </a:xfrm>
            <a:prstGeom prst="line">
              <a:avLst/>
            </a:prstGeom>
            <a:noFill/>
            <a:ln w="19050">
              <a:solidFill>
                <a:srgbClr val="333399"/>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1" name="Freeform 15"/>
            <p:cNvSpPr/>
            <p:nvPr/>
          </p:nvSpPr>
          <p:spPr bwMode="auto">
            <a:xfrm>
              <a:off x="4580" y="2271"/>
              <a:ext cx="713" cy="1"/>
            </a:xfrm>
            <a:custGeom>
              <a:avLst/>
              <a:gdLst>
                <a:gd name="T0" fmla="*/ 0 w 713"/>
                <a:gd name="T1" fmla="*/ 0 h 1"/>
                <a:gd name="T2" fmla="*/ 713 w 713"/>
                <a:gd name="T3" fmla="*/ 0 h 1"/>
                <a:gd name="T4" fmla="*/ 0 60000 65536"/>
                <a:gd name="T5" fmla="*/ 0 60000 65536"/>
              </a:gdLst>
              <a:ahLst/>
              <a:cxnLst>
                <a:cxn ang="T4">
                  <a:pos x="T0" y="T1"/>
                </a:cxn>
                <a:cxn ang="T5">
                  <a:pos x="T2" y="T3"/>
                </a:cxn>
              </a:cxnLst>
              <a:rect l="0" t="0" r="r" b="b"/>
              <a:pathLst>
                <a:path w="713" h="1">
                  <a:moveTo>
                    <a:pt x="0" y="0"/>
                  </a:moveTo>
                  <a:lnTo>
                    <a:pt x="713" y="0"/>
                  </a:lnTo>
                </a:path>
              </a:pathLst>
            </a:custGeom>
            <a:noFill/>
            <a:ln w="19050" cmpd="sng">
              <a:solidFill>
                <a:srgbClr val="333399"/>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2" name="Group 16"/>
          <p:cNvGrpSpPr/>
          <p:nvPr/>
        </p:nvGrpSpPr>
        <p:grpSpPr bwMode="auto">
          <a:xfrm>
            <a:off x="7023766" y="5333397"/>
            <a:ext cx="1166812" cy="609600"/>
            <a:chOff x="4612" y="3006"/>
            <a:chExt cx="735" cy="384"/>
          </a:xfrm>
        </p:grpSpPr>
        <p:sp>
          <p:nvSpPr>
            <p:cNvPr id="13" name="Text Box 17"/>
            <p:cNvSpPr txBox="1">
              <a:spLocks noChangeArrowheads="1"/>
            </p:cNvSpPr>
            <p:nvPr/>
          </p:nvSpPr>
          <p:spPr bwMode="auto">
            <a:xfrm>
              <a:off x="4908" y="3118"/>
              <a:ext cx="43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车床</a:t>
              </a:r>
              <a:endParaRPr kumimoji="1"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4" name="Line 18"/>
            <p:cNvSpPr>
              <a:spLocks noChangeShapeType="1"/>
            </p:cNvSpPr>
            <p:nvPr/>
          </p:nvSpPr>
          <p:spPr bwMode="auto">
            <a:xfrm>
              <a:off x="4612" y="3006"/>
              <a:ext cx="384" cy="384"/>
            </a:xfrm>
            <a:prstGeom prst="line">
              <a:avLst/>
            </a:prstGeom>
            <a:noFill/>
            <a:ln w="19050">
              <a:solidFill>
                <a:srgbClr val="333399"/>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Line 19"/>
            <p:cNvSpPr>
              <a:spLocks noChangeShapeType="1"/>
            </p:cNvSpPr>
            <p:nvPr/>
          </p:nvSpPr>
          <p:spPr bwMode="auto">
            <a:xfrm>
              <a:off x="4984" y="3378"/>
              <a:ext cx="360" cy="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17" name="AutoShape 20"/>
          <p:cNvSpPr>
            <a:spLocks noChangeArrowheads="1"/>
          </p:cNvSpPr>
          <p:nvPr/>
        </p:nvSpPr>
        <p:spPr bwMode="auto">
          <a:xfrm>
            <a:off x="5671216" y="4118960"/>
            <a:ext cx="395287" cy="200025"/>
          </a:xfrm>
          <a:prstGeom prst="curvedDownArrow">
            <a:avLst>
              <a:gd name="adj1" fmla="val 39871"/>
              <a:gd name="adj2" fmla="val 79048"/>
              <a:gd name="adj3" fmla="val 33333"/>
            </a:avLst>
          </a:prstGeom>
          <a:solidFill>
            <a:srgbClr val="FF33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Line 21"/>
          <p:cNvSpPr>
            <a:spLocks noChangeShapeType="1"/>
          </p:cNvSpPr>
          <p:nvPr/>
        </p:nvSpPr>
        <p:spPr bwMode="auto">
          <a:xfrm flipH="1">
            <a:off x="5537866" y="4714272"/>
            <a:ext cx="361950" cy="0"/>
          </a:xfrm>
          <a:prstGeom prst="line">
            <a:avLst/>
          </a:prstGeom>
          <a:noFill/>
          <a:ln w="3810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sz="1600">
              <a:solidFill>
                <a:srgbClr val="000000"/>
              </a:solidFill>
              <a:latin typeface="微软雅黑" panose="020B0503020204020204" pitchFamily="34" charset="-122"/>
              <a:ea typeface="微软雅黑" panose="020B0503020204020204" pitchFamily="34" charset="-122"/>
            </a:endParaRPr>
          </a:p>
        </p:txBody>
      </p:sp>
      <p:grpSp>
        <p:nvGrpSpPr>
          <p:cNvPr id="19" name="Group 22"/>
          <p:cNvGrpSpPr/>
          <p:nvPr/>
        </p:nvGrpSpPr>
        <p:grpSpPr bwMode="auto">
          <a:xfrm>
            <a:off x="4064666" y="4698397"/>
            <a:ext cx="1803400" cy="1285875"/>
            <a:chOff x="2748" y="2606"/>
            <a:chExt cx="1136" cy="810"/>
          </a:xfrm>
        </p:grpSpPr>
        <p:sp>
          <p:nvSpPr>
            <p:cNvPr id="20" name="Text Box 23"/>
            <p:cNvSpPr txBox="1">
              <a:spLocks noChangeArrowheads="1"/>
            </p:cNvSpPr>
            <p:nvPr/>
          </p:nvSpPr>
          <p:spPr bwMode="auto">
            <a:xfrm>
              <a:off x="2769" y="3138"/>
              <a:ext cx="7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车刀移动</a:t>
              </a:r>
              <a:endParaRPr kumimoji="1" lang="zh-CN" altLang="en-US" sz="20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24"/>
            <p:cNvSpPr>
              <a:spLocks noChangeShapeType="1"/>
            </p:cNvSpPr>
            <p:nvPr/>
          </p:nvSpPr>
          <p:spPr bwMode="auto">
            <a:xfrm flipH="1">
              <a:off x="3535" y="2606"/>
              <a:ext cx="349" cy="810"/>
            </a:xfrm>
            <a:prstGeom prst="line">
              <a:avLst/>
            </a:prstGeom>
            <a:noFill/>
            <a:ln w="19050">
              <a:solidFill>
                <a:srgbClr val="333399"/>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25"/>
            <p:cNvSpPr>
              <a:spLocks noChangeShapeType="1"/>
            </p:cNvSpPr>
            <p:nvPr/>
          </p:nvSpPr>
          <p:spPr bwMode="auto">
            <a:xfrm flipH="1">
              <a:off x="2748" y="3408"/>
              <a:ext cx="804" cy="0"/>
            </a:xfrm>
            <a:prstGeom prst="line">
              <a:avLst/>
            </a:prstGeom>
            <a:noFill/>
            <a:ln w="19050">
              <a:solidFill>
                <a:srgbClr val="333399"/>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23" name="Picture 26"/>
          <p:cNvPicPr>
            <a:picLocks noChangeAspect="1" noChangeArrowheads="1"/>
          </p:cNvPicPr>
          <p:nvPr/>
        </p:nvPicPr>
        <p:blipFill>
          <a:blip r:embed="rId2">
            <a:extLst>
              <a:ext uri="{28A0092B-C50C-407E-A947-70E740481C1C}">
                <a14:useLocalDpi xmlns:a14="http://schemas.microsoft.com/office/drawing/2010/main" val="0"/>
              </a:ext>
            </a:extLst>
          </a:blip>
          <a:srcRect l="33749" t="32001" r="30501" b="43666"/>
          <a:stretch>
            <a:fillRect/>
          </a:stretch>
        </p:blipFill>
        <p:spPr bwMode="auto">
          <a:xfrm>
            <a:off x="479376" y="4039957"/>
            <a:ext cx="2952452" cy="150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 Box 4"/>
          <p:cNvSpPr txBox="1">
            <a:spLocks noChangeArrowheads="1"/>
          </p:cNvSpPr>
          <p:nvPr/>
        </p:nvSpPr>
        <p:spPr bwMode="auto">
          <a:xfrm>
            <a:off x="335360" y="1886067"/>
            <a:ext cx="22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marL="0" indent="0">
              <a:buNone/>
            </a:pPr>
            <a:r>
              <a:rPr lang="zh-CN" altLang="en-US" sz="2400" b="1" dirty="0">
                <a:latin typeface="微软雅黑" panose="020B0503020204020204" pitchFamily="34" charset="-122"/>
                <a:ea typeface="微软雅黑" panose="020B0503020204020204" pitchFamily="34" charset="-122"/>
                <a:sym typeface="Monotype Sorts" pitchFamily="2" charset="2"/>
              </a:rPr>
              <a:t>（</a:t>
            </a:r>
            <a:r>
              <a:rPr lang="en-US" altLang="zh-CN" sz="2400" b="1" dirty="0">
                <a:latin typeface="微软雅黑" panose="020B0503020204020204" pitchFamily="34" charset="-122"/>
                <a:ea typeface="微软雅黑" panose="020B0503020204020204" pitchFamily="34" charset="-122"/>
                <a:sym typeface="Monotype Sorts" pitchFamily="2" charset="2"/>
              </a:rPr>
              <a:t>2</a:t>
            </a:r>
            <a:r>
              <a:rPr lang="zh-CN" altLang="en-US" sz="2400" b="1" dirty="0">
                <a:latin typeface="微软雅黑" panose="020B0503020204020204" pitchFamily="34" charset="-122"/>
                <a:ea typeface="微软雅黑" panose="020B0503020204020204" pitchFamily="34" charset="-122"/>
                <a:sym typeface="Monotype Sorts" pitchFamily="2" charset="2"/>
              </a:rPr>
              <a:t>）选主视图</a:t>
            </a:r>
            <a:endParaRPr lang="zh-CN" altLang="en-US" sz="2400" b="1" dirty="0">
              <a:latin typeface="微软雅黑" panose="020B0503020204020204" pitchFamily="34" charset="-122"/>
              <a:ea typeface="微软雅黑" panose="020B0503020204020204" pitchFamily="34" charset="-122"/>
              <a:sym typeface="Monotype Sorts" pitchFamily="2" charset="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2742" y="3641933"/>
            <a:ext cx="3057306" cy="21966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right)">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par>
                          <p:cTn id="36" fill="hold">
                            <p:stCondLst>
                              <p:cond delay="500"/>
                            </p:stCondLst>
                            <p:childTnLst>
                              <p:par>
                                <p:cTn id="37" presetID="22" presetClass="entr" presetSubtype="2"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righ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right)">
                                      <p:cBhvr>
                                        <p:cTn id="44" dur="500"/>
                                        <p:tgtEl>
                                          <p:spTgt spid="18"/>
                                        </p:tgtEl>
                                      </p:cBhvr>
                                    </p:animEffect>
                                  </p:childTnLst>
                                </p:cTn>
                              </p:par>
                            </p:childTnLst>
                          </p:cTn>
                        </p:par>
                        <p:par>
                          <p:cTn id="45" fill="hold">
                            <p:stCondLst>
                              <p:cond delay="500"/>
                            </p:stCondLst>
                            <p:childTnLst>
                              <p:par>
                                <p:cTn id="46" presetID="22" presetClass="entr" presetSubtype="4" fill="hold"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down)">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026"/>
                                        </p:tgtEl>
                                        <p:attrNameLst>
                                          <p:attrName>style.visibility</p:attrName>
                                        </p:attrNameLst>
                                      </p:cBhvr>
                                      <p:to>
                                        <p:strVal val="visible"/>
                                      </p:to>
                                    </p:set>
                                    <p:animEffect transition="in" filter="fade">
                                      <p:cBhvr>
                                        <p:cTn id="53" dur="500"/>
                                        <p:tgtEl>
                                          <p:spTgt spid="102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left)">
                                      <p:cBhvr>
                                        <p:cTn id="5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P spid="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视图选择的方法</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3" name="Text Box 11"/>
          <p:cNvSpPr txBox="1">
            <a:spLocks noChangeArrowheads="1"/>
          </p:cNvSpPr>
          <p:nvPr/>
        </p:nvSpPr>
        <p:spPr bwMode="auto">
          <a:xfrm>
            <a:off x="1487488" y="5256532"/>
            <a:ext cx="5344395" cy="799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轴类、盘类零件工作状态多样，但其主要加工过程在车床上进行，轴线均为水平放置</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4" name="Rectangle 14"/>
          <p:cNvSpPr>
            <a:spLocks noChangeArrowheads="1"/>
          </p:cNvSpPr>
          <p:nvPr/>
        </p:nvSpPr>
        <p:spPr bwMode="auto">
          <a:xfrm>
            <a:off x="7248128" y="3242838"/>
            <a:ext cx="3105150" cy="1847850"/>
          </a:xfrm>
          <a:prstGeom prst="rect">
            <a:avLst/>
          </a:prstGeom>
          <a:solidFill>
            <a:srgbClr val="FFFFFF"/>
          </a:solidFill>
          <a:ln>
            <a:noFill/>
          </a:ln>
          <a:effectLst/>
          <a:extLst>
            <a:ext uri="{91240B29-F687-4F45-9708-019B960494DF}">
              <a14:hiddenLine xmlns:a14="http://schemas.microsoft.com/office/drawing/2010/main" w="9525">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a typeface="+mn-ea"/>
            </a:endParaRPr>
          </a:p>
        </p:txBody>
      </p:sp>
      <p:sp>
        <p:nvSpPr>
          <p:cNvPr id="5" name="Text Box 15"/>
          <p:cNvSpPr txBox="1">
            <a:spLocks noChangeArrowheads="1"/>
          </p:cNvSpPr>
          <p:nvPr/>
        </p:nvSpPr>
        <p:spPr bwMode="auto">
          <a:xfrm>
            <a:off x="7934134" y="2295693"/>
            <a:ext cx="2516423"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按工作位置放置选择主视图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6" name="Text Box 39"/>
          <p:cNvSpPr txBox="1">
            <a:spLocks noChangeArrowheads="1"/>
          </p:cNvSpPr>
          <p:nvPr/>
        </p:nvSpPr>
        <p:spPr bwMode="auto">
          <a:xfrm>
            <a:off x="2639616" y="2295693"/>
            <a:ext cx="3584598"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按加工位置轴线水平放置选择主视图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7" name="Text Box 40"/>
          <p:cNvSpPr txBox="1">
            <a:spLocks noChangeArrowheads="1"/>
          </p:cNvSpPr>
          <p:nvPr/>
        </p:nvSpPr>
        <p:spPr bwMode="auto">
          <a:xfrm>
            <a:off x="7392145" y="5296499"/>
            <a:ext cx="3600400" cy="799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lnSpc>
                <a:spcPct val="120000"/>
              </a:lnSpc>
              <a:buFontTx/>
              <a:buNone/>
              <a:defRPr kumimoji="1" sz="2200">
                <a:solidFill>
                  <a:srgbClr val="000000"/>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sz="2000" dirty="0"/>
              <a:t>支架类、箱体类零件加工工序较多，一般按工作位置放置</a:t>
            </a:r>
            <a:endParaRPr lang="zh-CN" altLang="en-US" sz="2000" dirty="0"/>
          </a:p>
        </p:txBody>
      </p:sp>
      <p:grpSp>
        <p:nvGrpSpPr>
          <p:cNvPr id="8" name="Group 14"/>
          <p:cNvGrpSpPr/>
          <p:nvPr/>
        </p:nvGrpSpPr>
        <p:grpSpPr bwMode="auto">
          <a:xfrm>
            <a:off x="7785026" y="3392578"/>
            <a:ext cx="2814638" cy="1893887"/>
            <a:chOff x="3623" y="869"/>
            <a:chExt cx="1773" cy="1193"/>
          </a:xfrm>
        </p:grpSpPr>
        <p:pic>
          <p:nvPicPr>
            <p:cNvPr id="9"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9" y="869"/>
              <a:ext cx="1667"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6"/>
            <p:cNvSpPr>
              <a:spLocks noChangeArrowheads="1"/>
            </p:cNvSpPr>
            <p:nvPr/>
          </p:nvSpPr>
          <p:spPr bwMode="auto">
            <a:xfrm>
              <a:off x="3623" y="1853"/>
              <a:ext cx="334" cy="20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a:ln>
                  <a:noFill/>
                </a:ln>
                <a:solidFill>
                  <a:srgbClr val="000000"/>
                </a:solidFill>
                <a:effectLst/>
                <a:uLnTx/>
                <a:uFillTx/>
                <a:latin typeface="+mn-ea"/>
                <a:ea typeface="+mn-ea"/>
              </a:endParaRPr>
            </a:p>
          </p:txBody>
        </p:sp>
        <p:sp>
          <p:nvSpPr>
            <p:cNvPr id="11" name="Rectangle 17"/>
            <p:cNvSpPr>
              <a:spLocks noChangeArrowheads="1"/>
            </p:cNvSpPr>
            <p:nvPr/>
          </p:nvSpPr>
          <p:spPr bwMode="auto">
            <a:xfrm>
              <a:off x="4959" y="1803"/>
              <a:ext cx="267" cy="15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a:ln>
                  <a:noFill/>
                </a:ln>
                <a:solidFill>
                  <a:srgbClr val="000000"/>
                </a:solidFill>
                <a:effectLst/>
                <a:uLnTx/>
                <a:uFillTx/>
                <a:latin typeface="+mn-ea"/>
                <a:ea typeface="+mn-ea"/>
              </a:endParaRPr>
            </a:p>
          </p:txBody>
        </p:sp>
      </p:grpSp>
      <p:pic>
        <p:nvPicPr>
          <p:cNvPr id="12" name="Picture 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7646" y="3396755"/>
            <a:ext cx="12795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91544" y="3804743"/>
            <a:ext cx="2663825"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 Box 4"/>
          <p:cNvSpPr txBox="1">
            <a:spLocks noChangeArrowheads="1"/>
          </p:cNvSpPr>
          <p:nvPr/>
        </p:nvSpPr>
        <p:spPr bwMode="auto">
          <a:xfrm>
            <a:off x="335360" y="1886067"/>
            <a:ext cx="22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marL="0" indent="0">
              <a:buNone/>
            </a:pPr>
            <a:r>
              <a:rPr lang="zh-CN" altLang="en-US" sz="2400" b="1" dirty="0">
                <a:latin typeface="微软雅黑" panose="020B0503020204020204" pitchFamily="34" charset="-122"/>
                <a:ea typeface="微软雅黑" panose="020B0503020204020204" pitchFamily="34" charset="-122"/>
                <a:sym typeface="Monotype Sorts" pitchFamily="2" charset="2"/>
              </a:rPr>
              <a:t>（</a:t>
            </a:r>
            <a:r>
              <a:rPr lang="en-US" altLang="zh-CN" sz="2400" b="1" dirty="0">
                <a:latin typeface="微软雅黑" panose="020B0503020204020204" pitchFamily="34" charset="-122"/>
                <a:ea typeface="微软雅黑" panose="020B0503020204020204" pitchFamily="34" charset="-122"/>
                <a:sym typeface="Monotype Sorts" pitchFamily="2" charset="2"/>
              </a:rPr>
              <a:t>2</a:t>
            </a:r>
            <a:r>
              <a:rPr lang="zh-CN" altLang="en-US" sz="2400" b="1" dirty="0">
                <a:latin typeface="微软雅黑" panose="020B0503020204020204" pitchFamily="34" charset="-122"/>
                <a:ea typeface="微软雅黑" panose="020B0503020204020204" pitchFamily="34" charset="-122"/>
                <a:sym typeface="Monotype Sorts" pitchFamily="2" charset="2"/>
              </a:rPr>
              <a:t>）选主视图</a:t>
            </a:r>
            <a:endParaRPr lang="zh-CN" altLang="en-US" sz="2400" b="1" dirty="0">
              <a:latin typeface="微软雅黑" panose="020B0503020204020204" pitchFamily="34" charset="-122"/>
              <a:ea typeface="微软雅黑" panose="020B0503020204020204" pitchFamily="34" charset="-122"/>
              <a:sym typeface="Monotype Sorts"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视图选择的方法</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3" name="Rectangle 12"/>
          <p:cNvSpPr>
            <a:spLocks noChangeArrowheads="1"/>
          </p:cNvSpPr>
          <p:nvPr/>
        </p:nvSpPr>
        <p:spPr bwMode="auto">
          <a:xfrm>
            <a:off x="7608168" y="4187658"/>
            <a:ext cx="3105150" cy="1847850"/>
          </a:xfrm>
          <a:prstGeom prst="rect">
            <a:avLst/>
          </a:prstGeom>
          <a:solidFill>
            <a:srgbClr val="FFFFFF"/>
          </a:solidFill>
          <a:ln>
            <a:noFill/>
          </a:ln>
          <a:effectLst/>
          <a:extLst>
            <a:ext uri="{91240B29-F687-4F45-9708-019B960494DF}">
              <a14:hiddenLine xmlns:a14="http://schemas.microsoft.com/office/drawing/2010/main" w="9525">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a:ln>
                <a:noFill/>
              </a:ln>
              <a:solidFill>
                <a:srgbClr val="000000"/>
              </a:solidFill>
              <a:effectLst/>
              <a:uLnTx/>
              <a:uFillTx/>
              <a:latin typeface="+mn-ea"/>
              <a:ea typeface="+mn-ea"/>
            </a:endParaRPr>
          </a:p>
        </p:txBody>
      </p:sp>
      <p:grpSp>
        <p:nvGrpSpPr>
          <p:cNvPr id="4" name="Group 14"/>
          <p:cNvGrpSpPr/>
          <p:nvPr/>
        </p:nvGrpSpPr>
        <p:grpSpPr bwMode="auto">
          <a:xfrm>
            <a:off x="7458943" y="3963821"/>
            <a:ext cx="2814638" cy="1893887"/>
            <a:chOff x="3623" y="869"/>
            <a:chExt cx="1773" cy="1193"/>
          </a:xfrm>
        </p:grpSpPr>
        <p:pic>
          <p:nvPicPr>
            <p:cNvPr id="5"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9" y="869"/>
              <a:ext cx="1667"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6"/>
            <p:cNvSpPr>
              <a:spLocks noChangeArrowheads="1"/>
            </p:cNvSpPr>
            <p:nvPr/>
          </p:nvSpPr>
          <p:spPr bwMode="auto">
            <a:xfrm>
              <a:off x="3623" y="1853"/>
              <a:ext cx="334" cy="20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a:ln>
                  <a:noFill/>
                </a:ln>
                <a:solidFill>
                  <a:srgbClr val="000000"/>
                </a:solidFill>
                <a:effectLst/>
                <a:uLnTx/>
                <a:uFillTx/>
                <a:latin typeface="+mn-ea"/>
                <a:ea typeface="+mn-ea"/>
              </a:endParaRPr>
            </a:p>
          </p:txBody>
        </p:sp>
        <p:sp>
          <p:nvSpPr>
            <p:cNvPr id="7" name="Rectangle 17"/>
            <p:cNvSpPr>
              <a:spLocks noChangeArrowheads="1"/>
            </p:cNvSpPr>
            <p:nvPr/>
          </p:nvSpPr>
          <p:spPr bwMode="auto">
            <a:xfrm>
              <a:off x="4959" y="1803"/>
              <a:ext cx="267" cy="15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i="0" u="none" strike="noStrike" kern="0" cap="none" spc="0" normalizeH="0" baseline="0" noProof="0">
                <a:ln>
                  <a:noFill/>
                </a:ln>
                <a:solidFill>
                  <a:srgbClr val="000000"/>
                </a:solidFill>
                <a:effectLst/>
                <a:uLnTx/>
                <a:uFillTx/>
                <a:latin typeface="+mn-ea"/>
                <a:ea typeface="+mn-ea"/>
              </a:endParaRPr>
            </a:p>
          </p:txBody>
        </p:sp>
      </p:grpSp>
      <p:grpSp>
        <p:nvGrpSpPr>
          <p:cNvPr id="8" name="Group 26"/>
          <p:cNvGrpSpPr/>
          <p:nvPr/>
        </p:nvGrpSpPr>
        <p:grpSpPr bwMode="auto">
          <a:xfrm>
            <a:off x="7621662" y="5428290"/>
            <a:ext cx="2563813" cy="412750"/>
            <a:chOff x="3682" y="2879"/>
            <a:chExt cx="1615" cy="260"/>
          </a:xfrm>
        </p:grpSpPr>
        <p:sp>
          <p:nvSpPr>
            <p:cNvPr id="9" name="Line 27"/>
            <p:cNvSpPr>
              <a:spLocks noChangeShapeType="1"/>
            </p:cNvSpPr>
            <p:nvPr/>
          </p:nvSpPr>
          <p:spPr bwMode="auto">
            <a:xfrm flipV="1">
              <a:off x="3682" y="2992"/>
              <a:ext cx="247" cy="14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mn-ea"/>
              </a:endParaRPr>
            </a:p>
          </p:txBody>
        </p:sp>
        <p:sp>
          <p:nvSpPr>
            <p:cNvPr id="10" name="Line 28"/>
            <p:cNvSpPr>
              <a:spLocks noChangeShapeType="1"/>
            </p:cNvSpPr>
            <p:nvPr/>
          </p:nvSpPr>
          <p:spPr bwMode="auto">
            <a:xfrm flipH="1" flipV="1">
              <a:off x="5069" y="2879"/>
              <a:ext cx="228" cy="14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mn-ea"/>
              </a:endParaRPr>
            </a:p>
          </p:txBody>
        </p:sp>
      </p:grpSp>
      <p:sp>
        <p:nvSpPr>
          <p:cNvPr id="11" name="Text Box 29"/>
          <p:cNvSpPr txBox="1">
            <a:spLocks noChangeArrowheads="1"/>
          </p:cNvSpPr>
          <p:nvPr/>
        </p:nvSpPr>
        <p:spPr bwMode="auto">
          <a:xfrm>
            <a:off x="6837046" y="566165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CC0000"/>
                </a:solidFill>
                <a:latin typeface="+mn-ea"/>
                <a:ea typeface="+mn-ea"/>
              </a:rPr>
              <a:t>不佳</a:t>
            </a:r>
            <a:endParaRPr kumimoji="1" lang="zh-CN" altLang="en-US" sz="2400" dirty="0">
              <a:solidFill>
                <a:srgbClr val="CC0000"/>
              </a:solidFill>
              <a:latin typeface="+mn-ea"/>
              <a:ea typeface="+mn-ea"/>
            </a:endParaRPr>
          </a:p>
        </p:txBody>
      </p:sp>
      <p:sp>
        <p:nvSpPr>
          <p:cNvPr id="12" name="Text Box 30"/>
          <p:cNvSpPr txBox="1">
            <a:spLocks noChangeArrowheads="1"/>
          </p:cNvSpPr>
          <p:nvPr/>
        </p:nvSpPr>
        <p:spPr bwMode="auto">
          <a:xfrm>
            <a:off x="10140260" y="5566847"/>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CC0000"/>
                </a:solidFill>
                <a:latin typeface="+mn-ea"/>
                <a:ea typeface="+mn-ea"/>
              </a:rPr>
              <a:t>佳</a:t>
            </a:r>
            <a:endParaRPr kumimoji="1" lang="zh-CN" altLang="en-US" sz="2400" dirty="0">
              <a:solidFill>
                <a:srgbClr val="CC0000"/>
              </a:solidFill>
              <a:latin typeface="+mn-ea"/>
              <a:ea typeface="+mn-ea"/>
            </a:endParaRPr>
          </a:p>
        </p:txBody>
      </p:sp>
      <p:sp>
        <p:nvSpPr>
          <p:cNvPr id="13" name="Text Box 10"/>
          <p:cNvSpPr txBox="1">
            <a:spLocks noChangeArrowheads="1"/>
          </p:cNvSpPr>
          <p:nvPr/>
        </p:nvSpPr>
        <p:spPr bwMode="auto">
          <a:xfrm>
            <a:off x="1611300" y="5636409"/>
            <a:ext cx="34496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dirty="0">
                <a:solidFill>
                  <a:srgbClr val="000000"/>
                </a:solidFill>
                <a:latin typeface="+mn-ea"/>
                <a:ea typeface="+mn-ea"/>
              </a:rPr>
              <a:t>    </a:t>
            </a:r>
            <a:r>
              <a:rPr kumimoji="1" lang="zh-CN" altLang="en-US" sz="2400" dirty="0">
                <a:solidFill>
                  <a:srgbClr val="000000"/>
                </a:solidFill>
                <a:latin typeface="+mn-ea"/>
                <a:ea typeface="+mn-ea"/>
              </a:rPr>
              <a:t>轴类、盘类零件</a:t>
            </a:r>
            <a:endParaRPr kumimoji="1" lang="zh-CN" altLang="en-US" sz="2400" dirty="0">
              <a:solidFill>
                <a:srgbClr val="000000"/>
              </a:solidFill>
              <a:latin typeface="+mn-ea"/>
              <a:ea typeface="+mn-ea"/>
            </a:endParaRPr>
          </a:p>
        </p:txBody>
      </p:sp>
      <p:sp>
        <p:nvSpPr>
          <p:cNvPr id="14" name="Text Box 11"/>
          <p:cNvSpPr txBox="1">
            <a:spLocks noChangeArrowheads="1"/>
          </p:cNvSpPr>
          <p:nvPr/>
        </p:nvSpPr>
        <p:spPr bwMode="auto">
          <a:xfrm>
            <a:off x="839416" y="2411966"/>
            <a:ext cx="10341293"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投射方向：以能最明显、充分地反映零件结构形状特征的方向为投射方向。</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5" name="Text Box 13"/>
          <p:cNvSpPr txBox="1">
            <a:spLocks noChangeArrowheads="1"/>
          </p:cNvSpPr>
          <p:nvPr/>
        </p:nvSpPr>
        <p:spPr bwMode="auto">
          <a:xfrm>
            <a:off x="6610827" y="3010299"/>
            <a:ext cx="4767952" cy="870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200" dirty="0">
                <a:solidFill>
                  <a:srgbClr val="000000"/>
                </a:solidFill>
                <a:latin typeface="微软雅黑" panose="020B0503020204020204" pitchFamily="34" charset="-122"/>
                <a:ea typeface="微软雅黑" panose="020B0503020204020204" pitchFamily="34" charset="-122"/>
              </a:rPr>
              <a:t>注意综合分析比较，选取能充分反映零件结构形状特征的方向为投射方向</a:t>
            </a:r>
            <a:endParaRPr kumimoji="1" lang="zh-CN" altLang="en-US" sz="2200" dirty="0">
              <a:solidFill>
                <a:srgbClr val="000000"/>
              </a:solidFill>
              <a:latin typeface="微软雅黑" panose="020B0503020204020204" pitchFamily="34" charset="-122"/>
              <a:ea typeface="微软雅黑" panose="020B0503020204020204" pitchFamily="34" charset="-122"/>
            </a:endParaRPr>
          </a:p>
        </p:txBody>
      </p:sp>
      <p:sp>
        <p:nvSpPr>
          <p:cNvPr id="17" name="Text Box 18"/>
          <p:cNvSpPr txBox="1">
            <a:spLocks noChangeArrowheads="1"/>
          </p:cNvSpPr>
          <p:nvPr/>
        </p:nvSpPr>
        <p:spPr bwMode="auto">
          <a:xfrm>
            <a:off x="1631504" y="3035181"/>
            <a:ext cx="3852337" cy="46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200" dirty="0">
                <a:solidFill>
                  <a:srgbClr val="000000"/>
                </a:solidFill>
                <a:latin typeface="微软雅黑" panose="020B0503020204020204" pitchFamily="34" charset="-122"/>
                <a:ea typeface="微软雅黑" panose="020B0503020204020204" pitchFamily="34" charset="-122"/>
              </a:rPr>
              <a:t>以垂直于轴线方向为投射方向</a:t>
            </a:r>
            <a:endParaRPr kumimoji="1" lang="zh-CN" altLang="en-US" sz="2200" dirty="0">
              <a:solidFill>
                <a:srgbClr val="000000"/>
              </a:solidFill>
              <a:latin typeface="微软雅黑" panose="020B0503020204020204" pitchFamily="34" charset="-122"/>
              <a:ea typeface="微软雅黑" panose="020B0503020204020204" pitchFamily="34" charset="-122"/>
            </a:endParaRPr>
          </a:p>
        </p:txBody>
      </p:sp>
      <p:pic>
        <p:nvPicPr>
          <p:cNvPr id="18" name="Picture 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59989" y="3557421"/>
            <a:ext cx="12795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22"/>
          <p:cNvGrpSpPr/>
          <p:nvPr/>
        </p:nvGrpSpPr>
        <p:grpSpPr bwMode="auto">
          <a:xfrm>
            <a:off x="2551814" y="5027446"/>
            <a:ext cx="1973262" cy="420687"/>
            <a:chOff x="1125" y="2849"/>
            <a:chExt cx="1243" cy="265"/>
          </a:xfrm>
        </p:grpSpPr>
        <p:sp>
          <p:nvSpPr>
            <p:cNvPr id="20" name="Line 23"/>
            <p:cNvSpPr>
              <a:spLocks noChangeShapeType="1"/>
            </p:cNvSpPr>
            <p:nvPr/>
          </p:nvSpPr>
          <p:spPr bwMode="auto">
            <a:xfrm flipV="1">
              <a:off x="1125" y="2849"/>
              <a:ext cx="0" cy="265"/>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mn-ea"/>
              </a:endParaRPr>
            </a:p>
          </p:txBody>
        </p:sp>
        <p:sp>
          <p:nvSpPr>
            <p:cNvPr id="21" name="Line 24"/>
            <p:cNvSpPr>
              <a:spLocks noChangeShapeType="1"/>
            </p:cNvSpPr>
            <p:nvPr/>
          </p:nvSpPr>
          <p:spPr bwMode="auto">
            <a:xfrm flipV="1">
              <a:off x="2185" y="2902"/>
              <a:ext cx="183" cy="174"/>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400">
                <a:solidFill>
                  <a:srgbClr val="000000"/>
                </a:solidFill>
                <a:latin typeface="+mn-ea"/>
              </a:endParaRPr>
            </a:p>
          </p:txBody>
        </p:sp>
      </p:grpSp>
      <p:pic>
        <p:nvPicPr>
          <p:cNvPr id="22" name="Picture 3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77064" y="3933658"/>
            <a:ext cx="2663825"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 Box 4"/>
          <p:cNvSpPr txBox="1">
            <a:spLocks noChangeArrowheads="1"/>
          </p:cNvSpPr>
          <p:nvPr/>
        </p:nvSpPr>
        <p:spPr bwMode="auto">
          <a:xfrm>
            <a:off x="335360" y="1886067"/>
            <a:ext cx="22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marL="0" indent="0">
              <a:buNone/>
            </a:pPr>
            <a:r>
              <a:rPr lang="zh-CN" altLang="en-US" sz="2400" b="1" dirty="0">
                <a:latin typeface="微软雅黑" panose="020B0503020204020204" pitchFamily="34" charset="-122"/>
                <a:ea typeface="微软雅黑" panose="020B0503020204020204" pitchFamily="34" charset="-122"/>
                <a:sym typeface="Monotype Sorts" pitchFamily="2" charset="2"/>
              </a:rPr>
              <a:t>（</a:t>
            </a:r>
            <a:r>
              <a:rPr lang="en-US" altLang="zh-CN" sz="2400" b="1" dirty="0">
                <a:latin typeface="微软雅黑" panose="020B0503020204020204" pitchFamily="34" charset="-122"/>
                <a:ea typeface="微软雅黑" panose="020B0503020204020204" pitchFamily="34" charset="-122"/>
                <a:sym typeface="Monotype Sorts" pitchFamily="2" charset="2"/>
              </a:rPr>
              <a:t>2</a:t>
            </a:r>
            <a:r>
              <a:rPr lang="zh-CN" altLang="en-US" sz="2400" b="1" dirty="0">
                <a:latin typeface="微软雅黑" panose="020B0503020204020204" pitchFamily="34" charset="-122"/>
                <a:ea typeface="微软雅黑" panose="020B0503020204020204" pitchFamily="34" charset="-122"/>
                <a:sym typeface="Monotype Sorts" pitchFamily="2" charset="2"/>
              </a:rPr>
              <a:t>）选主视图</a:t>
            </a:r>
            <a:endParaRPr lang="zh-CN" altLang="en-US" sz="2400" b="1" dirty="0">
              <a:latin typeface="微软雅黑" panose="020B0503020204020204" pitchFamily="34" charset="-122"/>
              <a:ea typeface="微软雅黑" panose="020B0503020204020204" pitchFamily="34" charset="-122"/>
              <a:sym typeface="Monotype Sorts"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652512" y="1196752"/>
            <a:ext cx="2031325"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主视图画法：</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nvGrpSpPr>
          <p:cNvPr id="3" name="Group 4"/>
          <p:cNvGrpSpPr/>
          <p:nvPr/>
        </p:nvGrpSpPr>
        <p:grpSpPr bwMode="auto">
          <a:xfrm>
            <a:off x="7547568" y="2008050"/>
            <a:ext cx="2814637" cy="1893888"/>
            <a:chOff x="3623" y="869"/>
            <a:chExt cx="1773" cy="1193"/>
          </a:xfrm>
        </p:grpSpPr>
        <p:pic>
          <p:nvPicPr>
            <p:cNvPr id="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9" y="869"/>
              <a:ext cx="1667"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6"/>
            <p:cNvSpPr>
              <a:spLocks noChangeArrowheads="1"/>
            </p:cNvSpPr>
            <p:nvPr/>
          </p:nvSpPr>
          <p:spPr bwMode="auto">
            <a:xfrm>
              <a:off x="3623" y="1853"/>
              <a:ext cx="334" cy="20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a typeface="+mn-ea"/>
              </a:endParaRPr>
            </a:p>
          </p:txBody>
        </p:sp>
        <p:sp>
          <p:nvSpPr>
            <p:cNvPr id="6" name="Rectangle 7"/>
            <p:cNvSpPr>
              <a:spLocks noChangeArrowheads="1"/>
            </p:cNvSpPr>
            <p:nvPr/>
          </p:nvSpPr>
          <p:spPr bwMode="auto">
            <a:xfrm>
              <a:off x="4959" y="1803"/>
              <a:ext cx="267" cy="15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a typeface="+mn-ea"/>
              </a:endParaRPr>
            </a:p>
          </p:txBody>
        </p:sp>
      </p:grpSp>
      <p:pic>
        <p:nvPicPr>
          <p:cNvPr id="7"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0569" y="1918320"/>
            <a:ext cx="12795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11"/>
          <p:cNvSpPr>
            <a:spLocks noChangeShapeType="1"/>
          </p:cNvSpPr>
          <p:nvPr/>
        </p:nvSpPr>
        <p:spPr bwMode="auto">
          <a:xfrm flipV="1">
            <a:off x="2999442" y="3264181"/>
            <a:ext cx="0" cy="4206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10" name="Line 12"/>
          <p:cNvSpPr>
            <a:spLocks noChangeShapeType="1"/>
          </p:cNvSpPr>
          <p:nvPr/>
        </p:nvSpPr>
        <p:spPr bwMode="auto">
          <a:xfrm flipV="1">
            <a:off x="4844117" y="3416581"/>
            <a:ext cx="290512" cy="276224"/>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11" name="Line 13"/>
          <p:cNvSpPr>
            <a:spLocks noChangeShapeType="1"/>
          </p:cNvSpPr>
          <p:nvPr/>
        </p:nvSpPr>
        <p:spPr bwMode="auto">
          <a:xfrm flipH="1" flipV="1">
            <a:off x="9841505" y="3479662"/>
            <a:ext cx="419100" cy="252413"/>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pic>
        <p:nvPicPr>
          <p:cNvPr id="12"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2760" y="5035210"/>
            <a:ext cx="27733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3912" y="4481480"/>
            <a:ext cx="974725"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6"/>
          <p:cNvPicPr>
            <a:picLocks noChangeAspect="1" noChangeArrowheads="1"/>
          </p:cNvPicPr>
          <p:nvPr/>
        </p:nvPicPr>
        <p:blipFill>
          <a:blip r:embed="rId5">
            <a:extLst>
              <a:ext uri="{28A0092B-C50C-407E-A947-70E740481C1C}">
                <a14:useLocalDpi xmlns:a14="http://schemas.microsoft.com/office/drawing/2010/main" val="0"/>
              </a:ext>
            </a:extLst>
          </a:blip>
          <a:srcRect l="36606"/>
          <a:stretch>
            <a:fillRect/>
          </a:stretch>
        </p:blipFill>
        <p:spPr bwMode="auto">
          <a:xfrm>
            <a:off x="7811687" y="4812672"/>
            <a:ext cx="3149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7"/>
          <p:cNvSpPr txBox="1">
            <a:spLocks noChangeArrowheads="1"/>
          </p:cNvSpPr>
          <p:nvPr/>
        </p:nvSpPr>
        <p:spPr bwMode="auto">
          <a:xfrm>
            <a:off x="2394147" y="4142118"/>
            <a:ext cx="1210588"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表达外形</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17" name="Text Box 18"/>
          <p:cNvSpPr txBox="1">
            <a:spLocks noChangeArrowheads="1"/>
          </p:cNvSpPr>
          <p:nvPr/>
        </p:nvSpPr>
        <p:spPr bwMode="auto">
          <a:xfrm>
            <a:off x="2495601" y="1196752"/>
            <a:ext cx="8784976"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根据零件的功能、结构形状特征选择图样画法，最大限度地反映零件的信息。</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8" name="Text Box 19"/>
          <p:cNvSpPr txBox="1">
            <a:spLocks noChangeArrowheads="1"/>
          </p:cNvSpPr>
          <p:nvPr/>
        </p:nvSpPr>
        <p:spPr bwMode="auto">
          <a:xfrm>
            <a:off x="4238246" y="3725520"/>
            <a:ext cx="2871569" cy="799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取沿轴线剖切的全视图表达轴孔、螺栓孔</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19" name="Text Box 20"/>
          <p:cNvSpPr txBox="1">
            <a:spLocks noChangeArrowheads="1"/>
          </p:cNvSpPr>
          <p:nvPr/>
        </p:nvSpPr>
        <p:spPr bwMode="auto">
          <a:xfrm>
            <a:off x="7812680" y="3957452"/>
            <a:ext cx="3395888" cy="799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取沿对称平面剖切的全视图表达内部结构</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pic>
        <p:nvPicPr>
          <p:cNvPr id="20" name="Picture 28"/>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68429" y="2387257"/>
            <a:ext cx="2663825"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p:bldP spid="18"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Text Box 8"/>
          <p:cNvSpPr txBox="1">
            <a:spLocks noChangeArrowheads="1"/>
          </p:cNvSpPr>
          <p:nvPr/>
        </p:nvSpPr>
        <p:spPr bwMode="auto">
          <a:xfrm>
            <a:off x="800249" y="2330064"/>
            <a:ext cx="10591502"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      主视图确定后，应逐一分析、检查仍未表达清楚的部分，选择其他视图和图样画法完全表达之。</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4" name="Rectangle 10"/>
          <p:cNvSpPr>
            <a:spLocks noChangeArrowheads="1"/>
          </p:cNvSpPr>
          <p:nvPr/>
        </p:nvSpPr>
        <p:spPr bwMode="auto">
          <a:xfrm>
            <a:off x="1077468" y="4207165"/>
            <a:ext cx="10203108"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fontAlgn="base">
              <a:lnSpc>
                <a:spcPct val="120000"/>
              </a:lnSpc>
              <a:spcBef>
                <a:spcPct val="0"/>
              </a:spcBef>
              <a:spcAft>
                <a:spcPct val="0"/>
              </a:spcAft>
              <a:buFont typeface="Wingdings" panose="05000000000000000000" pitchFamily="2" charset="2"/>
              <a:buChar char="ü"/>
              <a:defRPr/>
            </a:pPr>
            <a:r>
              <a:rPr kumimoji="1" lang="zh-CN" altLang="en-US" sz="2400" dirty="0">
                <a:solidFill>
                  <a:srgbClr val="000000"/>
                </a:solidFill>
                <a:latin typeface="微软雅黑" panose="020B0503020204020204" pitchFamily="34" charset="-122"/>
                <a:ea typeface="微软雅黑" panose="020B0503020204020204" pitchFamily="34" charset="-122"/>
              </a:rPr>
              <a:t>首先分析主体结构是否表达完全，并应采用基本视图表达之，优先选择俯视图、左视图。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Text Box 11"/>
          <p:cNvSpPr txBox="1">
            <a:spLocks noChangeArrowheads="1"/>
          </p:cNvSpPr>
          <p:nvPr/>
        </p:nvSpPr>
        <p:spPr bwMode="auto">
          <a:xfrm>
            <a:off x="949196" y="3496888"/>
            <a:ext cx="5380037" cy="519112"/>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800" dirty="0">
                <a:ln w="0"/>
                <a:latin typeface="微软雅黑" panose="020B0503020204020204" pitchFamily="34" charset="-122"/>
                <a:ea typeface="微软雅黑" panose="020B0503020204020204" pitchFamily="34" charset="-122"/>
              </a:rPr>
              <a:t>选择其他视图时应注意的问题</a:t>
            </a:r>
            <a:endParaRPr kumimoji="1" lang="zh-CN" altLang="en-US" sz="2800" dirty="0">
              <a:ln w="0"/>
              <a:latin typeface="微软雅黑" panose="020B0503020204020204" pitchFamily="34" charset="-122"/>
              <a:ea typeface="微软雅黑" panose="020B0503020204020204" pitchFamily="34" charset="-122"/>
            </a:endParaRPr>
          </a:p>
        </p:txBody>
      </p:sp>
      <p:sp>
        <p:nvSpPr>
          <p:cNvPr id="6" name="Rectangle 12"/>
          <p:cNvSpPr>
            <a:spLocks noChangeArrowheads="1"/>
          </p:cNvSpPr>
          <p:nvPr/>
        </p:nvSpPr>
        <p:spPr bwMode="auto">
          <a:xfrm>
            <a:off x="1077468" y="5323638"/>
            <a:ext cx="6070893"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再分析次要结构，选择适宜的表达方法。</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7" name="Text Box 87"/>
          <p:cNvSpPr txBox="1">
            <a:spLocks noChangeArrowheads="1"/>
          </p:cNvSpPr>
          <p:nvPr/>
        </p:nvSpPr>
        <p:spPr bwMode="auto">
          <a:xfrm>
            <a:off x="479376" y="126808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eaLnBrk="1" fontAlgn="base" hangingPunct="1">
              <a:spcBef>
                <a:spcPct val="0"/>
              </a:spcBef>
              <a:spcAft>
                <a:spcPct val="0"/>
              </a:spcAft>
              <a:buFont typeface="Wingdings" panose="05000000000000000000" pitchFamily="2" charset="2"/>
              <a:buChar char="n"/>
            </a:pPr>
            <a:r>
              <a:rPr lang="zh-CN" altLang="en-US" sz="2800" b="1" dirty="0">
                <a:solidFill>
                  <a:srgbClr val="000000"/>
                </a:solidFill>
                <a:latin typeface="微软雅黑" panose="020B0503020204020204" pitchFamily="34" charset="-122"/>
                <a:ea typeface="微软雅黑" panose="020B0503020204020204" pitchFamily="34" charset="-122"/>
              </a:rPr>
              <a:t>视图选择的方法</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8" name="Text Box 4"/>
          <p:cNvSpPr txBox="1">
            <a:spLocks noChangeArrowheads="1"/>
          </p:cNvSpPr>
          <p:nvPr/>
        </p:nvSpPr>
        <p:spPr bwMode="auto">
          <a:xfrm>
            <a:off x="335360" y="1886067"/>
            <a:ext cx="22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marL="0" indent="0">
              <a:buNone/>
            </a:pPr>
            <a:r>
              <a:rPr lang="zh-CN" altLang="en-US" sz="2400" b="1" dirty="0">
                <a:latin typeface="微软雅黑" panose="020B0503020204020204" pitchFamily="34" charset="-122"/>
                <a:ea typeface="微软雅黑" panose="020B0503020204020204" pitchFamily="34" charset="-122"/>
                <a:sym typeface="Monotype Sorts" pitchFamily="2" charset="2"/>
              </a:rPr>
              <a:t>（</a:t>
            </a:r>
            <a:r>
              <a:rPr lang="en-US" altLang="zh-CN" sz="2400" b="1" dirty="0">
                <a:latin typeface="微软雅黑" panose="020B0503020204020204" pitchFamily="34" charset="-122"/>
                <a:ea typeface="微软雅黑" panose="020B0503020204020204" pitchFamily="34" charset="-122"/>
                <a:sym typeface="Monotype Sorts" pitchFamily="2" charset="2"/>
              </a:rPr>
              <a:t>3</a:t>
            </a:r>
            <a:r>
              <a:rPr lang="zh-CN" altLang="en-US" sz="2400" b="1" dirty="0">
                <a:latin typeface="微软雅黑" panose="020B0503020204020204" pitchFamily="34" charset="-122"/>
                <a:ea typeface="微软雅黑" panose="020B0503020204020204" pitchFamily="34" charset="-122"/>
                <a:sym typeface="Monotype Sorts" pitchFamily="2" charset="2"/>
              </a:rPr>
              <a:t>）其它视图</a:t>
            </a:r>
            <a:endParaRPr lang="zh-CN" altLang="en-US" sz="2400" b="1" dirty="0">
              <a:latin typeface="微软雅黑" panose="020B0503020204020204" pitchFamily="34" charset="-122"/>
              <a:ea typeface="微软雅黑" panose="020B0503020204020204" pitchFamily="34" charset="-122"/>
              <a:sym typeface="Monotype Sorts"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2" name="Group 10"/>
          <p:cNvGrpSpPr/>
          <p:nvPr/>
        </p:nvGrpSpPr>
        <p:grpSpPr bwMode="auto">
          <a:xfrm>
            <a:off x="7773510" y="1456571"/>
            <a:ext cx="2814638" cy="1893888"/>
            <a:chOff x="3623" y="869"/>
            <a:chExt cx="1773" cy="1193"/>
          </a:xfrm>
        </p:grpSpPr>
        <p:pic>
          <p:nvPicPr>
            <p:cNvPr id="3"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9" y="869"/>
              <a:ext cx="1667"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2"/>
            <p:cNvSpPr>
              <a:spLocks noChangeArrowheads="1"/>
            </p:cNvSpPr>
            <p:nvPr/>
          </p:nvSpPr>
          <p:spPr bwMode="auto">
            <a:xfrm>
              <a:off x="3623" y="1853"/>
              <a:ext cx="334" cy="20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 name="Rectangle 13"/>
            <p:cNvSpPr>
              <a:spLocks noChangeArrowheads="1"/>
            </p:cNvSpPr>
            <p:nvPr/>
          </p:nvSpPr>
          <p:spPr bwMode="auto">
            <a:xfrm>
              <a:off x="4959" y="1803"/>
              <a:ext cx="267" cy="15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6"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3830" y="3584615"/>
            <a:ext cx="3868737"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6"/>
          <p:cNvPicPr>
            <a:picLocks noChangeAspect="1" noChangeArrowheads="1"/>
          </p:cNvPicPr>
          <p:nvPr/>
        </p:nvPicPr>
        <p:blipFill>
          <a:blip r:embed="rId3">
            <a:extLst>
              <a:ext uri="{28A0092B-C50C-407E-A947-70E740481C1C}">
                <a14:useLocalDpi xmlns:a14="http://schemas.microsoft.com/office/drawing/2010/main" val="0"/>
              </a:ext>
            </a:extLst>
          </a:blip>
          <a:srcRect l="36606"/>
          <a:stretch>
            <a:fillRect/>
          </a:stretch>
        </p:blipFill>
        <p:spPr bwMode="auto">
          <a:xfrm>
            <a:off x="7640971" y="4131467"/>
            <a:ext cx="3149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7617" y="3251240"/>
            <a:ext cx="4044950" cy="283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9"/>
          <p:cNvSpPr>
            <a:spLocks noChangeArrowheads="1"/>
          </p:cNvSpPr>
          <p:nvPr/>
        </p:nvSpPr>
        <p:spPr bwMode="auto">
          <a:xfrm>
            <a:off x="213816" y="1194961"/>
            <a:ext cx="1620957"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rPr>
              <a:t>实例分析</a:t>
            </a:r>
            <a:endParaRPr kumimoji="1" lang="zh-CN" altLang="en-US" sz="2800" b="1" i="0" u="none" strike="noStrike" kern="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endParaRPr>
          </a:p>
        </p:txBody>
      </p:sp>
      <p:sp>
        <p:nvSpPr>
          <p:cNvPr id="10" name="Text Box 35"/>
          <p:cNvSpPr txBox="1">
            <a:spLocks noChangeArrowheads="1"/>
          </p:cNvSpPr>
          <p:nvPr/>
        </p:nvSpPr>
        <p:spPr bwMode="auto">
          <a:xfrm>
            <a:off x="1361087" y="5216075"/>
            <a:ext cx="19849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还需表达键槽及键槽轴段的断面</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grpSp>
        <p:nvGrpSpPr>
          <p:cNvPr id="11" name="Group 36"/>
          <p:cNvGrpSpPr/>
          <p:nvPr/>
        </p:nvGrpSpPr>
        <p:grpSpPr bwMode="auto">
          <a:xfrm>
            <a:off x="2353555" y="3224253"/>
            <a:ext cx="1268412" cy="685800"/>
            <a:chOff x="389" y="2015"/>
            <a:chExt cx="799" cy="432"/>
          </a:xfrm>
        </p:grpSpPr>
        <p:sp>
          <p:nvSpPr>
            <p:cNvPr id="12" name="Text Box 37"/>
            <p:cNvSpPr txBox="1">
              <a:spLocks noChangeArrowheads="1"/>
            </p:cNvSpPr>
            <p:nvPr/>
          </p:nvSpPr>
          <p:spPr bwMode="auto">
            <a:xfrm>
              <a:off x="389" y="2015"/>
              <a:ext cx="767"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微软雅黑" panose="020B0503020204020204" pitchFamily="34" charset="-122"/>
                  <a:ea typeface="微软雅黑" panose="020B0503020204020204" pitchFamily="34" charset="-122"/>
                </a:rPr>
                <a:t>局部剖视</a:t>
              </a:r>
              <a:endParaRPr kumimoji="1" lang="zh-CN" altLang="en-US" sz="2000">
                <a:solidFill>
                  <a:srgbClr val="000000"/>
                </a:solidFill>
                <a:latin typeface="微软雅黑" panose="020B0503020204020204" pitchFamily="34" charset="-122"/>
                <a:ea typeface="微软雅黑" panose="020B0503020204020204" pitchFamily="34" charset="-122"/>
              </a:endParaRPr>
            </a:p>
          </p:txBody>
        </p:sp>
        <p:sp>
          <p:nvSpPr>
            <p:cNvPr id="13" name="Line 38"/>
            <p:cNvSpPr>
              <a:spLocks noChangeShapeType="1"/>
            </p:cNvSpPr>
            <p:nvPr/>
          </p:nvSpPr>
          <p:spPr bwMode="auto">
            <a:xfrm>
              <a:off x="988" y="2242"/>
              <a:ext cx="200" cy="205"/>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nvGrpSpPr>
          <p:cNvPr id="14" name="Group 39"/>
          <p:cNvGrpSpPr/>
          <p:nvPr/>
        </p:nvGrpSpPr>
        <p:grpSpPr bwMode="auto">
          <a:xfrm>
            <a:off x="3804529" y="2671804"/>
            <a:ext cx="1217613" cy="704851"/>
            <a:chOff x="1352" y="1837"/>
            <a:chExt cx="767" cy="444"/>
          </a:xfrm>
        </p:grpSpPr>
        <p:sp>
          <p:nvSpPr>
            <p:cNvPr id="15" name="Text Box 40"/>
            <p:cNvSpPr txBox="1">
              <a:spLocks noChangeArrowheads="1"/>
            </p:cNvSpPr>
            <p:nvPr/>
          </p:nvSpPr>
          <p:spPr bwMode="auto">
            <a:xfrm>
              <a:off x="1352" y="1837"/>
              <a:ext cx="767"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局部视图</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17" name="Line 41"/>
            <p:cNvSpPr>
              <a:spLocks noChangeShapeType="1"/>
            </p:cNvSpPr>
            <p:nvPr/>
          </p:nvSpPr>
          <p:spPr bwMode="auto">
            <a:xfrm flipH="1">
              <a:off x="1517" y="2103"/>
              <a:ext cx="156" cy="178"/>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nvGrpSpPr>
          <p:cNvPr id="18" name="Group 42"/>
          <p:cNvGrpSpPr/>
          <p:nvPr/>
        </p:nvGrpSpPr>
        <p:grpSpPr bwMode="auto">
          <a:xfrm>
            <a:off x="4414130" y="5745203"/>
            <a:ext cx="1127125" cy="430212"/>
            <a:chOff x="1535" y="3273"/>
            <a:chExt cx="710" cy="271"/>
          </a:xfrm>
        </p:grpSpPr>
        <p:sp>
          <p:nvSpPr>
            <p:cNvPr id="19" name="Text Box 43"/>
            <p:cNvSpPr txBox="1">
              <a:spLocks noChangeArrowheads="1"/>
            </p:cNvSpPr>
            <p:nvPr/>
          </p:nvSpPr>
          <p:spPr bwMode="auto">
            <a:xfrm>
              <a:off x="1641" y="3273"/>
              <a:ext cx="60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微软雅黑" panose="020B0503020204020204" pitchFamily="34" charset="-122"/>
                  <a:ea typeface="微软雅黑" panose="020B0503020204020204" pitchFamily="34" charset="-122"/>
                </a:rPr>
                <a:t>断面图</a:t>
              </a:r>
              <a:endParaRPr kumimoji="1" lang="zh-CN" altLang="en-US" sz="2000">
                <a:solidFill>
                  <a:srgbClr val="000000"/>
                </a:solidFill>
                <a:latin typeface="微软雅黑" panose="020B0503020204020204" pitchFamily="34" charset="-122"/>
                <a:ea typeface="微软雅黑" panose="020B0503020204020204" pitchFamily="34" charset="-122"/>
              </a:endParaRPr>
            </a:p>
          </p:txBody>
        </p:sp>
        <p:sp>
          <p:nvSpPr>
            <p:cNvPr id="20" name="Line 44"/>
            <p:cNvSpPr>
              <a:spLocks noChangeShapeType="1"/>
            </p:cNvSpPr>
            <p:nvPr/>
          </p:nvSpPr>
          <p:spPr bwMode="auto">
            <a:xfrm flipH="1" flipV="1">
              <a:off x="1535" y="3294"/>
              <a:ext cx="154" cy="124"/>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sp>
        <p:nvSpPr>
          <p:cNvPr id="21" name="Text Box 46"/>
          <p:cNvSpPr txBox="1">
            <a:spLocks noChangeArrowheads="1"/>
          </p:cNvSpPr>
          <p:nvPr/>
        </p:nvSpPr>
        <p:spPr bwMode="auto">
          <a:xfrm>
            <a:off x="7485396" y="5522868"/>
            <a:ext cx="3667125" cy="799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还需表达底面、顶面、左面、前面等形状</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grpSp>
        <p:nvGrpSpPr>
          <p:cNvPr id="22" name="Group 47"/>
          <p:cNvGrpSpPr/>
          <p:nvPr/>
        </p:nvGrpSpPr>
        <p:grpSpPr bwMode="auto">
          <a:xfrm>
            <a:off x="6286023" y="2875796"/>
            <a:ext cx="2460625" cy="1200150"/>
            <a:chOff x="2680" y="1842"/>
            <a:chExt cx="1550" cy="756"/>
          </a:xfrm>
        </p:grpSpPr>
        <p:sp>
          <p:nvSpPr>
            <p:cNvPr id="23" name="Text Box 48"/>
            <p:cNvSpPr txBox="1">
              <a:spLocks noChangeArrowheads="1"/>
            </p:cNvSpPr>
            <p:nvPr/>
          </p:nvSpPr>
          <p:spPr bwMode="auto">
            <a:xfrm>
              <a:off x="2680" y="1842"/>
              <a:ext cx="1185"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底面形状：沿轴线剖切的全剖视图</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24" name="Line 49"/>
            <p:cNvSpPr>
              <a:spLocks noChangeShapeType="1"/>
            </p:cNvSpPr>
            <p:nvPr/>
          </p:nvSpPr>
          <p:spPr bwMode="auto">
            <a:xfrm flipV="1">
              <a:off x="3830" y="2009"/>
              <a:ext cx="400" cy="171"/>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nvGrpSpPr>
          <p:cNvPr id="25" name="Group 50"/>
          <p:cNvGrpSpPr/>
          <p:nvPr/>
        </p:nvGrpSpPr>
        <p:grpSpPr bwMode="auto">
          <a:xfrm>
            <a:off x="9894786" y="1281946"/>
            <a:ext cx="1927225" cy="830263"/>
            <a:chOff x="4768" y="589"/>
            <a:chExt cx="1214" cy="523"/>
          </a:xfrm>
        </p:grpSpPr>
        <p:sp>
          <p:nvSpPr>
            <p:cNvPr id="26" name="Text Box 51"/>
            <p:cNvSpPr txBox="1">
              <a:spLocks noChangeArrowheads="1"/>
            </p:cNvSpPr>
            <p:nvPr/>
          </p:nvSpPr>
          <p:spPr bwMode="auto">
            <a:xfrm>
              <a:off x="5126" y="589"/>
              <a:ext cx="85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顶面形状：向视图</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27" name="Line 52"/>
            <p:cNvSpPr>
              <a:spLocks noChangeShapeType="1"/>
            </p:cNvSpPr>
            <p:nvPr/>
          </p:nvSpPr>
          <p:spPr bwMode="auto">
            <a:xfrm flipH="1">
              <a:off x="4768" y="827"/>
              <a:ext cx="330" cy="87"/>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nvGrpSpPr>
          <p:cNvPr id="28" name="Group 53"/>
          <p:cNvGrpSpPr/>
          <p:nvPr/>
        </p:nvGrpSpPr>
        <p:grpSpPr bwMode="auto">
          <a:xfrm>
            <a:off x="6932135" y="1439944"/>
            <a:ext cx="1371600" cy="979488"/>
            <a:chOff x="3214" y="982"/>
            <a:chExt cx="864" cy="617"/>
          </a:xfrm>
        </p:grpSpPr>
        <p:sp>
          <p:nvSpPr>
            <p:cNvPr id="29" name="Text Box 54"/>
            <p:cNvSpPr txBox="1">
              <a:spLocks noChangeArrowheads="1"/>
            </p:cNvSpPr>
            <p:nvPr/>
          </p:nvSpPr>
          <p:spPr bwMode="auto">
            <a:xfrm>
              <a:off x="3214" y="982"/>
              <a:ext cx="86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左面形状：　左视图</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30" name="Line 55"/>
            <p:cNvSpPr>
              <a:spLocks noChangeShapeType="1"/>
            </p:cNvSpPr>
            <p:nvPr/>
          </p:nvSpPr>
          <p:spPr bwMode="auto">
            <a:xfrm>
              <a:off x="3680" y="1487"/>
              <a:ext cx="340" cy="112"/>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nvGrpSpPr>
          <p:cNvPr id="31" name="Group 56"/>
          <p:cNvGrpSpPr/>
          <p:nvPr/>
        </p:nvGrpSpPr>
        <p:grpSpPr bwMode="auto">
          <a:xfrm>
            <a:off x="8826023" y="2926596"/>
            <a:ext cx="1792287" cy="915988"/>
            <a:chOff x="4280" y="1874"/>
            <a:chExt cx="1129" cy="577"/>
          </a:xfrm>
        </p:grpSpPr>
        <p:sp>
          <p:nvSpPr>
            <p:cNvPr id="32" name="Text Box 57"/>
            <p:cNvSpPr txBox="1">
              <a:spLocks noChangeArrowheads="1"/>
            </p:cNvSpPr>
            <p:nvPr/>
          </p:nvSpPr>
          <p:spPr bwMode="auto">
            <a:xfrm>
              <a:off x="4280" y="2180"/>
              <a:ext cx="1129"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孔：局部剖视</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grpSp>
          <p:nvGrpSpPr>
            <p:cNvPr id="33" name="Group 58"/>
            <p:cNvGrpSpPr/>
            <p:nvPr/>
          </p:nvGrpSpPr>
          <p:grpSpPr bwMode="auto">
            <a:xfrm>
              <a:off x="4498" y="1874"/>
              <a:ext cx="133" cy="346"/>
              <a:chOff x="4498" y="1874"/>
              <a:chExt cx="133" cy="346"/>
            </a:xfrm>
          </p:grpSpPr>
          <p:sp>
            <p:nvSpPr>
              <p:cNvPr id="34" name="Line 59"/>
              <p:cNvSpPr>
                <a:spLocks noChangeShapeType="1"/>
              </p:cNvSpPr>
              <p:nvPr/>
            </p:nvSpPr>
            <p:spPr bwMode="auto">
              <a:xfrm flipH="1" flipV="1">
                <a:off x="4498" y="1957"/>
                <a:ext cx="133" cy="256"/>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35" name="Line 60"/>
              <p:cNvSpPr>
                <a:spLocks noChangeShapeType="1"/>
              </p:cNvSpPr>
              <p:nvPr/>
            </p:nvSpPr>
            <p:spPr bwMode="auto">
              <a:xfrm flipH="1" flipV="1">
                <a:off x="4608" y="1874"/>
                <a:ext cx="23" cy="346"/>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pic>
        <p:nvPicPr>
          <p:cNvPr id="36" name="Picture 65"/>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69711" y="1392802"/>
            <a:ext cx="3671887" cy="123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 name="组合 37"/>
          <p:cNvGrpSpPr/>
          <p:nvPr/>
        </p:nvGrpSpPr>
        <p:grpSpPr bwMode="auto">
          <a:xfrm>
            <a:off x="9894410" y="2634496"/>
            <a:ext cx="1624013" cy="830263"/>
            <a:chOff x="7620000" y="2454276"/>
            <a:chExt cx="1623219" cy="830263"/>
          </a:xfrm>
        </p:grpSpPr>
        <p:sp>
          <p:nvSpPr>
            <p:cNvPr id="39" name="Text Box 45"/>
            <p:cNvSpPr txBox="1">
              <a:spLocks noChangeArrowheads="1"/>
            </p:cNvSpPr>
            <p:nvPr/>
          </p:nvSpPr>
          <p:spPr bwMode="auto">
            <a:xfrm>
              <a:off x="7884319" y="2454276"/>
              <a:ext cx="13589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前面形状：向视图</a:t>
              </a:r>
              <a:endParaRPr kumimoji="1" lang="zh-CN" altLang="en-US" sz="2000" dirty="0">
                <a:solidFill>
                  <a:srgbClr val="000000"/>
                </a:solidFill>
                <a:latin typeface="微软雅黑" panose="020B0503020204020204" pitchFamily="34" charset="-122"/>
                <a:ea typeface="微软雅黑" panose="020B0503020204020204" pitchFamily="34" charset="-122"/>
              </a:endParaRPr>
            </a:p>
          </p:txBody>
        </p:sp>
        <p:cxnSp>
          <p:nvCxnSpPr>
            <p:cNvPr id="40" name="直接连接符 2"/>
            <p:cNvCxnSpPr>
              <a:cxnSpLocks noChangeShapeType="1"/>
              <a:stCxn id="39" idx="1"/>
            </p:cNvCxnSpPr>
            <p:nvPr/>
          </p:nvCxnSpPr>
          <p:spPr bwMode="auto">
            <a:xfrm flipH="1" flipV="1">
              <a:off x="7620000" y="2636912"/>
              <a:ext cx="264319" cy="232496"/>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8" name="Text Box 4"/>
          <p:cNvSpPr txBox="1">
            <a:spLocks noChangeArrowheads="1"/>
          </p:cNvSpPr>
          <p:nvPr/>
        </p:nvSpPr>
        <p:spPr bwMode="auto">
          <a:xfrm>
            <a:off x="306971" y="1245139"/>
            <a:ext cx="45961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检查、比较、调整、修改</a:t>
            </a:r>
            <a:endParaRPr lang="zh-CN" altLang="en-US" dirty="0"/>
          </a:p>
        </p:txBody>
      </p:sp>
      <p:sp>
        <p:nvSpPr>
          <p:cNvPr id="9" name="Text Box 5"/>
          <p:cNvSpPr txBox="1">
            <a:spLocks noChangeArrowheads="1"/>
          </p:cNvSpPr>
          <p:nvPr/>
        </p:nvSpPr>
        <p:spPr bwMode="auto">
          <a:xfrm>
            <a:off x="1631505" y="2394502"/>
            <a:ext cx="1830387" cy="578882"/>
          </a:xfrm>
          <a:prstGeom prst="roundRect">
            <a:avLst/>
          </a:prstGeom>
          <a:solidFill>
            <a:schemeClr val="accent5">
              <a:lumMod val="40000"/>
              <a:lumOff val="60000"/>
            </a:schemeClr>
          </a:solidFill>
        </p:spPr>
        <p:style>
          <a:lnRef idx="2">
            <a:schemeClr val="accent4"/>
          </a:lnRef>
          <a:fillRef idx="1">
            <a:schemeClr val="lt1"/>
          </a:fillRef>
          <a:effectRef idx="0">
            <a:schemeClr val="accent4"/>
          </a:effectRef>
          <a:fontRef idx="minor">
            <a:schemeClr val="dk1"/>
          </a:fontRef>
        </p:style>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800" dirty="0">
                <a:latin typeface="微软雅黑" panose="020B0503020204020204" pitchFamily="34" charset="-122"/>
                <a:ea typeface="微软雅黑" panose="020B0503020204020204" pitchFamily="34" charset="-122"/>
              </a:rPr>
              <a:t>检查什么</a:t>
            </a:r>
            <a:endParaRPr kumimoji="1" lang="zh-CN" altLang="en-US" sz="2800" dirty="0">
              <a:latin typeface="微软雅黑" panose="020B0503020204020204" pitchFamily="34" charset="-122"/>
              <a:ea typeface="微软雅黑" panose="020B0503020204020204" pitchFamily="34" charset="-122"/>
            </a:endParaRPr>
          </a:p>
        </p:txBody>
      </p:sp>
      <p:sp>
        <p:nvSpPr>
          <p:cNvPr id="10" name="Text Box 6"/>
          <p:cNvSpPr txBox="1">
            <a:spLocks noChangeArrowheads="1"/>
          </p:cNvSpPr>
          <p:nvPr/>
        </p:nvSpPr>
        <p:spPr bwMode="auto">
          <a:xfrm>
            <a:off x="3719420" y="1991767"/>
            <a:ext cx="6657592" cy="1384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表达是否完全（结构、形状、位置）</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Tx/>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表达是否清晰、合理</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Tx/>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表达是否正确（投影关系、标注、国家标准）</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1" name="Text Box 7"/>
          <p:cNvSpPr txBox="1">
            <a:spLocks noChangeArrowheads="1"/>
          </p:cNvSpPr>
          <p:nvPr/>
        </p:nvSpPr>
        <p:spPr bwMode="auto">
          <a:xfrm>
            <a:off x="1631504" y="3952709"/>
            <a:ext cx="1830388" cy="578882"/>
          </a:xfrm>
          <a:prstGeom prst="roundRect">
            <a:avLst/>
          </a:prstGeom>
          <a:solidFill>
            <a:schemeClr val="accent5">
              <a:lumMod val="40000"/>
              <a:lumOff val="60000"/>
            </a:schemeClr>
          </a:solidFill>
        </p:spPr>
        <p:style>
          <a:lnRef idx="2">
            <a:schemeClr val="accent4"/>
          </a:lnRef>
          <a:fillRef idx="1">
            <a:schemeClr val="lt1"/>
          </a:fillRef>
          <a:effectRef idx="0">
            <a:schemeClr val="accent4"/>
          </a:effectRef>
          <a:fontRef idx="minor">
            <a:schemeClr val="dk1"/>
          </a:fontRef>
        </p:style>
        <p:txBody>
          <a:bodyPr>
            <a:spAutoFit/>
          </a:bodyPr>
          <a:lstStyle>
            <a:defPPr>
              <a:defRPr lang="zh-CN"/>
            </a:defPPr>
            <a:lvl1pPr algn="ctr" fontAlgn="base">
              <a:spcBef>
                <a:spcPct val="0"/>
              </a:spcBef>
              <a:spcAft>
                <a:spcPct val="0"/>
              </a:spcAft>
              <a:buFontTx/>
              <a:buNone/>
              <a:defRPr kumimoji="1" sz="2800" b="1">
                <a:latin typeface="Times New Roman" panose="02020603050405020304" pitchFamily="18" charset="0"/>
                <a:ea typeface="黑体" panose="02010609060101010101" pitchFamily="2"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b="0" dirty="0">
                <a:latin typeface="微软雅黑" panose="020B0503020204020204" pitchFamily="34" charset="-122"/>
                <a:ea typeface="微软雅黑" panose="020B0503020204020204" pitchFamily="34" charset="-122"/>
              </a:rPr>
              <a:t>比较什么</a:t>
            </a:r>
            <a:endParaRPr lang="zh-CN" altLang="en-US" b="0" dirty="0">
              <a:latin typeface="微软雅黑" panose="020B0503020204020204" pitchFamily="34" charset="-122"/>
              <a:ea typeface="微软雅黑" panose="020B0503020204020204" pitchFamily="34" charset="-122"/>
            </a:endParaRPr>
          </a:p>
        </p:txBody>
      </p:sp>
      <p:sp>
        <p:nvSpPr>
          <p:cNvPr id="12" name="Text Box 8"/>
          <p:cNvSpPr txBox="1">
            <a:spLocks noChangeArrowheads="1"/>
          </p:cNvSpPr>
          <p:nvPr/>
        </p:nvSpPr>
        <p:spPr bwMode="auto">
          <a:xfrm>
            <a:off x="1684924" y="4712728"/>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方案的比较</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3" name="Text Box 9"/>
          <p:cNvSpPr txBox="1">
            <a:spLocks noChangeArrowheads="1"/>
          </p:cNvSpPr>
          <p:nvPr/>
        </p:nvSpPr>
        <p:spPr bwMode="auto">
          <a:xfrm>
            <a:off x="3719420" y="3771573"/>
            <a:ext cx="3887603"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主次关系的处理是否得当</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Tx/>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方案是否最佳</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4" name="Text Box 10"/>
          <p:cNvSpPr txBox="1">
            <a:spLocks noChangeArrowheads="1"/>
          </p:cNvSpPr>
          <p:nvPr/>
        </p:nvSpPr>
        <p:spPr bwMode="auto">
          <a:xfrm>
            <a:off x="3719420" y="5405684"/>
            <a:ext cx="421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经调整、修改后形成最后方案</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500"/>
                                        <p:tgtEl>
                                          <p:spTgt spid="1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500"/>
                                        <p:tgtEl>
                                          <p:spTgt spid="1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xEl>
                                              <p:pRg st="1" end="1"/>
                                            </p:txEl>
                                          </p:spTgt>
                                        </p:tgtEl>
                                        <p:attrNameLst>
                                          <p:attrName>style.visibility</p:attrName>
                                        </p:attrNameLst>
                                      </p:cBhvr>
                                      <p:to>
                                        <p:strVal val="visible"/>
                                      </p:to>
                                    </p:set>
                                    <p:animEffect transition="in" filter="fade">
                                      <p:cBhvr>
                                        <p:cTn id="42" dur="500"/>
                                        <p:tgtEl>
                                          <p:spTgt spid="1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uild="p"/>
      <p:bldP spid="11" grpId="0" animBg="1"/>
      <p:bldP spid="12" grpId="0"/>
      <p:bldP spid="13" grpId="0" build="p"/>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Rectangle 4"/>
          <p:cNvSpPr>
            <a:spLocks noChangeArrowheads="1"/>
          </p:cNvSpPr>
          <p:nvPr/>
        </p:nvSpPr>
        <p:spPr bwMode="auto">
          <a:xfrm>
            <a:off x="749336" y="2738569"/>
            <a:ext cx="1980029"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dirty="0">
                <a:solidFill>
                  <a:srgbClr val="CC0000"/>
                </a:solidFill>
                <a:latin typeface="+mn-ea"/>
                <a:ea typeface="+mn-ea"/>
              </a:rPr>
              <a:t>择优原则：</a:t>
            </a:r>
            <a:endParaRPr kumimoji="1" lang="zh-CN" altLang="en-US" sz="2800" dirty="0">
              <a:solidFill>
                <a:srgbClr val="CC0000"/>
              </a:solidFill>
              <a:latin typeface="+mn-ea"/>
              <a:ea typeface="+mn-ea"/>
            </a:endParaRPr>
          </a:p>
        </p:txBody>
      </p:sp>
      <p:sp>
        <p:nvSpPr>
          <p:cNvPr id="3" name="Text Box 7"/>
          <p:cNvSpPr txBox="1">
            <a:spLocks noChangeArrowheads="1"/>
          </p:cNvSpPr>
          <p:nvPr/>
        </p:nvSpPr>
        <p:spPr bwMode="auto">
          <a:xfrm>
            <a:off x="1185899" y="4091169"/>
            <a:ext cx="45961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800" dirty="0">
                <a:solidFill>
                  <a:srgbClr val="000000"/>
                </a:solidFill>
                <a:latin typeface="+mn-ea"/>
                <a:ea typeface="+mn-ea"/>
              </a:rPr>
              <a:t>避免不必要的细节重复。</a:t>
            </a:r>
            <a:endParaRPr kumimoji="1" lang="zh-CN" altLang="en-US" sz="2800" dirty="0">
              <a:solidFill>
                <a:srgbClr val="000000"/>
              </a:solidFill>
              <a:latin typeface="+mn-ea"/>
              <a:ea typeface="+mn-ea"/>
            </a:endParaRPr>
          </a:p>
        </p:txBody>
      </p:sp>
      <p:sp>
        <p:nvSpPr>
          <p:cNvPr id="4" name="Text Box 8"/>
          <p:cNvSpPr txBox="1">
            <a:spLocks noChangeArrowheads="1"/>
          </p:cNvSpPr>
          <p:nvPr/>
        </p:nvSpPr>
        <p:spPr bwMode="auto">
          <a:xfrm>
            <a:off x="1185899" y="3369119"/>
            <a:ext cx="10341293"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 typeface="Wingdings" panose="05000000000000000000" pitchFamily="2" charset="2"/>
              <a:buChar char="ü"/>
            </a:pPr>
            <a:r>
              <a:rPr kumimoji="1" lang="zh-CN" altLang="en-US" sz="2800" dirty="0">
                <a:solidFill>
                  <a:srgbClr val="000000"/>
                </a:solidFill>
                <a:latin typeface="+mn-ea"/>
                <a:ea typeface="+mn-ea"/>
              </a:rPr>
              <a:t>在零件的结构形状表达清楚的基础上，视图的数量越少越好。</a:t>
            </a:r>
            <a:endParaRPr kumimoji="1" lang="zh-CN" altLang="en-US" sz="2800" dirty="0">
              <a:solidFill>
                <a:srgbClr val="000000"/>
              </a:solidFill>
              <a:latin typeface="+mn-ea"/>
              <a:ea typeface="+mn-ea"/>
            </a:endParaRPr>
          </a:p>
        </p:txBody>
      </p:sp>
      <p:sp>
        <p:nvSpPr>
          <p:cNvPr id="5" name="Text Box 9"/>
          <p:cNvSpPr txBox="1">
            <a:spLocks noChangeArrowheads="1"/>
          </p:cNvSpPr>
          <p:nvPr/>
        </p:nvSpPr>
        <p:spPr bwMode="auto">
          <a:xfrm>
            <a:off x="725852" y="2034024"/>
            <a:ext cx="30572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800" dirty="0">
                <a:solidFill>
                  <a:srgbClr val="000000"/>
                </a:solidFill>
                <a:latin typeface="+mn-ea"/>
                <a:ea typeface="+mn-ea"/>
              </a:rPr>
              <a:t>方案的比较与择优</a:t>
            </a:r>
            <a:endParaRPr kumimoji="1" lang="zh-CN" altLang="en-US" sz="2800" dirty="0">
              <a:solidFill>
                <a:srgbClr val="000000"/>
              </a:solidFill>
              <a:latin typeface="+mn-ea"/>
              <a:ea typeface="+mn-ea"/>
            </a:endParaRPr>
          </a:p>
        </p:txBody>
      </p:sp>
      <p:sp>
        <p:nvSpPr>
          <p:cNvPr id="6" name="Text Box 4"/>
          <p:cNvSpPr txBox="1">
            <a:spLocks noChangeArrowheads="1"/>
          </p:cNvSpPr>
          <p:nvPr/>
        </p:nvSpPr>
        <p:spPr bwMode="auto">
          <a:xfrm>
            <a:off x="306971" y="1245139"/>
            <a:ext cx="45961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检查、比较、调整、修改</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37" descr="H:\助教任务\捕获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570" y="1622942"/>
            <a:ext cx="3563937"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9"/>
          <p:cNvSpPr txBox="1">
            <a:spLocks noChangeArrowheads="1"/>
          </p:cNvSpPr>
          <p:nvPr/>
        </p:nvSpPr>
        <p:spPr bwMode="auto">
          <a:xfrm>
            <a:off x="9434377" y="4462471"/>
            <a:ext cx="225353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b="1" dirty="0">
                <a:solidFill>
                  <a:srgbClr val="000000"/>
                </a:solidFill>
                <a:latin typeface="+mn-ea"/>
                <a:ea typeface="+mn-ea"/>
              </a:rPr>
              <a:t>加工工艺</a:t>
            </a:r>
            <a:r>
              <a:rPr kumimoji="1" lang="zh-CN" altLang="en-US" sz="2400" dirty="0">
                <a:solidFill>
                  <a:srgbClr val="000000"/>
                </a:solidFill>
                <a:latin typeface="+mn-ea"/>
                <a:ea typeface="+mn-ea"/>
              </a:rPr>
              <a:t>：加工面轴承孔、底板底面、小孔等</a:t>
            </a:r>
            <a:endParaRPr kumimoji="1" lang="zh-CN" altLang="en-US" sz="2400" dirty="0">
              <a:solidFill>
                <a:srgbClr val="000000"/>
              </a:solidFill>
              <a:latin typeface="+mn-ea"/>
              <a:ea typeface="+mn-ea"/>
            </a:endParaRPr>
          </a:p>
        </p:txBody>
      </p:sp>
      <p:sp>
        <p:nvSpPr>
          <p:cNvPr id="5" name="Text Box 6"/>
          <p:cNvSpPr txBox="1">
            <a:spLocks noChangeArrowheads="1"/>
          </p:cNvSpPr>
          <p:nvPr/>
        </p:nvSpPr>
        <p:spPr bwMode="auto">
          <a:xfrm>
            <a:off x="9434377" y="1377209"/>
            <a:ext cx="20414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b="1" dirty="0">
                <a:solidFill>
                  <a:srgbClr val="000000"/>
                </a:solidFill>
                <a:latin typeface="+mn-ea"/>
                <a:ea typeface="+mn-ea"/>
              </a:rPr>
              <a:t>功能分析</a:t>
            </a:r>
            <a:r>
              <a:rPr kumimoji="1" lang="zh-CN" altLang="en-US" sz="2400" dirty="0">
                <a:solidFill>
                  <a:srgbClr val="000000"/>
                </a:solidFill>
                <a:latin typeface="+mn-ea"/>
                <a:ea typeface="+mn-ea"/>
              </a:rPr>
              <a:t>：支承轴及轴上零件</a:t>
            </a:r>
            <a:endParaRPr kumimoji="1" lang="zh-CN" altLang="en-US" sz="2400" dirty="0">
              <a:solidFill>
                <a:srgbClr val="000000"/>
              </a:solidFill>
              <a:latin typeface="+mn-ea"/>
              <a:ea typeface="+mn-ea"/>
            </a:endParaRPr>
          </a:p>
        </p:txBody>
      </p:sp>
      <p:sp>
        <p:nvSpPr>
          <p:cNvPr id="7" name="Text Box 10"/>
          <p:cNvSpPr txBox="1">
            <a:spLocks noChangeArrowheads="1"/>
          </p:cNvSpPr>
          <p:nvPr/>
        </p:nvSpPr>
        <p:spPr bwMode="auto">
          <a:xfrm>
            <a:off x="108230" y="1145729"/>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b="1" dirty="0">
                <a:solidFill>
                  <a:srgbClr val="000000"/>
                </a:solidFill>
                <a:latin typeface="微软雅黑" panose="020B0503020204020204" pitchFamily="34" charset="-122"/>
                <a:ea typeface="微软雅黑" panose="020B0503020204020204" pitchFamily="34" charset="-122"/>
              </a:rPr>
              <a:t>例：轴承座视图选择</a:t>
            </a:r>
            <a:endParaRPr kumimoji="1"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8" name="组合 7"/>
          <p:cNvGrpSpPr/>
          <p:nvPr/>
        </p:nvGrpSpPr>
        <p:grpSpPr bwMode="auto">
          <a:xfrm>
            <a:off x="99344" y="1438792"/>
            <a:ext cx="5084763" cy="4144962"/>
            <a:chOff x="45964" y="893763"/>
            <a:chExt cx="5083249" cy="4145106"/>
          </a:xfrm>
        </p:grpSpPr>
        <p:grpSp>
          <p:nvGrpSpPr>
            <p:cNvPr id="9" name="组合 195"/>
            <p:cNvGrpSpPr/>
            <p:nvPr/>
          </p:nvGrpSpPr>
          <p:grpSpPr bwMode="auto">
            <a:xfrm>
              <a:off x="2464917" y="893763"/>
              <a:ext cx="2218928" cy="472698"/>
              <a:chOff x="2483768" y="580038"/>
              <a:chExt cx="2218928" cy="472698"/>
            </a:xfrm>
          </p:grpSpPr>
          <p:cxnSp>
            <p:nvCxnSpPr>
              <p:cNvPr id="29" name="直接连接符 28"/>
              <p:cNvCxnSpPr/>
              <p:nvPr/>
            </p:nvCxnSpPr>
            <p:spPr>
              <a:xfrm flipV="1">
                <a:off x="2483446" y="764194"/>
                <a:ext cx="720510" cy="288935"/>
              </a:xfrm>
              <a:prstGeom prst="line">
                <a:avLst/>
              </a:prstGeom>
              <a:noFill/>
              <a:ln w="9525" cap="flat" cmpd="sng" algn="ctr">
                <a:solidFill>
                  <a:srgbClr val="FF0000"/>
                </a:solidFill>
                <a:prstDash val="solid"/>
              </a:ln>
              <a:effectLst/>
            </p:spPr>
          </p:cxnSp>
          <p:sp>
            <p:nvSpPr>
              <p:cNvPr id="30" name="TextBox 215"/>
              <p:cNvSpPr txBox="1">
                <a:spLocks noChangeArrowheads="1"/>
              </p:cNvSpPr>
              <p:nvPr/>
            </p:nvSpPr>
            <p:spPr bwMode="auto">
              <a:xfrm>
                <a:off x="3190528" y="580038"/>
                <a:ext cx="15121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dirty="0">
                    <a:ln>
                      <a:noFill/>
                    </a:ln>
                    <a:solidFill>
                      <a:srgbClr val="000000"/>
                    </a:solidFill>
                    <a:effectLst/>
                    <a:uLnTx/>
                    <a:uFillTx/>
                    <a:latin typeface="+mn-ea"/>
                    <a:ea typeface="+mn-ea"/>
                  </a:rPr>
                  <a:t>螺孔装油杯</a:t>
                </a:r>
                <a:endParaRPr kumimoji="0" lang="zh-CN" altLang="en-US" sz="1800" i="0" u="none" strike="noStrike" kern="0" cap="none" spc="0" normalizeH="0" baseline="0" noProof="0" dirty="0">
                  <a:ln>
                    <a:noFill/>
                  </a:ln>
                  <a:solidFill>
                    <a:srgbClr val="000000"/>
                  </a:solidFill>
                  <a:effectLst/>
                  <a:uLnTx/>
                  <a:uFillTx/>
                  <a:latin typeface="+mn-ea"/>
                  <a:ea typeface="+mn-ea"/>
                </a:endParaRPr>
              </a:p>
            </p:txBody>
          </p:sp>
        </p:grpSp>
        <p:grpSp>
          <p:nvGrpSpPr>
            <p:cNvPr id="10" name="组合 196"/>
            <p:cNvGrpSpPr/>
            <p:nvPr/>
          </p:nvGrpSpPr>
          <p:grpSpPr bwMode="auto">
            <a:xfrm>
              <a:off x="2792587" y="2158549"/>
              <a:ext cx="1688554" cy="646331"/>
              <a:chOff x="2483768" y="580038"/>
              <a:chExt cx="1688554" cy="646331"/>
            </a:xfrm>
          </p:grpSpPr>
          <p:cxnSp>
            <p:nvCxnSpPr>
              <p:cNvPr id="27" name="直接连接符 26"/>
              <p:cNvCxnSpPr>
                <a:endCxn id="28" idx="1"/>
              </p:cNvCxnSpPr>
              <p:nvPr/>
            </p:nvCxnSpPr>
            <p:spPr>
              <a:xfrm flipV="1">
                <a:off x="2484290" y="904394"/>
                <a:ext cx="706228" cy="149230"/>
              </a:xfrm>
              <a:prstGeom prst="line">
                <a:avLst/>
              </a:prstGeom>
              <a:noFill/>
              <a:ln w="9525" cap="flat" cmpd="sng" algn="ctr">
                <a:solidFill>
                  <a:srgbClr val="FF0000"/>
                </a:solidFill>
                <a:prstDash val="solid"/>
              </a:ln>
              <a:effectLst/>
            </p:spPr>
          </p:cxnSp>
          <p:sp>
            <p:nvSpPr>
              <p:cNvPr id="28" name="TextBox 213"/>
              <p:cNvSpPr txBox="1">
                <a:spLocks noChangeArrowheads="1"/>
              </p:cNvSpPr>
              <p:nvPr/>
            </p:nvSpPr>
            <p:spPr bwMode="auto">
              <a:xfrm>
                <a:off x="3190528" y="580038"/>
                <a:ext cx="9817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dirty="0">
                    <a:ln>
                      <a:noFill/>
                    </a:ln>
                    <a:solidFill>
                      <a:srgbClr val="000000"/>
                    </a:solidFill>
                    <a:effectLst/>
                    <a:uLnTx/>
                    <a:uFillTx/>
                    <a:latin typeface="+mn-ea"/>
                    <a:ea typeface="+mn-ea"/>
                  </a:rPr>
                  <a:t>轴承孔装轴承</a:t>
                </a:r>
                <a:endParaRPr kumimoji="0" lang="zh-CN" altLang="en-US" sz="1800" i="0" u="none" strike="noStrike" kern="0" cap="none" spc="0" normalizeH="0" baseline="0" noProof="0" dirty="0">
                  <a:ln>
                    <a:noFill/>
                  </a:ln>
                  <a:solidFill>
                    <a:srgbClr val="000000"/>
                  </a:solidFill>
                  <a:effectLst/>
                  <a:uLnTx/>
                  <a:uFillTx/>
                  <a:latin typeface="+mn-ea"/>
                  <a:ea typeface="+mn-ea"/>
                </a:endParaRPr>
              </a:p>
            </p:txBody>
          </p:sp>
        </p:grpSp>
        <p:grpSp>
          <p:nvGrpSpPr>
            <p:cNvPr id="11" name="组合 197"/>
            <p:cNvGrpSpPr/>
            <p:nvPr/>
          </p:nvGrpSpPr>
          <p:grpSpPr bwMode="auto">
            <a:xfrm>
              <a:off x="3164062" y="1498447"/>
              <a:ext cx="1389087" cy="646331"/>
              <a:chOff x="2483768" y="636672"/>
              <a:chExt cx="1389087" cy="646331"/>
            </a:xfrm>
          </p:grpSpPr>
          <p:cxnSp>
            <p:nvCxnSpPr>
              <p:cNvPr id="25" name="直接连接符 24"/>
              <p:cNvCxnSpPr/>
              <p:nvPr/>
            </p:nvCxnSpPr>
            <p:spPr>
              <a:xfrm flipV="1">
                <a:off x="2484179" y="908318"/>
                <a:ext cx="360256" cy="144467"/>
              </a:xfrm>
              <a:prstGeom prst="line">
                <a:avLst/>
              </a:prstGeom>
              <a:noFill/>
              <a:ln w="9525" cap="flat" cmpd="sng" algn="ctr">
                <a:solidFill>
                  <a:srgbClr val="FF0000"/>
                </a:solidFill>
                <a:prstDash val="solid"/>
              </a:ln>
              <a:effectLst/>
            </p:spPr>
          </p:cxnSp>
          <p:sp>
            <p:nvSpPr>
              <p:cNvPr id="26" name="TextBox 211"/>
              <p:cNvSpPr txBox="1">
                <a:spLocks noChangeArrowheads="1"/>
              </p:cNvSpPr>
              <p:nvPr/>
            </p:nvSpPr>
            <p:spPr bwMode="auto">
              <a:xfrm>
                <a:off x="2843808" y="636672"/>
                <a:ext cx="10290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a:ln>
                      <a:noFill/>
                    </a:ln>
                    <a:solidFill>
                      <a:srgbClr val="000000"/>
                    </a:solidFill>
                    <a:effectLst/>
                    <a:uLnTx/>
                    <a:uFillTx/>
                    <a:latin typeface="+mn-ea"/>
                    <a:ea typeface="+mn-ea"/>
                  </a:rPr>
                  <a:t>三通孔穿螺栓</a:t>
                </a:r>
                <a:endParaRPr kumimoji="0" lang="zh-CN" altLang="en-US" sz="1800" i="0" u="none" strike="noStrike" kern="0" cap="none" spc="0" normalizeH="0" baseline="0" noProof="0">
                  <a:ln>
                    <a:noFill/>
                  </a:ln>
                  <a:solidFill>
                    <a:srgbClr val="000000"/>
                  </a:solidFill>
                  <a:effectLst/>
                  <a:uLnTx/>
                  <a:uFillTx/>
                  <a:latin typeface="+mn-ea"/>
                  <a:ea typeface="+mn-ea"/>
                </a:endParaRPr>
              </a:p>
            </p:txBody>
          </p:sp>
        </p:grpSp>
        <p:grpSp>
          <p:nvGrpSpPr>
            <p:cNvPr id="12" name="组合 198"/>
            <p:cNvGrpSpPr/>
            <p:nvPr/>
          </p:nvGrpSpPr>
          <p:grpSpPr bwMode="auto">
            <a:xfrm>
              <a:off x="2910285" y="2878629"/>
              <a:ext cx="2218928" cy="472698"/>
              <a:chOff x="2483768" y="580038"/>
              <a:chExt cx="2218928" cy="472698"/>
            </a:xfrm>
          </p:grpSpPr>
          <p:cxnSp>
            <p:nvCxnSpPr>
              <p:cNvPr id="23" name="直接连接符 22"/>
              <p:cNvCxnSpPr/>
              <p:nvPr/>
            </p:nvCxnSpPr>
            <p:spPr>
              <a:xfrm flipV="1">
                <a:off x="2484032" y="763772"/>
                <a:ext cx="720510" cy="288935"/>
              </a:xfrm>
              <a:prstGeom prst="line">
                <a:avLst/>
              </a:prstGeom>
              <a:noFill/>
              <a:ln w="9525" cap="flat" cmpd="sng" algn="ctr">
                <a:solidFill>
                  <a:srgbClr val="FF0000"/>
                </a:solidFill>
                <a:prstDash val="solid"/>
              </a:ln>
              <a:effectLst/>
            </p:spPr>
          </p:cxnSp>
          <p:sp>
            <p:nvSpPr>
              <p:cNvPr id="24" name="TextBox 209"/>
              <p:cNvSpPr txBox="1">
                <a:spLocks noChangeArrowheads="1"/>
              </p:cNvSpPr>
              <p:nvPr/>
            </p:nvSpPr>
            <p:spPr bwMode="auto">
              <a:xfrm>
                <a:off x="3190528" y="580038"/>
                <a:ext cx="15121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a:ln>
                      <a:noFill/>
                    </a:ln>
                    <a:solidFill>
                      <a:srgbClr val="000000"/>
                    </a:solidFill>
                    <a:effectLst/>
                    <a:uLnTx/>
                    <a:uFillTx/>
                    <a:latin typeface="+mn-ea"/>
                    <a:ea typeface="+mn-ea"/>
                  </a:rPr>
                  <a:t>支承板</a:t>
                </a:r>
                <a:endParaRPr kumimoji="0" lang="zh-CN" altLang="en-US" sz="1800" i="0" u="none" strike="noStrike" kern="0" cap="none" spc="0" normalizeH="0" baseline="0" noProof="0">
                  <a:ln>
                    <a:noFill/>
                  </a:ln>
                  <a:solidFill>
                    <a:srgbClr val="000000"/>
                  </a:solidFill>
                  <a:effectLst/>
                  <a:uLnTx/>
                  <a:uFillTx/>
                  <a:latin typeface="+mn-ea"/>
                  <a:ea typeface="+mn-ea"/>
                </a:endParaRPr>
              </a:p>
            </p:txBody>
          </p:sp>
        </p:grpSp>
        <p:grpSp>
          <p:nvGrpSpPr>
            <p:cNvPr id="13" name="组合 199"/>
            <p:cNvGrpSpPr/>
            <p:nvPr/>
          </p:nvGrpSpPr>
          <p:grpSpPr bwMode="auto">
            <a:xfrm>
              <a:off x="448693" y="2674308"/>
              <a:ext cx="1782198" cy="677019"/>
              <a:chOff x="3419872" y="479083"/>
              <a:chExt cx="1782198" cy="677019"/>
            </a:xfrm>
          </p:grpSpPr>
          <p:cxnSp>
            <p:nvCxnSpPr>
              <p:cNvPr id="21" name="直接连接符 20"/>
              <p:cNvCxnSpPr/>
              <p:nvPr/>
            </p:nvCxnSpPr>
            <p:spPr>
              <a:xfrm flipH="1" flipV="1">
                <a:off x="3996339" y="779823"/>
                <a:ext cx="1206141" cy="376251"/>
              </a:xfrm>
              <a:prstGeom prst="line">
                <a:avLst/>
              </a:prstGeom>
              <a:noFill/>
              <a:ln w="9525" cap="flat" cmpd="sng" algn="ctr">
                <a:solidFill>
                  <a:srgbClr val="FF0000"/>
                </a:solidFill>
                <a:prstDash val="solid"/>
              </a:ln>
              <a:effectLst/>
            </p:spPr>
          </p:cxnSp>
          <p:sp>
            <p:nvSpPr>
              <p:cNvPr id="22" name="TextBox 207"/>
              <p:cNvSpPr txBox="1">
                <a:spLocks noChangeArrowheads="1"/>
              </p:cNvSpPr>
              <p:nvPr/>
            </p:nvSpPr>
            <p:spPr bwMode="auto">
              <a:xfrm>
                <a:off x="3419872" y="479083"/>
                <a:ext cx="6613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a:ln>
                      <a:noFill/>
                    </a:ln>
                    <a:solidFill>
                      <a:srgbClr val="000000"/>
                    </a:solidFill>
                    <a:effectLst/>
                    <a:uLnTx/>
                    <a:uFillTx/>
                    <a:latin typeface="+mn-ea"/>
                    <a:ea typeface="+mn-ea"/>
                  </a:rPr>
                  <a:t>肋板</a:t>
                </a:r>
                <a:endParaRPr kumimoji="0" lang="zh-CN" altLang="en-US" sz="1800" i="0" u="none" strike="noStrike" kern="0" cap="none" spc="0" normalizeH="0" baseline="0" noProof="0">
                  <a:ln>
                    <a:noFill/>
                  </a:ln>
                  <a:solidFill>
                    <a:srgbClr val="000000"/>
                  </a:solidFill>
                  <a:effectLst/>
                  <a:uLnTx/>
                  <a:uFillTx/>
                  <a:latin typeface="+mn-ea"/>
                  <a:ea typeface="+mn-ea"/>
                </a:endParaRPr>
              </a:p>
            </p:txBody>
          </p:sp>
        </p:grpSp>
        <p:grpSp>
          <p:nvGrpSpPr>
            <p:cNvPr id="14" name="组合 200"/>
            <p:cNvGrpSpPr/>
            <p:nvPr/>
          </p:nvGrpSpPr>
          <p:grpSpPr bwMode="auto">
            <a:xfrm>
              <a:off x="3612202" y="3758307"/>
              <a:ext cx="756084" cy="1064538"/>
              <a:chOff x="2891154" y="395372"/>
              <a:chExt cx="756084" cy="1064538"/>
            </a:xfrm>
          </p:grpSpPr>
          <p:cxnSp>
            <p:nvCxnSpPr>
              <p:cNvPr id="19" name="直接连接符 18"/>
              <p:cNvCxnSpPr/>
              <p:nvPr/>
            </p:nvCxnSpPr>
            <p:spPr>
              <a:xfrm flipV="1">
                <a:off x="2908425" y="764678"/>
                <a:ext cx="295187" cy="695349"/>
              </a:xfrm>
              <a:prstGeom prst="line">
                <a:avLst/>
              </a:prstGeom>
              <a:noFill/>
              <a:ln w="9525" cap="flat" cmpd="sng" algn="ctr">
                <a:solidFill>
                  <a:srgbClr val="FF0000"/>
                </a:solidFill>
                <a:prstDash val="solid"/>
              </a:ln>
              <a:effectLst/>
            </p:spPr>
          </p:cxnSp>
          <p:sp>
            <p:nvSpPr>
              <p:cNvPr id="20" name="TextBox 205"/>
              <p:cNvSpPr txBox="1">
                <a:spLocks noChangeArrowheads="1"/>
              </p:cNvSpPr>
              <p:nvPr/>
            </p:nvSpPr>
            <p:spPr bwMode="auto">
              <a:xfrm>
                <a:off x="2891154" y="395372"/>
                <a:ext cx="756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a:ln>
                      <a:noFill/>
                    </a:ln>
                    <a:solidFill>
                      <a:srgbClr val="000000"/>
                    </a:solidFill>
                    <a:effectLst/>
                    <a:uLnTx/>
                    <a:uFillTx/>
                    <a:latin typeface="+mn-ea"/>
                    <a:ea typeface="+mn-ea"/>
                  </a:rPr>
                  <a:t>底板</a:t>
                </a:r>
                <a:endParaRPr kumimoji="0" lang="zh-CN" altLang="en-US" sz="1800" i="0" u="none" strike="noStrike" kern="0" cap="none" spc="0" normalizeH="0" baseline="0" noProof="0">
                  <a:ln>
                    <a:noFill/>
                  </a:ln>
                  <a:solidFill>
                    <a:srgbClr val="000000"/>
                  </a:solidFill>
                  <a:effectLst/>
                  <a:uLnTx/>
                  <a:uFillTx/>
                  <a:latin typeface="+mn-ea"/>
                  <a:ea typeface="+mn-ea"/>
                </a:endParaRPr>
              </a:p>
            </p:txBody>
          </p:sp>
        </p:grpSp>
        <p:grpSp>
          <p:nvGrpSpPr>
            <p:cNvPr id="15" name="组合 201"/>
            <p:cNvGrpSpPr/>
            <p:nvPr/>
          </p:nvGrpSpPr>
          <p:grpSpPr bwMode="auto">
            <a:xfrm>
              <a:off x="45964" y="3846954"/>
              <a:ext cx="1237456" cy="1191915"/>
              <a:chOff x="3449191" y="406539"/>
              <a:chExt cx="1237456" cy="1191915"/>
            </a:xfrm>
          </p:grpSpPr>
          <p:cxnSp>
            <p:nvCxnSpPr>
              <p:cNvPr id="17" name="直接连接符 16"/>
              <p:cNvCxnSpPr>
                <a:stCxn id="18" idx="2"/>
              </p:cNvCxnSpPr>
              <p:nvPr/>
            </p:nvCxnSpPr>
            <p:spPr>
              <a:xfrm>
                <a:off x="4068132" y="1052335"/>
                <a:ext cx="468172" cy="546119"/>
              </a:xfrm>
              <a:prstGeom prst="line">
                <a:avLst/>
              </a:prstGeom>
              <a:noFill/>
              <a:ln w="9525" cap="flat" cmpd="sng" algn="ctr">
                <a:solidFill>
                  <a:srgbClr val="FF0000"/>
                </a:solidFill>
                <a:prstDash val="solid"/>
              </a:ln>
              <a:effectLst/>
            </p:spPr>
          </p:cxnSp>
          <p:sp>
            <p:nvSpPr>
              <p:cNvPr id="18" name="TextBox 203"/>
              <p:cNvSpPr txBox="1">
                <a:spLocks noChangeArrowheads="1"/>
              </p:cNvSpPr>
              <p:nvPr/>
            </p:nvSpPr>
            <p:spPr bwMode="auto">
              <a:xfrm>
                <a:off x="3449191" y="406539"/>
                <a:ext cx="12374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800" i="0" u="none" strike="noStrike" kern="0" cap="none" spc="0" normalizeH="0" baseline="0" noProof="0" dirty="0">
                    <a:ln>
                      <a:noFill/>
                    </a:ln>
                    <a:solidFill>
                      <a:srgbClr val="000000"/>
                    </a:solidFill>
                    <a:effectLst/>
                    <a:uLnTx/>
                    <a:uFillTx/>
                    <a:latin typeface="+mn-ea"/>
                    <a:ea typeface="+mn-ea"/>
                  </a:rPr>
                  <a:t>两通孔安装螺钉</a:t>
                </a:r>
                <a:endParaRPr kumimoji="0" lang="zh-CN" altLang="en-US" sz="1800" i="0" u="none" strike="noStrike" kern="0" cap="none" spc="0" normalizeH="0" baseline="0" noProof="0" dirty="0">
                  <a:ln>
                    <a:noFill/>
                  </a:ln>
                  <a:solidFill>
                    <a:srgbClr val="000000"/>
                  </a:solidFill>
                  <a:effectLst/>
                  <a:uLnTx/>
                  <a:uFillTx/>
                  <a:latin typeface="+mn-ea"/>
                  <a:ea typeface="+mn-ea"/>
                </a:endParaRPr>
              </a:p>
            </p:txBody>
          </p:sp>
        </p:grpSp>
      </p:grpSp>
      <p:grpSp>
        <p:nvGrpSpPr>
          <p:cNvPr id="31" name="组合 30"/>
          <p:cNvGrpSpPr/>
          <p:nvPr/>
        </p:nvGrpSpPr>
        <p:grpSpPr bwMode="auto">
          <a:xfrm>
            <a:off x="5187111" y="1474510"/>
            <a:ext cx="3816350" cy="4554538"/>
            <a:chOff x="107504" y="1173133"/>
            <a:chExt cx="3816424" cy="4553614"/>
          </a:xfrm>
        </p:grpSpPr>
        <p:pic>
          <p:nvPicPr>
            <p:cNvPr id="32" name="Picture 2" descr="H:\助教任务\捕获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44824"/>
              <a:ext cx="3816424" cy="371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37"/>
            <p:cNvSpPr txBox="1">
              <a:spLocks noChangeArrowheads="1"/>
            </p:cNvSpPr>
            <p:nvPr/>
          </p:nvSpPr>
          <p:spPr bwMode="auto">
            <a:xfrm>
              <a:off x="1595066" y="5326637"/>
              <a:ext cx="1991251"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a:solidFill>
                    <a:srgbClr val="000000"/>
                  </a:solidFill>
                  <a:latin typeface="+mn-ea"/>
                  <a:ea typeface="+mn-ea"/>
                </a:rPr>
                <a:t>轴承座功用说明</a:t>
              </a:r>
              <a:endParaRPr kumimoji="1" lang="zh-CN" altLang="en-US" sz="2000">
                <a:solidFill>
                  <a:srgbClr val="000000"/>
                </a:solidFill>
                <a:latin typeface="+mn-ea"/>
                <a:ea typeface="+mn-ea"/>
              </a:endParaRPr>
            </a:p>
          </p:txBody>
        </p:sp>
        <p:grpSp>
          <p:nvGrpSpPr>
            <p:cNvPr id="34" name="组合 221"/>
            <p:cNvGrpSpPr/>
            <p:nvPr/>
          </p:nvGrpSpPr>
          <p:grpSpPr bwMode="auto">
            <a:xfrm>
              <a:off x="2890266" y="1173133"/>
              <a:ext cx="700833" cy="758854"/>
              <a:chOff x="2890266" y="1173133"/>
              <a:chExt cx="700833" cy="758854"/>
            </a:xfrm>
          </p:grpSpPr>
          <p:sp>
            <p:nvSpPr>
              <p:cNvPr id="47" name="Line 182"/>
              <p:cNvSpPr>
                <a:spLocks noChangeShapeType="1"/>
              </p:cNvSpPr>
              <p:nvPr/>
            </p:nvSpPr>
            <p:spPr bwMode="auto">
              <a:xfrm>
                <a:off x="3002558" y="1550988"/>
                <a:ext cx="517525"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sp>
            <p:nvSpPr>
              <p:cNvPr id="48" name="Text Box 183"/>
              <p:cNvSpPr txBox="1">
                <a:spLocks noChangeArrowheads="1"/>
              </p:cNvSpPr>
              <p:nvPr/>
            </p:nvSpPr>
            <p:spPr bwMode="auto">
              <a:xfrm>
                <a:off x="2890266" y="1173133"/>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000000"/>
                    </a:solidFill>
                    <a:latin typeface="+mn-ea"/>
                    <a:ea typeface="+mn-ea"/>
                  </a:rPr>
                  <a:t>端盖</a:t>
                </a:r>
                <a:endParaRPr kumimoji="1" lang="zh-CN" altLang="en-US" sz="2000">
                  <a:solidFill>
                    <a:srgbClr val="000000"/>
                  </a:solidFill>
                  <a:latin typeface="+mn-ea"/>
                  <a:ea typeface="+mn-ea"/>
                </a:endParaRPr>
              </a:p>
            </p:txBody>
          </p:sp>
          <p:sp>
            <p:nvSpPr>
              <p:cNvPr id="49" name="Line 184"/>
              <p:cNvSpPr>
                <a:spLocks noChangeShapeType="1"/>
              </p:cNvSpPr>
              <p:nvPr/>
            </p:nvSpPr>
            <p:spPr bwMode="auto">
              <a:xfrm flipV="1">
                <a:off x="3221632" y="1550987"/>
                <a:ext cx="298450" cy="381000"/>
              </a:xfrm>
              <a:prstGeom prst="line">
                <a:avLst/>
              </a:prstGeom>
              <a:noFill/>
              <a:ln w="12700">
                <a:solidFill>
                  <a:srgbClr val="FF0000"/>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grpSp>
        <p:grpSp>
          <p:nvGrpSpPr>
            <p:cNvPr id="35" name="组合 222"/>
            <p:cNvGrpSpPr/>
            <p:nvPr/>
          </p:nvGrpSpPr>
          <p:grpSpPr bwMode="auto">
            <a:xfrm>
              <a:off x="1090066" y="1422792"/>
              <a:ext cx="700833" cy="799706"/>
              <a:chOff x="1090066" y="1422792"/>
              <a:chExt cx="700833" cy="799706"/>
            </a:xfrm>
          </p:grpSpPr>
          <p:sp>
            <p:nvSpPr>
              <p:cNvPr id="44" name="Line 188"/>
              <p:cNvSpPr>
                <a:spLocks noChangeShapeType="1"/>
              </p:cNvSpPr>
              <p:nvPr/>
            </p:nvSpPr>
            <p:spPr bwMode="auto">
              <a:xfrm flipH="1" flipV="1">
                <a:off x="1240458" y="1798637"/>
                <a:ext cx="409574" cy="423861"/>
              </a:xfrm>
              <a:prstGeom prst="line">
                <a:avLst/>
              </a:prstGeom>
              <a:noFill/>
              <a:ln w="12700">
                <a:solidFill>
                  <a:srgbClr val="FF0000"/>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sp>
            <p:nvSpPr>
              <p:cNvPr id="45" name="Line 189"/>
              <p:cNvSpPr>
                <a:spLocks noChangeShapeType="1"/>
              </p:cNvSpPr>
              <p:nvPr/>
            </p:nvSpPr>
            <p:spPr bwMode="auto">
              <a:xfrm>
                <a:off x="1240458" y="1799060"/>
                <a:ext cx="409575"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sp>
            <p:nvSpPr>
              <p:cNvPr id="46" name="Text Box 190"/>
              <p:cNvSpPr txBox="1">
                <a:spLocks noChangeArrowheads="1"/>
              </p:cNvSpPr>
              <p:nvPr/>
            </p:nvSpPr>
            <p:spPr bwMode="auto">
              <a:xfrm>
                <a:off x="1090066" y="1422792"/>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000000"/>
                    </a:solidFill>
                    <a:latin typeface="+mn-ea"/>
                    <a:ea typeface="+mn-ea"/>
                  </a:rPr>
                  <a:t>齿轮</a:t>
                </a:r>
                <a:endParaRPr kumimoji="1" lang="zh-CN" altLang="en-US" sz="2000">
                  <a:solidFill>
                    <a:srgbClr val="000000"/>
                  </a:solidFill>
                  <a:latin typeface="+mn-ea"/>
                  <a:ea typeface="+mn-ea"/>
                </a:endParaRPr>
              </a:p>
            </p:txBody>
          </p:sp>
        </p:grpSp>
        <p:sp>
          <p:nvSpPr>
            <p:cNvPr id="36" name="Text Box 194"/>
            <p:cNvSpPr txBox="1">
              <a:spLocks noChangeArrowheads="1"/>
            </p:cNvSpPr>
            <p:nvPr/>
          </p:nvSpPr>
          <p:spPr bwMode="auto">
            <a:xfrm>
              <a:off x="1810896" y="4589134"/>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000000"/>
                  </a:solidFill>
                  <a:latin typeface="+mn-ea"/>
                  <a:ea typeface="+mn-ea"/>
                </a:rPr>
                <a:t>轴承座</a:t>
              </a:r>
              <a:endParaRPr kumimoji="1" lang="zh-CN" altLang="en-US" sz="2000">
                <a:solidFill>
                  <a:srgbClr val="000000"/>
                </a:solidFill>
                <a:latin typeface="+mn-ea"/>
                <a:ea typeface="+mn-ea"/>
              </a:endParaRPr>
            </a:p>
          </p:txBody>
        </p:sp>
        <p:sp>
          <p:nvSpPr>
            <p:cNvPr id="38" name="Line 195"/>
            <p:cNvSpPr>
              <a:spLocks noChangeShapeType="1"/>
            </p:cNvSpPr>
            <p:nvPr/>
          </p:nvSpPr>
          <p:spPr bwMode="auto">
            <a:xfrm>
              <a:off x="1125226" y="4293097"/>
              <a:ext cx="993677" cy="339475"/>
            </a:xfrm>
            <a:prstGeom prst="line">
              <a:avLst/>
            </a:prstGeom>
            <a:noFill/>
            <a:ln w="12700">
              <a:solidFill>
                <a:srgbClr val="FF0000"/>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grpSp>
          <p:nvGrpSpPr>
            <p:cNvPr id="39" name="组合 225"/>
            <p:cNvGrpSpPr/>
            <p:nvPr/>
          </p:nvGrpSpPr>
          <p:grpSpPr bwMode="auto">
            <a:xfrm>
              <a:off x="487891" y="1755745"/>
              <a:ext cx="843747" cy="1241207"/>
              <a:chOff x="1219108" y="1422792"/>
              <a:chExt cx="843747" cy="1241207"/>
            </a:xfrm>
          </p:grpSpPr>
          <p:sp>
            <p:nvSpPr>
              <p:cNvPr id="41" name="Line 188"/>
              <p:cNvSpPr>
                <a:spLocks noChangeShapeType="1"/>
              </p:cNvSpPr>
              <p:nvPr/>
            </p:nvSpPr>
            <p:spPr bwMode="auto">
              <a:xfrm flipH="1" flipV="1">
                <a:off x="1650032" y="1789535"/>
                <a:ext cx="412823" cy="874464"/>
              </a:xfrm>
              <a:prstGeom prst="line">
                <a:avLst/>
              </a:prstGeom>
              <a:noFill/>
              <a:ln w="12700">
                <a:solidFill>
                  <a:srgbClr val="FF0000"/>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sp>
            <p:nvSpPr>
              <p:cNvPr id="42" name="Line 189"/>
              <p:cNvSpPr>
                <a:spLocks noChangeShapeType="1"/>
              </p:cNvSpPr>
              <p:nvPr/>
            </p:nvSpPr>
            <p:spPr bwMode="auto">
              <a:xfrm>
                <a:off x="1240458" y="1799060"/>
                <a:ext cx="409575"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sp>
            <p:nvSpPr>
              <p:cNvPr id="43" name="Text Box 190"/>
              <p:cNvSpPr txBox="1">
                <a:spLocks noChangeArrowheads="1"/>
              </p:cNvSpPr>
              <p:nvPr/>
            </p:nvSpPr>
            <p:spPr bwMode="auto">
              <a:xfrm>
                <a:off x="1219108" y="1422792"/>
                <a:ext cx="4427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000000"/>
                    </a:solidFill>
                    <a:latin typeface="+mn-ea"/>
                    <a:ea typeface="+mn-ea"/>
                  </a:rPr>
                  <a:t>轴</a:t>
                </a:r>
                <a:endParaRPr kumimoji="1" lang="zh-CN" altLang="en-US" sz="2000">
                  <a:solidFill>
                    <a:srgbClr val="000000"/>
                  </a:solidFill>
                  <a:latin typeface="+mn-ea"/>
                  <a:ea typeface="+mn-ea"/>
                </a:endParaRPr>
              </a:p>
            </p:txBody>
          </p:sp>
        </p:grpSp>
        <p:sp>
          <p:nvSpPr>
            <p:cNvPr id="40" name="Line 195"/>
            <p:cNvSpPr>
              <a:spLocks noChangeShapeType="1"/>
            </p:cNvSpPr>
            <p:nvPr/>
          </p:nvSpPr>
          <p:spPr bwMode="auto">
            <a:xfrm flipV="1">
              <a:off x="2290354" y="4092574"/>
              <a:ext cx="712204" cy="539997"/>
            </a:xfrm>
            <a:prstGeom prst="line">
              <a:avLst/>
            </a:prstGeom>
            <a:noFill/>
            <a:ln w="12700">
              <a:solidFill>
                <a:srgbClr val="FF0000"/>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latin typeface="+mn-ea"/>
              </a:endParaRPr>
            </a:p>
          </p:txBody>
        </p:sp>
      </p:grpSp>
      <p:sp>
        <p:nvSpPr>
          <p:cNvPr id="50" name="Text Box 8"/>
          <p:cNvSpPr txBox="1">
            <a:spLocks noChangeArrowheads="1"/>
          </p:cNvSpPr>
          <p:nvPr/>
        </p:nvSpPr>
        <p:spPr bwMode="auto">
          <a:xfrm>
            <a:off x="9434377" y="2735174"/>
            <a:ext cx="220623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b="1" dirty="0">
                <a:solidFill>
                  <a:srgbClr val="000000"/>
                </a:solidFill>
                <a:latin typeface="+mn-ea"/>
                <a:ea typeface="+mn-ea"/>
              </a:rPr>
              <a:t>形体分析</a:t>
            </a:r>
            <a:r>
              <a:rPr kumimoji="1" lang="zh-CN" altLang="en-US" sz="2400" dirty="0">
                <a:solidFill>
                  <a:srgbClr val="000000"/>
                </a:solidFill>
                <a:latin typeface="+mn-ea"/>
                <a:ea typeface="+mn-ea"/>
              </a:rPr>
              <a:t>：轴承孔、底板、支承板、肋板</a:t>
            </a:r>
            <a:r>
              <a:rPr kumimoji="1" lang="en-US" altLang="zh-CN" sz="2400" dirty="0">
                <a:solidFill>
                  <a:srgbClr val="000000"/>
                </a:solidFill>
                <a:latin typeface="+mn-ea"/>
                <a:ea typeface="+mn-ea"/>
              </a:rPr>
              <a:t>…</a:t>
            </a:r>
            <a:endParaRPr kumimoji="1" lang="zh-CN" altLang="en-US" sz="2400" dirty="0">
              <a:solidFill>
                <a:srgbClr val="000000"/>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p:bldP spid="5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37" descr="H:\助教任务\捕获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33896" y="1447436"/>
            <a:ext cx="281305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717038" y="1277332"/>
            <a:ext cx="2339102"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b="1" dirty="0">
                <a:solidFill>
                  <a:srgbClr val="CC0000"/>
                </a:solidFill>
                <a:latin typeface="微软雅黑" panose="020B0503020204020204" pitchFamily="34" charset="-122"/>
                <a:ea typeface="微软雅黑" panose="020B0503020204020204" pitchFamily="34" charset="-122"/>
                <a:sym typeface="Monotype Sorts" pitchFamily="2" charset="2"/>
              </a:rPr>
              <a:t>主视图的选择</a:t>
            </a:r>
            <a:endParaRPr kumimoji="1" lang="zh-CN" altLang="en-US" sz="2800" b="1" dirty="0">
              <a:solidFill>
                <a:srgbClr val="CC0000"/>
              </a:solidFill>
              <a:latin typeface="微软雅黑" panose="020B0503020204020204" pitchFamily="34" charset="-122"/>
              <a:ea typeface="微软雅黑" panose="020B0503020204020204" pitchFamily="34" charset="-122"/>
              <a:sym typeface="Monotype Sorts" pitchFamily="2" charset="2"/>
            </a:endParaRPr>
          </a:p>
        </p:txBody>
      </p:sp>
      <p:grpSp>
        <p:nvGrpSpPr>
          <p:cNvPr id="4" name="组合 3"/>
          <p:cNvGrpSpPr/>
          <p:nvPr/>
        </p:nvGrpSpPr>
        <p:grpSpPr bwMode="auto">
          <a:xfrm>
            <a:off x="9261308" y="1737500"/>
            <a:ext cx="2453630" cy="3912408"/>
            <a:chOff x="4591050" y="2965720"/>
            <a:chExt cx="2453630" cy="3912408"/>
          </a:xfrm>
        </p:grpSpPr>
        <p:sp>
          <p:nvSpPr>
            <p:cNvPr id="5" name="Text Box 9" descr="小纸屑"/>
            <p:cNvSpPr txBox="1">
              <a:spLocks noChangeArrowheads="1"/>
            </p:cNvSpPr>
            <p:nvPr/>
          </p:nvSpPr>
          <p:spPr bwMode="auto">
            <a:xfrm>
              <a:off x="5261439" y="6416328"/>
              <a:ext cx="1112851" cy="461800"/>
            </a:xfrm>
            <a:prstGeom prst="rect">
              <a:avLst/>
            </a:prstGeom>
            <a:noFill/>
            <a:ln>
              <a:noFill/>
            </a:ln>
            <a:extLst>
              <a:ext uri="{909E8E84-426E-40DD-AFC4-6F175D3DCCD1}">
                <a14:hiddenFill xmlns:a14="http://schemas.microsoft.com/office/drawing/2010/main">
                  <a:pattFill prst="smConfetti">
                    <a:fgClr>
                      <a:srgbClr val="CC99FF"/>
                    </a:fgClr>
                    <a:bgClr>
                      <a:srgbClr val="FFFFFF"/>
                    </a:bgClr>
                  </a:patt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主视图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1050" y="2965720"/>
              <a:ext cx="2453630" cy="3228975"/>
            </a:xfrm>
            <a:prstGeom prst="snip1Rect">
              <a:avLst>
                <a:gd name="adj" fmla="val 28701"/>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 name="Text Box 7"/>
          <p:cNvSpPr txBox="1">
            <a:spLocks noChangeArrowheads="1"/>
          </p:cNvSpPr>
          <p:nvPr/>
        </p:nvSpPr>
        <p:spPr bwMode="auto">
          <a:xfrm>
            <a:off x="1151112" y="1954482"/>
            <a:ext cx="2697163"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零件的工作位置</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8" name="Text Box 8"/>
          <p:cNvSpPr txBox="1">
            <a:spLocks noChangeArrowheads="1"/>
          </p:cNvSpPr>
          <p:nvPr/>
        </p:nvSpPr>
        <p:spPr bwMode="auto">
          <a:xfrm>
            <a:off x="1141587" y="2527102"/>
            <a:ext cx="3308919"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形状特征 </a:t>
            </a: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特征视图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0" name="Text Box 11"/>
          <p:cNvSpPr txBox="1">
            <a:spLocks noChangeArrowheads="1"/>
          </p:cNvSpPr>
          <p:nvPr/>
        </p:nvSpPr>
        <p:spPr bwMode="auto">
          <a:xfrm>
            <a:off x="717038" y="3494301"/>
            <a:ext cx="4493538" cy="227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800100" indent="-3429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主视图表达了零件的主要部分：</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lvl="1"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 轴承孔的形状特征</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lvl="1"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 肋板、支承板的相对位置</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lvl="1"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 三个螺钉孔</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lvl="1"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 凸台也得到了表达</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nvGrpSpPr>
          <p:cNvPr id="11" name="组合 10"/>
          <p:cNvGrpSpPr/>
          <p:nvPr/>
        </p:nvGrpSpPr>
        <p:grpSpPr bwMode="auto">
          <a:xfrm>
            <a:off x="7176120" y="4952648"/>
            <a:ext cx="1512887" cy="934433"/>
            <a:chOff x="2297965" y="5164028"/>
            <a:chExt cx="1512168" cy="933122"/>
          </a:xfrm>
        </p:grpSpPr>
        <p:sp>
          <p:nvSpPr>
            <p:cNvPr id="12" name="Line 215"/>
            <p:cNvSpPr>
              <a:spLocks noChangeShapeType="1"/>
            </p:cNvSpPr>
            <p:nvPr/>
          </p:nvSpPr>
          <p:spPr bwMode="auto">
            <a:xfrm flipH="1" flipV="1">
              <a:off x="2664116" y="5164028"/>
              <a:ext cx="265020" cy="46115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3" name="TextBox 16"/>
            <p:cNvSpPr txBox="1">
              <a:spLocks noChangeArrowheads="1"/>
            </p:cNvSpPr>
            <p:nvPr/>
          </p:nvSpPr>
          <p:spPr bwMode="auto">
            <a:xfrm>
              <a:off x="2297965" y="5727818"/>
              <a:ext cx="15121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dirty="0">
                  <a:solidFill>
                    <a:srgbClr val="000000"/>
                  </a:solidFill>
                  <a:latin typeface="微软雅黑" panose="020B0503020204020204" pitchFamily="34" charset="-122"/>
                  <a:ea typeface="微软雅黑" panose="020B0503020204020204" pitchFamily="34" charset="-122"/>
                </a:rPr>
                <a:t>主视图方向</a:t>
              </a:r>
              <a:endParaRPr lang="zh-CN" altLang="en-US" sz="1800" dirty="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6888088" y="116632"/>
            <a:ext cx="5303912" cy="6149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Rectangle 2"/>
          <p:cNvSpPr>
            <a:spLocks noChangeArrowheads="1"/>
          </p:cNvSpPr>
          <p:nvPr/>
        </p:nvSpPr>
        <p:spPr bwMode="auto">
          <a:xfrm>
            <a:off x="642625" y="1318297"/>
            <a:ext cx="1987550" cy="523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b="1" dirty="0">
                <a:solidFill>
                  <a:srgbClr val="CC0000"/>
                </a:solidFill>
                <a:latin typeface="微软雅黑" panose="020B0503020204020204" pitchFamily="34" charset="-122"/>
                <a:ea typeface="微软雅黑" panose="020B0503020204020204" pitchFamily="34" charset="-122"/>
                <a:sym typeface="Monotype Sorts" pitchFamily="2" charset="2"/>
              </a:rPr>
              <a:t>选其它视图</a:t>
            </a:r>
            <a:endParaRPr kumimoji="1" lang="zh-CN" altLang="en-US" sz="2800" b="1" dirty="0">
              <a:solidFill>
                <a:srgbClr val="CC0000"/>
              </a:solidFill>
              <a:latin typeface="微软雅黑" panose="020B0503020204020204" pitchFamily="34" charset="-122"/>
              <a:ea typeface="微软雅黑" panose="020B0503020204020204" pitchFamily="34" charset="-122"/>
              <a:sym typeface="Monotype Sorts" pitchFamily="2" charset="2"/>
            </a:endParaRPr>
          </a:p>
        </p:txBody>
      </p:sp>
      <p:sp>
        <p:nvSpPr>
          <p:cNvPr id="3" name="Text Box 3" descr="编织物"/>
          <p:cNvSpPr txBox="1">
            <a:spLocks noChangeArrowheads="1"/>
          </p:cNvSpPr>
          <p:nvPr/>
        </p:nvSpPr>
        <p:spPr bwMode="auto">
          <a:xfrm>
            <a:off x="911424" y="5078136"/>
            <a:ext cx="5038914"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l"/>
            </a:pPr>
            <a:r>
              <a:rPr kumimoji="1" lang="en-US" altLang="zh-CN" sz="2400" dirty="0">
                <a:solidFill>
                  <a:srgbClr val="000000"/>
                </a:solidFill>
                <a:latin typeface="微软雅黑" panose="020B0503020204020204" pitchFamily="34" charset="-122"/>
                <a:ea typeface="微软雅黑" panose="020B0503020204020204" pitchFamily="34" charset="-122"/>
              </a:rPr>
              <a:t>C</a:t>
            </a:r>
            <a:r>
              <a:rPr kumimoji="1" lang="zh-CN" altLang="en-US" sz="2400" dirty="0">
                <a:solidFill>
                  <a:srgbClr val="000000"/>
                </a:solidFill>
                <a:latin typeface="微软雅黑" panose="020B0503020204020204" pitchFamily="34" charset="-122"/>
                <a:ea typeface="微软雅黑" panose="020B0503020204020204" pitchFamily="34" charset="-122"/>
              </a:rPr>
              <a:t>向局部视图表达上面凸台的形状。</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4" name="Text Box 5" descr="编织物"/>
          <p:cNvSpPr txBox="1">
            <a:spLocks noChangeArrowheads="1"/>
          </p:cNvSpPr>
          <p:nvPr/>
        </p:nvSpPr>
        <p:spPr bwMode="auto">
          <a:xfrm>
            <a:off x="911424" y="3952886"/>
            <a:ext cx="4749690"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l"/>
            </a:pPr>
            <a:r>
              <a:rPr kumimoji="1" lang="zh-CN" altLang="en-US" sz="2400" dirty="0">
                <a:solidFill>
                  <a:srgbClr val="000000"/>
                </a:solidFill>
                <a:latin typeface="微软雅黑" panose="020B0503020204020204" pitchFamily="34" charset="-122"/>
                <a:ea typeface="微软雅黑" panose="020B0503020204020204" pitchFamily="34" charset="-122"/>
              </a:rPr>
              <a:t>选择移出断面表达支承板断面及肋板断面的形状。</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nvGrpSpPr>
          <p:cNvPr id="5" name="Group 10"/>
          <p:cNvGrpSpPr/>
          <p:nvPr/>
        </p:nvGrpSpPr>
        <p:grpSpPr bwMode="auto">
          <a:xfrm>
            <a:off x="8268146" y="250414"/>
            <a:ext cx="314325" cy="415925"/>
            <a:chOff x="3417" y="0"/>
            <a:chExt cx="198" cy="262"/>
          </a:xfrm>
        </p:grpSpPr>
        <p:sp>
          <p:nvSpPr>
            <p:cNvPr id="6" name="Line 11"/>
            <p:cNvSpPr>
              <a:spLocks noChangeShapeType="1"/>
            </p:cNvSpPr>
            <p:nvPr/>
          </p:nvSpPr>
          <p:spPr bwMode="auto">
            <a:xfrm>
              <a:off x="3436" y="70"/>
              <a:ext cx="0" cy="192"/>
            </a:xfrm>
            <a:prstGeom prst="line">
              <a:avLst/>
            </a:prstGeom>
            <a:noFill/>
            <a:ln w="9525">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 name="Text Box 12"/>
            <p:cNvSpPr txBox="1">
              <a:spLocks noChangeArrowheads="1"/>
            </p:cNvSpPr>
            <p:nvPr/>
          </p:nvSpPr>
          <p:spPr bwMode="auto">
            <a:xfrm>
              <a:off x="3417" y="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8" name="Text Box 13"/>
          <p:cNvSpPr txBox="1">
            <a:spLocks noChangeArrowheads="1"/>
          </p:cNvSpPr>
          <p:nvPr/>
        </p:nvSpPr>
        <p:spPr bwMode="auto">
          <a:xfrm>
            <a:off x="10635016" y="5162109"/>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C</a:t>
            </a:r>
            <a:endParaRPr kumimoji="1" lang="en-US" altLang="zh-CN" sz="2000" b="1" i="1">
              <a:solidFill>
                <a:srgbClr val="000000"/>
              </a:solidFill>
              <a:latin typeface="+mn-ea"/>
              <a:ea typeface="+mn-ea"/>
            </a:endParaRPr>
          </a:p>
        </p:txBody>
      </p:sp>
      <p:grpSp>
        <p:nvGrpSpPr>
          <p:cNvPr id="9" name="Group 14"/>
          <p:cNvGrpSpPr/>
          <p:nvPr/>
        </p:nvGrpSpPr>
        <p:grpSpPr bwMode="auto">
          <a:xfrm>
            <a:off x="7931592" y="540927"/>
            <a:ext cx="688975" cy="3973512"/>
            <a:chOff x="3205" y="183"/>
            <a:chExt cx="434" cy="2503"/>
          </a:xfrm>
        </p:grpSpPr>
        <p:grpSp>
          <p:nvGrpSpPr>
            <p:cNvPr id="10" name="Group 15"/>
            <p:cNvGrpSpPr/>
            <p:nvPr/>
          </p:nvGrpSpPr>
          <p:grpSpPr bwMode="auto">
            <a:xfrm>
              <a:off x="3205" y="183"/>
              <a:ext cx="419" cy="252"/>
              <a:chOff x="3205" y="183"/>
              <a:chExt cx="419" cy="252"/>
            </a:xfrm>
          </p:grpSpPr>
          <p:sp>
            <p:nvSpPr>
              <p:cNvPr id="17" name="Line 16"/>
              <p:cNvSpPr>
                <a:spLocks noChangeShapeType="1"/>
              </p:cNvSpPr>
              <p:nvPr/>
            </p:nvSpPr>
            <p:spPr bwMode="auto">
              <a:xfrm flipH="1" flipV="1">
                <a:off x="3429" y="294"/>
                <a:ext cx="1" cy="11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8" name="Line 17"/>
              <p:cNvSpPr>
                <a:spLocks noChangeShapeType="1"/>
              </p:cNvSpPr>
              <p:nvPr/>
            </p:nvSpPr>
            <p:spPr bwMode="auto">
              <a:xfrm flipV="1">
                <a:off x="3416" y="293"/>
                <a:ext cx="208"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9" name="Text Box 18"/>
              <p:cNvSpPr txBox="1">
                <a:spLocks noChangeArrowheads="1"/>
              </p:cNvSpPr>
              <p:nvPr/>
            </p:nvSpPr>
            <p:spPr bwMode="auto">
              <a:xfrm>
                <a:off x="3205" y="183"/>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nvGrpSpPr>
            <p:cNvPr id="11" name="Group 19"/>
            <p:cNvGrpSpPr/>
            <p:nvPr/>
          </p:nvGrpSpPr>
          <p:grpSpPr bwMode="auto">
            <a:xfrm>
              <a:off x="3250" y="2434"/>
              <a:ext cx="389" cy="252"/>
              <a:chOff x="3250" y="2434"/>
              <a:chExt cx="389" cy="252"/>
            </a:xfrm>
          </p:grpSpPr>
          <p:grpSp>
            <p:nvGrpSpPr>
              <p:cNvPr id="12" name="Group 20"/>
              <p:cNvGrpSpPr/>
              <p:nvPr/>
            </p:nvGrpSpPr>
            <p:grpSpPr bwMode="auto">
              <a:xfrm>
                <a:off x="3446" y="2508"/>
                <a:ext cx="193" cy="99"/>
                <a:chOff x="3446" y="2456"/>
                <a:chExt cx="193" cy="99"/>
              </a:xfrm>
            </p:grpSpPr>
            <p:sp>
              <p:nvSpPr>
                <p:cNvPr id="14" name="Line 21"/>
                <p:cNvSpPr>
                  <a:spLocks noChangeShapeType="1"/>
                </p:cNvSpPr>
                <p:nvPr/>
              </p:nvSpPr>
              <p:spPr bwMode="auto">
                <a:xfrm>
                  <a:off x="3446" y="2456"/>
                  <a:ext cx="4" cy="9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5" name="Line 22"/>
                <p:cNvSpPr>
                  <a:spLocks noChangeShapeType="1"/>
                </p:cNvSpPr>
                <p:nvPr/>
              </p:nvSpPr>
              <p:spPr bwMode="auto">
                <a:xfrm>
                  <a:off x="3450" y="2555"/>
                  <a:ext cx="189"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13" name="Text Box 23"/>
              <p:cNvSpPr txBox="1">
                <a:spLocks noChangeArrowheads="1"/>
              </p:cNvSpPr>
              <p:nvPr/>
            </p:nvSpPr>
            <p:spPr bwMode="auto">
              <a:xfrm>
                <a:off x="3250" y="2434"/>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grpSp>
        <p:nvGrpSpPr>
          <p:cNvPr id="20" name="Group 44"/>
          <p:cNvGrpSpPr/>
          <p:nvPr/>
        </p:nvGrpSpPr>
        <p:grpSpPr bwMode="auto">
          <a:xfrm>
            <a:off x="7566471" y="4257264"/>
            <a:ext cx="320675" cy="422275"/>
            <a:chOff x="2975" y="2524"/>
            <a:chExt cx="202" cy="266"/>
          </a:xfrm>
        </p:grpSpPr>
        <p:sp>
          <p:nvSpPr>
            <p:cNvPr id="21" name="Line 45"/>
            <p:cNvSpPr>
              <a:spLocks noChangeShapeType="1"/>
            </p:cNvSpPr>
            <p:nvPr/>
          </p:nvSpPr>
          <p:spPr bwMode="auto">
            <a:xfrm>
              <a:off x="3162" y="2524"/>
              <a:ext cx="0" cy="179"/>
            </a:xfrm>
            <a:prstGeom prst="line">
              <a:avLst/>
            </a:prstGeom>
            <a:noFill/>
            <a:ln w="12700">
              <a:solidFill>
                <a:srgbClr val="0000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2" name="Text Box 46"/>
            <p:cNvSpPr txBox="1">
              <a:spLocks noChangeArrowheads="1"/>
            </p:cNvSpPr>
            <p:nvPr/>
          </p:nvSpPr>
          <p:spPr bwMode="auto">
            <a:xfrm>
              <a:off x="2975" y="2538"/>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D</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23" name="Text Box 47"/>
          <p:cNvSpPr txBox="1">
            <a:spLocks noChangeArrowheads="1"/>
          </p:cNvSpPr>
          <p:nvPr/>
        </p:nvSpPr>
        <p:spPr bwMode="auto">
          <a:xfrm>
            <a:off x="8179246" y="4650964"/>
            <a:ext cx="3206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D</a:t>
            </a:r>
            <a:endParaRPr kumimoji="1" lang="en-US" altLang="zh-CN" sz="2000" b="1" i="1">
              <a:solidFill>
                <a:srgbClr val="000000"/>
              </a:solidFill>
              <a:latin typeface="+mn-ea"/>
              <a:ea typeface="+mn-ea"/>
            </a:endParaRPr>
          </a:p>
        </p:txBody>
      </p:sp>
      <p:sp>
        <p:nvSpPr>
          <p:cNvPr id="24" name="Text Box 71"/>
          <p:cNvSpPr txBox="1">
            <a:spLocks noChangeArrowheads="1"/>
          </p:cNvSpPr>
          <p:nvPr/>
        </p:nvSpPr>
        <p:spPr bwMode="auto">
          <a:xfrm>
            <a:off x="10341421" y="4262027"/>
            <a:ext cx="714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B</a:t>
            </a:r>
            <a:r>
              <a:rPr kumimoji="1" lang="zh-CN" altLang="en-US" sz="2000" b="1" i="1">
                <a:solidFill>
                  <a:srgbClr val="000000"/>
                </a:solidFill>
                <a:latin typeface="+mn-ea"/>
                <a:ea typeface="+mn-ea"/>
              </a:rPr>
              <a:t>－</a:t>
            </a:r>
            <a:r>
              <a:rPr kumimoji="1" lang="en-US" altLang="zh-CN" sz="2000" b="1" i="1">
                <a:solidFill>
                  <a:srgbClr val="000000"/>
                </a:solidFill>
                <a:latin typeface="+mn-ea"/>
                <a:ea typeface="+mn-ea"/>
              </a:rPr>
              <a:t>B</a:t>
            </a:r>
            <a:endParaRPr kumimoji="1" lang="en-US" altLang="zh-CN" sz="2000" b="1" i="1">
              <a:solidFill>
                <a:srgbClr val="000000"/>
              </a:solidFill>
              <a:latin typeface="+mn-ea"/>
              <a:ea typeface="+mn-ea"/>
            </a:endParaRPr>
          </a:p>
        </p:txBody>
      </p:sp>
      <p:sp>
        <p:nvSpPr>
          <p:cNvPr id="25" name="Text Box 72"/>
          <p:cNvSpPr txBox="1">
            <a:spLocks noChangeArrowheads="1"/>
          </p:cNvSpPr>
          <p:nvPr/>
        </p:nvSpPr>
        <p:spPr bwMode="auto">
          <a:xfrm>
            <a:off x="10398190" y="591697"/>
            <a:ext cx="7024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A</a:t>
            </a:r>
            <a:r>
              <a:rPr kumimoji="1" lang="zh-CN" altLang="en-US" sz="2000" b="1" i="1">
                <a:solidFill>
                  <a:srgbClr val="000000"/>
                </a:solidFill>
                <a:latin typeface="+mn-ea"/>
                <a:ea typeface="+mn-ea"/>
              </a:rPr>
              <a:t>－</a:t>
            </a:r>
            <a:r>
              <a:rPr kumimoji="1" lang="en-US" altLang="zh-CN" sz="2000" b="1" i="1">
                <a:solidFill>
                  <a:srgbClr val="000000"/>
                </a:solidFill>
                <a:latin typeface="+mn-ea"/>
                <a:ea typeface="+mn-ea"/>
              </a:rPr>
              <a:t>A</a:t>
            </a:r>
            <a:endParaRPr kumimoji="1" lang="en-US" altLang="zh-CN" sz="2000" b="1" i="1">
              <a:solidFill>
                <a:srgbClr val="000000"/>
              </a:solidFill>
              <a:latin typeface="+mn-ea"/>
              <a:ea typeface="+mn-ea"/>
            </a:endParaRPr>
          </a:p>
        </p:txBody>
      </p:sp>
      <p:sp>
        <p:nvSpPr>
          <p:cNvPr id="26" name="Text Box 81" descr="点式菱形"/>
          <p:cNvSpPr txBox="1">
            <a:spLocks noChangeArrowheads="1"/>
          </p:cNvSpPr>
          <p:nvPr/>
        </p:nvSpPr>
        <p:spPr bwMode="auto">
          <a:xfrm>
            <a:off x="911424" y="2071720"/>
            <a:ext cx="4757614"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l"/>
            </a:pPr>
            <a:r>
              <a:rPr kumimoji="1" lang="zh-CN" altLang="en-US" sz="2400" dirty="0">
                <a:solidFill>
                  <a:srgbClr val="000000"/>
                </a:solidFill>
                <a:latin typeface="微软雅黑" panose="020B0503020204020204" pitchFamily="34" charset="-122"/>
                <a:ea typeface="微软雅黑" panose="020B0503020204020204" pitchFamily="34" charset="-122"/>
              </a:rPr>
              <a:t>选全剖的左视图</a:t>
            </a:r>
            <a:r>
              <a:rPr kumimoji="1" lang="en-US" altLang="zh-CN" sz="2400" dirty="0">
                <a:solidFill>
                  <a:srgbClr val="000000"/>
                </a:solidFill>
                <a:latin typeface="微软雅黑" panose="020B0503020204020204" pitchFamily="34" charset="-122"/>
                <a:ea typeface="微软雅黑" panose="020B0503020204020204" pitchFamily="34" charset="-122"/>
              </a:rPr>
              <a:t>,</a:t>
            </a:r>
            <a:r>
              <a:rPr kumimoji="1" lang="zh-CN" altLang="en-US" sz="2400" dirty="0">
                <a:solidFill>
                  <a:srgbClr val="000000"/>
                </a:solidFill>
                <a:latin typeface="微软雅黑" panose="020B0503020204020204" pitchFamily="34" charset="-122"/>
                <a:ea typeface="微软雅黑" panose="020B0503020204020204" pitchFamily="34" charset="-122"/>
              </a:rPr>
              <a:t>表达轴承孔的内部结构及肋板形状。</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27" name="Text Box 82" descr="编织物"/>
          <p:cNvSpPr txBox="1">
            <a:spLocks noChangeArrowheads="1"/>
          </p:cNvSpPr>
          <p:nvPr/>
        </p:nvSpPr>
        <p:spPr bwMode="auto">
          <a:xfrm>
            <a:off x="911424" y="3196969"/>
            <a:ext cx="4777219"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l"/>
            </a:pPr>
            <a:r>
              <a:rPr kumimoji="1" lang="zh-CN" altLang="en-US" sz="2400" dirty="0">
                <a:solidFill>
                  <a:srgbClr val="000000"/>
                </a:solidFill>
                <a:latin typeface="微软雅黑" panose="020B0503020204020204" pitchFamily="34" charset="-122"/>
                <a:ea typeface="微软雅黑" panose="020B0503020204020204" pitchFamily="34" charset="-122"/>
              </a:rPr>
              <a:t>选择</a:t>
            </a:r>
            <a:r>
              <a:rPr kumimoji="1" lang="en-US" altLang="zh-CN" sz="2400" dirty="0">
                <a:solidFill>
                  <a:srgbClr val="000000"/>
                </a:solidFill>
                <a:latin typeface="微软雅黑" panose="020B0503020204020204" pitchFamily="34" charset="-122"/>
                <a:ea typeface="微软雅黑" panose="020B0503020204020204" pitchFamily="34" charset="-122"/>
              </a:rPr>
              <a:t>D</a:t>
            </a:r>
            <a:r>
              <a:rPr kumimoji="1" lang="zh-CN" altLang="en-US" sz="2400" dirty="0">
                <a:solidFill>
                  <a:srgbClr val="000000"/>
                </a:solidFill>
                <a:latin typeface="微软雅黑" panose="020B0503020204020204" pitchFamily="34" charset="-122"/>
                <a:ea typeface="微软雅黑" panose="020B0503020204020204" pitchFamily="34" charset="-122"/>
              </a:rPr>
              <a:t>向视图表达底板的形状。</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pic>
        <p:nvPicPr>
          <p:cNvPr id="28" name="Picture 8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360471" y="1031464"/>
            <a:ext cx="942975" cy="312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9" name="组合 28"/>
          <p:cNvGrpSpPr/>
          <p:nvPr/>
        </p:nvGrpSpPr>
        <p:grpSpPr bwMode="auto">
          <a:xfrm>
            <a:off x="10750996" y="2644364"/>
            <a:ext cx="584200" cy="415925"/>
            <a:chOff x="7907623" y="2393524"/>
            <a:chExt cx="584009" cy="415703"/>
          </a:xfrm>
        </p:grpSpPr>
        <p:pic>
          <p:nvPicPr>
            <p:cNvPr id="30" name="Picture 8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0775" y="2465961"/>
              <a:ext cx="280857" cy="343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1" name="直接连接符 30"/>
            <p:cNvCxnSpPr/>
            <p:nvPr/>
          </p:nvCxnSpPr>
          <p:spPr>
            <a:xfrm flipH="1" flipV="1">
              <a:off x="7907623" y="2393524"/>
              <a:ext cx="315809" cy="190398"/>
            </a:xfrm>
            <a:prstGeom prst="line">
              <a:avLst/>
            </a:prstGeom>
            <a:noFill/>
            <a:ln w="6350" cap="flat" cmpd="sng" algn="ctr">
              <a:solidFill>
                <a:srgbClr val="000000"/>
              </a:solidFill>
              <a:prstDash val="lgDashDot"/>
            </a:ln>
            <a:effectLst/>
          </p:spPr>
        </p:cxnSp>
      </p:grpSp>
      <p:pic>
        <p:nvPicPr>
          <p:cNvPr id="32" name="Picture 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3396" y="1006064"/>
            <a:ext cx="2393950" cy="314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3" name="Group 24"/>
          <p:cNvGrpSpPr/>
          <p:nvPr/>
        </p:nvGrpSpPr>
        <p:grpSpPr bwMode="auto">
          <a:xfrm>
            <a:off x="7150546" y="2349091"/>
            <a:ext cx="2292350" cy="627063"/>
            <a:chOff x="2713" y="1322"/>
            <a:chExt cx="1444" cy="395"/>
          </a:xfrm>
        </p:grpSpPr>
        <p:sp>
          <p:nvSpPr>
            <p:cNvPr id="34" name="Text Box 25"/>
            <p:cNvSpPr txBox="1">
              <a:spLocks noChangeArrowheads="1"/>
            </p:cNvSpPr>
            <p:nvPr/>
          </p:nvSpPr>
          <p:spPr bwMode="auto">
            <a:xfrm>
              <a:off x="2713" y="1322"/>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35" name="Text Box 26"/>
            <p:cNvSpPr txBox="1">
              <a:spLocks noChangeArrowheads="1"/>
            </p:cNvSpPr>
            <p:nvPr/>
          </p:nvSpPr>
          <p:spPr bwMode="auto">
            <a:xfrm>
              <a:off x="3955" y="1323"/>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dirty="0">
                  <a:ln>
                    <a:noFill/>
                  </a:ln>
                  <a:solidFill>
                    <a:srgbClr val="000000"/>
                  </a:solidFill>
                  <a:effectLst/>
                  <a:uLnTx/>
                  <a:uFillTx/>
                  <a:latin typeface="+mn-ea"/>
                  <a:ea typeface="+mn-ea"/>
                </a:rPr>
                <a:t>B</a:t>
              </a:r>
              <a:endParaRPr kumimoji="1" lang="en-US" altLang="zh-CN" sz="2000" b="1" i="1" u="none" strike="noStrike" kern="0" cap="none" spc="0" normalizeH="0" baseline="0" noProof="0" dirty="0">
                <a:ln>
                  <a:noFill/>
                </a:ln>
                <a:solidFill>
                  <a:srgbClr val="000000"/>
                </a:solidFill>
                <a:effectLst/>
                <a:uLnTx/>
                <a:uFillTx/>
                <a:latin typeface="+mn-ea"/>
                <a:ea typeface="+mn-ea"/>
              </a:endParaRPr>
            </a:p>
          </p:txBody>
        </p:sp>
        <p:grpSp>
          <p:nvGrpSpPr>
            <p:cNvPr id="36" name="Group 27"/>
            <p:cNvGrpSpPr/>
            <p:nvPr/>
          </p:nvGrpSpPr>
          <p:grpSpPr bwMode="auto">
            <a:xfrm>
              <a:off x="2761" y="1542"/>
              <a:ext cx="142" cy="174"/>
              <a:chOff x="2761" y="1536"/>
              <a:chExt cx="142" cy="174"/>
            </a:xfrm>
          </p:grpSpPr>
          <p:sp>
            <p:nvSpPr>
              <p:cNvPr id="41" name="Line 28"/>
              <p:cNvSpPr>
                <a:spLocks noChangeShapeType="1"/>
              </p:cNvSpPr>
              <p:nvPr/>
            </p:nvSpPr>
            <p:spPr bwMode="auto">
              <a:xfrm>
                <a:off x="2763" y="1544"/>
                <a:ext cx="140"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2" name="Line 29"/>
              <p:cNvSpPr>
                <a:spLocks noChangeShapeType="1"/>
              </p:cNvSpPr>
              <p:nvPr/>
            </p:nvSpPr>
            <p:spPr bwMode="auto">
              <a:xfrm>
                <a:off x="2761" y="1536"/>
                <a:ext cx="0" cy="174"/>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nvGrpSpPr>
            <p:cNvPr id="38" name="Group 30"/>
            <p:cNvGrpSpPr/>
            <p:nvPr/>
          </p:nvGrpSpPr>
          <p:grpSpPr bwMode="auto">
            <a:xfrm>
              <a:off x="3997" y="1550"/>
              <a:ext cx="139" cy="167"/>
              <a:chOff x="3997" y="1544"/>
              <a:chExt cx="139" cy="167"/>
            </a:xfrm>
          </p:grpSpPr>
          <p:sp>
            <p:nvSpPr>
              <p:cNvPr id="39" name="Line 31"/>
              <p:cNvSpPr>
                <a:spLocks noChangeShapeType="1"/>
              </p:cNvSpPr>
              <p:nvPr/>
            </p:nvSpPr>
            <p:spPr bwMode="auto">
              <a:xfrm>
                <a:off x="3997" y="1544"/>
                <a:ext cx="13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0" name="Line 32"/>
              <p:cNvSpPr>
                <a:spLocks noChangeShapeType="1"/>
              </p:cNvSpPr>
              <p:nvPr/>
            </p:nvSpPr>
            <p:spPr bwMode="auto">
              <a:xfrm>
                <a:off x="4134" y="1544"/>
                <a:ext cx="0" cy="167"/>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pic>
        <p:nvPicPr>
          <p:cNvPr id="43" name="Picture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6409" y="5049427"/>
            <a:ext cx="2463800"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 name="Picture 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92183" y="4543014"/>
            <a:ext cx="1317625" cy="61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Picture 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0496" y="5498689"/>
            <a:ext cx="50641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圆角矩形 44"/>
          <p:cNvSpPr/>
          <p:nvPr/>
        </p:nvSpPr>
        <p:spPr>
          <a:xfrm>
            <a:off x="5196472" y="1295564"/>
            <a:ext cx="1659866" cy="510778"/>
          </a:xfrm>
          <a:prstGeom prst="round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视图方案</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1</a:t>
            </a:r>
            <a:endPar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Right)">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down)">
                                      <p:cBhvr>
                                        <p:cTn id="23" dur="500"/>
                                        <p:tgtEl>
                                          <p:spTgt spid="20"/>
                                        </p:tgtEl>
                                      </p:cBhvr>
                                    </p:animEffect>
                                  </p:childTnLst>
                                </p:cTn>
                              </p:par>
                            </p:childTnLst>
                          </p:cTn>
                        </p:par>
                        <p:par>
                          <p:cTn id="24" fill="hold">
                            <p:stCondLst>
                              <p:cond delay="500"/>
                            </p:stCondLst>
                            <p:childTnLst>
                              <p:par>
                                <p:cTn id="25" presetID="22" presetClass="entr" presetSubtype="4"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down)">
                                      <p:cBhvr>
                                        <p:cTn id="27" dur="500"/>
                                        <p:tgtEl>
                                          <p:spTgt spid="43"/>
                                        </p:tgtEl>
                                      </p:cBhvr>
                                    </p:animEffect>
                                  </p:childTnLst>
                                </p:cTn>
                              </p:par>
                            </p:childTnLst>
                          </p:cTn>
                        </p:par>
                        <p:par>
                          <p:cTn id="28" fill="hold">
                            <p:stCondLst>
                              <p:cond delay="1000"/>
                            </p:stCondLst>
                            <p:childTnLst>
                              <p:par>
                                <p:cTn id="29" presetID="12" presetClass="entr" presetSubtype="1"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slide(fromTop)">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wipe(up)">
                                      <p:cBhvr>
                                        <p:cTn id="39" dur="500"/>
                                        <p:tgtEl>
                                          <p:spTgt spid="33"/>
                                        </p:tgtEl>
                                      </p:cBhvr>
                                    </p:animEffect>
                                  </p:childTnLst>
                                </p:cTn>
                              </p:par>
                            </p:childTnLst>
                          </p:cTn>
                        </p:par>
                        <p:par>
                          <p:cTn id="40" fill="hold">
                            <p:stCondLst>
                              <p:cond delay="500"/>
                            </p:stCondLst>
                            <p:childTnLst>
                              <p:par>
                                <p:cTn id="41" presetID="22" presetClass="entr" presetSubtype="4" fill="hold" nodeType="after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wipe(down)">
                                      <p:cBhvr>
                                        <p:cTn id="43" dur="500"/>
                                        <p:tgtEl>
                                          <p:spTgt spid="44"/>
                                        </p:tgtEl>
                                      </p:cBhvr>
                                    </p:animEffect>
                                  </p:childTnLst>
                                </p:cTn>
                              </p:par>
                            </p:childTnLst>
                          </p:cTn>
                        </p:par>
                        <p:par>
                          <p:cTn id="44" fill="hold">
                            <p:stCondLst>
                              <p:cond delay="1000"/>
                            </p:stCondLst>
                            <p:childTnLst>
                              <p:par>
                                <p:cTn id="45" presetID="12" presetClass="entr" presetSubtype="2" fill="hold" grpId="0"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slide(fromRight)">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5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up)">
                                      <p:cBhvr>
                                        <p:cTn id="60" dur="500"/>
                                        <p:tgtEl>
                                          <p:spTgt spid="5"/>
                                        </p:tgtEl>
                                      </p:cBhvr>
                                    </p:animEffect>
                                  </p:childTnLst>
                                </p:cTn>
                              </p:par>
                            </p:childTnLst>
                          </p:cTn>
                        </p:par>
                        <p:par>
                          <p:cTn id="61" fill="hold">
                            <p:stCondLst>
                              <p:cond delay="500"/>
                            </p:stCondLst>
                            <p:childTnLst>
                              <p:par>
                                <p:cTn id="62" presetID="22" presetClass="entr" presetSubtype="4" fill="hold"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down)">
                                      <p:cBhvr>
                                        <p:cTn id="64" dur="500"/>
                                        <p:tgtEl>
                                          <p:spTgt spid="45"/>
                                        </p:tgtEl>
                                      </p:cBhvr>
                                    </p:animEffect>
                                  </p:childTnLst>
                                </p:cTn>
                              </p:par>
                            </p:childTnLst>
                          </p:cTn>
                        </p:par>
                        <p:par>
                          <p:cTn id="65" fill="hold">
                            <p:stCondLst>
                              <p:cond delay="1000"/>
                            </p:stCondLst>
                            <p:childTnLst>
                              <p:par>
                                <p:cTn id="66" presetID="12" presetClass="entr" presetSubtype="2" fill="hold" grpId="0" nodeType="after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slide(fromRight)">
                                      <p:cBhvr>
                                        <p:cTn id="68" dur="500"/>
                                        <p:tgtEl>
                                          <p:spTgt spid="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fade">
                                      <p:cBhvr>
                                        <p:cTn id="71" dur="500"/>
                                        <p:tgtEl>
                                          <p:spTgt spid="3"/>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 calcmode="lin" valueType="num">
                                      <p:cBhvr>
                                        <p:cTn id="76" dur="500" fill="hold"/>
                                        <p:tgtEl>
                                          <p:spTgt spid="46"/>
                                        </p:tgtEl>
                                        <p:attrNameLst>
                                          <p:attrName>ppt_w</p:attrName>
                                        </p:attrNameLst>
                                      </p:cBhvr>
                                      <p:tavLst>
                                        <p:tav tm="0">
                                          <p:val>
                                            <p:fltVal val="0"/>
                                          </p:val>
                                        </p:tav>
                                        <p:tav tm="100000">
                                          <p:val>
                                            <p:strVal val="#ppt_w"/>
                                          </p:val>
                                        </p:tav>
                                      </p:tavLst>
                                    </p:anim>
                                    <p:anim calcmode="lin" valueType="num">
                                      <p:cBhvr>
                                        <p:cTn id="77" dur="500" fill="hold"/>
                                        <p:tgtEl>
                                          <p:spTgt spid="46"/>
                                        </p:tgtEl>
                                        <p:attrNameLst>
                                          <p:attrName>ppt_h</p:attrName>
                                        </p:attrNameLst>
                                      </p:cBhvr>
                                      <p:tavLst>
                                        <p:tav tm="0">
                                          <p:val>
                                            <p:fltVal val="0"/>
                                          </p:val>
                                        </p:tav>
                                        <p:tav tm="100000">
                                          <p:val>
                                            <p:strVal val="#ppt_h"/>
                                          </p:val>
                                        </p:tav>
                                      </p:tavLst>
                                    </p:anim>
                                    <p:animEffect transition="in" filter="fade">
                                      <p:cBhvr>
                                        <p:cTn id="7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autoUpdateAnimBg="0"/>
      <p:bldP spid="23" grpId="0" autoUpdateAnimBg="0"/>
      <p:bldP spid="24" grpId="0" autoUpdateAnimBg="0"/>
      <p:bldP spid="25" grpId="0" autoUpdateAnimBg="0"/>
      <p:bldP spid="26" grpId="0"/>
      <p:bldP spid="27" grpId="0"/>
      <p:bldP spid="4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6888088" y="116632"/>
            <a:ext cx="5303912" cy="6149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1195312" y="3053742"/>
            <a:ext cx="3722688" cy="11350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Font typeface="Wingdings" panose="05000000000000000000" pitchFamily="2" charset="2"/>
              <a:buChar char="l"/>
            </a:pPr>
            <a:r>
              <a:rPr kumimoji="1" lang="zh-CN" altLang="en-US" sz="2400" dirty="0">
                <a:solidFill>
                  <a:srgbClr val="000000"/>
                </a:solidFill>
                <a:latin typeface="微软雅黑" panose="020B0503020204020204" pitchFamily="34" charset="-122"/>
                <a:ea typeface="微软雅黑" panose="020B0503020204020204" pitchFamily="34" charset="-122"/>
              </a:rPr>
              <a:t>俯视图采用</a:t>
            </a:r>
            <a:r>
              <a:rPr kumimoji="1" lang="en-US" altLang="zh-CN" sz="2400" dirty="0">
                <a:solidFill>
                  <a:srgbClr val="000000"/>
                </a:solidFill>
                <a:latin typeface="微软雅黑" panose="020B0503020204020204" pitchFamily="34" charset="-122"/>
                <a:ea typeface="微软雅黑" panose="020B0503020204020204" pitchFamily="34" charset="-122"/>
              </a:rPr>
              <a:t>B</a:t>
            </a:r>
            <a:r>
              <a:rPr kumimoji="1" lang="zh-CN" altLang="en-US" sz="2400" dirty="0">
                <a:solidFill>
                  <a:srgbClr val="000000"/>
                </a:solidFill>
                <a:latin typeface="微软雅黑" panose="020B0503020204020204" pitchFamily="34" charset="-122"/>
                <a:ea typeface="微软雅黑" panose="020B0503020204020204" pitchFamily="34" charset="-122"/>
              </a:rPr>
              <a:t>－</a:t>
            </a:r>
            <a:r>
              <a:rPr kumimoji="1" lang="en-US" altLang="zh-CN" sz="2400" dirty="0">
                <a:solidFill>
                  <a:srgbClr val="000000"/>
                </a:solidFill>
                <a:latin typeface="微软雅黑" panose="020B0503020204020204" pitchFamily="34" charset="-122"/>
                <a:ea typeface="微软雅黑" panose="020B0503020204020204" pitchFamily="34" charset="-122"/>
              </a:rPr>
              <a:t>B</a:t>
            </a:r>
            <a:r>
              <a:rPr kumimoji="1" lang="zh-CN" altLang="en-US" sz="2400" dirty="0">
                <a:solidFill>
                  <a:srgbClr val="000000"/>
                </a:solidFill>
                <a:latin typeface="微软雅黑" panose="020B0503020204020204" pitchFamily="34" charset="-122"/>
                <a:ea typeface="微软雅黑" panose="020B0503020204020204" pitchFamily="34" charset="-122"/>
              </a:rPr>
              <a:t>剖视图</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buFont typeface="Wingdings" panose="05000000000000000000" pitchFamily="2" charset="2"/>
              <a:buChar char="l"/>
            </a:pPr>
            <a:r>
              <a:rPr kumimoji="1" lang="zh-CN" altLang="en-US" sz="2400" dirty="0">
                <a:solidFill>
                  <a:srgbClr val="000000"/>
                </a:solidFill>
                <a:latin typeface="微软雅黑" panose="020B0503020204020204" pitchFamily="34" charset="-122"/>
                <a:ea typeface="微软雅黑" panose="020B0503020204020204" pitchFamily="34" charset="-122"/>
              </a:rPr>
              <a:t>其余视图同方案一</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pic>
        <p:nvPicPr>
          <p:cNvPr id="3" name="Picture 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48128" y="1259942"/>
            <a:ext cx="4283075" cy="4919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Group 10"/>
          <p:cNvGrpSpPr/>
          <p:nvPr/>
        </p:nvGrpSpPr>
        <p:grpSpPr bwMode="auto">
          <a:xfrm>
            <a:off x="8510191" y="563029"/>
            <a:ext cx="314325" cy="415925"/>
            <a:chOff x="3417" y="0"/>
            <a:chExt cx="198" cy="262"/>
          </a:xfrm>
        </p:grpSpPr>
        <p:sp>
          <p:nvSpPr>
            <p:cNvPr id="5" name="Line 11"/>
            <p:cNvSpPr>
              <a:spLocks noChangeShapeType="1"/>
            </p:cNvSpPr>
            <p:nvPr/>
          </p:nvSpPr>
          <p:spPr bwMode="auto">
            <a:xfrm>
              <a:off x="3436" y="70"/>
              <a:ext cx="0" cy="192"/>
            </a:xfrm>
            <a:prstGeom prst="line">
              <a:avLst/>
            </a:prstGeom>
            <a:noFill/>
            <a:ln w="9525">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 name="Text Box 12"/>
            <p:cNvSpPr txBox="1">
              <a:spLocks noChangeArrowheads="1"/>
            </p:cNvSpPr>
            <p:nvPr/>
          </p:nvSpPr>
          <p:spPr bwMode="auto">
            <a:xfrm>
              <a:off x="3417" y="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7" name="Text Box 13"/>
          <p:cNvSpPr txBox="1">
            <a:spLocks noChangeArrowheads="1"/>
          </p:cNvSpPr>
          <p:nvPr/>
        </p:nvSpPr>
        <p:spPr bwMode="auto">
          <a:xfrm>
            <a:off x="10807210" y="4947674"/>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C</a:t>
            </a:r>
            <a:endParaRPr kumimoji="1" lang="en-US" altLang="zh-CN" sz="2000" b="1" i="1">
              <a:solidFill>
                <a:srgbClr val="000000"/>
              </a:solidFill>
              <a:latin typeface="+mn-ea"/>
              <a:ea typeface="+mn-ea"/>
            </a:endParaRPr>
          </a:p>
        </p:txBody>
      </p:sp>
      <p:grpSp>
        <p:nvGrpSpPr>
          <p:cNvPr id="8" name="Group 14"/>
          <p:cNvGrpSpPr/>
          <p:nvPr/>
        </p:nvGrpSpPr>
        <p:grpSpPr bwMode="auto">
          <a:xfrm>
            <a:off x="8186344" y="934504"/>
            <a:ext cx="688975" cy="3973513"/>
            <a:chOff x="3205" y="183"/>
            <a:chExt cx="434" cy="2503"/>
          </a:xfrm>
        </p:grpSpPr>
        <p:grpSp>
          <p:nvGrpSpPr>
            <p:cNvPr id="9" name="Group 15"/>
            <p:cNvGrpSpPr/>
            <p:nvPr/>
          </p:nvGrpSpPr>
          <p:grpSpPr bwMode="auto">
            <a:xfrm>
              <a:off x="3205" y="183"/>
              <a:ext cx="419" cy="252"/>
              <a:chOff x="3205" y="183"/>
              <a:chExt cx="419" cy="252"/>
            </a:xfrm>
          </p:grpSpPr>
          <p:sp>
            <p:nvSpPr>
              <p:cNvPr id="15" name="Line 16"/>
              <p:cNvSpPr>
                <a:spLocks noChangeShapeType="1"/>
              </p:cNvSpPr>
              <p:nvPr/>
            </p:nvSpPr>
            <p:spPr bwMode="auto">
              <a:xfrm flipH="1" flipV="1">
                <a:off x="3429" y="294"/>
                <a:ext cx="1" cy="11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7" name="Line 17"/>
              <p:cNvSpPr>
                <a:spLocks noChangeShapeType="1"/>
              </p:cNvSpPr>
              <p:nvPr/>
            </p:nvSpPr>
            <p:spPr bwMode="auto">
              <a:xfrm flipV="1">
                <a:off x="3416" y="293"/>
                <a:ext cx="208"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8" name="Text Box 18"/>
              <p:cNvSpPr txBox="1">
                <a:spLocks noChangeArrowheads="1"/>
              </p:cNvSpPr>
              <p:nvPr/>
            </p:nvSpPr>
            <p:spPr bwMode="auto">
              <a:xfrm>
                <a:off x="3205" y="183"/>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nvGrpSpPr>
            <p:cNvPr id="10" name="Group 19"/>
            <p:cNvGrpSpPr/>
            <p:nvPr/>
          </p:nvGrpSpPr>
          <p:grpSpPr bwMode="auto">
            <a:xfrm>
              <a:off x="3250" y="2434"/>
              <a:ext cx="389" cy="252"/>
              <a:chOff x="3250" y="2434"/>
              <a:chExt cx="389" cy="252"/>
            </a:xfrm>
          </p:grpSpPr>
          <p:grpSp>
            <p:nvGrpSpPr>
              <p:cNvPr id="11" name="Group 20"/>
              <p:cNvGrpSpPr/>
              <p:nvPr/>
            </p:nvGrpSpPr>
            <p:grpSpPr bwMode="auto">
              <a:xfrm>
                <a:off x="3446" y="2508"/>
                <a:ext cx="193" cy="99"/>
                <a:chOff x="3446" y="2456"/>
                <a:chExt cx="193" cy="99"/>
              </a:xfrm>
            </p:grpSpPr>
            <p:sp>
              <p:nvSpPr>
                <p:cNvPr id="13" name="Line 21"/>
                <p:cNvSpPr>
                  <a:spLocks noChangeShapeType="1"/>
                </p:cNvSpPr>
                <p:nvPr/>
              </p:nvSpPr>
              <p:spPr bwMode="auto">
                <a:xfrm>
                  <a:off x="3446" y="2456"/>
                  <a:ext cx="4" cy="9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4" name="Line 22"/>
                <p:cNvSpPr>
                  <a:spLocks noChangeShapeType="1"/>
                </p:cNvSpPr>
                <p:nvPr/>
              </p:nvSpPr>
              <p:spPr bwMode="auto">
                <a:xfrm>
                  <a:off x="3450" y="2555"/>
                  <a:ext cx="189"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12" name="Text Box 23"/>
              <p:cNvSpPr txBox="1">
                <a:spLocks noChangeArrowheads="1"/>
              </p:cNvSpPr>
              <p:nvPr/>
            </p:nvSpPr>
            <p:spPr bwMode="auto">
              <a:xfrm>
                <a:off x="3250" y="2434"/>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sp>
        <p:nvSpPr>
          <p:cNvPr id="19" name="Text Box 72"/>
          <p:cNvSpPr txBox="1">
            <a:spLocks noChangeArrowheads="1"/>
          </p:cNvSpPr>
          <p:nvPr/>
        </p:nvSpPr>
        <p:spPr bwMode="auto">
          <a:xfrm>
            <a:off x="10613247" y="867799"/>
            <a:ext cx="7024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A</a:t>
            </a:r>
            <a:r>
              <a:rPr kumimoji="1" lang="zh-CN" altLang="en-US" sz="2000" b="1" i="1">
                <a:solidFill>
                  <a:srgbClr val="000000"/>
                </a:solidFill>
                <a:latin typeface="+mn-ea"/>
                <a:ea typeface="+mn-ea"/>
              </a:rPr>
              <a:t>－</a:t>
            </a:r>
            <a:r>
              <a:rPr kumimoji="1" lang="en-US" altLang="zh-CN" sz="2000" b="1" i="1">
                <a:solidFill>
                  <a:srgbClr val="000000"/>
                </a:solidFill>
                <a:latin typeface="+mn-ea"/>
                <a:ea typeface="+mn-ea"/>
              </a:rPr>
              <a:t>A</a:t>
            </a:r>
            <a:endParaRPr kumimoji="1" lang="en-US" altLang="zh-CN" sz="2000" b="1" i="1">
              <a:solidFill>
                <a:srgbClr val="000000"/>
              </a:solidFill>
              <a:latin typeface="+mn-ea"/>
              <a:ea typeface="+mn-ea"/>
            </a:endParaRPr>
          </a:p>
        </p:txBody>
      </p:sp>
      <p:grpSp>
        <p:nvGrpSpPr>
          <p:cNvPr id="20" name="Group 24"/>
          <p:cNvGrpSpPr/>
          <p:nvPr/>
        </p:nvGrpSpPr>
        <p:grpSpPr bwMode="auto">
          <a:xfrm>
            <a:off x="7279878" y="2628367"/>
            <a:ext cx="2339975" cy="615950"/>
            <a:chOff x="2713" y="1329"/>
            <a:chExt cx="1474" cy="388"/>
          </a:xfrm>
        </p:grpSpPr>
        <p:sp>
          <p:nvSpPr>
            <p:cNvPr id="21" name="Text Box 25"/>
            <p:cNvSpPr txBox="1">
              <a:spLocks noChangeArrowheads="1"/>
            </p:cNvSpPr>
            <p:nvPr/>
          </p:nvSpPr>
          <p:spPr bwMode="auto">
            <a:xfrm>
              <a:off x="2713" y="1341"/>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22" name="Text Box 26"/>
            <p:cNvSpPr txBox="1">
              <a:spLocks noChangeArrowheads="1"/>
            </p:cNvSpPr>
            <p:nvPr/>
          </p:nvSpPr>
          <p:spPr bwMode="auto">
            <a:xfrm>
              <a:off x="3985" y="1329"/>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23" name="Group 27"/>
            <p:cNvGrpSpPr/>
            <p:nvPr/>
          </p:nvGrpSpPr>
          <p:grpSpPr bwMode="auto">
            <a:xfrm>
              <a:off x="2761" y="1542"/>
              <a:ext cx="142" cy="174"/>
              <a:chOff x="2761" y="1536"/>
              <a:chExt cx="142" cy="174"/>
            </a:xfrm>
          </p:grpSpPr>
          <p:sp>
            <p:nvSpPr>
              <p:cNvPr id="27" name="Line 28"/>
              <p:cNvSpPr>
                <a:spLocks noChangeShapeType="1"/>
              </p:cNvSpPr>
              <p:nvPr/>
            </p:nvSpPr>
            <p:spPr bwMode="auto">
              <a:xfrm>
                <a:off x="2763" y="1544"/>
                <a:ext cx="140"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8" name="Line 29"/>
              <p:cNvSpPr>
                <a:spLocks noChangeShapeType="1"/>
              </p:cNvSpPr>
              <p:nvPr/>
            </p:nvSpPr>
            <p:spPr bwMode="auto">
              <a:xfrm>
                <a:off x="2761" y="1536"/>
                <a:ext cx="0" cy="174"/>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nvGrpSpPr>
            <p:cNvPr id="24" name="Group 30"/>
            <p:cNvGrpSpPr/>
            <p:nvPr/>
          </p:nvGrpSpPr>
          <p:grpSpPr bwMode="auto">
            <a:xfrm>
              <a:off x="3997" y="1550"/>
              <a:ext cx="139" cy="167"/>
              <a:chOff x="3997" y="1544"/>
              <a:chExt cx="139" cy="167"/>
            </a:xfrm>
          </p:grpSpPr>
          <p:sp>
            <p:nvSpPr>
              <p:cNvPr id="25" name="Line 31"/>
              <p:cNvSpPr>
                <a:spLocks noChangeShapeType="1"/>
              </p:cNvSpPr>
              <p:nvPr/>
            </p:nvSpPr>
            <p:spPr bwMode="auto">
              <a:xfrm>
                <a:off x="3997" y="1544"/>
                <a:ext cx="13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6" name="Line 32"/>
              <p:cNvSpPr>
                <a:spLocks noChangeShapeType="1"/>
              </p:cNvSpPr>
              <p:nvPr/>
            </p:nvSpPr>
            <p:spPr bwMode="auto">
              <a:xfrm>
                <a:off x="4134" y="1544"/>
                <a:ext cx="0" cy="167"/>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sp>
        <p:nvSpPr>
          <p:cNvPr id="29" name="Text Box 71"/>
          <p:cNvSpPr txBox="1">
            <a:spLocks noChangeArrowheads="1"/>
          </p:cNvSpPr>
          <p:nvPr/>
        </p:nvSpPr>
        <p:spPr bwMode="auto">
          <a:xfrm>
            <a:off x="8122840" y="4777842"/>
            <a:ext cx="7159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000" b="1" i="1">
                <a:solidFill>
                  <a:srgbClr val="000000"/>
                </a:solidFill>
                <a:latin typeface="+mn-ea"/>
                <a:ea typeface="+mn-ea"/>
              </a:rPr>
              <a:t>B</a:t>
            </a:r>
            <a:r>
              <a:rPr kumimoji="1" lang="zh-CN" altLang="en-US" sz="2000" b="1" i="1">
                <a:solidFill>
                  <a:srgbClr val="000000"/>
                </a:solidFill>
                <a:latin typeface="+mn-ea"/>
                <a:ea typeface="+mn-ea"/>
              </a:rPr>
              <a:t>－</a:t>
            </a:r>
            <a:r>
              <a:rPr kumimoji="1" lang="en-US" altLang="zh-CN" sz="2000" b="1" i="1">
                <a:solidFill>
                  <a:srgbClr val="000000"/>
                </a:solidFill>
                <a:latin typeface="+mn-ea"/>
                <a:ea typeface="+mn-ea"/>
              </a:rPr>
              <a:t>B</a:t>
            </a:r>
            <a:endParaRPr kumimoji="1" lang="en-US" altLang="zh-CN" sz="2000" b="1" i="1">
              <a:solidFill>
                <a:srgbClr val="000000"/>
              </a:solidFill>
              <a:latin typeface="+mn-ea"/>
              <a:ea typeface="+mn-ea"/>
            </a:endParaRPr>
          </a:p>
        </p:txBody>
      </p:sp>
      <p:sp>
        <p:nvSpPr>
          <p:cNvPr id="32" name="圆角矩形 44"/>
          <p:cNvSpPr/>
          <p:nvPr/>
        </p:nvSpPr>
        <p:spPr>
          <a:xfrm>
            <a:off x="5015220" y="1295564"/>
            <a:ext cx="1659866" cy="510778"/>
          </a:xfrm>
          <a:prstGeom prst="round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视图方案</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2</a:t>
            </a:r>
            <a:endPar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2495602" y="67119"/>
            <a:ext cx="9696398" cy="6149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2" name="组合 1"/>
          <p:cNvGrpSpPr/>
          <p:nvPr/>
        </p:nvGrpSpPr>
        <p:grpSpPr bwMode="auto">
          <a:xfrm>
            <a:off x="2848576" y="332656"/>
            <a:ext cx="4368800" cy="5940425"/>
            <a:chOff x="4197382" y="0"/>
            <a:chExt cx="4369074" cy="5940274"/>
          </a:xfrm>
        </p:grpSpPr>
        <p:grpSp>
          <p:nvGrpSpPr>
            <p:cNvPr id="3" name="Group 10"/>
            <p:cNvGrpSpPr/>
            <p:nvPr/>
          </p:nvGrpSpPr>
          <p:grpSpPr bwMode="auto">
            <a:xfrm>
              <a:off x="5424488" y="0"/>
              <a:ext cx="314325" cy="415925"/>
              <a:chOff x="3417" y="0"/>
              <a:chExt cx="198" cy="262"/>
            </a:xfrm>
          </p:grpSpPr>
          <p:sp>
            <p:nvSpPr>
              <p:cNvPr id="40" name="Line 11"/>
              <p:cNvSpPr>
                <a:spLocks noChangeShapeType="1"/>
              </p:cNvSpPr>
              <p:nvPr/>
            </p:nvSpPr>
            <p:spPr bwMode="auto">
              <a:xfrm>
                <a:off x="3436" y="70"/>
                <a:ext cx="0" cy="192"/>
              </a:xfrm>
              <a:prstGeom prst="line">
                <a:avLst/>
              </a:prstGeom>
              <a:noFill/>
              <a:ln w="9525">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1" name="Text Box 12"/>
              <p:cNvSpPr txBox="1">
                <a:spLocks noChangeArrowheads="1"/>
              </p:cNvSpPr>
              <p:nvPr/>
            </p:nvSpPr>
            <p:spPr bwMode="auto">
              <a:xfrm>
                <a:off x="3417" y="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4" name="Text Box 13"/>
            <p:cNvSpPr txBox="1">
              <a:spLocks noChangeArrowheads="1"/>
            </p:cNvSpPr>
            <p:nvPr/>
          </p:nvSpPr>
          <p:spPr bwMode="auto">
            <a:xfrm>
              <a:off x="7791394" y="4911534"/>
              <a:ext cx="314530" cy="4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5" name="Group 14"/>
            <p:cNvGrpSpPr/>
            <p:nvPr/>
          </p:nvGrpSpPr>
          <p:grpSpPr bwMode="auto">
            <a:xfrm>
              <a:off x="5087933" y="290513"/>
              <a:ext cx="688975" cy="3973514"/>
              <a:chOff x="3205" y="183"/>
              <a:chExt cx="434" cy="2503"/>
            </a:xfrm>
          </p:grpSpPr>
          <p:grpSp>
            <p:nvGrpSpPr>
              <p:cNvPr id="30" name="Group 15"/>
              <p:cNvGrpSpPr/>
              <p:nvPr/>
            </p:nvGrpSpPr>
            <p:grpSpPr bwMode="auto">
              <a:xfrm>
                <a:off x="3205" y="183"/>
                <a:ext cx="419" cy="252"/>
                <a:chOff x="3205" y="183"/>
                <a:chExt cx="419" cy="252"/>
              </a:xfrm>
            </p:grpSpPr>
            <p:sp>
              <p:nvSpPr>
                <p:cNvPr id="36" name="Line 16"/>
                <p:cNvSpPr>
                  <a:spLocks noChangeShapeType="1"/>
                </p:cNvSpPr>
                <p:nvPr/>
              </p:nvSpPr>
              <p:spPr bwMode="auto">
                <a:xfrm flipH="1" flipV="1">
                  <a:off x="3429" y="294"/>
                  <a:ext cx="1" cy="11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8" name="Line 17"/>
                <p:cNvSpPr>
                  <a:spLocks noChangeShapeType="1"/>
                </p:cNvSpPr>
                <p:nvPr/>
              </p:nvSpPr>
              <p:spPr bwMode="auto">
                <a:xfrm flipV="1">
                  <a:off x="3416" y="293"/>
                  <a:ext cx="208"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9" name="Text Box 18"/>
                <p:cNvSpPr txBox="1">
                  <a:spLocks noChangeArrowheads="1"/>
                </p:cNvSpPr>
                <p:nvPr/>
              </p:nvSpPr>
              <p:spPr bwMode="auto">
                <a:xfrm>
                  <a:off x="3205" y="183"/>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nvGrpSpPr>
              <p:cNvPr id="31" name="Group 19"/>
              <p:cNvGrpSpPr/>
              <p:nvPr/>
            </p:nvGrpSpPr>
            <p:grpSpPr bwMode="auto">
              <a:xfrm>
                <a:off x="3250" y="2434"/>
                <a:ext cx="389" cy="252"/>
                <a:chOff x="3250" y="2434"/>
                <a:chExt cx="389" cy="252"/>
              </a:xfrm>
            </p:grpSpPr>
            <p:grpSp>
              <p:nvGrpSpPr>
                <p:cNvPr id="32" name="Group 20"/>
                <p:cNvGrpSpPr/>
                <p:nvPr/>
              </p:nvGrpSpPr>
              <p:grpSpPr bwMode="auto">
                <a:xfrm>
                  <a:off x="3446" y="2508"/>
                  <a:ext cx="193" cy="99"/>
                  <a:chOff x="3446" y="2456"/>
                  <a:chExt cx="193" cy="99"/>
                </a:xfrm>
              </p:grpSpPr>
              <p:sp>
                <p:nvSpPr>
                  <p:cNvPr id="34" name="Line 21"/>
                  <p:cNvSpPr>
                    <a:spLocks noChangeShapeType="1"/>
                  </p:cNvSpPr>
                  <p:nvPr/>
                </p:nvSpPr>
                <p:spPr bwMode="auto">
                  <a:xfrm>
                    <a:off x="3446" y="2456"/>
                    <a:ext cx="4" cy="9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5" name="Line 22"/>
                  <p:cNvSpPr>
                    <a:spLocks noChangeShapeType="1"/>
                  </p:cNvSpPr>
                  <p:nvPr/>
                </p:nvSpPr>
                <p:spPr bwMode="auto">
                  <a:xfrm>
                    <a:off x="3450" y="2555"/>
                    <a:ext cx="189"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33" name="Text Box 23"/>
                <p:cNvSpPr txBox="1">
                  <a:spLocks noChangeArrowheads="1"/>
                </p:cNvSpPr>
                <p:nvPr/>
              </p:nvSpPr>
              <p:spPr bwMode="auto">
                <a:xfrm>
                  <a:off x="3250" y="2434"/>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grpSp>
          <p:nvGrpSpPr>
            <p:cNvPr id="6" name="Group 44"/>
            <p:cNvGrpSpPr/>
            <p:nvPr/>
          </p:nvGrpSpPr>
          <p:grpSpPr bwMode="auto">
            <a:xfrm>
              <a:off x="4722813" y="4006855"/>
              <a:ext cx="320675" cy="422276"/>
              <a:chOff x="2975" y="2524"/>
              <a:chExt cx="202" cy="266"/>
            </a:xfrm>
          </p:grpSpPr>
          <p:sp>
            <p:nvSpPr>
              <p:cNvPr id="28" name="Line 45"/>
              <p:cNvSpPr>
                <a:spLocks noChangeShapeType="1"/>
              </p:cNvSpPr>
              <p:nvPr/>
            </p:nvSpPr>
            <p:spPr bwMode="auto">
              <a:xfrm>
                <a:off x="3162" y="2524"/>
                <a:ext cx="0" cy="179"/>
              </a:xfrm>
              <a:prstGeom prst="line">
                <a:avLst/>
              </a:prstGeom>
              <a:noFill/>
              <a:ln w="12700">
                <a:solidFill>
                  <a:srgbClr val="0000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9" name="Text Box 46"/>
              <p:cNvSpPr txBox="1">
                <a:spLocks noChangeArrowheads="1"/>
              </p:cNvSpPr>
              <p:nvPr/>
            </p:nvSpPr>
            <p:spPr bwMode="auto">
              <a:xfrm>
                <a:off x="2975" y="2538"/>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D</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7" name="Text Box 47"/>
            <p:cNvSpPr txBox="1">
              <a:spLocks noChangeArrowheads="1"/>
            </p:cNvSpPr>
            <p:nvPr/>
          </p:nvSpPr>
          <p:spPr bwMode="auto">
            <a:xfrm>
              <a:off x="5335464" y="4400521"/>
              <a:ext cx="3209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D</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8" name="Text Box 71"/>
            <p:cNvSpPr txBox="1">
              <a:spLocks noChangeArrowheads="1"/>
            </p:cNvSpPr>
            <p:nvPr/>
          </p:nvSpPr>
          <p:spPr bwMode="auto">
            <a:xfrm>
              <a:off x="7497321" y="4011583"/>
              <a:ext cx="7152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r>
                <a:rPr kumimoji="1" lang="zh-CN" altLang="en-US" sz="2000" b="1" i="1" u="none" strike="noStrike" kern="0" cap="none" spc="0" normalizeH="0" baseline="0" noProof="0">
                  <a:ln>
                    <a:noFill/>
                  </a:ln>
                  <a:solidFill>
                    <a:srgbClr val="000000"/>
                  </a:solidFill>
                  <a:effectLst/>
                  <a:uLnTx/>
                  <a:uFillTx/>
                  <a:latin typeface="+mn-ea"/>
                  <a:ea typeface="+mn-ea"/>
                </a:rPr>
                <a:t>－</a:t>
              </a: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9" name="Text Box 72"/>
            <p:cNvSpPr txBox="1">
              <a:spLocks noChangeArrowheads="1"/>
            </p:cNvSpPr>
            <p:nvPr/>
          </p:nvSpPr>
          <p:spPr bwMode="auto">
            <a:xfrm>
              <a:off x="7554510" y="341288"/>
              <a:ext cx="702480" cy="4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r>
                <a:rPr kumimoji="1" lang="zh-CN" altLang="en-US" sz="2000" b="1" i="1" u="none" strike="noStrike" kern="0" cap="none" spc="0" normalizeH="0" baseline="0" noProof="0">
                  <a:ln>
                    <a:noFill/>
                  </a:ln>
                  <a:solidFill>
                    <a:srgbClr val="000000"/>
                  </a:solidFill>
                  <a:effectLst/>
                  <a:uLnTx/>
                  <a:uFillTx/>
                  <a:latin typeface="+mn-ea"/>
                  <a:ea typeface="+mn-ea"/>
                </a:rPr>
                <a:t>－</a:t>
              </a: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pic>
          <p:nvPicPr>
            <p:cNvPr id="10" name="Picture 8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16041" y="780270"/>
              <a:ext cx="944391" cy="3122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 name="组合 133"/>
            <p:cNvGrpSpPr/>
            <p:nvPr/>
          </p:nvGrpSpPr>
          <p:grpSpPr bwMode="auto">
            <a:xfrm>
              <a:off x="7907623" y="2393524"/>
              <a:ext cx="584009" cy="415703"/>
              <a:chOff x="7907623" y="2393524"/>
              <a:chExt cx="584009" cy="415703"/>
            </a:xfrm>
          </p:grpSpPr>
          <p:pic>
            <p:nvPicPr>
              <p:cNvPr id="26" name="Picture 8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0775" y="2465961"/>
                <a:ext cx="280857" cy="343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 name="直接连接符 26"/>
              <p:cNvCxnSpPr/>
              <p:nvPr/>
            </p:nvCxnSpPr>
            <p:spPr>
              <a:xfrm flipH="1" flipV="1">
                <a:off x="7907602" y="2393889"/>
                <a:ext cx="315933" cy="190495"/>
              </a:xfrm>
              <a:prstGeom prst="line">
                <a:avLst/>
              </a:prstGeom>
              <a:noFill/>
              <a:ln w="6350" cap="flat" cmpd="sng" algn="ctr">
                <a:solidFill>
                  <a:srgbClr val="000000"/>
                </a:solidFill>
                <a:prstDash val="lgDashDot"/>
              </a:ln>
              <a:effectLst/>
            </p:spPr>
          </p:cxnSp>
        </p:grpSp>
        <p:pic>
          <p:nvPicPr>
            <p:cNvPr id="12" name="Picture 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0060" y="755461"/>
              <a:ext cx="2392934" cy="3147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oup 24"/>
            <p:cNvGrpSpPr/>
            <p:nvPr/>
          </p:nvGrpSpPr>
          <p:grpSpPr bwMode="auto">
            <a:xfrm>
              <a:off x="4306889" y="2109788"/>
              <a:ext cx="2339975" cy="615950"/>
              <a:chOff x="2713" y="1329"/>
              <a:chExt cx="1474" cy="388"/>
            </a:xfrm>
          </p:grpSpPr>
          <p:sp>
            <p:nvSpPr>
              <p:cNvPr id="18" name="Text Box 25"/>
              <p:cNvSpPr txBox="1">
                <a:spLocks noChangeArrowheads="1"/>
              </p:cNvSpPr>
              <p:nvPr/>
            </p:nvSpPr>
            <p:spPr bwMode="auto">
              <a:xfrm>
                <a:off x="2713" y="1341"/>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19" name="Text Box 26"/>
              <p:cNvSpPr txBox="1">
                <a:spLocks noChangeArrowheads="1"/>
              </p:cNvSpPr>
              <p:nvPr/>
            </p:nvSpPr>
            <p:spPr bwMode="auto">
              <a:xfrm>
                <a:off x="3985" y="1329"/>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20" name="Group 27"/>
              <p:cNvGrpSpPr/>
              <p:nvPr/>
            </p:nvGrpSpPr>
            <p:grpSpPr bwMode="auto">
              <a:xfrm>
                <a:off x="2761" y="1542"/>
                <a:ext cx="142" cy="174"/>
                <a:chOff x="2761" y="1536"/>
                <a:chExt cx="142" cy="174"/>
              </a:xfrm>
            </p:grpSpPr>
            <p:sp>
              <p:nvSpPr>
                <p:cNvPr id="24" name="Line 28"/>
                <p:cNvSpPr>
                  <a:spLocks noChangeShapeType="1"/>
                </p:cNvSpPr>
                <p:nvPr/>
              </p:nvSpPr>
              <p:spPr bwMode="auto">
                <a:xfrm>
                  <a:off x="2763" y="1544"/>
                  <a:ext cx="140"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5" name="Line 29"/>
                <p:cNvSpPr>
                  <a:spLocks noChangeShapeType="1"/>
                </p:cNvSpPr>
                <p:nvPr/>
              </p:nvSpPr>
              <p:spPr bwMode="auto">
                <a:xfrm>
                  <a:off x="2761" y="1536"/>
                  <a:ext cx="0" cy="174"/>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nvGrpSpPr>
              <p:cNvPr id="21" name="Group 30"/>
              <p:cNvGrpSpPr/>
              <p:nvPr/>
            </p:nvGrpSpPr>
            <p:grpSpPr bwMode="auto">
              <a:xfrm>
                <a:off x="3997" y="1550"/>
                <a:ext cx="139" cy="167"/>
                <a:chOff x="3997" y="1544"/>
                <a:chExt cx="139" cy="167"/>
              </a:xfrm>
            </p:grpSpPr>
            <p:sp>
              <p:nvSpPr>
                <p:cNvPr id="22" name="Line 31"/>
                <p:cNvSpPr>
                  <a:spLocks noChangeShapeType="1"/>
                </p:cNvSpPr>
                <p:nvPr/>
              </p:nvSpPr>
              <p:spPr bwMode="auto">
                <a:xfrm>
                  <a:off x="3997" y="1544"/>
                  <a:ext cx="13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3" name="Line 32"/>
                <p:cNvSpPr>
                  <a:spLocks noChangeShapeType="1"/>
                </p:cNvSpPr>
                <p:nvPr/>
              </p:nvSpPr>
              <p:spPr bwMode="auto">
                <a:xfrm>
                  <a:off x="4134" y="1544"/>
                  <a:ext cx="0" cy="167"/>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pic>
          <p:nvPicPr>
            <p:cNvPr id="14" name="Picture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7382" y="4798784"/>
              <a:ext cx="2463736" cy="1006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8790" y="4292857"/>
              <a:ext cx="1317666" cy="615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6554" y="5248305"/>
              <a:ext cx="506413" cy="691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2" name="Text Box 109"/>
          <p:cNvSpPr txBox="1">
            <a:spLocks noChangeArrowheads="1"/>
          </p:cNvSpPr>
          <p:nvPr/>
        </p:nvSpPr>
        <p:spPr bwMode="auto">
          <a:xfrm>
            <a:off x="506375" y="1213136"/>
            <a:ext cx="1620957"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b="1" dirty="0">
                <a:solidFill>
                  <a:srgbClr val="CC0000"/>
                </a:solidFill>
                <a:latin typeface="微软雅黑" panose="020B0503020204020204" pitchFamily="34" charset="-122"/>
                <a:ea typeface="微软雅黑" panose="020B0503020204020204" pitchFamily="34" charset="-122"/>
              </a:rPr>
              <a:t>方案比较</a:t>
            </a:r>
            <a:endParaRPr kumimoji="1" lang="zh-CN" altLang="en-US" sz="2800" b="1" dirty="0">
              <a:solidFill>
                <a:srgbClr val="CC0000"/>
              </a:solidFill>
              <a:latin typeface="微软雅黑" panose="020B0503020204020204" pitchFamily="34" charset="-122"/>
              <a:ea typeface="微软雅黑" panose="020B0503020204020204" pitchFamily="34" charset="-122"/>
            </a:endParaRPr>
          </a:p>
        </p:txBody>
      </p:sp>
      <p:sp>
        <p:nvSpPr>
          <p:cNvPr id="43" name="Text Box 110"/>
          <p:cNvSpPr txBox="1">
            <a:spLocks noChangeArrowheads="1"/>
          </p:cNvSpPr>
          <p:nvPr/>
        </p:nvSpPr>
        <p:spPr bwMode="auto">
          <a:xfrm>
            <a:off x="9907622" y="146332"/>
            <a:ext cx="2089914" cy="46166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CC0000"/>
                </a:solidFill>
                <a:latin typeface="微软雅黑" panose="020B0503020204020204" pitchFamily="34" charset="-122"/>
                <a:ea typeface="微软雅黑" panose="020B0503020204020204" pitchFamily="34" charset="-122"/>
              </a:rPr>
              <a:t>第二方案较好</a:t>
            </a:r>
            <a:endParaRPr kumimoji="1" lang="zh-CN" altLang="en-US" sz="2400" dirty="0">
              <a:solidFill>
                <a:srgbClr val="CC0000"/>
              </a:solidFill>
              <a:latin typeface="微软雅黑" panose="020B0503020204020204" pitchFamily="34" charset="-122"/>
              <a:ea typeface="微软雅黑" panose="020B0503020204020204" pitchFamily="34" charset="-122"/>
            </a:endParaRPr>
          </a:p>
        </p:txBody>
      </p:sp>
      <p:grpSp>
        <p:nvGrpSpPr>
          <p:cNvPr id="44" name="组合 2"/>
          <p:cNvGrpSpPr/>
          <p:nvPr/>
        </p:nvGrpSpPr>
        <p:grpSpPr bwMode="auto">
          <a:xfrm>
            <a:off x="7750885" y="247794"/>
            <a:ext cx="4283075" cy="5618163"/>
            <a:chOff x="4739483" y="260387"/>
            <a:chExt cx="4283073" cy="5617525"/>
          </a:xfrm>
        </p:grpSpPr>
        <p:pic>
          <p:nvPicPr>
            <p:cNvPr id="45"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39483" y="958057"/>
              <a:ext cx="4283073" cy="4919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6" name="Group 10"/>
            <p:cNvGrpSpPr/>
            <p:nvPr/>
          </p:nvGrpSpPr>
          <p:grpSpPr bwMode="auto">
            <a:xfrm>
              <a:off x="6000496" y="260387"/>
              <a:ext cx="314325" cy="415925"/>
              <a:chOff x="3417" y="0"/>
              <a:chExt cx="198" cy="262"/>
            </a:xfrm>
          </p:grpSpPr>
          <p:sp>
            <p:nvSpPr>
              <p:cNvPr id="69" name="Line 11"/>
              <p:cNvSpPr>
                <a:spLocks noChangeShapeType="1"/>
              </p:cNvSpPr>
              <p:nvPr/>
            </p:nvSpPr>
            <p:spPr bwMode="auto">
              <a:xfrm>
                <a:off x="3436" y="70"/>
                <a:ext cx="0" cy="192"/>
              </a:xfrm>
              <a:prstGeom prst="line">
                <a:avLst/>
              </a:prstGeom>
              <a:noFill/>
              <a:ln w="9525">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0" name="Text Box 12"/>
              <p:cNvSpPr txBox="1">
                <a:spLocks noChangeArrowheads="1"/>
              </p:cNvSpPr>
              <p:nvPr/>
            </p:nvSpPr>
            <p:spPr bwMode="auto">
              <a:xfrm>
                <a:off x="3417" y="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47" name="Text Box 13"/>
            <p:cNvSpPr txBox="1">
              <a:spLocks noChangeArrowheads="1"/>
            </p:cNvSpPr>
            <p:nvPr/>
          </p:nvSpPr>
          <p:spPr bwMode="auto">
            <a:xfrm>
              <a:off x="8297834" y="4645726"/>
              <a:ext cx="314510" cy="400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48" name="Group 14"/>
            <p:cNvGrpSpPr/>
            <p:nvPr/>
          </p:nvGrpSpPr>
          <p:grpSpPr bwMode="auto">
            <a:xfrm>
              <a:off x="5676642" y="632637"/>
              <a:ext cx="688975" cy="3973514"/>
              <a:chOff x="3205" y="183"/>
              <a:chExt cx="434" cy="2503"/>
            </a:xfrm>
          </p:grpSpPr>
          <p:grpSp>
            <p:nvGrpSpPr>
              <p:cNvPr id="60" name="Group 15"/>
              <p:cNvGrpSpPr/>
              <p:nvPr/>
            </p:nvGrpSpPr>
            <p:grpSpPr bwMode="auto">
              <a:xfrm>
                <a:off x="3205" y="183"/>
                <a:ext cx="419" cy="252"/>
                <a:chOff x="3205" y="183"/>
                <a:chExt cx="419" cy="252"/>
              </a:xfrm>
            </p:grpSpPr>
            <p:sp>
              <p:nvSpPr>
                <p:cNvPr id="66" name="Line 16"/>
                <p:cNvSpPr>
                  <a:spLocks noChangeShapeType="1"/>
                </p:cNvSpPr>
                <p:nvPr/>
              </p:nvSpPr>
              <p:spPr bwMode="auto">
                <a:xfrm flipH="1" flipV="1">
                  <a:off x="3429" y="294"/>
                  <a:ext cx="1" cy="11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7" name="Line 17"/>
                <p:cNvSpPr>
                  <a:spLocks noChangeShapeType="1"/>
                </p:cNvSpPr>
                <p:nvPr/>
              </p:nvSpPr>
              <p:spPr bwMode="auto">
                <a:xfrm flipV="1">
                  <a:off x="3416" y="293"/>
                  <a:ext cx="208"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8" name="Text Box 18"/>
                <p:cNvSpPr txBox="1">
                  <a:spLocks noChangeArrowheads="1"/>
                </p:cNvSpPr>
                <p:nvPr/>
              </p:nvSpPr>
              <p:spPr bwMode="auto">
                <a:xfrm>
                  <a:off x="3205" y="183"/>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nvGrpSpPr>
              <p:cNvPr id="61" name="Group 19"/>
              <p:cNvGrpSpPr/>
              <p:nvPr/>
            </p:nvGrpSpPr>
            <p:grpSpPr bwMode="auto">
              <a:xfrm>
                <a:off x="3250" y="2434"/>
                <a:ext cx="389" cy="252"/>
                <a:chOff x="3250" y="2434"/>
                <a:chExt cx="389" cy="252"/>
              </a:xfrm>
            </p:grpSpPr>
            <p:grpSp>
              <p:nvGrpSpPr>
                <p:cNvPr id="62" name="Group 20"/>
                <p:cNvGrpSpPr/>
                <p:nvPr/>
              </p:nvGrpSpPr>
              <p:grpSpPr bwMode="auto">
                <a:xfrm>
                  <a:off x="3446" y="2508"/>
                  <a:ext cx="193" cy="99"/>
                  <a:chOff x="3446" y="2456"/>
                  <a:chExt cx="193" cy="99"/>
                </a:xfrm>
              </p:grpSpPr>
              <p:sp>
                <p:nvSpPr>
                  <p:cNvPr id="64" name="Line 21"/>
                  <p:cNvSpPr>
                    <a:spLocks noChangeShapeType="1"/>
                  </p:cNvSpPr>
                  <p:nvPr/>
                </p:nvSpPr>
                <p:spPr bwMode="auto">
                  <a:xfrm>
                    <a:off x="3446" y="2456"/>
                    <a:ext cx="4" cy="9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5" name="Line 22"/>
                  <p:cNvSpPr>
                    <a:spLocks noChangeShapeType="1"/>
                  </p:cNvSpPr>
                  <p:nvPr/>
                </p:nvSpPr>
                <p:spPr bwMode="auto">
                  <a:xfrm>
                    <a:off x="3450" y="2555"/>
                    <a:ext cx="189"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63" name="Text Box 23"/>
                <p:cNvSpPr txBox="1">
                  <a:spLocks noChangeArrowheads="1"/>
                </p:cNvSpPr>
                <p:nvPr/>
              </p:nvSpPr>
              <p:spPr bwMode="auto">
                <a:xfrm>
                  <a:off x="3250" y="2434"/>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sp>
          <p:nvSpPr>
            <p:cNvPr id="49" name="Text Box 72"/>
            <p:cNvSpPr txBox="1">
              <a:spLocks noChangeArrowheads="1"/>
            </p:cNvSpPr>
            <p:nvPr/>
          </p:nvSpPr>
          <p:spPr bwMode="auto">
            <a:xfrm>
              <a:off x="8103870" y="565161"/>
              <a:ext cx="702436" cy="400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r>
                <a:rPr kumimoji="1" lang="zh-CN" altLang="en-US" sz="2000" b="1" i="1" u="none" strike="noStrike" kern="0" cap="none" spc="0" normalizeH="0" baseline="0" noProof="0">
                  <a:ln>
                    <a:noFill/>
                  </a:ln>
                  <a:solidFill>
                    <a:srgbClr val="000000"/>
                  </a:solidFill>
                  <a:effectLst/>
                  <a:uLnTx/>
                  <a:uFillTx/>
                  <a:latin typeface="+mn-ea"/>
                  <a:ea typeface="+mn-ea"/>
                </a:rPr>
                <a:t>－</a:t>
              </a: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50" name="Group 24"/>
            <p:cNvGrpSpPr/>
            <p:nvPr/>
          </p:nvGrpSpPr>
          <p:grpSpPr bwMode="auto">
            <a:xfrm>
              <a:off x="4770458" y="2326452"/>
              <a:ext cx="2339975" cy="615950"/>
              <a:chOff x="2713" y="1329"/>
              <a:chExt cx="1474" cy="388"/>
            </a:xfrm>
          </p:grpSpPr>
          <p:sp>
            <p:nvSpPr>
              <p:cNvPr id="52" name="Text Box 25"/>
              <p:cNvSpPr txBox="1">
                <a:spLocks noChangeArrowheads="1"/>
              </p:cNvSpPr>
              <p:nvPr/>
            </p:nvSpPr>
            <p:spPr bwMode="auto">
              <a:xfrm>
                <a:off x="2713" y="1341"/>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53" name="Text Box 26"/>
              <p:cNvSpPr txBox="1">
                <a:spLocks noChangeArrowheads="1"/>
              </p:cNvSpPr>
              <p:nvPr/>
            </p:nvSpPr>
            <p:spPr bwMode="auto">
              <a:xfrm>
                <a:off x="3985" y="1329"/>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54" name="Group 27"/>
              <p:cNvGrpSpPr/>
              <p:nvPr/>
            </p:nvGrpSpPr>
            <p:grpSpPr bwMode="auto">
              <a:xfrm>
                <a:off x="2761" y="1542"/>
                <a:ext cx="142" cy="174"/>
                <a:chOff x="2761" y="1536"/>
                <a:chExt cx="142" cy="174"/>
              </a:xfrm>
            </p:grpSpPr>
            <p:sp>
              <p:nvSpPr>
                <p:cNvPr id="58" name="Line 28"/>
                <p:cNvSpPr>
                  <a:spLocks noChangeShapeType="1"/>
                </p:cNvSpPr>
                <p:nvPr/>
              </p:nvSpPr>
              <p:spPr bwMode="auto">
                <a:xfrm>
                  <a:off x="2763" y="1544"/>
                  <a:ext cx="140"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9" name="Line 29"/>
                <p:cNvSpPr>
                  <a:spLocks noChangeShapeType="1"/>
                </p:cNvSpPr>
                <p:nvPr/>
              </p:nvSpPr>
              <p:spPr bwMode="auto">
                <a:xfrm>
                  <a:off x="2761" y="1536"/>
                  <a:ext cx="0" cy="174"/>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nvGrpSpPr>
              <p:cNvPr id="55" name="Group 30"/>
              <p:cNvGrpSpPr/>
              <p:nvPr/>
            </p:nvGrpSpPr>
            <p:grpSpPr bwMode="auto">
              <a:xfrm>
                <a:off x="3997" y="1550"/>
                <a:ext cx="139" cy="167"/>
                <a:chOff x="3997" y="1544"/>
                <a:chExt cx="139" cy="167"/>
              </a:xfrm>
            </p:grpSpPr>
            <p:sp>
              <p:nvSpPr>
                <p:cNvPr id="56" name="Line 31"/>
                <p:cNvSpPr>
                  <a:spLocks noChangeShapeType="1"/>
                </p:cNvSpPr>
                <p:nvPr/>
              </p:nvSpPr>
              <p:spPr bwMode="auto">
                <a:xfrm>
                  <a:off x="3997" y="1544"/>
                  <a:ext cx="13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7" name="Line 32"/>
                <p:cNvSpPr>
                  <a:spLocks noChangeShapeType="1"/>
                </p:cNvSpPr>
                <p:nvPr/>
              </p:nvSpPr>
              <p:spPr bwMode="auto">
                <a:xfrm>
                  <a:off x="4134" y="1544"/>
                  <a:ext cx="0" cy="167"/>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sp>
          <p:nvSpPr>
            <p:cNvPr id="51" name="Text Box 71"/>
            <p:cNvSpPr txBox="1">
              <a:spLocks noChangeArrowheads="1"/>
            </p:cNvSpPr>
            <p:nvPr/>
          </p:nvSpPr>
          <p:spPr bwMode="auto">
            <a:xfrm>
              <a:off x="5613989" y="4475927"/>
              <a:ext cx="7152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r>
                <a:rPr kumimoji="1" lang="zh-CN" altLang="en-US" sz="2000" b="1" i="1" u="none" strike="noStrike" kern="0" cap="none" spc="0" normalizeH="0" baseline="0" noProof="0">
                  <a:ln>
                    <a:noFill/>
                  </a:ln>
                  <a:solidFill>
                    <a:srgbClr val="000000"/>
                  </a:solidFill>
                  <a:effectLst/>
                  <a:uLnTx/>
                  <a:uFillTx/>
                  <a:latin typeface="+mn-ea"/>
                  <a:ea typeface="+mn-ea"/>
                </a:rPr>
                <a:t>－</a:t>
              </a: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cxnSp>
        <p:nvCxnSpPr>
          <p:cNvPr id="71" name="直接连接符 70"/>
          <p:cNvCxnSpPr/>
          <p:nvPr/>
        </p:nvCxnSpPr>
        <p:spPr>
          <a:xfrm>
            <a:off x="7521209" y="247794"/>
            <a:ext cx="0" cy="5932210"/>
          </a:xfrm>
          <a:prstGeom prst="line">
            <a:avLst/>
          </a:prstGeom>
          <a:noFill/>
          <a:ln w="12700" cap="flat" cmpd="sng" algn="ctr">
            <a:solidFill>
              <a:srgbClr val="CC3300"/>
            </a:solidFill>
            <a:prstDash val="solid"/>
          </a:ln>
          <a:effectLst>
            <a:glow rad="63500">
              <a:srgbClr val="DAEDEF">
                <a:satMod val="175000"/>
                <a:alpha val="40000"/>
              </a:srgbClr>
            </a:glow>
          </a:effec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Text Box 4"/>
          <p:cNvSpPr txBox="1">
            <a:spLocks noChangeArrowheads="1"/>
          </p:cNvSpPr>
          <p:nvPr/>
        </p:nvSpPr>
        <p:spPr bwMode="auto">
          <a:xfrm>
            <a:off x="1271464" y="1844824"/>
            <a:ext cx="814838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根据零件的功能结构选择视图表达方案</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根据视图数量、零件大小确定绘图比例和图幅大小</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画图框、标题栏</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布置视图，画各视图的基准线、中心线、轴线</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eaLnBrk="1" fontAlgn="base" hangingPunct="1">
              <a:spcBef>
                <a:spcPct val="0"/>
              </a:spcBef>
              <a:spcAft>
                <a:spcPts val="900"/>
              </a:spcAft>
              <a:defRPr/>
            </a:pPr>
            <a:r>
              <a:rPr kumimoji="1" lang="zh-CN" altLang="en-US" sz="2200" dirty="0">
                <a:solidFill>
                  <a:srgbClr val="000000"/>
                </a:solidFill>
                <a:latin typeface="微软雅黑" panose="020B0503020204020204" pitchFamily="34" charset="-122"/>
                <a:ea typeface="微软雅黑" panose="020B0503020204020204" pitchFamily="34" charset="-122"/>
              </a:rPr>
              <a:t> （注意图面布置要匀称，并应留出标注尺寸的空间）</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从主视图开始，画各视图的主要轮廓线（注意投影对应关系）</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画各视图的细部（槽、圆角、倒角等）</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尺寸标注及技术要求</a:t>
            </a:r>
            <a:endParaRPr kumimoji="1" lang="zh-CN" altLang="en-US" sz="2200" dirty="0">
              <a:solidFill>
                <a:srgbClr val="000000"/>
              </a:solidFill>
              <a:latin typeface="微软雅黑" panose="020B0503020204020204" pitchFamily="34" charset="-122"/>
              <a:ea typeface="微软雅黑" panose="020B0503020204020204" pitchFamily="34" charset="-122"/>
            </a:endParaRPr>
          </a:p>
          <a:p>
            <a:pPr marL="342900" indent="-342900" eaLnBrk="1" fontAlgn="base" hangingPunct="1">
              <a:spcBef>
                <a:spcPct val="0"/>
              </a:spcBef>
              <a:spcAft>
                <a:spcPts val="900"/>
              </a:spcAft>
              <a:buFont typeface="Wingdings" panose="05000000000000000000" pitchFamily="2" charset="2"/>
              <a:buChar char="ü"/>
              <a:defRPr/>
            </a:pPr>
            <a:r>
              <a:rPr kumimoji="1" lang="zh-CN" altLang="en-US" sz="2200" dirty="0">
                <a:solidFill>
                  <a:srgbClr val="000000"/>
                </a:solidFill>
                <a:latin typeface="微软雅黑" panose="020B0503020204020204" pitchFamily="34" charset="-122"/>
                <a:ea typeface="微软雅黑" panose="020B0503020204020204" pitchFamily="34" charset="-122"/>
              </a:rPr>
              <a:t>填写标题栏</a:t>
            </a:r>
            <a:endParaRPr kumimoji="1" lang="zh-CN" altLang="en-US" sz="2200" dirty="0">
              <a:solidFill>
                <a:srgbClr val="000000"/>
              </a:solidFill>
              <a:latin typeface="微软雅黑" panose="020B0503020204020204" pitchFamily="34" charset="-122"/>
              <a:ea typeface="微软雅黑" panose="020B0503020204020204" pitchFamily="34" charset="-122"/>
            </a:endParaRPr>
          </a:p>
        </p:txBody>
      </p:sp>
      <p:sp>
        <p:nvSpPr>
          <p:cNvPr id="4" name="Text Box 4"/>
          <p:cNvSpPr txBox="1">
            <a:spLocks noChangeArrowheads="1"/>
          </p:cNvSpPr>
          <p:nvPr/>
        </p:nvSpPr>
        <p:spPr bwMode="auto">
          <a:xfrm>
            <a:off x="306971" y="1245139"/>
            <a:ext cx="35189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零件图的画图步骤</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5303912" y="116632"/>
            <a:ext cx="6888088" cy="6149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2" name="组合 1"/>
          <p:cNvGrpSpPr/>
          <p:nvPr/>
        </p:nvGrpSpPr>
        <p:grpSpPr bwMode="auto">
          <a:xfrm>
            <a:off x="6023992" y="548680"/>
            <a:ext cx="4283075" cy="5618162"/>
            <a:chOff x="4739483" y="260387"/>
            <a:chExt cx="4283073" cy="5617525"/>
          </a:xfrm>
        </p:grpSpPr>
        <p:pic>
          <p:nvPicPr>
            <p:cNvPr id="3" name="Picture 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39483" y="958057"/>
              <a:ext cx="4283073" cy="4919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Group 10"/>
            <p:cNvGrpSpPr/>
            <p:nvPr/>
          </p:nvGrpSpPr>
          <p:grpSpPr bwMode="auto">
            <a:xfrm>
              <a:off x="6000496" y="260387"/>
              <a:ext cx="314325" cy="415925"/>
              <a:chOff x="3417" y="0"/>
              <a:chExt cx="198" cy="262"/>
            </a:xfrm>
          </p:grpSpPr>
          <p:sp>
            <p:nvSpPr>
              <p:cNvPr id="28" name="Line 11"/>
              <p:cNvSpPr>
                <a:spLocks noChangeShapeType="1"/>
              </p:cNvSpPr>
              <p:nvPr/>
            </p:nvSpPr>
            <p:spPr bwMode="auto">
              <a:xfrm>
                <a:off x="3436" y="70"/>
                <a:ext cx="0" cy="192"/>
              </a:xfrm>
              <a:prstGeom prst="line">
                <a:avLst/>
              </a:prstGeom>
              <a:noFill/>
              <a:ln w="9525">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9" name="Text Box 12"/>
              <p:cNvSpPr txBox="1">
                <a:spLocks noChangeArrowheads="1"/>
              </p:cNvSpPr>
              <p:nvPr/>
            </p:nvSpPr>
            <p:spPr bwMode="auto">
              <a:xfrm>
                <a:off x="3417" y="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dirty="0">
                    <a:ln>
                      <a:noFill/>
                    </a:ln>
                    <a:solidFill>
                      <a:srgbClr val="000000"/>
                    </a:solidFill>
                    <a:effectLst/>
                    <a:uLnTx/>
                    <a:uFillTx/>
                    <a:latin typeface="+mn-ea"/>
                    <a:ea typeface="+mn-ea"/>
                  </a:rPr>
                  <a:t>C</a:t>
                </a:r>
                <a:endParaRPr kumimoji="1" lang="en-US" altLang="zh-CN" sz="2000" b="1" i="1" u="none" strike="noStrike" kern="0" cap="none" spc="0" normalizeH="0" baseline="0" noProof="0" dirty="0">
                  <a:ln>
                    <a:noFill/>
                  </a:ln>
                  <a:solidFill>
                    <a:srgbClr val="000000"/>
                  </a:solidFill>
                  <a:effectLst/>
                  <a:uLnTx/>
                  <a:uFillTx/>
                  <a:latin typeface="+mn-ea"/>
                  <a:ea typeface="+mn-ea"/>
                </a:endParaRPr>
              </a:p>
            </p:txBody>
          </p:sp>
        </p:grpSp>
        <p:sp>
          <p:nvSpPr>
            <p:cNvPr id="5" name="Text Box 13"/>
            <p:cNvSpPr txBox="1">
              <a:spLocks noChangeArrowheads="1"/>
            </p:cNvSpPr>
            <p:nvPr/>
          </p:nvSpPr>
          <p:spPr bwMode="auto">
            <a:xfrm>
              <a:off x="8297834" y="4645726"/>
              <a:ext cx="314510" cy="400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C</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6" name="Group 14"/>
            <p:cNvGrpSpPr/>
            <p:nvPr/>
          </p:nvGrpSpPr>
          <p:grpSpPr bwMode="auto">
            <a:xfrm>
              <a:off x="5676642" y="632637"/>
              <a:ext cx="688975" cy="3973514"/>
              <a:chOff x="3205" y="183"/>
              <a:chExt cx="434" cy="2503"/>
            </a:xfrm>
          </p:grpSpPr>
          <p:grpSp>
            <p:nvGrpSpPr>
              <p:cNvPr id="19" name="Group 15"/>
              <p:cNvGrpSpPr/>
              <p:nvPr/>
            </p:nvGrpSpPr>
            <p:grpSpPr bwMode="auto">
              <a:xfrm>
                <a:off x="3205" y="183"/>
                <a:ext cx="419" cy="252"/>
                <a:chOff x="3205" y="183"/>
                <a:chExt cx="419" cy="252"/>
              </a:xfrm>
            </p:grpSpPr>
            <p:sp>
              <p:nvSpPr>
                <p:cNvPr id="25" name="Line 16"/>
                <p:cNvSpPr>
                  <a:spLocks noChangeShapeType="1"/>
                </p:cNvSpPr>
                <p:nvPr/>
              </p:nvSpPr>
              <p:spPr bwMode="auto">
                <a:xfrm flipH="1" flipV="1">
                  <a:off x="3429" y="294"/>
                  <a:ext cx="1" cy="11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6" name="Line 17"/>
                <p:cNvSpPr>
                  <a:spLocks noChangeShapeType="1"/>
                </p:cNvSpPr>
                <p:nvPr/>
              </p:nvSpPr>
              <p:spPr bwMode="auto">
                <a:xfrm flipV="1">
                  <a:off x="3416" y="293"/>
                  <a:ext cx="208"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7" name="Text Box 18"/>
                <p:cNvSpPr txBox="1">
                  <a:spLocks noChangeArrowheads="1"/>
                </p:cNvSpPr>
                <p:nvPr/>
              </p:nvSpPr>
              <p:spPr bwMode="auto">
                <a:xfrm>
                  <a:off x="3205" y="183"/>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nvGrpSpPr>
              <p:cNvPr id="20" name="Group 19"/>
              <p:cNvGrpSpPr/>
              <p:nvPr/>
            </p:nvGrpSpPr>
            <p:grpSpPr bwMode="auto">
              <a:xfrm>
                <a:off x="3250" y="2434"/>
                <a:ext cx="389" cy="252"/>
                <a:chOff x="3250" y="2434"/>
                <a:chExt cx="389" cy="252"/>
              </a:xfrm>
            </p:grpSpPr>
            <p:grpSp>
              <p:nvGrpSpPr>
                <p:cNvPr id="21" name="Group 20"/>
                <p:cNvGrpSpPr/>
                <p:nvPr/>
              </p:nvGrpSpPr>
              <p:grpSpPr bwMode="auto">
                <a:xfrm>
                  <a:off x="3446" y="2508"/>
                  <a:ext cx="193" cy="99"/>
                  <a:chOff x="3446" y="2456"/>
                  <a:chExt cx="193" cy="99"/>
                </a:xfrm>
              </p:grpSpPr>
              <p:sp>
                <p:nvSpPr>
                  <p:cNvPr id="23" name="Line 21"/>
                  <p:cNvSpPr>
                    <a:spLocks noChangeShapeType="1"/>
                  </p:cNvSpPr>
                  <p:nvPr/>
                </p:nvSpPr>
                <p:spPr bwMode="auto">
                  <a:xfrm>
                    <a:off x="3446" y="2456"/>
                    <a:ext cx="4" cy="9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4" name="Line 22"/>
                  <p:cNvSpPr>
                    <a:spLocks noChangeShapeType="1"/>
                  </p:cNvSpPr>
                  <p:nvPr/>
                </p:nvSpPr>
                <p:spPr bwMode="auto">
                  <a:xfrm>
                    <a:off x="3450" y="2555"/>
                    <a:ext cx="189"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22" name="Text Box 23"/>
                <p:cNvSpPr txBox="1">
                  <a:spLocks noChangeArrowheads="1"/>
                </p:cNvSpPr>
                <p:nvPr/>
              </p:nvSpPr>
              <p:spPr bwMode="auto">
                <a:xfrm>
                  <a:off x="3250" y="2434"/>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grpSp>
        <p:sp>
          <p:nvSpPr>
            <p:cNvPr id="7" name="Text Box 72"/>
            <p:cNvSpPr txBox="1">
              <a:spLocks noChangeArrowheads="1"/>
            </p:cNvSpPr>
            <p:nvPr/>
          </p:nvSpPr>
          <p:spPr bwMode="auto">
            <a:xfrm>
              <a:off x="8103870" y="565161"/>
              <a:ext cx="702436" cy="400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A</a:t>
              </a:r>
              <a:r>
                <a:rPr kumimoji="1" lang="zh-CN" altLang="en-US" sz="2000" b="1" i="1" u="none" strike="noStrike" kern="0" cap="none" spc="0" normalizeH="0" baseline="0" noProof="0">
                  <a:ln>
                    <a:noFill/>
                  </a:ln>
                  <a:solidFill>
                    <a:srgbClr val="000000"/>
                  </a:solidFill>
                  <a:effectLst/>
                  <a:uLnTx/>
                  <a:uFillTx/>
                  <a:latin typeface="+mn-ea"/>
                  <a:ea typeface="+mn-ea"/>
                </a:rPr>
                <a:t>－</a:t>
              </a:r>
              <a:r>
                <a:rPr kumimoji="1" lang="en-US" altLang="zh-CN" sz="2000" b="1" i="1" u="none" strike="noStrike" kern="0" cap="none" spc="0" normalizeH="0" baseline="0" noProof="0">
                  <a:ln>
                    <a:noFill/>
                  </a:ln>
                  <a:solidFill>
                    <a:srgbClr val="000000"/>
                  </a:solidFill>
                  <a:effectLst/>
                  <a:uLnTx/>
                  <a:uFillTx/>
                  <a:latin typeface="+mn-ea"/>
                  <a:ea typeface="+mn-ea"/>
                </a:rPr>
                <a:t>A</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8" name="Group 24"/>
            <p:cNvGrpSpPr/>
            <p:nvPr/>
          </p:nvGrpSpPr>
          <p:grpSpPr bwMode="auto">
            <a:xfrm>
              <a:off x="4770458" y="2326452"/>
              <a:ext cx="2339975" cy="615950"/>
              <a:chOff x="2713" y="1329"/>
              <a:chExt cx="1474" cy="388"/>
            </a:xfrm>
          </p:grpSpPr>
          <p:sp>
            <p:nvSpPr>
              <p:cNvPr id="10" name="Text Box 25"/>
              <p:cNvSpPr txBox="1">
                <a:spLocks noChangeArrowheads="1"/>
              </p:cNvSpPr>
              <p:nvPr/>
            </p:nvSpPr>
            <p:spPr bwMode="auto">
              <a:xfrm>
                <a:off x="2713" y="1341"/>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sp>
            <p:nvSpPr>
              <p:cNvPr id="11" name="Text Box 26"/>
              <p:cNvSpPr txBox="1">
                <a:spLocks noChangeArrowheads="1"/>
              </p:cNvSpPr>
              <p:nvPr/>
            </p:nvSpPr>
            <p:spPr bwMode="auto">
              <a:xfrm>
                <a:off x="3985" y="1329"/>
                <a:ext cx="2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nvGrpSpPr>
              <p:cNvPr id="12" name="Group 27"/>
              <p:cNvGrpSpPr/>
              <p:nvPr/>
            </p:nvGrpSpPr>
            <p:grpSpPr bwMode="auto">
              <a:xfrm>
                <a:off x="2761" y="1542"/>
                <a:ext cx="142" cy="174"/>
                <a:chOff x="2761" y="1536"/>
                <a:chExt cx="142" cy="174"/>
              </a:xfrm>
            </p:grpSpPr>
            <p:sp>
              <p:nvSpPr>
                <p:cNvPr id="17" name="Line 28"/>
                <p:cNvSpPr>
                  <a:spLocks noChangeShapeType="1"/>
                </p:cNvSpPr>
                <p:nvPr/>
              </p:nvSpPr>
              <p:spPr bwMode="auto">
                <a:xfrm>
                  <a:off x="2763" y="1544"/>
                  <a:ext cx="140"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8" name="Line 29"/>
                <p:cNvSpPr>
                  <a:spLocks noChangeShapeType="1"/>
                </p:cNvSpPr>
                <p:nvPr/>
              </p:nvSpPr>
              <p:spPr bwMode="auto">
                <a:xfrm>
                  <a:off x="2761" y="1536"/>
                  <a:ext cx="0" cy="174"/>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nvGrpSpPr>
              <p:cNvPr id="13" name="Group 30"/>
              <p:cNvGrpSpPr/>
              <p:nvPr/>
            </p:nvGrpSpPr>
            <p:grpSpPr bwMode="auto">
              <a:xfrm>
                <a:off x="3997" y="1550"/>
                <a:ext cx="139" cy="167"/>
                <a:chOff x="3997" y="1544"/>
                <a:chExt cx="139" cy="167"/>
              </a:xfrm>
            </p:grpSpPr>
            <p:sp>
              <p:nvSpPr>
                <p:cNvPr id="14" name="Line 31"/>
                <p:cNvSpPr>
                  <a:spLocks noChangeShapeType="1"/>
                </p:cNvSpPr>
                <p:nvPr/>
              </p:nvSpPr>
              <p:spPr bwMode="auto">
                <a:xfrm>
                  <a:off x="3997" y="1544"/>
                  <a:ext cx="139"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5" name="Line 32"/>
                <p:cNvSpPr>
                  <a:spLocks noChangeShapeType="1"/>
                </p:cNvSpPr>
                <p:nvPr/>
              </p:nvSpPr>
              <p:spPr bwMode="auto">
                <a:xfrm>
                  <a:off x="4134" y="1544"/>
                  <a:ext cx="0" cy="167"/>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sp>
          <p:nvSpPr>
            <p:cNvPr id="9" name="Text Box 71"/>
            <p:cNvSpPr txBox="1">
              <a:spLocks noChangeArrowheads="1"/>
            </p:cNvSpPr>
            <p:nvPr/>
          </p:nvSpPr>
          <p:spPr bwMode="auto">
            <a:xfrm>
              <a:off x="5613989" y="4475927"/>
              <a:ext cx="7152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mn-ea"/>
                  <a:ea typeface="+mn-ea"/>
                </a:rPr>
                <a:t>B</a:t>
              </a:r>
              <a:r>
                <a:rPr kumimoji="1" lang="zh-CN" altLang="en-US" sz="2000" b="1" i="1" u="none" strike="noStrike" kern="0" cap="none" spc="0" normalizeH="0" baseline="0" noProof="0">
                  <a:ln>
                    <a:noFill/>
                  </a:ln>
                  <a:solidFill>
                    <a:srgbClr val="000000"/>
                  </a:solidFill>
                  <a:effectLst/>
                  <a:uLnTx/>
                  <a:uFillTx/>
                  <a:latin typeface="+mn-ea"/>
                  <a:ea typeface="+mn-ea"/>
                </a:rPr>
                <a:t>－</a:t>
              </a:r>
              <a:r>
                <a:rPr kumimoji="1" lang="en-US" altLang="zh-CN" sz="2000" b="1" i="1" u="none" strike="noStrike" kern="0" cap="none" spc="0" normalizeH="0" baseline="0" noProof="0">
                  <a:ln>
                    <a:noFill/>
                  </a:ln>
                  <a:solidFill>
                    <a:srgbClr val="000000"/>
                  </a:solidFill>
                  <a:effectLst/>
                  <a:uLnTx/>
                  <a:uFillTx/>
                  <a:latin typeface="+mn-ea"/>
                  <a:ea typeface="+mn-ea"/>
                </a:rPr>
                <a:t>B</a:t>
              </a:r>
              <a:endParaRPr kumimoji="1" lang="en-US" altLang="zh-CN" sz="2000" b="1" i="1" u="none" strike="noStrike" kern="0" cap="none" spc="0" normalizeH="0" baseline="0" noProof="0">
                <a:ln>
                  <a:noFill/>
                </a:ln>
                <a:solidFill>
                  <a:srgbClr val="000000"/>
                </a:solidFill>
                <a:effectLst/>
                <a:uLnTx/>
                <a:uFillTx/>
                <a:latin typeface="+mn-ea"/>
                <a:ea typeface="+mn-ea"/>
              </a:endParaRPr>
            </a:p>
          </p:txBody>
        </p:sp>
      </p:grpSp>
      <p:sp>
        <p:nvSpPr>
          <p:cNvPr id="30" name="Text Box 217"/>
          <p:cNvSpPr txBox="1">
            <a:spLocks noChangeArrowheads="1"/>
          </p:cNvSpPr>
          <p:nvPr/>
        </p:nvSpPr>
        <p:spPr bwMode="auto">
          <a:xfrm>
            <a:off x="371136" y="1211927"/>
            <a:ext cx="269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latin typeface="微软雅黑" panose="020B0503020204020204" pitchFamily="34" charset="-122"/>
                <a:ea typeface="微软雅黑" panose="020B0503020204020204" pitchFamily="34" charset="-122"/>
              </a:rPr>
              <a:t>确定视图方案</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8606" y="1628800"/>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Box 21"/>
          <p:cNvSpPr txBox="1">
            <a:spLocks noChangeArrowheads="1"/>
          </p:cNvSpPr>
          <p:nvPr/>
        </p:nvSpPr>
        <p:spPr bwMode="auto">
          <a:xfrm>
            <a:off x="426441" y="1998577"/>
            <a:ext cx="399956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根据视图数量、物体大小，确定绘图比例和图幅大小</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Text Box 22"/>
          <p:cNvSpPr txBox="1">
            <a:spLocks noChangeArrowheads="1"/>
          </p:cNvSpPr>
          <p:nvPr/>
        </p:nvSpPr>
        <p:spPr bwMode="auto">
          <a:xfrm>
            <a:off x="807012" y="2964467"/>
            <a:ext cx="1836737"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图幅：</a:t>
            </a:r>
            <a:r>
              <a:rPr kumimoji="1" lang="en-US" altLang="zh-CN" sz="2400" dirty="0">
                <a:solidFill>
                  <a:srgbClr val="000000"/>
                </a:solidFill>
                <a:latin typeface="微软雅黑" panose="020B0503020204020204" pitchFamily="34" charset="-122"/>
                <a:ea typeface="微软雅黑" panose="020B0503020204020204" pitchFamily="34" charset="-122"/>
              </a:rPr>
              <a:t>A3</a:t>
            </a:r>
            <a:endParaRPr kumimoji="1" lang="en-US" altLang="zh-CN" sz="2400" dirty="0">
              <a:solidFill>
                <a:srgbClr val="000000"/>
              </a:solidFill>
              <a:latin typeface="微软雅黑" panose="020B0503020204020204" pitchFamily="34" charset="-122"/>
              <a:ea typeface="微软雅黑" panose="020B0503020204020204" pitchFamily="34" charset="-122"/>
            </a:endParaRPr>
          </a:p>
          <a:p>
            <a:pPr fontAlgn="base">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比例：</a:t>
            </a:r>
            <a:r>
              <a:rPr kumimoji="1" lang="en-US" altLang="zh-CN" sz="2400" dirty="0">
                <a:solidFill>
                  <a:srgbClr val="000000"/>
                </a:solidFill>
                <a:latin typeface="微软雅黑" panose="020B0503020204020204" pitchFamily="34" charset="-122"/>
                <a:ea typeface="微软雅黑" panose="020B0503020204020204" pitchFamily="34" charset="-122"/>
              </a:rPr>
              <a:t>1</a:t>
            </a:r>
            <a:r>
              <a:rPr kumimoji="1" lang="zh-CN" altLang="en-US" sz="2400" dirty="0">
                <a:solidFill>
                  <a:srgbClr val="000000"/>
                </a:solidFill>
                <a:latin typeface="微软雅黑" panose="020B0503020204020204" pitchFamily="34" charset="-122"/>
                <a:ea typeface="微软雅黑" panose="020B0503020204020204" pitchFamily="34" charset="-122"/>
              </a:rPr>
              <a:t>：</a:t>
            </a:r>
            <a:r>
              <a:rPr kumimoji="1" lang="en-US" altLang="zh-CN" sz="2400" dirty="0">
                <a:solidFill>
                  <a:srgbClr val="000000"/>
                </a:solidFill>
                <a:latin typeface="微软雅黑" panose="020B0503020204020204" pitchFamily="34" charset="-122"/>
                <a:ea typeface="微软雅黑" panose="020B0503020204020204" pitchFamily="34" charset="-122"/>
              </a:rPr>
              <a:t>1</a:t>
            </a:r>
            <a:endParaRPr kumimoji="1" lang="en-US" altLang="zh-CN" sz="2400" dirty="0">
              <a:solidFill>
                <a:srgbClr val="000000"/>
              </a:solidFill>
              <a:latin typeface="微软雅黑" panose="020B0503020204020204" pitchFamily="34" charset="-122"/>
              <a:ea typeface="微软雅黑" panose="020B0503020204020204" pitchFamily="34" charset="-122"/>
            </a:endParaRPr>
          </a:p>
        </p:txBody>
      </p:sp>
      <p:grpSp>
        <p:nvGrpSpPr>
          <p:cNvPr id="6" name="Group 23"/>
          <p:cNvGrpSpPr/>
          <p:nvPr/>
        </p:nvGrpSpPr>
        <p:grpSpPr bwMode="auto">
          <a:xfrm>
            <a:off x="5003844" y="1076350"/>
            <a:ext cx="6719887" cy="5002213"/>
            <a:chOff x="1401" y="769"/>
            <a:chExt cx="4233" cy="3150"/>
          </a:xfrm>
        </p:grpSpPr>
        <p:grpSp>
          <p:nvGrpSpPr>
            <p:cNvPr id="7" name="Group 24"/>
            <p:cNvGrpSpPr/>
            <p:nvPr/>
          </p:nvGrpSpPr>
          <p:grpSpPr bwMode="auto">
            <a:xfrm>
              <a:off x="1401" y="769"/>
              <a:ext cx="3969" cy="348"/>
              <a:chOff x="1401" y="769"/>
              <a:chExt cx="3969" cy="348"/>
            </a:xfrm>
          </p:grpSpPr>
          <p:grpSp>
            <p:nvGrpSpPr>
              <p:cNvPr id="15" name="Group 25"/>
              <p:cNvGrpSpPr/>
              <p:nvPr/>
            </p:nvGrpSpPr>
            <p:grpSpPr bwMode="auto">
              <a:xfrm>
                <a:off x="1401" y="898"/>
                <a:ext cx="3969" cy="219"/>
                <a:chOff x="1401" y="898"/>
                <a:chExt cx="3969" cy="219"/>
              </a:xfrm>
            </p:grpSpPr>
            <p:sp>
              <p:nvSpPr>
                <p:cNvPr id="18" name="Line 26"/>
                <p:cNvSpPr>
                  <a:spLocks noChangeShapeType="1"/>
                </p:cNvSpPr>
                <p:nvPr/>
              </p:nvSpPr>
              <p:spPr bwMode="auto">
                <a:xfrm flipV="1">
                  <a:off x="5365" y="907"/>
                  <a:ext cx="0" cy="21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9" name="Line 27"/>
                <p:cNvSpPr>
                  <a:spLocks noChangeShapeType="1"/>
                </p:cNvSpPr>
                <p:nvPr/>
              </p:nvSpPr>
              <p:spPr bwMode="auto">
                <a:xfrm flipV="1">
                  <a:off x="1401" y="898"/>
                  <a:ext cx="0" cy="21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0" name="Line 28"/>
                <p:cNvSpPr>
                  <a:spLocks noChangeShapeType="1"/>
                </p:cNvSpPr>
                <p:nvPr/>
              </p:nvSpPr>
              <p:spPr bwMode="auto">
                <a:xfrm>
                  <a:off x="1401" y="994"/>
                  <a:ext cx="3969"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17" name="Text Box 29"/>
              <p:cNvSpPr txBox="1">
                <a:spLocks noChangeArrowheads="1"/>
              </p:cNvSpPr>
              <p:nvPr/>
            </p:nvSpPr>
            <p:spPr bwMode="auto">
              <a:xfrm>
                <a:off x="3200" y="769"/>
                <a:ext cx="3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mn-ea"/>
                    <a:ea typeface="+mn-ea"/>
                  </a:rPr>
                  <a:t>420</a:t>
                </a:r>
                <a:endParaRPr kumimoji="1" lang="en-US" altLang="zh-CN" sz="2400" b="1" i="1" u="none" strike="noStrike" kern="0" cap="none" spc="0" normalizeH="0" baseline="0" noProof="0">
                  <a:ln>
                    <a:noFill/>
                  </a:ln>
                  <a:solidFill>
                    <a:srgbClr val="000000"/>
                  </a:solidFill>
                  <a:effectLst/>
                  <a:uLnTx/>
                  <a:uFillTx/>
                  <a:latin typeface="+mn-ea"/>
                  <a:ea typeface="+mn-ea"/>
                </a:endParaRPr>
              </a:p>
            </p:txBody>
          </p:sp>
        </p:grpSp>
        <p:grpSp>
          <p:nvGrpSpPr>
            <p:cNvPr id="8" name="Group 30"/>
            <p:cNvGrpSpPr/>
            <p:nvPr/>
          </p:nvGrpSpPr>
          <p:grpSpPr bwMode="auto">
            <a:xfrm>
              <a:off x="5347" y="1117"/>
              <a:ext cx="287" cy="2802"/>
              <a:chOff x="5347" y="1117"/>
              <a:chExt cx="287" cy="2802"/>
            </a:xfrm>
          </p:grpSpPr>
          <p:sp>
            <p:nvSpPr>
              <p:cNvPr id="9" name="Line 31"/>
              <p:cNvSpPr>
                <a:spLocks noChangeShapeType="1"/>
              </p:cNvSpPr>
              <p:nvPr/>
            </p:nvSpPr>
            <p:spPr bwMode="auto">
              <a:xfrm>
                <a:off x="5365" y="1117"/>
                <a:ext cx="26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nvGrpSpPr>
              <p:cNvPr id="10" name="Group 32"/>
              <p:cNvGrpSpPr/>
              <p:nvPr/>
            </p:nvGrpSpPr>
            <p:grpSpPr bwMode="auto">
              <a:xfrm>
                <a:off x="5347" y="1117"/>
                <a:ext cx="287" cy="2802"/>
                <a:chOff x="5347" y="1115"/>
                <a:chExt cx="287" cy="2804"/>
              </a:xfrm>
            </p:grpSpPr>
            <p:grpSp>
              <p:nvGrpSpPr>
                <p:cNvPr id="11" name="Group 33"/>
                <p:cNvGrpSpPr/>
                <p:nvPr/>
              </p:nvGrpSpPr>
              <p:grpSpPr bwMode="auto">
                <a:xfrm>
                  <a:off x="5370" y="1115"/>
                  <a:ext cx="264" cy="2804"/>
                  <a:chOff x="5338" y="1558"/>
                  <a:chExt cx="294" cy="2499"/>
                </a:xfrm>
              </p:grpSpPr>
              <p:sp>
                <p:nvSpPr>
                  <p:cNvPr id="13" name="Line 34"/>
                  <p:cNvSpPr>
                    <a:spLocks noChangeShapeType="1"/>
                  </p:cNvSpPr>
                  <p:nvPr/>
                </p:nvSpPr>
                <p:spPr bwMode="auto">
                  <a:xfrm flipH="1">
                    <a:off x="5545" y="1558"/>
                    <a:ext cx="0" cy="2499"/>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4" name="Line 35"/>
                  <p:cNvSpPr>
                    <a:spLocks noChangeShapeType="1"/>
                  </p:cNvSpPr>
                  <p:nvPr/>
                </p:nvSpPr>
                <p:spPr bwMode="auto">
                  <a:xfrm>
                    <a:off x="5338" y="4052"/>
                    <a:ext cx="29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12" name="Text Box 36"/>
                <p:cNvSpPr txBox="1">
                  <a:spLocks noChangeArrowheads="1"/>
                </p:cNvSpPr>
                <p:nvPr/>
              </p:nvSpPr>
              <p:spPr bwMode="auto">
                <a:xfrm rot="16200000">
                  <a:off x="5108" y="2262"/>
                  <a:ext cx="71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mn-ea"/>
                      <a:ea typeface="+mn-ea"/>
                    </a:rPr>
                    <a:t>297</a:t>
                  </a:r>
                  <a:endParaRPr kumimoji="1" lang="en-US" altLang="zh-CN" sz="2400" b="1" i="1" u="none" strike="noStrike" kern="0" cap="none" spc="0" normalizeH="0" baseline="0" noProof="0">
                    <a:ln>
                      <a:noFill/>
                    </a:ln>
                    <a:solidFill>
                      <a:srgbClr val="000000"/>
                    </a:solidFill>
                    <a:effectLst/>
                    <a:uLnTx/>
                    <a:uFillTx/>
                    <a:latin typeface="+mn-ea"/>
                    <a:ea typeface="+mn-ea"/>
                  </a:endParaRPr>
                </a:p>
              </p:txBody>
            </p:sp>
          </p:grpSp>
        </p:grpSp>
      </p:grpSp>
      <p:sp>
        <p:nvSpPr>
          <p:cNvPr id="21" name="Text Box 37"/>
          <p:cNvSpPr txBox="1">
            <a:spLocks noChangeArrowheads="1"/>
          </p:cNvSpPr>
          <p:nvPr/>
        </p:nvSpPr>
        <p:spPr bwMode="auto">
          <a:xfrm>
            <a:off x="488211" y="3967288"/>
            <a:ext cx="29571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画图框、标题栏</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pic>
        <p:nvPicPr>
          <p:cNvPr id="22" name="Picture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8606" y="1628800"/>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8606" y="1628800"/>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4" name="Group 41"/>
          <p:cNvGrpSpPr/>
          <p:nvPr/>
        </p:nvGrpSpPr>
        <p:grpSpPr bwMode="auto">
          <a:xfrm>
            <a:off x="8591594" y="5000650"/>
            <a:ext cx="1323975" cy="747713"/>
            <a:chOff x="3661" y="3240"/>
            <a:chExt cx="834" cy="471"/>
          </a:xfrm>
        </p:grpSpPr>
        <p:sp>
          <p:nvSpPr>
            <p:cNvPr id="25" name="Line 43"/>
            <p:cNvSpPr>
              <a:spLocks noChangeShapeType="1"/>
            </p:cNvSpPr>
            <p:nvPr/>
          </p:nvSpPr>
          <p:spPr bwMode="auto">
            <a:xfrm>
              <a:off x="4113" y="3437"/>
              <a:ext cx="374" cy="274"/>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26" name="Text Box 42"/>
            <p:cNvSpPr txBox="1">
              <a:spLocks noChangeArrowheads="1"/>
            </p:cNvSpPr>
            <p:nvPr/>
          </p:nvSpPr>
          <p:spPr bwMode="auto">
            <a:xfrm>
              <a:off x="3661" y="3240"/>
              <a:ext cx="83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b="1">
                  <a:solidFill>
                    <a:srgbClr val="CC0000"/>
                  </a:solidFill>
                  <a:latin typeface="+mn-ea"/>
                  <a:ea typeface="+mn-ea"/>
                </a:rPr>
                <a:t>标题栏</a:t>
              </a:r>
              <a:endParaRPr kumimoji="1" lang="zh-CN" altLang="en-US" sz="1800" b="1">
                <a:solidFill>
                  <a:srgbClr val="CC0000"/>
                </a:solidFill>
                <a:latin typeface="+mn-ea"/>
                <a:ea typeface="+mn-ea"/>
              </a:endParaRPr>
            </a:p>
          </p:txBody>
        </p:sp>
      </p:grpSp>
      <p:grpSp>
        <p:nvGrpSpPr>
          <p:cNvPr id="27" name="Group 38"/>
          <p:cNvGrpSpPr/>
          <p:nvPr/>
        </p:nvGrpSpPr>
        <p:grpSpPr bwMode="auto">
          <a:xfrm>
            <a:off x="6553244" y="1736750"/>
            <a:ext cx="1370012" cy="460375"/>
            <a:chOff x="1633" y="2743"/>
            <a:chExt cx="863" cy="290"/>
          </a:xfrm>
        </p:grpSpPr>
        <p:sp>
          <p:nvSpPr>
            <p:cNvPr id="28" name="Text Box 39"/>
            <p:cNvSpPr txBox="1">
              <a:spLocks noChangeArrowheads="1"/>
            </p:cNvSpPr>
            <p:nvPr/>
          </p:nvSpPr>
          <p:spPr bwMode="auto">
            <a:xfrm>
              <a:off x="1633" y="2802"/>
              <a:ext cx="7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b="1">
                  <a:solidFill>
                    <a:srgbClr val="CC0000"/>
                  </a:solidFill>
                  <a:latin typeface="+mn-ea"/>
                  <a:ea typeface="+mn-ea"/>
                </a:rPr>
                <a:t>图框线</a:t>
              </a:r>
              <a:endParaRPr kumimoji="1" lang="zh-CN" altLang="en-US" sz="1800" b="1">
                <a:solidFill>
                  <a:srgbClr val="CC0000"/>
                </a:solidFill>
                <a:latin typeface="+mn-ea"/>
                <a:ea typeface="+mn-ea"/>
              </a:endParaRPr>
            </a:p>
          </p:txBody>
        </p:sp>
        <p:sp>
          <p:nvSpPr>
            <p:cNvPr id="29" name="Line 40"/>
            <p:cNvSpPr>
              <a:spLocks noChangeShapeType="1"/>
            </p:cNvSpPr>
            <p:nvPr/>
          </p:nvSpPr>
          <p:spPr bwMode="auto">
            <a:xfrm flipV="1">
              <a:off x="2149" y="2743"/>
              <a:ext cx="347" cy="164"/>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grpSp>
      <p:sp>
        <p:nvSpPr>
          <p:cNvPr id="30" name="Text Box 217"/>
          <p:cNvSpPr txBox="1">
            <a:spLocks noChangeArrowheads="1"/>
          </p:cNvSpPr>
          <p:nvPr/>
        </p:nvSpPr>
        <p:spPr bwMode="auto">
          <a:xfrm>
            <a:off x="371136" y="1211927"/>
            <a:ext cx="37625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latin typeface="微软雅黑" panose="020B0503020204020204" pitchFamily="34" charset="-122"/>
                <a:ea typeface="微软雅黑" panose="020B0503020204020204" pitchFamily="34" charset="-122"/>
              </a:rPr>
              <a:t>确定图幅、绘图比例</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7888" y="1412776"/>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888" y="1412776"/>
            <a:ext cx="6299200" cy="445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25"/>
          <p:cNvSpPr txBox="1">
            <a:spLocks noChangeArrowheads="1"/>
          </p:cNvSpPr>
          <p:nvPr/>
        </p:nvSpPr>
        <p:spPr bwMode="auto">
          <a:xfrm>
            <a:off x="343577" y="1988840"/>
            <a:ext cx="44541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fontAlgn="base">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画各视图的基准线、中心线、轴线，确定视图位置。</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nvGrpSpPr>
          <p:cNvPr id="6" name="Group 26"/>
          <p:cNvGrpSpPr/>
          <p:nvPr/>
        </p:nvGrpSpPr>
        <p:grpSpPr bwMode="auto">
          <a:xfrm>
            <a:off x="5538738" y="3476526"/>
            <a:ext cx="1616075" cy="995363"/>
            <a:chOff x="1322" y="2236"/>
            <a:chExt cx="986" cy="627"/>
          </a:xfrm>
        </p:grpSpPr>
        <p:sp>
          <p:nvSpPr>
            <p:cNvPr id="7" name="Line 27"/>
            <p:cNvSpPr>
              <a:spLocks noChangeShapeType="1"/>
            </p:cNvSpPr>
            <p:nvPr/>
          </p:nvSpPr>
          <p:spPr bwMode="auto">
            <a:xfrm flipH="1" flipV="1">
              <a:off x="2052" y="2428"/>
              <a:ext cx="190" cy="435"/>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8" name="Text Box 28"/>
            <p:cNvSpPr txBox="1">
              <a:spLocks noChangeArrowheads="1"/>
            </p:cNvSpPr>
            <p:nvPr/>
          </p:nvSpPr>
          <p:spPr bwMode="auto">
            <a:xfrm>
              <a:off x="1322" y="2236"/>
              <a:ext cx="98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CC0000"/>
                  </a:solidFill>
                  <a:latin typeface="+mn-ea"/>
                  <a:ea typeface="+mn-ea"/>
                </a:rPr>
                <a:t>高度方向基准</a:t>
              </a:r>
              <a:endParaRPr kumimoji="1" lang="zh-CN" altLang="en-US" sz="1800">
                <a:solidFill>
                  <a:srgbClr val="CC0000"/>
                </a:solidFill>
                <a:latin typeface="+mn-ea"/>
                <a:ea typeface="+mn-ea"/>
              </a:endParaRPr>
            </a:p>
          </p:txBody>
        </p:sp>
      </p:grpSp>
      <p:grpSp>
        <p:nvGrpSpPr>
          <p:cNvPr id="9" name="Group 29"/>
          <p:cNvGrpSpPr/>
          <p:nvPr/>
        </p:nvGrpSpPr>
        <p:grpSpPr bwMode="auto">
          <a:xfrm>
            <a:off x="7286575" y="2825651"/>
            <a:ext cx="2079624" cy="615950"/>
            <a:chOff x="3246" y="1714"/>
            <a:chExt cx="1310" cy="388"/>
          </a:xfrm>
        </p:grpSpPr>
        <p:sp>
          <p:nvSpPr>
            <p:cNvPr id="10" name="Text Box 30"/>
            <p:cNvSpPr txBox="1">
              <a:spLocks noChangeArrowheads="1"/>
            </p:cNvSpPr>
            <p:nvPr/>
          </p:nvSpPr>
          <p:spPr bwMode="auto">
            <a:xfrm>
              <a:off x="3561" y="1714"/>
              <a:ext cx="9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CC0000"/>
                  </a:solidFill>
                  <a:latin typeface="+mn-ea"/>
                  <a:ea typeface="+mn-ea"/>
                </a:rPr>
                <a:t>长度方向基准</a:t>
              </a:r>
              <a:endParaRPr kumimoji="1" lang="zh-CN" altLang="en-US" sz="1800">
                <a:solidFill>
                  <a:srgbClr val="CC0000"/>
                </a:solidFill>
                <a:latin typeface="+mn-ea"/>
                <a:ea typeface="+mn-ea"/>
              </a:endParaRPr>
            </a:p>
          </p:txBody>
        </p:sp>
        <p:sp>
          <p:nvSpPr>
            <p:cNvPr id="11" name="Line 31"/>
            <p:cNvSpPr>
              <a:spLocks noChangeShapeType="1"/>
            </p:cNvSpPr>
            <p:nvPr/>
          </p:nvSpPr>
          <p:spPr bwMode="auto">
            <a:xfrm flipH="1">
              <a:off x="3246" y="1910"/>
              <a:ext cx="338" cy="192"/>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grpSp>
      <p:grpSp>
        <p:nvGrpSpPr>
          <p:cNvPr id="12" name="Group 32"/>
          <p:cNvGrpSpPr/>
          <p:nvPr/>
        </p:nvGrpSpPr>
        <p:grpSpPr bwMode="auto">
          <a:xfrm>
            <a:off x="5440313" y="4481414"/>
            <a:ext cx="1606550" cy="495300"/>
            <a:chOff x="1330" y="3304"/>
            <a:chExt cx="995" cy="312"/>
          </a:xfrm>
        </p:grpSpPr>
        <p:sp>
          <p:nvSpPr>
            <p:cNvPr id="13" name="Text Box 33"/>
            <p:cNvSpPr txBox="1">
              <a:spLocks noChangeArrowheads="1"/>
            </p:cNvSpPr>
            <p:nvPr/>
          </p:nvSpPr>
          <p:spPr bwMode="auto">
            <a:xfrm>
              <a:off x="1330" y="3304"/>
              <a:ext cx="98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CC0000"/>
                  </a:solidFill>
                  <a:latin typeface="+mn-ea"/>
                  <a:ea typeface="+mn-ea"/>
                </a:rPr>
                <a:t>宽度方向基准</a:t>
              </a:r>
              <a:endParaRPr kumimoji="1" lang="zh-CN" altLang="en-US" sz="1800">
                <a:solidFill>
                  <a:srgbClr val="CC0000"/>
                </a:solidFill>
                <a:latin typeface="+mn-ea"/>
                <a:ea typeface="+mn-ea"/>
              </a:endParaRPr>
            </a:p>
          </p:txBody>
        </p:sp>
        <p:sp>
          <p:nvSpPr>
            <p:cNvPr id="14" name="Line 34"/>
            <p:cNvSpPr>
              <a:spLocks noChangeShapeType="1"/>
            </p:cNvSpPr>
            <p:nvPr/>
          </p:nvSpPr>
          <p:spPr bwMode="auto">
            <a:xfrm flipH="1" flipV="1">
              <a:off x="1939" y="3517"/>
              <a:ext cx="386" cy="99"/>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grpSp>
      <p:grpSp>
        <p:nvGrpSpPr>
          <p:cNvPr id="15" name="Group 35"/>
          <p:cNvGrpSpPr/>
          <p:nvPr/>
        </p:nvGrpSpPr>
        <p:grpSpPr bwMode="auto">
          <a:xfrm>
            <a:off x="7688213" y="1652489"/>
            <a:ext cx="2952750" cy="768350"/>
            <a:chOff x="3381" y="983"/>
            <a:chExt cx="1860" cy="484"/>
          </a:xfrm>
        </p:grpSpPr>
        <p:sp>
          <p:nvSpPr>
            <p:cNvPr id="17" name="Text Box 36"/>
            <p:cNvSpPr txBox="1">
              <a:spLocks noChangeArrowheads="1"/>
            </p:cNvSpPr>
            <p:nvPr/>
          </p:nvSpPr>
          <p:spPr bwMode="auto">
            <a:xfrm>
              <a:off x="3381" y="983"/>
              <a:ext cx="18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CC0000"/>
                  </a:solidFill>
                  <a:latin typeface="+mn-ea"/>
                  <a:ea typeface="+mn-ea"/>
                </a:rPr>
                <a:t>轴承孔中心线、轴线</a:t>
              </a:r>
              <a:endParaRPr kumimoji="1" lang="zh-CN" altLang="en-US" sz="1800">
                <a:solidFill>
                  <a:srgbClr val="CC0000"/>
                </a:solidFill>
                <a:latin typeface="+mn-ea"/>
                <a:ea typeface="+mn-ea"/>
              </a:endParaRPr>
            </a:p>
          </p:txBody>
        </p:sp>
        <p:sp>
          <p:nvSpPr>
            <p:cNvPr id="18" name="Line 37"/>
            <p:cNvSpPr>
              <a:spLocks noChangeShapeType="1"/>
            </p:cNvSpPr>
            <p:nvPr/>
          </p:nvSpPr>
          <p:spPr bwMode="auto">
            <a:xfrm flipH="1">
              <a:off x="3381" y="1188"/>
              <a:ext cx="220" cy="279"/>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19" name="Line 38"/>
            <p:cNvSpPr>
              <a:spLocks noChangeShapeType="1"/>
            </p:cNvSpPr>
            <p:nvPr/>
          </p:nvSpPr>
          <p:spPr bwMode="auto">
            <a:xfrm>
              <a:off x="4626" y="1198"/>
              <a:ext cx="135" cy="269"/>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grpSp>
      <p:grpSp>
        <p:nvGrpSpPr>
          <p:cNvPr id="20" name="Group 39"/>
          <p:cNvGrpSpPr/>
          <p:nvPr/>
        </p:nvGrpSpPr>
        <p:grpSpPr bwMode="auto">
          <a:xfrm>
            <a:off x="7359601" y="4294089"/>
            <a:ext cx="2647950" cy="1020762"/>
            <a:chOff x="3171" y="2565"/>
            <a:chExt cx="1668" cy="643"/>
          </a:xfrm>
        </p:grpSpPr>
        <p:sp>
          <p:nvSpPr>
            <p:cNvPr id="21" name="Text Box 40"/>
            <p:cNvSpPr txBox="1">
              <a:spLocks noChangeArrowheads="1"/>
            </p:cNvSpPr>
            <p:nvPr/>
          </p:nvSpPr>
          <p:spPr bwMode="auto">
            <a:xfrm>
              <a:off x="3171" y="2727"/>
              <a:ext cx="16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CC0000"/>
                  </a:solidFill>
                  <a:latin typeface="+mn-ea"/>
                  <a:ea typeface="+mn-ea"/>
                </a:rPr>
                <a:t>底板孔中心线、轴线</a:t>
              </a:r>
              <a:endParaRPr kumimoji="1" lang="zh-CN" altLang="en-US" sz="1800">
                <a:solidFill>
                  <a:srgbClr val="CC0000"/>
                </a:solidFill>
                <a:latin typeface="+mn-ea"/>
                <a:ea typeface="+mn-ea"/>
              </a:endParaRPr>
            </a:p>
          </p:txBody>
        </p:sp>
        <p:sp>
          <p:nvSpPr>
            <p:cNvPr id="22" name="Line 41"/>
            <p:cNvSpPr>
              <a:spLocks noChangeShapeType="1"/>
            </p:cNvSpPr>
            <p:nvPr/>
          </p:nvSpPr>
          <p:spPr bwMode="auto">
            <a:xfrm flipH="1">
              <a:off x="3724" y="2934"/>
              <a:ext cx="224" cy="274"/>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23" name="Line 42"/>
            <p:cNvSpPr>
              <a:spLocks noChangeShapeType="1"/>
            </p:cNvSpPr>
            <p:nvPr/>
          </p:nvSpPr>
          <p:spPr bwMode="auto">
            <a:xfrm flipH="1" flipV="1">
              <a:off x="3670" y="2565"/>
              <a:ext cx="572" cy="178"/>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grpSp>
      <p:sp>
        <p:nvSpPr>
          <p:cNvPr id="24" name="矩形 23"/>
          <p:cNvSpPr>
            <a:spLocks noChangeArrowheads="1"/>
          </p:cNvSpPr>
          <p:nvPr/>
        </p:nvSpPr>
        <p:spPr bwMode="auto">
          <a:xfrm>
            <a:off x="302400" y="3117629"/>
            <a:ext cx="42814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fontAlgn="base">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注意图面布置要匀称，并应留出标注尺寸的空间。</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25" name="Text Box 217"/>
          <p:cNvSpPr txBox="1">
            <a:spLocks noChangeArrowheads="1"/>
          </p:cNvSpPr>
          <p:nvPr/>
        </p:nvSpPr>
        <p:spPr bwMode="auto">
          <a:xfrm>
            <a:off x="371136" y="1211927"/>
            <a:ext cx="19672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latin typeface="微软雅黑" panose="020B0503020204020204" pitchFamily="34" charset="-122"/>
                <a:ea typeface="微软雅黑" panose="020B0503020204020204" pitchFamily="34" charset="-122"/>
              </a:rPr>
              <a:t>布置视图</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7888" y="1412776"/>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888" y="1412776"/>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9"/>
          <p:cNvSpPr>
            <a:spLocks noChangeArrowheads="1"/>
          </p:cNvSpPr>
          <p:nvPr/>
        </p:nvSpPr>
        <p:spPr bwMode="auto">
          <a:xfrm>
            <a:off x="696011" y="1895277"/>
            <a:ext cx="3671797" cy="833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fontAlgn="base">
              <a:spcBef>
                <a:spcPct val="0"/>
              </a:spcBef>
              <a:spcAft>
                <a:spcPct val="0"/>
              </a:spcAft>
              <a:buFont typeface="Wingdings" panose="05000000000000000000" pitchFamily="2" charset="2"/>
              <a:buChar char="ü"/>
            </a:pPr>
            <a:r>
              <a:rPr kumimoji="1" lang="zh-CN" altLang="en-US" sz="2400" dirty="0">
                <a:solidFill>
                  <a:srgbClr val="080808"/>
                </a:solidFill>
                <a:latin typeface="微软雅黑" panose="020B0503020204020204" pitchFamily="34" charset="-122"/>
                <a:ea typeface="微软雅黑" panose="020B0503020204020204" pitchFamily="34" charset="-122"/>
              </a:rPr>
              <a:t>从主视图开始画各视图的主要轮廓线。</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sp>
        <p:nvSpPr>
          <p:cNvPr id="6" name="Rectangle 9"/>
          <p:cNvSpPr>
            <a:spLocks noChangeArrowheads="1"/>
          </p:cNvSpPr>
          <p:nvPr/>
        </p:nvSpPr>
        <p:spPr bwMode="auto">
          <a:xfrm>
            <a:off x="695400" y="3012411"/>
            <a:ext cx="3671797" cy="833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fontAlgn="base">
              <a:spcBef>
                <a:spcPct val="0"/>
              </a:spcBef>
              <a:spcAft>
                <a:spcPct val="0"/>
              </a:spcAft>
              <a:buFont typeface="Wingdings" panose="05000000000000000000" pitchFamily="2" charset="2"/>
              <a:buChar char="ü"/>
            </a:pPr>
            <a:r>
              <a:rPr kumimoji="1" lang="zh-CN" altLang="en-US" sz="2400" dirty="0">
                <a:solidFill>
                  <a:srgbClr val="080808"/>
                </a:solidFill>
                <a:latin typeface="微软雅黑" panose="020B0503020204020204" pitchFamily="34" charset="-122"/>
                <a:ea typeface="微软雅黑" panose="020B0503020204020204" pitchFamily="34" charset="-122"/>
              </a:rPr>
              <a:t>注意各视图之间的投影对应关系。</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sp>
        <p:nvSpPr>
          <p:cNvPr id="7" name="Text Box 217"/>
          <p:cNvSpPr txBox="1">
            <a:spLocks noChangeArrowheads="1"/>
          </p:cNvSpPr>
          <p:nvPr/>
        </p:nvSpPr>
        <p:spPr bwMode="auto">
          <a:xfrm>
            <a:off x="371136" y="1211927"/>
            <a:ext cx="37625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latin typeface="微软雅黑" panose="020B0503020204020204" pitchFamily="34" charset="-122"/>
                <a:ea typeface="微软雅黑" panose="020B0503020204020204" pitchFamily="34" charset="-122"/>
              </a:rPr>
              <a:t>画各视图主要轮廓线</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Rectangle 13"/>
          <p:cNvSpPr>
            <a:spLocks noChangeArrowheads="1"/>
          </p:cNvSpPr>
          <p:nvPr/>
        </p:nvSpPr>
        <p:spPr bwMode="auto">
          <a:xfrm>
            <a:off x="371136" y="1988840"/>
            <a:ext cx="4162899"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fontAlgn="base">
              <a:spcBef>
                <a:spcPct val="0"/>
              </a:spcBef>
              <a:spcAft>
                <a:spcPct val="0"/>
              </a:spcAft>
              <a:buFont typeface="Wingdings" panose="05000000000000000000" pitchFamily="2" charset="2"/>
              <a:buChar char="ü"/>
            </a:pPr>
            <a:r>
              <a:rPr kumimoji="1" lang="zh-CN" altLang="en-US" sz="2400" dirty="0">
                <a:solidFill>
                  <a:srgbClr val="080808"/>
                </a:solidFill>
                <a:latin typeface="微软雅黑" panose="020B0503020204020204" pitchFamily="34" charset="-122"/>
                <a:ea typeface="微软雅黑" panose="020B0503020204020204" pitchFamily="34" charset="-122"/>
              </a:rPr>
              <a:t>补充其他剖视图、向视图等，并画出螺纹孔、销孔、倒角、圆角、槽等。</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pic>
        <p:nvPicPr>
          <p:cNvPr id="4"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7888" y="1412776"/>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217"/>
          <p:cNvSpPr txBox="1">
            <a:spLocks noChangeArrowheads="1"/>
          </p:cNvSpPr>
          <p:nvPr/>
        </p:nvSpPr>
        <p:spPr bwMode="auto">
          <a:xfrm>
            <a:off x="371136" y="1211927"/>
            <a:ext cx="30444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latin typeface="微软雅黑" panose="020B0503020204020204" pitchFamily="34" charset="-122"/>
                <a:ea typeface="微软雅黑" panose="020B0503020204020204" pitchFamily="34" charset="-122"/>
              </a:rPr>
              <a:t>画各视图的细节</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Text Box 8"/>
          <p:cNvSpPr txBox="1">
            <a:spLocks noChangeArrowheads="1"/>
          </p:cNvSpPr>
          <p:nvPr/>
        </p:nvSpPr>
        <p:spPr bwMode="auto">
          <a:xfrm>
            <a:off x="767409" y="1916832"/>
            <a:ext cx="3672408" cy="242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ts val="60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检查、描深、画剖面线</a:t>
            </a:r>
            <a:endParaRPr kumimoji="1" lang="zh-CN" altLang="en-US" sz="2400" dirty="0">
              <a:solidFill>
                <a:srgbClr val="000000"/>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标注尺寸及技术要求</a:t>
            </a:r>
            <a:endParaRPr kumimoji="1" lang="en-US" altLang="zh-CN" sz="2400" dirty="0">
              <a:solidFill>
                <a:srgbClr val="000000"/>
              </a:solidFill>
              <a:latin typeface="微软雅黑" panose="020B0503020204020204" pitchFamily="34" charset="-122"/>
              <a:ea typeface="微软雅黑" panose="020B0503020204020204" pitchFamily="34" charset="-122"/>
            </a:endParaRPr>
          </a:p>
          <a:p>
            <a:pPr marL="0" indent="0" fontAlgn="base">
              <a:lnSpc>
                <a:spcPct val="120000"/>
              </a:lnSpc>
              <a:spcBef>
                <a:spcPct val="0"/>
              </a:spcBef>
              <a:spcAft>
                <a:spcPts val="600"/>
              </a:spcAft>
              <a:buNone/>
            </a:pPr>
            <a:r>
              <a:rPr kumimoji="1" lang="en-US" altLang="zh-CN" sz="2400" dirty="0">
                <a:solidFill>
                  <a:srgbClr val="000000"/>
                </a:solidFill>
                <a:latin typeface="微软雅黑" panose="020B0503020204020204" pitchFamily="34" charset="-122"/>
                <a:ea typeface="微软雅黑" panose="020B0503020204020204" pitchFamily="34" charset="-122"/>
              </a:rPr>
              <a:t> </a:t>
            </a:r>
            <a:r>
              <a:rPr kumimoji="1" lang="zh-CN" altLang="en-US" sz="2400" dirty="0">
                <a:solidFill>
                  <a:srgbClr val="000000"/>
                </a:solidFill>
                <a:latin typeface="微软雅黑" panose="020B0503020204020204" pitchFamily="34" charset="-122"/>
                <a:ea typeface="微软雅黑" panose="020B0503020204020204" pitchFamily="34" charset="-122"/>
              </a:rPr>
              <a:t>（尺寸公差、表面粗糙度及形位公差等</a:t>
            </a:r>
            <a:r>
              <a:rPr kumimoji="1" lang="en-US" altLang="zh-CN" sz="2400" dirty="0">
                <a:solidFill>
                  <a:srgbClr val="000000"/>
                </a:solidFill>
                <a:latin typeface="微软雅黑" panose="020B0503020204020204" pitchFamily="34" charset="-122"/>
                <a:ea typeface="微软雅黑" panose="020B0503020204020204" pitchFamily="34" charset="-122"/>
              </a:rPr>
              <a:t>)</a:t>
            </a:r>
            <a:endParaRPr kumimoji="1" lang="en-US" altLang="zh-CN" sz="2400" dirty="0">
              <a:solidFill>
                <a:srgbClr val="000000"/>
              </a:solidFill>
              <a:latin typeface="微软雅黑" panose="020B0503020204020204" pitchFamily="34" charset="-122"/>
              <a:ea typeface="微软雅黑" panose="020B0503020204020204" pitchFamily="34" charset="-122"/>
            </a:endParaRPr>
          </a:p>
          <a:p>
            <a:pPr fontAlgn="base">
              <a:lnSpc>
                <a:spcPct val="120000"/>
              </a:lnSpc>
              <a:spcBef>
                <a:spcPct val="0"/>
              </a:spcBef>
              <a:spcAft>
                <a:spcPct val="0"/>
              </a:spcAft>
              <a:buFont typeface="Wingdings" panose="05000000000000000000" pitchFamily="2" charset="2"/>
              <a:buChar char="ü"/>
            </a:pPr>
            <a:r>
              <a:rPr kumimoji="1" lang="zh-CN" altLang="en-US" sz="2400" dirty="0">
                <a:solidFill>
                  <a:srgbClr val="000000"/>
                </a:solidFill>
                <a:latin typeface="微软雅黑" panose="020B0503020204020204" pitchFamily="34" charset="-122"/>
                <a:ea typeface="微软雅黑" panose="020B0503020204020204" pitchFamily="34" charset="-122"/>
              </a:rPr>
              <a:t>填写标题栏</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pic>
        <p:nvPicPr>
          <p:cNvPr id="4"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15880" y="1484784"/>
            <a:ext cx="6299200" cy="445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880" y="1484784"/>
            <a:ext cx="6299200" cy="446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217"/>
          <p:cNvSpPr txBox="1">
            <a:spLocks noChangeArrowheads="1"/>
          </p:cNvSpPr>
          <p:nvPr/>
        </p:nvSpPr>
        <p:spPr bwMode="auto">
          <a:xfrm>
            <a:off x="371136" y="1211927"/>
            <a:ext cx="23262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latin typeface="微软雅黑" panose="020B0503020204020204" pitchFamily="34" charset="-122"/>
                <a:ea typeface="微软雅黑" panose="020B0503020204020204" pitchFamily="34" charset="-122"/>
              </a:rPr>
              <a:t>完成零件图</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32"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ircle(out)">
                                      <p:cBhvr>
                                        <p:cTn id="2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Text Box 3"/>
          <p:cNvSpPr txBox="1">
            <a:spLocks noChangeArrowheads="1"/>
          </p:cNvSpPr>
          <p:nvPr/>
        </p:nvSpPr>
        <p:spPr bwMode="auto">
          <a:xfrm>
            <a:off x="479376" y="2650915"/>
            <a:ext cx="4398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0" fontAlgn="base" hangingPunct="0">
              <a:spcBef>
                <a:spcPts val="600"/>
              </a:spcBef>
              <a:spcAft>
                <a:spcPct val="0"/>
              </a:spcAft>
              <a:buNone/>
            </a:pPr>
            <a:r>
              <a:rPr lang="en-US" altLang="zh-CN" sz="2400" b="1" dirty="0">
                <a:latin typeface="微软雅黑" panose="020B0503020204020204" pitchFamily="34" charset="-122"/>
                <a:ea typeface="微软雅黑" panose="020B0503020204020204" pitchFamily="34" charset="-122"/>
              </a:rPr>
              <a:t>(1) </a:t>
            </a:r>
            <a:r>
              <a:rPr lang="zh-CN" altLang="en-US" sz="2400" b="1" dirty="0">
                <a:latin typeface="微软雅黑" panose="020B0503020204020204" pitchFamily="34" charset="-122"/>
                <a:ea typeface="微软雅黑" panose="020B0503020204020204" pitchFamily="34" charset="-122"/>
              </a:rPr>
              <a:t>铸造工艺对零件结构的要求</a:t>
            </a:r>
            <a:endParaRPr lang="zh-CN" altLang="en-US" sz="2400" b="1" dirty="0">
              <a:latin typeface="微软雅黑" panose="020B0503020204020204" pitchFamily="34" charset="-122"/>
              <a:ea typeface="微软雅黑" panose="020B0503020204020204" pitchFamily="34" charset="-122"/>
            </a:endParaRPr>
          </a:p>
        </p:txBody>
      </p:sp>
      <p:sp>
        <p:nvSpPr>
          <p:cNvPr id="4" name="Text Box 4"/>
          <p:cNvSpPr txBox="1">
            <a:spLocks noChangeArrowheads="1"/>
          </p:cNvSpPr>
          <p:nvPr/>
        </p:nvSpPr>
        <p:spPr bwMode="auto">
          <a:xfrm>
            <a:off x="551384" y="3179724"/>
            <a:ext cx="1762021" cy="461665"/>
          </a:xfrm>
          <a:prstGeom prst="rect">
            <a:avLst/>
          </a:prstGeom>
          <a:noFill/>
          <a:ln w="38100" algn="ctr">
            <a:solidFill>
              <a:srgbClr val="FFFF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defTabSz="914400" eaLnBrk="0" fontAlgn="base" latinLnBrk="0" hangingPunct="0">
              <a:lnSpc>
                <a:spcPct val="100000"/>
              </a:lnSpc>
              <a:spcBef>
                <a:spcPct val="0"/>
              </a:spcBef>
              <a:spcAft>
                <a:spcPct val="0"/>
              </a:spcAft>
              <a:buClrTx/>
              <a:buSzTx/>
              <a:buFont typeface="Wingdings" panose="05000000000000000000" pitchFamily="2" charset="2"/>
              <a:buChar char="l"/>
              <a:defRPr/>
            </a:pPr>
            <a:r>
              <a:rPr kumimoji="1" lang="zh-CN" altLang="en-US"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铸造圆角</a:t>
            </a:r>
            <a:endParaRPr kumimoji="1" lang="zh-CN" altLang="en-US"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 name="Text Box 5"/>
          <p:cNvSpPr txBox="1">
            <a:spLocks noChangeArrowheads="1"/>
          </p:cNvSpPr>
          <p:nvPr/>
        </p:nvSpPr>
        <p:spPr bwMode="auto">
          <a:xfrm>
            <a:off x="577293" y="3740664"/>
            <a:ext cx="4466940" cy="1865126"/>
          </a:xfrm>
          <a:prstGeom prst="rect">
            <a:avLst/>
          </a:prstGeom>
          <a:noFill/>
          <a:ln w="38100" algn="ctr">
            <a:solidFill>
              <a:srgbClr val="FFFF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eaLnBrk="0" fontAlgn="base" latinLnBrk="0" hangingPunct="0">
              <a:lnSpc>
                <a:spcPct val="120000"/>
              </a:lnSpc>
              <a:spcBef>
                <a:spcPct val="0"/>
              </a:spcBef>
              <a:spcAft>
                <a:spcPct val="0"/>
              </a:spcAft>
              <a:buClrTx/>
              <a:buSzTx/>
              <a:buFontTx/>
              <a:buNone/>
              <a:defRPr/>
            </a:pPr>
            <a:r>
              <a:rPr kumimoji="1" lang="en-US" altLang="zh-CN"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zh-CN" altLang="en-US"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为避免铸件冷却时产生</a:t>
            </a:r>
            <a:r>
              <a:rPr kumimoji="1" lang="zh-CN" altLang="en-US" sz="240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rPr>
              <a:t>缩孔</a:t>
            </a:r>
            <a:r>
              <a:rPr kumimoji="1" lang="zh-CN" altLang="en-US"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或</a:t>
            </a:r>
            <a:r>
              <a:rPr kumimoji="1" lang="zh-CN" altLang="en-US" sz="240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rPr>
              <a:t>裂纹</a:t>
            </a:r>
            <a:r>
              <a:rPr kumimoji="1" lang="zh-CN" altLang="en-US"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，同时防止脱模时砂型落砂，相邻表面之间须用小圆弧面光滑过渡，称为铸造圆角。</a:t>
            </a:r>
            <a:endParaRPr kumimoji="1" lang="zh-CN" altLang="en-US" sz="24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Text Box 6"/>
          <p:cNvSpPr txBox="1">
            <a:spLocks noChangeArrowheads="1"/>
          </p:cNvSpPr>
          <p:nvPr/>
        </p:nvSpPr>
        <p:spPr bwMode="auto">
          <a:xfrm>
            <a:off x="757071" y="1857505"/>
            <a:ext cx="6955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零件图上应反映加工工艺对零件结构的各种要求。</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nvGrpSpPr>
          <p:cNvPr id="7" name="Group 7"/>
          <p:cNvGrpSpPr/>
          <p:nvPr/>
        </p:nvGrpSpPr>
        <p:grpSpPr bwMode="auto">
          <a:xfrm>
            <a:off x="8508157" y="1098790"/>
            <a:ext cx="2881313" cy="2266950"/>
            <a:chOff x="1239" y="2521"/>
            <a:chExt cx="1815" cy="1428"/>
          </a:xfrm>
        </p:grpSpPr>
        <p:sp>
          <p:nvSpPr>
            <p:cNvPr id="8" name="Line 8"/>
            <p:cNvSpPr>
              <a:spLocks noChangeShapeType="1"/>
            </p:cNvSpPr>
            <p:nvPr/>
          </p:nvSpPr>
          <p:spPr bwMode="auto">
            <a:xfrm>
              <a:off x="2147" y="2521"/>
              <a:ext cx="0" cy="1428"/>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 name="Freeform 9"/>
            <p:cNvSpPr/>
            <p:nvPr/>
          </p:nvSpPr>
          <p:spPr bwMode="auto">
            <a:xfrm flipV="1">
              <a:off x="1239" y="3824"/>
              <a:ext cx="1809" cy="4"/>
            </a:xfrm>
            <a:custGeom>
              <a:avLst/>
              <a:gdLst>
                <a:gd name="T0" fmla="*/ 0 w 10027"/>
                <a:gd name="T1" fmla="*/ 0 h 10003"/>
                <a:gd name="T2" fmla="*/ 0 w 10027"/>
                <a:gd name="T3" fmla="*/ 0 h 10003"/>
                <a:gd name="T4" fmla="*/ 0 60000 65536"/>
                <a:gd name="T5" fmla="*/ 0 60000 65536"/>
              </a:gdLst>
              <a:ahLst/>
              <a:cxnLst>
                <a:cxn ang="T4">
                  <a:pos x="T0" y="T1"/>
                </a:cxn>
                <a:cxn ang="T5">
                  <a:pos x="T2" y="T3"/>
                </a:cxn>
              </a:cxnLst>
              <a:rect l="0" t="0" r="r" b="b"/>
              <a:pathLst>
                <a:path w="10027" h="10003">
                  <a:moveTo>
                    <a:pt x="0" y="2091"/>
                  </a:moveTo>
                  <a:cubicBezTo>
                    <a:pt x="3304" y="26924"/>
                    <a:pt x="6723" y="-16920"/>
                    <a:pt x="10027" y="7912"/>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0" name="Line 10"/>
            <p:cNvSpPr>
              <a:spLocks noChangeShapeType="1"/>
            </p:cNvSpPr>
            <p:nvPr/>
          </p:nvSpPr>
          <p:spPr bwMode="auto">
            <a:xfrm flipV="1">
              <a:off x="2475" y="2944"/>
              <a:ext cx="0" cy="87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1" name="Line 11"/>
            <p:cNvSpPr>
              <a:spLocks noChangeShapeType="1"/>
            </p:cNvSpPr>
            <p:nvPr/>
          </p:nvSpPr>
          <p:spPr bwMode="auto">
            <a:xfrm flipV="1">
              <a:off x="1801" y="2936"/>
              <a:ext cx="0" cy="88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2" name="Line 12"/>
            <p:cNvSpPr>
              <a:spLocks noChangeShapeType="1"/>
            </p:cNvSpPr>
            <p:nvPr/>
          </p:nvSpPr>
          <p:spPr bwMode="auto">
            <a:xfrm>
              <a:off x="1927" y="2819"/>
              <a:ext cx="40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3" name="Arc 13"/>
            <p:cNvSpPr/>
            <p:nvPr/>
          </p:nvSpPr>
          <p:spPr bwMode="auto">
            <a:xfrm>
              <a:off x="2334" y="2820"/>
              <a:ext cx="139" cy="1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4" name="Arc 14"/>
            <p:cNvSpPr/>
            <p:nvPr/>
          </p:nvSpPr>
          <p:spPr bwMode="auto">
            <a:xfrm flipH="1">
              <a:off x="1803" y="2819"/>
              <a:ext cx="139" cy="1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5" name="Line 15"/>
            <p:cNvSpPr>
              <a:spLocks noChangeShapeType="1"/>
            </p:cNvSpPr>
            <p:nvPr/>
          </p:nvSpPr>
          <p:spPr bwMode="auto">
            <a:xfrm>
              <a:off x="1831" y="2624"/>
              <a:ext cx="61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7" name="Line 16"/>
            <p:cNvSpPr>
              <a:spLocks noChangeShapeType="1"/>
            </p:cNvSpPr>
            <p:nvPr/>
          </p:nvSpPr>
          <p:spPr bwMode="auto">
            <a:xfrm flipV="1">
              <a:off x="2691" y="2838"/>
              <a:ext cx="0" cy="71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8" name="Line 17"/>
            <p:cNvSpPr>
              <a:spLocks noChangeShapeType="1"/>
            </p:cNvSpPr>
            <p:nvPr/>
          </p:nvSpPr>
          <p:spPr bwMode="auto">
            <a:xfrm>
              <a:off x="1602" y="2832"/>
              <a:ext cx="0" cy="63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9" name="Arc 18"/>
            <p:cNvSpPr/>
            <p:nvPr/>
          </p:nvSpPr>
          <p:spPr bwMode="auto">
            <a:xfrm>
              <a:off x="2425" y="2625"/>
              <a:ext cx="266" cy="2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0" name="Arc 19"/>
            <p:cNvSpPr/>
            <p:nvPr/>
          </p:nvSpPr>
          <p:spPr bwMode="auto">
            <a:xfrm flipH="1">
              <a:off x="1602" y="2624"/>
              <a:ext cx="229" cy="2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1" name="Arc 20"/>
            <p:cNvSpPr/>
            <p:nvPr/>
          </p:nvSpPr>
          <p:spPr bwMode="auto">
            <a:xfrm rot="5400000">
              <a:off x="1467" y="3470"/>
              <a:ext cx="138" cy="1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2" name="Arc 21"/>
            <p:cNvSpPr/>
            <p:nvPr/>
          </p:nvSpPr>
          <p:spPr bwMode="auto">
            <a:xfrm rot="10800000">
              <a:off x="2691" y="3536"/>
              <a:ext cx="132" cy="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3" name="Line 22"/>
            <p:cNvSpPr>
              <a:spLocks noChangeShapeType="1"/>
            </p:cNvSpPr>
            <p:nvPr/>
          </p:nvSpPr>
          <p:spPr bwMode="auto">
            <a:xfrm>
              <a:off x="2823" y="3612"/>
              <a:ext cx="9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4" name="Line 23"/>
            <p:cNvSpPr>
              <a:spLocks noChangeShapeType="1"/>
            </p:cNvSpPr>
            <p:nvPr/>
          </p:nvSpPr>
          <p:spPr bwMode="auto">
            <a:xfrm>
              <a:off x="1373" y="3605"/>
              <a:ext cx="9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5" name="Arc 24"/>
            <p:cNvSpPr/>
            <p:nvPr/>
          </p:nvSpPr>
          <p:spPr bwMode="auto">
            <a:xfrm>
              <a:off x="2907" y="3612"/>
              <a:ext cx="139" cy="1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6" name="Line 25"/>
            <p:cNvSpPr>
              <a:spLocks noChangeShapeType="1"/>
            </p:cNvSpPr>
            <p:nvPr/>
          </p:nvSpPr>
          <p:spPr bwMode="auto">
            <a:xfrm>
              <a:off x="3046" y="3726"/>
              <a:ext cx="0" cy="9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7" name="Arc 26"/>
            <p:cNvSpPr/>
            <p:nvPr/>
          </p:nvSpPr>
          <p:spPr bwMode="auto">
            <a:xfrm flipH="1">
              <a:off x="1248" y="3605"/>
              <a:ext cx="139" cy="1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8" name="Line 27"/>
            <p:cNvSpPr>
              <a:spLocks noChangeShapeType="1"/>
            </p:cNvSpPr>
            <p:nvPr/>
          </p:nvSpPr>
          <p:spPr bwMode="auto">
            <a:xfrm>
              <a:off x="1248" y="3726"/>
              <a:ext cx="0" cy="9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9" name="Line 28"/>
            <p:cNvSpPr>
              <a:spLocks noChangeShapeType="1"/>
            </p:cNvSpPr>
            <p:nvPr/>
          </p:nvSpPr>
          <p:spPr bwMode="auto">
            <a:xfrm>
              <a:off x="2278" y="2617"/>
              <a:ext cx="0" cy="20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0" name="Line 29"/>
            <p:cNvSpPr>
              <a:spLocks noChangeShapeType="1"/>
            </p:cNvSpPr>
            <p:nvPr/>
          </p:nvSpPr>
          <p:spPr bwMode="auto">
            <a:xfrm>
              <a:off x="2021" y="2617"/>
              <a:ext cx="0" cy="21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1" name="Line 30"/>
            <p:cNvSpPr>
              <a:spLocks noChangeShapeType="1"/>
            </p:cNvSpPr>
            <p:nvPr/>
          </p:nvSpPr>
          <p:spPr bwMode="auto">
            <a:xfrm flipV="1">
              <a:off x="1753" y="3773"/>
              <a:ext cx="50" cy="5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nvGrpSpPr>
            <p:cNvPr id="32" name="Group 31"/>
            <p:cNvGrpSpPr/>
            <p:nvPr/>
          </p:nvGrpSpPr>
          <p:grpSpPr bwMode="auto">
            <a:xfrm>
              <a:off x="1244" y="2616"/>
              <a:ext cx="1752" cy="1207"/>
              <a:chOff x="1244" y="2616"/>
              <a:chExt cx="1752" cy="1207"/>
            </a:xfrm>
          </p:grpSpPr>
          <p:sp>
            <p:nvSpPr>
              <p:cNvPr id="34" name="Line 32"/>
              <p:cNvSpPr>
                <a:spLocks noChangeShapeType="1"/>
              </p:cNvSpPr>
              <p:nvPr/>
            </p:nvSpPr>
            <p:spPr bwMode="auto">
              <a:xfrm flipV="1">
                <a:off x="1602" y="2627"/>
                <a:ext cx="342" cy="34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5" name="Line 33"/>
              <p:cNvSpPr>
                <a:spLocks noChangeShapeType="1"/>
              </p:cNvSpPr>
              <p:nvPr/>
            </p:nvSpPr>
            <p:spPr bwMode="auto">
              <a:xfrm flipV="1">
                <a:off x="1593" y="2969"/>
                <a:ext cx="210" cy="20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6" name="Line 34"/>
              <p:cNvSpPr>
                <a:spLocks noChangeShapeType="1"/>
              </p:cNvSpPr>
              <p:nvPr/>
            </p:nvSpPr>
            <p:spPr bwMode="auto">
              <a:xfrm flipV="1">
                <a:off x="1949" y="2740"/>
                <a:ext cx="80" cy="8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8" name="Line 35"/>
              <p:cNvSpPr>
                <a:spLocks noChangeShapeType="1"/>
              </p:cNvSpPr>
              <p:nvPr/>
            </p:nvSpPr>
            <p:spPr bwMode="auto">
              <a:xfrm flipV="1">
                <a:off x="1600" y="3162"/>
                <a:ext cx="203" cy="20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9" name="Line 36"/>
              <p:cNvSpPr>
                <a:spLocks noChangeShapeType="1"/>
              </p:cNvSpPr>
              <p:nvPr/>
            </p:nvSpPr>
            <p:spPr bwMode="auto">
              <a:xfrm flipV="1">
                <a:off x="2291" y="2616"/>
                <a:ext cx="66" cy="6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0" name="Line 37"/>
              <p:cNvSpPr>
                <a:spLocks noChangeShapeType="1"/>
              </p:cNvSpPr>
              <p:nvPr/>
            </p:nvSpPr>
            <p:spPr bwMode="auto">
              <a:xfrm flipV="1">
                <a:off x="1244" y="3605"/>
                <a:ext cx="117" cy="11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1" name="Line 38"/>
              <p:cNvSpPr>
                <a:spLocks noChangeShapeType="1"/>
              </p:cNvSpPr>
              <p:nvPr/>
            </p:nvSpPr>
            <p:spPr bwMode="auto">
              <a:xfrm flipV="1">
                <a:off x="1338" y="3358"/>
                <a:ext cx="465" cy="46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2" name="Line 39"/>
              <p:cNvSpPr>
                <a:spLocks noChangeShapeType="1"/>
              </p:cNvSpPr>
              <p:nvPr/>
            </p:nvSpPr>
            <p:spPr bwMode="auto">
              <a:xfrm flipV="1">
                <a:off x="2342" y="2646"/>
                <a:ext cx="174" cy="17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3" name="Line 40"/>
              <p:cNvSpPr>
                <a:spLocks noChangeShapeType="1"/>
              </p:cNvSpPr>
              <p:nvPr/>
            </p:nvSpPr>
            <p:spPr bwMode="auto">
              <a:xfrm flipV="1">
                <a:off x="2465" y="2724"/>
                <a:ext cx="182" cy="16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4" name="Line 41"/>
              <p:cNvSpPr>
                <a:spLocks noChangeShapeType="1"/>
              </p:cNvSpPr>
              <p:nvPr/>
            </p:nvSpPr>
            <p:spPr bwMode="auto">
              <a:xfrm flipH="1">
                <a:off x="1550" y="3569"/>
                <a:ext cx="253" cy="25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5" name="Line 42"/>
              <p:cNvSpPr>
                <a:spLocks noChangeShapeType="1"/>
              </p:cNvSpPr>
              <p:nvPr/>
            </p:nvSpPr>
            <p:spPr bwMode="auto">
              <a:xfrm flipV="1">
                <a:off x="2480" y="2892"/>
                <a:ext cx="211" cy="21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6" name="Line 43"/>
              <p:cNvSpPr>
                <a:spLocks noChangeShapeType="1"/>
              </p:cNvSpPr>
              <p:nvPr/>
            </p:nvSpPr>
            <p:spPr bwMode="auto">
              <a:xfrm flipV="1">
                <a:off x="2472" y="3096"/>
                <a:ext cx="226" cy="22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7" name="Line 44"/>
              <p:cNvSpPr>
                <a:spLocks noChangeShapeType="1"/>
              </p:cNvSpPr>
              <p:nvPr/>
            </p:nvSpPr>
            <p:spPr bwMode="auto">
              <a:xfrm flipV="1">
                <a:off x="2465" y="3307"/>
                <a:ext cx="226" cy="22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8" name="Line 45"/>
              <p:cNvSpPr>
                <a:spLocks noChangeShapeType="1"/>
              </p:cNvSpPr>
              <p:nvPr/>
            </p:nvSpPr>
            <p:spPr bwMode="auto">
              <a:xfrm flipV="1">
                <a:off x="2465" y="3525"/>
                <a:ext cx="218" cy="21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9" name="Line 46"/>
              <p:cNvSpPr>
                <a:spLocks noChangeShapeType="1"/>
              </p:cNvSpPr>
              <p:nvPr/>
            </p:nvSpPr>
            <p:spPr bwMode="auto">
              <a:xfrm flipV="1">
                <a:off x="2603" y="3613"/>
                <a:ext cx="210" cy="21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0" name="Line 47"/>
              <p:cNvSpPr>
                <a:spLocks noChangeShapeType="1"/>
              </p:cNvSpPr>
              <p:nvPr/>
            </p:nvSpPr>
            <p:spPr bwMode="auto">
              <a:xfrm flipV="1">
                <a:off x="2807" y="3634"/>
                <a:ext cx="189" cy="189"/>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33" name="Line 48"/>
            <p:cNvSpPr>
              <a:spLocks noChangeShapeType="1"/>
            </p:cNvSpPr>
            <p:nvPr/>
          </p:nvSpPr>
          <p:spPr bwMode="auto">
            <a:xfrm flipV="1">
              <a:off x="3011" y="3780"/>
              <a:ext cx="43" cy="4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grpSp>
        <p:nvGrpSpPr>
          <p:cNvPr id="51" name="Group 49"/>
          <p:cNvGrpSpPr/>
          <p:nvPr/>
        </p:nvGrpSpPr>
        <p:grpSpPr bwMode="auto">
          <a:xfrm>
            <a:off x="8798670" y="3475277"/>
            <a:ext cx="952500" cy="1414463"/>
            <a:chOff x="3383" y="2712"/>
            <a:chExt cx="600" cy="891"/>
          </a:xfrm>
        </p:grpSpPr>
        <p:grpSp>
          <p:nvGrpSpPr>
            <p:cNvPr id="52" name="Group 50"/>
            <p:cNvGrpSpPr/>
            <p:nvPr/>
          </p:nvGrpSpPr>
          <p:grpSpPr bwMode="auto">
            <a:xfrm>
              <a:off x="3383" y="2712"/>
              <a:ext cx="551" cy="616"/>
              <a:chOff x="3383" y="2712"/>
              <a:chExt cx="551" cy="616"/>
            </a:xfrm>
          </p:grpSpPr>
          <p:sp>
            <p:nvSpPr>
              <p:cNvPr id="54" name="Line 51"/>
              <p:cNvSpPr>
                <a:spLocks noChangeShapeType="1"/>
              </p:cNvSpPr>
              <p:nvPr/>
            </p:nvSpPr>
            <p:spPr bwMode="auto">
              <a:xfrm>
                <a:off x="3385" y="2719"/>
                <a:ext cx="54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5" name="Line 52"/>
              <p:cNvSpPr>
                <a:spLocks noChangeShapeType="1"/>
              </p:cNvSpPr>
              <p:nvPr/>
            </p:nvSpPr>
            <p:spPr bwMode="auto">
              <a:xfrm flipV="1">
                <a:off x="3717" y="3027"/>
                <a:ext cx="0" cy="30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6" name="Line 53"/>
              <p:cNvSpPr>
                <a:spLocks noChangeShapeType="1"/>
              </p:cNvSpPr>
              <p:nvPr/>
            </p:nvSpPr>
            <p:spPr bwMode="auto">
              <a:xfrm>
                <a:off x="3403" y="2916"/>
                <a:ext cx="18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7" name="Arc 54"/>
              <p:cNvSpPr/>
              <p:nvPr/>
            </p:nvSpPr>
            <p:spPr bwMode="auto">
              <a:xfrm>
                <a:off x="3584" y="2911"/>
                <a:ext cx="139" cy="1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8" name="Line 55"/>
              <p:cNvSpPr>
                <a:spLocks noChangeShapeType="1"/>
              </p:cNvSpPr>
              <p:nvPr/>
            </p:nvSpPr>
            <p:spPr bwMode="auto">
              <a:xfrm>
                <a:off x="3934" y="2712"/>
                <a:ext cx="0" cy="60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9" name="Freeform 56"/>
              <p:cNvSpPr/>
              <p:nvPr/>
            </p:nvSpPr>
            <p:spPr bwMode="auto">
              <a:xfrm>
                <a:off x="3383" y="2717"/>
                <a:ext cx="549" cy="599"/>
              </a:xfrm>
              <a:custGeom>
                <a:avLst/>
                <a:gdLst>
                  <a:gd name="T0" fmla="*/ 11 w 549"/>
                  <a:gd name="T1" fmla="*/ 0 h 599"/>
                  <a:gd name="T2" fmla="*/ 26 w 549"/>
                  <a:gd name="T3" fmla="*/ 110 h 599"/>
                  <a:gd name="T4" fmla="*/ 11 w 549"/>
                  <a:gd name="T5" fmla="*/ 204 h 599"/>
                  <a:gd name="T6" fmla="*/ 18 w 549"/>
                  <a:gd name="T7" fmla="*/ 386 h 599"/>
                  <a:gd name="T8" fmla="*/ 120 w 549"/>
                  <a:gd name="T9" fmla="*/ 524 h 599"/>
                  <a:gd name="T10" fmla="*/ 222 w 549"/>
                  <a:gd name="T11" fmla="*/ 568 h 599"/>
                  <a:gd name="T12" fmla="*/ 331 w 549"/>
                  <a:gd name="T13" fmla="*/ 597 h 599"/>
                  <a:gd name="T14" fmla="*/ 433 w 549"/>
                  <a:gd name="T15" fmla="*/ 553 h 599"/>
                  <a:gd name="T16" fmla="*/ 549 w 549"/>
                  <a:gd name="T17" fmla="*/ 597 h 5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9" h="599">
                    <a:moveTo>
                      <a:pt x="11" y="0"/>
                    </a:moveTo>
                    <a:cubicBezTo>
                      <a:pt x="18" y="38"/>
                      <a:pt x="26" y="76"/>
                      <a:pt x="26" y="110"/>
                    </a:cubicBezTo>
                    <a:cubicBezTo>
                      <a:pt x="26" y="144"/>
                      <a:pt x="12" y="158"/>
                      <a:pt x="11" y="204"/>
                    </a:cubicBezTo>
                    <a:cubicBezTo>
                      <a:pt x="10" y="250"/>
                      <a:pt x="0" y="333"/>
                      <a:pt x="18" y="386"/>
                    </a:cubicBezTo>
                    <a:cubicBezTo>
                      <a:pt x="36" y="439"/>
                      <a:pt x="86" y="494"/>
                      <a:pt x="120" y="524"/>
                    </a:cubicBezTo>
                    <a:cubicBezTo>
                      <a:pt x="154" y="554"/>
                      <a:pt x="187" y="556"/>
                      <a:pt x="222" y="568"/>
                    </a:cubicBezTo>
                    <a:cubicBezTo>
                      <a:pt x="257" y="580"/>
                      <a:pt x="296" y="599"/>
                      <a:pt x="331" y="597"/>
                    </a:cubicBezTo>
                    <a:cubicBezTo>
                      <a:pt x="366" y="595"/>
                      <a:pt x="397" y="553"/>
                      <a:pt x="433" y="553"/>
                    </a:cubicBezTo>
                    <a:cubicBezTo>
                      <a:pt x="469" y="553"/>
                      <a:pt x="509" y="575"/>
                      <a:pt x="549" y="597"/>
                    </a:cubicBez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0" name="Line 57"/>
              <p:cNvSpPr>
                <a:spLocks noChangeShapeType="1"/>
              </p:cNvSpPr>
              <p:nvPr/>
            </p:nvSpPr>
            <p:spPr bwMode="auto">
              <a:xfrm flipV="1">
                <a:off x="3393" y="2718"/>
                <a:ext cx="175" cy="17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1" name="Line 58"/>
              <p:cNvSpPr>
                <a:spLocks noChangeShapeType="1"/>
              </p:cNvSpPr>
              <p:nvPr/>
            </p:nvSpPr>
            <p:spPr bwMode="auto">
              <a:xfrm flipV="1">
                <a:off x="3590" y="2718"/>
                <a:ext cx="197" cy="19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2" name="Line 59"/>
              <p:cNvSpPr>
                <a:spLocks noChangeShapeType="1"/>
              </p:cNvSpPr>
              <p:nvPr/>
            </p:nvSpPr>
            <p:spPr bwMode="auto">
              <a:xfrm flipV="1">
                <a:off x="3707" y="2798"/>
                <a:ext cx="225" cy="22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3" name="Line 60"/>
              <p:cNvSpPr>
                <a:spLocks noChangeShapeType="1"/>
              </p:cNvSpPr>
              <p:nvPr/>
            </p:nvSpPr>
            <p:spPr bwMode="auto">
              <a:xfrm flipV="1">
                <a:off x="3714" y="3016"/>
                <a:ext cx="218" cy="21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4" name="Line 61"/>
              <p:cNvSpPr>
                <a:spLocks noChangeShapeType="1"/>
              </p:cNvSpPr>
              <p:nvPr/>
            </p:nvSpPr>
            <p:spPr bwMode="auto">
              <a:xfrm flipV="1">
                <a:off x="3874" y="3227"/>
                <a:ext cx="58" cy="5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5" name="Freeform 62"/>
              <p:cNvSpPr/>
              <p:nvPr/>
            </p:nvSpPr>
            <p:spPr bwMode="auto">
              <a:xfrm>
                <a:off x="3634" y="2768"/>
                <a:ext cx="233" cy="226"/>
              </a:xfrm>
              <a:custGeom>
                <a:avLst/>
                <a:gdLst>
                  <a:gd name="T0" fmla="*/ 36 w 233"/>
                  <a:gd name="T1" fmla="*/ 0 h 226"/>
                  <a:gd name="T2" fmla="*/ 131 w 233"/>
                  <a:gd name="T3" fmla="*/ 29 h 226"/>
                  <a:gd name="T4" fmla="*/ 211 w 233"/>
                  <a:gd name="T5" fmla="*/ 124 h 226"/>
                  <a:gd name="T6" fmla="*/ 233 w 233"/>
                  <a:gd name="T7" fmla="*/ 175 h 226"/>
                  <a:gd name="T8" fmla="*/ 218 w 233"/>
                  <a:gd name="T9" fmla="*/ 226 h 226"/>
                  <a:gd name="T10" fmla="*/ 175 w 233"/>
                  <a:gd name="T11" fmla="*/ 197 h 226"/>
                  <a:gd name="T12" fmla="*/ 116 w 233"/>
                  <a:gd name="T13" fmla="*/ 153 h 226"/>
                  <a:gd name="T14" fmla="*/ 51 w 233"/>
                  <a:gd name="T15" fmla="*/ 102 h 226"/>
                  <a:gd name="T16" fmla="*/ 0 w 233"/>
                  <a:gd name="T17" fmla="*/ 51 h 226"/>
                  <a:gd name="T18" fmla="*/ 36 w 233"/>
                  <a:gd name="T19" fmla="*/ 0 h 2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226">
                    <a:moveTo>
                      <a:pt x="36" y="0"/>
                    </a:moveTo>
                    <a:lnTo>
                      <a:pt x="131" y="29"/>
                    </a:lnTo>
                    <a:lnTo>
                      <a:pt x="211" y="124"/>
                    </a:lnTo>
                    <a:lnTo>
                      <a:pt x="233" y="175"/>
                    </a:lnTo>
                    <a:lnTo>
                      <a:pt x="218" y="226"/>
                    </a:lnTo>
                    <a:lnTo>
                      <a:pt x="175" y="197"/>
                    </a:lnTo>
                    <a:lnTo>
                      <a:pt x="116" y="153"/>
                    </a:lnTo>
                    <a:lnTo>
                      <a:pt x="51" y="102"/>
                    </a:lnTo>
                    <a:lnTo>
                      <a:pt x="0" y="51"/>
                    </a:lnTo>
                    <a:lnTo>
                      <a:pt x="36" y="0"/>
                    </a:lnTo>
                    <a:close/>
                  </a:path>
                </a:pathLst>
              </a:custGeom>
              <a:solidFill>
                <a:srgbClr val="FFFFFF"/>
              </a:soli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53" name="Text Box 63"/>
            <p:cNvSpPr txBox="1">
              <a:spLocks noChangeArrowheads="1"/>
            </p:cNvSpPr>
            <p:nvPr/>
          </p:nvSpPr>
          <p:spPr bwMode="auto">
            <a:xfrm>
              <a:off x="3542" y="3351"/>
              <a:ext cx="4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mn-ea"/>
                  <a:ea typeface="+mn-ea"/>
                </a:rPr>
                <a:t>缩孔</a:t>
              </a:r>
              <a:endParaRPr kumimoji="1" lang="zh-CN" altLang="en-US" sz="2000" b="1" i="0" u="none" strike="noStrike" kern="0" cap="none" spc="0" normalizeH="0" baseline="0" noProof="0">
                <a:ln>
                  <a:noFill/>
                </a:ln>
                <a:solidFill>
                  <a:srgbClr val="000000"/>
                </a:solidFill>
                <a:effectLst/>
                <a:uLnTx/>
                <a:uFillTx/>
                <a:latin typeface="+mn-ea"/>
                <a:ea typeface="+mn-ea"/>
              </a:endParaRPr>
            </a:p>
          </p:txBody>
        </p:sp>
      </p:grpSp>
      <p:grpSp>
        <p:nvGrpSpPr>
          <p:cNvPr id="66" name="Group 64"/>
          <p:cNvGrpSpPr/>
          <p:nvPr/>
        </p:nvGrpSpPr>
        <p:grpSpPr bwMode="auto">
          <a:xfrm>
            <a:off x="10598895" y="3403840"/>
            <a:ext cx="858837" cy="1347787"/>
            <a:chOff x="4376" y="2677"/>
            <a:chExt cx="541" cy="849"/>
          </a:xfrm>
        </p:grpSpPr>
        <p:grpSp>
          <p:nvGrpSpPr>
            <p:cNvPr id="67" name="Group 65"/>
            <p:cNvGrpSpPr/>
            <p:nvPr/>
          </p:nvGrpSpPr>
          <p:grpSpPr bwMode="auto">
            <a:xfrm>
              <a:off x="4376" y="2677"/>
              <a:ext cx="518" cy="491"/>
              <a:chOff x="4376" y="2677"/>
              <a:chExt cx="518" cy="491"/>
            </a:xfrm>
          </p:grpSpPr>
          <p:sp>
            <p:nvSpPr>
              <p:cNvPr id="69" name="Line 66"/>
              <p:cNvSpPr>
                <a:spLocks noChangeShapeType="1"/>
              </p:cNvSpPr>
              <p:nvPr/>
            </p:nvSpPr>
            <p:spPr bwMode="auto">
              <a:xfrm>
                <a:off x="4414" y="2686"/>
                <a:ext cx="48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0" name="Line 67"/>
              <p:cNvSpPr>
                <a:spLocks noChangeShapeType="1"/>
              </p:cNvSpPr>
              <p:nvPr/>
            </p:nvSpPr>
            <p:spPr bwMode="auto">
              <a:xfrm>
                <a:off x="4887" y="2679"/>
                <a:ext cx="0" cy="46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1" name="Line 68"/>
              <p:cNvSpPr>
                <a:spLocks noChangeShapeType="1"/>
              </p:cNvSpPr>
              <p:nvPr/>
            </p:nvSpPr>
            <p:spPr bwMode="auto">
              <a:xfrm>
                <a:off x="4387" y="2913"/>
                <a:ext cx="26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2" name="Line 69"/>
              <p:cNvSpPr>
                <a:spLocks noChangeShapeType="1"/>
              </p:cNvSpPr>
              <p:nvPr/>
            </p:nvSpPr>
            <p:spPr bwMode="auto">
              <a:xfrm>
                <a:off x="4669" y="2954"/>
                <a:ext cx="0" cy="20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3" name="Freeform 70"/>
              <p:cNvSpPr/>
              <p:nvPr/>
            </p:nvSpPr>
            <p:spPr bwMode="auto">
              <a:xfrm>
                <a:off x="4376" y="2692"/>
                <a:ext cx="511" cy="476"/>
              </a:xfrm>
              <a:custGeom>
                <a:avLst/>
                <a:gdLst>
                  <a:gd name="T0" fmla="*/ 46 w 511"/>
                  <a:gd name="T1" fmla="*/ 0 h 476"/>
                  <a:gd name="T2" fmla="*/ 9 w 511"/>
                  <a:gd name="T3" fmla="*/ 131 h 476"/>
                  <a:gd name="T4" fmla="*/ 9 w 511"/>
                  <a:gd name="T5" fmla="*/ 226 h 476"/>
                  <a:gd name="T6" fmla="*/ 60 w 511"/>
                  <a:gd name="T7" fmla="*/ 335 h 476"/>
                  <a:gd name="T8" fmla="*/ 169 w 511"/>
                  <a:gd name="T9" fmla="*/ 400 h 476"/>
                  <a:gd name="T10" fmla="*/ 220 w 511"/>
                  <a:gd name="T11" fmla="*/ 466 h 476"/>
                  <a:gd name="T12" fmla="*/ 300 w 511"/>
                  <a:gd name="T13" fmla="*/ 458 h 476"/>
                  <a:gd name="T14" fmla="*/ 380 w 511"/>
                  <a:gd name="T15" fmla="*/ 415 h 476"/>
                  <a:gd name="T16" fmla="*/ 511 w 511"/>
                  <a:gd name="T17" fmla="*/ 444 h 4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1" h="476">
                    <a:moveTo>
                      <a:pt x="46" y="0"/>
                    </a:moveTo>
                    <a:cubicBezTo>
                      <a:pt x="30" y="46"/>
                      <a:pt x="15" y="93"/>
                      <a:pt x="9" y="131"/>
                    </a:cubicBezTo>
                    <a:cubicBezTo>
                      <a:pt x="3" y="169"/>
                      <a:pt x="0" y="192"/>
                      <a:pt x="9" y="226"/>
                    </a:cubicBezTo>
                    <a:cubicBezTo>
                      <a:pt x="18" y="260"/>
                      <a:pt x="33" y="306"/>
                      <a:pt x="60" y="335"/>
                    </a:cubicBezTo>
                    <a:cubicBezTo>
                      <a:pt x="87" y="364"/>
                      <a:pt x="142" y="378"/>
                      <a:pt x="169" y="400"/>
                    </a:cubicBezTo>
                    <a:cubicBezTo>
                      <a:pt x="196" y="422"/>
                      <a:pt x="198" y="456"/>
                      <a:pt x="220" y="466"/>
                    </a:cubicBezTo>
                    <a:cubicBezTo>
                      <a:pt x="242" y="476"/>
                      <a:pt x="273" y="466"/>
                      <a:pt x="300" y="458"/>
                    </a:cubicBezTo>
                    <a:cubicBezTo>
                      <a:pt x="327" y="450"/>
                      <a:pt x="345" y="417"/>
                      <a:pt x="380" y="415"/>
                    </a:cubicBezTo>
                    <a:cubicBezTo>
                      <a:pt x="415" y="413"/>
                      <a:pt x="463" y="428"/>
                      <a:pt x="511" y="444"/>
                    </a:cubicBez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4" name="Line 71"/>
              <p:cNvSpPr>
                <a:spLocks noChangeShapeType="1"/>
              </p:cNvSpPr>
              <p:nvPr/>
            </p:nvSpPr>
            <p:spPr bwMode="auto">
              <a:xfrm flipV="1">
                <a:off x="4392" y="2677"/>
                <a:ext cx="211" cy="21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5" name="Line 72"/>
              <p:cNvSpPr>
                <a:spLocks noChangeShapeType="1"/>
              </p:cNvSpPr>
              <p:nvPr/>
            </p:nvSpPr>
            <p:spPr bwMode="auto">
              <a:xfrm flipV="1">
                <a:off x="4567" y="2677"/>
                <a:ext cx="225" cy="22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6" name="Line 73"/>
              <p:cNvSpPr>
                <a:spLocks noChangeShapeType="1"/>
              </p:cNvSpPr>
              <p:nvPr/>
            </p:nvSpPr>
            <p:spPr bwMode="auto">
              <a:xfrm flipV="1">
                <a:off x="4683" y="2794"/>
                <a:ext cx="204" cy="20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7" name="Line 74"/>
              <p:cNvSpPr>
                <a:spLocks noChangeShapeType="1"/>
              </p:cNvSpPr>
              <p:nvPr/>
            </p:nvSpPr>
            <p:spPr bwMode="auto">
              <a:xfrm flipV="1">
                <a:off x="4785" y="2990"/>
                <a:ext cx="109" cy="109"/>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8" name="Freeform 75"/>
              <p:cNvSpPr/>
              <p:nvPr/>
            </p:nvSpPr>
            <p:spPr bwMode="auto">
              <a:xfrm>
                <a:off x="4646" y="2794"/>
                <a:ext cx="151" cy="160"/>
              </a:xfrm>
              <a:custGeom>
                <a:avLst/>
                <a:gdLst>
                  <a:gd name="T0" fmla="*/ 0 w 151"/>
                  <a:gd name="T1" fmla="*/ 122 h 160"/>
                  <a:gd name="T2" fmla="*/ 24 w 151"/>
                  <a:gd name="T3" fmla="*/ 81 h 160"/>
                  <a:gd name="T4" fmla="*/ 80 w 151"/>
                  <a:gd name="T5" fmla="*/ 57 h 160"/>
                  <a:gd name="T6" fmla="*/ 147 w 151"/>
                  <a:gd name="T7" fmla="*/ 2 h 160"/>
                  <a:gd name="T8" fmla="*/ 101 w 151"/>
                  <a:gd name="T9" fmla="*/ 43 h 160"/>
                  <a:gd name="T10" fmla="*/ 87 w 151"/>
                  <a:gd name="T11" fmla="*/ 57 h 160"/>
                  <a:gd name="T12" fmla="*/ 51 w 151"/>
                  <a:gd name="T13" fmla="*/ 88 h 160"/>
                  <a:gd name="T14" fmla="*/ 29 w 151"/>
                  <a:gd name="T15" fmla="*/ 122 h 160"/>
                  <a:gd name="T16" fmla="*/ 17 w 151"/>
                  <a:gd name="T17" fmla="*/ 160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1" h="160">
                    <a:moveTo>
                      <a:pt x="0" y="122"/>
                    </a:moveTo>
                    <a:cubicBezTo>
                      <a:pt x="5" y="107"/>
                      <a:pt x="11" y="92"/>
                      <a:pt x="24" y="81"/>
                    </a:cubicBezTo>
                    <a:cubicBezTo>
                      <a:pt x="37" y="70"/>
                      <a:pt x="60" y="70"/>
                      <a:pt x="80" y="57"/>
                    </a:cubicBezTo>
                    <a:cubicBezTo>
                      <a:pt x="100" y="44"/>
                      <a:pt x="143" y="4"/>
                      <a:pt x="147" y="2"/>
                    </a:cubicBezTo>
                    <a:cubicBezTo>
                      <a:pt x="151" y="0"/>
                      <a:pt x="111" y="34"/>
                      <a:pt x="101" y="43"/>
                    </a:cubicBezTo>
                    <a:cubicBezTo>
                      <a:pt x="91" y="52"/>
                      <a:pt x="95" y="49"/>
                      <a:pt x="87" y="57"/>
                    </a:cubicBezTo>
                    <a:cubicBezTo>
                      <a:pt x="79" y="65"/>
                      <a:pt x="61" y="77"/>
                      <a:pt x="51" y="88"/>
                    </a:cubicBezTo>
                    <a:cubicBezTo>
                      <a:pt x="41" y="99"/>
                      <a:pt x="35" y="110"/>
                      <a:pt x="29" y="122"/>
                    </a:cubicBezTo>
                    <a:cubicBezTo>
                      <a:pt x="23" y="134"/>
                      <a:pt x="20" y="147"/>
                      <a:pt x="17" y="160"/>
                    </a:cubicBez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68" name="Text Box 76"/>
            <p:cNvSpPr txBox="1">
              <a:spLocks noChangeArrowheads="1"/>
            </p:cNvSpPr>
            <p:nvPr/>
          </p:nvSpPr>
          <p:spPr bwMode="auto">
            <a:xfrm>
              <a:off x="4476" y="3274"/>
              <a:ext cx="4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mn-ea"/>
                  <a:ea typeface="+mn-ea"/>
                </a:rPr>
                <a:t>裂纹</a:t>
              </a:r>
              <a:endParaRPr kumimoji="1" lang="zh-CN" altLang="en-US" sz="2000" b="1" i="0" u="none" strike="noStrike" kern="0" cap="none" spc="0" normalizeH="0" baseline="0" noProof="0">
                <a:ln>
                  <a:noFill/>
                </a:ln>
                <a:solidFill>
                  <a:srgbClr val="000000"/>
                </a:solidFill>
                <a:effectLst/>
                <a:uLnTx/>
                <a:uFillTx/>
                <a:latin typeface="+mn-ea"/>
                <a:ea typeface="+mn-ea"/>
              </a:endParaRPr>
            </a:p>
          </p:txBody>
        </p:sp>
      </p:grpSp>
      <p:grpSp>
        <p:nvGrpSpPr>
          <p:cNvPr id="79" name="Group 108"/>
          <p:cNvGrpSpPr/>
          <p:nvPr/>
        </p:nvGrpSpPr>
        <p:grpSpPr bwMode="auto">
          <a:xfrm>
            <a:off x="5685583" y="4111865"/>
            <a:ext cx="2409825" cy="2055812"/>
            <a:chOff x="3054" y="2644"/>
            <a:chExt cx="1517" cy="1295"/>
          </a:xfrm>
        </p:grpSpPr>
        <p:pic>
          <p:nvPicPr>
            <p:cNvPr id="80" name="Picture 10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4" y="2644"/>
              <a:ext cx="129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 name="Group 110"/>
            <p:cNvGrpSpPr/>
            <p:nvPr/>
          </p:nvGrpSpPr>
          <p:grpSpPr bwMode="auto">
            <a:xfrm>
              <a:off x="4178" y="2798"/>
              <a:ext cx="393" cy="338"/>
              <a:chOff x="4178" y="2798"/>
              <a:chExt cx="393" cy="338"/>
            </a:xfrm>
          </p:grpSpPr>
          <p:sp>
            <p:nvSpPr>
              <p:cNvPr id="87" name="Line 111"/>
              <p:cNvSpPr>
                <a:spLocks noChangeShapeType="1"/>
              </p:cNvSpPr>
              <p:nvPr/>
            </p:nvSpPr>
            <p:spPr bwMode="auto">
              <a:xfrm>
                <a:off x="4178" y="2798"/>
                <a:ext cx="38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8" name="Line 112"/>
              <p:cNvSpPr>
                <a:spLocks noChangeShapeType="1"/>
              </p:cNvSpPr>
              <p:nvPr/>
            </p:nvSpPr>
            <p:spPr bwMode="auto">
              <a:xfrm>
                <a:off x="4197" y="3127"/>
                <a:ext cx="37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9" name="Line 113"/>
              <p:cNvSpPr>
                <a:spLocks noChangeShapeType="1"/>
              </p:cNvSpPr>
              <p:nvPr/>
            </p:nvSpPr>
            <p:spPr bwMode="auto">
              <a:xfrm>
                <a:off x="4489" y="2798"/>
                <a:ext cx="0" cy="338"/>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0" name="Text Box 114"/>
              <p:cNvSpPr txBox="1">
                <a:spLocks noChangeArrowheads="1"/>
              </p:cNvSpPr>
              <p:nvPr/>
            </p:nvSpPr>
            <p:spPr bwMode="auto">
              <a:xfrm rot="16200000">
                <a:off x="4281" y="2825"/>
                <a:ext cx="2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mn-ea"/>
                    <a:ea typeface="+mn-ea"/>
                  </a:rPr>
                  <a:t>a</a:t>
                </a:r>
                <a:endParaRPr kumimoji="1" lang="en-US" altLang="zh-CN" sz="2400" b="1" i="1" u="none" strike="noStrike" kern="0" cap="none" spc="0" normalizeH="0" baseline="0" noProof="0">
                  <a:ln>
                    <a:noFill/>
                  </a:ln>
                  <a:solidFill>
                    <a:srgbClr val="000000"/>
                  </a:solidFill>
                  <a:effectLst/>
                  <a:uLnTx/>
                  <a:uFillTx/>
                  <a:latin typeface="+mn-ea"/>
                  <a:ea typeface="+mn-ea"/>
                </a:endParaRPr>
              </a:p>
            </p:txBody>
          </p:sp>
        </p:grpSp>
        <p:grpSp>
          <p:nvGrpSpPr>
            <p:cNvPr id="82" name="Group 115"/>
            <p:cNvGrpSpPr/>
            <p:nvPr/>
          </p:nvGrpSpPr>
          <p:grpSpPr bwMode="auto">
            <a:xfrm rot="5400000">
              <a:off x="3235" y="3574"/>
              <a:ext cx="393" cy="338"/>
              <a:chOff x="4178" y="2798"/>
              <a:chExt cx="393" cy="338"/>
            </a:xfrm>
          </p:grpSpPr>
          <p:sp>
            <p:nvSpPr>
              <p:cNvPr id="83" name="Line 116"/>
              <p:cNvSpPr>
                <a:spLocks noChangeShapeType="1"/>
              </p:cNvSpPr>
              <p:nvPr/>
            </p:nvSpPr>
            <p:spPr bwMode="auto">
              <a:xfrm>
                <a:off x="4178" y="2798"/>
                <a:ext cx="38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4" name="Line 117"/>
              <p:cNvSpPr>
                <a:spLocks noChangeShapeType="1"/>
              </p:cNvSpPr>
              <p:nvPr/>
            </p:nvSpPr>
            <p:spPr bwMode="auto">
              <a:xfrm>
                <a:off x="4197" y="3127"/>
                <a:ext cx="37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5" name="Line 118"/>
              <p:cNvSpPr>
                <a:spLocks noChangeShapeType="1"/>
              </p:cNvSpPr>
              <p:nvPr/>
            </p:nvSpPr>
            <p:spPr bwMode="auto">
              <a:xfrm>
                <a:off x="4489" y="2798"/>
                <a:ext cx="0" cy="338"/>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6" name="Text Box 119"/>
              <p:cNvSpPr txBox="1">
                <a:spLocks noChangeArrowheads="1"/>
              </p:cNvSpPr>
              <p:nvPr/>
            </p:nvSpPr>
            <p:spPr bwMode="auto">
              <a:xfrm rot="16200000">
                <a:off x="4282" y="2821"/>
                <a:ext cx="2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mn-ea"/>
                    <a:ea typeface="+mn-ea"/>
                  </a:rPr>
                  <a:t>a</a:t>
                </a:r>
                <a:endParaRPr kumimoji="1" lang="en-US" altLang="zh-CN" sz="2400" b="1" i="1" u="none" strike="noStrike" kern="0" cap="none" spc="0" normalizeH="0" baseline="0" noProof="0">
                  <a:ln>
                    <a:noFill/>
                  </a:ln>
                  <a:solidFill>
                    <a:srgbClr val="000000"/>
                  </a:solidFill>
                  <a:effectLst/>
                  <a:uLnTx/>
                  <a:uFillTx/>
                  <a:latin typeface="+mn-ea"/>
                  <a:ea typeface="+mn-ea"/>
                </a:endParaRPr>
              </a:p>
            </p:txBody>
          </p:sp>
        </p:grpSp>
      </p:grpSp>
      <p:grpSp>
        <p:nvGrpSpPr>
          <p:cNvPr id="91" name="Group 120"/>
          <p:cNvGrpSpPr/>
          <p:nvPr/>
        </p:nvGrpSpPr>
        <p:grpSpPr bwMode="auto">
          <a:xfrm>
            <a:off x="5345858" y="3843577"/>
            <a:ext cx="2339975" cy="1563688"/>
            <a:chOff x="1666" y="2400"/>
            <a:chExt cx="1474" cy="985"/>
          </a:xfrm>
        </p:grpSpPr>
        <p:sp>
          <p:nvSpPr>
            <p:cNvPr id="92" name="Text Box 121"/>
            <p:cNvSpPr txBox="1">
              <a:spLocks noChangeArrowheads="1"/>
            </p:cNvSpPr>
            <p:nvPr/>
          </p:nvSpPr>
          <p:spPr bwMode="auto">
            <a:xfrm>
              <a:off x="2645" y="3097"/>
              <a:ext cx="4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FF0000"/>
                  </a:solidFill>
                  <a:latin typeface="+mn-ea"/>
                  <a:ea typeface="+mn-ea"/>
                </a:rPr>
                <a:t>R</a:t>
              </a:r>
              <a:endParaRPr kumimoji="1" lang="en-US" altLang="zh-CN" sz="1800" b="1" i="1">
                <a:solidFill>
                  <a:srgbClr val="FF0000"/>
                </a:solidFill>
                <a:latin typeface="+mn-ea"/>
                <a:ea typeface="+mn-ea"/>
              </a:endParaRPr>
            </a:p>
          </p:txBody>
        </p:sp>
        <p:sp>
          <p:nvSpPr>
            <p:cNvPr id="93" name="Line 122"/>
            <p:cNvSpPr>
              <a:spLocks noChangeShapeType="1"/>
            </p:cNvSpPr>
            <p:nvPr/>
          </p:nvSpPr>
          <p:spPr bwMode="auto">
            <a:xfrm flipH="1" flipV="1">
              <a:off x="2456" y="3079"/>
              <a:ext cx="205" cy="255"/>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94" name="Line 123"/>
            <p:cNvSpPr>
              <a:spLocks noChangeShapeType="1"/>
            </p:cNvSpPr>
            <p:nvPr/>
          </p:nvSpPr>
          <p:spPr bwMode="auto">
            <a:xfrm>
              <a:off x="2661" y="3337"/>
              <a:ext cx="229"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95" name="Text Box 124"/>
            <p:cNvSpPr txBox="1">
              <a:spLocks noChangeArrowheads="1"/>
            </p:cNvSpPr>
            <p:nvPr/>
          </p:nvSpPr>
          <p:spPr bwMode="auto">
            <a:xfrm>
              <a:off x="1666" y="2400"/>
              <a:ext cx="4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FF0000"/>
                  </a:solidFill>
                  <a:latin typeface="+mn-ea"/>
                  <a:ea typeface="+mn-ea"/>
                </a:rPr>
                <a:t>R</a:t>
              </a:r>
              <a:r>
                <a:rPr kumimoji="1" lang="en-US" altLang="zh-CN" sz="1800" b="1" i="1">
                  <a:solidFill>
                    <a:srgbClr val="FF0000"/>
                  </a:solidFill>
                  <a:latin typeface="+mn-ea"/>
                  <a:ea typeface="+mn-ea"/>
                </a:rPr>
                <a:t>1</a:t>
              </a:r>
              <a:endParaRPr kumimoji="1" lang="en-US" altLang="zh-CN" sz="1800" b="1" i="1">
                <a:solidFill>
                  <a:srgbClr val="FF0000"/>
                </a:solidFill>
                <a:latin typeface="+mn-ea"/>
                <a:ea typeface="+mn-ea"/>
              </a:endParaRPr>
            </a:p>
          </p:txBody>
        </p:sp>
        <p:sp>
          <p:nvSpPr>
            <p:cNvPr id="96" name="Line 125"/>
            <p:cNvSpPr>
              <a:spLocks noChangeShapeType="1"/>
            </p:cNvSpPr>
            <p:nvPr/>
          </p:nvSpPr>
          <p:spPr bwMode="auto">
            <a:xfrm>
              <a:off x="1932" y="2628"/>
              <a:ext cx="234" cy="186"/>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sp>
          <p:nvSpPr>
            <p:cNvPr id="97" name="Line 126"/>
            <p:cNvSpPr>
              <a:spLocks noChangeShapeType="1"/>
            </p:cNvSpPr>
            <p:nvPr/>
          </p:nvSpPr>
          <p:spPr bwMode="auto">
            <a:xfrm flipH="1">
              <a:off x="1680" y="2628"/>
              <a:ext cx="252"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mn-ea"/>
              </a:endParaRPr>
            </a:p>
          </p:txBody>
        </p:sp>
      </p:grpSp>
      <p:grpSp>
        <p:nvGrpSpPr>
          <p:cNvPr id="98" name="Group 127"/>
          <p:cNvGrpSpPr/>
          <p:nvPr/>
        </p:nvGrpSpPr>
        <p:grpSpPr bwMode="auto">
          <a:xfrm>
            <a:off x="6922435" y="5318935"/>
            <a:ext cx="1398588" cy="923925"/>
            <a:chOff x="3695" y="2878"/>
            <a:chExt cx="881" cy="582"/>
          </a:xfrm>
        </p:grpSpPr>
        <p:sp>
          <p:nvSpPr>
            <p:cNvPr id="99" name="Text Box 128"/>
            <p:cNvSpPr txBox="1">
              <a:spLocks noChangeArrowheads="1"/>
            </p:cNvSpPr>
            <p:nvPr/>
          </p:nvSpPr>
          <p:spPr bwMode="auto">
            <a:xfrm>
              <a:off x="3697" y="2954"/>
              <a:ext cx="87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R=(   ~    )a</a:t>
              </a:r>
              <a:endPar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grpSp>
          <p:nvGrpSpPr>
            <p:cNvPr id="100" name="Group 129"/>
            <p:cNvGrpSpPr/>
            <p:nvPr/>
          </p:nvGrpSpPr>
          <p:grpSpPr bwMode="auto">
            <a:xfrm>
              <a:off x="3951" y="2878"/>
              <a:ext cx="465" cy="415"/>
              <a:chOff x="3927" y="2878"/>
              <a:chExt cx="465" cy="415"/>
            </a:xfrm>
          </p:grpSpPr>
          <p:sp>
            <p:nvSpPr>
              <p:cNvPr id="102" name="Text Box 130"/>
              <p:cNvSpPr txBox="1">
                <a:spLocks noChangeArrowheads="1"/>
              </p:cNvSpPr>
              <p:nvPr/>
            </p:nvSpPr>
            <p:spPr bwMode="auto">
              <a:xfrm>
                <a:off x="4170" y="3041"/>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3</a:t>
                </a:r>
                <a:endPar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3" name="Text Box 131"/>
              <p:cNvSpPr txBox="1">
                <a:spLocks noChangeArrowheads="1"/>
              </p:cNvSpPr>
              <p:nvPr/>
            </p:nvSpPr>
            <p:spPr bwMode="auto">
              <a:xfrm>
                <a:off x="4194" y="2880"/>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a:t>
                </a:r>
                <a:endParaRPr kumimoji="1" lang="en-US" altLang="zh-CN" sz="2000" b="1"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4" name="Text Box 132"/>
              <p:cNvSpPr txBox="1">
                <a:spLocks noChangeArrowheads="1"/>
              </p:cNvSpPr>
              <p:nvPr/>
            </p:nvSpPr>
            <p:spPr bwMode="auto">
              <a:xfrm>
                <a:off x="3935" y="2878"/>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1</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5" name="Text Box 133"/>
              <p:cNvSpPr txBox="1">
                <a:spLocks noChangeArrowheads="1"/>
              </p:cNvSpPr>
              <p:nvPr/>
            </p:nvSpPr>
            <p:spPr bwMode="auto">
              <a:xfrm>
                <a:off x="3927" y="3033"/>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5</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6" name="Line 134"/>
              <p:cNvSpPr>
                <a:spLocks noChangeShapeType="1"/>
              </p:cNvSpPr>
              <p:nvPr/>
            </p:nvSpPr>
            <p:spPr bwMode="auto">
              <a:xfrm>
                <a:off x="3982" y="3086"/>
                <a:ext cx="1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07" name="Line 135"/>
              <p:cNvSpPr>
                <a:spLocks noChangeShapeType="1"/>
              </p:cNvSpPr>
              <p:nvPr/>
            </p:nvSpPr>
            <p:spPr bwMode="auto">
              <a:xfrm>
                <a:off x="4233" y="3090"/>
                <a:ext cx="12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endParaRPr>
              </a:p>
            </p:txBody>
          </p:sp>
        </p:grpSp>
        <p:sp>
          <p:nvSpPr>
            <p:cNvPr id="101" name="Text Box 136"/>
            <p:cNvSpPr txBox="1">
              <a:spLocks noChangeArrowheads="1"/>
            </p:cNvSpPr>
            <p:nvPr/>
          </p:nvSpPr>
          <p:spPr bwMode="auto">
            <a:xfrm>
              <a:off x="3695" y="3210"/>
              <a:ext cx="5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R</a:t>
              </a:r>
              <a:r>
                <a:rPr kumimoji="1" lang="en-US" altLang="zh-CN" sz="12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1</a:t>
              </a: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a:t>
              </a:r>
              <a:endPar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grpSp>
      <p:sp>
        <p:nvSpPr>
          <p:cNvPr id="108" name="Text Box 26"/>
          <p:cNvSpPr txBox="1">
            <a:spLocks noChangeArrowheads="1"/>
          </p:cNvSpPr>
          <p:nvPr/>
        </p:nvSpPr>
        <p:spPr bwMode="auto">
          <a:xfrm>
            <a:off x="6441233" y="3870565"/>
            <a:ext cx="25273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000" b="1">
                <a:solidFill>
                  <a:srgbClr val="000000"/>
                </a:solidFill>
                <a:latin typeface="+mn-ea"/>
                <a:ea typeface="+mn-ea"/>
              </a:rPr>
              <a:t>转角处做成圆角</a:t>
            </a:r>
            <a:endParaRPr kumimoji="1" lang="zh-CN" altLang="en-US" sz="2000" b="1">
              <a:solidFill>
                <a:srgbClr val="000000"/>
              </a:solidFill>
              <a:latin typeface="+mn-ea"/>
              <a:ea typeface="+mn-ea"/>
            </a:endParaRPr>
          </a:p>
        </p:txBody>
      </p:sp>
      <p:sp>
        <p:nvSpPr>
          <p:cNvPr id="109" name="Text Box 4"/>
          <p:cNvSpPr txBox="1">
            <a:spLocks noChangeArrowheads="1"/>
          </p:cNvSpPr>
          <p:nvPr/>
        </p:nvSpPr>
        <p:spPr bwMode="auto">
          <a:xfrm>
            <a:off x="306971" y="1245139"/>
            <a:ext cx="35189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零件图的工艺结构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vertic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box(out)">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blinds(vertical)">
                                      <p:cBhvr>
                                        <p:cTn id="37" dur="500"/>
                                        <p:tgtEl>
                                          <p:spTgt spid="6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9"/>
                                        </p:tgtEl>
                                        <p:attrNameLst>
                                          <p:attrName>style.visibility</p:attrName>
                                        </p:attrNameLst>
                                      </p:cBhvr>
                                      <p:to>
                                        <p:strVal val="visible"/>
                                      </p:to>
                                    </p:set>
                                    <p:animEffect transition="in" filter="wipe(left)">
                                      <p:cBhvr>
                                        <p:cTn id="42" dur="500"/>
                                        <p:tgtEl>
                                          <p:spTgt spid="7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1"/>
                                        </p:tgtEl>
                                        <p:attrNameLst>
                                          <p:attrName>style.visibility</p:attrName>
                                        </p:attrNameLst>
                                      </p:cBhvr>
                                      <p:to>
                                        <p:strVal val="visible"/>
                                      </p:to>
                                    </p:set>
                                    <p:animEffect transition="in" filter="fade">
                                      <p:cBhvr>
                                        <p:cTn id="47" dur="500"/>
                                        <p:tgtEl>
                                          <p:spTgt spid="9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8"/>
                                        </p:tgtEl>
                                        <p:attrNameLst>
                                          <p:attrName>style.visibility</p:attrName>
                                        </p:attrNameLst>
                                      </p:cBhvr>
                                      <p:to>
                                        <p:strVal val="visible"/>
                                      </p:to>
                                    </p:set>
                                    <p:animEffect transition="in" filter="wipe(left)">
                                      <p:cBhvr>
                                        <p:cTn id="52" dur="500"/>
                                        <p:tgtEl>
                                          <p:spTgt spid="98"/>
                                        </p:tgtEl>
                                      </p:cBhvr>
                                    </p:animEffect>
                                  </p:childTnLst>
                                </p:cTn>
                              </p:par>
                            </p:childTnLst>
                          </p:cTn>
                        </p:par>
                        <p:par>
                          <p:cTn id="53" fill="hold">
                            <p:stCondLst>
                              <p:cond delay="500"/>
                            </p:stCondLst>
                            <p:childTnLst>
                              <p:par>
                                <p:cTn id="54" presetID="23" presetClass="entr" presetSubtype="16" fill="hold" grpId="0" nodeType="afterEffect">
                                  <p:stCondLst>
                                    <p:cond delay="0"/>
                                  </p:stCondLst>
                                  <p:childTnLst>
                                    <p:set>
                                      <p:cBhvr>
                                        <p:cTn id="55" dur="1" fill="hold">
                                          <p:stCondLst>
                                            <p:cond delay="0"/>
                                          </p:stCondLst>
                                        </p:cTn>
                                        <p:tgtEl>
                                          <p:spTgt spid="108"/>
                                        </p:tgtEl>
                                        <p:attrNameLst>
                                          <p:attrName>style.visibility</p:attrName>
                                        </p:attrNameLst>
                                      </p:cBhvr>
                                      <p:to>
                                        <p:strVal val="visible"/>
                                      </p:to>
                                    </p:set>
                                    <p:anim calcmode="lin" valueType="num">
                                      <p:cBhvr>
                                        <p:cTn id="56" dur="500" fill="hold"/>
                                        <p:tgtEl>
                                          <p:spTgt spid="108"/>
                                        </p:tgtEl>
                                        <p:attrNameLst>
                                          <p:attrName>ppt_w</p:attrName>
                                        </p:attrNameLst>
                                      </p:cBhvr>
                                      <p:tavLst>
                                        <p:tav tm="0">
                                          <p:val>
                                            <p:fltVal val="0"/>
                                          </p:val>
                                        </p:tav>
                                        <p:tav tm="100000">
                                          <p:val>
                                            <p:strVal val="#ppt_w"/>
                                          </p:val>
                                        </p:tav>
                                      </p:tavLst>
                                    </p:anim>
                                    <p:anim calcmode="lin" valueType="num">
                                      <p:cBhvr>
                                        <p:cTn id="57" dur="500" fill="hold"/>
                                        <p:tgtEl>
                                          <p:spTgt spid="10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10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384838" y="1668426"/>
            <a:ext cx="10688248" cy="941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      由于圆角的影响，使零件表面的交线变得不再明显；但为了看图时便于区分不同表面，图样中仍画出这条线</a:t>
            </a:r>
            <a:r>
              <a:rPr kumimoji="1" lang="en-US" altLang="zh-CN" sz="2400" dirty="0">
                <a:solidFill>
                  <a:srgbClr val="000000"/>
                </a:solidFill>
                <a:latin typeface="微软雅黑" panose="020B0503020204020204" pitchFamily="34" charset="-122"/>
                <a:ea typeface="微软雅黑" panose="020B0503020204020204" pitchFamily="34" charset="-122"/>
              </a:rPr>
              <a:t>——</a:t>
            </a:r>
            <a:r>
              <a:rPr kumimoji="1" lang="zh-CN" altLang="en-US" sz="2400" dirty="0">
                <a:solidFill>
                  <a:srgbClr val="CC0000"/>
                </a:solidFill>
                <a:latin typeface="微软雅黑" panose="020B0503020204020204" pitchFamily="34" charset="-122"/>
                <a:ea typeface="微软雅黑" panose="020B0503020204020204" pitchFamily="34" charset="-122"/>
              </a:rPr>
              <a:t>过渡线</a:t>
            </a:r>
            <a:r>
              <a:rPr kumimoji="1" lang="zh-CN" altLang="en-US" sz="2400" dirty="0">
                <a:solidFill>
                  <a:srgbClr val="000000"/>
                </a:solidFill>
                <a:latin typeface="微软雅黑" panose="020B0503020204020204" pitchFamily="34" charset="-122"/>
                <a:ea typeface="微软雅黑" panose="020B0503020204020204" pitchFamily="34" charset="-122"/>
              </a:rPr>
              <a:t>。</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479376" y="2636912"/>
            <a:ext cx="11050232" cy="50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25000"/>
              </a:spcAft>
              <a:buFontTx/>
              <a:buNone/>
            </a:pPr>
            <a:r>
              <a:rPr kumimoji="1" lang="en-US" altLang="zh-CN" sz="2400" dirty="0">
                <a:solidFill>
                  <a:srgbClr val="080808"/>
                </a:solidFill>
                <a:latin typeface="微软雅黑" panose="020B0503020204020204" pitchFamily="34" charset="-122"/>
                <a:ea typeface="微软雅黑" panose="020B0503020204020204" pitchFamily="34" charset="-122"/>
              </a:rPr>
              <a:t>     </a:t>
            </a:r>
            <a:r>
              <a:rPr kumimoji="1" lang="zh-CN" altLang="en-US" sz="2400" dirty="0">
                <a:solidFill>
                  <a:srgbClr val="080808"/>
                </a:solidFill>
                <a:latin typeface="微软雅黑" panose="020B0503020204020204" pitchFamily="34" charset="-122"/>
                <a:ea typeface="微软雅黑" panose="020B0503020204020204" pitchFamily="34" charset="-122"/>
              </a:rPr>
              <a:t>过渡线求法与交线求法完全相同，但须用细实线绘制，且不与轮廓线接触。 </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pic>
        <p:nvPicPr>
          <p:cNvPr id="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5197" y="3299271"/>
            <a:ext cx="3132138" cy="292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5458" y="3284984"/>
            <a:ext cx="3219450" cy="294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3214" y="4769297"/>
            <a:ext cx="1703388"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8"/>
          <p:cNvSpPr>
            <a:spLocks noChangeArrowheads="1"/>
          </p:cNvSpPr>
          <p:nvPr/>
        </p:nvSpPr>
        <p:spPr bwMode="auto">
          <a:xfrm>
            <a:off x="384838" y="1179431"/>
            <a:ext cx="30460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25000"/>
              </a:spcAft>
              <a:buFontTx/>
              <a:buNone/>
            </a:pPr>
            <a:r>
              <a:rPr kumimoji="1" lang="zh-CN" altLang="en-US" sz="2400" b="1" dirty="0">
                <a:solidFill>
                  <a:srgbClr val="000000"/>
                </a:solidFill>
                <a:latin typeface="微软雅黑" panose="020B0503020204020204" pitchFamily="34" charset="-122"/>
                <a:ea typeface="微软雅黑" panose="020B0503020204020204" pitchFamily="34" charset="-122"/>
              </a:rPr>
              <a:t>过渡线画法的规定：</a:t>
            </a:r>
            <a:endParaRPr kumimoji="1" lang="zh-CN" altLang="en-US" sz="24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47289" y="2564066"/>
            <a:ext cx="3100388"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1339" y="4743704"/>
            <a:ext cx="156845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289" y="4688141"/>
            <a:ext cx="1703388"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7"/>
          <p:cNvSpPr>
            <a:spLocks noChangeArrowheads="1"/>
          </p:cNvSpPr>
          <p:nvPr/>
        </p:nvSpPr>
        <p:spPr bwMode="auto">
          <a:xfrm>
            <a:off x="6975952" y="3079885"/>
            <a:ext cx="233362" cy="519351"/>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Rectangle 20"/>
          <p:cNvSpPr>
            <a:spLocks noChangeArrowheads="1"/>
          </p:cNvSpPr>
          <p:nvPr/>
        </p:nvSpPr>
        <p:spPr bwMode="auto">
          <a:xfrm>
            <a:off x="6384032" y="1268760"/>
            <a:ext cx="3736808"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两曲面的轮廓线相切时，过渡线在切点附近应断开</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7" name="Line 21"/>
          <p:cNvSpPr>
            <a:spLocks noChangeShapeType="1"/>
          </p:cNvSpPr>
          <p:nvPr/>
        </p:nvSpPr>
        <p:spPr bwMode="auto">
          <a:xfrm flipH="1">
            <a:off x="7158514" y="2189416"/>
            <a:ext cx="454025" cy="1055688"/>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8" name="Text Box 22"/>
          <p:cNvSpPr txBox="1">
            <a:spLocks noChangeArrowheads="1"/>
          </p:cNvSpPr>
          <p:nvPr/>
        </p:nvSpPr>
        <p:spPr bwMode="auto">
          <a:xfrm>
            <a:off x="3907314" y="4235704"/>
            <a:ext cx="2497138"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dirty="0">
                <a:solidFill>
                  <a:srgbClr val="000000"/>
                </a:solidFill>
                <a:latin typeface="微软雅黑" panose="020B0503020204020204" pitchFamily="34" charset="-122"/>
                <a:ea typeface="微软雅黑" panose="020B0503020204020204" pitchFamily="34" charset="-122"/>
              </a:rPr>
              <a:t>过渡线用</a:t>
            </a:r>
            <a:r>
              <a:rPr kumimoji="1" lang="zh-CN" altLang="en-US" sz="2000" b="1" dirty="0">
                <a:solidFill>
                  <a:srgbClr val="CC3300"/>
                </a:solidFill>
                <a:latin typeface="微软雅黑" panose="020B0503020204020204" pitchFamily="34" charset="-122"/>
                <a:ea typeface="微软雅黑" panose="020B0503020204020204" pitchFamily="34" charset="-122"/>
              </a:rPr>
              <a:t>细实线</a:t>
            </a:r>
            <a:r>
              <a:rPr kumimoji="1" lang="zh-CN" altLang="en-US" sz="2000" b="1" dirty="0">
                <a:solidFill>
                  <a:srgbClr val="000000"/>
                </a:solidFill>
                <a:latin typeface="微软雅黑" panose="020B0503020204020204" pitchFamily="34" charset="-122"/>
                <a:ea typeface="微软雅黑" panose="020B0503020204020204" pitchFamily="34" charset="-122"/>
              </a:rPr>
              <a:t>绘制</a:t>
            </a:r>
            <a:endParaRPr kumimoji="1" lang="zh-CN" altLang="en-US" sz="2000" b="1" dirty="0">
              <a:solidFill>
                <a:srgbClr val="000000"/>
              </a:solidFill>
              <a:latin typeface="微软雅黑" panose="020B0503020204020204" pitchFamily="34" charset="-122"/>
              <a:ea typeface="微软雅黑" panose="020B0503020204020204" pitchFamily="34" charset="-122"/>
            </a:endParaRPr>
          </a:p>
        </p:txBody>
      </p:sp>
      <p:grpSp>
        <p:nvGrpSpPr>
          <p:cNvPr id="9" name="Group 30"/>
          <p:cNvGrpSpPr/>
          <p:nvPr/>
        </p:nvGrpSpPr>
        <p:grpSpPr bwMode="auto">
          <a:xfrm>
            <a:off x="6517164" y="2625977"/>
            <a:ext cx="1160463" cy="522286"/>
            <a:chOff x="3299" y="1779"/>
            <a:chExt cx="731" cy="329"/>
          </a:xfrm>
        </p:grpSpPr>
        <p:sp>
          <p:nvSpPr>
            <p:cNvPr id="10" name="Oval 31"/>
            <p:cNvSpPr>
              <a:spLocks noChangeArrowheads="1"/>
            </p:cNvSpPr>
            <p:nvPr/>
          </p:nvSpPr>
          <p:spPr bwMode="auto">
            <a:xfrm>
              <a:off x="3875" y="1781"/>
              <a:ext cx="155" cy="327"/>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1" name="Oval 32"/>
            <p:cNvSpPr>
              <a:spLocks noChangeArrowheads="1"/>
            </p:cNvSpPr>
            <p:nvPr/>
          </p:nvSpPr>
          <p:spPr bwMode="auto">
            <a:xfrm>
              <a:off x="3299" y="1779"/>
              <a:ext cx="155" cy="327"/>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12" name="Picture 49"/>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22989" y="2554541"/>
            <a:ext cx="3065463"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3"/>
          <p:cNvGrpSpPr/>
          <p:nvPr/>
        </p:nvGrpSpPr>
        <p:grpSpPr bwMode="auto">
          <a:xfrm>
            <a:off x="3283427" y="3078416"/>
            <a:ext cx="3549650" cy="1160463"/>
            <a:chOff x="1253" y="1984"/>
            <a:chExt cx="2236" cy="731"/>
          </a:xfrm>
        </p:grpSpPr>
        <p:sp>
          <p:nvSpPr>
            <p:cNvPr id="14" name="Line 24"/>
            <p:cNvSpPr>
              <a:spLocks noChangeShapeType="1"/>
            </p:cNvSpPr>
            <p:nvPr/>
          </p:nvSpPr>
          <p:spPr bwMode="auto">
            <a:xfrm flipH="1" flipV="1">
              <a:off x="1253" y="1984"/>
              <a:ext cx="1060" cy="731"/>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15" name="Line 25"/>
            <p:cNvSpPr>
              <a:spLocks noChangeShapeType="1"/>
            </p:cNvSpPr>
            <p:nvPr/>
          </p:nvSpPr>
          <p:spPr bwMode="auto">
            <a:xfrm flipV="1">
              <a:off x="2312" y="2005"/>
              <a:ext cx="1177" cy="710"/>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2119209" y="1312581"/>
            <a:ext cx="4413830" cy="1553110"/>
            <a:chOff x="2014171" y="916424"/>
            <a:chExt cx="4413830" cy="1553110"/>
          </a:xfrm>
        </p:grpSpPr>
        <p:sp>
          <p:nvSpPr>
            <p:cNvPr id="18" name="Rectangle 19"/>
            <p:cNvSpPr>
              <a:spLocks noChangeArrowheads="1"/>
            </p:cNvSpPr>
            <p:nvPr/>
          </p:nvSpPr>
          <p:spPr bwMode="auto">
            <a:xfrm>
              <a:off x="2014171" y="916424"/>
              <a:ext cx="3471438" cy="94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微软雅黑" panose="020B0503020204020204" pitchFamily="34" charset="-122"/>
                  <a:ea typeface="微软雅黑" panose="020B0503020204020204" pitchFamily="34" charset="-122"/>
                </a:rPr>
                <a:t>两曲面相交时，过渡线不应与圆角轮廓线接触</a:t>
              </a:r>
              <a:endParaRPr kumimoji="1" lang="zh-CN" altLang="en-US" sz="2400" dirty="0">
                <a:solidFill>
                  <a:srgbClr val="000000"/>
                </a:solidFill>
                <a:latin typeface="微软雅黑" panose="020B0503020204020204" pitchFamily="34" charset="-122"/>
                <a:ea typeface="微软雅黑" panose="020B0503020204020204" pitchFamily="34" charset="-122"/>
              </a:endParaRPr>
            </a:p>
          </p:txBody>
        </p:sp>
        <p:grpSp>
          <p:nvGrpSpPr>
            <p:cNvPr id="19" name="Group 27"/>
            <p:cNvGrpSpPr/>
            <p:nvPr/>
          </p:nvGrpSpPr>
          <p:grpSpPr bwMode="auto">
            <a:xfrm>
              <a:off x="3487951" y="1799609"/>
              <a:ext cx="2940050" cy="669925"/>
              <a:chOff x="1457" y="1510"/>
              <a:chExt cx="1852" cy="392"/>
            </a:xfrm>
          </p:grpSpPr>
          <p:sp>
            <p:nvSpPr>
              <p:cNvPr id="20" name="Line 28"/>
              <p:cNvSpPr>
                <a:spLocks noChangeShapeType="1"/>
              </p:cNvSpPr>
              <p:nvPr/>
            </p:nvSpPr>
            <p:spPr bwMode="auto">
              <a:xfrm flipH="1">
                <a:off x="1457" y="1510"/>
                <a:ext cx="563" cy="392"/>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21" name="Line 29"/>
              <p:cNvSpPr>
                <a:spLocks noChangeShapeType="1"/>
              </p:cNvSpPr>
              <p:nvPr/>
            </p:nvSpPr>
            <p:spPr bwMode="auto">
              <a:xfrm>
                <a:off x="2016" y="1510"/>
                <a:ext cx="1293" cy="392"/>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latin typeface="微软雅黑" panose="020B0503020204020204" pitchFamily="34" charset="-122"/>
                  <a:ea typeface="微软雅黑" panose="020B0503020204020204" pitchFamily="34" charset="-122"/>
                </a:endParaRPr>
              </a:p>
            </p:txBody>
          </p:sp>
        </p:grpSp>
      </p:grpSp>
      <p:grpSp>
        <p:nvGrpSpPr>
          <p:cNvPr id="22" name="Group 8"/>
          <p:cNvGrpSpPr/>
          <p:nvPr/>
        </p:nvGrpSpPr>
        <p:grpSpPr bwMode="auto">
          <a:xfrm>
            <a:off x="2623027" y="2625977"/>
            <a:ext cx="989012" cy="522286"/>
            <a:chOff x="781" y="1732"/>
            <a:chExt cx="596" cy="329"/>
          </a:xfrm>
        </p:grpSpPr>
        <p:sp>
          <p:nvSpPr>
            <p:cNvPr id="23" name="Oval 9"/>
            <p:cNvSpPr>
              <a:spLocks noChangeArrowheads="1"/>
            </p:cNvSpPr>
            <p:nvPr/>
          </p:nvSpPr>
          <p:spPr bwMode="auto">
            <a:xfrm>
              <a:off x="1222" y="1734"/>
              <a:ext cx="155" cy="327"/>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Oval 10"/>
            <p:cNvSpPr>
              <a:spLocks noChangeArrowheads="1"/>
            </p:cNvSpPr>
            <p:nvPr/>
          </p:nvSpPr>
          <p:spPr bwMode="auto">
            <a:xfrm>
              <a:off x="781" y="1732"/>
              <a:ext cx="155" cy="327"/>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11824" y="2636912"/>
            <a:ext cx="2809875"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2824" y="4162500"/>
            <a:ext cx="140652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6977211" y="1818711"/>
            <a:ext cx="4482863" cy="1564326"/>
            <a:chOff x="6803835" y="1338477"/>
            <a:chExt cx="4482863" cy="1564326"/>
          </a:xfrm>
        </p:grpSpPr>
        <p:sp>
          <p:nvSpPr>
            <p:cNvPr id="5" name="Line 8"/>
            <p:cNvSpPr>
              <a:spLocks noChangeShapeType="1"/>
            </p:cNvSpPr>
            <p:nvPr/>
          </p:nvSpPr>
          <p:spPr bwMode="auto">
            <a:xfrm flipH="1">
              <a:off x="6803835" y="2023328"/>
              <a:ext cx="1204913" cy="879475"/>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 name="Rectangle 18"/>
            <p:cNvSpPr>
              <a:spLocks noChangeArrowheads="1"/>
            </p:cNvSpPr>
            <p:nvPr/>
          </p:nvSpPr>
          <p:spPr bwMode="auto">
            <a:xfrm>
              <a:off x="8008747" y="1338477"/>
              <a:ext cx="3277951"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mn-ea"/>
                  <a:ea typeface="+mn-ea"/>
                </a:rPr>
                <a:t>画过渡圆弧，其弯向与铸造圆角的弯向一致。</a:t>
              </a:r>
              <a:endParaRPr kumimoji="1" lang="zh-CN" altLang="en-US" sz="2400" dirty="0">
                <a:solidFill>
                  <a:srgbClr val="000000"/>
                </a:solidFill>
                <a:latin typeface="+mn-ea"/>
                <a:ea typeface="+mn-ea"/>
              </a:endParaRPr>
            </a:p>
          </p:txBody>
        </p:sp>
      </p:grpSp>
      <p:sp>
        <p:nvSpPr>
          <p:cNvPr id="7" name="Text Box 20"/>
          <p:cNvSpPr txBox="1">
            <a:spLocks noChangeArrowheads="1"/>
          </p:cNvSpPr>
          <p:nvPr/>
        </p:nvSpPr>
        <p:spPr bwMode="auto">
          <a:xfrm>
            <a:off x="455761" y="1480128"/>
            <a:ext cx="546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dirty="0">
                <a:solidFill>
                  <a:srgbClr val="000000"/>
                </a:solidFill>
                <a:latin typeface="+mn-ea"/>
                <a:ea typeface="+mn-ea"/>
              </a:rPr>
              <a:t>两平面、平面与曲面之间过渡线</a:t>
            </a:r>
            <a:endParaRPr kumimoji="1" lang="zh-CN" altLang="en-US" sz="2800" dirty="0">
              <a:solidFill>
                <a:srgbClr val="000000"/>
              </a:solidFill>
              <a:latin typeface="+mn-ea"/>
              <a:ea typeface="+mn-ea"/>
            </a:endParaRPr>
          </a:p>
        </p:txBody>
      </p:sp>
      <p:grpSp>
        <p:nvGrpSpPr>
          <p:cNvPr id="8" name="组合 7"/>
          <p:cNvGrpSpPr/>
          <p:nvPr/>
        </p:nvGrpSpPr>
        <p:grpSpPr>
          <a:xfrm>
            <a:off x="2147017" y="4795912"/>
            <a:ext cx="3190307" cy="1117601"/>
            <a:chOff x="1973641" y="4315678"/>
            <a:chExt cx="3190307" cy="1117601"/>
          </a:xfrm>
        </p:grpSpPr>
        <p:sp>
          <p:nvSpPr>
            <p:cNvPr id="9" name="Rectangle 29"/>
            <p:cNvSpPr>
              <a:spLocks noChangeArrowheads="1"/>
            </p:cNvSpPr>
            <p:nvPr/>
          </p:nvSpPr>
          <p:spPr bwMode="auto">
            <a:xfrm>
              <a:off x="1973641" y="4897748"/>
              <a:ext cx="3190307"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mn-ea"/>
                  <a:ea typeface="+mn-ea"/>
                </a:rPr>
                <a:t>过渡线在转角处断开</a:t>
              </a:r>
              <a:endParaRPr kumimoji="1" lang="zh-CN" altLang="en-US" sz="2400" dirty="0">
                <a:solidFill>
                  <a:srgbClr val="000000"/>
                </a:solidFill>
                <a:latin typeface="+mn-ea"/>
                <a:ea typeface="+mn-ea"/>
              </a:endParaRPr>
            </a:p>
          </p:txBody>
        </p:sp>
        <p:sp>
          <p:nvSpPr>
            <p:cNvPr id="10" name="Line 30"/>
            <p:cNvSpPr>
              <a:spLocks noChangeShapeType="1"/>
            </p:cNvSpPr>
            <p:nvPr/>
          </p:nvSpPr>
          <p:spPr bwMode="auto">
            <a:xfrm flipV="1">
              <a:off x="4124929" y="4315678"/>
              <a:ext cx="500063" cy="514350"/>
            </a:xfrm>
            <a:prstGeom prst="line">
              <a:avLst/>
            </a:prstGeom>
            <a:noFill/>
            <a:ln w="127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11" name="Group 31"/>
          <p:cNvGrpSpPr/>
          <p:nvPr/>
        </p:nvGrpSpPr>
        <p:grpSpPr bwMode="auto">
          <a:xfrm>
            <a:off x="4794399" y="2678187"/>
            <a:ext cx="2235200" cy="2125663"/>
            <a:chOff x="839" y="1780"/>
            <a:chExt cx="1408" cy="1339"/>
          </a:xfrm>
        </p:grpSpPr>
        <p:grpSp>
          <p:nvGrpSpPr>
            <p:cNvPr id="12" name="Group 32"/>
            <p:cNvGrpSpPr/>
            <p:nvPr/>
          </p:nvGrpSpPr>
          <p:grpSpPr bwMode="auto">
            <a:xfrm>
              <a:off x="839" y="2809"/>
              <a:ext cx="140" cy="310"/>
              <a:chOff x="839" y="2557"/>
              <a:chExt cx="140" cy="310"/>
            </a:xfrm>
          </p:grpSpPr>
          <p:sp>
            <p:nvSpPr>
              <p:cNvPr id="24" name="Oval 33"/>
              <p:cNvSpPr>
                <a:spLocks noChangeArrowheads="1"/>
              </p:cNvSpPr>
              <p:nvPr/>
            </p:nvSpPr>
            <p:spPr bwMode="auto">
              <a:xfrm>
                <a:off x="839" y="2557"/>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Oval 34"/>
              <p:cNvSpPr>
                <a:spLocks noChangeArrowheads="1"/>
              </p:cNvSpPr>
              <p:nvPr/>
            </p:nvSpPr>
            <p:spPr bwMode="auto">
              <a:xfrm>
                <a:off x="840" y="2735"/>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3" name="Group 35"/>
            <p:cNvGrpSpPr/>
            <p:nvPr/>
          </p:nvGrpSpPr>
          <p:grpSpPr bwMode="auto">
            <a:xfrm>
              <a:off x="1930" y="2178"/>
              <a:ext cx="317" cy="133"/>
              <a:chOff x="1930" y="1926"/>
              <a:chExt cx="317" cy="133"/>
            </a:xfrm>
          </p:grpSpPr>
          <p:sp>
            <p:nvSpPr>
              <p:cNvPr id="22" name="Oval 36"/>
              <p:cNvSpPr>
                <a:spLocks noChangeArrowheads="1"/>
              </p:cNvSpPr>
              <p:nvPr/>
            </p:nvSpPr>
            <p:spPr bwMode="auto">
              <a:xfrm>
                <a:off x="1930" y="1926"/>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Oval 37"/>
              <p:cNvSpPr>
                <a:spLocks noChangeArrowheads="1"/>
              </p:cNvSpPr>
              <p:nvPr/>
            </p:nvSpPr>
            <p:spPr bwMode="auto">
              <a:xfrm>
                <a:off x="2108" y="1927"/>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4" name="Group 38"/>
            <p:cNvGrpSpPr/>
            <p:nvPr/>
          </p:nvGrpSpPr>
          <p:grpSpPr bwMode="auto">
            <a:xfrm>
              <a:off x="1239" y="2804"/>
              <a:ext cx="140" cy="310"/>
              <a:chOff x="839" y="2557"/>
              <a:chExt cx="140" cy="310"/>
            </a:xfrm>
          </p:grpSpPr>
          <p:sp>
            <p:nvSpPr>
              <p:cNvPr id="20" name="Oval 39"/>
              <p:cNvSpPr>
                <a:spLocks noChangeArrowheads="1"/>
              </p:cNvSpPr>
              <p:nvPr/>
            </p:nvSpPr>
            <p:spPr bwMode="auto">
              <a:xfrm>
                <a:off x="839" y="2557"/>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Oval 40"/>
              <p:cNvSpPr>
                <a:spLocks noChangeArrowheads="1"/>
              </p:cNvSpPr>
              <p:nvPr/>
            </p:nvSpPr>
            <p:spPr bwMode="auto">
              <a:xfrm>
                <a:off x="840" y="2735"/>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5" name="Oval 41"/>
            <p:cNvSpPr>
              <a:spLocks noChangeArrowheads="1"/>
            </p:cNvSpPr>
            <p:nvPr/>
          </p:nvSpPr>
          <p:spPr bwMode="auto">
            <a:xfrm>
              <a:off x="841" y="2184"/>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7" name="Group 42"/>
            <p:cNvGrpSpPr/>
            <p:nvPr/>
          </p:nvGrpSpPr>
          <p:grpSpPr bwMode="auto">
            <a:xfrm>
              <a:off x="1928" y="1780"/>
              <a:ext cx="317" cy="133"/>
              <a:chOff x="1930" y="1926"/>
              <a:chExt cx="317" cy="133"/>
            </a:xfrm>
          </p:grpSpPr>
          <p:sp>
            <p:nvSpPr>
              <p:cNvPr id="18" name="Oval 43"/>
              <p:cNvSpPr>
                <a:spLocks noChangeArrowheads="1"/>
              </p:cNvSpPr>
              <p:nvPr/>
            </p:nvSpPr>
            <p:spPr bwMode="auto">
              <a:xfrm>
                <a:off x="1930" y="1926"/>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 name="Oval 44"/>
              <p:cNvSpPr>
                <a:spLocks noChangeArrowheads="1"/>
              </p:cNvSpPr>
              <p:nvPr/>
            </p:nvSpPr>
            <p:spPr bwMode="auto">
              <a:xfrm>
                <a:off x="2108" y="1927"/>
                <a:ext cx="139" cy="132"/>
              </a:xfrm>
              <a:prstGeom prst="ellipse">
                <a:avLst/>
              </a:prstGeom>
              <a:noFill/>
              <a:ln w="12700">
                <a:solidFill>
                  <a:srgbClr val="FF0000"/>
                </a:solidFill>
                <a:round/>
                <a:tailEnd type="none" w="sm" len="lg"/>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grpSp>
        <p:nvGrpSpPr>
          <p:cNvPr id="26" name="Group 45"/>
          <p:cNvGrpSpPr/>
          <p:nvPr/>
        </p:nvGrpSpPr>
        <p:grpSpPr bwMode="auto">
          <a:xfrm>
            <a:off x="6191399" y="4341887"/>
            <a:ext cx="935037" cy="600075"/>
            <a:chOff x="1719" y="2828"/>
            <a:chExt cx="589" cy="378"/>
          </a:xfrm>
        </p:grpSpPr>
        <p:sp>
          <p:nvSpPr>
            <p:cNvPr id="27" name="Line 46"/>
            <p:cNvSpPr>
              <a:spLocks noChangeShapeType="1"/>
            </p:cNvSpPr>
            <p:nvPr/>
          </p:nvSpPr>
          <p:spPr bwMode="auto">
            <a:xfrm>
              <a:off x="1894" y="3062"/>
              <a:ext cx="55" cy="144"/>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8" name="Text Box 47"/>
            <p:cNvSpPr txBox="1">
              <a:spLocks noChangeArrowheads="1"/>
            </p:cNvSpPr>
            <p:nvPr/>
          </p:nvSpPr>
          <p:spPr bwMode="auto">
            <a:xfrm>
              <a:off x="1719" y="2828"/>
              <a:ext cx="58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b="1">
                  <a:solidFill>
                    <a:srgbClr val="000000"/>
                  </a:solidFill>
                  <a:latin typeface="Times New Roman" panose="02020603050405020304" pitchFamily="18" charset="0"/>
                  <a:ea typeface="黑体" panose="02010609060101010101" pitchFamily="2" charset="-122"/>
                </a:rPr>
                <a:t>弯向</a:t>
              </a:r>
              <a:endParaRPr kumimoji="1" lang="zh-CN" altLang="en-US" sz="1800" b="1">
                <a:solidFill>
                  <a:srgbClr val="000000"/>
                </a:solidFill>
                <a:latin typeface="Times New Roman" panose="02020603050405020304" pitchFamily="18" charset="0"/>
                <a:ea typeface="黑体" panose="02010609060101010101" pitchFamily="2" charset="-122"/>
              </a:endParaRPr>
            </a:p>
          </p:txBody>
        </p:sp>
        <p:sp>
          <p:nvSpPr>
            <p:cNvPr id="29" name="Line 50"/>
            <p:cNvSpPr>
              <a:spLocks noChangeShapeType="1"/>
            </p:cNvSpPr>
            <p:nvPr/>
          </p:nvSpPr>
          <p:spPr bwMode="auto">
            <a:xfrm flipV="1">
              <a:off x="2099" y="2868"/>
              <a:ext cx="160" cy="39"/>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3999813"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12.2 </a:t>
            </a:r>
            <a:r>
              <a:rPr lang="zh-CN" altLang="en-US" sz="3200" dirty="0">
                <a:solidFill>
                  <a:srgbClr val="FFFFFF"/>
                </a:solidFill>
                <a:latin typeface="微软雅黑" panose="020B0503020204020204" pitchFamily="34" charset="-122"/>
                <a:ea typeface="微软雅黑" panose="020B0503020204020204" pitchFamily="34" charset="-122"/>
              </a:rPr>
              <a:t>视图选择与绘制</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816871" y="1788341"/>
            <a:ext cx="11464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0" fontAlgn="base" hangingPunct="0">
              <a:spcBef>
                <a:spcPct val="0"/>
              </a:spcBef>
              <a:spcAft>
                <a:spcPct val="0"/>
              </a:spcAft>
              <a:buFont typeface="Wingdings" panose="05000000000000000000" pitchFamily="2" charset="2"/>
              <a:buChar char="l"/>
            </a:pPr>
            <a:r>
              <a:rPr kumimoji="1" lang="zh-CN" altLang="en-US" sz="2400" dirty="0">
                <a:solidFill>
                  <a:srgbClr val="080808"/>
                </a:solidFill>
                <a:latin typeface="微软雅黑" panose="020B0503020204020204" pitchFamily="34" charset="-122"/>
                <a:ea typeface="微软雅黑" panose="020B0503020204020204" pitchFamily="34" charset="-122"/>
              </a:rPr>
              <a:t>倒角</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sp>
        <p:nvSpPr>
          <p:cNvPr id="3" name="Text Box 3"/>
          <p:cNvSpPr txBox="1">
            <a:spLocks noChangeArrowheads="1"/>
          </p:cNvSpPr>
          <p:nvPr/>
        </p:nvSpPr>
        <p:spPr bwMode="auto">
          <a:xfrm>
            <a:off x="6226987" y="2420888"/>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80808"/>
                </a:solidFill>
                <a:latin typeface="微软雅黑" panose="020B0503020204020204" pitchFamily="34" charset="-122"/>
                <a:ea typeface="微软雅黑" panose="020B0503020204020204" pitchFamily="34" charset="-122"/>
              </a:rPr>
              <a:t>通常在轴及孔端部倒角。</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sp>
        <p:nvSpPr>
          <p:cNvPr id="4" name="Text Box 4"/>
          <p:cNvSpPr txBox="1">
            <a:spLocks noChangeArrowheads="1"/>
          </p:cNvSpPr>
          <p:nvPr/>
        </p:nvSpPr>
        <p:spPr bwMode="auto">
          <a:xfrm>
            <a:off x="1847528" y="2420888"/>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80808"/>
                </a:solidFill>
                <a:latin typeface="微软雅黑" panose="020B0503020204020204" pitchFamily="34" charset="-122"/>
                <a:ea typeface="微软雅黑" panose="020B0503020204020204" pitchFamily="34" charset="-122"/>
              </a:rPr>
              <a:t>作用：便于装配和操作安全。</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grpSp>
        <p:nvGrpSpPr>
          <p:cNvPr id="5" name="Group 6"/>
          <p:cNvGrpSpPr/>
          <p:nvPr/>
        </p:nvGrpSpPr>
        <p:grpSpPr bwMode="auto">
          <a:xfrm>
            <a:off x="4373541" y="3125537"/>
            <a:ext cx="3886200" cy="1619250"/>
            <a:chOff x="1615" y="1519"/>
            <a:chExt cx="2448" cy="1020"/>
          </a:xfrm>
        </p:grpSpPr>
        <p:sp>
          <p:nvSpPr>
            <p:cNvPr id="6" name="Text Box 7"/>
            <p:cNvSpPr txBox="1">
              <a:spLocks noChangeArrowheads="1"/>
            </p:cNvSpPr>
            <p:nvPr/>
          </p:nvSpPr>
          <p:spPr bwMode="auto">
            <a:xfrm>
              <a:off x="1940" y="1519"/>
              <a:ext cx="27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3200" i="1" u="none" strike="noStrike" kern="0" cap="none" spc="0" normalizeH="0" baseline="0" noProof="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rPr>
                <a:t></a:t>
              </a:r>
              <a:endParaRPr kumimoji="1" lang="en-US" altLang="zh-CN" sz="3200" i="1" u="none" strike="noStrike" kern="0" cap="none" spc="0" normalizeH="0" baseline="0" noProof="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endParaRPr>
            </a:p>
          </p:txBody>
        </p:sp>
        <p:grpSp>
          <p:nvGrpSpPr>
            <p:cNvPr id="7" name="Group 8"/>
            <p:cNvGrpSpPr/>
            <p:nvPr/>
          </p:nvGrpSpPr>
          <p:grpSpPr bwMode="auto">
            <a:xfrm>
              <a:off x="1615" y="1573"/>
              <a:ext cx="2448" cy="966"/>
              <a:chOff x="1615" y="1573"/>
              <a:chExt cx="2448" cy="966"/>
            </a:xfrm>
          </p:grpSpPr>
          <p:sp>
            <p:nvSpPr>
              <p:cNvPr id="8" name="Text Box 9"/>
              <p:cNvSpPr txBox="1">
                <a:spLocks noChangeArrowheads="1"/>
              </p:cNvSpPr>
              <p:nvPr/>
            </p:nvSpPr>
            <p:spPr bwMode="auto">
              <a:xfrm>
                <a:off x="1638" y="1573"/>
                <a:ext cx="43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50000"/>
                  </a:spcBef>
                  <a:spcAft>
                    <a:spcPct val="0"/>
                  </a:spcAft>
                  <a:buClrTx/>
                  <a:buSzTx/>
                  <a:buFontTx/>
                  <a:buNone/>
                  <a:defRPr/>
                </a:pPr>
                <a:r>
                  <a:rPr kumimoji="1" lang="en-US" altLang="zh-CN" sz="2800" i="1" u="none" strike="noStrike" kern="0" cap="none" spc="0" normalizeH="0" baseline="0" noProof="0">
                    <a:ln>
                      <a:noFill/>
                    </a:ln>
                    <a:solidFill>
                      <a:srgbClr val="FF3300"/>
                    </a:solidFill>
                    <a:effectLst/>
                    <a:uLnTx/>
                    <a:uFillTx/>
                    <a:latin typeface="ISOCPEUR" panose="020B0604020202020204" pitchFamily="34" charset="0"/>
                    <a:ea typeface="宋体" panose="02010600030101010101" pitchFamily="2" charset="-122"/>
                  </a:rPr>
                  <a:t>b</a:t>
                </a:r>
                <a:r>
                  <a:rPr kumimoji="1" lang="en-US" altLang="zh-CN" sz="2400" i="1" u="none" strike="noStrike" kern="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rPr>
                  <a:t>×</a:t>
                </a:r>
                <a:endParaRPr kumimoji="1" lang="en-US" altLang="zh-CN" sz="2800" i="1" u="none" strike="noStrike" kern="0" cap="none" spc="0" normalizeH="0" baseline="0" noProof="0">
                  <a:ln>
                    <a:noFill/>
                  </a:ln>
                  <a:solidFill>
                    <a:srgbClr val="FF3300"/>
                  </a:solidFill>
                  <a:effectLst/>
                  <a:uLnTx/>
                  <a:uFillTx/>
                  <a:latin typeface="ISOCP" panose="00000400000000000000" pitchFamily="2" charset="0"/>
                  <a:ea typeface="宋体" panose="02010600030101010101" pitchFamily="2" charset="-122"/>
                </a:endParaRPr>
              </a:p>
            </p:txBody>
          </p:sp>
          <p:sp>
            <p:nvSpPr>
              <p:cNvPr id="9" name="Line 10"/>
              <p:cNvSpPr>
                <a:spLocks noChangeShapeType="1"/>
              </p:cNvSpPr>
              <p:nvPr/>
            </p:nvSpPr>
            <p:spPr bwMode="auto">
              <a:xfrm flipH="1" flipV="1">
                <a:off x="2119" y="1829"/>
                <a:ext cx="192"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 name="Line 11"/>
              <p:cNvSpPr>
                <a:spLocks noChangeShapeType="1"/>
              </p:cNvSpPr>
              <p:nvPr/>
            </p:nvSpPr>
            <p:spPr bwMode="auto">
              <a:xfrm>
                <a:off x="1671" y="1829"/>
                <a:ext cx="453"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 name="Line 12"/>
              <p:cNvSpPr>
                <a:spLocks noChangeShapeType="1"/>
              </p:cNvSpPr>
              <p:nvPr/>
            </p:nvSpPr>
            <p:spPr bwMode="auto">
              <a:xfrm>
                <a:off x="1615" y="2248"/>
                <a:ext cx="817"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13"/>
              <p:cNvSpPr>
                <a:spLocks noChangeShapeType="1"/>
              </p:cNvSpPr>
              <p:nvPr/>
            </p:nvSpPr>
            <p:spPr bwMode="auto">
              <a:xfrm>
                <a:off x="1783" y="2009"/>
                <a:ext cx="52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Line 14"/>
              <p:cNvSpPr>
                <a:spLocks noChangeShapeType="1"/>
              </p:cNvSpPr>
              <p:nvPr/>
            </p:nvSpPr>
            <p:spPr bwMode="auto">
              <a:xfrm>
                <a:off x="2299" y="2009"/>
                <a:ext cx="0" cy="45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 name="Line 15"/>
              <p:cNvSpPr>
                <a:spLocks noChangeShapeType="1"/>
              </p:cNvSpPr>
              <p:nvPr/>
            </p:nvSpPr>
            <p:spPr bwMode="auto">
              <a:xfrm flipH="1">
                <a:off x="1735" y="2465"/>
                <a:ext cx="564"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5" name="Line 16"/>
              <p:cNvSpPr>
                <a:spLocks noChangeShapeType="1"/>
              </p:cNvSpPr>
              <p:nvPr/>
            </p:nvSpPr>
            <p:spPr bwMode="auto">
              <a:xfrm>
                <a:off x="2299" y="2002"/>
                <a:ext cx="60" cy="6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7" name="Line 17"/>
              <p:cNvSpPr>
                <a:spLocks noChangeShapeType="1"/>
              </p:cNvSpPr>
              <p:nvPr/>
            </p:nvSpPr>
            <p:spPr bwMode="auto">
              <a:xfrm>
                <a:off x="2359" y="2062"/>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8" name="Line 18"/>
              <p:cNvSpPr>
                <a:spLocks noChangeShapeType="1"/>
              </p:cNvSpPr>
              <p:nvPr/>
            </p:nvSpPr>
            <p:spPr bwMode="auto">
              <a:xfrm flipH="1">
                <a:off x="2287" y="2398"/>
                <a:ext cx="72" cy="7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9" name="Freeform 19"/>
              <p:cNvSpPr/>
              <p:nvPr/>
            </p:nvSpPr>
            <p:spPr bwMode="auto">
              <a:xfrm>
                <a:off x="1721" y="2009"/>
                <a:ext cx="74" cy="456"/>
              </a:xfrm>
              <a:custGeom>
                <a:avLst/>
                <a:gdLst>
                  <a:gd name="T0" fmla="*/ 74 w 74"/>
                  <a:gd name="T1" fmla="*/ 0 h 456"/>
                  <a:gd name="T2" fmla="*/ 26 w 74"/>
                  <a:gd name="T3" fmla="*/ 84 h 456"/>
                  <a:gd name="T4" fmla="*/ 38 w 74"/>
                  <a:gd name="T5" fmla="*/ 180 h 456"/>
                  <a:gd name="T6" fmla="*/ 2 w 74"/>
                  <a:gd name="T7" fmla="*/ 300 h 456"/>
                  <a:gd name="T8" fmla="*/ 26 w 74"/>
                  <a:gd name="T9" fmla="*/ 360 h 456"/>
                  <a:gd name="T10" fmla="*/ 26 w 74"/>
                  <a:gd name="T11" fmla="*/ 456 h 4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4" h="456">
                    <a:moveTo>
                      <a:pt x="74" y="0"/>
                    </a:moveTo>
                    <a:cubicBezTo>
                      <a:pt x="66" y="14"/>
                      <a:pt x="32" y="54"/>
                      <a:pt x="26" y="84"/>
                    </a:cubicBezTo>
                    <a:cubicBezTo>
                      <a:pt x="20" y="114"/>
                      <a:pt x="42" y="144"/>
                      <a:pt x="38" y="180"/>
                    </a:cubicBezTo>
                    <a:cubicBezTo>
                      <a:pt x="34" y="216"/>
                      <a:pt x="4" y="270"/>
                      <a:pt x="2" y="300"/>
                    </a:cubicBezTo>
                    <a:cubicBezTo>
                      <a:pt x="0" y="330"/>
                      <a:pt x="22" y="334"/>
                      <a:pt x="26" y="360"/>
                    </a:cubicBezTo>
                    <a:cubicBezTo>
                      <a:pt x="30" y="386"/>
                      <a:pt x="26" y="436"/>
                      <a:pt x="26" y="456"/>
                    </a:cubicBez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0" name="Line 20"/>
              <p:cNvSpPr>
                <a:spLocks noChangeShapeType="1"/>
              </p:cNvSpPr>
              <p:nvPr/>
            </p:nvSpPr>
            <p:spPr bwMode="auto">
              <a:xfrm>
                <a:off x="3091" y="1997"/>
                <a:ext cx="972"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1" name="Line 21"/>
              <p:cNvSpPr>
                <a:spLocks noChangeShapeType="1"/>
              </p:cNvSpPr>
              <p:nvPr/>
            </p:nvSpPr>
            <p:spPr bwMode="auto">
              <a:xfrm>
                <a:off x="3187" y="1601"/>
                <a:ext cx="0" cy="86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2" name="Line 22"/>
              <p:cNvSpPr>
                <a:spLocks noChangeShapeType="1"/>
              </p:cNvSpPr>
              <p:nvPr/>
            </p:nvSpPr>
            <p:spPr bwMode="auto">
              <a:xfrm>
                <a:off x="3955" y="1613"/>
                <a:ext cx="0" cy="81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Line 23"/>
              <p:cNvSpPr>
                <a:spLocks noChangeShapeType="1"/>
              </p:cNvSpPr>
              <p:nvPr/>
            </p:nvSpPr>
            <p:spPr bwMode="auto">
              <a:xfrm>
                <a:off x="3259" y="1769"/>
                <a:ext cx="6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4" name="Line 24"/>
              <p:cNvSpPr>
                <a:spLocks noChangeShapeType="1"/>
              </p:cNvSpPr>
              <p:nvPr/>
            </p:nvSpPr>
            <p:spPr bwMode="auto">
              <a:xfrm>
                <a:off x="3247" y="2249"/>
                <a:ext cx="66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5" name="Line 25"/>
              <p:cNvSpPr>
                <a:spLocks noChangeShapeType="1"/>
              </p:cNvSpPr>
              <p:nvPr/>
            </p:nvSpPr>
            <p:spPr bwMode="auto">
              <a:xfrm>
                <a:off x="3247" y="1769"/>
                <a:ext cx="0" cy="48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6" name="Line 26"/>
              <p:cNvSpPr>
                <a:spLocks noChangeShapeType="1"/>
              </p:cNvSpPr>
              <p:nvPr/>
            </p:nvSpPr>
            <p:spPr bwMode="auto">
              <a:xfrm>
                <a:off x="3895" y="1769"/>
                <a:ext cx="0" cy="48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Line 27"/>
              <p:cNvSpPr>
                <a:spLocks noChangeShapeType="1"/>
              </p:cNvSpPr>
              <p:nvPr/>
            </p:nvSpPr>
            <p:spPr bwMode="auto">
              <a:xfrm flipH="1" flipV="1">
                <a:off x="3187" y="1709"/>
                <a:ext cx="60" cy="6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8" name="Line 28"/>
              <p:cNvSpPr>
                <a:spLocks noChangeShapeType="1"/>
              </p:cNvSpPr>
              <p:nvPr/>
            </p:nvSpPr>
            <p:spPr bwMode="auto">
              <a:xfrm flipH="1">
                <a:off x="3187" y="2249"/>
                <a:ext cx="60" cy="6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9" name="Line 29"/>
              <p:cNvSpPr>
                <a:spLocks noChangeShapeType="1"/>
              </p:cNvSpPr>
              <p:nvPr/>
            </p:nvSpPr>
            <p:spPr bwMode="auto">
              <a:xfrm flipV="1">
                <a:off x="3895" y="1709"/>
                <a:ext cx="60" cy="6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0" name="Line 30"/>
              <p:cNvSpPr>
                <a:spLocks noChangeShapeType="1"/>
              </p:cNvSpPr>
              <p:nvPr/>
            </p:nvSpPr>
            <p:spPr bwMode="auto">
              <a:xfrm>
                <a:off x="3895" y="2249"/>
                <a:ext cx="60" cy="6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31" name="Group 31"/>
              <p:cNvGrpSpPr/>
              <p:nvPr/>
            </p:nvGrpSpPr>
            <p:grpSpPr bwMode="auto">
              <a:xfrm>
                <a:off x="3271" y="1613"/>
                <a:ext cx="612" cy="804"/>
                <a:chOff x="3271" y="1613"/>
                <a:chExt cx="612" cy="804"/>
              </a:xfrm>
            </p:grpSpPr>
            <p:sp>
              <p:nvSpPr>
                <p:cNvPr id="41" name="Line 32"/>
                <p:cNvSpPr>
                  <a:spLocks noChangeShapeType="1"/>
                </p:cNvSpPr>
                <p:nvPr/>
              </p:nvSpPr>
              <p:spPr bwMode="auto">
                <a:xfrm flipV="1">
                  <a:off x="3271" y="1625"/>
                  <a:ext cx="132" cy="13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2" name="Line 33"/>
                <p:cNvSpPr>
                  <a:spLocks noChangeShapeType="1"/>
                </p:cNvSpPr>
                <p:nvPr/>
              </p:nvSpPr>
              <p:spPr bwMode="auto">
                <a:xfrm flipV="1">
                  <a:off x="3463" y="1613"/>
                  <a:ext cx="156" cy="15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3" name="Line 34"/>
                <p:cNvSpPr>
                  <a:spLocks noChangeShapeType="1"/>
                </p:cNvSpPr>
                <p:nvPr/>
              </p:nvSpPr>
              <p:spPr bwMode="auto">
                <a:xfrm flipV="1">
                  <a:off x="3679" y="1625"/>
                  <a:ext cx="144" cy="14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Line 35"/>
                <p:cNvSpPr>
                  <a:spLocks noChangeShapeType="1"/>
                </p:cNvSpPr>
                <p:nvPr/>
              </p:nvSpPr>
              <p:spPr bwMode="auto">
                <a:xfrm flipV="1">
                  <a:off x="3295" y="2249"/>
                  <a:ext cx="156" cy="15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Line 36"/>
                <p:cNvSpPr>
                  <a:spLocks noChangeShapeType="1"/>
                </p:cNvSpPr>
                <p:nvPr/>
              </p:nvSpPr>
              <p:spPr bwMode="auto">
                <a:xfrm flipV="1">
                  <a:off x="3511" y="2237"/>
                  <a:ext cx="168" cy="16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6" name="Line 37"/>
                <p:cNvSpPr>
                  <a:spLocks noChangeShapeType="1"/>
                </p:cNvSpPr>
                <p:nvPr/>
              </p:nvSpPr>
              <p:spPr bwMode="auto">
                <a:xfrm flipV="1">
                  <a:off x="3727" y="2261"/>
                  <a:ext cx="156" cy="15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32" name="Line 38"/>
              <p:cNvSpPr>
                <a:spLocks noChangeShapeType="1"/>
              </p:cNvSpPr>
              <p:nvPr/>
            </p:nvSpPr>
            <p:spPr bwMode="auto">
              <a:xfrm>
                <a:off x="2927" y="1925"/>
                <a:ext cx="262"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Text Box 39"/>
              <p:cNvSpPr txBox="1">
                <a:spLocks noChangeArrowheads="1"/>
              </p:cNvSpPr>
              <p:nvPr/>
            </p:nvSpPr>
            <p:spPr bwMode="auto">
              <a:xfrm>
                <a:off x="2922" y="1665"/>
                <a:ext cx="24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2800" i="1" u="none" strike="noStrike" kern="0" cap="none" spc="0" normalizeH="0" baseline="0" noProof="0">
                    <a:ln>
                      <a:noFill/>
                    </a:ln>
                    <a:solidFill>
                      <a:srgbClr val="FF3300"/>
                    </a:solidFill>
                    <a:effectLst/>
                    <a:uLnTx/>
                    <a:uFillTx/>
                    <a:latin typeface="ISOCPEUR" panose="020B0604020202020204" pitchFamily="34" charset="0"/>
                    <a:ea typeface="宋体" panose="02010600030101010101" pitchFamily="2" charset="-122"/>
                  </a:rPr>
                  <a:t>b</a:t>
                </a:r>
                <a:endParaRPr kumimoji="1" lang="en-US" altLang="zh-CN" sz="2400" i="1" u="none" strike="noStrike" kern="0" cap="none" spc="0" normalizeH="0" baseline="0" noProof="0">
                  <a:ln>
                    <a:noFill/>
                  </a:ln>
                  <a:solidFill>
                    <a:srgbClr val="FF3300"/>
                  </a:solidFill>
                  <a:effectLst/>
                  <a:uLnTx/>
                  <a:uFillTx/>
                  <a:latin typeface="ISOCPEUR" panose="020B0604020202020204" pitchFamily="34" charset="0"/>
                  <a:ea typeface="宋体" panose="02010600030101010101" pitchFamily="2" charset="-122"/>
                </a:endParaRPr>
              </a:p>
            </p:txBody>
          </p:sp>
          <p:sp>
            <p:nvSpPr>
              <p:cNvPr id="34" name="Line 40"/>
              <p:cNvSpPr>
                <a:spLocks noChangeShapeType="1"/>
              </p:cNvSpPr>
              <p:nvPr/>
            </p:nvSpPr>
            <p:spPr bwMode="auto">
              <a:xfrm flipH="1">
                <a:off x="2971" y="2285"/>
                <a:ext cx="228" cy="22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5" name="Line 41"/>
              <p:cNvSpPr>
                <a:spLocks noChangeShapeType="1"/>
              </p:cNvSpPr>
              <p:nvPr/>
            </p:nvSpPr>
            <p:spPr bwMode="auto">
              <a:xfrm flipH="1">
                <a:off x="2887" y="2249"/>
                <a:ext cx="36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Arc 42"/>
              <p:cNvSpPr/>
              <p:nvPr/>
            </p:nvSpPr>
            <p:spPr bwMode="auto">
              <a:xfrm rot="-10208021">
                <a:off x="2926" y="2097"/>
                <a:ext cx="544" cy="398"/>
              </a:xfrm>
              <a:custGeom>
                <a:avLst/>
                <a:gdLst>
                  <a:gd name="T0" fmla="*/ 0 w 20410"/>
                  <a:gd name="T1" fmla="*/ 0 h 14930"/>
                  <a:gd name="T2" fmla="*/ 0 w 20410"/>
                  <a:gd name="T3" fmla="*/ 0 h 14930"/>
                  <a:gd name="T4" fmla="*/ 0 w 20410"/>
                  <a:gd name="T5" fmla="*/ 0 h 14930"/>
                  <a:gd name="T6" fmla="*/ 0 60000 65536"/>
                  <a:gd name="T7" fmla="*/ 0 60000 65536"/>
                  <a:gd name="T8" fmla="*/ 0 60000 65536"/>
                </a:gdLst>
                <a:ahLst/>
                <a:cxnLst>
                  <a:cxn ang="T6">
                    <a:pos x="T0" y="T1"/>
                  </a:cxn>
                  <a:cxn ang="T7">
                    <a:pos x="T2" y="T3"/>
                  </a:cxn>
                  <a:cxn ang="T8">
                    <a:pos x="T4" y="T5"/>
                  </a:cxn>
                </a:cxnLst>
                <a:rect l="0" t="0" r="r" b="b"/>
                <a:pathLst>
                  <a:path w="20410" h="14930" fill="none" extrusionOk="0">
                    <a:moveTo>
                      <a:pt x="15609" y="0"/>
                    </a:moveTo>
                    <a:cubicBezTo>
                      <a:pt x="17756" y="2244"/>
                      <a:pt x="19393" y="4925"/>
                      <a:pt x="20410" y="7860"/>
                    </a:cubicBezTo>
                  </a:path>
                  <a:path w="20410" h="14930" stroke="0" extrusionOk="0">
                    <a:moveTo>
                      <a:pt x="15609" y="0"/>
                    </a:moveTo>
                    <a:cubicBezTo>
                      <a:pt x="17756" y="2244"/>
                      <a:pt x="19393" y="4925"/>
                      <a:pt x="20410" y="7860"/>
                    </a:cubicBezTo>
                    <a:lnTo>
                      <a:pt x="0" y="14930"/>
                    </a:lnTo>
                    <a:lnTo>
                      <a:pt x="15609" y="0"/>
                    </a:lnTo>
                    <a:close/>
                  </a:path>
                </a:pathLst>
              </a:custGeom>
              <a:noFill/>
              <a:ln w="12700">
                <a:solidFill>
                  <a:srgbClr val="FF3300"/>
                </a:solidFill>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8" name="Text Box 43"/>
              <p:cNvSpPr txBox="1">
                <a:spLocks noChangeArrowheads="1"/>
              </p:cNvSpPr>
              <p:nvPr/>
            </p:nvSpPr>
            <p:spPr bwMode="auto">
              <a:xfrm>
                <a:off x="2707" y="2174"/>
                <a:ext cx="27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en-US" altLang="zh-CN" sz="3200" i="1" u="none" strike="noStrike" kern="0" cap="none" spc="0" normalizeH="0" baseline="0" noProof="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rPr>
                  <a:t></a:t>
                </a:r>
                <a:endParaRPr kumimoji="1" lang="en-US" altLang="zh-CN" sz="3200" i="1" u="none" strike="noStrike" kern="0" cap="none" spc="0" normalizeH="0" baseline="0" noProof="0">
                  <a:ln>
                    <a:noFill/>
                  </a:ln>
                  <a:solidFill>
                    <a:srgbClr val="FF3300"/>
                  </a:solidFill>
                  <a:effectLst/>
                  <a:uLnTx/>
                  <a:uFillTx/>
                  <a:latin typeface="宋体" panose="02010600030101010101" pitchFamily="2" charset="-122"/>
                  <a:ea typeface="宋体" panose="02010600030101010101" pitchFamily="2" charset="-122"/>
                  <a:sym typeface="Symbol" panose="05050102010706020507" pitchFamily="18" charset="2"/>
                </a:endParaRPr>
              </a:p>
            </p:txBody>
          </p:sp>
          <p:sp>
            <p:nvSpPr>
              <p:cNvPr id="39" name="Line 44"/>
              <p:cNvSpPr>
                <a:spLocks noChangeShapeType="1"/>
              </p:cNvSpPr>
              <p:nvPr/>
            </p:nvSpPr>
            <p:spPr bwMode="auto">
              <a:xfrm>
                <a:off x="3185" y="1927"/>
                <a:ext cx="6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Line 45"/>
              <p:cNvSpPr>
                <a:spLocks noChangeShapeType="1"/>
              </p:cNvSpPr>
              <p:nvPr/>
            </p:nvSpPr>
            <p:spPr bwMode="auto">
              <a:xfrm>
                <a:off x="3258" y="1928"/>
                <a:ext cx="167"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sp>
        <p:nvSpPr>
          <p:cNvPr id="47" name="Text Box 46"/>
          <p:cNvSpPr txBox="1">
            <a:spLocks noChangeArrowheads="1"/>
          </p:cNvSpPr>
          <p:nvPr/>
        </p:nvSpPr>
        <p:spPr bwMode="auto">
          <a:xfrm>
            <a:off x="3685152" y="5152175"/>
            <a:ext cx="52629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dirty="0">
                <a:solidFill>
                  <a:srgbClr val="080808"/>
                </a:solidFill>
                <a:latin typeface="微软雅黑" panose="020B0503020204020204" pitchFamily="34" charset="-122"/>
                <a:ea typeface="微软雅黑" panose="020B0503020204020204" pitchFamily="34" charset="-122"/>
              </a:rPr>
              <a:t>倒角宽度</a:t>
            </a:r>
            <a:r>
              <a:rPr kumimoji="1" lang="en-US" altLang="zh-CN" sz="2400" dirty="0">
                <a:solidFill>
                  <a:srgbClr val="080808"/>
                </a:solidFill>
                <a:latin typeface="微软雅黑" panose="020B0503020204020204" pitchFamily="34" charset="-122"/>
                <a:ea typeface="微软雅黑" panose="020B0503020204020204" pitchFamily="34" charset="-122"/>
              </a:rPr>
              <a:t>b</a:t>
            </a:r>
            <a:r>
              <a:rPr kumimoji="1" lang="zh-CN" altLang="en-US" sz="2400" dirty="0">
                <a:solidFill>
                  <a:srgbClr val="080808"/>
                </a:solidFill>
                <a:latin typeface="微软雅黑" panose="020B0503020204020204" pitchFamily="34" charset="-122"/>
                <a:ea typeface="微软雅黑" panose="020B0503020204020204" pitchFamily="34" charset="-122"/>
              </a:rPr>
              <a:t>按轴（孔）径查标准确定。</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sp>
        <p:nvSpPr>
          <p:cNvPr id="48" name="Text Box 47"/>
          <p:cNvSpPr txBox="1">
            <a:spLocks noChangeArrowheads="1"/>
          </p:cNvSpPr>
          <p:nvPr/>
        </p:nvSpPr>
        <p:spPr bwMode="auto">
          <a:xfrm>
            <a:off x="4359214" y="5720395"/>
            <a:ext cx="39148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en-US" altLang="zh-CN" sz="2400" dirty="0">
                <a:solidFill>
                  <a:srgbClr val="080808"/>
                </a:solidFill>
                <a:latin typeface="微软雅黑" panose="020B0503020204020204" pitchFamily="34" charset="-122"/>
                <a:ea typeface="微软雅黑" panose="020B0503020204020204" pitchFamily="34" charset="-122"/>
                <a:sym typeface="Symbol" panose="05050102010706020507" pitchFamily="18" charset="2"/>
              </a:rPr>
              <a:t></a:t>
            </a:r>
            <a:r>
              <a:rPr kumimoji="1" lang="en-US" altLang="zh-CN" sz="2400" dirty="0">
                <a:solidFill>
                  <a:srgbClr val="080808"/>
                </a:solidFill>
                <a:latin typeface="微软雅黑" panose="020B0503020204020204" pitchFamily="34" charset="-122"/>
                <a:ea typeface="微软雅黑" panose="020B0503020204020204" pitchFamily="34" charset="-122"/>
              </a:rPr>
              <a:t>=45°</a:t>
            </a:r>
            <a:r>
              <a:rPr kumimoji="1" lang="zh-CN" altLang="en-US" sz="2400" dirty="0">
                <a:solidFill>
                  <a:srgbClr val="080808"/>
                </a:solidFill>
                <a:latin typeface="微软雅黑" panose="020B0503020204020204" pitchFamily="34" charset="-122"/>
                <a:ea typeface="微软雅黑" panose="020B0503020204020204" pitchFamily="34" charset="-122"/>
              </a:rPr>
              <a:t>，也可取</a:t>
            </a:r>
            <a:r>
              <a:rPr kumimoji="1" lang="en-US" altLang="zh-CN" sz="2400" dirty="0">
                <a:solidFill>
                  <a:srgbClr val="080808"/>
                </a:solidFill>
                <a:latin typeface="微软雅黑" panose="020B0503020204020204" pitchFamily="34" charset="-122"/>
                <a:ea typeface="微软雅黑" panose="020B0503020204020204" pitchFamily="34" charset="-122"/>
              </a:rPr>
              <a:t>30°</a:t>
            </a:r>
            <a:r>
              <a:rPr kumimoji="1" lang="zh-CN" altLang="en-US" sz="2400" dirty="0">
                <a:solidFill>
                  <a:srgbClr val="080808"/>
                </a:solidFill>
                <a:latin typeface="微软雅黑" panose="020B0503020204020204" pitchFamily="34" charset="-122"/>
                <a:ea typeface="微软雅黑" panose="020B0503020204020204" pitchFamily="34" charset="-122"/>
              </a:rPr>
              <a:t>或</a:t>
            </a:r>
            <a:r>
              <a:rPr kumimoji="1" lang="en-US" altLang="zh-CN" sz="2400" dirty="0">
                <a:solidFill>
                  <a:srgbClr val="080808"/>
                </a:solidFill>
                <a:latin typeface="微软雅黑" panose="020B0503020204020204" pitchFamily="34" charset="-122"/>
                <a:ea typeface="微软雅黑" panose="020B0503020204020204" pitchFamily="34" charset="-122"/>
              </a:rPr>
              <a:t>60°</a:t>
            </a:r>
            <a:r>
              <a:rPr kumimoji="1" lang="zh-CN" altLang="en-US" sz="2400" dirty="0">
                <a:solidFill>
                  <a:srgbClr val="080808"/>
                </a:solidFill>
                <a:latin typeface="微软雅黑" panose="020B0503020204020204" pitchFamily="34" charset="-122"/>
                <a:ea typeface="微软雅黑" panose="020B0503020204020204" pitchFamily="34" charset="-122"/>
              </a:rPr>
              <a:t>。</a:t>
            </a:r>
            <a:endParaRPr kumimoji="1" lang="zh-CN" altLang="en-US" sz="2400" dirty="0">
              <a:solidFill>
                <a:srgbClr val="080808"/>
              </a:solidFill>
              <a:latin typeface="微软雅黑" panose="020B0503020204020204" pitchFamily="34" charset="-122"/>
              <a:ea typeface="微软雅黑" panose="020B0503020204020204" pitchFamily="34" charset="-122"/>
            </a:endParaRPr>
          </a:p>
        </p:txBody>
      </p:sp>
      <p:sp>
        <p:nvSpPr>
          <p:cNvPr id="49" name="Text Box 48"/>
          <p:cNvSpPr txBox="1">
            <a:spLocks noChangeArrowheads="1"/>
          </p:cNvSpPr>
          <p:nvPr/>
        </p:nvSpPr>
        <p:spPr bwMode="auto">
          <a:xfrm>
            <a:off x="314479" y="1223192"/>
            <a:ext cx="4398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0" fontAlgn="base" hangingPunct="0">
              <a:spcBef>
                <a:spcPts val="600"/>
              </a:spcBef>
              <a:spcAft>
                <a:spcPct val="0"/>
              </a:spcAft>
              <a:buNone/>
            </a:pPr>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机械加工工艺对结构的要求</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7" grpId="0"/>
      <p:bldP spid="4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idx="4294967295"/>
          </p:nvPr>
        </p:nvSpPr>
        <p:spPr>
          <a:xfrm>
            <a:off x="4066444" y="2727903"/>
            <a:ext cx="4059125" cy="830997"/>
          </a:xfrm>
          <a:solidFill>
            <a:schemeClr val="bg1"/>
          </a:solidFill>
        </p:spPr>
        <p:txBody>
          <a:bodyPr wrap="none">
            <a:spAutoFit/>
          </a:bodyPr>
          <a:lstStyle/>
          <a:p>
            <a:r>
              <a:rPr lang="en-US" altLang="zh-CN" sz="4800" dirty="0">
                <a:solidFill>
                  <a:schemeClr val="accent6">
                    <a:lumMod val="50000"/>
                  </a:schemeClr>
                </a:solidFill>
                <a:latin typeface="微软雅黑" panose="020B0503020204020204" pitchFamily="34" charset="-122"/>
                <a:ea typeface="微软雅黑" panose="020B0503020204020204" pitchFamily="34" charset="-122"/>
              </a:rPr>
              <a:t>12.3 </a:t>
            </a:r>
            <a:r>
              <a:rPr lang="zh-CN" altLang="en-US" sz="4800" dirty="0">
                <a:solidFill>
                  <a:schemeClr val="accent6">
                    <a:lumMod val="50000"/>
                  </a:schemeClr>
                </a:solidFill>
                <a:latin typeface="微软雅黑" panose="020B0503020204020204" pitchFamily="34" charset="-122"/>
                <a:ea typeface="微软雅黑" panose="020B0503020204020204" pitchFamily="34" charset="-122"/>
              </a:rPr>
              <a:t>技术要求</a:t>
            </a:r>
            <a:endParaRPr lang="zh-CN" altLang="en-US" sz="4800" dirty="0">
              <a:solidFill>
                <a:schemeClr val="accent6">
                  <a:lumMod val="50000"/>
                </a:schemeClr>
              </a:solidFill>
              <a:latin typeface="微软雅黑" panose="020B0503020204020204" pitchFamily="34" charset="-122"/>
              <a:ea typeface="微软雅黑" panose="020B0503020204020204" pitchFamily="34" charset="-122"/>
            </a:endParaRPr>
          </a:p>
        </p:txBody>
      </p:sp>
      <p:sp>
        <p:nvSpPr>
          <p:cNvPr id="2" name="Rectangle 2"/>
          <p:cNvSpPr/>
          <p:nvPr/>
        </p:nvSpPr>
        <p:spPr>
          <a:xfrm>
            <a:off x="2701879" y="1136817"/>
            <a:ext cx="582211" cy="584775"/>
          </a:xfrm>
          <a:prstGeom prst="rect">
            <a:avLst/>
          </a:prstGeom>
        </p:spPr>
        <p:txBody>
          <a:bodyPr wrap="none">
            <a:spAutoFit/>
          </a:bodyPr>
          <a:lstStyle/>
          <a:p>
            <a:pPr algn="ctr"/>
            <a:r>
              <a:rPr lang="en-US" altLang="zh-CN" sz="3200" b="1" dirty="0">
                <a:solidFill>
                  <a:srgbClr val="A50021"/>
                </a:solidFill>
                <a:latin typeface="华文新魏" panose="02010800040101010101" pitchFamily="2" charset="-122"/>
                <a:ea typeface="华文新魏" panose="02010800040101010101" pitchFamily="2" charset="-122"/>
              </a:rPr>
              <a:t>12</a:t>
            </a:r>
            <a:endParaRPr lang="zh-CN" altLang="en-US" sz="3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7"/>
          <p:cNvSpPr txBox="1">
            <a:spLocks noChangeArrowheads="1"/>
          </p:cNvSpPr>
          <p:nvPr/>
        </p:nvSpPr>
        <p:spPr bwMode="auto">
          <a:xfrm>
            <a:off x="1708211" y="2637431"/>
            <a:ext cx="244169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kumimoji="1" lang="zh-CN" altLang="en-US" sz="2800" dirty="0">
                <a:solidFill>
                  <a:srgbClr val="000000"/>
                </a:solidFill>
                <a:latin typeface="微软雅黑" panose="020B0503020204020204" pitchFamily="34" charset="-122"/>
                <a:ea typeface="微软雅黑" panose="020B0503020204020204" pitchFamily="34" charset="-122"/>
              </a:rPr>
              <a:t>表面结构</a:t>
            </a:r>
            <a:endParaRPr kumimoji="1" lang="en-US" altLang="zh-CN" sz="2800" dirty="0">
              <a:solidFill>
                <a:srgbClr val="000000"/>
              </a:solidFill>
              <a:latin typeface="微软雅黑" panose="020B0503020204020204" pitchFamily="34" charset="-122"/>
              <a:ea typeface="微软雅黑" panose="020B0503020204020204" pitchFamily="34" charset="-122"/>
            </a:endParaRPr>
          </a:p>
          <a:p>
            <a:pPr fontAlgn="base">
              <a:spcBef>
                <a:spcPct val="0"/>
              </a:spcBef>
              <a:spcAft>
                <a:spcPct val="0"/>
              </a:spcAft>
              <a:buFont typeface="Wingdings" panose="05000000000000000000" pitchFamily="2" charset="2"/>
              <a:buChar char="ü"/>
            </a:pPr>
            <a:endParaRPr kumimoji="1" lang="en-US" altLang="zh-CN" sz="2800" dirty="0">
              <a:solidFill>
                <a:srgbClr val="000000"/>
              </a:solidFill>
              <a:latin typeface="微软雅黑" panose="020B0503020204020204" pitchFamily="34" charset="-122"/>
              <a:ea typeface="微软雅黑" panose="020B0503020204020204" pitchFamily="34" charset="-122"/>
            </a:endParaRPr>
          </a:p>
          <a:p>
            <a:pPr fontAlgn="base">
              <a:spcBef>
                <a:spcPct val="0"/>
              </a:spcBef>
              <a:spcAft>
                <a:spcPct val="0"/>
              </a:spcAft>
              <a:buFont typeface="Wingdings" panose="05000000000000000000" pitchFamily="2" charset="2"/>
              <a:buChar char="ü"/>
            </a:pPr>
            <a:r>
              <a:rPr kumimoji="1" lang="zh-CN" altLang="en-US" sz="2800" dirty="0">
                <a:solidFill>
                  <a:srgbClr val="000000"/>
                </a:solidFill>
                <a:latin typeface="微软雅黑" panose="020B0503020204020204" pitchFamily="34" charset="-122"/>
                <a:ea typeface="微软雅黑" panose="020B0503020204020204" pitchFamily="34" charset="-122"/>
              </a:rPr>
              <a:t>极限和配合</a:t>
            </a:r>
            <a:endParaRPr kumimoji="1" lang="en-US" altLang="zh-CN" sz="2800" dirty="0">
              <a:solidFill>
                <a:srgbClr val="000000"/>
              </a:solidFill>
              <a:latin typeface="微软雅黑" panose="020B0503020204020204" pitchFamily="34" charset="-122"/>
              <a:ea typeface="微软雅黑" panose="020B0503020204020204" pitchFamily="34" charset="-122"/>
            </a:endParaRPr>
          </a:p>
          <a:p>
            <a:pPr fontAlgn="base">
              <a:spcBef>
                <a:spcPct val="0"/>
              </a:spcBef>
              <a:spcAft>
                <a:spcPct val="0"/>
              </a:spcAft>
              <a:buFont typeface="Wingdings" panose="05000000000000000000" pitchFamily="2" charset="2"/>
              <a:buChar char="ü"/>
            </a:pPr>
            <a:endParaRPr kumimoji="1" lang="en-US" altLang="zh-CN" sz="2800" dirty="0">
              <a:solidFill>
                <a:srgbClr val="000000"/>
              </a:solidFill>
              <a:latin typeface="微软雅黑" panose="020B0503020204020204" pitchFamily="34" charset="-122"/>
              <a:ea typeface="微软雅黑" panose="020B0503020204020204" pitchFamily="34" charset="-122"/>
            </a:endParaRPr>
          </a:p>
          <a:p>
            <a:pPr fontAlgn="base">
              <a:spcBef>
                <a:spcPct val="0"/>
              </a:spcBef>
              <a:spcAft>
                <a:spcPct val="0"/>
              </a:spcAft>
              <a:buFont typeface="Wingdings" panose="05000000000000000000" pitchFamily="2" charset="2"/>
              <a:buChar char="ü"/>
            </a:pPr>
            <a:r>
              <a:rPr kumimoji="1" lang="zh-CN" altLang="en-US" sz="2800" dirty="0">
                <a:solidFill>
                  <a:srgbClr val="000000"/>
                </a:solidFill>
                <a:latin typeface="微软雅黑" panose="020B0503020204020204" pitchFamily="34" charset="-122"/>
                <a:ea typeface="微软雅黑" panose="020B0503020204020204" pitchFamily="34" charset="-122"/>
              </a:rPr>
              <a:t>几何公差</a:t>
            </a:r>
            <a:endParaRPr kumimoji="1" lang="zh-CN" altLang="en-US" sz="2800" dirty="0">
              <a:solidFill>
                <a:srgbClr val="000000"/>
              </a:solidFill>
              <a:latin typeface="微软雅黑" panose="020B0503020204020204" pitchFamily="34" charset="-122"/>
              <a:ea typeface="微软雅黑" panose="020B0503020204020204" pitchFamily="34" charset="-122"/>
            </a:endParaRPr>
          </a:p>
        </p:txBody>
      </p:sp>
      <p:sp>
        <p:nvSpPr>
          <p:cNvPr id="3" name="Text Box 8"/>
          <p:cNvSpPr txBox="1">
            <a:spLocks noChangeArrowheads="1"/>
          </p:cNvSpPr>
          <p:nvPr/>
        </p:nvSpPr>
        <p:spPr bwMode="auto">
          <a:xfrm>
            <a:off x="642649" y="1555581"/>
            <a:ext cx="101500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800" dirty="0">
                <a:solidFill>
                  <a:srgbClr val="000000"/>
                </a:solidFill>
                <a:latin typeface="微软雅黑" panose="020B0503020204020204" pitchFamily="34" charset="-122"/>
                <a:ea typeface="微软雅黑" panose="020B0503020204020204" pitchFamily="34" charset="-122"/>
              </a:rPr>
              <a:t>      </a:t>
            </a:r>
            <a:r>
              <a:rPr kumimoji="1" lang="zh-CN" altLang="en-US" sz="2800" dirty="0">
                <a:solidFill>
                  <a:srgbClr val="000000"/>
                </a:solidFill>
                <a:latin typeface="微软雅黑" panose="020B0503020204020204" pitchFamily="34" charset="-122"/>
                <a:ea typeface="微软雅黑" panose="020B0503020204020204" pitchFamily="34" charset="-122"/>
              </a:rPr>
              <a:t>技术要求用来说明零件在制造和检验时应达到的质量标准。</a:t>
            </a:r>
            <a:endParaRPr kumimoji="1" lang="zh-CN" altLang="en-US" sz="28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4"/>
          <p:cNvSpPr txBox="1">
            <a:spLocks noChangeArrowheads="1"/>
          </p:cNvSpPr>
          <p:nvPr/>
        </p:nvSpPr>
        <p:spPr bwMode="auto">
          <a:xfrm>
            <a:off x="306971" y="1245139"/>
            <a:ext cx="20826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表面结构</a:t>
            </a:r>
            <a:endParaRPr lang="zh-CN" altLang="en-US" dirty="0"/>
          </a:p>
        </p:txBody>
      </p:sp>
      <p:sp>
        <p:nvSpPr>
          <p:cNvPr id="3" name="Text Box 4"/>
          <p:cNvSpPr txBox="1">
            <a:spLocks noChangeArrowheads="1"/>
          </p:cNvSpPr>
          <p:nvPr/>
        </p:nvSpPr>
        <p:spPr bwMode="auto">
          <a:xfrm>
            <a:off x="699808" y="1796818"/>
            <a:ext cx="26853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8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表面结构的概念</a:t>
            </a:r>
            <a:endParaRPr lang="zh-CN" altLang="en-US" sz="2400" dirty="0">
              <a:latin typeface="微软雅黑" panose="020B0503020204020204" pitchFamily="34" charset="-122"/>
              <a:ea typeface="微软雅黑" panose="020B0503020204020204" pitchFamily="34" charset="-122"/>
            </a:endParaRPr>
          </a:p>
        </p:txBody>
      </p:sp>
      <p:sp>
        <p:nvSpPr>
          <p:cNvPr id="4" name="Text Box 5"/>
          <p:cNvSpPr txBox="1">
            <a:spLocks noChangeArrowheads="1"/>
          </p:cNvSpPr>
          <p:nvPr/>
        </p:nvSpPr>
        <p:spPr bwMode="auto">
          <a:xfrm>
            <a:off x="1199456" y="2347225"/>
            <a:ext cx="9661957"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2400" dirty="0">
                <a:solidFill>
                  <a:srgbClr val="000000"/>
                </a:solidFill>
                <a:latin typeface="黑体" panose="02010609060101010101" pitchFamily="2" charset="-122"/>
                <a:ea typeface="黑体" panose="02010609060101010101" pitchFamily="2" charset="-122"/>
              </a:rPr>
              <a:t>    零件表面的加工质量在加工过程中受刀具、机床等诸多因素影响。表面结构包括在有限区域上的粗糙度、波纹度、纹理方向、表面缺陷和形状误差，是评定零件加工质量的重要指标之一。</a:t>
            </a:r>
            <a:endParaRPr lang="zh-CN" altLang="en-US" sz="2400" dirty="0">
              <a:solidFill>
                <a:srgbClr val="000000"/>
              </a:solidFill>
              <a:latin typeface="黑体" panose="02010609060101010101" pitchFamily="2" charset="-122"/>
              <a:ea typeface="黑体" panose="02010609060101010101" pitchFamily="2" charset="-122"/>
            </a:endParaRPr>
          </a:p>
        </p:txBody>
      </p:sp>
      <p:grpSp>
        <p:nvGrpSpPr>
          <p:cNvPr id="5" name="Group 301"/>
          <p:cNvGrpSpPr/>
          <p:nvPr/>
        </p:nvGrpSpPr>
        <p:grpSpPr bwMode="auto">
          <a:xfrm>
            <a:off x="2865915" y="4524431"/>
            <a:ext cx="1912938" cy="1598612"/>
            <a:chOff x="2065" y="1942"/>
            <a:chExt cx="1172" cy="980"/>
          </a:xfrm>
        </p:grpSpPr>
        <p:sp>
          <p:nvSpPr>
            <p:cNvPr id="6" name="Line 11"/>
            <p:cNvSpPr>
              <a:spLocks noChangeShapeType="1"/>
            </p:cNvSpPr>
            <p:nvPr/>
          </p:nvSpPr>
          <p:spPr bwMode="auto">
            <a:xfrm>
              <a:off x="2071" y="2615"/>
              <a:ext cx="0" cy="26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 name="Line 12"/>
            <p:cNvSpPr>
              <a:spLocks noChangeShapeType="1"/>
            </p:cNvSpPr>
            <p:nvPr/>
          </p:nvSpPr>
          <p:spPr bwMode="auto">
            <a:xfrm>
              <a:off x="2079" y="2864"/>
              <a:ext cx="634"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 name="Line 13"/>
            <p:cNvSpPr>
              <a:spLocks noChangeShapeType="1"/>
            </p:cNvSpPr>
            <p:nvPr/>
          </p:nvSpPr>
          <p:spPr bwMode="auto">
            <a:xfrm flipV="1">
              <a:off x="2703" y="2606"/>
              <a:ext cx="0" cy="26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 name="Line 14"/>
            <p:cNvSpPr>
              <a:spLocks noChangeShapeType="1"/>
            </p:cNvSpPr>
            <p:nvPr/>
          </p:nvSpPr>
          <p:spPr bwMode="auto">
            <a:xfrm flipV="1">
              <a:off x="2701" y="2256"/>
              <a:ext cx="536" cy="61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 name="Line 15"/>
            <p:cNvSpPr>
              <a:spLocks noChangeShapeType="1"/>
            </p:cNvSpPr>
            <p:nvPr/>
          </p:nvSpPr>
          <p:spPr bwMode="auto">
            <a:xfrm flipV="1">
              <a:off x="3235" y="2002"/>
              <a:ext cx="0" cy="26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 name="Line 16"/>
            <p:cNvSpPr>
              <a:spLocks noChangeShapeType="1"/>
            </p:cNvSpPr>
            <p:nvPr/>
          </p:nvSpPr>
          <p:spPr bwMode="auto">
            <a:xfrm>
              <a:off x="2363" y="1948"/>
              <a:ext cx="0" cy="34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17"/>
            <p:cNvSpPr>
              <a:spLocks noChangeShapeType="1"/>
            </p:cNvSpPr>
            <p:nvPr/>
          </p:nvSpPr>
          <p:spPr bwMode="auto">
            <a:xfrm>
              <a:off x="2360" y="1948"/>
              <a:ext cx="638" cy="0"/>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Line 18"/>
            <p:cNvSpPr>
              <a:spLocks noChangeShapeType="1"/>
            </p:cNvSpPr>
            <p:nvPr/>
          </p:nvSpPr>
          <p:spPr bwMode="auto">
            <a:xfrm>
              <a:off x="2995" y="1942"/>
              <a:ext cx="0" cy="980"/>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 name="Line 19"/>
            <p:cNvSpPr>
              <a:spLocks noChangeShapeType="1"/>
            </p:cNvSpPr>
            <p:nvPr/>
          </p:nvSpPr>
          <p:spPr bwMode="auto">
            <a:xfrm flipH="1">
              <a:off x="2367" y="2922"/>
              <a:ext cx="626"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5" name="Line 20"/>
            <p:cNvSpPr>
              <a:spLocks noChangeShapeType="1"/>
            </p:cNvSpPr>
            <p:nvPr/>
          </p:nvSpPr>
          <p:spPr bwMode="auto">
            <a:xfrm flipV="1">
              <a:off x="2365" y="2867"/>
              <a:ext cx="0" cy="55"/>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7" name="Freeform 21"/>
            <p:cNvSpPr/>
            <p:nvPr/>
          </p:nvSpPr>
          <p:spPr bwMode="auto">
            <a:xfrm>
              <a:off x="2065" y="2600"/>
              <a:ext cx="640" cy="34"/>
            </a:xfrm>
            <a:custGeom>
              <a:avLst/>
              <a:gdLst>
                <a:gd name="T0" fmla="*/ 0 w 640"/>
                <a:gd name="T1" fmla="*/ 34 h 34"/>
                <a:gd name="T2" fmla="*/ 24 w 640"/>
                <a:gd name="T3" fmla="*/ 24 h 34"/>
                <a:gd name="T4" fmla="*/ 59 w 640"/>
                <a:gd name="T5" fmla="*/ 27 h 34"/>
                <a:gd name="T6" fmla="*/ 92 w 640"/>
                <a:gd name="T7" fmla="*/ 14 h 34"/>
                <a:gd name="T8" fmla="*/ 130 w 640"/>
                <a:gd name="T9" fmla="*/ 8 h 34"/>
                <a:gd name="T10" fmla="*/ 170 w 640"/>
                <a:gd name="T11" fmla="*/ 18 h 34"/>
                <a:gd name="T12" fmla="*/ 204 w 640"/>
                <a:gd name="T13" fmla="*/ 20 h 34"/>
                <a:gd name="T14" fmla="*/ 236 w 640"/>
                <a:gd name="T15" fmla="*/ 10 h 34"/>
                <a:gd name="T16" fmla="*/ 270 w 640"/>
                <a:gd name="T17" fmla="*/ 10 h 34"/>
                <a:gd name="T18" fmla="*/ 302 w 640"/>
                <a:gd name="T19" fmla="*/ 24 h 34"/>
                <a:gd name="T20" fmla="*/ 336 w 640"/>
                <a:gd name="T21" fmla="*/ 18 h 34"/>
                <a:gd name="T22" fmla="*/ 380 w 640"/>
                <a:gd name="T23" fmla="*/ 4 h 34"/>
                <a:gd name="T24" fmla="*/ 422 w 640"/>
                <a:gd name="T25" fmla="*/ 12 h 34"/>
                <a:gd name="T26" fmla="*/ 456 w 640"/>
                <a:gd name="T27" fmla="*/ 16 h 34"/>
                <a:gd name="T28" fmla="*/ 496 w 640"/>
                <a:gd name="T29" fmla="*/ 2 h 34"/>
                <a:gd name="T30" fmla="*/ 536 w 640"/>
                <a:gd name="T31" fmla="*/ 6 h 34"/>
                <a:gd name="T32" fmla="*/ 570 w 640"/>
                <a:gd name="T33" fmla="*/ 8 h 34"/>
                <a:gd name="T34" fmla="*/ 614 w 640"/>
                <a:gd name="T35" fmla="*/ 6 h 34"/>
                <a:gd name="T36" fmla="*/ 640 w 640"/>
                <a:gd name="T37" fmla="*/ 24 h 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40" h="34">
                  <a:moveTo>
                    <a:pt x="0" y="34"/>
                  </a:moveTo>
                  <a:cubicBezTo>
                    <a:pt x="4" y="32"/>
                    <a:pt x="14" y="25"/>
                    <a:pt x="24" y="24"/>
                  </a:cubicBezTo>
                  <a:cubicBezTo>
                    <a:pt x="34" y="23"/>
                    <a:pt x="48" y="29"/>
                    <a:pt x="59" y="27"/>
                  </a:cubicBezTo>
                  <a:cubicBezTo>
                    <a:pt x="70" y="25"/>
                    <a:pt x="80" y="17"/>
                    <a:pt x="92" y="14"/>
                  </a:cubicBezTo>
                  <a:cubicBezTo>
                    <a:pt x="104" y="11"/>
                    <a:pt x="117" y="7"/>
                    <a:pt x="130" y="8"/>
                  </a:cubicBezTo>
                  <a:cubicBezTo>
                    <a:pt x="143" y="9"/>
                    <a:pt x="158" y="16"/>
                    <a:pt x="170" y="18"/>
                  </a:cubicBezTo>
                  <a:cubicBezTo>
                    <a:pt x="182" y="20"/>
                    <a:pt x="193" y="21"/>
                    <a:pt x="204" y="20"/>
                  </a:cubicBezTo>
                  <a:cubicBezTo>
                    <a:pt x="215" y="19"/>
                    <a:pt x="225" y="12"/>
                    <a:pt x="236" y="10"/>
                  </a:cubicBezTo>
                  <a:cubicBezTo>
                    <a:pt x="247" y="8"/>
                    <a:pt x="259" y="8"/>
                    <a:pt x="270" y="10"/>
                  </a:cubicBezTo>
                  <a:cubicBezTo>
                    <a:pt x="281" y="12"/>
                    <a:pt x="291" y="23"/>
                    <a:pt x="302" y="24"/>
                  </a:cubicBezTo>
                  <a:cubicBezTo>
                    <a:pt x="313" y="25"/>
                    <a:pt x="323" y="21"/>
                    <a:pt x="336" y="18"/>
                  </a:cubicBezTo>
                  <a:cubicBezTo>
                    <a:pt x="349" y="15"/>
                    <a:pt x="366" y="5"/>
                    <a:pt x="380" y="4"/>
                  </a:cubicBezTo>
                  <a:cubicBezTo>
                    <a:pt x="394" y="3"/>
                    <a:pt x="409" y="10"/>
                    <a:pt x="422" y="12"/>
                  </a:cubicBezTo>
                  <a:cubicBezTo>
                    <a:pt x="435" y="14"/>
                    <a:pt x="444" y="18"/>
                    <a:pt x="456" y="16"/>
                  </a:cubicBezTo>
                  <a:cubicBezTo>
                    <a:pt x="468" y="14"/>
                    <a:pt x="483" y="4"/>
                    <a:pt x="496" y="2"/>
                  </a:cubicBezTo>
                  <a:cubicBezTo>
                    <a:pt x="509" y="0"/>
                    <a:pt x="524" y="5"/>
                    <a:pt x="536" y="6"/>
                  </a:cubicBezTo>
                  <a:cubicBezTo>
                    <a:pt x="548" y="7"/>
                    <a:pt x="557" y="8"/>
                    <a:pt x="570" y="8"/>
                  </a:cubicBezTo>
                  <a:cubicBezTo>
                    <a:pt x="583" y="8"/>
                    <a:pt x="602" y="3"/>
                    <a:pt x="614" y="6"/>
                  </a:cubicBezTo>
                  <a:cubicBezTo>
                    <a:pt x="626" y="9"/>
                    <a:pt x="635" y="20"/>
                    <a:pt x="640" y="24"/>
                  </a:cubicBezTo>
                </a:path>
              </a:pathLst>
            </a:custGeom>
            <a:noFill/>
            <a:ln w="38100" cmpd="sng">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8" name="Freeform 22"/>
            <p:cNvSpPr/>
            <p:nvPr/>
          </p:nvSpPr>
          <p:spPr bwMode="auto">
            <a:xfrm>
              <a:off x="2704" y="2010"/>
              <a:ext cx="533" cy="605"/>
            </a:xfrm>
            <a:custGeom>
              <a:avLst/>
              <a:gdLst>
                <a:gd name="T0" fmla="*/ 0 w 533"/>
                <a:gd name="T1" fmla="*/ 605 h 605"/>
                <a:gd name="T2" fmla="*/ 9 w 533"/>
                <a:gd name="T3" fmla="*/ 581 h 605"/>
                <a:gd name="T4" fmla="*/ 35 w 533"/>
                <a:gd name="T5" fmla="*/ 558 h 605"/>
                <a:gd name="T6" fmla="*/ 55 w 533"/>
                <a:gd name="T7" fmla="*/ 528 h 605"/>
                <a:gd name="T8" fmla="*/ 85 w 533"/>
                <a:gd name="T9" fmla="*/ 502 h 605"/>
                <a:gd name="T10" fmla="*/ 99 w 533"/>
                <a:gd name="T11" fmla="*/ 472 h 605"/>
                <a:gd name="T12" fmla="*/ 130 w 533"/>
                <a:gd name="T13" fmla="*/ 447 h 605"/>
                <a:gd name="T14" fmla="*/ 145 w 533"/>
                <a:gd name="T15" fmla="*/ 420 h 605"/>
                <a:gd name="T16" fmla="*/ 171 w 533"/>
                <a:gd name="T17" fmla="*/ 396 h 605"/>
                <a:gd name="T18" fmla="*/ 200 w 533"/>
                <a:gd name="T19" fmla="*/ 379 h 605"/>
                <a:gd name="T20" fmla="*/ 227 w 533"/>
                <a:gd name="T21" fmla="*/ 348 h 605"/>
                <a:gd name="T22" fmla="*/ 243 w 533"/>
                <a:gd name="T23" fmla="*/ 312 h 605"/>
                <a:gd name="T24" fmla="*/ 283 w 533"/>
                <a:gd name="T25" fmla="*/ 288 h 605"/>
                <a:gd name="T26" fmla="*/ 299 w 533"/>
                <a:gd name="T27" fmla="*/ 261 h 605"/>
                <a:gd name="T28" fmla="*/ 331 w 533"/>
                <a:gd name="T29" fmla="*/ 234 h 605"/>
                <a:gd name="T30" fmla="*/ 357 w 533"/>
                <a:gd name="T31" fmla="*/ 204 h 605"/>
                <a:gd name="T32" fmla="*/ 375 w 533"/>
                <a:gd name="T33" fmla="*/ 182 h 605"/>
                <a:gd name="T34" fmla="*/ 395 w 533"/>
                <a:gd name="T35" fmla="*/ 144 h 605"/>
                <a:gd name="T36" fmla="*/ 423 w 533"/>
                <a:gd name="T37" fmla="*/ 124 h 605"/>
                <a:gd name="T38" fmla="*/ 447 w 533"/>
                <a:gd name="T39" fmla="*/ 96 h 605"/>
                <a:gd name="T40" fmla="*/ 469 w 533"/>
                <a:gd name="T41" fmla="*/ 64 h 605"/>
                <a:gd name="T42" fmla="*/ 495 w 533"/>
                <a:gd name="T43" fmla="*/ 42 h 605"/>
                <a:gd name="T44" fmla="*/ 533 w 533"/>
                <a:gd name="T45" fmla="*/ 0 h 6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33" h="605">
                  <a:moveTo>
                    <a:pt x="0" y="605"/>
                  </a:moveTo>
                  <a:cubicBezTo>
                    <a:pt x="1" y="601"/>
                    <a:pt x="3" y="589"/>
                    <a:pt x="9" y="581"/>
                  </a:cubicBezTo>
                  <a:cubicBezTo>
                    <a:pt x="15" y="573"/>
                    <a:pt x="27" y="567"/>
                    <a:pt x="35" y="558"/>
                  </a:cubicBezTo>
                  <a:cubicBezTo>
                    <a:pt x="43" y="549"/>
                    <a:pt x="47" y="537"/>
                    <a:pt x="55" y="528"/>
                  </a:cubicBezTo>
                  <a:cubicBezTo>
                    <a:pt x="63" y="519"/>
                    <a:pt x="78" y="511"/>
                    <a:pt x="85" y="502"/>
                  </a:cubicBezTo>
                  <a:cubicBezTo>
                    <a:pt x="92" y="493"/>
                    <a:pt x="91" y="481"/>
                    <a:pt x="99" y="472"/>
                  </a:cubicBezTo>
                  <a:cubicBezTo>
                    <a:pt x="107" y="463"/>
                    <a:pt x="122" y="456"/>
                    <a:pt x="130" y="447"/>
                  </a:cubicBezTo>
                  <a:cubicBezTo>
                    <a:pt x="138" y="438"/>
                    <a:pt x="138" y="428"/>
                    <a:pt x="145" y="420"/>
                  </a:cubicBezTo>
                  <a:cubicBezTo>
                    <a:pt x="152" y="412"/>
                    <a:pt x="162" y="403"/>
                    <a:pt x="171" y="396"/>
                  </a:cubicBezTo>
                  <a:cubicBezTo>
                    <a:pt x="180" y="389"/>
                    <a:pt x="191" y="387"/>
                    <a:pt x="200" y="379"/>
                  </a:cubicBezTo>
                  <a:cubicBezTo>
                    <a:pt x="209" y="371"/>
                    <a:pt x="220" y="359"/>
                    <a:pt x="227" y="348"/>
                  </a:cubicBezTo>
                  <a:cubicBezTo>
                    <a:pt x="234" y="337"/>
                    <a:pt x="234" y="322"/>
                    <a:pt x="243" y="312"/>
                  </a:cubicBezTo>
                  <a:cubicBezTo>
                    <a:pt x="252" y="302"/>
                    <a:pt x="274" y="296"/>
                    <a:pt x="283" y="288"/>
                  </a:cubicBezTo>
                  <a:cubicBezTo>
                    <a:pt x="292" y="280"/>
                    <a:pt x="291" y="270"/>
                    <a:pt x="299" y="261"/>
                  </a:cubicBezTo>
                  <a:cubicBezTo>
                    <a:pt x="307" y="252"/>
                    <a:pt x="321" y="243"/>
                    <a:pt x="331" y="234"/>
                  </a:cubicBezTo>
                  <a:cubicBezTo>
                    <a:pt x="341" y="225"/>
                    <a:pt x="350" y="213"/>
                    <a:pt x="357" y="204"/>
                  </a:cubicBezTo>
                  <a:cubicBezTo>
                    <a:pt x="364" y="195"/>
                    <a:pt x="369" y="192"/>
                    <a:pt x="375" y="182"/>
                  </a:cubicBezTo>
                  <a:cubicBezTo>
                    <a:pt x="381" y="172"/>
                    <a:pt x="387" y="154"/>
                    <a:pt x="395" y="144"/>
                  </a:cubicBezTo>
                  <a:cubicBezTo>
                    <a:pt x="403" y="134"/>
                    <a:pt x="414" y="132"/>
                    <a:pt x="423" y="124"/>
                  </a:cubicBezTo>
                  <a:cubicBezTo>
                    <a:pt x="432" y="116"/>
                    <a:pt x="439" y="106"/>
                    <a:pt x="447" y="96"/>
                  </a:cubicBezTo>
                  <a:cubicBezTo>
                    <a:pt x="455" y="86"/>
                    <a:pt x="461" y="73"/>
                    <a:pt x="469" y="64"/>
                  </a:cubicBezTo>
                  <a:cubicBezTo>
                    <a:pt x="477" y="55"/>
                    <a:pt x="484" y="53"/>
                    <a:pt x="495" y="42"/>
                  </a:cubicBezTo>
                  <a:cubicBezTo>
                    <a:pt x="506" y="31"/>
                    <a:pt x="525" y="9"/>
                    <a:pt x="533" y="0"/>
                  </a:cubicBezTo>
                </a:path>
              </a:pathLst>
            </a:custGeom>
            <a:noFill/>
            <a:ln w="38100" cmpd="sng">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9" name="Freeform 24"/>
            <p:cNvSpPr/>
            <p:nvPr/>
          </p:nvSpPr>
          <p:spPr bwMode="auto">
            <a:xfrm>
              <a:off x="2348" y="2277"/>
              <a:ext cx="640" cy="34"/>
            </a:xfrm>
            <a:custGeom>
              <a:avLst/>
              <a:gdLst>
                <a:gd name="T0" fmla="*/ 0 w 640"/>
                <a:gd name="T1" fmla="*/ 34 h 34"/>
                <a:gd name="T2" fmla="*/ 24 w 640"/>
                <a:gd name="T3" fmla="*/ 24 h 34"/>
                <a:gd name="T4" fmla="*/ 59 w 640"/>
                <a:gd name="T5" fmla="*/ 27 h 34"/>
                <a:gd name="T6" fmla="*/ 92 w 640"/>
                <a:gd name="T7" fmla="*/ 14 h 34"/>
                <a:gd name="T8" fmla="*/ 130 w 640"/>
                <a:gd name="T9" fmla="*/ 8 h 34"/>
                <a:gd name="T10" fmla="*/ 170 w 640"/>
                <a:gd name="T11" fmla="*/ 18 h 34"/>
                <a:gd name="T12" fmla="*/ 204 w 640"/>
                <a:gd name="T13" fmla="*/ 20 h 34"/>
                <a:gd name="T14" fmla="*/ 236 w 640"/>
                <a:gd name="T15" fmla="*/ 10 h 34"/>
                <a:gd name="T16" fmla="*/ 270 w 640"/>
                <a:gd name="T17" fmla="*/ 10 h 34"/>
                <a:gd name="T18" fmla="*/ 302 w 640"/>
                <a:gd name="T19" fmla="*/ 24 h 34"/>
                <a:gd name="T20" fmla="*/ 336 w 640"/>
                <a:gd name="T21" fmla="*/ 18 h 34"/>
                <a:gd name="T22" fmla="*/ 380 w 640"/>
                <a:gd name="T23" fmla="*/ 4 h 34"/>
                <a:gd name="T24" fmla="*/ 422 w 640"/>
                <a:gd name="T25" fmla="*/ 12 h 34"/>
                <a:gd name="T26" fmla="*/ 456 w 640"/>
                <a:gd name="T27" fmla="*/ 16 h 34"/>
                <a:gd name="T28" fmla="*/ 496 w 640"/>
                <a:gd name="T29" fmla="*/ 2 h 34"/>
                <a:gd name="T30" fmla="*/ 536 w 640"/>
                <a:gd name="T31" fmla="*/ 6 h 34"/>
                <a:gd name="T32" fmla="*/ 570 w 640"/>
                <a:gd name="T33" fmla="*/ 8 h 34"/>
                <a:gd name="T34" fmla="*/ 614 w 640"/>
                <a:gd name="T35" fmla="*/ 6 h 34"/>
                <a:gd name="T36" fmla="*/ 640 w 640"/>
                <a:gd name="T37" fmla="*/ 24 h 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40" h="34">
                  <a:moveTo>
                    <a:pt x="0" y="34"/>
                  </a:moveTo>
                  <a:cubicBezTo>
                    <a:pt x="4" y="32"/>
                    <a:pt x="14" y="25"/>
                    <a:pt x="24" y="24"/>
                  </a:cubicBezTo>
                  <a:cubicBezTo>
                    <a:pt x="34" y="23"/>
                    <a:pt x="48" y="29"/>
                    <a:pt x="59" y="27"/>
                  </a:cubicBezTo>
                  <a:cubicBezTo>
                    <a:pt x="70" y="25"/>
                    <a:pt x="80" y="17"/>
                    <a:pt x="92" y="14"/>
                  </a:cubicBezTo>
                  <a:cubicBezTo>
                    <a:pt x="104" y="11"/>
                    <a:pt x="117" y="7"/>
                    <a:pt x="130" y="8"/>
                  </a:cubicBezTo>
                  <a:cubicBezTo>
                    <a:pt x="143" y="9"/>
                    <a:pt x="158" y="16"/>
                    <a:pt x="170" y="18"/>
                  </a:cubicBezTo>
                  <a:cubicBezTo>
                    <a:pt x="182" y="20"/>
                    <a:pt x="193" y="21"/>
                    <a:pt x="204" y="20"/>
                  </a:cubicBezTo>
                  <a:cubicBezTo>
                    <a:pt x="215" y="19"/>
                    <a:pt x="225" y="12"/>
                    <a:pt x="236" y="10"/>
                  </a:cubicBezTo>
                  <a:cubicBezTo>
                    <a:pt x="247" y="8"/>
                    <a:pt x="259" y="8"/>
                    <a:pt x="270" y="10"/>
                  </a:cubicBezTo>
                  <a:cubicBezTo>
                    <a:pt x="281" y="12"/>
                    <a:pt x="291" y="23"/>
                    <a:pt x="302" y="24"/>
                  </a:cubicBezTo>
                  <a:cubicBezTo>
                    <a:pt x="313" y="25"/>
                    <a:pt x="323" y="21"/>
                    <a:pt x="336" y="18"/>
                  </a:cubicBezTo>
                  <a:cubicBezTo>
                    <a:pt x="349" y="15"/>
                    <a:pt x="366" y="5"/>
                    <a:pt x="380" y="4"/>
                  </a:cubicBezTo>
                  <a:cubicBezTo>
                    <a:pt x="394" y="3"/>
                    <a:pt x="409" y="10"/>
                    <a:pt x="422" y="12"/>
                  </a:cubicBezTo>
                  <a:cubicBezTo>
                    <a:pt x="435" y="14"/>
                    <a:pt x="444" y="18"/>
                    <a:pt x="456" y="16"/>
                  </a:cubicBezTo>
                  <a:cubicBezTo>
                    <a:pt x="468" y="14"/>
                    <a:pt x="483" y="4"/>
                    <a:pt x="496" y="2"/>
                  </a:cubicBezTo>
                  <a:cubicBezTo>
                    <a:pt x="509" y="0"/>
                    <a:pt x="524" y="5"/>
                    <a:pt x="536" y="6"/>
                  </a:cubicBezTo>
                  <a:cubicBezTo>
                    <a:pt x="548" y="7"/>
                    <a:pt x="557" y="8"/>
                    <a:pt x="570" y="8"/>
                  </a:cubicBezTo>
                  <a:cubicBezTo>
                    <a:pt x="583" y="8"/>
                    <a:pt x="602" y="3"/>
                    <a:pt x="614" y="6"/>
                  </a:cubicBezTo>
                  <a:cubicBezTo>
                    <a:pt x="626" y="9"/>
                    <a:pt x="635" y="20"/>
                    <a:pt x="640" y="24"/>
                  </a:cubicBezTo>
                </a:path>
              </a:pathLst>
            </a:custGeom>
            <a:noFill/>
            <a:ln w="38100" cmpd="sng">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0" name="Freeform 25"/>
            <p:cNvSpPr/>
            <p:nvPr/>
          </p:nvSpPr>
          <p:spPr bwMode="auto">
            <a:xfrm>
              <a:off x="2071" y="2304"/>
              <a:ext cx="288" cy="318"/>
            </a:xfrm>
            <a:custGeom>
              <a:avLst/>
              <a:gdLst>
                <a:gd name="T0" fmla="*/ 288 w 288"/>
                <a:gd name="T1" fmla="*/ 0 h 318"/>
                <a:gd name="T2" fmla="*/ 273 w 288"/>
                <a:gd name="T3" fmla="*/ 13 h 318"/>
                <a:gd name="T4" fmla="*/ 256 w 288"/>
                <a:gd name="T5" fmla="*/ 34 h 318"/>
                <a:gd name="T6" fmla="*/ 244 w 288"/>
                <a:gd name="T7" fmla="*/ 48 h 318"/>
                <a:gd name="T8" fmla="*/ 226 w 288"/>
                <a:gd name="T9" fmla="*/ 64 h 318"/>
                <a:gd name="T10" fmla="*/ 210 w 288"/>
                <a:gd name="T11" fmla="*/ 74 h 318"/>
                <a:gd name="T12" fmla="*/ 198 w 288"/>
                <a:gd name="T13" fmla="*/ 92 h 318"/>
                <a:gd name="T14" fmla="*/ 180 w 288"/>
                <a:gd name="T15" fmla="*/ 110 h 318"/>
                <a:gd name="T16" fmla="*/ 169 w 288"/>
                <a:gd name="T17" fmla="*/ 125 h 318"/>
                <a:gd name="T18" fmla="*/ 150 w 288"/>
                <a:gd name="T19" fmla="*/ 136 h 318"/>
                <a:gd name="T20" fmla="*/ 140 w 288"/>
                <a:gd name="T21" fmla="*/ 156 h 318"/>
                <a:gd name="T22" fmla="*/ 126 w 288"/>
                <a:gd name="T23" fmla="*/ 168 h 318"/>
                <a:gd name="T24" fmla="*/ 116 w 288"/>
                <a:gd name="T25" fmla="*/ 184 h 318"/>
                <a:gd name="T26" fmla="*/ 104 w 288"/>
                <a:gd name="T27" fmla="*/ 196 h 318"/>
                <a:gd name="T28" fmla="*/ 100 w 288"/>
                <a:gd name="T29" fmla="*/ 214 h 318"/>
                <a:gd name="T30" fmla="*/ 78 w 288"/>
                <a:gd name="T31" fmla="*/ 224 h 318"/>
                <a:gd name="T32" fmla="*/ 64 w 288"/>
                <a:gd name="T33" fmla="*/ 242 h 318"/>
                <a:gd name="T34" fmla="*/ 44 w 288"/>
                <a:gd name="T35" fmla="*/ 250 h 318"/>
                <a:gd name="T36" fmla="*/ 32 w 288"/>
                <a:gd name="T37" fmla="*/ 274 h 318"/>
                <a:gd name="T38" fmla="*/ 12 w 288"/>
                <a:gd name="T39" fmla="*/ 292 h 318"/>
                <a:gd name="T40" fmla="*/ 0 w 288"/>
                <a:gd name="T41" fmla="*/ 318 h 31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8" h="318">
                  <a:moveTo>
                    <a:pt x="288" y="0"/>
                  </a:moveTo>
                  <a:cubicBezTo>
                    <a:pt x="286" y="2"/>
                    <a:pt x="278" y="7"/>
                    <a:pt x="273" y="13"/>
                  </a:cubicBezTo>
                  <a:cubicBezTo>
                    <a:pt x="268" y="19"/>
                    <a:pt x="261" y="28"/>
                    <a:pt x="256" y="34"/>
                  </a:cubicBezTo>
                  <a:cubicBezTo>
                    <a:pt x="251" y="40"/>
                    <a:pt x="249" y="43"/>
                    <a:pt x="244" y="48"/>
                  </a:cubicBezTo>
                  <a:cubicBezTo>
                    <a:pt x="239" y="53"/>
                    <a:pt x="232" y="60"/>
                    <a:pt x="226" y="64"/>
                  </a:cubicBezTo>
                  <a:cubicBezTo>
                    <a:pt x="220" y="68"/>
                    <a:pt x="215" y="69"/>
                    <a:pt x="210" y="74"/>
                  </a:cubicBezTo>
                  <a:cubicBezTo>
                    <a:pt x="205" y="79"/>
                    <a:pt x="203" y="86"/>
                    <a:pt x="198" y="92"/>
                  </a:cubicBezTo>
                  <a:cubicBezTo>
                    <a:pt x="193" y="98"/>
                    <a:pt x="185" y="105"/>
                    <a:pt x="180" y="110"/>
                  </a:cubicBezTo>
                  <a:cubicBezTo>
                    <a:pt x="175" y="115"/>
                    <a:pt x="174" y="121"/>
                    <a:pt x="169" y="125"/>
                  </a:cubicBezTo>
                  <a:cubicBezTo>
                    <a:pt x="164" y="129"/>
                    <a:pt x="155" y="131"/>
                    <a:pt x="150" y="136"/>
                  </a:cubicBezTo>
                  <a:cubicBezTo>
                    <a:pt x="145" y="141"/>
                    <a:pt x="144" y="151"/>
                    <a:pt x="140" y="156"/>
                  </a:cubicBezTo>
                  <a:cubicBezTo>
                    <a:pt x="136" y="161"/>
                    <a:pt x="130" y="163"/>
                    <a:pt x="126" y="168"/>
                  </a:cubicBezTo>
                  <a:cubicBezTo>
                    <a:pt x="122" y="173"/>
                    <a:pt x="120" y="179"/>
                    <a:pt x="116" y="184"/>
                  </a:cubicBezTo>
                  <a:cubicBezTo>
                    <a:pt x="112" y="189"/>
                    <a:pt x="107" y="191"/>
                    <a:pt x="104" y="196"/>
                  </a:cubicBezTo>
                  <a:cubicBezTo>
                    <a:pt x="101" y="201"/>
                    <a:pt x="104" y="209"/>
                    <a:pt x="100" y="214"/>
                  </a:cubicBezTo>
                  <a:cubicBezTo>
                    <a:pt x="96" y="219"/>
                    <a:pt x="84" y="219"/>
                    <a:pt x="78" y="224"/>
                  </a:cubicBezTo>
                  <a:cubicBezTo>
                    <a:pt x="72" y="229"/>
                    <a:pt x="70" y="238"/>
                    <a:pt x="64" y="242"/>
                  </a:cubicBezTo>
                  <a:cubicBezTo>
                    <a:pt x="58" y="246"/>
                    <a:pt x="49" y="245"/>
                    <a:pt x="44" y="250"/>
                  </a:cubicBezTo>
                  <a:cubicBezTo>
                    <a:pt x="39" y="255"/>
                    <a:pt x="37" y="267"/>
                    <a:pt x="32" y="274"/>
                  </a:cubicBezTo>
                  <a:cubicBezTo>
                    <a:pt x="27" y="281"/>
                    <a:pt x="17" y="285"/>
                    <a:pt x="12" y="292"/>
                  </a:cubicBezTo>
                  <a:cubicBezTo>
                    <a:pt x="7" y="299"/>
                    <a:pt x="2" y="313"/>
                    <a:pt x="0" y="318"/>
                  </a:cubicBezTo>
                </a:path>
              </a:pathLst>
            </a:custGeom>
            <a:noFill/>
            <a:ln w="38100" cmpd="sng">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1" name="Freeform 26"/>
            <p:cNvSpPr/>
            <p:nvPr/>
          </p:nvSpPr>
          <p:spPr bwMode="auto">
            <a:xfrm>
              <a:off x="2346" y="2010"/>
              <a:ext cx="273" cy="301"/>
            </a:xfrm>
            <a:custGeom>
              <a:avLst/>
              <a:gdLst>
                <a:gd name="T0" fmla="*/ 273 w 273"/>
                <a:gd name="T1" fmla="*/ 0 h 301"/>
                <a:gd name="T2" fmla="*/ 263 w 273"/>
                <a:gd name="T3" fmla="*/ 8 h 301"/>
                <a:gd name="T4" fmla="*/ 243 w 273"/>
                <a:gd name="T5" fmla="*/ 20 h 301"/>
                <a:gd name="T6" fmla="*/ 235 w 273"/>
                <a:gd name="T7" fmla="*/ 34 h 301"/>
                <a:gd name="T8" fmla="*/ 227 w 273"/>
                <a:gd name="T9" fmla="*/ 52 h 301"/>
                <a:gd name="T10" fmla="*/ 208 w 273"/>
                <a:gd name="T11" fmla="*/ 59 h 301"/>
                <a:gd name="T12" fmla="*/ 196 w 273"/>
                <a:gd name="T13" fmla="*/ 77 h 301"/>
                <a:gd name="T14" fmla="*/ 178 w 273"/>
                <a:gd name="T15" fmla="*/ 95 h 301"/>
                <a:gd name="T16" fmla="*/ 168 w 273"/>
                <a:gd name="T17" fmla="*/ 119 h 301"/>
                <a:gd name="T18" fmla="*/ 148 w 273"/>
                <a:gd name="T19" fmla="*/ 121 h 301"/>
                <a:gd name="T20" fmla="*/ 144 w 273"/>
                <a:gd name="T21" fmla="*/ 137 h 301"/>
                <a:gd name="T22" fmla="*/ 124 w 273"/>
                <a:gd name="T23" fmla="*/ 153 h 301"/>
                <a:gd name="T24" fmla="*/ 114 w 273"/>
                <a:gd name="T25" fmla="*/ 169 h 301"/>
                <a:gd name="T26" fmla="*/ 102 w 273"/>
                <a:gd name="T27" fmla="*/ 181 h 301"/>
                <a:gd name="T28" fmla="*/ 98 w 273"/>
                <a:gd name="T29" fmla="*/ 199 h 301"/>
                <a:gd name="T30" fmla="*/ 76 w 273"/>
                <a:gd name="T31" fmla="*/ 209 h 301"/>
                <a:gd name="T32" fmla="*/ 62 w 273"/>
                <a:gd name="T33" fmla="*/ 227 h 301"/>
                <a:gd name="T34" fmla="*/ 55 w 273"/>
                <a:gd name="T35" fmla="*/ 246 h 301"/>
                <a:gd name="T36" fmla="*/ 36 w 273"/>
                <a:gd name="T37" fmla="*/ 257 h 301"/>
                <a:gd name="T38" fmla="*/ 31 w 273"/>
                <a:gd name="T39" fmla="*/ 278 h 301"/>
                <a:gd name="T40" fmla="*/ 0 w 273"/>
                <a:gd name="T41" fmla="*/ 301 h 3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3" h="301">
                  <a:moveTo>
                    <a:pt x="273" y="0"/>
                  </a:moveTo>
                  <a:cubicBezTo>
                    <a:pt x="271" y="2"/>
                    <a:pt x="268" y="5"/>
                    <a:pt x="263" y="8"/>
                  </a:cubicBezTo>
                  <a:cubicBezTo>
                    <a:pt x="258" y="11"/>
                    <a:pt x="248" y="16"/>
                    <a:pt x="243" y="20"/>
                  </a:cubicBezTo>
                  <a:cubicBezTo>
                    <a:pt x="238" y="24"/>
                    <a:pt x="238" y="29"/>
                    <a:pt x="235" y="34"/>
                  </a:cubicBezTo>
                  <a:cubicBezTo>
                    <a:pt x="232" y="39"/>
                    <a:pt x="231" y="48"/>
                    <a:pt x="227" y="52"/>
                  </a:cubicBezTo>
                  <a:cubicBezTo>
                    <a:pt x="223" y="56"/>
                    <a:pt x="213" y="55"/>
                    <a:pt x="208" y="59"/>
                  </a:cubicBezTo>
                  <a:cubicBezTo>
                    <a:pt x="203" y="63"/>
                    <a:pt x="201" y="71"/>
                    <a:pt x="196" y="77"/>
                  </a:cubicBezTo>
                  <a:cubicBezTo>
                    <a:pt x="191" y="83"/>
                    <a:pt x="183" y="88"/>
                    <a:pt x="178" y="95"/>
                  </a:cubicBezTo>
                  <a:cubicBezTo>
                    <a:pt x="173" y="102"/>
                    <a:pt x="173" y="115"/>
                    <a:pt x="168" y="119"/>
                  </a:cubicBezTo>
                  <a:cubicBezTo>
                    <a:pt x="163" y="123"/>
                    <a:pt x="152" y="118"/>
                    <a:pt x="148" y="121"/>
                  </a:cubicBezTo>
                  <a:cubicBezTo>
                    <a:pt x="144" y="124"/>
                    <a:pt x="148" y="132"/>
                    <a:pt x="144" y="137"/>
                  </a:cubicBezTo>
                  <a:cubicBezTo>
                    <a:pt x="140" y="142"/>
                    <a:pt x="129" y="148"/>
                    <a:pt x="124" y="153"/>
                  </a:cubicBezTo>
                  <a:cubicBezTo>
                    <a:pt x="119" y="158"/>
                    <a:pt x="118" y="164"/>
                    <a:pt x="114" y="169"/>
                  </a:cubicBezTo>
                  <a:cubicBezTo>
                    <a:pt x="110" y="174"/>
                    <a:pt x="105" y="176"/>
                    <a:pt x="102" y="181"/>
                  </a:cubicBezTo>
                  <a:cubicBezTo>
                    <a:pt x="99" y="186"/>
                    <a:pt x="102" y="194"/>
                    <a:pt x="98" y="199"/>
                  </a:cubicBezTo>
                  <a:cubicBezTo>
                    <a:pt x="94" y="204"/>
                    <a:pt x="82" y="204"/>
                    <a:pt x="76" y="209"/>
                  </a:cubicBezTo>
                  <a:cubicBezTo>
                    <a:pt x="70" y="214"/>
                    <a:pt x="65" y="221"/>
                    <a:pt x="62" y="227"/>
                  </a:cubicBezTo>
                  <a:cubicBezTo>
                    <a:pt x="59" y="233"/>
                    <a:pt x="59" y="241"/>
                    <a:pt x="55" y="246"/>
                  </a:cubicBezTo>
                  <a:cubicBezTo>
                    <a:pt x="51" y="251"/>
                    <a:pt x="40" y="252"/>
                    <a:pt x="36" y="257"/>
                  </a:cubicBezTo>
                  <a:cubicBezTo>
                    <a:pt x="32" y="262"/>
                    <a:pt x="37" y="271"/>
                    <a:pt x="31" y="278"/>
                  </a:cubicBezTo>
                  <a:cubicBezTo>
                    <a:pt x="25" y="285"/>
                    <a:pt x="7" y="296"/>
                    <a:pt x="0" y="301"/>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2" name="Freeform 27"/>
            <p:cNvSpPr/>
            <p:nvPr/>
          </p:nvSpPr>
          <p:spPr bwMode="auto">
            <a:xfrm>
              <a:off x="2096" y="2309"/>
              <a:ext cx="294" cy="312"/>
            </a:xfrm>
            <a:custGeom>
              <a:avLst/>
              <a:gdLst>
                <a:gd name="T0" fmla="*/ 294 w 294"/>
                <a:gd name="T1" fmla="*/ 0 h 312"/>
                <a:gd name="T2" fmla="*/ 284 w 294"/>
                <a:gd name="T3" fmla="*/ 8 h 312"/>
                <a:gd name="T4" fmla="*/ 269 w 294"/>
                <a:gd name="T5" fmla="*/ 21 h 312"/>
                <a:gd name="T6" fmla="*/ 256 w 294"/>
                <a:gd name="T7" fmla="*/ 34 h 312"/>
                <a:gd name="T8" fmla="*/ 248 w 294"/>
                <a:gd name="T9" fmla="*/ 52 h 312"/>
                <a:gd name="T10" fmla="*/ 229 w 294"/>
                <a:gd name="T11" fmla="*/ 59 h 312"/>
                <a:gd name="T12" fmla="*/ 217 w 294"/>
                <a:gd name="T13" fmla="*/ 77 h 312"/>
                <a:gd name="T14" fmla="*/ 199 w 294"/>
                <a:gd name="T15" fmla="*/ 95 h 312"/>
                <a:gd name="T16" fmla="*/ 188 w 294"/>
                <a:gd name="T17" fmla="*/ 114 h 312"/>
                <a:gd name="T18" fmla="*/ 169 w 294"/>
                <a:gd name="T19" fmla="*/ 121 h 312"/>
                <a:gd name="T20" fmla="*/ 165 w 294"/>
                <a:gd name="T21" fmla="*/ 137 h 312"/>
                <a:gd name="T22" fmla="*/ 145 w 294"/>
                <a:gd name="T23" fmla="*/ 153 h 312"/>
                <a:gd name="T24" fmla="*/ 135 w 294"/>
                <a:gd name="T25" fmla="*/ 169 h 312"/>
                <a:gd name="T26" fmla="*/ 123 w 294"/>
                <a:gd name="T27" fmla="*/ 181 h 312"/>
                <a:gd name="T28" fmla="*/ 114 w 294"/>
                <a:gd name="T29" fmla="*/ 197 h 312"/>
                <a:gd name="T30" fmla="*/ 98 w 294"/>
                <a:gd name="T31" fmla="*/ 215 h 312"/>
                <a:gd name="T32" fmla="*/ 74 w 294"/>
                <a:gd name="T33" fmla="*/ 236 h 312"/>
                <a:gd name="T34" fmla="*/ 54 w 294"/>
                <a:gd name="T35" fmla="*/ 261 h 312"/>
                <a:gd name="T36" fmla="*/ 33 w 294"/>
                <a:gd name="T37" fmla="*/ 267 h 312"/>
                <a:gd name="T38" fmla="*/ 23 w 294"/>
                <a:gd name="T39" fmla="*/ 293 h 312"/>
                <a:gd name="T40" fmla="*/ 0 w 294"/>
                <a:gd name="T41" fmla="*/ 312 h 3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4" h="312">
                  <a:moveTo>
                    <a:pt x="294" y="0"/>
                  </a:moveTo>
                  <a:cubicBezTo>
                    <a:pt x="292" y="2"/>
                    <a:pt x="288" y="5"/>
                    <a:pt x="284" y="8"/>
                  </a:cubicBezTo>
                  <a:cubicBezTo>
                    <a:pt x="280" y="11"/>
                    <a:pt x="274" y="17"/>
                    <a:pt x="269" y="21"/>
                  </a:cubicBezTo>
                  <a:cubicBezTo>
                    <a:pt x="264" y="25"/>
                    <a:pt x="259" y="29"/>
                    <a:pt x="256" y="34"/>
                  </a:cubicBezTo>
                  <a:cubicBezTo>
                    <a:pt x="253" y="39"/>
                    <a:pt x="252" y="48"/>
                    <a:pt x="248" y="52"/>
                  </a:cubicBezTo>
                  <a:cubicBezTo>
                    <a:pt x="244" y="56"/>
                    <a:pt x="234" y="55"/>
                    <a:pt x="229" y="59"/>
                  </a:cubicBezTo>
                  <a:cubicBezTo>
                    <a:pt x="224" y="63"/>
                    <a:pt x="222" y="71"/>
                    <a:pt x="217" y="77"/>
                  </a:cubicBezTo>
                  <a:cubicBezTo>
                    <a:pt x="212" y="83"/>
                    <a:pt x="204" y="89"/>
                    <a:pt x="199" y="95"/>
                  </a:cubicBezTo>
                  <a:cubicBezTo>
                    <a:pt x="194" y="101"/>
                    <a:pt x="193" y="110"/>
                    <a:pt x="188" y="114"/>
                  </a:cubicBezTo>
                  <a:cubicBezTo>
                    <a:pt x="183" y="118"/>
                    <a:pt x="173" y="117"/>
                    <a:pt x="169" y="121"/>
                  </a:cubicBezTo>
                  <a:cubicBezTo>
                    <a:pt x="165" y="125"/>
                    <a:pt x="169" y="132"/>
                    <a:pt x="165" y="137"/>
                  </a:cubicBezTo>
                  <a:cubicBezTo>
                    <a:pt x="161" y="142"/>
                    <a:pt x="150" y="148"/>
                    <a:pt x="145" y="153"/>
                  </a:cubicBezTo>
                  <a:cubicBezTo>
                    <a:pt x="140" y="158"/>
                    <a:pt x="139" y="164"/>
                    <a:pt x="135" y="169"/>
                  </a:cubicBezTo>
                  <a:cubicBezTo>
                    <a:pt x="131" y="174"/>
                    <a:pt x="127" y="176"/>
                    <a:pt x="123" y="181"/>
                  </a:cubicBezTo>
                  <a:cubicBezTo>
                    <a:pt x="119" y="186"/>
                    <a:pt x="118" y="191"/>
                    <a:pt x="114" y="197"/>
                  </a:cubicBezTo>
                  <a:cubicBezTo>
                    <a:pt x="110" y="203"/>
                    <a:pt x="105" y="209"/>
                    <a:pt x="98" y="215"/>
                  </a:cubicBezTo>
                  <a:cubicBezTo>
                    <a:pt x="91" y="221"/>
                    <a:pt x="81" y="228"/>
                    <a:pt x="74" y="236"/>
                  </a:cubicBezTo>
                  <a:cubicBezTo>
                    <a:pt x="67" y="244"/>
                    <a:pt x="61" y="256"/>
                    <a:pt x="54" y="261"/>
                  </a:cubicBezTo>
                  <a:cubicBezTo>
                    <a:pt x="47" y="266"/>
                    <a:pt x="38" y="262"/>
                    <a:pt x="33" y="267"/>
                  </a:cubicBezTo>
                  <a:cubicBezTo>
                    <a:pt x="28" y="272"/>
                    <a:pt x="28" y="286"/>
                    <a:pt x="23" y="293"/>
                  </a:cubicBezTo>
                  <a:cubicBezTo>
                    <a:pt x="18" y="300"/>
                    <a:pt x="5" y="308"/>
                    <a:pt x="0" y="31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Freeform 28"/>
            <p:cNvSpPr/>
            <p:nvPr/>
          </p:nvSpPr>
          <p:spPr bwMode="auto">
            <a:xfrm>
              <a:off x="2131" y="2306"/>
              <a:ext cx="284" cy="312"/>
            </a:xfrm>
            <a:custGeom>
              <a:avLst/>
              <a:gdLst>
                <a:gd name="T0" fmla="*/ 284 w 284"/>
                <a:gd name="T1" fmla="*/ 0 h 312"/>
                <a:gd name="T2" fmla="*/ 274 w 284"/>
                <a:gd name="T3" fmla="*/ 8 h 312"/>
                <a:gd name="T4" fmla="*/ 262 w 284"/>
                <a:gd name="T5" fmla="*/ 21 h 312"/>
                <a:gd name="T6" fmla="*/ 246 w 284"/>
                <a:gd name="T7" fmla="*/ 34 h 312"/>
                <a:gd name="T8" fmla="*/ 238 w 284"/>
                <a:gd name="T9" fmla="*/ 52 h 312"/>
                <a:gd name="T10" fmla="*/ 225 w 284"/>
                <a:gd name="T11" fmla="*/ 65 h 312"/>
                <a:gd name="T12" fmla="*/ 207 w 284"/>
                <a:gd name="T13" fmla="*/ 77 h 312"/>
                <a:gd name="T14" fmla="*/ 189 w 284"/>
                <a:gd name="T15" fmla="*/ 95 h 312"/>
                <a:gd name="T16" fmla="*/ 179 w 284"/>
                <a:gd name="T17" fmla="*/ 119 h 312"/>
                <a:gd name="T18" fmla="*/ 169 w 284"/>
                <a:gd name="T19" fmla="*/ 125 h 312"/>
                <a:gd name="T20" fmla="*/ 155 w 284"/>
                <a:gd name="T21" fmla="*/ 137 h 312"/>
                <a:gd name="T22" fmla="*/ 135 w 284"/>
                <a:gd name="T23" fmla="*/ 153 h 312"/>
                <a:gd name="T24" fmla="*/ 125 w 284"/>
                <a:gd name="T25" fmla="*/ 169 h 312"/>
                <a:gd name="T26" fmla="*/ 113 w 284"/>
                <a:gd name="T27" fmla="*/ 181 h 312"/>
                <a:gd name="T28" fmla="*/ 100 w 284"/>
                <a:gd name="T29" fmla="*/ 201 h 312"/>
                <a:gd name="T30" fmla="*/ 85 w 284"/>
                <a:gd name="T31" fmla="*/ 216 h 312"/>
                <a:gd name="T32" fmla="*/ 72 w 284"/>
                <a:gd name="T33" fmla="*/ 237 h 312"/>
                <a:gd name="T34" fmla="*/ 49 w 284"/>
                <a:gd name="T35" fmla="*/ 251 h 312"/>
                <a:gd name="T36" fmla="*/ 37 w 284"/>
                <a:gd name="T37" fmla="*/ 273 h 312"/>
                <a:gd name="T38" fmla="*/ 16 w 284"/>
                <a:gd name="T39" fmla="*/ 287 h 312"/>
                <a:gd name="T40" fmla="*/ 0 w 284"/>
                <a:gd name="T41" fmla="*/ 312 h 3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4" h="312">
                  <a:moveTo>
                    <a:pt x="284" y="0"/>
                  </a:moveTo>
                  <a:cubicBezTo>
                    <a:pt x="282" y="2"/>
                    <a:pt x="278" y="5"/>
                    <a:pt x="274" y="8"/>
                  </a:cubicBezTo>
                  <a:cubicBezTo>
                    <a:pt x="270" y="11"/>
                    <a:pt x="267" y="17"/>
                    <a:pt x="262" y="21"/>
                  </a:cubicBezTo>
                  <a:cubicBezTo>
                    <a:pt x="257" y="25"/>
                    <a:pt x="250" y="29"/>
                    <a:pt x="246" y="34"/>
                  </a:cubicBezTo>
                  <a:cubicBezTo>
                    <a:pt x="242" y="39"/>
                    <a:pt x="242" y="47"/>
                    <a:pt x="238" y="52"/>
                  </a:cubicBezTo>
                  <a:cubicBezTo>
                    <a:pt x="234" y="57"/>
                    <a:pt x="230" y="61"/>
                    <a:pt x="225" y="65"/>
                  </a:cubicBezTo>
                  <a:cubicBezTo>
                    <a:pt x="220" y="69"/>
                    <a:pt x="213" y="72"/>
                    <a:pt x="207" y="77"/>
                  </a:cubicBezTo>
                  <a:cubicBezTo>
                    <a:pt x="201" y="82"/>
                    <a:pt x="194" y="88"/>
                    <a:pt x="189" y="95"/>
                  </a:cubicBezTo>
                  <a:cubicBezTo>
                    <a:pt x="184" y="102"/>
                    <a:pt x="182" y="114"/>
                    <a:pt x="179" y="119"/>
                  </a:cubicBezTo>
                  <a:cubicBezTo>
                    <a:pt x="176" y="124"/>
                    <a:pt x="173" y="122"/>
                    <a:pt x="169" y="125"/>
                  </a:cubicBezTo>
                  <a:cubicBezTo>
                    <a:pt x="165" y="128"/>
                    <a:pt x="161" y="132"/>
                    <a:pt x="155" y="137"/>
                  </a:cubicBezTo>
                  <a:cubicBezTo>
                    <a:pt x="149" y="142"/>
                    <a:pt x="140" y="148"/>
                    <a:pt x="135" y="153"/>
                  </a:cubicBezTo>
                  <a:cubicBezTo>
                    <a:pt x="130" y="158"/>
                    <a:pt x="129" y="164"/>
                    <a:pt x="125" y="169"/>
                  </a:cubicBezTo>
                  <a:cubicBezTo>
                    <a:pt x="121" y="174"/>
                    <a:pt x="117" y="176"/>
                    <a:pt x="113" y="181"/>
                  </a:cubicBezTo>
                  <a:cubicBezTo>
                    <a:pt x="109" y="186"/>
                    <a:pt x="105" y="195"/>
                    <a:pt x="100" y="201"/>
                  </a:cubicBezTo>
                  <a:cubicBezTo>
                    <a:pt x="95" y="207"/>
                    <a:pt x="90" y="210"/>
                    <a:pt x="85" y="216"/>
                  </a:cubicBezTo>
                  <a:cubicBezTo>
                    <a:pt x="80" y="222"/>
                    <a:pt x="78" y="231"/>
                    <a:pt x="72" y="237"/>
                  </a:cubicBezTo>
                  <a:cubicBezTo>
                    <a:pt x="66" y="243"/>
                    <a:pt x="55" y="245"/>
                    <a:pt x="49" y="251"/>
                  </a:cubicBezTo>
                  <a:cubicBezTo>
                    <a:pt x="43" y="257"/>
                    <a:pt x="42" y="267"/>
                    <a:pt x="37" y="273"/>
                  </a:cubicBezTo>
                  <a:cubicBezTo>
                    <a:pt x="32" y="279"/>
                    <a:pt x="22" y="281"/>
                    <a:pt x="16" y="287"/>
                  </a:cubicBezTo>
                  <a:cubicBezTo>
                    <a:pt x="10" y="293"/>
                    <a:pt x="3" y="307"/>
                    <a:pt x="0" y="31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4" name="Freeform 29"/>
            <p:cNvSpPr/>
            <p:nvPr/>
          </p:nvSpPr>
          <p:spPr bwMode="auto">
            <a:xfrm>
              <a:off x="2165" y="2293"/>
              <a:ext cx="289" cy="310"/>
            </a:xfrm>
            <a:custGeom>
              <a:avLst/>
              <a:gdLst>
                <a:gd name="T0" fmla="*/ 289 w 289"/>
                <a:gd name="T1" fmla="*/ 0 h 310"/>
                <a:gd name="T2" fmla="*/ 279 w 289"/>
                <a:gd name="T3" fmla="*/ 8 h 310"/>
                <a:gd name="T4" fmla="*/ 259 w 289"/>
                <a:gd name="T5" fmla="*/ 20 h 310"/>
                <a:gd name="T6" fmla="*/ 251 w 289"/>
                <a:gd name="T7" fmla="*/ 34 h 310"/>
                <a:gd name="T8" fmla="*/ 243 w 289"/>
                <a:gd name="T9" fmla="*/ 52 h 310"/>
                <a:gd name="T10" fmla="*/ 224 w 289"/>
                <a:gd name="T11" fmla="*/ 59 h 310"/>
                <a:gd name="T12" fmla="*/ 212 w 289"/>
                <a:gd name="T13" fmla="*/ 77 h 310"/>
                <a:gd name="T14" fmla="*/ 194 w 289"/>
                <a:gd name="T15" fmla="*/ 95 h 310"/>
                <a:gd name="T16" fmla="*/ 180 w 289"/>
                <a:gd name="T17" fmla="*/ 109 h 310"/>
                <a:gd name="T18" fmla="*/ 164 w 289"/>
                <a:gd name="T19" fmla="*/ 121 h 310"/>
                <a:gd name="T20" fmla="*/ 160 w 289"/>
                <a:gd name="T21" fmla="*/ 137 h 310"/>
                <a:gd name="T22" fmla="*/ 140 w 289"/>
                <a:gd name="T23" fmla="*/ 153 h 310"/>
                <a:gd name="T24" fmla="*/ 130 w 289"/>
                <a:gd name="T25" fmla="*/ 169 h 310"/>
                <a:gd name="T26" fmla="*/ 118 w 289"/>
                <a:gd name="T27" fmla="*/ 181 h 310"/>
                <a:gd name="T28" fmla="*/ 113 w 289"/>
                <a:gd name="T29" fmla="*/ 199 h 310"/>
                <a:gd name="T30" fmla="*/ 92 w 289"/>
                <a:gd name="T31" fmla="*/ 209 h 310"/>
                <a:gd name="T32" fmla="*/ 78 w 289"/>
                <a:gd name="T33" fmla="*/ 227 h 310"/>
                <a:gd name="T34" fmla="*/ 51 w 289"/>
                <a:gd name="T35" fmla="*/ 258 h 310"/>
                <a:gd name="T36" fmla="*/ 39 w 289"/>
                <a:gd name="T37" fmla="*/ 276 h 310"/>
                <a:gd name="T38" fmla="*/ 21 w 289"/>
                <a:gd name="T39" fmla="*/ 288 h 310"/>
                <a:gd name="T40" fmla="*/ 0 w 289"/>
                <a:gd name="T41" fmla="*/ 310 h 3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9" h="310">
                  <a:moveTo>
                    <a:pt x="289" y="0"/>
                  </a:moveTo>
                  <a:cubicBezTo>
                    <a:pt x="287" y="2"/>
                    <a:pt x="284" y="5"/>
                    <a:pt x="279" y="8"/>
                  </a:cubicBezTo>
                  <a:cubicBezTo>
                    <a:pt x="274" y="11"/>
                    <a:pt x="264" y="16"/>
                    <a:pt x="259" y="20"/>
                  </a:cubicBezTo>
                  <a:cubicBezTo>
                    <a:pt x="254" y="24"/>
                    <a:pt x="254" y="29"/>
                    <a:pt x="251" y="34"/>
                  </a:cubicBezTo>
                  <a:cubicBezTo>
                    <a:pt x="248" y="39"/>
                    <a:pt x="247" y="48"/>
                    <a:pt x="243" y="52"/>
                  </a:cubicBezTo>
                  <a:cubicBezTo>
                    <a:pt x="239" y="56"/>
                    <a:pt x="229" y="55"/>
                    <a:pt x="224" y="59"/>
                  </a:cubicBezTo>
                  <a:cubicBezTo>
                    <a:pt x="219" y="63"/>
                    <a:pt x="217" y="71"/>
                    <a:pt x="212" y="77"/>
                  </a:cubicBezTo>
                  <a:cubicBezTo>
                    <a:pt x="207" y="83"/>
                    <a:pt x="199" y="90"/>
                    <a:pt x="194" y="95"/>
                  </a:cubicBezTo>
                  <a:cubicBezTo>
                    <a:pt x="189" y="100"/>
                    <a:pt x="185" y="105"/>
                    <a:pt x="180" y="109"/>
                  </a:cubicBezTo>
                  <a:cubicBezTo>
                    <a:pt x="175" y="113"/>
                    <a:pt x="167" y="116"/>
                    <a:pt x="164" y="121"/>
                  </a:cubicBezTo>
                  <a:cubicBezTo>
                    <a:pt x="161" y="126"/>
                    <a:pt x="164" y="132"/>
                    <a:pt x="160" y="137"/>
                  </a:cubicBezTo>
                  <a:cubicBezTo>
                    <a:pt x="156" y="142"/>
                    <a:pt x="145" y="148"/>
                    <a:pt x="140" y="153"/>
                  </a:cubicBezTo>
                  <a:cubicBezTo>
                    <a:pt x="135" y="158"/>
                    <a:pt x="134" y="164"/>
                    <a:pt x="130" y="169"/>
                  </a:cubicBezTo>
                  <a:cubicBezTo>
                    <a:pt x="126" y="174"/>
                    <a:pt x="121" y="176"/>
                    <a:pt x="118" y="181"/>
                  </a:cubicBezTo>
                  <a:cubicBezTo>
                    <a:pt x="115" y="186"/>
                    <a:pt x="117" y="194"/>
                    <a:pt x="113" y="199"/>
                  </a:cubicBezTo>
                  <a:cubicBezTo>
                    <a:pt x="109" y="204"/>
                    <a:pt x="98" y="204"/>
                    <a:pt x="92" y="209"/>
                  </a:cubicBezTo>
                  <a:cubicBezTo>
                    <a:pt x="86" y="214"/>
                    <a:pt x="85" y="219"/>
                    <a:pt x="78" y="227"/>
                  </a:cubicBezTo>
                  <a:cubicBezTo>
                    <a:pt x="71" y="235"/>
                    <a:pt x="58" y="250"/>
                    <a:pt x="51" y="258"/>
                  </a:cubicBezTo>
                  <a:cubicBezTo>
                    <a:pt x="44" y="266"/>
                    <a:pt x="44" y="271"/>
                    <a:pt x="39" y="276"/>
                  </a:cubicBezTo>
                  <a:cubicBezTo>
                    <a:pt x="34" y="281"/>
                    <a:pt x="28" y="282"/>
                    <a:pt x="21" y="288"/>
                  </a:cubicBezTo>
                  <a:cubicBezTo>
                    <a:pt x="14" y="294"/>
                    <a:pt x="4" y="306"/>
                    <a:pt x="0" y="310"/>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5" name="Freeform 30"/>
            <p:cNvSpPr/>
            <p:nvPr/>
          </p:nvSpPr>
          <p:spPr bwMode="auto">
            <a:xfrm>
              <a:off x="2189" y="2288"/>
              <a:ext cx="279" cy="312"/>
            </a:xfrm>
            <a:custGeom>
              <a:avLst/>
              <a:gdLst>
                <a:gd name="T0" fmla="*/ 279 w 279"/>
                <a:gd name="T1" fmla="*/ 0 h 312"/>
                <a:gd name="T2" fmla="*/ 264 w 279"/>
                <a:gd name="T3" fmla="*/ 15 h 312"/>
                <a:gd name="T4" fmla="*/ 254 w 279"/>
                <a:gd name="T5" fmla="*/ 32 h 312"/>
                <a:gd name="T6" fmla="*/ 246 w 279"/>
                <a:gd name="T7" fmla="*/ 46 h 312"/>
                <a:gd name="T8" fmla="*/ 236 w 279"/>
                <a:gd name="T9" fmla="*/ 57 h 312"/>
                <a:gd name="T10" fmla="*/ 219 w 279"/>
                <a:gd name="T11" fmla="*/ 71 h 312"/>
                <a:gd name="T12" fmla="*/ 207 w 279"/>
                <a:gd name="T13" fmla="*/ 89 h 312"/>
                <a:gd name="T14" fmla="*/ 189 w 279"/>
                <a:gd name="T15" fmla="*/ 107 h 312"/>
                <a:gd name="T16" fmla="*/ 176 w 279"/>
                <a:gd name="T17" fmla="*/ 120 h 312"/>
                <a:gd name="T18" fmla="*/ 159 w 279"/>
                <a:gd name="T19" fmla="*/ 133 h 312"/>
                <a:gd name="T20" fmla="*/ 155 w 279"/>
                <a:gd name="T21" fmla="*/ 149 h 312"/>
                <a:gd name="T22" fmla="*/ 135 w 279"/>
                <a:gd name="T23" fmla="*/ 165 h 312"/>
                <a:gd name="T24" fmla="*/ 125 w 279"/>
                <a:gd name="T25" fmla="*/ 181 h 312"/>
                <a:gd name="T26" fmla="*/ 113 w 279"/>
                <a:gd name="T27" fmla="*/ 193 h 312"/>
                <a:gd name="T28" fmla="*/ 109 w 279"/>
                <a:gd name="T29" fmla="*/ 211 h 312"/>
                <a:gd name="T30" fmla="*/ 87 w 279"/>
                <a:gd name="T31" fmla="*/ 221 h 312"/>
                <a:gd name="T32" fmla="*/ 73 w 279"/>
                <a:gd name="T33" fmla="*/ 239 h 312"/>
                <a:gd name="T34" fmla="*/ 54 w 279"/>
                <a:gd name="T35" fmla="*/ 258 h 312"/>
                <a:gd name="T36" fmla="*/ 41 w 279"/>
                <a:gd name="T37" fmla="*/ 281 h 312"/>
                <a:gd name="T38" fmla="*/ 23 w 279"/>
                <a:gd name="T39" fmla="*/ 291 h 312"/>
                <a:gd name="T40" fmla="*/ 0 w 279"/>
                <a:gd name="T41" fmla="*/ 312 h 3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9" h="312">
                  <a:moveTo>
                    <a:pt x="279" y="0"/>
                  </a:moveTo>
                  <a:cubicBezTo>
                    <a:pt x="277" y="2"/>
                    <a:pt x="268" y="10"/>
                    <a:pt x="264" y="15"/>
                  </a:cubicBezTo>
                  <a:cubicBezTo>
                    <a:pt x="260" y="20"/>
                    <a:pt x="257" y="27"/>
                    <a:pt x="254" y="32"/>
                  </a:cubicBezTo>
                  <a:cubicBezTo>
                    <a:pt x="251" y="37"/>
                    <a:pt x="249" y="42"/>
                    <a:pt x="246" y="46"/>
                  </a:cubicBezTo>
                  <a:cubicBezTo>
                    <a:pt x="243" y="50"/>
                    <a:pt x="240" y="53"/>
                    <a:pt x="236" y="57"/>
                  </a:cubicBezTo>
                  <a:cubicBezTo>
                    <a:pt x="232" y="61"/>
                    <a:pt x="224" y="66"/>
                    <a:pt x="219" y="71"/>
                  </a:cubicBezTo>
                  <a:cubicBezTo>
                    <a:pt x="214" y="76"/>
                    <a:pt x="212" y="83"/>
                    <a:pt x="207" y="89"/>
                  </a:cubicBezTo>
                  <a:cubicBezTo>
                    <a:pt x="202" y="95"/>
                    <a:pt x="194" y="102"/>
                    <a:pt x="189" y="107"/>
                  </a:cubicBezTo>
                  <a:cubicBezTo>
                    <a:pt x="184" y="112"/>
                    <a:pt x="181" y="116"/>
                    <a:pt x="176" y="120"/>
                  </a:cubicBezTo>
                  <a:cubicBezTo>
                    <a:pt x="171" y="124"/>
                    <a:pt x="162" y="128"/>
                    <a:pt x="159" y="133"/>
                  </a:cubicBezTo>
                  <a:cubicBezTo>
                    <a:pt x="156" y="138"/>
                    <a:pt x="159" y="144"/>
                    <a:pt x="155" y="149"/>
                  </a:cubicBezTo>
                  <a:cubicBezTo>
                    <a:pt x="151" y="154"/>
                    <a:pt x="140" y="160"/>
                    <a:pt x="135" y="165"/>
                  </a:cubicBezTo>
                  <a:cubicBezTo>
                    <a:pt x="130" y="170"/>
                    <a:pt x="129" y="176"/>
                    <a:pt x="125" y="181"/>
                  </a:cubicBezTo>
                  <a:cubicBezTo>
                    <a:pt x="121" y="186"/>
                    <a:pt x="116" y="188"/>
                    <a:pt x="113" y="193"/>
                  </a:cubicBezTo>
                  <a:cubicBezTo>
                    <a:pt x="110" y="198"/>
                    <a:pt x="113" y="206"/>
                    <a:pt x="109" y="211"/>
                  </a:cubicBezTo>
                  <a:cubicBezTo>
                    <a:pt x="105" y="216"/>
                    <a:pt x="93" y="216"/>
                    <a:pt x="87" y="221"/>
                  </a:cubicBezTo>
                  <a:cubicBezTo>
                    <a:pt x="81" y="226"/>
                    <a:pt x="78" y="233"/>
                    <a:pt x="73" y="239"/>
                  </a:cubicBezTo>
                  <a:cubicBezTo>
                    <a:pt x="68" y="245"/>
                    <a:pt x="59" y="251"/>
                    <a:pt x="54" y="258"/>
                  </a:cubicBezTo>
                  <a:cubicBezTo>
                    <a:pt x="49" y="265"/>
                    <a:pt x="46" y="276"/>
                    <a:pt x="41" y="281"/>
                  </a:cubicBezTo>
                  <a:cubicBezTo>
                    <a:pt x="36" y="286"/>
                    <a:pt x="30" y="286"/>
                    <a:pt x="23" y="291"/>
                  </a:cubicBezTo>
                  <a:cubicBezTo>
                    <a:pt x="16" y="296"/>
                    <a:pt x="5" y="308"/>
                    <a:pt x="0" y="31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6" name="Freeform 31"/>
            <p:cNvSpPr/>
            <p:nvPr/>
          </p:nvSpPr>
          <p:spPr bwMode="auto">
            <a:xfrm>
              <a:off x="2219" y="2287"/>
              <a:ext cx="270" cy="317"/>
            </a:xfrm>
            <a:custGeom>
              <a:avLst/>
              <a:gdLst>
                <a:gd name="T0" fmla="*/ 270 w 270"/>
                <a:gd name="T1" fmla="*/ 0 h 317"/>
                <a:gd name="T2" fmla="*/ 257 w 270"/>
                <a:gd name="T3" fmla="*/ 18 h 317"/>
                <a:gd name="T4" fmla="*/ 243 w 270"/>
                <a:gd name="T5" fmla="*/ 36 h 317"/>
                <a:gd name="T6" fmla="*/ 235 w 270"/>
                <a:gd name="T7" fmla="*/ 50 h 317"/>
                <a:gd name="T8" fmla="*/ 227 w 270"/>
                <a:gd name="T9" fmla="*/ 68 h 317"/>
                <a:gd name="T10" fmla="*/ 208 w 270"/>
                <a:gd name="T11" fmla="*/ 75 h 317"/>
                <a:gd name="T12" fmla="*/ 196 w 270"/>
                <a:gd name="T13" fmla="*/ 93 h 317"/>
                <a:gd name="T14" fmla="*/ 178 w 270"/>
                <a:gd name="T15" fmla="*/ 111 h 317"/>
                <a:gd name="T16" fmla="*/ 168 w 270"/>
                <a:gd name="T17" fmla="*/ 124 h 317"/>
                <a:gd name="T18" fmla="*/ 148 w 270"/>
                <a:gd name="T19" fmla="*/ 137 h 317"/>
                <a:gd name="T20" fmla="*/ 144 w 270"/>
                <a:gd name="T21" fmla="*/ 153 h 317"/>
                <a:gd name="T22" fmla="*/ 124 w 270"/>
                <a:gd name="T23" fmla="*/ 169 h 317"/>
                <a:gd name="T24" fmla="*/ 114 w 270"/>
                <a:gd name="T25" fmla="*/ 185 h 317"/>
                <a:gd name="T26" fmla="*/ 102 w 270"/>
                <a:gd name="T27" fmla="*/ 197 h 317"/>
                <a:gd name="T28" fmla="*/ 98 w 270"/>
                <a:gd name="T29" fmla="*/ 215 h 317"/>
                <a:gd name="T30" fmla="*/ 76 w 270"/>
                <a:gd name="T31" fmla="*/ 225 h 317"/>
                <a:gd name="T32" fmla="*/ 62 w 270"/>
                <a:gd name="T33" fmla="*/ 243 h 317"/>
                <a:gd name="T34" fmla="*/ 55 w 270"/>
                <a:gd name="T35" fmla="*/ 262 h 317"/>
                <a:gd name="T36" fmla="*/ 36 w 270"/>
                <a:gd name="T37" fmla="*/ 273 h 317"/>
                <a:gd name="T38" fmla="*/ 18 w 270"/>
                <a:gd name="T39" fmla="*/ 300 h 317"/>
                <a:gd name="T40" fmla="*/ 0 w 270"/>
                <a:gd name="T41" fmla="*/ 317 h 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0" h="317">
                  <a:moveTo>
                    <a:pt x="270" y="0"/>
                  </a:moveTo>
                  <a:cubicBezTo>
                    <a:pt x="268" y="3"/>
                    <a:pt x="262" y="12"/>
                    <a:pt x="257" y="18"/>
                  </a:cubicBezTo>
                  <a:cubicBezTo>
                    <a:pt x="252" y="24"/>
                    <a:pt x="247" y="31"/>
                    <a:pt x="243" y="36"/>
                  </a:cubicBezTo>
                  <a:cubicBezTo>
                    <a:pt x="239" y="41"/>
                    <a:pt x="238" y="45"/>
                    <a:pt x="235" y="50"/>
                  </a:cubicBezTo>
                  <a:cubicBezTo>
                    <a:pt x="232" y="55"/>
                    <a:pt x="231" y="64"/>
                    <a:pt x="227" y="68"/>
                  </a:cubicBezTo>
                  <a:cubicBezTo>
                    <a:pt x="223" y="72"/>
                    <a:pt x="213" y="71"/>
                    <a:pt x="208" y="75"/>
                  </a:cubicBezTo>
                  <a:cubicBezTo>
                    <a:pt x="203" y="79"/>
                    <a:pt x="201" y="87"/>
                    <a:pt x="196" y="93"/>
                  </a:cubicBezTo>
                  <a:cubicBezTo>
                    <a:pt x="191" y="99"/>
                    <a:pt x="183" y="106"/>
                    <a:pt x="178" y="111"/>
                  </a:cubicBezTo>
                  <a:cubicBezTo>
                    <a:pt x="173" y="116"/>
                    <a:pt x="173" y="120"/>
                    <a:pt x="168" y="124"/>
                  </a:cubicBezTo>
                  <a:cubicBezTo>
                    <a:pt x="163" y="128"/>
                    <a:pt x="152" y="132"/>
                    <a:pt x="148" y="137"/>
                  </a:cubicBezTo>
                  <a:cubicBezTo>
                    <a:pt x="144" y="142"/>
                    <a:pt x="148" y="148"/>
                    <a:pt x="144" y="153"/>
                  </a:cubicBezTo>
                  <a:cubicBezTo>
                    <a:pt x="140" y="158"/>
                    <a:pt x="129" y="164"/>
                    <a:pt x="124" y="169"/>
                  </a:cubicBezTo>
                  <a:cubicBezTo>
                    <a:pt x="119" y="174"/>
                    <a:pt x="118" y="180"/>
                    <a:pt x="114" y="185"/>
                  </a:cubicBezTo>
                  <a:cubicBezTo>
                    <a:pt x="110" y="190"/>
                    <a:pt x="105" y="192"/>
                    <a:pt x="102" y="197"/>
                  </a:cubicBezTo>
                  <a:cubicBezTo>
                    <a:pt x="99" y="202"/>
                    <a:pt x="102" y="210"/>
                    <a:pt x="98" y="215"/>
                  </a:cubicBezTo>
                  <a:cubicBezTo>
                    <a:pt x="94" y="220"/>
                    <a:pt x="82" y="220"/>
                    <a:pt x="76" y="225"/>
                  </a:cubicBezTo>
                  <a:cubicBezTo>
                    <a:pt x="70" y="230"/>
                    <a:pt x="65" y="237"/>
                    <a:pt x="62" y="243"/>
                  </a:cubicBezTo>
                  <a:cubicBezTo>
                    <a:pt x="59" y="249"/>
                    <a:pt x="59" y="257"/>
                    <a:pt x="55" y="262"/>
                  </a:cubicBezTo>
                  <a:cubicBezTo>
                    <a:pt x="51" y="267"/>
                    <a:pt x="42" y="267"/>
                    <a:pt x="36" y="273"/>
                  </a:cubicBezTo>
                  <a:cubicBezTo>
                    <a:pt x="30" y="279"/>
                    <a:pt x="24" y="293"/>
                    <a:pt x="18" y="300"/>
                  </a:cubicBezTo>
                  <a:cubicBezTo>
                    <a:pt x="12" y="307"/>
                    <a:pt x="4" y="314"/>
                    <a:pt x="0" y="317"/>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Freeform 32"/>
            <p:cNvSpPr/>
            <p:nvPr/>
          </p:nvSpPr>
          <p:spPr bwMode="auto">
            <a:xfrm>
              <a:off x="2240" y="2299"/>
              <a:ext cx="264" cy="312"/>
            </a:xfrm>
            <a:custGeom>
              <a:avLst/>
              <a:gdLst>
                <a:gd name="T0" fmla="*/ 264 w 264"/>
                <a:gd name="T1" fmla="*/ 0 h 312"/>
                <a:gd name="T2" fmla="*/ 257 w 264"/>
                <a:gd name="T3" fmla="*/ 15 h 312"/>
                <a:gd name="T4" fmla="*/ 243 w 264"/>
                <a:gd name="T5" fmla="*/ 31 h 312"/>
                <a:gd name="T6" fmla="*/ 235 w 264"/>
                <a:gd name="T7" fmla="*/ 45 h 312"/>
                <a:gd name="T8" fmla="*/ 227 w 264"/>
                <a:gd name="T9" fmla="*/ 63 h 312"/>
                <a:gd name="T10" fmla="*/ 208 w 264"/>
                <a:gd name="T11" fmla="*/ 70 h 312"/>
                <a:gd name="T12" fmla="*/ 196 w 264"/>
                <a:gd name="T13" fmla="*/ 88 h 312"/>
                <a:gd name="T14" fmla="*/ 178 w 264"/>
                <a:gd name="T15" fmla="*/ 106 h 312"/>
                <a:gd name="T16" fmla="*/ 167 w 264"/>
                <a:gd name="T17" fmla="*/ 121 h 312"/>
                <a:gd name="T18" fmla="*/ 148 w 264"/>
                <a:gd name="T19" fmla="*/ 132 h 312"/>
                <a:gd name="T20" fmla="*/ 144 w 264"/>
                <a:gd name="T21" fmla="*/ 148 h 312"/>
                <a:gd name="T22" fmla="*/ 124 w 264"/>
                <a:gd name="T23" fmla="*/ 164 h 312"/>
                <a:gd name="T24" fmla="*/ 114 w 264"/>
                <a:gd name="T25" fmla="*/ 180 h 312"/>
                <a:gd name="T26" fmla="*/ 102 w 264"/>
                <a:gd name="T27" fmla="*/ 192 h 312"/>
                <a:gd name="T28" fmla="*/ 98 w 264"/>
                <a:gd name="T29" fmla="*/ 210 h 312"/>
                <a:gd name="T30" fmla="*/ 76 w 264"/>
                <a:gd name="T31" fmla="*/ 220 h 312"/>
                <a:gd name="T32" fmla="*/ 62 w 264"/>
                <a:gd name="T33" fmla="*/ 238 h 312"/>
                <a:gd name="T34" fmla="*/ 55 w 264"/>
                <a:gd name="T35" fmla="*/ 257 h 312"/>
                <a:gd name="T36" fmla="*/ 27 w 264"/>
                <a:gd name="T37" fmla="*/ 274 h 312"/>
                <a:gd name="T38" fmla="*/ 21 w 264"/>
                <a:gd name="T39" fmla="*/ 295 h 312"/>
                <a:gd name="T40" fmla="*/ 0 w 264"/>
                <a:gd name="T41" fmla="*/ 312 h 3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4" h="312">
                  <a:moveTo>
                    <a:pt x="264" y="0"/>
                  </a:moveTo>
                  <a:cubicBezTo>
                    <a:pt x="263" y="2"/>
                    <a:pt x="261" y="10"/>
                    <a:pt x="257" y="15"/>
                  </a:cubicBezTo>
                  <a:cubicBezTo>
                    <a:pt x="253" y="20"/>
                    <a:pt x="247" y="26"/>
                    <a:pt x="243" y="31"/>
                  </a:cubicBezTo>
                  <a:cubicBezTo>
                    <a:pt x="239" y="36"/>
                    <a:pt x="238" y="40"/>
                    <a:pt x="235" y="45"/>
                  </a:cubicBezTo>
                  <a:cubicBezTo>
                    <a:pt x="232" y="50"/>
                    <a:pt x="231" y="59"/>
                    <a:pt x="227" y="63"/>
                  </a:cubicBezTo>
                  <a:cubicBezTo>
                    <a:pt x="223" y="67"/>
                    <a:pt x="213" y="66"/>
                    <a:pt x="208" y="70"/>
                  </a:cubicBezTo>
                  <a:cubicBezTo>
                    <a:pt x="203" y="74"/>
                    <a:pt x="201" y="82"/>
                    <a:pt x="196" y="88"/>
                  </a:cubicBezTo>
                  <a:cubicBezTo>
                    <a:pt x="191" y="94"/>
                    <a:pt x="183" y="101"/>
                    <a:pt x="178" y="106"/>
                  </a:cubicBezTo>
                  <a:cubicBezTo>
                    <a:pt x="173" y="111"/>
                    <a:pt x="172" y="117"/>
                    <a:pt x="167" y="121"/>
                  </a:cubicBezTo>
                  <a:cubicBezTo>
                    <a:pt x="162" y="125"/>
                    <a:pt x="152" y="127"/>
                    <a:pt x="148" y="132"/>
                  </a:cubicBezTo>
                  <a:cubicBezTo>
                    <a:pt x="144" y="137"/>
                    <a:pt x="148" y="143"/>
                    <a:pt x="144" y="148"/>
                  </a:cubicBezTo>
                  <a:cubicBezTo>
                    <a:pt x="140" y="153"/>
                    <a:pt x="129" y="159"/>
                    <a:pt x="124" y="164"/>
                  </a:cubicBezTo>
                  <a:cubicBezTo>
                    <a:pt x="119" y="169"/>
                    <a:pt x="118" y="175"/>
                    <a:pt x="114" y="180"/>
                  </a:cubicBezTo>
                  <a:cubicBezTo>
                    <a:pt x="110" y="185"/>
                    <a:pt x="105" y="187"/>
                    <a:pt x="102" y="192"/>
                  </a:cubicBezTo>
                  <a:cubicBezTo>
                    <a:pt x="99" y="197"/>
                    <a:pt x="102" y="205"/>
                    <a:pt x="98" y="210"/>
                  </a:cubicBezTo>
                  <a:cubicBezTo>
                    <a:pt x="94" y="215"/>
                    <a:pt x="82" y="215"/>
                    <a:pt x="76" y="220"/>
                  </a:cubicBezTo>
                  <a:cubicBezTo>
                    <a:pt x="70" y="225"/>
                    <a:pt x="65" y="232"/>
                    <a:pt x="62" y="238"/>
                  </a:cubicBezTo>
                  <a:cubicBezTo>
                    <a:pt x="59" y="244"/>
                    <a:pt x="61" y="251"/>
                    <a:pt x="55" y="257"/>
                  </a:cubicBezTo>
                  <a:cubicBezTo>
                    <a:pt x="49" y="263"/>
                    <a:pt x="33" y="268"/>
                    <a:pt x="27" y="274"/>
                  </a:cubicBezTo>
                  <a:cubicBezTo>
                    <a:pt x="21" y="280"/>
                    <a:pt x="25" y="289"/>
                    <a:pt x="21" y="295"/>
                  </a:cubicBezTo>
                  <a:cubicBezTo>
                    <a:pt x="17" y="301"/>
                    <a:pt x="4" y="309"/>
                    <a:pt x="0" y="31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8" name="Freeform 33"/>
            <p:cNvSpPr/>
            <p:nvPr/>
          </p:nvSpPr>
          <p:spPr bwMode="auto">
            <a:xfrm>
              <a:off x="2268" y="2297"/>
              <a:ext cx="265" cy="311"/>
            </a:xfrm>
            <a:custGeom>
              <a:avLst/>
              <a:gdLst>
                <a:gd name="T0" fmla="*/ 265 w 265"/>
                <a:gd name="T1" fmla="*/ 0 h 311"/>
                <a:gd name="T2" fmla="*/ 253 w 265"/>
                <a:gd name="T3" fmla="*/ 20 h 311"/>
                <a:gd name="T4" fmla="*/ 243 w 265"/>
                <a:gd name="T5" fmla="*/ 30 h 311"/>
                <a:gd name="T6" fmla="*/ 235 w 265"/>
                <a:gd name="T7" fmla="*/ 44 h 311"/>
                <a:gd name="T8" fmla="*/ 227 w 265"/>
                <a:gd name="T9" fmla="*/ 62 h 311"/>
                <a:gd name="T10" fmla="*/ 208 w 265"/>
                <a:gd name="T11" fmla="*/ 69 h 311"/>
                <a:gd name="T12" fmla="*/ 196 w 265"/>
                <a:gd name="T13" fmla="*/ 87 h 311"/>
                <a:gd name="T14" fmla="*/ 178 w 265"/>
                <a:gd name="T15" fmla="*/ 105 h 311"/>
                <a:gd name="T16" fmla="*/ 164 w 265"/>
                <a:gd name="T17" fmla="*/ 123 h 311"/>
                <a:gd name="T18" fmla="*/ 148 w 265"/>
                <a:gd name="T19" fmla="*/ 131 h 311"/>
                <a:gd name="T20" fmla="*/ 144 w 265"/>
                <a:gd name="T21" fmla="*/ 147 h 311"/>
                <a:gd name="T22" fmla="*/ 124 w 265"/>
                <a:gd name="T23" fmla="*/ 163 h 311"/>
                <a:gd name="T24" fmla="*/ 114 w 265"/>
                <a:gd name="T25" fmla="*/ 179 h 311"/>
                <a:gd name="T26" fmla="*/ 102 w 265"/>
                <a:gd name="T27" fmla="*/ 191 h 311"/>
                <a:gd name="T28" fmla="*/ 98 w 265"/>
                <a:gd name="T29" fmla="*/ 209 h 311"/>
                <a:gd name="T30" fmla="*/ 76 w 265"/>
                <a:gd name="T31" fmla="*/ 219 h 311"/>
                <a:gd name="T32" fmla="*/ 62 w 265"/>
                <a:gd name="T33" fmla="*/ 237 h 311"/>
                <a:gd name="T34" fmla="*/ 55 w 265"/>
                <a:gd name="T35" fmla="*/ 256 h 311"/>
                <a:gd name="T36" fmla="*/ 36 w 265"/>
                <a:gd name="T37" fmla="*/ 267 h 311"/>
                <a:gd name="T38" fmla="*/ 20 w 265"/>
                <a:gd name="T39" fmla="*/ 284 h 311"/>
                <a:gd name="T40" fmla="*/ 0 w 265"/>
                <a:gd name="T41" fmla="*/ 311 h 3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5" h="311">
                  <a:moveTo>
                    <a:pt x="265" y="0"/>
                  </a:moveTo>
                  <a:cubicBezTo>
                    <a:pt x="263" y="3"/>
                    <a:pt x="257" y="15"/>
                    <a:pt x="253" y="20"/>
                  </a:cubicBezTo>
                  <a:cubicBezTo>
                    <a:pt x="249" y="25"/>
                    <a:pt x="246" y="26"/>
                    <a:pt x="243" y="30"/>
                  </a:cubicBezTo>
                  <a:cubicBezTo>
                    <a:pt x="240" y="34"/>
                    <a:pt x="238" y="39"/>
                    <a:pt x="235" y="44"/>
                  </a:cubicBezTo>
                  <a:cubicBezTo>
                    <a:pt x="232" y="49"/>
                    <a:pt x="231" y="58"/>
                    <a:pt x="227" y="62"/>
                  </a:cubicBezTo>
                  <a:cubicBezTo>
                    <a:pt x="223" y="66"/>
                    <a:pt x="213" y="65"/>
                    <a:pt x="208" y="69"/>
                  </a:cubicBezTo>
                  <a:cubicBezTo>
                    <a:pt x="203" y="73"/>
                    <a:pt x="201" y="81"/>
                    <a:pt x="196" y="87"/>
                  </a:cubicBezTo>
                  <a:cubicBezTo>
                    <a:pt x="191" y="93"/>
                    <a:pt x="183" y="99"/>
                    <a:pt x="178" y="105"/>
                  </a:cubicBezTo>
                  <a:cubicBezTo>
                    <a:pt x="173" y="111"/>
                    <a:pt x="169" y="119"/>
                    <a:pt x="164" y="123"/>
                  </a:cubicBezTo>
                  <a:cubicBezTo>
                    <a:pt x="159" y="127"/>
                    <a:pt x="151" y="127"/>
                    <a:pt x="148" y="131"/>
                  </a:cubicBezTo>
                  <a:cubicBezTo>
                    <a:pt x="145" y="135"/>
                    <a:pt x="148" y="142"/>
                    <a:pt x="144" y="147"/>
                  </a:cubicBezTo>
                  <a:cubicBezTo>
                    <a:pt x="140" y="152"/>
                    <a:pt x="129" y="158"/>
                    <a:pt x="124" y="163"/>
                  </a:cubicBezTo>
                  <a:cubicBezTo>
                    <a:pt x="119" y="168"/>
                    <a:pt x="118" y="174"/>
                    <a:pt x="114" y="179"/>
                  </a:cubicBezTo>
                  <a:cubicBezTo>
                    <a:pt x="110" y="184"/>
                    <a:pt x="105" y="186"/>
                    <a:pt x="102" y="191"/>
                  </a:cubicBezTo>
                  <a:cubicBezTo>
                    <a:pt x="99" y="196"/>
                    <a:pt x="102" y="204"/>
                    <a:pt x="98" y="209"/>
                  </a:cubicBezTo>
                  <a:cubicBezTo>
                    <a:pt x="94" y="214"/>
                    <a:pt x="82" y="214"/>
                    <a:pt x="76" y="219"/>
                  </a:cubicBezTo>
                  <a:cubicBezTo>
                    <a:pt x="70" y="224"/>
                    <a:pt x="65" y="231"/>
                    <a:pt x="62" y="237"/>
                  </a:cubicBezTo>
                  <a:cubicBezTo>
                    <a:pt x="59" y="243"/>
                    <a:pt x="59" y="251"/>
                    <a:pt x="55" y="256"/>
                  </a:cubicBezTo>
                  <a:cubicBezTo>
                    <a:pt x="51" y="261"/>
                    <a:pt x="42" y="262"/>
                    <a:pt x="36" y="267"/>
                  </a:cubicBezTo>
                  <a:cubicBezTo>
                    <a:pt x="30" y="272"/>
                    <a:pt x="26" y="277"/>
                    <a:pt x="20" y="284"/>
                  </a:cubicBezTo>
                  <a:cubicBezTo>
                    <a:pt x="14" y="291"/>
                    <a:pt x="4" y="306"/>
                    <a:pt x="0" y="311"/>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9" name="Freeform 34"/>
            <p:cNvSpPr/>
            <p:nvPr/>
          </p:nvSpPr>
          <p:spPr bwMode="auto">
            <a:xfrm>
              <a:off x="2300" y="2304"/>
              <a:ext cx="273" cy="301"/>
            </a:xfrm>
            <a:custGeom>
              <a:avLst/>
              <a:gdLst>
                <a:gd name="T0" fmla="*/ 273 w 273"/>
                <a:gd name="T1" fmla="*/ 0 h 301"/>
                <a:gd name="T2" fmla="*/ 251 w 273"/>
                <a:gd name="T3" fmla="*/ 7 h 301"/>
                <a:gd name="T4" fmla="*/ 243 w 273"/>
                <a:gd name="T5" fmla="*/ 20 h 301"/>
                <a:gd name="T6" fmla="*/ 235 w 273"/>
                <a:gd name="T7" fmla="*/ 34 h 301"/>
                <a:gd name="T8" fmla="*/ 219 w 273"/>
                <a:gd name="T9" fmla="*/ 44 h 301"/>
                <a:gd name="T10" fmla="*/ 208 w 273"/>
                <a:gd name="T11" fmla="*/ 59 h 301"/>
                <a:gd name="T12" fmla="*/ 196 w 273"/>
                <a:gd name="T13" fmla="*/ 77 h 301"/>
                <a:gd name="T14" fmla="*/ 178 w 273"/>
                <a:gd name="T15" fmla="*/ 95 h 301"/>
                <a:gd name="T16" fmla="*/ 165 w 273"/>
                <a:gd name="T17" fmla="*/ 110 h 301"/>
                <a:gd name="T18" fmla="*/ 148 w 273"/>
                <a:gd name="T19" fmla="*/ 121 h 301"/>
                <a:gd name="T20" fmla="*/ 144 w 273"/>
                <a:gd name="T21" fmla="*/ 137 h 301"/>
                <a:gd name="T22" fmla="*/ 124 w 273"/>
                <a:gd name="T23" fmla="*/ 153 h 301"/>
                <a:gd name="T24" fmla="*/ 110 w 273"/>
                <a:gd name="T25" fmla="*/ 161 h 301"/>
                <a:gd name="T26" fmla="*/ 102 w 273"/>
                <a:gd name="T27" fmla="*/ 181 h 301"/>
                <a:gd name="T28" fmla="*/ 92 w 273"/>
                <a:gd name="T29" fmla="*/ 203 h 301"/>
                <a:gd name="T30" fmla="*/ 74 w 273"/>
                <a:gd name="T31" fmla="*/ 212 h 301"/>
                <a:gd name="T32" fmla="*/ 62 w 273"/>
                <a:gd name="T33" fmla="*/ 227 h 301"/>
                <a:gd name="T34" fmla="*/ 48 w 273"/>
                <a:gd name="T35" fmla="*/ 242 h 301"/>
                <a:gd name="T36" fmla="*/ 35 w 273"/>
                <a:gd name="T37" fmla="*/ 265 h 301"/>
                <a:gd name="T38" fmla="*/ 11 w 273"/>
                <a:gd name="T39" fmla="*/ 280 h 301"/>
                <a:gd name="T40" fmla="*/ 0 w 273"/>
                <a:gd name="T41" fmla="*/ 301 h 3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3" h="301">
                  <a:moveTo>
                    <a:pt x="273" y="0"/>
                  </a:moveTo>
                  <a:cubicBezTo>
                    <a:pt x="269" y="1"/>
                    <a:pt x="256" y="4"/>
                    <a:pt x="251" y="7"/>
                  </a:cubicBezTo>
                  <a:cubicBezTo>
                    <a:pt x="246" y="10"/>
                    <a:pt x="246" y="16"/>
                    <a:pt x="243" y="20"/>
                  </a:cubicBezTo>
                  <a:cubicBezTo>
                    <a:pt x="240" y="24"/>
                    <a:pt x="239" y="30"/>
                    <a:pt x="235" y="34"/>
                  </a:cubicBezTo>
                  <a:cubicBezTo>
                    <a:pt x="231" y="38"/>
                    <a:pt x="223" y="40"/>
                    <a:pt x="219" y="44"/>
                  </a:cubicBezTo>
                  <a:cubicBezTo>
                    <a:pt x="215" y="48"/>
                    <a:pt x="212" y="54"/>
                    <a:pt x="208" y="59"/>
                  </a:cubicBezTo>
                  <a:cubicBezTo>
                    <a:pt x="204" y="64"/>
                    <a:pt x="201" y="71"/>
                    <a:pt x="196" y="77"/>
                  </a:cubicBezTo>
                  <a:cubicBezTo>
                    <a:pt x="191" y="83"/>
                    <a:pt x="183" y="90"/>
                    <a:pt x="178" y="95"/>
                  </a:cubicBezTo>
                  <a:cubicBezTo>
                    <a:pt x="173" y="100"/>
                    <a:pt x="170" y="106"/>
                    <a:pt x="165" y="110"/>
                  </a:cubicBezTo>
                  <a:cubicBezTo>
                    <a:pt x="160" y="114"/>
                    <a:pt x="151" y="117"/>
                    <a:pt x="148" y="121"/>
                  </a:cubicBezTo>
                  <a:cubicBezTo>
                    <a:pt x="145" y="125"/>
                    <a:pt x="148" y="132"/>
                    <a:pt x="144" y="137"/>
                  </a:cubicBezTo>
                  <a:cubicBezTo>
                    <a:pt x="140" y="142"/>
                    <a:pt x="130" y="149"/>
                    <a:pt x="124" y="153"/>
                  </a:cubicBezTo>
                  <a:cubicBezTo>
                    <a:pt x="118" y="157"/>
                    <a:pt x="114" y="156"/>
                    <a:pt x="110" y="161"/>
                  </a:cubicBezTo>
                  <a:cubicBezTo>
                    <a:pt x="106" y="166"/>
                    <a:pt x="105" y="174"/>
                    <a:pt x="102" y="181"/>
                  </a:cubicBezTo>
                  <a:cubicBezTo>
                    <a:pt x="99" y="188"/>
                    <a:pt x="97" y="198"/>
                    <a:pt x="92" y="203"/>
                  </a:cubicBezTo>
                  <a:cubicBezTo>
                    <a:pt x="87" y="208"/>
                    <a:pt x="79" y="208"/>
                    <a:pt x="74" y="212"/>
                  </a:cubicBezTo>
                  <a:cubicBezTo>
                    <a:pt x="69" y="216"/>
                    <a:pt x="66" y="222"/>
                    <a:pt x="62" y="227"/>
                  </a:cubicBezTo>
                  <a:cubicBezTo>
                    <a:pt x="58" y="232"/>
                    <a:pt x="53" y="236"/>
                    <a:pt x="48" y="242"/>
                  </a:cubicBezTo>
                  <a:cubicBezTo>
                    <a:pt x="43" y="248"/>
                    <a:pt x="41" y="259"/>
                    <a:pt x="35" y="265"/>
                  </a:cubicBezTo>
                  <a:cubicBezTo>
                    <a:pt x="29" y="271"/>
                    <a:pt x="17" y="274"/>
                    <a:pt x="11" y="280"/>
                  </a:cubicBezTo>
                  <a:cubicBezTo>
                    <a:pt x="5" y="286"/>
                    <a:pt x="2" y="297"/>
                    <a:pt x="0" y="301"/>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0" name="Freeform 35"/>
            <p:cNvSpPr/>
            <p:nvPr/>
          </p:nvSpPr>
          <p:spPr bwMode="auto">
            <a:xfrm>
              <a:off x="2329" y="2299"/>
              <a:ext cx="273" cy="301"/>
            </a:xfrm>
            <a:custGeom>
              <a:avLst/>
              <a:gdLst>
                <a:gd name="T0" fmla="*/ 273 w 273"/>
                <a:gd name="T1" fmla="*/ 0 h 301"/>
                <a:gd name="T2" fmla="*/ 263 w 273"/>
                <a:gd name="T3" fmla="*/ 8 h 301"/>
                <a:gd name="T4" fmla="*/ 243 w 273"/>
                <a:gd name="T5" fmla="*/ 20 h 301"/>
                <a:gd name="T6" fmla="*/ 235 w 273"/>
                <a:gd name="T7" fmla="*/ 34 h 301"/>
                <a:gd name="T8" fmla="*/ 227 w 273"/>
                <a:gd name="T9" fmla="*/ 52 h 301"/>
                <a:gd name="T10" fmla="*/ 208 w 273"/>
                <a:gd name="T11" fmla="*/ 59 h 301"/>
                <a:gd name="T12" fmla="*/ 196 w 273"/>
                <a:gd name="T13" fmla="*/ 77 h 301"/>
                <a:gd name="T14" fmla="*/ 178 w 273"/>
                <a:gd name="T15" fmla="*/ 95 h 301"/>
                <a:gd name="T16" fmla="*/ 169 w 273"/>
                <a:gd name="T17" fmla="*/ 111 h 301"/>
                <a:gd name="T18" fmla="*/ 148 w 273"/>
                <a:gd name="T19" fmla="*/ 121 h 301"/>
                <a:gd name="T20" fmla="*/ 144 w 273"/>
                <a:gd name="T21" fmla="*/ 137 h 301"/>
                <a:gd name="T22" fmla="*/ 124 w 273"/>
                <a:gd name="T23" fmla="*/ 153 h 301"/>
                <a:gd name="T24" fmla="*/ 114 w 273"/>
                <a:gd name="T25" fmla="*/ 169 h 301"/>
                <a:gd name="T26" fmla="*/ 102 w 273"/>
                <a:gd name="T27" fmla="*/ 181 h 301"/>
                <a:gd name="T28" fmla="*/ 98 w 273"/>
                <a:gd name="T29" fmla="*/ 199 h 301"/>
                <a:gd name="T30" fmla="*/ 76 w 273"/>
                <a:gd name="T31" fmla="*/ 209 h 301"/>
                <a:gd name="T32" fmla="*/ 62 w 273"/>
                <a:gd name="T33" fmla="*/ 227 h 301"/>
                <a:gd name="T34" fmla="*/ 55 w 273"/>
                <a:gd name="T35" fmla="*/ 246 h 301"/>
                <a:gd name="T36" fmla="*/ 36 w 273"/>
                <a:gd name="T37" fmla="*/ 257 h 301"/>
                <a:gd name="T38" fmla="*/ 31 w 273"/>
                <a:gd name="T39" fmla="*/ 278 h 301"/>
                <a:gd name="T40" fmla="*/ 0 w 273"/>
                <a:gd name="T41" fmla="*/ 301 h 3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3" h="301">
                  <a:moveTo>
                    <a:pt x="273" y="0"/>
                  </a:moveTo>
                  <a:cubicBezTo>
                    <a:pt x="271" y="2"/>
                    <a:pt x="268" y="5"/>
                    <a:pt x="263" y="8"/>
                  </a:cubicBezTo>
                  <a:cubicBezTo>
                    <a:pt x="258" y="11"/>
                    <a:pt x="248" y="16"/>
                    <a:pt x="243" y="20"/>
                  </a:cubicBezTo>
                  <a:cubicBezTo>
                    <a:pt x="238" y="24"/>
                    <a:pt x="238" y="29"/>
                    <a:pt x="235" y="34"/>
                  </a:cubicBezTo>
                  <a:cubicBezTo>
                    <a:pt x="232" y="39"/>
                    <a:pt x="231" y="48"/>
                    <a:pt x="227" y="52"/>
                  </a:cubicBezTo>
                  <a:cubicBezTo>
                    <a:pt x="223" y="56"/>
                    <a:pt x="213" y="55"/>
                    <a:pt x="208" y="59"/>
                  </a:cubicBezTo>
                  <a:cubicBezTo>
                    <a:pt x="203" y="63"/>
                    <a:pt x="201" y="71"/>
                    <a:pt x="196" y="77"/>
                  </a:cubicBezTo>
                  <a:cubicBezTo>
                    <a:pt x="191" y="83"/>
                    <a:pt x="182" y="89"/>
                    <a:pt x="178" y="95"/>
                  </a:cubicBezTo>
                  <a:cubicBezTo>
                    <a:pt x="174" y="101"/>
                    <a:pt x="174" y="107"/>
                    <a:pt x="169" y="111"/>
                  </a:cubicBezTo>
                  <a:cubicBezTo>
                    <a:pt x="164" y="115"/>
                    <a:pt x="152" y="117"/>
                    <a:pt x="148" y="121"/>
                  </a:cubicBezTo>
                  <a:cubicBezTo>
                    <a:pt x="144" y="125"/>
                    <a:pt x="148" y="132"/>
                    <a:pt x="144" y="137"/>
                  </a:cubicBezTo>
                  <a:cubicBezTo>
                    <a:pt x="140" y="142"/>
                    <a:pt x="129" y="148"/>
                    <a:pt x="124" y="153"/>
                  </a:cubicBezTo>
                  <a:cubicBezTo>
                    <a:pt x="119" y="158"/>
                    <a:pt x="118" y="164"/>
                    <a:pt x="114" y="169"/>
                  </a:cubicBezTo>
                  <a:cubicBezTo>
                    <a:pt x="110" y="174"/>
                    <a:pt x="105" y="176"/>
                    <a:pt x="102" y="181"/>
                  </a:cubicBezTo>
                  <a:cubicBezTo>
                    <a:pt x="99" y="186"/>
                    <a:pt x="102" y="194"/>
                    <a:pt x="98" y="199"/>
                  </a:cubicBezTo>
                  <a:cubicBezTo>
                    <a:pt x="94" y="204"/>
                    <a:pt x="82" y="204"/>
                    <a:pt x="76" y="209"/>
                  </a:cubicBezTo>
                  <a:cubicBezTo>
                    <a:pt x="70" y="214"/>
                    <a:pt x="65" y="221"/>
                    <a:pt x="62" y="227"/>
                  </a:cubicBezTo>
                  <a:cubicBezTo>
                    <a:pt x="59" y="233"/>
                    <a:pt x="59" y="241"/>
                    <a:pt x="55" y="246"/>
                  </a:cubicBezTo>
                  <a:cubicBezTo>
                    <a:pt x="51" y="251"/>
                    <a:pt x="40" y="252"/>
                    <a:pt x="36" y="257"/>
                  </a:cubicBezTo>
                  <a:cubicBezTo>
                    <a:pt x="32" y="262"/>
                    <a:pt x="37" y="271"/>
                    <a:pt x="31" y="278"/>
                  </a:cubicBezTo>
                  <a:cubicBezTo>
                    <a:pt x="25" y="285"/>
                    <a:pt x="7" y="296"/>
                    <a:pt x="0" y="301"/>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Freeform 36"/>
            <p:cNvSpPr/>
            <p:nvPr/>
          </p:nvSpPr>
          <p:spPr bwMode="auto">
            <a:xfrm>
              <a:off x="2348" y="2294"/>
              <a:ext cx="279" cy="313"/>
            </a:xfrm>
            <a:custGeom>
              <a:avLst/>
              <a:gdLst>
                <a:gd name="T0" fmla="*/ 279 w 279"/>
                <a:gd name="T1" fmla="*/ 0 h 313"/>
                <a:gd name="T2" fmla="*/ 263 w 279"/>
                <a:gd name="T3" fmla="*/ 20 h 313"/>
                <a:gd name="T4" fmla="*/ 243 w 279"/>
                <a:gd name="T5" fmla="*/ 32 h 313"/>
                <a:gd name="T6" fmla="*/ 235 w 279"/>
                <a:gd name="T7" fmla="*/ 46 h 313"/>
                <a:gd name="T8" fmla="*/ 227 w 279"/>
                <a:gd name="T9" fmla="*/ 64 h 313"/>
                <a:gd name="T10" fmla="*/ 208 w 279"/>
                <a:gd name="T11" fmla="*/ 71 h 313"/>
                <a:gd name="T12" fmla="*/ 196 w 279"/>
                <a:gd name="T13" fmla="*/ 89 h 313"/>
                <a:gd name="T14" fmla="*/ 178 w 279"/>
                <a:gd name="T15" fmla="*/ 107 h 313"/>
                <a:gd name="T16" fmla="*/ 168 w 279"/>
                <a:gd name="T17" fmla="*/ 131 h 313"/>
                <a:gd name="T18" fmla="*/ 148 w 279"/>
                <a:gd name="T19" fmla="*/ 133 h 313"/>
                <a:gd name="T20" fmla="*/ 144 w 279"/>
                <a:gd name="T21" fmla="*/ 149 h 313"/>
                <a:gd name="T22" fmla="*/ 124 w 279"/>
                <a:gd name="T23" fmla="*/ 165 h 313"/>
                <a:gd name="T24" fmla="*/ 114 w 279"/>
                <a:gd name="T25" fmla="*/ 181 h 313"/>
                <a:gd name="T26" fmla="*/ 102 w 279"/>
                <a:gd name="T27" fmla="*/ 193 h 313"/>
                <a:gd name="T28" fmla="*/ 98 w 279"/>
                <a:gd name="T29" fmla="*/ 211 h 313"/>
                <a:gd name="T30" fmla="*/ 76 w 279"/>
                <a:gd name="T31" fmla="*/ 221 h 313"/>
                <a:gd name="T32" fmla="*/ 62 w 279"/>
                <a:gd name="T33" fmla="*/ 239 h 313"/>
                <a:gd name="T34" fmla="*/ 55 w 279"/>
                <a:gd name="T35" fmla="*/ 258 h 313"/>
                <a:gd name="T36" fmla="*/ 36 w 279"/>
                <a:gd name="T37" fmla="*/ 269 h 313"/>
                <a:gd name="T38" fmla="*/ 31 w 279"/>
                <a:gd name="T39" fmla="*/ 290 h 313"/>
                <a:gd name="T40" fmla="*/ 0 w 279"/>
                <a:gd name="T41" fmla="*/ 313 h 3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9" h="313">
                  <a:moveTo>
                    <a:pt x="279" y="0"/>
                  </a:moveTo>
                  <a:cubicBezTo>
                    <a:pt x="277" y="3"/>
                    <a:pt x="269" y="15"/>
                    <a:pt x="263" y="20"/>
                  </a:cubicBezTo>
                  <a:cubicBezTo>
                    <a:pt x="257" y="25"/>
                    <a:pt x="248" y="28"/>
                    <a:pt x="243" y="32"/>
                  </a:cubicBezTo>
                  <a:cubicBezTo>
                    <a:pt x="238" y="36"/>
                    <a:pt x="238" y="41"/>
                    <a:pt x="235" y="46"/>
                  </a:cubicBezTo>
                  <a:cubicBezTo>
                    <a:pt x="232" y="51"/>
                    <a:pt x="231" y="60"/>
                    <a:pt x="227" y="64"/>
                  </a:cubicBezTo>
                  <a:cubicBezTo>
                    <a:pt x="223" y="68"/>
                    <a:pt x="213" y="67"/>
                    <a:pt x="208" y="71"/>
                  </a:cubicBezTo>
                  <a:cubicBezTo>
                    <a:pt x="203" y="75"/>
                    <a:pt x="201" y="83"/>
                    <a:pt x="196" y="89"/>
                  </a:cubicBezTo>
                  <a:cubicBezTo>
                    <a:pt x="191" y="95"/>
                    <a:pt x="183" y="100"/>
                    <a:pt x="178" y="107"/>
                  </a:cubicBezTo>
                  <a:cubicBezTo>
                    <a:pt x="173" y="114"/>
                    <a:pt x="173" y="127"/>
                    <a:pt x="168" y="131"/>
                  </a:cubicBezTo>
                  <a:cubicBezTo>
                    <a:pt x="163" y="135"/>
                    <a:pt x="152" y="130"/>
                    <a:pt x="148" y="133"/>
                  </a:cubicBezTo>
                  <a:cubicBezTo>
                    <a:pt x="144" y="136"/>
                    <a:pt x="148" y="144"/>
                    <a:pt x="144" y="149"/>
                  </a:cubicBezTo>
                  <a:cubicBezTo>
                    <a:pt x="140" y="154"/>
                    <a:pt x="129" y="160"/>
                    <a:pt x="124" y="165"/>
                  </a:cubicBezTo>
                  <a:cubicBezTo>
                    <a:pt x="119" y="170"/>
                    <a:pt x="118" y="176"/>
                    <a:pt x="114" y="181"/>
                  </a:cubicBezTo>
                  <a:cubicBezTo>
                    <a:pt x="110" y="186"/>
                    <a:pt x="105" y="188"/>
                    <a:pt x="102" y="193"/>
                  </a:cubicBezTo>
                  <a:cubicBezTo>
                    <a:pt x="99" y="198"/>
                    <a:pt x="102" y="206"/>
                    <a:pt x="98" y="211"/>
                  </a:cubicBezTo>
                  <a:cubicBezTo>
                    <a:pt x="94" y="216"/>
                    <a:pt x="82" y="216"/>
                    <a:pt x="76" y="221"/>
                  </a:cubicBezTo>
                  <a:cubicBezTo>
                    <a:pt x="70" y="226"/>
                    <a:pt x="65" y="233"/>
                    <a:pt x="62" y="239"/>
                  </a:cubicBezTo>
                  <a:cubicBezTo>
                    <a:pt x="59" y="245"/>
                    <a:pt x="59" y="253"/>
                    <a:pt x="55" y="258"/>
                  </a:cubicBezTo>
                  <a:cubicBezTo>
                    <a:pt x="51" y="263"/>
                    <a:pt x="40" y="264"/>
                    <a:pt x="36" y="269"/>
                  </a:cubicBezTo>
                  <a:cubicBezTo>
                    <a:pt x="32" y="274"/>
                    <a:pt x="37" y="283"/>
                    <a:pt x="31" y="290"/>
                  </a:cubicBezTo>
                  <a:cubicBezTo>
                    <a:pt x="25" y="297"/>
                    <a:pt x="7" y="308"/>
                    <a:pt x="0" y="313"/>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Freeform 37"/>
            <p:cNvSpPr/>
            <p:nvPr/>
          </p:nvSpPr>
          <p:spPr bwMode="auto">
            <a:xfrm>
              <a:off x="2366" y="2307"/>
              <a:ext cx="282" cy="310"/>
            </a:xfrm>
            <a:custGeom>
              <a:avLst/>
              <a:gdLst>
                <a:gd name="T0" fmla="*/ 282 w 282"/>
                <a:gd name="T1" fmla="*/ 0 h 310"/>
                <a:gd name="T2" fmla="*/ 272 w 282"/>
                <a:gd name="T3" fmla="*/ 8 h 310"/>
                <a:gd name="T4" fmla="*/ 252 w 282"/>
                <a:gd name="T5" fmla="*/ 20 h 310"/>
                <a:gd name="T6" fmla="*/ 244 w 282"/>
                <a:gd name="T7" fmla="*/ 34 h 310"/>
                <a:gd name="T8" fmla="*/ 233 w 282"/>
                <a:gd name="T9" fmla="*/ 44 h 310"/>
                <a:gd name="T10" fmla="*/ 217 w 282"/>
                <a:gd name="T11" fmla="*/ 59 h 310"/>
                <a:gd name="T12" fmla="*/ 205 w 282"/>
                <a:gd name="T13" fmla="*/ 77 h 310"/>
                <a:gd name="T14" fmla="*/ 187 w 282"/>
                <a:gd name="T15" fmla="*/ 95 h 310"/>
                <a:gd name="T16" fmla="*/ 177 w 282"/>
                <a:gd name="T17" fmla="*/ 119 h 310"/>
                <a:gd name="T18" fmla="*/ 167 w 282"/>
                <a:gd name="T19" fmla="*/ 130 h 310"/>
                <a:gd name="T20" fmla="*/ 153 w 282"/>
                <a:gd name="T21" fmla="*/ 137 h 310"/>
                <a:gd name="T22" fmla="*/ 133 w 282"/>
                <a:gd name="T23" fmla="*/ 153 h 310"/>
                <a:gd name="T24" fmla="*/ 119 w 282"/>
                <a:gd name="T25" fmla="*/ 166 h 310"/>
                <a:gd name="T26" fmla="*/ 111 w 282"/>
                <a:gd name="T27" fmla="*/ 181 h 310"/>
                <a:gd name="T28" fmla="*/ 104 w 282"/>
                <a:gd name="T29" fmla="*/ 194 h 310"/>
                <a:gd name="T30" fmla="*/ 85 w 282"/>
                <a:gd name="T31" fmla="*/ 209 h 310"/>
                <a:gd name="T32" fmla="*/ 65 w 282"/>
                <a:gd name="T33" fmla="*/ 226 h 310"/>
                <a:gd name="T34" fmla="*/ 60 w 282"/>
                <a:gd name="T35" fmla="*/ 245 h 310"/>
                <a:gd name="T36" fmla="*/ 39 w 282"/>
                <a:gd name="T37" fmla="*/ 266 h 310"/>
                <a:gd name="T38" fmla="*/ 26 w 282"/>
                <a:gd name="T39" fmla="*/ 286 h 310"/>
                <a:gd name="T40" fmla="*/ 0 w 282"/>
                <a:gd name="T41" fmla="*/ 310 h 3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2" h="310">
                  <a:moveTo>
                    <a:pt x="282" y="0"/>
                  </a:moveTo>
                  <a:cubicBezTo>
                    <a:pt x="280" y="2"/>
                    <a:pt x="277" y="5"/>
                    <a:pt x="272" y="8"/>
                  </a:cubicBezTo>
                  <a:cubicBezTo>
                    <a:pt x="267" y="11"/>
                    <a:pt x="257" y="16"/>
                    <a:pt x="252" y="20"/>
                  </a:cubicBezTo>
                  <a:cubicBezTo>
                    <a:pt x="247" y="24"/>
                    <a:pt x="247" y="30"/>
                    <a:pt x="244" y="34"/>
                  </a:cubicBezTo>
                  <a:cubicBezTo>
                    <a:pt x="241" y="38"/>
                    <a:pt x="237" y="40"/>
                    <a:pt x="233" y="44"/>
                  </a:cubicBezTo>
                  <a:cubicBezTo>
                    <a:pt x="229" y="48"/>
                    <a:pt x="222" y="53"/>
                    <a:pt x="217" y="59"/>
                  </a:cubicBezTo>
                  <a:cubicBezTo>
                    <a:pt x="212" y="65"/>
                    <a:pt x="210" y="71"/>
                    <a:pt x="205" y="77"/>
                  </a:cubicBezTo>
                  <a:cubicBezTo>
                    <a:pt x="200" y="83"/>
                    <a:pt x="192" y="88"/>
                    <a:pt x="187" y="95"/>
                  </a:cubicBezTo>
                  <a:cubicBezTo>
                    <a:pt x="182" y="102"/>
                    <a:pt x="180" y="113"/>
                    <a:pt x="177" y="119"/>
                  </a:cubicBezTo>
                  <a:cubicBezTo>
                    <a:pt x="174" y="125"/>
                    <a:pt x="171" y="127"/>
                    <a:pt x="167" y="130"/>
                  </a:cubicBezTo>
                  <a:cubicBezTo>
                    <a:pt x="163" y="133"/>
                    <a:pt x="159" y="133"/>
                    <a:pt x="153" y="137"/>
                  </a:cubicBezTo>
                  <a:cubicBezTo>
                    <a:pt x="147" y="141"/>
                    <a:pt x="139" y="148"/>
                    <a:pt x="133" y="153"/>
                  </a:cubicBezTo>
                  <a:cubicBezTo>
                    <a:pt x="127" y="158"/>
                    <a:pt x="123" y="161"/>
                    <a:pt x="119" y="166"/>
                  </a:cubicBezTo>
                  <a:cubicBezTo>
                    <a:pt x="115" y="171"/>
                    <a:pt x="113" y="176"/>
                    <a:pt x="111" y="181"/>
                  </a:cubicBezTo>
                  <a:cubicBezTo>
                    <a:pt x="109" y="186"/>
                    <a:pt x="108" y="189"/>
                    <a:pt x="104" y="194"/>
                  </a:cubicBezTo>
                  <a:cubicBezTo>
                    <a:pt x="100" y="199"/>
                    <a:pt x="91" y="204"/>
                    <a:pt x="85" y="209"/>
                  </a:cubicBezTo>
                  <a:cubicBezTo>
                    <a:pt x="79" y="214"/>
                    <a:pt x="69" y="220"/>
                    <a:pt x="65" y="226"/>
                  </a:cubicBezTo>
                  <a:cubicBezTo>
                    <a:pt x="61" y="232"/>
                    <a:pt x="64" y="238"/>
                    <a:pt x="60" y="245"/>
                  </a:cubicBezTo>
                  <a:cubicBezTo>
                    <a:pt x="56" y="252"/>
                    <a:pt x="45" y="259"/>
                    <a:pt x="39" y="266"/>
                  </a:cubicBezTo>
                  <a:cubicBezTo>
                    <a:pt x="33" y="273"/>
                    <a:pt x="32" y="279"/>
                    <a:pt x="26" y="286"/>
                  </a:cubicBezTo>
                  <a:cubicBezTo>
                    <a:pt x="20" y="293"/>
                    <a:pt x="5" y="305"/>
                    <a:pt x="0" y="310"/>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Freeform 38"/>
            <p:cNvSpPr/>
            <p:nvPr/>
          </p:nvSpPr>
          <p:spPr bwMode="auto">
            <a:xfrm>
              <a:off x="2398" y="2308"/>
              <a:ext cx="273" cy="301"/>
            </a:xfrm>
            <a:custGeom>
              <a:avLst/>
              <a:gdLst>
                <a:gd name="T0" fmla="*/ 273 w 273"/>
                <a:gd name="T1" fmla="*/ 0 h 301"/>
                <a:gd name="T2" fmla="*/ 263 w 273"/>
                <a:gd name="T3" fmla="*/ 8 h 301"/>
                <a:gd name="T4" fmla="*/ 243 w 273"/>
                <a:gd name="T5" fmla="*/ 20 h 301"/>
                <a:gd name="T6" fmla="*/ 235 w 273"/>
                <a:gd name="T7" fmla="*/ 34 h 301"/>
                <a:gd name="T8" fmla="*/ 227 w 273"/>
                <a:gd name="T9" fmla="*/ 52 h 301"/>
                <a:gd name="T10" fmla="*/ 208 w 273"/>
                <a:gd name="T11" fmla="*/ 59 h 301"/>
                <a:gd name="T12" fmla="*/ 196 w 273"/>
                <a:gd name="T13" fmla="*/ 77 h 301"/>
                <a:gd name="T14" fmla="*/ 178 w 273"/>
                <a:gd name="T15" fmla="*/ 95 h 301"/>
                <a:gd name="T16" fmla="*/ 168 w 273"/>
                <a:gd name="T17" fmla="*/ 119 h 301"/>
                <a:gd name="T18" fmla="*/ 157 w 273"/>
                <a:gd name="T19" fmla="*/ 133 h 301"/>
                <a:gd name="T20" fmla="*/ 144 w 273"/>
                <a:gd name="T21" fmla="*/ 137 h 301"/>
                <a:gd name="T22" fmla="*/ 124 w 273"/>
                <a:gd name="T23" fmla="*/ 153 h 301"/>
                <a:gd name="T24" fmla="*/ 114 w 273"/>
                <a:gd name="T25" fmla="*/ 169 h 301"/>
                <a:gd name="T26" fmla="*/ 102 w 273"/>
                <a:gd name="T27" fmla="*/ 181 h 301"/>
                <a:gd name="T28" fmla="*/ 98 w 273"/>
                <a:gd name="T29" fmla="*/ 199 h 301"/>
                <a:gd name="T30" fmla="*/ 76 w 273"/>
                <a:gd name="T31" fmla="*/ 209 h 301"/>
                <a:gd name="T32" fmla="*/ 62 w 273"/>
                <a:gd name="T33" fmla="*/ 227 h 301"/>
                <a:gd name="T34" fmla="*/ 55 w 273"/>
                <a:gd name="T35" fmla="*/ 246 h 301"/>
                <a:gd name="T36" fmla="*/ 36 w 273"/>
                <a:gd name="T37" fmla="*/ 257 h 301"/>
                <a:gd name="T38" fmla="*/ 21 w 273"/>
                <a:gd name="T39" fmla="*/ 279 h 301"/>
                <a:gd name="T40" fmla="*/ 0 w 273"/>
                <a:gd name="T41" fmla="*/ 301 h 3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3" h="301">
                  <a:moveTo>
                    <a:pt x="273" y="0"/>
                  </a:moveTo>
                  <a:cubicBezTo>
                    <a:pt x="271" y="2"/>
                    <a:pt x="268" y="5"/>
                    <a:pt x="263" y="8"/>
                  </a:cubicBezTo>
                  <a:cubicBezTo>
                    <a:pt x="258" y="11"/>
                    <a:pt x="248" y="16"/>
                    <a:pt x="243" y="20"/>
                  </a:cubicBezTo>
                  <a:cubicBezTo>
                    <a:pt x="238" y="24"/>
                    <a:pt x="238" y="29"/>
                    <a:pt x="235" y="34"/>
                  </a:cubicBezTo>
                  <a:cubicBezTo>
                    <a:pt x="232" y="39"/>
                    <a:pt x="231" y="48"/>
                    <a:pt x="227" y="52"/>
                  </a:cubicBezTo>
                  <a:cubicBezTo>
                    <a:pt x="223" y="56"/>
                    <a:pt x="213" y="55"/>
                    <a:pt x="208" y="59"/>
                  </a:cubicBezTo>
                  <a:cubicBezTo>
                    <a:pt x="203" y="63"/>
                    <a:pt x="201" y="71"/>
                    <a:pt x="196" y="77"/>
                  </a:cubicBezTo>
                  <a:cubicBezTo>
                    <a:pt x="191" y="83"/>
                    <a:pt x="183" y="88"/>
                    <a:pt x="178" y="95"/>
                  </a:cubicBezTo>
                  <a:cubicBezTo>
                    <a:pt x="173" y="102"/>
                    <a:pt x="171" y="113"/>
                    <a:pt x="168" y="119"/>
                  </a:cubicBezTo>
                  <a:cubicBezTo>
                    <a:pt x="165" y="125"/>
                    <a:pt x="161" y="130"/>
                    <a:pt x="157" y="133"/>
                  </a:cubicBezTo>
                  <a:cubicBezTo>
                    <a:pt x="153" y="136"/>
                    <a:pt x="149" y="134"/>
                    <a:pt x="144" y="137"/>
                  </a:cubicBezTo>
                  <a:cubicBezTo>
                    <a:pt x="139" y="140"/>
                    <a:pt x="129" y="148"/>
                    <a:pt x="124" y="153"/>
                  </a:cubicBezTo>
                  <a:cubicBezTo>
                    <a:pt x="119" y="158"/>
                    <a:pt x="118" y="164"/>
                    <a:pt x="114" y="169"/>
                  </a:cubicBezTo>
                  <a:cubicBezTo>
                    <a:pt x="110" y="174"/>
                    <a:pt x="105" y="176"/>
                    <a:pt x="102" y="181"/>
                  </a:cubicBezTo>
                  <a:cubicBezTo>
                    <a:pt x="99" y="186"/>
                    <a:pt x="102" y="194"/>
                    <a:pt x="98" y="199"/>
                  </a:cubicBezTo>
                  <a:cubicBezTo>
                    <a:pt x="94" y="204"/>
                    <a:pt x="82" y="204"/>
                    <a:pt x="76" y="209"/>
                  </a:cubicBezTo>
                  <a:cubicBezTo>
                    <a:pt x="70" y="214"/>
                    <a:pt x="65" y="221"/>
                    <a:pt x="62" y="227"/>
                  </a:cubicBezTo>
                  <a:cubicBezTo>
                    <a:pt x="59" y="233"/>
                    <a:pt x="59" y="241"/>
                    <a:pt x="55" y="246"/>
                  </a:cubicBezTo>
                  <a:cubicBezTo>
                    <a:pt x="51" y="251"/>
                    <a:pt x="42" y="252"/>
                    <a:pt x="36" y="257"/>
                  </a:cubicBezTo>
                  <a:cubicBezTo>
                    <a:pt x="30" y="262"/>
                    <a:pt x="27" y="272"/>
                    <a:pt x="21" y="279"/>
                  </a:cubicBezTo>
                  <a:cubicBezTo>
                    <a:pt x="15" y="286"/>
                    <a:pt x="4" y="297"/>
                    <a:pt x="0" y="301"/>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4" name="Freeform 39"/>
            <p:cNvSpPr/>
            <p:nvPr/>
          </p:nvSpPr>
          <p:spPr bwMode="auto">
            <a:xfrm>
              <a:off x="2435" y="2297"/>
              <a:ext cx="273" cy="309"/>
            </a:xfrm>
            <a:custGeom>
              <a:avLst/>
              <a:gdLst>
                <a:gd name="T0" fmla="*/ 273 w 273"/>
                <a:gd name="T1" fmla="*/ 0 h 309"/>
                <a:gd name="T2" fmla="*/ 263 w 273"/>
                <a:gd name="T3" fmla="*/ 8 h 309"/>
                <a:gd name="T4" fmla="*/ 249 w 273"/>
                <a:gd name="T5" fmla="*/ 21 h 309"/>
                <a:gd name="T6" fmla="*/ 235 w 273"/>
                <a:gd name="T7" fmla="*/ 34 h 309"/>
                <a:gd name="T8" fmla="*/ 219 w 273"/>
                <a:gd name="T9" fmla="*/ 44 h 309"/>
                <a:gd name="T10" fmla="*/ 208 w 273"/>
                <a:gd name="T11" fmla="*/ 59 h 309"/>
                <a:gd name="T12" fmla="*/ 196 w 273"/>
                <a:gd name="T13" fmla="*/ 77 h 309"/>
                <a:gd name="T14" fmla="*/ 178 w 273"/>
                <a:gd name="T15" fmla="*/ 95 h 309"/>
                <a:gd name="T16" fmla="*/ 162 w 273"/>
                <a:gd name="T17" fmla="*/ 110 h 309"/>
                <a:gd name="T18" fmla="*/ 148 w 273"/>
                <a:gd name="T19" fmla="*/ 121 h 309"/>
                <a:gd name="T20" fmla="*/ 144 w 273"/>
                <a:gd name="T21" fmla="*/ 137 h 309"/>
                <a:gd name="T22" fmla="*/ 124 w 273"/>
                <a:gd name="T23" fmla="*/ 153 h 309"/>
                <a:gd name="T24" fmla="*/ 114 w 273"/>
                <a:gd name="T25" fmla="*/ 169 h 309"/>
                <a:gd name="T26" fmla="*/ 102 w 273"/>
                <a:gd name="T27" fmla="*/ 181 h 309"/>
                <a:gd name="T28" fmla="*/ 87 w 273"/>
                <a:gd name="T29" fmla="*/ 191 h 309"/>
                <a:gd name="T30" fmla="*/ 76 w 273"/>
                <a:gd name="T31" fmla="*/ 209 h 309"/>
                <a:gd name="T32" fmla="*/ 71 w 273"/>
                <a:gd name="T33" fmla="*/ 228 h 309"/>
                <a:gd name="T34" fmla="*/ 50 w 273"/>
                <a:gd name="T35" fmla="*/ 236 h 309"/>
                <a:gd name="T36" fmla="*/ 36 w 273"/>
                <a:gd name="T37" fmla="*/ 257 h 309"/>
                <a:gd name="T38" fmla="*/ 17 w 273"/>
                <a:gd name="T39" fmla="*/ 284 h 309"/>
                <a:gd name="T40" fmla="*/ 0 w 273"/>
                <a:gd name="T41" fmla="*/ 309 h 30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3" h="309">
                  <a:moveTo>
                    <a:pt x="273" y="0"/>
                  </a:moveTo>
                  <a:cubicBezTo>
                    <a:pt x="271" y="2"/>
                    <a:pt x="267" y="5"/>
                    <a:pt x="263" y="8"/>
                  </a:cubicBezTo>
                  <a:cubicBezTo>
                    <a:pt x="259" y="11"/>
                    <a:pt x="254" y="17"/>
                    <a:pt x="249" y="21"/>
                  </a:cubicBezTo>
                  <a:cubicBezTo>
                    <a:pt x="244" y="25"/>
                    <a:pt x="240" y="30"/>
                    <a:pt x="235" y="34"/>
                  </a:cubicBezTo>
                  <a:cubicBezTo>
                    <a:pt x="230" y="38"/>
                    <a:pt x="223" y="40"/>
                    <a:pt x="219" y="44"/>
                  </a:cubicBezTo>
                  <a:cubicBezTo>
                    <a:pt x="215" y="48"/>
                    <a:pt x="212" y="54"/>
                    <a:pt x="208" y="59"/>
                  </a:cubicBezTo>
                  <a:cubicBezTo>
                    <a:pt x="204" y="64"/>
                    <a:pt x="201" y="71"/>
                    <a:pt x="196" y="77"/>
                  </a:cubicBezTo>
                  <a:cubicBezTo>
                    <a:pt x="191" y="83"/>
                    <a:pt x="184" y="90"/>
                    <a:pt x="178" y="95"/>
                  </a:cubicBezTo>
                  <a:cubicBezTo>
                    <a:pt x="172" y="100"/>
                    <a:pt x="167" y="106"/>
                    <a:pt x="162" y="110"/>
                  </a:cubicBezTo>
                  <a:cubicBezTo>
                    <a:pt x="157" y="114"/>
                    <a:pt x="151" y="117"/>
                    <a:pt x="148" y="121"/>
                  </a:cubicBezTo>
                  <a:cubicBezTo>
                    <a:pt x="145" y="125"/>
                    <a:pt x="148" y="132"/>
                    <a:pt x="144" y="137"/>
                  </a:cubicBezTo>
                  <a:cubicBezTo>
                    <a:pt x="140" y="142"/>
                    <a:pt x="129" y="148"/>
                    <a:pt x="124" y="153"/>
                  </a:cubicBezTo>
                  <a:cubicBezTo>
                    <a:pt x="119" y="158"/>
                    <a:pt x="118" y="164"/>
                    <a:pt x="114" y="169"/>
                  </a:cubicBezTo>
                  <a:cubicBezTo>
                    <a:pt x="110" y="174"/>
                    <a:pt x="106" y="177"/>
                    <a:pt x="102" y="181"/>
                  </a:cubicBezTo>
                  <a:cubicBezTo>
                    <a:pt x="98" y="185"/>
                    <a:pt x="91" y="186"/>
                    <a:pt x="87" y="191"/>
                  </a:cubicBezTo>
                  <a:cubicBezTo>
                    <a:pt x="83" y="196"/>
                    <a:pt x="79" y="203"/>
                    <a:pt x="76" y="209"/>
                  </a:cubicBezTo>
                  <a:cubicBezTo>
                    <a:pt x="73" y="215"/>
                    <a:pt x="75" y="223"/>
                    <a:pt x="71" y="228"/>
                  </a:cubicBezTo>
                  <a:cubicBezTo>
                    <a:pt x="67" y="233"/>
                    <a:pt x="56" y="231"/>
                    <a:pt x="50" y="236"/>
                  </a:cubicBezTo>
                  <a:cubicBezTo>
                    <a:pt x="44" y="241"/>
                    <a:pt x="41" y="249"/>
                    <a:pt x="36" y="257"/>
                  </a:cubicBezTo>
                  <a:cubicBezTo>
                    <a:pt x="31" y="265"/>
                    <a:pt x="23" y="275"/>
                    <a:pt x="17" y="284"/>
                  </a:cubicBezTo>
                  <a:cubicBezTo>
                    <a:pt x="11" y="293"/>
                    <a:pt x="4" y="304"/>
                    <a:pt x="0" y="309"/>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5" name="Freeform 40"/>
            <p:cNvSpPr/>
            <p:nvPr/>
          </p:nvSpPr>
          <p:spPr bwMode="auto">
            <a:xfrm>
              <a:off x="2460" y="2287"/>
              <a:ext cx="281" cy="310"/>
            </a:xfrm>
            <a:custGeom>
              <a:avLst/>
              <a:gdLst>
                <a:gd name="T0" fmla="*/ 281 w 281"/>
                <a:gd name="T1" fmla="*/ 0 h 310"/>
                <a:gd name="T2" fmla="*/ 263 w 281"/>
                <a:gd name="T3" fmla="*/ 17 h 310"/>
                <a:gd name="T4" fmla="*/ 243 w 281"/>
                <a:gd name="T5" fmla="*/ 29 h 310"/>
                <a:gd name="T6" fmla="*/ 235 w 281"/>
                <a:gd name="T7" fmla="*/ 43 h 310"/>
                <a:gd name="T8" fmla="*/ 227 w 281"/>
                <a:gd name="T9" fmla="*/ 61 h 310"/>
                <a:gd name="T10" fmla="*/ 208 w 281"/>
                <a:gd name="T11" fmla="*/ 68 h 310"/>
                <a:gd name="T12" fmla="*/ 196 w 281"/>
                <a:gd name="T13" fmla="*/ 86 h 310"/>
                <a:gd name="T14" fmla="*/ 178 w 281"/>
                <a:gd name="T15" fmla="*/ 104 h 310"/>
                <a:gd name="T16" fmla="*/ 168 w 281"/>
                <a:gd name="T17" fmla="*/ 128 h 310"/>
                <a:gd name="T18" fmla="*/ 148 w 281"/>
                <a:gd name="T19" fmla="*/ 130 h 310"/>
                <a:gd name="T20" fmla="*/ 144 w 281"/>
                <a:gd name="T21" fmla="*/ 146 h 310"/>
                <a:gd name="T22" fmla="*/ 124 w 281"/>
                <a:gd name="T23" fmla="*/ 162 h 310"/>
                <a:gd name="T24" fmla="*/ 114 w 281"/>
                <a:gd name="T25" fmla="*/ 178 h 310"/>
                <a:gd name="T26" fmla="*/ 102 w 281"/>
                <a:gd name="T27" fmla="*/ 190 h 310"/>
                <a:gd name="T28" fmla="*/ 98 w 281"/>
                <a:gd name="T29" fmla="*/ 208 h 310"/>
                <a:gd name="T30" fmla="*/ 76 w 281"/>
                <a:gd name="T31" fmla="*/ 218 h 310"/>
                <a:gd name="T32" fmla="*/ 62 w 281"/>
                <a:gd name="T33" fmla="*/ 236 h 310"/>
                <a:gd name="T34" fmla="*/ 55 w 281"/>
                <a:gd name="T35" fmla="*/ 255 h 310"/>
                <a:gd name="T36" fmla="*/ 36 w 281"/>
                <a:gd name="T37" fmla="*/ 266 h 310"/>
                <a:gd name="T38" fmla="*/ 21 w 281"/>
                <a:gd name="T39" fmla="*/ 288 h 310"/>
                <a:gd name="T40" fmla="*/ 0 w 281"/>
                <a:gd name="T41" fmla="*/ 310 h 3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 h="310">
                  <a:moveTo>
                    <a:pt x="281" y="0"/>
                  </a:moveTo>
                  <a:cubicBezTo>
                    <a:pt x="278" y="3"/>
                    <a:pt x="269" y="12"/>
                    <a:pt x="263" y="17"/>
                  </a:cubicBezTo>
                  <a:cubicBezTo>
                    <a:pt x="257" y="22"/>
                    <a:pt x="248" y="25"/>
                    <a:pt x="243" y="29"/>
                  </a:cubicBezTo>
                  <a:cubicBezTo>
                    <a:pt x="238" y="33"/>
                    <a:pt x="238" y="38"/>
                    <a:pt x="235" y="43"/>
                  </a:cubicBezTo>
                  <a:cubicBezTo>
                    <a:pt x="232" y="48"/>
                    <a:pt x="231" y="57"/>
                    <a:pt x="227" y="61"/>
                  </a:cubicBezTo>
                  <a:cubicBezTo>
                    <a:pt x="223" y="65"/>
                    <a:pt x="213" y="64"/>
                    <a:pt x="208" y="68"/>
                  </a:cubicBezTo>
                  <a:cubicBezTo>
                    <a:pt x="203" y="72"/>
                    <a:pt x="201" y="80"/>
                    <a:pt x="196" y="86"/>
                  </a:cubicBezTo>
                  <a:cubicBezTo>
                    <a:pt x="191" y="92"/>
                    <a:pt x="183" y="97"/>
                    <a:pt x="178" y="104"/>
                  </a:cubicBezTo>
                  <a:cubicBezTo>
                    <a:pt x="173" y="111"/>
                    <a:pt x="173" y="124"/>
                    <a:pt x="168" y="128"/>
                  </a:cubicBezTo>
                  <a:cubicBezTo>
                    <a:pt x="163" y="132"/>
                    <a:pt x="152" y="127"/>
                    <a:pt x="148" y="130"/>
                  </a:cubicBezTo>
                  <a:cubicBezTo>
                    <a:pt x="144" y="133"/>
                    <a:pt x="148" y="141"/>
                    <a:pt x="144" y="146"/>
                  </a:cubicBezTo>
                  <a:cubicBezTo>
                    <a:pt x="140" y="151"/>
                    <a:pt x="129" y="157"/>
                    <a:pt x="124" y="162"/>
                  </a:cubicBezTo>
                  <a:cubicBezTo>
                    <a:pt x="119" y="167"/>
                    <a:pt x="118" y="173"/>
                    <a:pt x="114" y="178"/>
                  </a:cubicBezTo>
                  <a:cubicBezTo>
                    <a:pt x="110" y="183"/>
                    <a:pt x="105" y="185"/>
                    <a:pt x="102" y="190"/>
                  </a:cubicBezTo>
                  <a:cubicBezTo>
                    <a:pt x="99" y="195"/>
                    <a:pt x="102" y="203"/>
                    <a:pt x="98" y="208"/>
                  </a:cubicBezTo>
                  <a:cubicBezTo>
                    <a:pt x="94" y="213"/>
                    <a:pt x="82" y="213"/>
                    <a:pt x="76" y="218"/>
                  </a:cubicBezTo>
                  <a:cubicBezTo>
                    <a:pt x="70" y="223"/>
                    <a:pt x="65" y="230"/>
                    <a:pt x="62" y="236"/>
                  </a:cubicBezTo>
                  <a:cubicBezTo>
                    <a:pt x="59" y="242"/>
                    <a:pt x="59" y="250"/>
                    <a:pt x="55" y="255"/>
                  </a:cubicBezTo>
                  <a:cubicBezTo>
                    <a:pt x="51" y="260"/>
                    <a:pt x="42" y="261"/>
                    <a:pt x="36" y="266"/>
                  </a:cubicBezTo>
                  <a:cubicBezTo>
                    <a:pt x="30" y="271"/>
                    <a:pt x="27" y="281"/>
                    <a:pt x="21" y="288"/>
                  </a:cubicBezTo>
                  <a:cubicBezTo>
                    <a:pt x="15" y="295"/>
                    <a:pt x="4" y="306"/>
                    <a:pt x="0" y="310"/>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Freeform 41"/>
            <p:cNvSpPr/>
            <p:nvPr/>
          </p:nvSpPr>
          <p:spPr bwMode="auto">
            <a:xfrm>
              <a:off x="2481" y="2290"/>
              <a:ext cx="275" cy="322"/>
            </a:xfrm>
            <a:custGeom>
              <a:avLst/>
              <a:gdLst>
                <a:gd name="T0" fmla="*/ 275 w 275"/>
                <a:gd name="T1" fmla="*/ 0 h 322"/>
                <a:gd name="T2" fmla="*/ 257 w 275"/>
                <a:gd name="T3" fmla="*/ 19 h 322"/>
                <a:gd name="T4" fmla="*/ 243 w 275"/>
                <a:gd name="T5" fmla="*/ 41 h 322"/>
                <a:gd name="T6" fmla="*/ 232 w 275"/>
                <a:gd name="T7" fmla="*/ 48 h 322"/>
                <a:gd name="T8" fmla="*/ 220 w 275"/>
                <a:gd name="T9" fmla="*/ 67 h 322"/>
                <a:gd name="T10" fmla="*/ 208 w 275"/>
                <a:gd name="T11" fmla="*/ 80 h 322"/>
                <a:gd name="T12" fmla="*/ 188 w 275"/>
                <a:gd name="T13" fmla="*/ 93 h 322"/>
                <a:gd name="T14" fmla="*/ 178 w 275"/>
                <a:gd name="T15" fmla="*/ 116 h 322"/>
                <a:gd name="T16" fmla="*/ 166 w 275"/>
                <a:gd name="T17" fmla="*/ 133 h 322"/>
                <a:gd name="T18" fmla="*/ 148 w 275"/>
                <a:gd name="T19" fmla="*/ 142 h 322"/>
                <a:gd name="T20" fmla="*/ 144 w 275"/>
                <a:gd name="T21" fmla="*/ 158 h 322"/>
                <a:gd name="T22" fmla="*/ 124 w 275"/>
                <a:gd name="T23" fmla="*/ 174 h 322"/>
                <a:gd name="T24" fmla="*/ 114 w 275"/>
                <a:gd name="T25" fmla="*/ 190 h 322"/>
                <a:gd name="T26" fmla="*/ 102 w 275"/>
                <a:gd name="T27" fmla="*/ 202 h 322"/>
                <a:gd name="T28" fmla="*/ 98 w 275"/>
                <a:gd name="T29" fmla="*/ 220 h 322"/>
                <a:gd name="T30" fmla="*/ 76 w 275"/>
                <a:gd name="T31" fmla="*/ 230 h 322"/>
                <a:gd name="T32" fmla="*/ 62 w 275"/>
                <a:gd name="T33" fmla="*/ 248 h 322"/>
                <a:gd name="T34" fmla="*/ 47 w 275"/>
                <a:gd name="T35" fmla="*/ 259 h 322"/>
                <a:gd name="T36" fmla="*/ 36 w 275"/>
                <a:gd name="T37" fmla="*/ 278 h 322"/>
                <a:gd name="T38" fmla="*/ 10 w 275"/>
                <a:gd name="T39" fmla="*/ 298 h 322"/>
                <a:gd name="T40" fmla="*/ 0 w 275"/>
                <a:gd name="T41" fmla="*/ 322 h 3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5" h="322">
                  <a:moveTo>
                    <a:pt x="275" y="0"/>
                  </a:moveTo>
                  <a:cubicBezTo>
                    <a:pt x="272" y="3"/>
                    <a:pt x="262" y="12"/>
                    <a:pt x="257" y="19"/>
                  </a:cubicBezTo>
                  <a:cubicBezTo>
                    <a:pt x="252" y="26"/>
                    <a:pt x="247" y="36"/>
                    <a:pt x="243" y="41"/>
                  </a:cubicBezTo>
                  <a:cubicBezTo>
                    <a:pt x="239" y="46"/>
                    <a:pt x="236" y="44"/>
                    <a:pt x="232" y="48"/>
                  </a:cubicBezTo>
                  <a:cubicBezTo>
                    <a:pt x="228" y="52"/>
                    <a:pt x="224" y="62"/>
                    <a:pt x="220" y="67"/>
                  </a:cubicBezTo>
                  <a:cubicBezTo>
                    <a:pt x="216" y="72"/>
                    <a:pt x="213" y="76"/>
                    <a:pt x="208" y="80"/>
                  </a:cubicBezTo>
                  <a:cubicBezTo>
                    <a:pt x="203" y="84"/>
                    <a:pt x="193" y="87"/>
                    <a:pt x="188" y="93"/>
                  </a:cubicBezTo>
                  <a:cubicBezTo>
                    <a:pt x="183" y="99"/>
                    <a:pt x="182" y="109"/>
                    <a:pt x="178" y="116"/>
                  </a:cubicBezTo>
                  <a:cubicBezTo>
                    <a:pt x="174" y="123"/>
                    <a:pt x="171" y="129"/>
                    <a:pt x="166" y="133"/>
                  </a:cubicBezTo>
                  <a:cubicBezTo>
                    <a:pt x="161" y="137"/>
                    <a:pt x="152" y="138"/>
                    <a:pt x="148" y="142"/>
                  </a:cubicBezTo>
                  <a:cubicBezTo>
                    <a:pt x="144" y="146"/>
                    <a:pt x="148" y="153"/>
                    <a:pt x="144" y="158"/>
                  </a:cubicBezTo>
                  <a:cubicBezTo>
                    <a:pt x="140" y="163"/>
                    <a:pt x="129" y="169"/>
                    <a:pt x="124" y="174"/>
                  </a:cubicBezTo>
                  <a:cubicBezTo>
                    <a:pt x="119" y="179"/>
                    <a:pt x="118" y="185"/>
                    <a:pt x="114" y="190"/>
                  </a:cubicBezTo>
                  <a:cubicBezTo>
                    <a:pt x="110" y="195"/>
                    <a:pt x="105" y="197"/>
                    <a:pt x="102" y="202"/>
                  </a:cubicBezTo>
                  <a:cubicBezTo>
                    <a:pt x="99" y="207"/>
                    <a:pt x="102" y="215"/>
                    <a:pt x="98" y="220"/>
                  </a:cubicBezTo>
                  <a:cubicBezTo>
                    <a:pt x="94" y="225"/>
                    <a:pt x="82" y="225"/>
                    <a:pt x="76" y="230"/>
                  </a:cubicBezTo>
                  <a:cubicBezTo>
                    <a:pt x="70" y="235"/>
                    <a:pt x="67" y="243"/>
                    <a:pt x="62" y="248"/>
                  </a:cubicBezTo>
                  <a:cubicBezTo>
                    <a:pt x="57" y="253"/>
                    <a:pt x="51" y="254"/>
                    <a:pt x="47" y="259"/>
                  </a:cubicBezTo>
                  <a:cubicBezTo>
                    <a:pt x="43" y="264"/>
                    <a:pt x="42" y="272"/>
                    <a:pt x="36" y="278"/>
                  </a:cubicBezTo>
                  <a:cubicBezTo>
                    <a:pt x="30" y="284"/>
                    <a:pt x="16" y="291"/>
                    <a:pt x="10" y="298"/>
                  </a:cubicBezTo>
                  <a:cubicBezTo>
                    <a:pt x="4" y="305"/>
                    <a:pt x="2" y="317"/>
                    <a:pt x="0" y="32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8" name="Freeform 42"/>
            <p:cNvSpPr/>
            <p:nvPr/>
          </p:nvSpPr>
          <p:spPr bwMode="auto">
            <a:xfrm>
              <a:off x="2503" y="2294"/>
              <a:ext cx="288" cy="312"/>
            </a:xfrm>
            <a:custGeom>
              <a:avLst/>
              <a:gdLst>
                <a:gd name="T0" fmla="*/ 288 w 288"/>
                <a:gd name="T1" fmla="*/ 0 h 312"/>
                <a:gd name="T2" fmla="*/ 278 w 288"/>
                <a:gd name="T3" fmla="*/ 8 h 312"/>
                <a:gd name="T4" fmla="*/ 258 w 288"/>
                <a:gd name="T5" fmla="*/ 20 h 312"/>
                <a:gd name="T6" fmla="*/ 250 w 288"/>
                <a:gd name="T7" fmla="*/ 34 h 312"/>
                <a:gd name="T8" fmla="*/ 242 w 288"/>
                <a:gd name="T9" fmla="*/ 52 h 312"/>
                <a:gd name="T10" fmla="*/ 223 w 288"/>
                <a:gd name="T11" fmla="*/ 59 h 312"/>
                <a:gd name="T12" fmla="*/ 211 w 288"/>
                <a:gd name="T13" fmla="*/ 77 h 312"/>
                <a:gd name="T14" fmla="*/ 193 w 288"/>
                <a:gd name="T15" fmla="*/ 95 h 312"/>
                <a:gd name="T16" fmla="*/ 183 w 288"/>
                <a:gd name="T17" fmla="*/ 119 h 312"/>
                <a:gd name="T18" fmla="*/ 163 w 288"/>
                <a:gd name="T19" fmla="*/ 121 h 312"/>
                <a:gd name="T20" fmla="*/ 159 w 288"/>
                <a:gd name="T21" fmla="*/ 137 h 312"/>
                <a:gd name="T22" fmla="*/ 139 w 288"/>
                <a:gd name="T23" fmla="*/ 153 h 312"/>
                <a:gd name="T24" fmla="*/ 129 w 288"/>
                <a:gd name="T25" fmla="*/ 169 h 312"/>
                <a:gd name="T26" fmla="*/ 117 w 288"/>
                <a:gd name="T27" fmla="*/ 181 h 312"/>
                <a:gd name="T28" fmla="*/ 113 w 288"/>
                <a:gd name="T29" fmla="*/ 199 h 312"/>
                <a:gd name="T30" fmla="*/ 91 w 288"/>
                <a:gd name="T31" fmla="*/ 209 h 312"/>
                <a:gd name="T32" fmla="*/ 87 w 288"/>
                <a:gd name="T33" fmla="*/ 230 h 312"/>
                <a:gd name="T34" fmla="*/ 70 w 288"/>
                <a:gd name="T35" fmla="*/ 246 h 312"/>
                <a:gd name="T36" fmla="*/ 46 w 288"/>
                <a:gd name="T37" fmla="*/ 260 h 312"/>
                <a:gd name="T38" fmla="*/ 31 w 288"/>
                <a:gd name="T39" fmla="*/ 285 h 312"/>
                <a:gd name="T40" fmla="*/ 0 w 288"/>
                <a:gd name="T41" fmla="*/ 312 h 3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8" h="312">
                  <a:moveTo>
                    <a:pt x="288" y="0"/>
                  </a:moveTo>
                  <a:cubicBezTo>
                    <a:pt x="286" y="2"/>
                    <a:pt x="283" y="5"/>
                    <a:pt x="278" y="8"/>
                  </a:cubicBezTo>
                  <a:cubicBezTo>
                    <a:pt x="273" y="11"/>
                    <a:pt x="263" y="16"/>
                    <a:pt x="258" y="20"/>
                  </a:cubicBezTo>
                  <a:cubicBezTo>
                    <a:pt x="253" y="24"/>
                    <a:pt x="253" y="29"/>
                    <a:pt x="250" y="34"/>
                  </a:cubicBezTo>
                  <a:cubicBezTo>
                    <a:pt x="247" y="39"/>
                    <a:pt x="246" y="48"/>
                    <a:pt x="242" y="52"/>
                  </a:cubicBezTo>
                  <a:cubicBezTo>
                    <a:pt x="238" y="56"/>
                    <a:pt x="228" y="55"/>
                    <a:pt x="223" y="59"/>
                  </a:cubicBezTo>
                  <a:cubicBezTo>
                    <a:pt x="218" y="63"/>
                    <a:pt x="216" y="71"/>
                    <a:pt x="211" y="77"/>
                  </a:cubicBezTo>
                  <a:cubicBezTo>
                    <a:pt x="206" y="83"/>
                    <a:pt x="198" y="88"/>
                    <a:pt x="193" y="95"/>
                  </a:cubicBezTo>
                  <a:cubicBezTo>
                    <a:pt x="188" y="102"/>
                    <a:pt x="188" y="115"/>
                    <a:pt x="183" y="119"/>
                  </a:cubicBezTo>
                  <a:cubicBezTo>
                    <a:pt x="178" y="123"/>
                    <a:pt x="167" y="118"/>
                    <a:pt x="163" y="121"/>
                  </a:cubicBezTo>
                  <a:cubicBezTo>
                    <a:pt x="159" y="124"/>
                    <a:pt x="163" y="132"/>
                    <a:pt x="159" y="137"/>
                  </a:cubicBezTo>
                  <a:cubicBezTo>
                    <a:pt x="155" y="142"/>
                    <a:pt x="144" y="148"/>
                    <a:pt x="139" y="153"/>
                  </a:cubicBezTo>
                  <a:cubicBezTo>
                    <a:pt x="134" y="158"/>
                    <a:pt x="133" y="164"/>
                    <a:pt x="129" y="169"/>
                  </a:cubicBezTo>
                  <a:cubicBezTo>
                    <a:pt x="125" y="174"/>
                    <a:pt x="120" y="176"/>
                    <a:pt x="117" y="181"/>
                  </a:cubicBezTo>
                  <a:cubicBezTo>
                    <a:pt x="114" y="186"/>
                    <a:pt x="117" y="194"/>
                    <a:pt x="113" y="199"/>
                  </a:cubicBezTo>
                  <a:cubicBezTo>
                    <a:pt x="109" y="204"/>
                    <a:pt x="95" y="204"/>
                    <a:pt x="91" y="209"/>
                  </a:cubicBezTo>
                  <a:cubicBezTo>
                    <a:pt x="87" y="214"/>
                    <a:pt x="90" y="224"/>
                    <a:pt x="87" y="230"/>
                  </a:cubicBezTo>
                  <a:cubicBezTo>
                    <a:pt x="84" y="236"/>
                    <a:pt x="77" y="241"/>
                    <a:pt x="70" y="246"/>
                  </a:cubicBezTo>
                  <a:cubicBezTo>
                    <a:pt x="63" y="251"/>
                    <a:pt x="52" y="254"/>
                    <a:pt x="46" y="260"/>
                  </a:cubicBezTo>
                  <a:cubicBezTo>
                    <a:pt x="40" y="266"/>
                    <a:pt x="39" y="276"/>
                    <a:pt x="31" y="285"/>
                  </a:cubicBezTo>
                  <a:cubicBezTo>
                    <a:pt x="23" y="294"/>
                    <a:pt x="6" y="307"/>
                    <a:pt x="0" y="31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Freeform 43"/>
            <p:cNvSpPr/>
            <p:nvPr/>
          </p:nvSpPr>
          <p:spPr bwMode="auto">
            <a:xfrm>
              <a:off x="2545" y="2291"/>
              <a:ext cx="270" cy="309"/>
            </a:xfrm>
            <a:custGeom>
              <a:avLst/>
              <a:gdLst>
                <a:gd name="T0" fmla="*/ 270 w 270"/>
                <a:gd name="T1" fmla="*/ 0 h 309"/>
                <a:gd name="T2" fmla="*/ 263 w 270"/>
                <a:gd name="T3" fmla="*/ 16 h 309"/>
                <a:gd name="T4" fmla="*/ 243 w 270"/>
                <a:gd name="T5" fmla="*/ 28 h 309"/>
                <a:gd name="T6" fmla="*/ 235 w 270"/>
                <a:gd name="T7" fmla="*/ 42 h 309"/>
                <a:gd name="T8" fmla="*/ 227 w 270"/>
                <a:gd name="T9" fmla="*/ 60 h 309"/>
                <a:gd name="T10" fmla="*/ 208 w 270"/>
                <a:gd name="T11" fmla="*/ 67 h 309"/>
                <a:gd name="T12" fmla="*/ 196 w 270"/>
                <a:gd name="T13" fmla="*/ 85 h 309"/>
                <a:gd name="T14" fmla="*/ 178 w 270"/>
                <a:gd name="T15" fmla="*/ 103 h 309"/>
                <a:gd name="T16" fmla="*/ 168 w 270"/>
                <a:gd name="T17" fmla="*/ 127 h 309"/>
                <a:gd name="T18" fmla="*/ 157 w 270"/>
                <a:gd name="T19" fmla="*/ 131 h 309"/>
                <a:gd name="T20" fmla="*/ 144 w 270"/>
                <a:gd name="T21" fmla="*/ 145 h 309"/>
                <a:gd name="T22" fmla="*/ 124 w 270"/>
                <a:gd name="T23" fmla="*/ 161 h 309"/>
                <a:gd name="T24" fmla="*/ 114 w 270"/>
                <a:gd name="T25" fmla="*/ 177 h 309"/>
                <a:gd name="T26" fmla="*/ 102 w 270"/>
                <a:gd name="T27" fmla="*/ 189 h 309"/>
                <a:gd name="T28" fmla="*/ 98 w 270"/>
                <a:gd name="T29" fmla="*/ 207 h 309"/>
                <a:gd name="T30" fmla="*/ 76 w 270"/>
                <a:gd name="T31" fmla="*/ 217 h 309"/>
                <a:gd name="T32" fmla="*/ 62 w 270"/>
                <a:gd name="T33" fmla="*/ 235 h 309"/>
                <a:gd name="T34" fmla="*/ 55 w 270"/>
                <a:gd name="T35" fmla="*/ 254 h 309"/>
                <a:gd name="T36" fmla="*/ 36 w 270"/>
                <a:gd name="T37" fmla="*/ 265 h 309"/>
                <a:gd name="T38" fmla="*/ 9 w 270"/>
                <a:gd name="T39" fmla="*/ 284 h 309"/>
                <a:gd name="T40" fmla="*/ 0 w 270"/>
                <a:gd name="T41" fmla="*/ 309 h 30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0" h="309">
                  <a:moveTo>
                    <a:pt x="270" y="0"/>
                  </a:moveTo>
                  <a:cubicBezTo>
                    <a:pt x="269" y="2"/>
                    <a:pt x="267" y="11"/>
                    <a:pt x="263" y="16"/>
                  </a:cubicBezTo>
                  <a:cubicBezTo>
                    <a:pt x="259" y="21"/>
                    <a:pt x="248" y="24"/>
                    <a:pt x="243" y="28"/>
                  </a:cubicBezTo>
                  <a:cubicBezTo>
                    <a:pt x="238" y="32"/>
                    <a:pt x="238" y="37"/>
                    <a:pt x="235" y="42"/>
                  </a:cubicBezTo>
                  <a:cubicBezTo>
                    <a:pt x="232" y="47"/>
                    <a:pt x="231" y="56"/>
                    <a:pt x="227" y="60"/>
                  </a:cubicBezTo>
                  <a:cubicBezTo>
                    <a:pt x="223" y="64"/>
                    <a:pt x="213" y="63"/>
                    <a:pt x="208" y="67"/>
                  </a:cubicBezTo>
                  <a:cubicBezTo>
                    <a:pt x="203" y="71"/>
                    <a:pt x="201" y="79"/>
                    <a:pt x="196" y="85"/>
                  </a:cubicBezTo>
                  <a:cubicBezTo>
                    <a:pt x="191" y="91"/>
                    <a:pt x="183" y="96"/>
                    <a:pt x="178" y="103"/>
                  </a:cubicBezTo>
                  <a:cubicBezTo>
                    <a:pt x="173" y="110"/>
                    <a:pt x="172" y="122"/>
                    <a:pt x="168" y="127"/>
                  </a:cubicBezTo>
                  <a:cubicBezTo>
                    <a:pt x="164" y="132"/>
                    <a:pt x="161" y="128"/>
                    <a:pt x="157" y="131"/>
                  </a:cubicBezTo>
                  <a:cubicBezTo>
                    <a:pt x="153" y="134"/>
                    <a:pt x="150" y="140"/>
                    <a:pt x="144" y="145"/>
                  </a:cubicBezTo>
                  <a:cubicBezTo>
                    <a:pt x="138" y="150"/>
                    <a:pt x="129" y="156"/>
                    <a:pt x="124" y="161"/>
                  </a:cubicBezTo>
                  <a:cubicBezTo>
                    <a:pt x="119" y="166"/>
                    <a:pt x="118" y="172"/>
                    <a:pt x="114" y="177"/>
                  </a:cubicBezTo>
                  <a:cubicBezTo>
                    <a:pt x="110" y="182"/>
                    <a:pt x="105" y="184"/>
                    <a:pt x="102" y="189"/>
                  </a:cubicBezTo>
                  <a:cubicBezTo>
                    <a:pt x="99" y="194"/>
                    <a:pt x="102" y="202"/>
                    <a:pt x="98" y="207"/>
                  </a:cubicBezTo>
                  <a:cubicBezTo>
                    <a:pt x="94" y="212"/>
                    <a:pt x="82" y="212"/>
                    <a:pt x="76" y="217"/>
                  </a:cubicBezTo>
                  <a:cubicBezTo>
                    <a:pt x="70" y="222"/>
                    <a:pt x="65" y="229"/>
                    <a:pt x="62" y="235"/>
                  </a:cubicBezTo>
                  <a:cubicBezTo>
                    <a:pt x="59" y="241"/>
                    <a:pt x="59" y="249"/>
                    <a:pt x="55" y="254"/>
                  </a:cubicBezTo>
                  <a:cubicBezTo>
                    <a:pt x="51" y="259"/>
                    <a:pt x="44" y="260"/>
                    <a:pt x="36" y="265"/>
                  </a:cubicBezTo>
                  <a:cubicBezTo>
                    <a:pt x="28" y="270"/>
                    <a:pt x="15" y="277"/>
                    <a:pt x="9" y="284"/>
                  </a:cubicBezTo>
                  <a:cubicBezTo>
                    <a:pt x="3" y="291"/>
                    <a:pt x="2" y="304"/>
                    <a:pt x="0" y="309"/>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Freeform 44"/>
            <p:cNvSpPr/>
            <p:nvPr/>
          </p:nvSpPr>
          <p:spPr bwMode="auto">
            <a:xfrm>
              <a:off x="2574" y="2282"/>
              <a:ext cx="281" cy="315"/>
            </a:xfrm>
            <a:custGeom>
              <a:avLst/>
              <a:gdLst>
                <a:gd name="T0" fmla="*/ 281 w 281"/>
                <a:gd name="T1" fmla="*/ 0 h 315"/>
                <a:gd name="T2" fmla="*/ 263 w 281"/>
                <a:gd name="T3" fmla="*/ 22 h 315"/>
                <a:gd name="T4" fmla="*/ 243 w 281"/>
                <a:gd name="T5" fmla="*/ 34 h 315"/>
                <a:gd name="T6" fmla="*/ 235 w 281"/>
                <a:gd name="T7" fmla="*/ 48 h 315"/>
                <a:gd name="T8" fmla="*/ 227 w 281"/>
                <a:gd name="T9" fmla="*/ 66 h 315"/>
                <a:gd name="T10" fmla="*/ 208 w 281"/>
                <a:gd name="T11" fmla="*/ 73 h 315"/>
                <a:gd name="T12" fmla="*/ 196 w 281"/>
                <a:gd name="T13" fmla="*/ 91 h 315"/>
                <a:gd name="T14" fmla="*/ 178 w 281"/>
                <a:gd name="T15" fmla="*/ 109 h 315"/>
                <a:gd name="T16" fmla="*/ 168 w 281"/>
                <a:gd name="T17" fmla="*/ 133 h 315"/>
                <a:gd name="T18" fmla="*/ 155 w 281"/>
                <a:gd name="T19" fmla="*/ 138 h 315"/>
                <a:gd name="T20" fmla="*/ 144 w 281"/>
                <a:gd name="T21" fmla="*/ 151 h 315"/>
                <a:gd name="T22" fmla="*/ 124 w 281"/>
                <a:gd name="T23" fmla="*/ 167 h 315"/>
                <a:gd name="T24" fmla="*/ 114 w 281"/>
                <a:gd name="T25" fmla="*/ 183 h 315"/>
                <a:gd name="T26" fmla="*/ 102 w 281"/>
                <a:gd name="T27" fmla="*/ 195 h 315"/>
                <a:gd name="T28" fmla="*/ 98 w 281"/>
                <a:gd name="T29" fmla="*/ 213 h 315"/>
                <a:gd name="T30" fmla="*/ 76 w 281"/>
                <a:gd name="T31" fmla="*/ 223 h 315"/>
                <a:gd name="T32" fmla="*/ 62 w 281"/>
                <a:gd name="T33" fmla="*/ 241 h 315"/>
                <a:gd name="T34" fmla="*/ 55 w 281"/>
                <a:gd name="T35" fmla="*/ 260 h 315"/>
                <a:gd name="T36" fmla="*/ 37 w 281"/>
                <a:gd name="T37" fmla="*/ 281 h 315"/>
                <a:gd name="T38" fmla="*/ 11 w 281"/>
                <a:gd name="T39" fmla="*/ 291 h 315"/>
                <a:gd name="T40" fmla="*/ 0 w 281"/>
                <a:gd name="T41" fmla="*/ 315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 h="315">
                  <a:moveTo>
                    <a:pt x="281" y="0"/>
                  </a:moveTo>
                  <a:cubicBezTo>
                    <a:pt x="278" y="4"/>
                    <a:pt x="269" y="16"/>
                    <a:pt x="263" y="22"/>
                  </a:cubicBezTo>
                  <a:cubicBezTo>
                    <a:pt x="257" y="28"/>
                    <a:pt x="248" y="30"/>
                    <a:pt x="243" y="34"/>
                  </a:cubicBezTo>
                  <a:cubicBezTo>
                    <a:pt x="238" y="38"/>
                    <a:pt x="238" y="43"/>
                    <a:pt x="235" y="48"/>
                  </a:cubicBezTo>
                  <a:cubicBezTo>
                    <a:pt x="232" y="53"/>
                    <a:pt x="231" y="62"/>
                    <a:pt x="227" y="66"/>
                  </a:cubicBezTo>
                  <a:cubicBezTo>
                    <a:pt x="223" y="70"/>
                    <a:pt x="213" y="69"/>
                    <a:pt x="208" y="73"/>
                  </a:cubicBezTo>
                  <a:cubicBezTo>
                    <a:pt x="203" y="77"/>
                    <a:pt x="201" y="85"/>
                    <a:pt x="196" y="91"/>
                  </a:cubicBezTo>
                  <a:cubicBezTo>
                    <a:pt x="191" y="97"/>
                    <a:pt x="183" y="102"/>
                    <a:pt x="178" y="109"/>
                  </a:cubicBezTo>
                  <a:cubicBezTo>
                    <a:pt x="173" y="116"/>
                    <a:pt x="172" y="128"/>
                    <a:pt x="168" y="133"/>
                  </a:cubicBezTo>
                  <a:cubicBezTo>
                    <a:pt x="164" y="138"/>
                    <a:pt x="159" y="135"/>
                    <a:pt x="155" y="138"/>
                  </a:cubicBezTo>
                  <a:cubicBezTo>
                    <a:pt x="151" y="141"/>
                    <a:pt x="149" y="146"/>
                    <a:pt x="144" y="151"/>
                  </a:cubicBezTo>
                  <a:cubicBezTo>
                    <a:pt x="139" y="156"/>
                    <a:pt x="129" y="162"/>
                    <a:pt x="124" y="167"/>
                  </a:cubicBezTo>
                  <a:cubicBezTo>
                    <a:pt x="119" y="172"/>
                    <a:pt x="118" y="178"/>
                    <a:pt x="114" y="183"/>
                  </a:cubicBezTo>
                  <a:cubicBezTo>
                    <a:pt x="110" y="188"/>
                    <a:pt x="105" y="190"/>
                    <a:pt x="102" y="195"/>
                  </a:cubicBezTo>
                  <a:cubicBezTo>
                    <a:pt x="99" y="200"/>
                    <a:pt x="102" y="208"/>
                    <a:pt x="98" y="213"/>
                  </a:cubicBezTo>
                  <a:cubicBezTo>
                    <a:pt x="94" y="218"/>
                    <a:pt x="82" y="218"/>
                    <a:pt x="76" y="223"/>
                  </a:cubicBezTo>
                  <a:cubicBezTo>
                    <a:pt x="70" y="228"/>
                    <a:pt x="65" y="235"/>
                    <a:pt x="62" y="241"/>
                  </a:cubicBezTo>
                  <a:cubicBezTo>
                    <a:pt x="59" y="247"/>
                    <a:pt x="59" y="253"/>
                    <a:pt x="55" y="260"/>
                  </a:cubicBezTo>
                  <a:cubicBezTo>
                    <a:pt x="51" y="267"/>
                    <a:pt x="44" y="276"/>
                    <a:pt x="37" y="281"/>
                  </a:cubicBezTo>
                  <a:cubicBezTo>
                    <a:pt x="30" y="286"/>
                    <a:pt x="17" y="285"/>
                    <a:pt x="11" y="291"/>
                  </a:cubicBezTo>
                  <a:cubicBezTo>
                    <a:pt x="5" y="297"/>
                    <a:pt x="2" y="310"/>
                    <a:pt x="0" y="315"/>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1" name="Freeform 45"/>
            <p:cNvSpPr/>
            <p:nvPr/>
          </p:nvSpPr>
          <p:spPr bwMode="auto">
            <a:xfrm>
              <a:off x="2599" y="2285"/>
              <a:ext cx="273" cy="317"/>
            </a:xfrm>
            <a:custGeom>
              <a:avLst/>
              <a:gdLst>
                <a:gd name="T0" fmla="*/ 273 w 273"/>
                <a:gd name="T1" fmla="*/ 0 h 317"/>
                <a:gd name="T2" fmla="*/ 263 w 273"/>
                <a:gd name="T3" fmla="*/ 24 h 317"/>
                <a:gd name="T4" fmla="*/ 243 w 273"/>
                <a:gd name="T5" fmla="*/ 36 h 317"/>
                <a:gd name="T6" fmla="*/ 235 w 273"/>
                <a:gd name="T7" fmla="*/ 50 h 317"/>
                <a:gd name="T8" fmla="*/ 227 w 273"/>
                <a:gd name="T9" fmla="*/ 68 h 317"/>
                <a:gd name="T10" fmla="*/ 208 w 273"/>
                <a:gd name="T11" fmla="*/ 75 h 317"/>
                <a:gd name="T12" fmla="*/ 196 w 273"/>
                <a:gd name="T13" fmla="*/ 93 h 317"/>
                <a:gd name="T14" fmla="*/ 178 w 273"/>
                <a:gd name="T15" fmla="*/ 111 h 317"/>
                <a:gd name="T16" fmla="*/ 164 w 273"/>
                <a:gd name="T17" fmla="*/ 125 h 317"/>
                <a:gd name="T18" fmla="*/ 159 w 273"/>
                <a:gd name="T19" fmla="*/ 141 h 317"/>
                <a:gd name="T20" fmla="*/ 144 w 273"/>
                <a:gd name="T21" fmla="*/ 153 h 317"/>
                <a:gd name="T22" fmla="*/ 124 w 273"/>
                <a:gd name="T23" fmla="*/ 169 h 317"/>
                <a:gd name="T24" fmla="*/ 114 w 273"/>
                <a:gd name="T25" fmla="*/ 185 h 317"/>
                <a:gd name="T26" fmla="*/ 102 w 273"/>
                <a:gd name="T27" fmla="*/ 197 h 317"/>
                <a:gd name="T28" fmla="*/ 98 w 273"/>
                <a:gd name="T29" fmla="*/ 215 h 317"/>
                <a:gd name="T30" fmla="*/ 76 w 273"/>
                <a:gd name="T31" fmla="*/ 225 h 317"/>
                <a:gd name="T32" fmla="*/ 62 w 273"/>
                <a:gd name="T33" fmla="*/ 243 h 317"/>
                <a:gd name="T34" fmla="*/ 55 w 273"/>
                <a:gd name="T35" fmla="*/ 262 h 317"/>
                <a:gd name="T36" fmla="*/ 36 w 273"/>
                <a:gd name="T37" fmla="*/ 273 h 317"/>
                <a:gd name="T38" fmla="*/ 21 w 273"/>
                <a:gd name="T39" fmla="*/ 296 h 317"/>
                <a:gd name="T40" fmla="*/ 0 w 273"/>
                <a:gd name="T41" fmla="*/ 317 h 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3" h="317">
                  <a:moveTo>
                    <a:pt x="273" y="0"/>
                  </a:moveTo>
                  <a:cubicBezTo>
                    <a:pt x="271" y="4"/>
                    <a:pt x="268" y="18"/>
                    <a:pt x="263" y="24"/>
                  </a:cubicBezTo>
                  <a:cubicBezTo>
                    <a:pt x="258" y="30"/>
                    <a:pt x="248" y="32"/>
                    <a:pt x="243" y="36"/>
                  </a:cubicBezTo>
                  <a:cubicBezTo>
                    <a:pt x="238" y="40"/>
                    <a:pt x="238" y="45"/>
                    <a:pt x="235" y="50"/>
                  </a:cubicBezTo>
                  <a:cubicBezTo>
                    <a:pt x="232" y="55"/>
                    <a:pt x="231" y="64"/>
                    <a:pt x="227" y="68"/>
                  </a:cubicBezTo>
                  <a:cubicBezTo>
                    <a:pt x="223" y="72"/>
                    <a:pt x="213" y="71"/>
                    <a:pt x="208" y="75"/>
                  </a:cubicBezTo>
                  <a:cubicBezTo>
                    <a:pt x="203" y="79"/>
                    <a:pt x="201" y="87"/>
                    <a:pt x="196" y="93"/>
                  </a:cubicBezTo>
                  <a:cubicBezTo>
                    <a:pt x="191" y="99"/>
                    <a:pt x="183" y="106"/>
                    <a:pt x="178" y="111"/>
                  </a:cubicBezTo>
                  <a:cubicBezTo>
                    <a:pt x="173" y="116"/>
                    <a:pt x="167" y="120"/>
                    <a:pt x="164" y="125"/>
                  </a:cubicBezTo>
                  <a:cubicBezTo>
                    <a:pt x="161" y="130"/>
                    <a:pt x="162" y="136"/>
                    <a:pt x="159" y="141"/>
                  </a:cubicBezTo>
                  <a:cubicBezTo>
                    <a:pt x="156" y="146"/>
                    <a:pt x="150" y="148"/>
                    <a:pt x="144" y="153"/>
                  </a:cubicBezTo>
                  <a:cubicBezTo>
                    <a:pt x="138" y="158"/>
                    <a:pt x="129" y="164"/>
                    <a:pt x="124" y="169"/>
                  </a:cubicBezTo>
                  <a:cubicBezTo>
                    <a:pt x="119" y="174"/>
                    <a:pt x="118" y="180"/>
                    <a:pt x="114" y="185"/>
                  </a:cubicBezTo>
                  <a:cubicBezTo>
                    <a:pt x="110" y="190"/>
                    <a:pt x="105" y="192"/>
                    <a:pt x="102" y="197"/>
                  </a:cubicBezTo>
                  <a:cubicBezTo>
                    <a:pt x="99" y="202"/>
                    <a:pt x="102" y="210"/>
                    <a:pt x="98" y="215"/>
                  </a:cubicBezTo>
                  <a:cubicBezTo>
                    <a:pt x="94" y="220"/>
                    <a:pt x="82" y="220"/>
                    <a:pt x="76" y="225"/>
                  </a:cubicBezTo>
                  <a:cubicBezTo>
                    <a:pt x="70" y="230"/>
                    <a:pt x="65" y="237"/>
                    <a:pt x="62" y="243"/>
                  </a:cubicBezTo>
                  <a:cubicBezTo>
                    <a:pt x="59" y="249"/>
                    <a:pt x="59" y="257"/>
                    <a:pt x="55" y="262"/>
                  </a:cubicBezTo>
                  <a:cubicBezTo>
                    <a:pt x="51" y="267"/>
                    <a:pt x="42" y="267"/>
                    <a:pt x="36" y="273"/>
                  </a:cubicBezTo>
                  <a:cubicBezTo>
                    <a:pt x="30" y="279"/>
                    <a:pt x="27" y="289"/>
                    <a:pt x="21" y="296"/>
                  </a:cubicBezTo>
                  <a:cubicBezTo>
                    <a:pt x="15" y="303"/>
                    <a:pt x="4" y="313"/>
                    <a:pt x="0" y="317"/>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2" name="Freeform 46"/>
            <p:cNvSpPr/>
            <p:nvPr/>
          </p:nvSpPr>
          <p:spPr bwMode="auto">
            <a:xfrm>
              <a:off x="2625" y="2291"/>
              <a:ext cx="269" cy="313"/>
            </a:xfrm>
            <a:custGeom>
              <a:avLst/>
              <a:gdLst>
                <a:gd name="T0" fmla="*/ 269 w 269"/>
                <a:gd name="T1" fmla="*/ 0 h 313"/>
                <a:gd name="T2" fmla="*/ 263 w 269"/>
                <a:gd name="T3" fmla="*/ 20 h 313"/>
                <a:gd name="T4" fmla="*/ 243 w 269"/>
                <a:gd name="T5" fmla="*/ 32 h 313"/>
                <a:gd name="T6" fmla="*/ 235 w 269"/>
                <a:gd name="T7" fmla="*/ 46 h 313"/>
                <a:gd name="T8" fmla="*/ 227 w 269"/>
                <a:gd name="T9" fmla="*/ 64 h 313"/>
                <a:gd name="T10" fmla="*/ 208 w 269"/>
                <a:gd name="T11" fmla="*/ 71 h 313"/>
                <a:gd name="T12" fmla="*/ 196 w 269"/>
                <a:gd name="T13" fmla="*/ 89 h 313"/>
                <a:gd name="T14" fmla="*/ 178 w 269"/>
                <a:gd name="T15" fmla="*/ 107 h 313"/>
                <a:gd name="T16" fmla="*/ 168 w 269"/>
                <a:gd name="T17" fmla="*/ 131 h 313"/>
                <a:gd name="T18" fmla="*/ 148 w 269"/>
                <a:gd name="T19" fmla="*/ 133 h 313"/>
                <a:gd name="T20" fmla="*/ 144 w 269"/>
                <a:gd name="T21" fmla="*/ 149 h 313"/>
                <a:gd name="T22" fmla="*/ 124 w 269"/>
                <a:gd name="T23" fmla="*/ 165 h 313"/>
                <a:gd name="T24" fmla="*/ 114 w 269"/>
                <a:gd name="T25" fmla="*/ 181 h 313"/>
                <a:gd name="T26" fmla="*/ 102 w 269"/>
                <a:gd name="T27" fmla="*/ 193 h 313"/>
                <a:gd name="T28" fmla="*/ 98 w 269"/>
                <a:gd name="T29" fmla="*/ 211 h 313"/>
                <a:gd name="T30" fmla="*/ 76 w 269"/>
                <a:gd name="T31" fmla="*/ 221 h 313"/>
                <a:gd name="T32" fmla="*/ 62 w 269"/>
                <a:gd name="T33" fmla="*/ 239 h 313"/>
                <a:gd name="T34" fmla="*/ 55 w 269"/>
                <a:gd name="T35" fmla="*/ 258 h 313"/>
                <a:gd name="T36" fmla="*/ 36 w 269"/>
                <a:gd name="T37" fmla="*/ 269 h 313"/>
                <a:gd name="T38" fmla="*/ 20 w 269"/>
                <a:gd name="T39" fmla="*/ 290 h 313"/>
                <a:gd name="T40" fmla="*/ 0 w 269"/>
                <a:gd name="T41" fmla="*/ 313 h 3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9" h="313">
                  <a:moveTo>
                    <a:pt x="269" y="0"/>
                  </a:moveTo>
                  <a:cubicBezTo>
                    <a:pt x="268" y="3"/>
                    <a:pt x="267" y="15"/>
                    <a:pt x="263" y="20"/>
                  </a:cubicBezTo>
                  <a:cubicBezTo>
                    <a:pt x="259" y="25"/>
                    <a:pt x="248" y="28"/>
                    <a:pt x="243" y="32"/>
                  </a:cubicBezTo>
                  <a:cubicBezTo>
                    <a:pt x="238" y="36"/>
                    <a:pt x="238" y="41"/>
                    <a:pt x="235" y="46"/>
                  </a:cubicBezTo>
                  <a:cubicBezTo>
                    <a:pt x="232" y="51"/>
                    <a:pt x="231" y="60"/>
                    <a:pt x="227" y="64"/>
                  </a:cubicBezTo>
                  <a:cubicBezTo>
                    <a:pt x="223" y="68"/>
                    <a:pt x="213" y="67"/>
                    <a:pt x="208" y="71"/>
                  </a:cubicBezTo>
                  <a:cubicBezTo>
                    <a:pt x="203" y="75"/>
                    <a:pt x="201" y="83"/>
                    <a:pt x="196" y="89"/>
                  </a:cubicBezTo>
                  <a:cubicBezTo>
                    <a:pt x="191" y="95"/>
                    <a:pt x="183" y="100"/>
                    <a:pt x="178" y="107"/>
                  </a:cubicBezTo>
                  <a:cubicBezTo>
                    <a:pt x="173" y="114"/>
                    <a:pt x="173" y="127"/>
                    <a:pt x="168" y="131"/>
                  </a:cubicBezTo>
                  <a:cubicBezTo>
                    <a:pt x="163" y="135"/>
                    <a:pt x="152" y="130"/>
                    <a:pt x="148" y="133"/>
                  </a:cubicBezTo>
                  <a:cubicBezTo>
                    <a:pt x="144" y="136"/>
                    <a:pt x="148" y="144"/>
                    <a:pt x="144" y="149"/>
                  </a:cubicBezTo>
                  <a:cubicBezTo>
                    <a:pt x="140" y="154"/>
                    <a:pt x="129" y="160"/>
                    <a:pt x="124" y="165"/>
                  </a:cubicBezTo>
                  <a:cubicBezTo>
                    <a:pt x="119" y="170"/>
                    <a:pt x="118" y="176"/>
                    <a:pt x="114" y="181"/>
                  </a:cubicBezTo>
                  <a:cubicBezTo>
                    <a:pt x="110" y="186"/>
                    <a:pt x="105" y="188"/>
                    <a:pt x="102" y="193"/>
                  </a:cubicBezTo>
                  <a:cubicBezTo>
                    <a:pt x="99" y="198"/>
                    <a:pt x="102" y="206"/>
                    <a:pt x="98" y="211"/>
                  </a:cubicBezTo>
                  <a:cubicBezTo>
                    <a:pt x="94" y="216"/>
                    <a:pt x="82" y="216"/>
                    <a:pt x="76" y="221"/>
                  </a:cubicBezTo>
                  <a:cubicBezTo>
                    <a:pt x="70" y="226"/>
                    <a:pt x="65" y="233"/>
                    <a:pt x="62" y="239"/>
                  </a:cubicBezTo>
                  <a:cubicBezTo>
                    <a:pt x="59" y="245"/>
                    <a:pt x="59" y="253"/>
                    <a:pt x="55" y="258"/>
                  </a:cubicBezTo>
                  <a:cubicBezTo>
                    <a:pt x="51" y="263"/>
                    <a:pt x="42" y="264"/>
                    <a:pt x="36" y="269"/>
                  </a:cubicBezTo>
                  <a:cubicBezTo>
                    <a:pt x="30" y="274"/>
                    <a:pt x="26" y="283"/>
                    <a:pt x="20" y="290"/>
                  </a:cubicBezTo>
                  <a:cubicBezTo>
                    <a:pt x="14" y="297"/>
                    <a:pt x="4" y="308"/>
                    <a:pt x="0" y="313"/>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3" name="Freeform 47"/>
            <p:cNvSpPr/>
            <p:nvPr/>
          </p:nvSpPr>
          <p:spPr bwMode="auto">
            <a:xfrm>
              <a:off x="2652" y="2288"/>
              <a:ext cx="283" cy="313"/>
            </a:xfrm>
            <a:custGeom>
              <a:avLst/>
              <a:gdLst>
                <a:gd name="T0" fmla="*/ 283 w 283"/>
                <a:gd name="T1" fmla="*/ 0 h 313"/>
                <a:gd name="T2" fmla="*/ 263 w 283"/>
                <a:gd name="T3" fmla="*/ 20 h 313"/>
                <a:gd name="T4" fmla="*/ 243 w 283"/>
                <a:gd name="T5" fmla="*/ 32 h 313"/>
                <a:gd name="T6" fmla="*/ 245 w 283"/>
                <a:gd name="T7" fmla="*/ 44 h 313"/>
                <a:gd name="T8" fmla="*/ 223 w 283"/>
                <a:gd name="T9" fmla="*/ 56 h 313"/>
                <a:gd name="T10" fmla="*/ 218 w 283"/>
                <a:gd name="T11" fmla="*/ 71 h 313"/>
                <a:gd name="T12" fmla="*/ 196 w 283"/>
                <a:gd name="T13" fmla="*/ 89 h 313"/>
                <a:gd name="T14" fmla="*/ 178 w 283"/>
                <a:gd name="T15" fmla="*/ 107 h 313"/>
                <a:gd name="T16" fmla="*/ 164 w 283"/>
                <a:gd name="T17" fmla="*/ 123 h 313"/>
                <a:gd name="T18" fmla="*/ 157 w 283"/>
                <a:gd name="T19" fmla="*/ 138 h 313"/>
                <a:gd name="T20" fmla="*/ 144 w 283"/>
                <a:gd name="T21" fmla="*/ 149 h 313"/>
                <a:gd name="T22" fmla="*/ 124 w 283"/>
                <a:gd name="T23" fmla="*/ 165 h 313"/>
                <a:gd name="T24" fmla="*/ 114 w 283"/>
                <a:gd name="T25" fmla="*/ 181 h 313"/>
                <a:gd name="T26" fmla="*/ 102 w 283"/>
                <a:gd name="T27" fmla="*/ 193 h 313"/>
                <a:gd name="T28" fmla="*/ 98 w 283"/>
                <a:gd name="T29" fmla="*/ 211 h 313"/>
                <a:gd name="T30" fmla="*/ 76 w 283"/>
                <a:gd name="T31" fmla="*/ 221 h 313"/>
                <a:gd name="T32" fmla="*/ 62 w 283"/>
                <a:gd name="T33" fmla="*/ 239 h 313"/>
                <a:gd name="T34" fmla="*/ 55 w 283"/>
                <a:gd name="T35" fmla="*/ 258 h 313"/>
                <a:gd name="T36" fmla="*/ 36 w 283"/>
                <a:gd name="T37" fmla="*/ 269 h 313"/>
                <a:gd name="T38" fmla="*/ 16 w 283"/>
                <a:gd name="T39" fmla="*/ 293 h 313"/>
                <a:gd name="T40" fmla="*/ 0 w 283"/>
                <a:gd name="T41" fmla="*/ 313 h 3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3" h="313">
                  <a:moveTo>
                    <a:pt x="283" y="0"/>
                  </a:moveTo>
                  <a:cubicBezTo>
                    <a:pt x="280" y="3"/>
                    <a:pt x="270" y="15"/>
                    <a:pt x="263" y="20"/>
                  </a:cubicBezTo>
                  <a:cubicBezTo>
                    <a:pt x="256" y="25"/>
                    <a:pt x="246" y="28"/>
                    <a:pt x="243" y="32"/>
                  </a:cubicBezTo>
                  <a:cubicBezTo>
                    <a:pt x="240" y="36"/>
                    <a:pt x="248" y="40"/>
                    <a:pt x="245" y="44"/>
                  </a:cubicBezTo>
                  <a:cubicBezTo>
                    <a:pt x="242" y="48"/>
                    <a:pt x="227" y="52"/>
                    <a:pt x="223" y="56"/>
                  </a:cubicBezTo>
                  <a:cubicBezTo>
                    <a:pt x="219" y="60"/>
                    <a:pt x="222" y="66"/>
                    <a:pt x="218" y="71"/>
                  </a:cubicBezTo>
                  <a:cubicBezTo>
                    <a:pt x="214" y="76"/>
                    <a:pt x="203" y="83"/>
                    <a:pt x="196" y="89"/>
                  </a:cubicBezTo>
                  <a:cubicBezTo>
                    <a:pt x="189" y="95"/>
                    <a:pt x="183" y="101"/>
                    <a:pt x="178" y="107"/>
                  </a:cubicBezTo>
                  <a:cubicBezTo>
                    <a:pt x="173" y="113"/>
                    <a:pt x="167" y="118"/>
                    <a:pt x="164" y="123"/>
                  </a:cubicBezTo>
                  <a:cubicBezTo>
                    <a:pt x="161" y="128"/>
                    <a:pt x="160" y="134"/>
                    <a:pt x="157" y="138"/>
                  </a:cubicBezTo>
                  <a:cubicBezTo>
                    <a:pt x="154" y="142"/>
                    <a:pt x="149" y="145"/>
                    <a:pt x="144" y="149"/>
                  </a:cubicBezTo>
                  <a:cubicBezTo>
                    <a:pt x="139" y="153"/>
                    <a:pt x="129" y="160"/>
                    <a:pt x="124" y="165"/>
                  </a:cubicBezTo>
                  <a:cubicBezTo>
                    <a:pt x="119" y="170"/>
                    <a:pt x="118" y="176"/>
                    <a:pt x="114" y="181"/>
                  </a:cubicBezTo>
                  <a:cubicBezTo>
                    <a:pt x="110" y="186"/>
                    <a:pt x="105" y="188"/>
                    <a:pt x="102" y="193"/>
                  </a:cubicBezTo>
                  <a:cubicBezTo>
                    <a:pt x="99" y="198"/>
                    <a:pt x="102" y="206"/>
                    <a:pt x="98" y="211"/>
                  </a:cubicBezTo>
                  <a:cubicBezTo>
                    <a:pt x="94" y="216"/>
                    <a:pt x="82" y="216"/>
                    <a:pt x="76" y="221"/>
                  </a:cubicBezTo>
                  <a:cubicBezTo>
                    <a:pt x="70" y="226"/>
                    <a:pt x="65" y="233"/>
                    <a:pt x="62" y="239"/>
                  </a:cubicBezTo>
                  <a:cubicBezTo>
                    <a:pt x="59" y="245"/>
                    <a:pt x="59" y="253"/>
                    <a:pt x="55" y="258"/>
                  </a:cubicBezTo>
                  <a:cubicBezTo>
                    <a:pt x="51" y="263"/>
                    <a:pt x="42" y="263"/>
                    <a:pt x="36" y="269"/>
                  </a:cubicBezTo>
                  <a:cubicBezTo>
                    <a:pt x="30" y="275"/>
                    <a:pt x="22" y="286"/>
                    <a:pt x="16" y="293"/>
                  </a:cubicBezTo>
                  <a:cubicBezTo>
                    <a:pt x="10" y="300"/>
                    <a:pt x="3" y="309"/>
                    <a:pt x="0" y="313"/>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Freeform 50"/>
            <p:cNvSpPr/>
            <p:nvPr/>
          </p:nvSpPr>
          <p:spPr bwMode="auto">
            <a:xfrm>
              <a:off x="2621" y="2001"/>
              <a:ext cx="378" cy="19"/>
            </a:xfrm>
            <a:custGeom>
              <a:avLst/>
              <a:gdLst>
                <a:gd name="T0" fmla="*/ 0 w 378"/>
                <a:gd name="T1" fmla="*/ 11 h 19"/>
                <a:gd name="T2" fmla="*/ 30 w 378"/>
                <a:gd name="T3" fmla="*/ 19 h 19"/>
                <a:gd name="T4" fmla="*/ 48 w 378"/>
                <a:gd name="T5" fmla="*/ 11 h 19"/>
                <a:gd name="T6" fmla="*/ 78 w 378"/>
                <a:gd name="T7" fmla="*/ 11 h 19"/>
                <a:gd name="T8" fmla="*/ 94 w 378"/>
                <a:gd name="T9" fmla="*/ 1 h 19"/>
                <a:gd name="T10" fmla="*/ 110 w 378"/>
                <a:gd name="T11" fmla="*/ 9 h 19"/>
                <a:gd name="T12" fmla="*/ 138 w 378"/>
                <a:gd name="T13" fmla="*/ 11 h 19"/>
                <a:gd name="T14" fmla="*/ 186 w 378"/>
                <a:gd name="T15" fmla="*/ 9 h 19"/>
                <a:gd name="T16" fmla="*/ 202 w 378"/>
                <a:gd name="T17" fmla="*/ 5 h 19"/>
                <a:gd name="T18" fmla="*/ 224 w 378"/>
                <a:gd name="T19" fmla="*/ 1 h 19"/>
                <a:gd name="T20" fmla="*/ 246 w 378"/>
                <a:gd name="T21" fmla="*/ 9 h 19"/>
                <a:gd name="T22" fmla="*/ 276 w 378"/>
                <a:gd name="T23" fmla="*/ 9 h 19"/>
                <a:gd name="T24" fmla="*/ 302 w 378"/>
                <a:gd name="T25" fmla="*/ 17 h 19"/>
                <a:gd name="T26" fmla="*/ 324 w 378"/>
                <a:gd name="T27" fmla="*/ 5 h 19"/>
                <a:gd name="T28" fmla="*/ 350 w 378"/>
                <a:gd name="T29" fmla="*/ 9 h 19"/>
                <a:gd name="T30" fmla="*/ 378 w 378"/>
                <a:gd name="T31" fmla="*/ 5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78" h="19">
                  <a:moveTo>
                    <a:pt x="0" y="11"/>
                  </a:moveTo>
                  <a:cubicBezTo>
                    <a:pt x="11" y="15"/>
                    <a:pt x="22" y="19"/>
                    <a:pt x="30" y="19"/>
                  </a:cubicBezTo>
                  <a:cubicBezTo>
                    <a:pt x="38" y="19"/>
                    <a:pt x="40" y="12"/>
                    <a:pt x="48" y="11"/>
                  </a:cubicBezTo>
                  <a:cubicBezTo>
                    <a:pt x="56" y="10"/>
                    <a:pt x="70" y="13"/>
                    <a:pt x="78" y="11"/>
                  </a:cubicBezTo>
                  <a:cubicBezTo>
                    <a:pt x="86" y="9"/>
                    <a:pt x="89" y="1"/>
                    <a:pt x="94" y="1"/>
                  </a:cubicBezTo>
                  <a:cubicBezTo>
                    <a:pt x="99" y="1"/>
                    <a:pt x="103" y="7"/>
                    <a:pt x="110" y="9"/>
                  </a:cubicBezTo>
                  <a:cubicBezTo>
                    <a:pt x="117" y="11"/>
                    <a:pt x="125" y="11"/>
                    <a:pt x="138" y="11"/>
                  </a:cubicBezTo>
                  <a:cubicBezTo>
                    <a:pt x="151" y="11"/>
                    <a:pt x="175" y="10"/>
                    <a:pt x="186" y="9"/>
                  </a:cubicBezTo>
                  <a:cubicBezTo>
                    <a:pt x="197" y="8"/>
                    <a:pt x="196" y="6"/>
                    <a:pt x="202" y="5"/>
                  </a:cubicBezTo>
                  <a:cubicBezTo>
                    <a:pt x="208" y="4"/>
                    <a:pt x="217" y="0"/>
                    <a:pt x="224" y="1"/>
                  </a:cubicBezTo>
                  <a:cubicBezTo>
                    <a:pt x="231" y="2"/>
                    <a:pt x="237" y="8"/>
                    <a:pt x="246" y="9"/>
                  </a:cubicBezTo>
                  <a:cubicBezTo>
                    <a:pt x="255" y="10"/>
                    <a:pt x="267" y="8"/>
                    <a:pt x="276" y="9"/>
                  </a:cubicBezTo>
                  <a:cubicBezTo>
                    <a:pt x="285" y="10"/>
                    <a:pt x="294" y="18"/>
                    <a:pt x="302" y="17"/>
                  </a:cubicBezTo>
                  <a:cubicBezTo>
                    <a:pt x="310" y="16"/>
                    <a:pt x="316" y="6"/>
                    <a:pt x="324" y="5"/>
                  </a:cubicBezTo>
                  <a:cubicBezTo>
                    <a:pt x="332" y="4"/>
                    <a:pt x="341" y="9"/>
                    <a:pt x="350" y="9"/>
                  </a:cubicBezTo>
                  <a:cubicBezTo>
                    <a:pt x="359" y="9"/>
                    <a:pt x="372" y="6"/>
                    <a:pt x="378" y="5"/>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Freeform 51"/>
            <p:cNvSpPr/>
            <p:nvPr/>
          </p:nvSpPr>
          <p:spPr bwMode="auto">
            <a:xfrm>
              <a:off x="2995" y="2001"/>
              <a:ext cx="236" cy="14"/>
            </a:xfrm>
            <a:custGeom>
              <a:avLst/>
              <a:gdLst>
                <a:gd name="T0" fmla="*/ 0 w 236"/>
                <a:gd name="T1" fmla="*/ 5 h 14"/>
                <a:gd name="T2" fmla="*/ 24 w 236"/>
                <a:gd name="T3" fmla="*/ 9 h 14"/>
                <a:gd name="T4" fmla="*/ 46 w 236"/>
                <a:gd name="T5" fmla="*/ 5 h 14"/>
                <a:gd name="T6" fmla="*/ 76 w 236"/>
                <a:gd name="T7" fmla="*/ 11 h 14"/>
                <a:gd name="T8" fmla="*/ 86 w 236"/>
                <a:gd name="T9" fmla="*/ 3 h 14"/>
                <a:gd name="T10" fmla="*/ 120 w 236"/>
                <a:gd name="T11" fmla="*/ 7 h 14"/>
                <a:gd name="T12" fmla="*/ 146 w 236"/>
                <a:gd name="T13" fmla="*/ 1 h 14"/>
                <a:gd name="T14" fmla="*/ 192 w 236"/>
                <a:gd name="T15" fmla="*/ 13 h 14"/>
                <a:gd name="T16" fmla="*/ 212 w 236"/>
                <a:gd name="T17" fmla="*/ 5 h 14"/>
                <a:gd name="T18" fmla="*/ 236 w 236"/>
                <a:gd name="T19" fmla="*/ 13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6" h="14">
                  <a:moveTo>
                    <a:pt x="0" y="5"/>
                  </a:moveTo>
                  <a:cubicBezTo>
                    <a:pt x="8" y="7"/>
                    <a:pt x="16" y="9"/>
                    <a:pt x="24" y="9"/>
                  </a:cubicBezTo>
                  <a:cubicBezTo>
                    <a:pt x="32" y="9"/>
                    <a:pt x="37" y="5"/>
                    <a:pt x="46" y="5"/>
                  </a:cubicBezTo>
                  <a:cubicBezTo>
                    <a:pt x="55" y="5"/>
                    <a:pt x="69" y="11"/>
                    <a:pt x="76" y="11"/>
                  </a:cubicBezTo>
                  <a:cubicBezTo>
                    <a:pt x="83" y="11"/>
                    <a:pt x="79" y="4"/>
                    <a:pt x="86" y="3"/>
                  </a:cubicBezTo>
                  <a:cubicBezTo>
                    <a:pt x="93" y="2"/>
                    <a:pt x="110" y="7"/>
                    <a:pt x="120" y="7"/>
                  </a:cubicBezTo>
                  <a:cubicBezTo>
                    <a:pt x="130" y="7"/>
                    <a:pt x="134" y="0"/>
                    <a:pt x="146" y="1"/>
                  </a:cubicBezTo>
                  <a:cubicBezTo>
                    <a:pt x="158" y="2"/>
                    <a:pt x="181" y="12"/>
                    <a:pt x="192" y="13"/>
                  </a:cubicBezTo>
                  <a:cubicBezTo>
                    <a:pt x="203" y="14"/>
                    <a:pt x="205" y="5"/>
                    <a:pt x="212" y="5"/>
                  </a:cubicBezTo>
                  <a:cubicBezTo>
                    <a:pt x="219" y="5"/>
                    <a:pt x="227" y="9"/>
                    <a:pt x="236" y="13"/>
                  </a:cubicBezTo>
                </a:path>
              </a:pathLst>
            </a:custGeom>
            <a:noFill/>
            <a:ln w="38100" cmpd="sng">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6" name="Freeform 52"/>
            <p:cNvSpPr/>
            <p:nvPr/>
          </p:nvSpPr>
          <p:spPr bwMode="auto">
            <a:xfrm>
              <a:off x="2671" y="2287"/>
              <a:ext cx="279" cy="319"/>
            </a:xfrm>
            <a:custGeom>
              <a:avLst/>
              <a:gdLst>
                <a:gd name="T0" fmla="*/ 279 w 279"/>
                <a:gd name="T1" fmla="*/ 0 h 319"/>
                <a:gd name="T2" fmla="*/ 262 w 279"/>
                <a:gd name="T3" fmla="*/ 22 h 319"/>
                <a:gd name="T4" fmla="*/ 243 w 279"/>
                <a:gd name="T5" fmla="*/ 38 h 319"/>
                <a:gd name="T6" fmla="*/ 241 w 279"/>
                <a:gd name="T7" fmla="*/ 51 h 319"/>
                <a:gd name="T8" fmla="*/ 222 w 279"/>
                <a:gd name="T9" fmla="*/ 63 h 319"/>
                <a:gd name="T10" fmla="*/ 217 w 279"/>
                <a:gd name="T11" fmla="*/ 85 h 319"/>
                <a:gd name="T12" fmla="*/ 196 w 279"/>
                <a:gd name="T13" fmla="*/ 95 h 319"/>
                <a:gd name="T14" fmla="*/ 178 w 279"/>
                <a:gd name="T15" fmla="*/ 113 h 319"/>
                <a:gd name="T16" fmla="*/ 164 w 279"/>
                <a:gd name="T17" fmla="*/ 129 h 319"/>
                <a:gd name="T18" fmla="*/ 157 w 279"/>
                <a:gd name="T19" fmla="*/ 144 h 319"/>
                <a:gd name="T20" fmla="*/ 144 w 279"/>
                <a:gd name="T21" fmla="*/ 155 h 319"/>
                <a:gd name="T22" fmla="*/ 124 w 279"/>
                <a:gd name="T23" fmla="*/ 171 h 319"/>
                <a:gd name="T24" fmla="*/ 114 w 279"/>
                <a:gd name="T25" fmla="*/ 187 h 319"/>
                <a:gd name="T26" fmla="*/ 102 w 279"/>
                <a:gd name="T27" fmla="*/ 199 h 319"/>
                <a:gd name="T28" fmla="*/ 98 w 279"/>
                <a:gd name="T29" fmla="*/ 217 h 319"/>
                <a:gd name="T30" fmla="*/ 76 w 279"/>
                <a:gd name="T31" fmla="*/ 227 h 319"/>
                <a:gd name="T32" fmla="*/ 62 w 279"/>
                <a:gd name="T33" fmla="*/ 245 h 319"/>
                <a:gd name="T34" fmla="*/ 55 w 279"/>
                <a:gd name="T35" fmla="*/ 264 h 319"/>
                <a:gd name="T36" fmla="*/ 36 w 279"/>
                <a:gd name="T37" fmla="*/ 275 h 319"/>
                <a:gd name="T38" fmla="*/ 16 w 279"/>
                <a:gd name="T39" fmla="*/ 299 h 319"/>
                <a:gd name="T40" fmla="*/ 0 w 279"/>
                <a:gd name="T41" fmla="*/ 319 h 3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9" h="319">
                  <a:moveTo>
                    <a:pt x="279" y="0"/>
                  </a:moveTo>
                  <a:cubicBezTo>
                    <a:pt x="276" y="4"/>
                    <a:pt x="268" y="16"/>
                    <a:pt x="262" y="22"/>
                  </a:cubicBezTo>
                  <a:cubicBezTo>
                    <a:pt x="256" y="28"/>
                    <a:pt x="246" y="33"/>
                    <a:pt x="243" y="38"/>
                  </a:cubicBezTo>
                  <a:cubicBezTo>
                    <a:pt x="240" y="43"/>
                    <a:pt x="244" y="47"/>
                    <a:pt x="241" y="51"/>
                  </a:cubicBezTo>
                  <a:cubicBezTo>
                    <a:pt x="238" y="55"/>
                    <a:pt x="226" y="57"/>
                    <a:pt x="222" y="63"/>
                  </a:cubicBezTo>
                  <a:cubicBezTo>
                    <a:pt x="218" y="69"/>
                    <a:pt x="221" y="80"/>
                    <a:pt x="217" y="85"/>
                  </a:cubicBezTo>
                  <a:cubicBezTo>
                    <a:pt x="213" y="90"/>
                    <a:pt x="202" y="90"/>
                    <a:pt x="196" y="95"/>
                  </a:cubicBezTo>
                  <a:cubicBezTo>
                    <a:pt x="190" y="100"/>
                    <a:pt x="183" y="107"/>
                    <a:pt x="178" y="113"/>
                  </a:cubicBezTo>
                  <a:cubicBezTo>
                    <a:pt x="173" y="119"/>
                    <a:pt x="167" y="124"/>
                    <a:pt x="164" y="129"/>
                  </a:cubicBezTo>
                  <a:cubicBezTo>
                    <a:pt x="161" y="134"/>
                    <a:pt x="160" y="140"/>
                    <a:pt x="157" y="144"/>
                  </a:cubicBezTo>
                  <a:cubicBezTo>
                    <a:pt x="154" y="148"/>
                    <a:pt x="149" y="151"/>
                    <a:pt x="144" y="155"/>
                  </a:cubicBezTo>
                  <a:cubicBezTo>
                    <a:pt x="139" y="159"/>
                    <a:pt x="129" y="166"/>
                    <a:pt x="124" y="171"/>
                  </a:cubicBezTo>
                  <a:cubicBezTo>
                    <a:pt x="119" y="176"/>
                    <a:pt x="118" y="182"/>
                    <a:pt x="114" y="187"/>
                  </a:cubicBezTo>
                  <a:cubicBezTo>
                    <a:pt x="110" y="192"/>
                    <a:pt x="105" y="194"/>
                    <a:pt x="102" y="199"/>
                  </a:cubicBezTo>
                  <a:cubicBezTo>
                    <a:pt x="99" y="204"/>
                    <a:pt x="102" y="212"/>
                    <a:pt x="98" y="217"/>
                  </a:cubicBezTo>
                  <a:cubicBezTo>
                    <a:pt x="94" y="222"/>
                    <a:pt x="82" y="222"/>
                    <a:pt x="76" y="227"/>
                  </a:cubicBezTo>
                  <a:cubicBezTo>
                    <a:pt x="70" y="232"/>
                    <a:pt x="65" y="239"/>
                    <a:pt x="62" y="245"/>
                  </a:cubicBezTo>
                  <a:cubicBezTo>
                    <a:pt x="59" y="251"/>
                    <a:pt x="59" y="259"/>
                    <a:pt x="55" y="264"/>
                  </a:cubicBezTo>
                  <a:cubicBezTo>
                    <a:pt x="51" y="269"/>
                    <a:pt x="42" y="269"/>
                    <a:pt x="36" y="275"/>
                  </a:cubicBezTo>
                  <a:cubicBezTo>
                    <a:pt x="30" y="281"/>
                    <a:pt x="22" y="292"/>
                    <a:pt x="16" y="299"/>
                  </a:cubicBezTo>
                  <a:cubicBezTo>
                    <a:pt x="10" y="306"/>
                    <a:pt x="3" y="315"/>
                    <a:pt x="0" y="319"/>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7" name="Freeform 53"/>
            <p:cNvSpPr/>
            <p:nvPr/>
          </p:nvSpPr>
          <p:spPr bwMode="auto">
            <a:xfrm>
              <a:off x="2995" y="2024"/>
              <a:ext cx="196" cy="225"/>
            </a:xfrm>
            <a:custGeom>
              <a:avLst/>
              <a:gdLst>
                <a:gd name="T0" fmla="*/ 196 w 196"/>
                <a:gd name="T1" fmla="*/ 0 h 225"/>
                <a:gd name="T2" fmla="*/ 183 w 196"/>
                <a:gd name="T3" fmla="*/ 9 h 225"/>
                <a:gd name="T4" fmla="*/ 172 w 196"/>
                <a:gd name="T5" fmla="*/ 24 h 225"/>
                <a:gd name="T6" fmla="*/ 151 w 196"/>
                <a:gd name="T7" fmla="*/ 39 h 225"/>
                <a:gd name="T8" fmla="*/ 147 w 196"/>
                <a:gd name="T9" fmla="*/ 57 h 225"/>
                <a:gd name="T10" fmla="*/ 133 w 196"/>
                <a:gd name="T11" fmla="*/ 75 h 225"/>
                <a:gd name="T12" fmla="*/ 117 w 196"/>
                <a:gd name="T13" fmla="*/ 83 h 225"/>
                <a:gd name="T14" fmla="*/ 100 w 196"/>
                <a:gd name="T15" fmla="*/ 99 h 225"/>
                <a:gd name="T16" fmla="*/ 87 w 196"/>
                <a:gd name="T17" fmla="*/ 117 h 225"/>
                <a:gd name="T18" fmla="*/ 75 w 196"/>
                <a:gd name="T19" fmla="*/ 131 h 225"/>
                <a:gd name="T20" fmla="*/ 69 w 196"/>
                <a:gd name="T21" fmla="*/ 152 h 225"/>
                <a:gd name="T22" fmla="*/ 55 w 196"/>
                <a:gd name="T23" fmla="*/ 161 h 225"/>
                <a:gd name="T24" fmla="*/ 45 w 196"/>
                <a:gd name="T25" fmla="*/ 179 h 225"/>
                <a:gd name="T26" fmla="*/ 31 w 196"/>
                <a:gd name="T27" fmla="*/ 195 h 225"/>
                <a:gd name="T28" fmla="*/ 13 w 196"/>
                <a:gd name="T29" fmla="*/ 206 h 225"/>
                <a:gd name="T30" fmla="*/ 0 w 196"/>
                <a:gd name="T31" fmla="*/ 225 h 2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6" h="225">
                  <a:moveTo>
                    <a:pt x="196" y="0"/>
                  </a:moveTo>
                  <a:cubicBezTo>
                    <a:pt x="191" y="2"/>
                    <a:pt x="187" y="5"/>
                    <a:pt x="183" y="9"/>
                  </a:cubicBezTo>
                  <a:cubicBezTo>
                    <a:pt x="179" y="13"/>
                    <a:pt x="177" y="19"/>
                    <a:pt x="172" y="24"/>
                  </a:cubicBezTo>
                  <a:cubicBezTo>
                    <a:pt x="167" y="29"/>
                    <a:pt x="155" y="34"/>
                    <a:pt x="151" y="39"/>
                  </a:cubicBezTo>
                  <a:cubicBezTo>
                    <a:pt x="147" y="44"/>
                    <a:pt x="150" y="51"/>
                    <a:pt x="147" y="57"/>
                  </a:cubicBezTo>
                  <a:cubicBezTo>
                    <a:pt x="144" y="63"/>
                    <a:pt x="138" y="71"/>
                    <a:pt x="133" y="75"/>
                  </a:cubicBezTo>
                  <a:cubicBezTo>
                    <a:pt x="128" y="79"/>
                    <a:pt x="122" y="79"/>
                    <a:pt x="117" y="83"/>
                  </a:cubicBezTo>
                  <a:cubicBezTo>
                    <a:pt x="112" y="87"/>
                    <a:pt x="105" y="93"/>
                    <a:pt x="100" y="99"/>
                  </a:cubicBezTo>
                  <a:cubicBezTo>
                    <a:pt x="95" y="105"/>
                    <a:pt x="91" y="112"/>
                    <a:pt x="87" y="117"/>
                  </a:cubicBezTo>
                  <a:cubicBezTo>
                    <a:pt x="83" y="122"/>
                    <a:pt x="78" y="125"/>
                    <a:pt x="75" y="131"/>
                  </a:cubicBezTo>
                  <a:cubicBezTo>
                    <a:pt x="72" y="137"/>
                    <a:pt x="72" y="147"/>
                    <a:pt x="69" y="152"/>
                  </a:cubicBezTo>
                  <a:cubicBezTo>
                    <a:pt x="66" y="157"/>
                    <a:pt x="59" y="156"/>
                    <a:pt x="55" y="161"/>
                  </a:cubicBezTo>
                  <a:cubicBezTo>
                    <a:pt x="51" y="166"/>
                    <a:pt x="49" y="173"/>
                    <a:pt x="45" y="179"/>
                  </a:cubicBezTo>
                  <a:cubicBezTo>
                    <a:pt x="41" y="185"/>
                    <a:pt x="36" y="191"/>
                    <a:pt x="31" y="195"/>
                  </a:cubicBezTo>
                  <a:cubicBezTo>
                    <a:pt x="26" y="199"/>
                    <a:pt x="18" y="201"/>
                    <a:pt x="13" y="206"/>
                  </a:cubicBezTo>
                  <a:cubicBezTo>
                    <a:pt x="8" y="211"/>
                    <a:pt x="3" y="221"/>
                    <a:pt x="0" y="225"/>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8" name="Freeform 54"/>
            <p:cNvSpPr/>
            <p:nvPr/>
          </p:nvSpPr>
          <p:spPr bwMode="auto">
            <a:xfrm>
              <a:off x="2996" y="2019"/>
              <a:ext cx="171" cy="200"/>
            </a:xfrm>
            <a:custGeom>
              <a:avLst/>
              <a:gdLst>
                <a:gd name="T0" fmla="*/ 171 w 171"/>
                <a:gd name="T1" fmla="*/ 0 h 200"/>
                <a:gd name="T2" fmla="*/ 156 w 171"/>
                <a:gd name="T3" fmla="*/ 19 h 200"/>
                <a:gd name="T4" fmla="*/ 139 w 171"/>
                <a:gd name="T5" fmla="*/ 24 h 200"/>
                <a:gd name="T6" fmla="*/ 139 w 171"/>
                <a:gd name="T7" fmla="*/ 39 h 200"/>
                <a:gd name="T8" fmla="*/ 127 w 171"/>
                <a:gd name="T9" fmla="*/ 52 h 200"/>
                <a:gd name="T10" fmla="*/ 108 w 171"/>
                <a:gd name="T11" fmla="*/ 64 h 200"/>
                <a:gd name="T12" fmla="*/ 100 w 171"/>
                <a:gd name="T13" fmla="*/ 82 h 200"/>
                <a:gd name="T14" fmla="*/ 84 w 171"/>
                <a:gd name="T15" fmla="*/ 100 h 200"/>
                <a:gd name="T16" fmla="*/ 58 w 171"/>
                <a:gd name="T17" fmla="*/ 114 h 200"/>
                <a:gd name="T18" fmla="*/ 60 w 171"/>
                <a:gd name="T19" fmla="*/ 138 h 200"/>
                <a:gd name="T20" fmla="*/ 42 w 171"/>
                <a:gd name="T21" fmla="*/ 153 h 200"/>
                <a:gd name="T22" fmla="*/ 31 w 171"/>
                <a:gd name="T23" fmla="*/ 174 h 200"/>
                <a:gd name="T24" fmla="*/ 16 w 171"/>
                <a:gd name="T25" fmla="*/ 183 h 200"/>
                <a:gd name="T26" fmla="*/ 0 w 171"/>
                <a:gd name="T27" fmla="*/ 200 h 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71" h="200">
                  <a:moveTo>
                    <a:pt x="171" y="0"/>
                  </a:moveTo>
                  <a:cubicBezTo>
                    <a:pt x="166" y="7"/>
                    <a:pt x="161" y="15"/>
                    <a:pt x="156" y="19"/>
                  </a:cubicBezTo>
                  <a:cubicBezTo>
                    <a:pt x="151" y="23"/>
                    <a:pt x="142" y="21"/>
                    <a:pt x="139" y="24"/>
                  </a:cubicBezTo>
                  <a:cubicBezTo>
                    <a:pt x="136" y="27"/>
                    <a:pt x="141" y="34"/>
                    <a:pt x="139" y="39"/>
                  </a:cubicBezTo>
                  <a:cubicBezTo>
                    <a:pt x="137" y="44"/>
                    <a:pt x="132" y="48"/>
                    <a:pt x="127" y="52"/>
                  </a:cubicBezTo>
                  <a:cubicBezTo>
                    <a:pt x="122" y="56"/>
                    <a:pt x="112" y="59"/>
                    <a:pt x="108" y="64"/>
                  </a:cubicBezTo>
                  <a:cubicBezTo>
                    <a:pt x="104" y="69"/>
                    <a:pt x="104" y="76"/>
                    <a:pt x="100" y="82"/>
                  </a:cubicBezTo>
                  <a:cubicBezTo>
                    <a:pt x="96" y="88"/>
                    <a:pt x="91" y="95"/>
                    <a:pt x="84" y="100"/>
                  </a:cubicBezTo>
                  <a:cubicBezTo>
                    <a:pt x="77" y="105"/>
                    <a:pt x="62" y="108"/>
                    <a:pt x="58" y="114"/>
                  </a:cubicBezTo>
                  <a:cubicBezTo>
                    <a:pt x="54" y="120"/>
                    <a:pt x="63" y="132"/>
                    <a:pt x="60" y="138"/>
                  </a:cubicBezTo>
                  <a:cubicBezTo>
                    <a:pt x="57" y="144"/>
                    <a:pt x="47" y="147"/>
                    <a:pt x="42" y="153"/>
                  </a:cubicBezTo>
                  <a:cubicBezTo>
                    <a:pt x="37" y="159"/>
                    <a:pt x="35" y="169"/>
                    <a:pt x="31" y="174"/>
                  </a:cubicBezTo>
                  <a:cubicBezTo>
                    <a:pt x="27" y="179"/>
                    <a:pt x="21" y="179"/>
                    <a:pt x="16" y="183"/>
                  </a:cubicBezTo>
                  <a:cubicBezTo>
                    <a:pt x="11" y="187"/>
                    <a:pt x="3" y="197"/>
                    <a:pt x="0" y="200"/>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9" name="Freeform 55"/>
            <p:cNvSpPr/>
            <p:nvPr/>
          </p:nvSpPr>
          <p:spPr bwMode="auto">
            <a:xfrm>
              <a:off x="2996" y="2012"/>
              <a:ext cx="147" cy="173"/>
            </a:xfrm>
            <a:custGeom>
              <a:avLst/>
              <a:gdLst>
                <a:gd name="T0" fmla="*/ 147 w 147"/>
                <a:gd name="T1" fmla="*/ 0 h 173"/>
                <a:gd name="T2" fmla="*/ 131 w 147"/>
                <a:gd name="T3" fmla="*/ 20 h 173"/>
                <a:gd name="T4" fmla="*/ 123 w 147"/>
                <a:gd name="T5" fmla="*/ 35 h 173"/>
                <a:gd name="T6" fmla="*/ 111 w 147"/>
                <a:gd name="T7" fmla="*/ 38 h 173"/>
                <a:gd name="T8" fmla="*/ 102 w 147"/>
                <a:gd name="T9" fmla="*/ 53 h 173"/>
                <a:gd name="T10" fmla="*/ 87 w 147"/>
                <a:gd name="T11" fmla="*/ 75 h 173"/>
                <a:gd name="T12" fmla="*/ 74 w 147"/>
                <a:gd name="T13" fmla="*/ 86 h 173"/>
                <a:gd name="T14" fmla="*/ 65 w 147"/>
                <a:gd name="T15" fmla="*/ 98 h 173"/>
                <a:gd name="T16" fmla="*/ 44 w 147"/>
                <a:gd name="T17" fmla="*/ 116 h 173"/>
                <a:gd name="T18" fmla="*/ 36 w 147"/>
                <a:gd name="T19" fmla="*/ 138 h 173"/>
                <a:gd name="T20" fmla="*/ 26 w 147"/>
                <a:gd name="T21" fmla="*/ 155 h 173"/>
                <a:gd name="T22" fmla="*/ 0 w 147"/>
                <a:gd name="T23" fmla="*/ 173 h 1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7" h="173">
                  <a:moveTo>
                    <a:pt x="147" y="0"/>
                  </a:moveTo>
                  <a:cubicBezTo>
                    <a:pt x="141" y="7"/>
                    <a:pt x="135" y="14"/>
                    <a:pt x="131" y="20"/>
                  </a:cubicBezTo>
                  <a:cubicBezTo>
                    <a:pt x="127" y="26"/>
                    <a:pt x="126" y="32"/>
                    <a:pt x="123" y="35"/>
                  </a:cubicBezTo>
                  <a:cubicBezTo>
                    <a:pt x="120" y="38"/>
                    <a:pt x="115" y="35"/>
                    <a:pt x="111" y="38"/>
                  </a:cubicBezTo>
                  <a:cubicBezTo>
                    <a:pt x="107" y="41"/>
                    <a:pt x="106" y="47"/>
                    <a:pt x="102" y="53"/>
                  </a:cubicBezTo>
                  <a:cubicBezTo>
                    <a:pt x="98" y="59"/>
                    <a:pt x="92" y="70"/>
                    <a:pt x="87" y="75"/>
                  </a:cubicBezTo>
                  <a:cubicBezTo>
                    <a:pt x="82" y="80"/>
                    <a:pt x="78" y="82"/>
                    <a:pt x="74" y="86"/>
                  </a:cubicBezTo>
                  <a:cubicBezTo>
                    <a:pt x="70" y="90"/>
                    <a:pt x="70" y="93"/>
                    <a:pt x="65" y="98"/>
                  </a:cubicBezTo>
                  <a:cubicBezTo>
                    <a:pt x="60" y="103"/>
                    <a:pt x="49" y="109"/>
                    <a:pt x="44" y="116"/>
                  </a:cubicBezTo>
                  <a:cubicBezTo>
                    <a:pt x="39" y="123"/>
                    <a:pt x="39" y="132"/>
                    <a:pt x="36" y="138"/>
                  </a:cubicBezTo>
                  <a:cubicBezTo>
                    <a:pt x="33" y="144"/>
                    <a:pt x="32" y="149"/>
                    <a:pt x="26" y="155"/>
                  </a:cubicBezTo>
                  <a:cubicBezTo>
                    <a:pt x="20" y="161"/>
                    <a:pt x="5" y="169"/>
                    <a:pt x="0" y="173"/>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0" name="Freeform 56"/>
            <p:cNvSpPr/>
            <p:nvPr/>
          </p:nvSpPr>
          <p:spPr bwMode="auto">
            <a:xfrm>
              <a:off x="2996" y="2015"/>
              <a:ext cx="117" cy="146"/>
            </a:xfrm>
            <a:custGeom>
              <a:avLst/>
              <a:gdLst>
                <a:gd name="T0" fmla="*/ 117 w 117"/>
                <a:gd name="T1" fmla="*/ 0 h 146"/>
                <a:gd name="T2" fmla="*/ 103 w 117"/>
                <a:gd name="T3" fmla="*/ 14 h 146"/>
                <a:gd name="T4" fmla="*/ 100 w 117"/>
                <a:gd name="T5" fmla="*/ 32 h 146"/>
                <a:gd name="T6" fmla="*/ 87 w 117"/>
                <a:gd name="T7" fmla="*/ 35 h 146"/>
                <a:gd name="T8" fmla="*/ 75 w 117"/>
                <a:gd name="T9" fmla="*/ 60 h 146"/>
                <a:gd name="T10" fmla="*/ 59 w 117"/>
                <a:gd name="T11" fmla="*/ 69 h 146"/>
                <a:gd name="T12" fmla="*/ 56 w 117"/>
                <a:gd name="T13" fmla="*/ 86 h 146"/>
                <a:gd name="T14" fmla="*/ 40 w 117"/>
                <a:gd name="T15" fmla="*/ 95 h 146"/>
                <a:gd name="T16" fmla="*/ 31 w 117"/>
                <a:gd name="T17" fmla="*/ 111 h 146"/>
                <a:gd name="T18" fmla="*/ 20 w 117"/>
                <a:gd name="T19" fmla="*/ 126 h 146"/>
                <a:gd name="T20" fmla="*/ 0 w 117"/>
                <a:gd name="T21" fmla="*/ 146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7" h="146">
                  <a:moveTo>
                    <a:pt x="117" y="0"/>
                  </a:moveTo>
                  <a:cubicBezTo>
                    <a:pt x="111" y="4"/>
                    <a:pt x="106" y="9"/>
                    <a:pt x="103" y="14"/>
                  </a:cubicBezTo>
                  <a:cubicBezTo>
                    <a:pt x="100" y="19"/>
                    <a:pt x="103" y="29"/>
                    <a:pt x="100" y="32"/>
                  </a:cubicBezTo>
                  <a:cubicBezTo>
                    <a:pt x="97" y="35"/>
                    <a:pt x="91" y="30"/>
                    <a:pt x="87" y="35"/>
                  </a:cubicBezTo>
                  <a:cubicBezTo>
                    <a:pt x="83" y="40"/>
                    <a:pt x="80" y="54"/>
                    <a:pt x="75" y="60"/>
                  </a:cubicBezTo>
                  <a:cubicBezTo>
                    <a:pt x="70" y="66"/>
                    <a:pt x="62" y="65"/>
                    <a:pt x="59" y="69"/>
                  </a:cubicBezTo>
                  <a:cubicBezTo>
                    <a:pt x="56" y="73"/>
                    <a:pt x="59" y="82"/>
                    <a:pt x="56" y="86"/>
                  </a:cubicBezTo>
                  <a:cubicBezTo>
                    <a:pt x="53" y="90"/>
                    <a:pt x="44" y="91"/>
                    <a:pt x="40" y="95"/>
                  </a:cubicBezTo>
                  <a:cubicBezTo>
                    <a:pt x="36" y="99"/>
                    <a:pt x="34" y="106"/>
                    <a:pt x="31" y="111"/>
                  </a:cubicBezTo>
                  <a:cubicBezTo>
                    <a:pt x="28" y="116"/>
                    <a:pt x="25" y="120"/>
                    <a:pt x="20" y="126"/>
                  </a:cubicBezTo>
                  <a:cubicBezTo>
                    <a:pt x="15" y="132"/>
                    <a:pt x="4" y="142"/>
                    <a:pt x="0" y="146"/>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1" name="Freeform 57"/>
            <p:cNvSpPr/>
            <p:nvPr/>
          </p:nvSpPr>
          <p:spPr bwMode="auto">
            <a:xfrm>
              <a:off x="2995" y="2018"/>
              <a:ext cx="63" cy="83"/>
            </a:xfrm>
            <a:custGeom>
              <a:avLst/>
              <a:gdLst>
                <a:gd name="T0" fmla="*/ 63 w 63"/>
                <a:gd name="T1" fmla="*/ 0 h 83"/>
                <a:gd name="T2" fmla="*/ 51 w 63"/>
                <a:gd name="T3" fmla="*/ 21 h 83"/>
                <a:gd name="T4" fmla="*/ 39 w 63"/>
                <a:gd name="T5" fmla="*/ 21 h 83"/>
                <a:gd name="T6" fmla="*/ 34 w 63"/>
                <a:gd name="T7" fmla="*/ 35 h 83"/>
                <a:gd name="T8" fmla="*/ 25 w 63"/>
                <a:gd name="T9" fmla="*/ 45 h 83"/>
                <a:gd name="T10" fmla="*/ 19 w 63"/>
                <a:gd name="T11" fmla="*/ 62 h 83"/>
                <a:gd name="T12" fmla="*/ 7 w 63"/>
                <a:gd name="T13" fmla="*/ 72 h 83"/>
                <a:gd name="T14" fmla="*/ 0 w 63"/>
                <a:gd name="T15" fmla="*/ 83 h 8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3" h="83">
                  <a:moveTo>
                    <a:pt x="63" y="0"/>
                  </a:moveTo>
                  <a:cubicBezTo>
                    <a:pt x="59" y="9"/>
                    <a:pt x="55" y="18"/>
                    <a:pt x="51" y="21"/>
                  </a:cubicBezTo>
                  <a:cubicBezTo>
                    <a:pt x="47" y="24"/>
                    <a:pt x="42" y="19"/>
                    <a:pt x="39" y="21"/>
                  </a:cubicBezTo>
                  <a:cubicBezTo>
                    <a:pt x="36" y="23"/>
                    <a:pt x="36" y="31"/>
                    <a:pt x="34" y="35"/>
                  </a:cubicBezTo>
                  <a:cubicBezTo>
                    <a:pt x="32" y="39"/>
                    <a:pt x="27" y="41"/>
                    <a:pt x="25" y="45"/>
                  </a:cubicBezTo>
                  <a:cubicBezTo>
                    <a:pt x="23" y="49"/>
                    <a:pt x="22" y="58"/>
                    <a:pt x="19" y="62"/>
                  </a:cubicBezTo>
                  <a:cubicBezTo>
                    <a:pt x="16" y="66"/>
                    <a:pt x="10" y="68"/>
                    <a:pt x="7" y="72"/>
                  </a:cubicBezTo>
                  <a:cubicBezTo>
                    <a:pt x="4" y="76"/>
                    <a:pt x="2" y="79"/>
                    <a:pt x="0" y="83"/>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2" name="Freeform 61"/>
            <p:cNvSpPr/>
            <p:nvPr/>
          </p:nvSpPr>
          <p:spPr bwMode="auto">
            <a:xfrm>
              <a:off x="2998" y="2006"/>
              <a:ext cx="97" cy="125"/>
            </a:xfrm>
            <a:custGeom>
              <a:avLst/>
              <a:gdLst>
                <a:gd name="T0" fmla="*/ 97 w 97"/>
                <a:gd name="T1" fmla="*/ 0 h 125"/>
                <a:gd name="T2" fmla="*/ 76 w 97"/>
                <a:gd name="T3" fmla="*/ 23 h 125"/>
                <a:gd name="T4" fmla="*/ 64 w 97"/>
                <a:gd name="T5" fmla="*/ 38 h 125"/>
                <a:gd name="T6" fmla="*/ 54 w 97"/>
                <a:gd name="T7" fmla="*/ 54 h 125"/>
                <a:gd name="T8" fmla="*/ 43 w 97"/>
                <a:gd name="T9" fmla="*/ 63 h 125"/>
                <a:gd name="T10" fmla="*/ 40 w 97"/>
                <a:gd name="T11" fmla="*/ 80 h 125"/>
                <a:gd name="T12" fmla="*/ 24 w 97"/>
                <a:gd name="T13" fmla="*/ 89 h 125"/>
                <a:gd name="T14" fmla="*/ 18 w 97"/>
                <a:gd name="T15" fmla="*/ 101 h 125"/>
                <a:gd name="T16" fmla="*/ 0 w 97"/>
                <a:gd name="T17" fmla="*/ 125 h 1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7" h="125">
                  <a:moveTo>
                    <a:pt x="97" y="0"/>
                  </a:moveTo>
                  <a:cubicBezTo>
                    <a:pt x="89" y="8"/>
                    <a:pt x="81" y="17"/>
                    <a:pt x="76" y="23"/>
                  </a:cubicBezTo>
                  <a:cubicBezTo>
                    <a:pt x="71" y="29"/>
                    <a:pt x="68" y="33"/>
                    <a:pt x="64" y="38"/>
                  </a:cubicBezTo>
                  <a:cubicBezTo>
                    <a:pt x="60" y="43"/>
                    <a:pt x="57" y="50"/>
                    <a:pt x="54" y="54"/>
                  </a:cubicBezTo>
                  <a:cubicBezTo>
                    <a:pt x="51" y="58"/>
                    <a:pt x="45" y="59"/>
                    <a:pt x="43" y="63"/>
                  </a:cubicBezTo>
                  <a:cubicBezTo>
                    <a:pt x="41" y="67"/>
                    <a:pt x="43" y="76"/>
                    <a:pt x="40" y="80"/>
                  </a:cubicBezTo>
                  <a:cubicBezTo>
                    <a:pt x="37" y="84"/>
                    <a:pt x="28" y="86"/>
                    <a:pt x="24" y="89"/>
                  </a:cubicBezTo>
                  <a:cubicBezTo>
                    <a:pt x="20" y="92"/>
                    <a:pt x="22" y="95"/>
                    <a:pt x="18" y="101"/>
                  </a:cubicBezTo>
                  <a:cubicBezTo>
                    <a:pt x="14" y="107"/>
                    <a:pt x="4" y="120"/>
                    <a:pt x="0" y="125"/>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3" name="Freeform 62"/>
            <p:cNvSpPr/>
            <p:nvPr/>
          </p:nvSpPr>
          <p:spPr bwMode="auto">
            <a:xfrm>
              <a:off x="2995" y="2008"/>
              <a:ext cx="36" cy="46"/>
            </a:xfrm>
            <a:custGeom>
              <a:avLst/>
              <a:gdLst>
                <a:gd name="T0" fmla="*/ 36 w 36"/>
                <a:gd name="T1" fmla="*/ 0 h 46"/>
                <a:gd name="T2" fmla="*/ 19 w 36"/>
                <a:gd name="T3" fmla="*/ 21 h 46"/>
                <a:gd name="T4" fmla="*/ 16 w 36"/>
                <a:gd name="T5" fmla="*/ 34 h 46"/>
                <a:gd name="T6" fmla="*/ 0 w 36"/>
                <a:gd name="T7" fmla="*/ 46 h 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46">
                  <a:moveTo>
                    <a:pt x="36" y="0"/>
                  </a:moveTo>
                  <a:cubicBezTo>
                    <a:pt x="29" y="7"/>
                    <a:pt x="22" y="15"/>
                    <a:pt x="19" y="21"/>
                  </a:cubicBezTo>
                  <a:cubicBezTo>
                    <a:pt x="16" y="27"/>
                    <a:pt x="19" y="30"/>
                    <a:pt x="16" y="34"/>
                  </a:cubicBezTo>
                  <a:cubicBezTo>
                    <a:pt x="13" y="38"/>
                    <a:pt x="1" y="33"/>
                    <a:pt x="0" y="46"/>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54" name="Group 66"/>
          <p:cNvGrpSpPr/>
          <p:nvPr/>
        </p:nvGrpSpPr>
        <p:grpSpPr bwMode="auto">
          <a:xfrm>
            <a:off x="1945165" y="4849868"/>
            <a:ext cx="2144713" cy="655638"/>
            <a:chOff x="306" y="1600"/>
            <a:chExt cx="1351" cy="413"/>
          </a:xfrm>
        </p:grpSpPr>
        <p:sp>
          <p:nvSpPr>
            <p:cNvPr id="55" name="Line 64"/>
            <p:cNvSpPr>
              <a:spLocks noChangeShapeType="1"/>
            </p:cNvSpPr>
            <p:nvPr/>
          </p:nvSpPr>
          <p:spPr bwMode="auto">
            <a:xfrm flipH="1" flipV="1">
              <a:off x="805" y="1825"/>
              <a:ext cx="312" cy="18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6" name="Text Box 65"/>
            <p:cNvSpPr txBox="1">
              <a:spLocks noChangeArrowheads="1"/>
            </p:cNvSpPr>
            <p:nvPr/>
          </p:nvSpPr>
          <p:spPr bwMode="auto">
            <a:xfrm>
              <a:off x="306" y="1600"/>
              <a:ext cx="13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dirty="0">
                  <a:solidFill>
                    <a:srgbClr val="000000"/>
                  </a:solidFill>
                  <a:latin typeface="黑体" panose="02010609060101010101" pitchFamily="2" charset="-122"/>
                  <a:ea typeface="黑体" panose="02010609060101010101" pitchFamily="2" charset="-122"/>
                </a:rPr>
                <a:t>实际表面</a:t>
              </a:r>
              <a:endParaRPr lang="zh-CN" altLang="en-US" sz="2000" dirty="0">
                <a:solidFill>
                  <a:srgbClr val="000000"/>
                </a:solidFill>
                <a:latin typeface="黑体" panose="02010609060101010101" pitchFamily="2" charset="-122"/>
                <a:ea typeface="黑体" panose="02010609060101010101" pitchFamily="2" charset="-122"/>
              </a:endParaRPr>
            </a:p>
          </p:txBody>
        </p:sp>
      </p:grpSp>
      <p:grpSp>
        <p:nvGrpSpPr>
          <p:cNvPr id="57" name="Group 70"/>
          <p:cNvGrpSpPr/>
          <p:nvPr/>
        </p:nvGrpSpPr>
        <p:grpSpPr bwMode="auto">
          <a:xfrm>
            <a:off x="2286478" y="4094218"/>
            <a:ext cx="2144712" cy="638175"/>
            <a:chOff x="562" y="1206"/>
            <a:chExt cx="1351" cy="402"/>
          </a:xfrm>
        </p:grpSpPr>
        <p:sp>
          <p:nvSpPr>
            <p:cNvPr id="58" name="Line 68"/>
            <p:cNvSpPr>
              <a:spLocks noChangeShapeType="1"/>
            </p:cNvSpPr>
            <p:nvPr/>
          </p:nvSpPr>
          <p:spPr bwMode="auto">
            <a:xfrm flipH="1" flipV="1">
              <a:off x="1036" y="1447"/>
              <a:ext cx="243" cy="161"/>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9" name="Text Box 69"/>
            <p:cNvSpPr txBox="1">
              <a:spLocks noChangeArrowheads="1"/>
            </p:cNvSpPr>
            <p:nvPr/>
          </p:nvSpPr>
          <p:spPr bwMode="auto">
            <a:xfrm>
              <a:off x="562" y="1206"/>
              <a:ext cx="13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dirty="0">
                  <a:solidFill>
                    <a:srgbClr val="000000"/>
                  </a:solidFill>
                  <a:latin typeface="黑体" panose="02010609060101010101" pitchFamily="2" charset="-122"/>
                  <a:ea typeface="黑体" panose="02010609060101010101" pitchFamily="2" charset="-122"/>
                </a:rPr>
                <a:t>指平定面</a:t>
              </a:r>
              <a:endParaRPr lang="zh-CN" altLang="en-US" sz="2000"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4126390" y="5086406"/>
            <a:ext cx="2346325" cy="1208087"/>
            <a:chOff x="3893993" y="4587833"/>
            <a:chExt cx="2346325" cy="1208087"/>
          </a:xfrm>
        </p:grpSpPr>
        <p:grpSp>
          <p:nvGrpSpPr>
            <p:cNvPr id="61" name="Group 297"/>
            <p:cNvGrpSpPr/>
            <p:nvPr/>
          </p:nvGrpSpPr>
          <p:grpSpPr bwMode="auto">
            <a:xfrm>
              <a:off x="3893993" y="4587833"/>
              <a:ext cx="2273300" cy="620712"/>
              <a:chOff x="2838" y="1528"/>
              <a:chExt cx="1432" cy="391"/>
            </a:xfrm>
          </p:grpSpPr>
          <p:sp>
            <p:nvSpPr>
              <p:cNvPr id="63" name="Line 71"/>
              <p:cNvSpPr>
                <a:spLocks noChangeShapeType="1"/>
              </p:cNvSpPr>
              <p:nvPr/>
            </p:nvSpPr>
            <p:spPr bwMode="auto">
              <a:xfrm>
                <a:off x="2838" y="1528"/>
                <a:ext cx="387" cy="242"/>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4" name="Text Box 72"/>
              <p:cNvSpPr txBox="1">
                <a:spLocks noChangeArrowheads="1"/>
              </p:cNvSpPr>
              <p:nvPr/>
            </p:nvSpPr>
            <p:spPr bwMode="auto">
              <a:xfrm>
                <a:off x="3189" y="1667"/>
                <a:ext cx="108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表面轮廓</a:t>
                </a:r>
                <a:endParaRPr lang="zh-CN" altLang="en-US" sz="2000">
                  <a:solidFill>
                    <a:srgbClr val="000000"/>
                  </a:solidFill>
                  <a:latin typeface="黑体" panose="02010609060101010101" pitchFamily="2" charset="-122"/>
                  <a:ea typeface="黑体" panose="02010609060101010101" pitchFamily="2" charset="-122"/>
                </a:endParaRPr>
              </a:p>
            </p:txBody>
          </p:sp>
        </p:grpSp>
        <p:sp>
          <p:nvSpPr>
            <p:cNvPr id="62" name="Rectangle 296"/>
            <p:cNvSpPr>
              <a:spLocks noChangeArrowheads="1"/>
            </p:cNvSpPr>
            <p:nvPr/>
          </p:nvSpPr>
          <p:spPr bwMode="auto">
            <a:xfrm>
              <a:off x="4073381" y="5087895"/>
              <a:ext cx="2166937"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dirty="0">
                  <a:solidFill>
                    <a:srgbClr val="000000"/>
                  </a:solidFill>
                  <a:latin typeface="黑体" panose="02010609060101010101" pitchFamily="2" charset="-122"/>
                  <a:ea typeface="黑体" panose="02010609060101010101" pitchFamily="2" charset="-122"/>
                </a:rPr>
                <a:t>（指定平面与实际表面的交线）</a:t>
              </a:r>
              <a:endParaRPr lang="zh-CN" altLang="en-US" sz="2000" dirty="0">
                <a:solidFill>
                  <a:srgbClr val="000000"/>
                </a:solidFill>
                <a:latin typeface="黑体" panose="02010609060101010101" pitchFamily="2" charset="-122"/>
                <a:ea typeface="黑体" panose="02010609060101010101" pitchFamily="2" charset="-122"/>
              </a:endParaRPr>
            </a:p>
          </p:txBody>
        </p:sp>
      </p:grpSp>
      <p:grpSp>
        <p:nvGrpSpPr>
          <p:cNvPr id="65" name="Group 490"/>
          <p:cNvGrpSpPr/>
          <p:nvPr/>
        </p:nvGrpSpPr>
        <p:grpSpPr bwMode="auto">
          <a:xfrm>
            <a:off x="4380390" y="4479981"/>
            <a:ext cx="642938" cy="611187"/>
            <a:chOff x="1608" y="2033"/>
            <a:chExt cx="405" cy="385"/>
          </a:xfrm>
        </p:grpSpPr>
        <p:sp>
          <p:nvSpPr>
            <p:cNvPr id="66" name="Line 475"/>
            <p:cNvSpPr>
              <a:spLocks noChangeShapeType="1"/>
            </p:cNvSpPr>
            <p:nvPr/>
          </p:nvSpPr>
          <p:spPr bwMode="auto">
            <a:xfrm flipV="1">
              <a:off x="1612" y="2033"/>
              <a:ext cx="397" cy="382"/>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7" name="Line 481"/>
            <p:cNvSpPr>
              <a:spLocks noChangeShapeType="1"/>
            </p:cNvSpPr>
            <p:nvPr/>
          </p:nvSpPr>
          <p:spPr bwMode="auto">
            <a:xfrm flipV="1">
              <a:off x="1610" y="2197"/>
              <a:ext cx="396" cy="218"/>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8" name="Line 482"/>
            <p:cNvSpPr>
              <a:spLocks noChangeShapeType="1"/>
            </p:cNvSpPr>
            <p:nvPr/>
          </p:nvSpPr>
          <p:spPr bwMode="auto">
            <a:xfrm flipV="1">
              <a:off x="1608" y="2342"/>
              <a:ext cx="405" cy="76"/>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69" name="Group 493"/>
          <p:cNvGrpSpPr/>
          <p:nvPr/>
        </p:nvGrpSpPr>
        <p:grpSpPr bwMode="auto">
          <a:xfrm>
            <a:off x="5032853" y="4289481"/>
            <a:ext cx="2449512" cy="925512"/>
            <a:chOff x="2019" y="1913"/>
            <a:chExt cx="1543" cy="583"/>
          </a:xfrm>
        </p:grpSpPr>
        <p:grpSp>
          <p:nvGrpSpPr>
            <p:cNvPr id="70" name="Group 491"/>
            <p:cNvGrpSpPr/>
            <p:nvPr/>
          </p:nvGrpSpPr>
          <p:grpSpPr bwMode="auto">
            <a:xfrm>
              <a:off x="2019" y="2032"/>
              <a:ext cx="497" cy="323"/>
              <a:chOff x="2019" y="2032"/>
              <a:chExt cx="497" cy="323"/>
            </a:xfrm>
          </p:grpSpPr>
          <p:sp>
            <p:nvSpPr>
              <p:cNvPr id="74" name="Freeform 477"/>
              <p:cNvSpPr/>
              <p:nvPr/>
            </p:nvSpPr>
            <p:spPr bwMode="auto">
              <a:xfrm>
                <a:off x="2021" y="2339"/>
                <a:ext cx="495" cy="16"/>
              </a:xfrm>
              <a:custGeom>
                <a:avLst/>
                <a:gdLst>
                  <a:gd name="T0" fmla="*/ 0 w 614"/>
                  <a:gd name="T1" fmla="*/ 2 h 20"/>
                  <a:gd name="T2" fmla="*/ 6 w 614"/>
                  <a:gd name="T3" fmla="*/ 2 h 20"/>
                  <a:gd name="T4" fmla="*/ 14 w 614"/>
                  <a:gd name="T5" fmla="*/ 2 h 20"/>
                  <a:gd name="T6" fmla="*/ 20 w 614"/>
                  <a:gd name="T7" fmla="*/ 0 h 20"/>
                  <a:gd name="T8" fmla="*/ 28 w 614"/>
                  <a:gd name="T9" fmla="*/ 2 h 20"/>
                  <a:gd name="T10" fmla="*/ 36 w 614"/>
                  <a:gd name="T11" fmla="*/ 2 h 20"/>
                  <a:gd name="T12" fmla="*/ 43 w 614"/>
                  <a:gd name="T13" fmla="*/ 2 h 20"/>
                  <a:gd name="T14" fmla="*/ 52 w 614"/>
                  <a:gd name="T15" fmla="*/ 2 h 20"/>
                  <a:gd name="T16" fmla="*/ 56 w 614"/>
                  <a:gd name="T17" fmla="*/ 2 h 20"/>
                  <a:gd name="T18" fmla="*/ 66 w 614"/>
                  <a:gd name="T19" fmla="*/ 2 h 20"/>
                  <a:gd name="T20" fmla="*/ 76 w 614"/>
                  <a:gd name="T21" fmla="*/ 2 h 20"/>
                  <a:gd name="T22" fmla="*/ 89 w 614"/>
                  <a:gd name="T23" fmla="*/ 2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14" h="20">
                    <a:moveTo>
                      <a:pt x="0" y="10"/>
                    </a:moveTo>
                    <a:cubicBezTo>
                      <a:pt x="15" y="8"/>
                      <a:pt x="30" y="7"/>
                      <a:pt x="46" y="6"/>
                    </a:cubicBezTo>
                    <a:cubicBezTo>
                      <a:pt x="62" y="5"/>
                      <a:pt x="81" y="3"/>
                      <a:pt x="96" y="2"/>
                    </a:cubicBezTo>
                    <a:cubicBezTo>
                      <a:pt x="111" y="1"/>
                      <a:pt x="119" y="0"/>
                      <a:pt x="136" y="0"/>
                    </a:cubicBezTo>
                    <a:cubicBezTo>
                      <a:pt x="153" y="0"/>
                      <a:pt x="179" y="1"/>
                      <a:pt x="198" y="2"/>
                    </a:cubicBezTo>
                    <a:cubicBezTo>
                      <a:pt x="217" y="3"/>
                      <a:pt x="236" y="6"/>
                      <a:pt x="252" y="8"/>
                    </a:cubicBezTo>
                    <a:cubicBezTo>
                      <a:pt x="268" y="10"/>
                      <a:pt x="279" y="12"/>
                      <a:pt x="296" y="14"/>
                    </a:cubicBezTo>
                    <a:cubicBezTo>
                      <a:pt x="313" y="16"/>
                      <a:pt x="340" y="17"/>
                      <a:pt x="356" y="18"/>
                    </a:cubicBezTo>
                    <a:cubicBezTo>
                      <a:pt x="372" y="19"/>
                      <a:pt x="377" y="18"/>
                      <a:pt x="394" y="18"/>
                    </a:cubicBezTo>
                    <a:cubicBezTo>
                      <a:pt x="411" y="18"/>
                      <a:pt x="436" y="18"/>
                      <a:pt x="458" y="18"/>
                    </a:cubicBezTo>
                    <a:cubicBezTo>
                      <a:pt x="480" y="18"/>
                      <a:pt x="500" y="20"/>
                      <a:pt x="526" y="18"/>
                    </a:cubicBezTo>
                    <a:cubicBezTo>
                      <a:pt x="552" y="16"/>
                      <a:pt x="601" y="10"/>
                      <a:pt x="614" y="8"/>
                    </a:cubicBezTo>
                  </a:path>
                </a:pathLst>
              </a:custGeom>
              <a:noFill/>
              <a:ln w="12700" cmpd="sng">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5" name="Freeform 479"/>
              <p:cNvSpPr/>
              <p:nvPr/>
            </p:nvSpPr>
            <p:spPr bwMode="auto">
              <a:xfrm>
                <a:off x="2019" y="2032"/>
                <a:ext cx="497" cy="20"/>
              </a:xfrm>
              <a:custGeom>
                <a:avLst/>
                <a:gdLst>
                  <a:gd name="T0" fmla="*/ 0 w 617"/>
                  <a:gd name="T1" fmla="*/ 2 h 25"/>
                  <a:gd name="T2" fmla="*/ 2 w 617"/>
                  <a:gd name="T3" fmla="*/ 2 h 25"/>
                  <a:gd name="T4" fmla="*/ 5 w 617"/>
                  <a:gd name="T5" fmla="*/ 2 h 25"/>
                  <a:gd name="T6" fmla="*/ 8 w 617"/>
                  <a:gd name="T7" fmla="*/ 2 h 25"/>
                  <a:gd name="T8" fmla="*/ 10 w 617"/>
                  <a:gd name="T9" fmla="*/ 2 h 25"/>
                  <a:gd name="T10" fmla="*/ 13 w 617"/>
                  <a:gd name="T11" fmla="*/ 2 h 25"/>
                  <a:gd name="T12" fmla="*/ 16 w 617"/>
                  <a:gd name="T13" fmla="*/ 2 h 25"/>
                  <a:gd name="T14" fmla="*/ 18 w 617"/>
                  <a:gd name="T15" fmla="*/ 2 h 25"/>
                  <a:gd name="T16" fmla="*/ 21 w 617"/>
                  <a:gd name="T17" fmla="*/ 0 h 25"/>
                  <a:gd name="T18" fmla="*/ 23 w 617"/>
                  <a:gd name="T19" fmla="*/ 2 h 25"/>
                  <a:gd name="T20" fmla="*/ 25 w 617"/>
                  <a:gd name="T21" fmla="*/ 2 h 25"/>
                  <a:gd name="T22" fmla="*/ 27 w 617"/>
                  <a:gd name="T23" fmla="*/ 2 h 25"/>
                  <a:gd name="T24" fmla="*/ 28 w 617"/>
                  <a:gd name="T25" fmla="*/ 2 h 25"/>
                  <a:gd name="T26" fmla="*/ 31 w 617"/>
                  <a:gd name="T27" fmla="*/ 2 h 25"/>
                  <a:gd name="T28" fmla="*/ 34 w 617"/>
                  <a:gd name="T29" fmla="*/ 2 h 25"/>
                  <a:gd name="T30" fmla="*/ 35 w 617"/>
                  <a:gd name="T31" fmla="*/ 2 h 25"/>
                  <a:gd name="T32" fmla="*/ 39 w 617"/>
                  <a:gd name="T33" fmla="*/ 2 h 25"/>
                  <a:gd name="T34" fmla="*/ 42 w 617"/>
                  <a:gd name="T35" fmla="*/ 2 h 25"/>
                  <a:gd name="T36" fmla="*/ 42 w 617"/>
                  <a:gd name="T37" fmla="*/ 2 h 25"/>
                  <a:gd name="T38" fmla="*/ 44 w 617"/>
                  <a:gd name="T39" fmla="*/ 2 h 25"/>
                  <a:gd name="T40" fmla="*/ 46 w 617"/>
                  <a:gd name="T41" fmla="*/ 2 h 25"/>
                  <a:gd name="T42" fmla="*/ 47 w 617"/>
                  <a:gd name="T43" fmla="*/ 3 h 25"/>
                  <a:gd name="T44" fmla="*/ 48 w 617"/>
                  <a:gd name="T45" fmla="*/ 2 h 25"/>
                  <a:gd name="T46" fmla="*/ 51 w 617"/>
                  <a:gd name="T47" fmla="*/ 2 h 25"/>
                  <a:gd name="T48" fmla="*/ 53 w 617"/>
                  <a:gd name="T49" fmla="*/ 3 h 25"/>
                  <a:gd name="T50" fmla="*/ 55 w 617"/>
                  <a:gd name="T51" fmla="*/ 2 h 25"/>
                  <a:gd name="T52" fmla="*/ 58 w 617"/>
                  <a:gd name="T53" fmla="*/ 3 h 25"/>
                  <a:gd name="T54" fmla="*/ 60 w 617"/>
                  <a:gd name="T55" fmla="*/ 2 h 25"/>
                  <a:gd name="T56" fmla="*/ 62 w 617"/>
                  <a:gd name="T57" fmla="*/ 3 h 25"/>
                  <a:gd name="T58" fmla="*/ 65 w 617"/>
                  <a:gd name="T59" fmla="*/ 2 h 25"/>
                  <a:gd name="T60" fmla="*/ 65 w 617"/>
                  <a:gd name="T61" fmla="*/ 3 h 25"/>
                  <a:gd name="T62" fmla="*/ 68 w 617"/>
                  <a:gd name="T63" fmla="*/ 2 h 25"/>
                  <a:gd name="T64" fmla="*/ 71 w 617"/>
                  <a:gd name="T65" fmla="*/ 3 h 25"/>
                  <a:gd name="T66" fmla="*/ 73 w 617"/>
                  <a:gd name="T67" fmla="*/ 2 h 25"/>
                  <a:gd name="T68" fmla="*/ 75 w 617"/>
                  <a:gd name="T69" fmla="*/ 2 h 25"/>
                  <a:gd name="T70" fmla="*/ 78 w 617"/>
                  <a:gd name="T71" fmla="*/ 3 h 25"/>
                  <a:gd name="T72" fmla="*/ 81 w 617"/>
                  <a:gd name="T73" fmla="*/ 2 h 25"/>
                  <a:gd name="T74" fmla="*/ 81 w 617"/>
                  <a:gd name="T75" fmla="*/ 3 h 25"/>
                  <a:gd name="T76" fmla="*/ 83 w 617"/>
                  <a:gd name="T77" fmla="*/ 2 h 25"/>
                  <a:gd name="T78" fmla="*/ 85 w 617"/>
                  <a:gd name="T79" fmla="*/ 2 h 25"/>
                  <a:gd name="T80" fmla="*/ 88 w 617"/>
                  <a:gd name="T81" fmla="*/ 2 h 2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617" h="25">
                    <a:moveTo>
                      <a:pt x="0" y="5"/>
                    </a:moveTo>
                    <a:cubicBezTo>
                      <a:pt x="3" y="5"/>
                      <a:pt x="12" y="3"/>
                      <a:pt x="17" y="4"/>
                    </a:cubicBezTo>
                    <a:cubicBezTo>
                      <a:pt x="22" y="5"/>
                      <a:pt x="27" y="12"/>
                      <a:pt x="33" y="12"/>
                    </a:cubicBezTo>
                    <a:cubicBezTo>
                      <a:pt x="39" y="12"/>
                      <a:pt x="48" y="6"/>
                      <a:pt x="54" y="6"/>
                    </a:cubicBezTo>
                    <a:cubicBezTo>
                      <a:pt x="60" y="6"/>
                      <a:pt x="62" y="11"/>
                      <a:pt x="68" y="11"/>
                    </a:cubicBezTo>
                    <a:cubicBezTo>
                      <a:pt x="74" y="11"/>
                      <a:pt x="85" y="5"/>
                      <a:pt x="92" y="5"/>
                    </a:cubicBezTo>
                    <a:cubicBezTo>
                      <a:pt x="99" y="5"/>
                      <a:pt x="105" y="8"/>
                      <a:pt x="111" y="8"/>
                    </a:cubicBezTo>
                    <a:cubicBezTo>
                      <a:pt x="117" y="8"/>
                      <a:pt x="120" y="4"/>
                      <a:pt x="126" y="3"/>
                    </a:cubicBezTo>
                    <a:cubicBezTo>
                      <a:pt x="132" y="2"/>
                      <a:pt x="140" y="0"/>
                      <a:pt x="146" y="0"/>
                    </a:cubicBezTo>
                    <a:cubicBezTo>
                      <a:pt x="152" y="0"/>
                      <a:pt x="156" y="2"/>
                      <a:pt x="161" y="4"/>
                    </a:cubicBezTo>
                    <a:cubicBezTo>
                      <a:pt x="166" y="6"/>
                      <a:pt x="173" y="10"/>
                      <a:pt x="178" y="10"/>
                    </a:cubicBezTo>
                    <a:cubicBezTo>
                      <a:pt x="183" y="10"/>
                      <a:pt x="187" y="3"/>
                      <a:pt x="191" y="2"/>
                    </a:cubicBezTo>
                    <a:cubicBezTo>
                      <a:pt x="195" y="1"/>
                      <a:pt x="199" y="5"/>
                      <a:pt x="203" y="5"/>
                    </a:cubicBezTo>
                    <a:cubicBezTo>
                      <a:pt x="207" y="5"/>
                      <a:pt x="210" y="2"/>
                      <a:pt x="215" y="3"/>
                    </a:cubicBezTo>
                    <a:cubicBezTo>
                      <a:pt x="220" y="4"/>
                      <a:pt x="230" y="9"/>
                      <a:pt x="236" y="9"/>
                    </a:cubicBezTo>
                    <a:cubicBezTo>
                      <a:pt x="242" y="9"/>
                      <a:pt x="246" y="5"/>
                      <a:pt x="252" y="6"/>
                    </a:cubicBezTo>
                    <a:cubicBezTo>
                      <a:pt x="258" y="7"/>
                      <a:pt x="264" y="13"/>
                      <a:pt x="270" y="15"/>
                    </a:cubicBezTo>
                    <a:cubicBezTo>
                      <a:pt x="276" y="17"/>
                      <a:pt x="285" y="19"/>
                      <a:pt x="290" y="18"/>
                    </a:cubicBezTo>
                    <a:cubicBezTo>
                      <a:pt x="295" y="17"/>
                      <a:pt x="295" y="12"/>
                      <a:pt x="298" y="11"/>
                    </a:cubicBezTo>
                    <a:cubicBezTo>
                      <a:pt x="301" y="10"/>
                      <a:pt x="307" y="11"/>
                      <a:pt x="311" y="12"/>
                    </a:cubicBezTo>
                    <a:cubicBezTo>
                      <a:pt x="315" y="13"/>
                      <a:pt x="319" y="19"/>
                      <a:pt x="322" y="20"/>
                    </a:cubicBezTo>
                    <a:cubicBezTo>
                      <a:pt x="325" y="21"/>
                      <a:pt x="329" y="22"/>
                      <a:pt x="332" y="21"/>
                    </a:cubicBezTo>
                    <a:cubicBezTo>
                      <a:pt x="335" y="20"/>
                      <a:pt x="339" y="15"/>
                      <a:pt x="343" y="14"/>
                    </a:cubicBezTo>
                    <a:cubicBezTo>
                      <a:pt x="347" y="13"/>
                      <a:pt x="351" y="17"/>
                      <a:pt x="356" y="18"/>
                    </a:cubicBezTo>
                    <a:cubicBezTo>
                      <a:pt x="361" y="19"/>
                      <a:pt x="370" y="23"/>
                      <a:pt x="375" y="23"/>
                    </a:cubicBezTo>
                    <a:cubicBezTo>
                      <a:pt x="380" y="23"/>
                      <a:pt x="383" y="16"/>
                      <a:pt x="388" y="16"/>
                    </a:cubicBezTo>
                    <a:cubicBezTo>
                      <a:pt x="393" y="16"/>
                      <a:pt x="399" y="21"/>
                      <a:pt x="404" y="21"/>
                    </a:cubicBezTo>
                    <a:cubicBezTo>
                      <a:pt x="409" y="21"/>
                      <a:pt x="414" y="19"/>
                      <a:pt x="418" y="19"/>
                    </a:cubicBezTo>
                    <a:cubicBezTo>
                      <a:pt x="422" y="19"/>
                      <a:pt x="425" y="24"/>
                      <a:pt x="431" y="24"/>
                    </a:cubicBezTo>
                    <a:cubicBezTo>
                      <a:pt x="437" y="24"/>
                      <a:pt x="448" y="20"/>
                      <a:pt x="453" y="20"/>
                    </a:cubicBezTo>
                    <a:cubicBezTo>
                      <a:pt x="458" y="20"/>
                      <a:pt x="460" y="25"/>
                      <a:pt x="464" y="25"/>
                    </a:cubicBezTo>
                    <a:cubicBezTo>
                      <a:pt x="468" y="25"/>
                      <a:pt x="471" y="18"/>
                      <a:pt x="476" y="18"/>
                    </a:cubicBezTo>
                    <a:cubicBezTo>
                      <a:pt x="481" y="18"/>
                      <a:pt x="489" y="24"/>
                      <a:pt x="495" y="24"/>
                    </a:cubicBezTo>
                    <a:cubicBezTo>
                      <a:pt x="501" y="24"/>
                      <a:pt x="508" y="22"/>
                      <a:pt x="513" y="20"/>
                    </a:cubicBezTo>
                    <a:cubicBezTo>
                      <a:pt x="518" y="18"/>
                      <a:pt x="521" y="13"/>
                      <a:pt x="526" y="13"/>
                    </a:cubicBezTo>
                    <a:cubicBezTo>
                      <a:pt x="531" y="13"/>
                      <a:pt x="539" y="20"/>
                      <a:pt x="545" y="21"/>
                    </a:cubicBezTo>
                    <a:cubicBezTo>
                      <a:pt x="551" y="22"/>
                      <a:pt x="558" y="17"/>
                      <a:pt x="563" y="17"/>
                    </a:cubicBezTo>
                    <a:cubicBezTo>
                      <a:pt x="568" y="17"/>
                      <a:pt x="570" y="23"/>
                      <a:pt x="574" y="23"/>
                    </a:cubicBezTo>
                    <a:cubicBezTo>
                      <a:pt x="578" y="23"/>
                      <a:pt x="581" y="21"/>
                      <a:pt x="585" y="20"/>
                    </a:cubicBezTo>
                    <a:cubicBezTo>
                      <a:pt x="589" y="19"/>
                      <a:pt x="594" y="20"/>
                      <a:pt x="599" y="19"/>
                    </a:cubicBezTo>
                    <a:cubicBezTo>
                      <a:pt x="604" y="18"/>
                      <a:pt x="613" y="13"/>
                      <a:pt x="617" y="11"/>
                    </a:cubicBezTo>
                  </a:path>
                </a:pathLst>
              </a:custGeom>
              <a:noFill/>
              <a:ln w="12700" cmpd="sng">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6" name="Freeform 484"/>
              <p:cNvSpPr/>
              <p:nvPr/>
            </p:nvSpPr>
            <p:spPr bwMode="auto">
              <a:xfrm>
                <a:off x="2019" y="2192"/>
                <a:ext cx="497" cy="17"/>
              </a:xfrm>
              <a:custGeom>
                <a:avLst/>
                <a:gdLst>
                  <a:gd name="T0" fmla="*/ 0 w 617"/>
                  <a:gd name="T1" fmla="*/ 2 h 21"/>
                  <a:gd name="T2" fmla="*/ 6 w 617"/>
                  <a:gd name="T3" fmla="*/ 2 h 21"/>
                  <a:gd name="T4" fmla="*/ 13 w 617"/>
                  <a:gd name="T5" fmla="*/ 1 h 21"/>
                  <a:gd name="T6" fmla="*/ 20 w 617"/>
                  <a:gd name="T7" fmla="*/ 2 h 21"/>
                  <a:gd name="T8" fmla="*/ 28 w 617"/>
                  <a:gd name="T9" fmla="*/ 1 h 21"/>
                  <a:gd name="T10" fmla="*/ 35 w 617"/>
                  <a:gd name="T11" fmla="*/ 2 h 21"/>
                  <a:gd name="T12" fmla="*/ 42 w 617"/>
                  <a:gd name="T13" fmla="*/ 2 h 21"/>
                  <a:gd name="T14" fmla="*/ 51 w 617"/>
                  <a:gd name="T15" fmla="*/ 3 h 21"/>
                  <a:gd name="T16" fmla="*/ 58 w 617"/>
                  <a:gd name="T17" fmla="*/ 2 h 21"/>
                  <a:gd name="T18" fmla="*/ 65 w 617"/>
                  <a:gd name="T19" fmla="*/ 3 h 21"/>
                  <a:gd name="T20" fmla="*/ 74 w 617"/>
                  <a:gd name="T21" fmla="*/ 2 h 21"/>
                  <a:gd name="T22" fmla="*/ 81 w 617"/>
                  <a:gd name="T23" fmla="*/ 2 h 21"/>
                  <a:gd name="T24" fmla="*/ 88 w 617"/>
                  <a:gd name="T25" fmla="*/ 2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17" h="21">
                    <a:moveTo>
                      <a:pt x="0" y="9"/>
                    </a:moveTo>
                    <a:cubicBezTo>
                      <a:pt x="8" y="9"/>
                      <a:pt x="32" y="11"/>
                      <a:pt x="47" y="10"/>
                    </a:cubicBezTo>
                    <a:cubicBezTo>
                      <a:pt x="62" y="9"/>
                      <a:pt x="78" y="2"/>
                      <a:pt x="93" y="1"/>
                    </a:cubicBezTo>
                    <a:cubicBezTo>
                      <a:pt x="108" y="0"/>
                      <a:pt x="121" y="5"/>
                      <a:pt x="138" y="5"/>
                    </a:cubicBezTo>
                    <a:cubicBezTo>
                      <a:pt x="155" y="5"/>
                      <a:pt x="179" y="0"/>
                      <a:pt x="198" y="1"/>
                    </a:cubicBezTo>
                    <a:cubicBezTo>
                      <a:pt x="217" y="2"/>
                      <a:pt x="235" y="8"/>
                      <a:pt x="252" y="10"/>
                    </a:cubicBezTo>
                    <a:cubicBezTo>
                      <a:pt x="269" y="12"/>
                      <a:pt x="282" y="9"/>
                      <a:pt x="299" y="11"/>
                    </a:cubicBezTo>
                    <a:cubicBezTo>
                      <a:pt x="316" y="13"/>
                      <a:pt x="339" y="19"/>
                      <a:pt x="356" y="20"/>
                    </a:cubicBezTo>
                    <a:cubicBezTo>
                      <a:pt x="373" y="21"/>
                      <a:pt x="386" y="16"/>
                      <a:pt x="404" y="16"/>
                    </a:cubicBezTo>
                    <a:cubicBezTo>
                      <a:pt x="422" y="16"/>
                      <a:pt x="445" y="20"/>
                      <a:pt x="464" y="20"/>
                    </a:cubicBezTo>
                    <a:cubicBezTo>
                      <a:pt x="483" y="20"/>
                      <a:pt x="503" y="16"/>
                      <a:pt x="521" y="16"/>
                    </a:cubicBezTo>
                    <a:cubicBezTo>
                      <a:pt x="539" y="16"/>
                      <a:pt x="554" y="19"/>
                      <a:pt x="570" y="17"/>
                    </a:cubicBezTo>
                    <a:cubicBezTo>
                      <a:pt x="586" y="15"/>
                      <a:pt x="607" y="8"/>
                      <a:pt x="617" y="5"/>
                    </a:cubicBezTo>
                  </a:path>
                </a:pathLst>
              </a:custGeom>
              <a:noFill/>
              <a:ln w="12700" cmpd="sng">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71" name="Text Box 486"/>
            <p:cNvSpPr txBox="1">
              <a:spLocks noChangeArrowheads="1"/>
            </p:cNvSpPr>
            <p:nvPr/>
          </p:nvSpPr>
          <p:spPr bwMode="auto">
            <a:xfrm>
              <a:off x="2495" y="1913"/>
              <a:ext cx="10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粗糙度轮廓</a:t>
              </a:r>
              <a:endParaRPr lang="zh-CN" altLang="en-US" sz="2000">
                <a:solidFill>
                  <a:srgbClr val="000000"/>
                </a:solidFill>
                <a:latin typeface="黑体" panose="02010609060101010101" pitchFamily="2" charset="-122"/>
                <a:ea typeface="黑体" panose="02010609060101010101" pitchFamily="2" charset="-122"/>
              </a:endParaRPr>
            </a:p>
          </p:txBody>
        </p:sp>
        <p:sp>
          <p:nvSpPr>
            <p:cNvPr id="72" name="Text Box 487"/>
            <p:cNvSpPr txBox="1">
              <a:spLocks noChangeArrowheads="1"/>
            </p:cNvSpPr>
            <p:nvPr/>
          </p:nvSpPr>
          <p:spPr bwMode="auto">
            <a:xfrm>
              <a:off x="2488" y="2077"/>
              <a:ext cx="10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波纹度轮廓</a:t>
              </a:r>
              <a:endParaRPr lang="zh-CN" altLang="en-US" sz="2000">
                <a:solidFill>
                  <a:srgbClr val="000000"/>
                </a:solidFill>
                <a:latin typeface="黑体" panose="02010609060101010101" pitchFamily="2" charset="-122"/>
                <a:ea typeface="黑体" panose="02010609060101010101" pitchFamily="2" charset="-122"/>
              </a:endParaRPr>
            </a:p>
          </p:txBody>
        </p:sp>
        <p:sp>
          <p:nvSpPr>
            <p:cNvPr id="73" name="Text Box 488"/>
            <p:cNvSpPr txBox="1">
              <a:spLocks noChangeArrowheads="1"/>
            </p:cNvSpPr>
            <p:nvPr/>
          </p:nvSpPr>
          <p:spPr bwMode="auto">
            <a:xfrm>
              <a:off x="2493" y="2244"/>
              <a:ext cx="10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形状轮廓</a:t>
              </a:r>
              <a:endParaRPr lang="zh-CN" altLang="en-US" sz="2000">
                <a:solidFill>
                  <a:srgbClr val="000000"/>
                </a:solidFill>
                <a:latin typeface="黑体" panose="02010609060101010101" pitchFamily="2" charset="-122"/>
                <a:ea typeface="黑体" panose="02010609060101010101" pitchFamily="2" charset="-122"/>
              </a:endParaRPr>
            </a:p>
          </p:txBody>
        </p:sp>
      </p:grpSp>
      <p:grpSp>
        <p:nvGrpSpPr>
          <p:cNvPr id="77" name="组合 76"/>
          <p:cNvGrpSpPr/>
          <p:nvPr/>
        </p:nvGrpSpPr>
        <p:grpSpPr bwMode="auto">
          <a:xfrm>
            <a:off x="7239478" y="3827518"/>
            <a:ext cx="3340100" cy="706438"/>
            <a:chOff x="5580112" y="3034959"/>
            <a:chExt cx="3340348" cy="707421"/>
          </a:xfrm>
        </p:grpSpPr>
        <p:sp>
          <p:nvSpPr>
            <p:cNvPr id="78" name="Rectangle 315"/>
            <p:cNvSpPr>
              <a:spLocks noChangeArrowheads="1"/>
            </p:cNvSpPr>
            <p:nvPr/>
          </p:nvSpPr>
          <p:spPr bwMode="auto">
            <a:xfrm>
              <a:off x="6012160" y="3034959"/>
              <a:ext cx="2908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微观的表面不平度</a:t>
              </a:r>
              <a:endParaRPr lang="zh-CN" altLang="en-US" sz="2000">
                <a:solidFill>
                  <a:srgbClr val="000000"/>
                </a:solidFill>
                <a:latin typeface="黑体" panose="02010609060101010101" pitchFamily="2" charset="-122"/>
                <a:ea typeface="黑体" panose="02010609060101010101" pitchFamily="2" charset="-122"/>
              </a:endParaRPr>
            </a:p>
          </p:txBody>
        </p:sp>
        <p:cxnSp>
          <p:nvCxnSpPr>
            <p:cNvPr id="79" name="直接连接符 2"/>
            <p:cNvCxnSpPr>
              <a:cxnSpLocks noChangeShapeType="1"/>
            </p:cNvCxnSpPr>
            <p:nvPr/>
          </p:nvCxnSpPr>
          <p:spPr bwMode="auto">
            <a:xfrm flipV="1">
              <a:off x="5580112" y="3302379"/>
              <a:ext cx="504056" cy="440001"/>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0" name="组合 79"/>
          <p:cNvGrpSpPr/>
          <p:nvPr/>
        </p:nvGrpSpPr>
        <p:grpSpPr bwMode="auto">
          <a:xfrm>
            <a:off x="7041040" y="5114981"/>
            <a:ext cx="3538538" cy="827087"/>
            <a:chOff x="5380856" y="4323102"/>
            <a:chExt cx="3539604" cy="827484"/>
          </a:xfrm>
        </p:grpSpPr>
        <p:sp>
          <p:nvSpPr>
            <p:cNvPr id="81" name="Rectangle 315"/>
            <p:cNvSpPr>
              <a:spLocks noChangeArrowheads="1"/>
            </p:cNvSpPr>
            <p:nvPr/>
          </p:nvSpPr>
          <p:spPr bwMode="auto">
            <a:xfrm>
              <a:off x="6012160" y="4750476"/>
              <a:ext cx="2908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表面的宏观轮廓</a:t>
              </a:r>
              <a:endParaRPr lang="zh-CN" altLang="en-US" sz="2000">
                <a:solidFill>
                  <a:srgbClr val="000000"/>
                </a:solidFill>
                <a:latin typeface="黑体" panose="02010609060101010101" pitchFamily="2" charset="-122"/>
                <a:ea typeface="黑体" panose="02010609060101010101" pitchFamily="2" charset="-122"/>
              </a:endParaRPr>
            </a:p>
          </p:txBody>
        </p:sp>
        <p:cxnSp>
          <p:nvCxnSpPr>
            <p:cNvPr id="82" name="直接连接符 117"/>
            <p:cNvCxnSpPr>
              <a:cxnSpLocks noChangeShapeType="1"/>
            </p:cNvCxnSpPr>
            <p:nvPr/>
          </p:nvCxnSpPr>
          <p:spPr bwMode="auto">
            <a:xfrm>
              <a:off x="5380856" y="4323102"/>
              <a:ext cx="703312" cy="627429"/>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3" name="组合 82"/>
          <p:cNvGrpSpPr/>
          <p:nvPr/>
        </p:nvGrpSpPr>
        <p:grpSpPr bwMode="auto">
          <a:xfrm>
            <a:off x="7239478" y="4441881"/>
            <a:ext cx="3384550" cy="1016000"/>
            <a:chOff x="5580112" y="3650211"/>
            <a:chExt cx="3384375" cy="1015663"/>
          </a:xfrm>
        </p:grpSpPr>
        <p:sp>
          <p:nvSpPr>
            <p:cNvPr id="84" name="Rectangle 284"/>
            <p:cNvSpPr>
              <a:spLocks noChangeArrowheads="1"/>
            </p:cNvSpPr>
            <p:nvPr/>
          </p:nvSpPr>
          <p:spPr bwMode="auto">
            <a:xfrm>
              <a:off x="6012160" y="3650211"/>
              <a:ext cx="295232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dirty="0">
                  <a:solidFill>
                    <a:srgbClr val="000000"/>
                  </a:solidFill>
                  <a:latin typeface="黑体" panose="02010609060101010101" pitchFamily="2" charset="-122"/>
                  <a:ea typeface="黑体" panose="02010609060101010101" pitchFamily="2" charset="-122"/>
                </a:rPr>
                <a:t>间距比粗糙度大得多的、近似周期形式的成分构成的表面不平度</a:t>
              </a:r>
              <a:endParaRPr lang="zh-CN" altLang="en-US" sz="2000" dirty="0">
                <a:solidFill>
                  <a:srgbClr val="000000"/>
                </a:solidFill>
                <a:latin typeface="黑体" panose="02010609060101010101" pitchFamily="2" charset="-122"/>
                <a:ea typeface="黑体" panose="02010609060101010101" pitchFamily="2" charset="-122"/>
              </a:endParaRPr>
            </a:p>
          </p:txBody>
        </p:sp>
        <p:cxnSp>
          <p:nvCxnSpPr>
            <p:cNvPr id="85" name="直接连接符 118"/>
            <p:cNvCxnSpPr>
              <a:cxnSpLocks noChangeShapeType="1"/>
              <a:endCxn id="84" idx="1"/>
            </p:cNvCxnSpPr>
            <p:nvPr/>
          </p:nvCxnSpPr>
          <p:spPr bwMode="auto">
            <a:xfrm>
              <a:off x="5580112" y="3991960"/>
              <a:ext cx="432048" cy="166083"/>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wipe(down)">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down)">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up)">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wipe(left)">
                                      <p:cBhvr>
                                        <p:cTn id="32" dur="500"/>
                                        <p:tgtEl>
                                          <p:spTgt spid="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left)">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7"/>
                                        </p:tgtEl>
                                        <p:attrNameLst>
                                          <p:attrName>style.visibility</p:attrName>
                                        </p:attrNameLst>
                                      </p:cBhvr>
                                      <p:to>
                                        <p:strVal val="visible"/>
                                      </p:to>
                                    </p:set>
                                    <p:animEffect transition="in" filter="wipe(left)">
                                      <p:cBhvr>
                                        <p:cTn id="42" dur="500"/>
                                        <p:tgtEl>
                                          <p:spTgt spid="7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wipe(left)">
                                      <p:cBhvr>
                                        <p:cTn id="47" dur="500"/>
                                        <p:tgtEl>
                                          <p:spTgt spid="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0"/>
                                        </p:tgtEl>
                                        <p:attrNameLst>
                                          <p:attrName>style.visibility</p:attrName>
                                        </p:attrNameLst>
                                      </p:cBhvr>
                                      <p:to>
                                        <p:strVal val="visible"/>
                                      </p:to>
                                    </p:set>
                                    <p:animEffect transition="in" filter="wipe(left)">
                                      <p:cBhvr>
                                        <p:cTn id="5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4"/>
          <p:cNvSpPr txBox="1">
            <a:spLocks noChangeArrowheads="1"/>
          </p:cNvSpPr>
          <p:nvPr/>
        </p:nvSpPr>
        <p:spPr bwMode="auto">
          <a:xfrm>
            <a:off x="407739" y="1147413"/>
            <a:ext cx="36247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fontAlgn="base" hangingPunct="0">
              <a:spcBef>
                <a:spcPts val="600"/>
              </a:spcBef>
              <a:spcAft>
                <a:spcPct val="0"/>
              </a:spcAft>
              <a:buChar char="•"/>
              <a:defRPr sz="2400">
                <a:solidFill>
                  <a:schemeClr val="accent6">
                    <a:lumMod val="75000"/>
                  </a:schemeClr>
                </a:solidFill>
                <a:latin typeface="+mn-ea"/>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pPr>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表面结构的参数和数值</a:t>
            </a:r>
            <a:endParaRPr lang="zh-CN" altLang="en-US" dirty="0">
              <a:latin typeface="微软雅黑" panose="020B0503020204020204" pitchFamily="34" charset="-122"/>
              <a:ea typeface="微软雅黑" panose="020B0503020204020204" pitchFamily="34" charset="-122"/>
            </a:endParaRPr>
          </a:p>
        </p:txBody>
      </p:sp>
      <p:sp>
        <p:nvSpPr>
          <p:cNvPr id="3" name="Text Box 3"/>
          <p:cNvSpPr txBox="1">
            <a:spLocks noChangeArrowheads="1"/>
          </p:cNvSpPr>
          <p:nvPr/>
        </p:nvSpPr>
        <p:spPr bwMode="auto">
          <a:xfrm>
            <a:off x="750376" y="1556792"/>
            <a:ext cx="811847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    机械零件的表面结构常使用表面粗糙度参数（</a:t>
            </a:r>
            <a:r>
              <a:rPr kumimoji="1" lang="en-US" altLang="zh-CN" sz="2400" dirty="0">
                <a:solidFill>
                  <a:srgbClr val="000000"/>
                </a:solidFill>
                <a:latin typeface="黑体" panose="02010609060101010101" pitchFamily="2" charset="-122"/>
                <a:ea typeface="黑体" panose="02010609060101010101" pitchFamily="2" charset="-122"/>
              </a:rPr>
              <a:t>R</a:t>
            </a:r>
            <a:r>
              <a:rPr kumimoji="1" lang="zh-CN" altLang="en-US" sz="2400" dirty="0">
                <a:solidFill>
                  <a:srgbClr val="000000"/>
                </a:solidFill>
                <a:latin typeface="黑体" panose="02010609060101010101" pitchFamily="2" charset="-122"/>
                <a:ea typeface="黑体" panose="02010609060101010101" pitchFamily="2" charset="-122"/>
              </a:rPr>
              <a:t>）评定。</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下面介绍常用的两种：</a:t>
            </a:r>
            <a:r>
              <a:rPr kumimoji="1" lang="en-US" altLang="zh-CN" sz="2400" dirty="0">
                <a:solidFill>
                  <a:srgbClr val="000000"/>
                </a:solidFill>
                <a:latin typeface="黑体" panose="02010609060101010101" pitchFamily="2" charset="-122"/>
                <a:ea typeface="黑体" panose="02010609060101010101" pitchFamily="2" charset="-122"/>
              </a:rPr>
              <a:t>Ra</a:t>
            </a:r>
            <a:r>
              <a:rPr kumimoji="1" lang="zh-CN" altLang="en-US" sz="2400" dirty="0">
                <a:solidFill>
                  <a:srgbClr val="000000"/>
                </a:solidFill>
                <a:latin typeface="黑体" panose="02010609060101010101" pitchFamily="2" charset="-122"/>
                <a:ea typeface="黑体" panose="02010609060101010101" pitchFamily="2" charset="-122"/>
              </a:rPr>
              <a:t>、</a:t>
            </a:r>
            <a:r>
              <a:rPr kumimoji="1" lang="en-US" altLang="zh-CN" sz="2400" dirty="0" err="1">
                <a:solidFill>
                  <a:srgbClr val="000000"/>
                </a:solidFill>
                <a:latin typeface="黑体" panose="02010609060101010101" pitchFamily="2" charset="-122"/>
                <a:ea typeface="黑体" panose="02010609060101010101" pitchFamily="2" charset="-122"/>
              </a:rPr>
              <a:t>Rz</a:t>
            </a:r>
            <a:r>
              <a:rPr kumimoji="1" lang="zh-CN" altLang="en-US" sz="2400" dirty="0">
                <a:solidFill>
                  <a:srgbClr val="000000"/>
                </a:solidFill>
                <a:latin typeface="黑体" panose="02010609060101010101" pitchFamily="2" charset="-122"/>
                <a:ea typeface="黑体" panose="02010609060101010101" pitchFamily="2" charset="-122"/>
              </a:rPr>
              <a:t>。</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4" name="Freeform 33"/>
          <p:cNvSpPr/>
          <p:nvPr/>
        </p:nvSpPr>
        <p:spPr bwMode="auto">
          <a:xfrm>
            <a:off x="2033859" y="3251801"/>
            <a:ext cx="6731000" cy="1588"/>
          </a:xfrm>
          <a:custGeom>
            <a:avLst/>
            <a:gdLst>
              <a:gd name="T0" fmla="*/ 0 w 4240"/>
              <a:gd name="T1" fmla="*/ 0 h 1"/>
              <a:gd name="T2" fmla="*/ 2147483646 w 4240"/>
              <a:gd name="T3" fmla="*/ 0 h 1"/>
              <a:gd name="T4" fmla="*/ 0 60000 65536"/>
              <a:gd name="T5" fmla="*/ 0 60000 65536"/>
            </a:gdLst>
            <a:ahLst/>
            <a:cxnLst>
              <a:cxn ang="T4">
                <a:pos x="T0" y="T1"/>
              </a:cxn>
              <a:cxn ang="T5">
                <a:pos x="T2" y="T3"/>
              </a:cxn>
            </a:cxnLst>
            <a:rect l="0" t="0" r="r" b="b"/>
            <a:pathLst>
              <a:path w="4240" h="1">
                <a:moveTo>
                  <a:pt x="0" y="0"/>
                </a:moveTo>
                <a:lnTo>
                  <a:pt x="4240" y="0"/>
                </a:lnTo>
              </a:path>
            </a:pathLst>
          </a:custGeom>
          <a:noFill/>
          <a:ln w="9525">
            <a:solidFill>
              <a:srgbClr val="CC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nvGrpSpPr>
          <p:cNvPr id="5" name="Group 34"/>
          <p:cNvGrpSpPr/>
          <p:nvPr/>
        </p:nvGrpSpPr>
        <p:grpSpPr bwMode="auto">
          <a:xfrm>
            <a:off x="2462484" y="3674076"/>
            <a:ext cx="6118225" cy="790575"/>
            <a:chOff x="768" y="1326"/>
            <a:chExt cx="2028" cy="498"/>
          </a:xfrm>
        </p:grpSpPr>
        <p:sp>
          <p:nvSpPr>
            <p:cNvPr id="6" name="Line 35"/>
            <p:cNvSpPr>
              <a:spLocks noChangeShapeType="1"/>
            </p:cNvSpPr>
            <p:nvPr/>
          </p:nvSpPr>
          <p:spPr bwMode="auto">
            <a:xfrm>
              <a:off x="2790" y="1326"/>
              <a:ext cx="0" cy="498"/>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 name="Line 36"/>
            <p:cNvSpPr>
              <a:spLocks noChangeShapeType="1"/>
            </p:cNvSpPr>
            <p:nvPr/>
          </p:nvSpPr>
          <p:spPr bwMode="auto">
            <a:xfrm>
              <a:off x="768" y="1764"/>
              <a:ext cx="2028" cy="0"/>
            </a:xfrm>
            <a:prstGeom prst="line">
              <a:avLst/>
            </a:prstGeom>
            <a:noFill/>
            <a:ln w="9525">
              <a:solidFill>
                <a:srgbClr val="CC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8" name="Text Box 37"/>
            <p:cNvSpPr txBox="1">
              <a:spLocks noChangeArrowheads="1"/>
            </p:cNvSpPr>
            <p:nvPr/>
          </p:nvSpPr>
          <p:spPr bwMode="auto">
            <a:xfrm>
              <a:off x="1546" y="1536"/>
              <a:ext cx="8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00"/>
                  </a:solidFill>
                  <a:latin typeface="黑体" panose="02010609060101010101" pitchFamily="2" charset="-122"/>
                  <a:ea typeface="黑体" panose="02010609060101010101" pitchFamily="2" charset="-122"/>
                </a:rPr>
                <a:t>取样长度</a:t>
              </a:r>
              <a:endParaRPr kumimoji="1" lang="zh-CN" altLang="en-US" sz="2000" b="1">
                <a:solidFill>
                  <a:srgbClr val="000000"/>
                </a:solidFill>
                <a:latin typeface="黑体" panose="02010609060101010101" pitchFamily="2" charset="-122"/>
                <a:ea typeface="黑体" panose="02010609060101010101" pitchFamily="2" charset="-122"/>
              </a:endParaRPr>
            </a:p>
          </p:txBody>
        </p:sp>
      </p:grpSp>
      <p:sp>
        <p:nvSpPr>
          <p:cNvPr id="9" name="Text Box 38"/>
          <p:cNvSpPr txBox="1">
            <a:spLocks noChangeArrowheads="1"/>
          </p:cNvSpPr>
          <p:nvPr/>
        </p:nvSpPr>
        <p:spPr bwMode="auto">
          <a:xfrm>
            <a:off x="651145" y="3935687"/>
            <a:ext cx="17796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000" dirty="0">
                <a:solidFill>
                  <a:srgbClr val="000000"/>
                </a:solidFill>
                <a:latin typeface="ISOCPEUR" panose="020B0604020202020204" pitchFamily="34" charset="0"/>
                <a:ea typeface="黑体" panose="02010609060101010101" pitchFamily="2" charset="-122"/>
              </a:rPr>
              <a:t>OX </a:t>
            </a:r>
            <a:r>
              <a:rPr kumimoji="1" lang="en-US" altLang="zh-CN" sz="2000" dirty="0">
                <a:solidFill>
                  <a:srgbClr val="000000"/>
                </a:solidFill>
                <a:latin typeface="Times New Roman" panose="02020603050405020304" pitchFamily="18" charset="0"/>
                <a:ea typeface="黑体" panose="02010609060101010101" pitchFamily="2" charset="-122"/>
              </a:rPr>
              <a:t>—</a:t>
            </a:r>
            <a:r>
              <a:rPr kumimoji="1" lang="en-US" altLang="zh-CN" sz="2000" dirty="0">
                <a:solidFill>
                  <a:srgbClr val="000000"/>
                </a:solidFill>
                <a:latin typeface="黑体" panose="02010609060101010101" pitchFamily="2" charset="-122"/>
                <a:ea typeface="黑体" panose="02010609060101010101" pitchFamily="2" charset="-122"/>
              </a:rPr>
              <a:t> </a:t>
            </a:r>
            <a:r>
              <a:rPr kumimoji="1" lang="zh-CN" altLang="en-US" sz="2000" dirty="0">
                <a:solidFill>
                  <a:srgbClr val="000000"/>
                </a:solidFill>
                <a:latin typeface="黑体" panose="02010609060101010101" pitchFamily="2" charset="-122"/>
                <a:ea typeface="黑体" panose="02010609060101010101" pitchFamily="2" charset="-122"/>
              </a:rPr>
              <a:t>基准线</a:t>
            </a:r>
            <a:endParaRPr kumimoji="1" lang="zh-CN" altLang="en-US" sz="2000" dirty="0">
              <a:solidFill>
                <a:srgbClr val="000000"/>
              </a:solidFill>
              <a:latin typeface="黑体" panose="02010609060101010101" pitchFamily="2" charset="-122"/>
              <a:ea typeface="黑体" panose="02010609060101010101" pitchFamily="2" charset="-122"/>
            </a:endParaRPr>
          </a:p>
        </p:txBody>
      </p:sp>
      <p:grpSp>
        <p:nvGrpSpPr>
          <p:cNvPr id="10" name="Group 42"/>
          <p:cNvGrpSpPr/>
          <p:nvPr/>
        </p:nvGrpSpPr>
        <p:grpSpPr bwMode="auto">
          <a:xfrm>
            <a:off x="3037159" y="2405664"/>
            <a:ext cx="1765300" cy="569912"/>
            <a:chOff x="936" y="1027"/>
            <a:chExt cx="1111" cy="359"/>
          </a:xfrm>
        </p:grpSpPr>
        <p:sp>
          <p:nvSpPr>
            <p:cNvPr id="11" name="Line 43"/>
            <p:cNvSpPr>
              <a:spLocks noChangeShapeType="1"/>
            </p:cNvSpPr>
            <p:nvPr/>
          </p:nvSpPr>
          <p:spPr bwMode="auto">
            <a:xfrm flipV="1">
              <a:off x="936" y="1188"/>
              <a:ext cx="216" cy="198"/>
            </a:xfrm>
            <a:prstGeom prst="line">
              <a:avLst/>
            </a:prstGeom>
            <a:noFill/>
            <a:ln w="9525">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2" name="Text Box 44"/>
            <p:cNvSpPr txBox="1">
              <a:spLocks noChangeArrowheads="1"/>
            </p:cNvSpPr>
            <p:nvPr/>
          </p:nvSpPr>
          <p:spPr bwMode="auto">
            <a:xfrm>
              <a:off x="1118" y="1027"/>
              <a:ext cx="9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00"/>
                  </a:solidFill>
                  <a:latin typeface="Times New Roman" panose="02020603050405020304" pitchFamily="18" charset="0"/>
                  <a:ea typeface="黑体" panose="02010609060101010101" pitchFamily="2" charset="-122"/>
                </a:rPr>
                <a:t>粗糙度轮廓</a:t>
              </a:r>
              <a:endParaRPr kumimoji="1" lang="zh-CN" altLang="en-US" sz="2000" b="1">
                <a:solidFill>
                  <a:srgbClr val="000000"/>
                </a:solidFill>
                <a:latin typeface="Times New Roman" panose="02020603050405020304" pitchFamily="18" charset="0"/>
                <a:ea typeface="黑体" panose="02010609060101010101" pitchFamily="2" charset="-122"/>
              </a:endParaRPr>
            </a:p>
          </p:txBody>
        </p:sp>
      </p:grpSp>
      <p:grpSp>
        <p:nvGrpSpPr>
          <p:cNvPr id="13" name="Group 120"/>
          <p:cNvGrpSpPr/>
          <p:nvPr/>
        </p:nvGrpSpPr>
        <p:grpSpPr bwMode="auto">
          <a:xfrm>
            <a:off x="1776684" y="2789839"/>
            <a:ext cx="400050" cy="984250"/>
            <a:chOff x="408" y="1132"/>
            <a:chExt cx="252" cy="620"/>
          </a:xfrm>
        </p:grpSpPr>
        <p:sp>
          <p:nvSpPr>
            <p:cNvPr id="14" name="Line 47"/>
            <p:cNvSpPr>
              <a:spLocks noChangeShapeType="1"/>
            </p:cNvSpPr>
            <p:nvPr/>
          </p:nvSpPr>
          <p:spPr bwMode="auto">
            <a:xfrm>
              <a:off x="618" y="1253"/>
              <a:ext cx="0" cy="176"/>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5" name="Freeform 48"/>
            <p:cNvSpPr/>
            <p:nvPr/>
          </p:nvSpPr>
          <p:spPr bwMode="auto">
            <a:xfrm>
              <a:off x="620" y="1420"/>
              <a:ext cx="1" cy="158"/>
            </a:xfrm>
            <a:custGeom>
              <a:avLst/>
              <a:gdLst>
                <a:gd name="T0" fmla="*/ 0 w 1"/>
                <a:gd name="T1" fmla="*/ 0 h 158"/>
                <a:gd name="T2" fmla="*/ 1 w 1"/>
                <a:gd name="T3" fmla="*/ 158 h 158"/>
                <a:gd name="T4" fmla="*/ 0 60000 65536"/>
                <a:gd name="T5" fmla="*/ 0 60000 65536"/>
              </a:gdLst>
              <a:ahLst/>
              <a:cxnLst>
                <a:cxn ang="T4">
                  <a:pos x="T0" y="T1"/>
                </a:cxn>
                <a:cxn ang="T5">
                  <a:pos x="T2" y="T3"/>
                </a:cxn>
              </a:cxnLst>
              <a:rect l="0" t="0" r="r" b="b"/>
              <a:pathLst>
                <a:path w="1" h="158">
                  <a:moveTo>
                    <a:pt x="0" y="0"/>
                  </a:moveTo>
                  <a:lnTo>
                    <a:pt x="1" y="158"/>
                  </a:lnTo>
                </a:path>
              </a:pathLst>
            </a:custGeom>
            <a:noFill/>
            <a:ln w="9525">
              <a:solidFill>
                <a:srgbClr val="CC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7" name="Line 49"/>
            <p:cNvSpPr>
              <a:spLocks noChangeShapeType="1"/>
            </p:cNvSpPr>
            <p:nvPr/>
          </p:nvSpPr>
          <p:spPr bwMode="auto">
            <a:xfrm flipV="1">
              <a:off x="620" y="1576"/>
              <a:ext cx="0" cy="176"/>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8" name="Text Box 50"/>
            <p:cNvSpPr txBox="1">
              <a:spLocks noChangeArrowheads="1"/>
            </p:cNvSpPr>
            <p:nvPr/>
          </p:nvSpPr>
          <p:spPr bwMode="auto">
            <a:xfrm rot="-5400000">
              <a:off x="376" y="1164"/>
              <a:ext cx="3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000" b="1" i="1">
                  <a:solidFill>
                    <a:srgbClr val="000000"/>
                  </a:solidFill>
                  <a:latin typeface="ISOCPEUR" panose="020B0604020202020204" pitchFamily="34" charset="0"/>
                </a:rPr>
                <a:t>Ra</a:t>
              </a:r>
              <a:endParaRPr kumimoji="1" lang="en-US" altLang="zh-CN" sz="2000" b="1" i="1">
                <a:solidFill>
                  <a:srgbClr val="000000"/>
                </a:solidFill>
                <a:latin typeface="ISOCPEUR" panose="020B0604020202020204" pitchFamily="34" charset="0"/>
              </a:endParaRPr>
            </a:p>
          </p:txBody>
        </p:sp>
      </p:grpSp>
      <p:grpSp>
        <p:nvGrpSpPr>
          <p:cNvPr id="19" name="Group 121"/>
          <p:cNvGrpSpPr/>
          <p:nvPr/>
        </p:nvGrpSpPr>
        <p:grpSpPr bwMode="auto">
          <a:xfrm>
            <a:off x="3830909" y="2602514"/>
            <a:ext cx="6013450" cy="1735137"/>
            <a:chOff x="1701" y="1014"/>
            <a:chExt cx="3789" cy="1093"/>
          </a:xfrm>
        </p:grpSpPr>
        <p:sp>
          <p:nvSpPr>
            <p:cNvPr id="20" name="Freeform 55"/>
            <p:cNvSpPr/>
            <p:nvPr/>
          </p:nvSpPr>
          <p:spPr bwMode="auto">
            <a:xfrm>
              <a:off x="1701" y="1188"/>
              <a:ext cx="3753" cy="1"/>
            </a:xfrm>
            <a:custGeom>
              <a:avLst/>
              <a:gdLst>
                <a:gd name="T0" fmla="*/ 0 w 3753"/>
                <a:gd name="T1" fmla="*/ 1 h 1"/>
                <a:gd name="T2" fmla="*/ 3753 w 3753"/>
                <a:gd name="T3" fmla="*/ 0 h 1"/>
                <a:gd name="T4" fmla="*/ 0 60000 65536"/>
                <a:gd name="T5" fmla="*/ 0 60000 65536"/>
              </a:gdLst>
              <a:ahLst/>
              <a:cxnLst>
                <a:cxn ang="T4">
                  <a:pos x="T0" y="T1"/>
                </a:cxn>
                <a:cxn ang="T5">
                  <a:pos x="T2" y="T3"/>
                </a:cxn>
              </a:cxnLst>
              <a:rect l="0" t="0" r="r" b="b"/>
              <a:pathLst>
                <a:path w="3753" h="1">
                  <a:moveTo>
                    <a:pt x="0" y="1"/>
                  </a:moveTo>
                  <a:lnTo>
                    <a:pt x="3753" y="0"/>
                  </a:lnTo>
                </a:path>
              </a:pathLst>
            </a:custGeom>
            <a:noFill/>
            <a:ln w="9525">
              <a:solidFill>
                <a:srgbClr val="CC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1" name="Freeform 56"/>
            <p:cNvSpPr/>
            <p:nvPr/>
          </p:nvSpPr>
          <p:spPr bwMode="auto">
            <a:xfrm>
              <a:off x="3085" y="1932"/>
              <a:ext cx="2405" cy="1"/>
            </a:xfrm>
            <a:custGeom>
              <a:avLst/>
              <a:gdLst>
                <a:gd name="T0" fmla="*/ 0 w 2405"/>
                <a:gd name="T1" fmla="*/ 1 h 1"/>
                <a:gd name="T2" fmla="*/ 2405 w 2405"/>
                <a:gd name="T3" fmla="*/ 0 h 1"/>
                <a:gd name="T4" fmla="*/ 0 60000 65536"/>
                <a:gd name="T5" fmla="*/ 0 60000 65536"/>
              </a:gdLst>
              <a:ahLst/>
              <a:cxnLst>
                <a:cxn ang="T4">
                  <a:pos x="T0" y="T1"/>
                </a:cxn>
                <a:cxn ang="T5">
                  <a:pos x="T2" y="T3"/>
                </a:cxn>
              </a:cxnLst>
              <a:rect l="0" t="0" r="r" b="b"/>
              <a:pathLst>
                <a:path w="2405" h="1">
                  <a:moveTo>
                    <a:pt x="0" y="1"/>
                  </a:moveTo>
                  <a:lnTo>
                    <a:pt x="2405" y="0"/>
                  </a:lnTo>
                </a:path>
              </a:pathLst>
            </a:custGeom>
            <a:noFill/>
            <a:ln w="9525">
              <a:solidFill>
                <a:srgbClr val="CC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2" name="Line 59"/>
            <p:cNvSpPr>
              <a:spLocks noChangeShapeType="1"/>
            </p:cNvSpPr>
            <p:nvPr/>
          </p:nvSpPr>
          <p:spPr bwMode="auto">
            <a:xfrm>
              <a:off x="5420" y="1014"/>
              <a:ext cx="0" cy="176"/>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3" name="Freeform 60"/>
            <p:cNvSpPr/>
            <p:nvPr/>
          </p:nvSpPr>
          <p:spPr bwMode="auto">
            <a:xfrm>
              <a:off x="5418" y="1188"/>
              <a:ext cx="1" cy="744"/>
            </a:xfrm>
            <a:custGeom>
              <a:avLst/>
              <a:gdLst>
                <a:gd name="T0" fmla="*/ 0 w 1"/>
                <a:gd name="T1" fmla="*/ 0 h 744"/>
                <a:gd name="T2" fmla="*/ 0 w 1"/>
                <a:gd name="T3" fmla="*/ 744 h 744"/>
                <a:gd name="T4" fmla="*/ 0 60000 65536"/>
                <a:gd name="T5" fmla="*/ 0 60000 65536"/>
              </a:gdLst>
              <a:ahLst/>
              <a:cxnLst>
                <a:cxn ang="T4">
                  <a:pos x="T0" y="T1"/>
                </a:cxn>
                <a:cxn ang="T5">
                  <a:pos x="T2" y="T3"/>
                </a:cxn>
              </a:cxnLst>
              <a:rect l="0" t="0" r="r" b="b"/>
              <a:pathLst>
                <a:path w="1" h="744">
                  <a:moveTo>
                    <a:pt x="0" y="0"/>
                  </a:moveTo>
                  <a:lnTo>
                    <a:pt x="0" y="744"/>
                  </a:lnTo>
                </a:path>
              </a:pathLst>
            </a:custGeom>
            <a:noFill/>
            <a:ln w="9525">
              <a:solidFill>
                <a:srgbClr val="CC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4" name="Line 61"/>
            <p:cNvSpPr>
              <a:spLocks noChangeShapeType="1"/>
            </p:cNvSpPr>
            <p:nvPr/>
          </p:nvSpPr>
          <p:spPr bwMode="auto">
            <a:xfrm flipV="1">
              <a:off x="5421" y="1931"/>
              <a:ext cx="0" cy="176"/>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5" name="Text Box 62"/>
            <p:cNvSpPr txBox="1">
              <a:spLocks noChangeArrowheads="1"/>
            </p:cNvSpPr>
            <p:nvPr/>
          </p:nvSpPr>
          <p:spPr bwMode="auto">
            <a:xfrm rot="-5400000">
              <a:off x="5167" y="1466"/>
              <a:ext cx="3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000" b="1" i="1">
                  <a:solidFill>
                    <a:srgbClr val="000000"/>
                  </a:solidFill>
                  <a:latin typeface="ISOCPEUR" panose="020B0604020202020204" pitchFamily="34" charset="0"/>
                </a:rPr>
                <a:t>Rz</a:t>
              </a:r>
              <a:endParaRPr kumimoji="1" lang="en-US" altLang="zh-CN" sz="2000" b="1" i="1">
                <a:solidFill>
                  <a:srgbClr val="000000"/>
                </a:solidFill>
                <a:latin typeface="ISOCPEUR" panose="020B0604020202020204" pitchFamily="34" charset="0"/>
              </a:endParaRPr>
            </a:p>
          </p:txBody>
        </p:sp>
      </p:grpSp>
      <p:sp>
        <p:nvSpPr>
          <p:cNvPr id="26" name="Line 63"/>
          <p:cNvSpPr>
            <a:spLocks noChangeShapeType="1"/>
          </p:cNvSpPr>
          <p:nvPr/>
        </p:nvSpPr>
        <p:spPr bwMode="auto">
          <a:xfrm>
            <a:off x="8558484" y="2945414"/>
            <a:ext cx="0" cy="1350962"/>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Freeform 64"/>
          <p:cNvSpPr/>
          <p:nvPr/>
        </p:nvSpPr>
        <p:spPr bwMode="auto">
          <a:xfrm>
            <a:off x="2462484" y="2558064"/>
            <a:ext cx="0" cy="1987550"/>
          </a:xfrm>
          <a:custGeom>
            <a:avLst/>
            <a:gdLst>
              <a:gd name="T0" fmla="*/ 0 w 1"/>
              <a:gd name="T1" fmla="*/ 0 h 1252"/>
              <a:gd name="T2" fmla="*/ 2147483646 w 1"/>
              <a:gd name="T3" fmla="*/ 2147483646 h 1252"/>
              <a:gd name="T4" fmla="*/ 0 60000 65536"/>
              <a:gd name="T5" fmla="*/ 0 60000 65536"/>
            </a:gdLst>
            <a:ahLst/>
            <a:cxnLst>
              <a:cxn ang="T4">
                <a:pos x="T0" y="T1"/>
              </a:cxn>
              <a:cxn ang="T5">
                <a:pos x="T2" y="T3"/>
              </a:cxn>
            </a:cxnLst>
            <a:rect l="0" t="0" r="r" b="b"/>
            <a:pathLst>
              <a:path w="1" h="1252">
                <a:moveTo>
                  <a:pt x="0" y="0"/>
                </a:moveTo>
                <a:lnTo>
                  <a:pt x="1" y="1252"/>
                </a:lnTo>
              </a:path>
            </a:pathLst>
          </a:custGeom>
          <a:noFill/>
          <a:ln w="12700">
            <a:solidFill>
              <a:srgbClr val="000000"/>
            </a:solidFill>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8" name="Freeform 65"/>
          <p:cNvSpPr/>
          <p:nvPr/>
        </p:nvSpPr>
        <p:spPr bwMode="auto">
          <a:xfrm>
            <a:off x="1967184" y="3486751"/>
            <a:ext cx="7045325" cy="6350"/>
          </a:xfrm>
          <a:custGeom>
            <a:avLst/>
            <a:gdLst>
              <a:gd name="T0" fmla="*/ 0 w 4438"/>
              <a:gd name="T1" fmla="*/ 2147483646 h 4"/>
              <a:gd name="T2" fmla="*/ 2147483646 w 4438"/>
              <a:gd name="T3" fmla="*/ 0 h 4"/>
              <a:gd name="T4" fmla="*/ 0 60000 65536"/>
              <a:gd name="T5" fmla="*/ 0 60000 65536"/>
            </a:gdLst>
            <a:ahLst/>
            <a:cxnLst>
              <a:cxn ang="T4">
                <a:pos x="T0" y="T1"/>
              </a:cxn>
              <a:cxn ang="T5">
                <a:pos x="T2" y="T3"/>
              </a:cxn>
            </a:cxnLst>
            <a:rect l="0" t="0" r="r" b="b"/>
            <a:pathLst>
              <a:path w="4438" h="4">
                <a:moveTo>
                  <a:pt x="0" y="4"/>
                </a:moveTo>
                <a:lnTo>
                  <a:pt x="4438" y="0"/>
                </a:lnTo>
              </a:path>
            </a:pathLst>
          </a:custGeom>
          <a:noFill/>
          <a:ln w="12700">
            <a:solidFill>
              <a:srgbClr val="000000"/>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29" name="Group 66"/>
          <p:cNvGrpSpPr/>
          <p:nvPr/>
        </p:nvGrpSpPr>
        <p:grpSpPr bwMode="auto">
          <a:xfrm>
            <a:off x="2325959" y="2875564"/>
            <a:ext cx="6419850" cy="1196975"/>
            <a:chOff x="1018" y="1069"/>
            <a:chExt cx="4043" cy="754"/>
          </a:xfrm>
        </p:grpSpPr>
        <p:sp>
          <p:nvSpPr>
            <p:cNvPr id="30" name="Freeform 67"/>
            <p:cNvSpPr/>
            <p:nvPr/>
          </p:nvSpPr>
          <p:spPr bwMode="auto">
            <a:xfrm>
              <a:off x="4133" y="1210"/>
              <a:ext cx="278" cy="558"/>
            </a:xfrm>
            <a:custGeom>
              <a:avLst/>
              <a:gdLst>
                <a:gd name="T0" fmla="*/ 0 w 278"/>
                <a:gd name="T1" fmla="*/ 403 h 558"/>
                <a:gd name="T2" fmla="*/ 48 w 278"/>
                <a:gd name="T3" fmla="*/ 346 h 558"/>
                <a:gd name="T4" fmla="*/ 85 w 278"/>
                <a:gd name="T5" fmla="*/ 412 h 558"/>
                <a:gd name="T6" fmla="*/ 114 w 278"/>
                <a:gd name="T7" fmla="*/ 477 h 558"/>
                <a:gd name="T8" fmla="*/ 136 w 278"/>
                <a:gd name="T9" fmla="*/ 521 h 558"/>
                <a:gd name="T10" fmla="*/ 172 w 278"/>
                <a:gd name="T11" fmla="*/ 557 h 558"/>
                <a:gd name="T12" fmla="*/ 216 w 278"/>
                <a:gd name="T13" fmla="*/ 514 h 558"/>
                <a:gd name="T14" fmla="*/ 216 w 278"/>
                <a:gd name="T15" fmla="*/ 448 h 558"/>
                <a:gd name="T16" fmla="*/ 230 w 278"/>
                <a:gd name="T17" fmla="*/ 376 h 558"/>
                <a:gd name="T18" fmla="*/ 252 w 278"/>
                <a:gd name="T19" fmla="*/ 288 h 558"/>
                <a:gd name="T20" fmla="*/ 252 w 278"/>
                <a:gd name="T21" fmla="*/ 216 h 558"/>
                <a:gd name="T22" fmla="*/ 259 w 278"/>
                <a:gd name="T23" fmla="*/ 99 h 558"/>
                <a:gd name="T24" fmla="*/ 278 w 278"/>
                <a:gd name="T25" fmla="*/ 0 h 5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8" h="558">
                  <a:moveTo>
                    <a:pt x="0" y="403"/>
                  </a:moveTo>
                  <a:cubicBezTo>
                    <a:pt x="8" y="394"/>
                    <a:pt x="34" y="345"/>
                    <a:pt x="48" y="346"/>
                  </a:cubicBezTo>
                  <a:cubicBezTo>
                    <a:pt x="62" y="347"/>
                    <a:pt x="74" y="390"/>
                    <a:pt x="85" y="412"/>
                  </a:cubicBezTo>
                  <a:cubicBezTo>
                    <a:pt x="96" y="434"/>
                    <a:pt x="105" y="459"/>
                    <a:pt x="114" y="477"/>
                  </a:cubicBezTo>
                  <a:cubicBezTo>
                    <a:pt x="123" y="495"/>
                    <a:pt x="126" y="508"/>
                    <a:pt x="136" y="521"/>
                  </a:cubicBezTo>
                  <a:cubicBezTo>
                    <a:pt x="146" y="534"/>
                    <a:pt x="159" y="558"/>
                    <a:pt x="172" y="557"/>
                  </a:cubicBezTo>
                  <a:cubicBezTo>
                    <a:pt x="185" y="556"/>
                    <a:pt x="209" y="532"/>
                    <a:pt x="216" y="514"/>
                  </a:cubicBezTo>
                  <a:cubicBezTo>
                    <a:pt x="223" y="496"/>
                    <a:pt x="214" y="471"/>
                    <a:pt x="216" y="448"/>
                  </a:cubicBezTo>
                  <a:cubicBezTo>
                    <a:pt x="218" y="425"/>
                    <a:pt x="224" y="403"/>
                    <a:pt x="230" y="376"/>
                  </a:cubicBezTo>
                  <a:cubicBezTo>
                    <a:pt x="236" y="349"/>
                    <a:pt x="248" y="315"/>
                    <a:pt x="252" y="288"/>
                  </a:cubicBezTo>
                  <a:cubicBezTo>
                    <a:pt x="256" y="261"/>
                    <a:pt x="251" y="247"/>
                    <a:pt x="252" y="216"/>
                  </a:cubicBezTo>
                  <a:cubicBezTo>
                    <a:pt x="253" y="185"/>
                    <a:pt x="255" y="135"/>
                    <a:pt x="259" y="99"/>
                  </a:cubicBezTo>
                  <a:cubicBezTo>
                    <a:pt x="263" y="63"/>
                    <a:pt x="274" y="21"/>
                    <a:pt x="278" y="0"/>
                  </a:cubicBezTo>
                </a:path>
              </a:pathLst>
            </a:custGeom>
            <a:noFill/>
            <a:ln w="28575" cap="flat" cmpd="sng">
              <a:solidFill>
                <a:srgbClr val="0000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Freeform 68"/>
            <p:cNvSpPr/>
            <p:nvPr/>
          </p:nvSpPr>
          <p:spPr bwMode="auto">
            <a:xfrm>
              <a:off x="1018" y="1069"/>
              <a:ext cx="2174" cy="728"/>
            </a:xfrm>
            <a:custGeom>
              <a:avLst/>
              <a:gdLst>
                <a:gd name="T0" fmla="*/ 0 w 2174"/>
                <a:gd name="T1" fmla="*/ 466 h 728"/>
                <a:gd name="T2" fmla="*/ 95 w 2174"/>
                <a:gd name="T3" fmla="*/ 291 h 728"/>
                <a:gd name="T4" fmla="*/ 196 w 2174"/>
                <a:gd name="T5" fmla="*/ 204 h 728"/>
                <a:gd name="T6" fmla="*/ 255 w 2174"/>
                <a:gd name="T7" fmla="*/ 146 h 728"/>
                <a:gd name="T8" fmla="*/ 313 w 2174"/>
                <a:gd name="T9" fmla="*/ 197 h 728"/>
                <a:gd name="T10" fmla="*/ 364 w 2174"/>
                <a:gd name="T11" fmla="*/ 146 h 728"/>
                <a:gd name="T12" fmla="*/ 400 w 2174"/>
                <a:gd name="T13" fmla="*/ 73 h 728"/>
                <a:gd name="T14" fmla="*/ 444 w 2174"/>
                <a:gd name="T15" fmla="*/ 73 h 728"/>
                <a:gd name="T16" fmla="*/ 473 w 2174"/>
                <a:gd name="T17" fmla="*/ 131 h 728"/>
                <a:gd name="T18" fmla="*/ 480 w 2174"/>
                <a:gd name="T19" fmla="*/ 204 h 728"/>
                <a:gd name="T20" fmla="*/ 524 w 2174"/>
                <a:gd name="T21" fmla="*/ 364 h 728"/>
                <a:gd name="T22" fmla="*/ 553 w 2174"/>
                <a:gd name="T23" fmla="*/ 451 h 728"/>
                <a:gd name="T24" fmla="*/ 575 w 2174"/>
                <a:gd name="T25" fmla="*/ 524 h 728"/>
                <a:gd name="T26" fmla="*/ 647 w 2174"/>
                <a:gd name="T27" fmla="*/ 647 h 728"/>
                <a:gd name="T28" fmla="*/ 735 w 2174"/>
                <a:gd name="T29" fmla="*/ 647 h 728"/>
                <a:gd name="T30" fmla="*/ 793 w 2174"/>
                <a:gd name="T31" fmla="*/ 611 h 728"/>
                <a:gd name="T32" fmla="*/ 815 w 2174"/>
                <a:gd name="T33" fmla="*/ 531 h 728"/>
                <a:gd name="T34" fmla="*/ 851 w 2174"/>
                <a:gd name="T35" fmla="*/ 415 h 728"/>
                <a:gd name="T36" fmla="*/ 880 w 2174"/>
                <a:gd name="T37" fmla="*/ 320 h 728"/>
                <a:gd name="T38" fmla="*/ 916 w 2174"/>
                <a:gd name="T39" fmla="*/ 218 h 728"/>
                <a:gd name="T40" fmla="*/ 945 w 2174"/>
                <a:gd name="T41" fmla="*/ 153 h 728"/>
                <a:gd name="T42" fmla="*/ 996 w 2174"/>
                <a:gd name="T43" fmla="*/ 37 h 728"/>
                <a:gd name="T44" fmla="*/ 1055 w 2174"/>
                <a:gd name="T45" fmla="*/ 7 h 728"/>
                <a:gd name="T46" fmla="*/ 1076 w 2174"/>
                <a:gd name="T47" fmla="*/ 80 h 728"/>
                <a:gd name="T48" fmla="*/ 1105 w 2174"/>
                <a:gd name="T49" fmla="*/ 153 h 728"/>
                <a:gd name="T50" fmla="*/ 1105 w 2174"/>
                <a:gd name="T51" fmla="*/ 211 h 728"/>
                <a:gd name="T52" fmla="*/ 1120 w 2174"/>
                <a:gd name="T53" fmla="*/ 284 h 728"/>
                <a:gd name="T54" fmla="*/ 1171 w 2174"/>
                <a:gd name="T55" fmla="*/ 277 h 728"/>
                <a:gd name="T56" fmla="*/ 1185 w 2174"/>
                <a:gd name="T57" fmla="*/ 218 h 728"/>
                <a:gd name="T58" fmla="*/ 1193 w 2174"/>
                <a:gd name="T59" fmla="*/ 146 h 728"/>
                <a:gd name="T60" fmla="*/ 1265 w 2174"/>
                <a:gd name="T61" fmla="*/ 167 h 728"/>
                <a:gd name="T62" fmla="*/ 1273 w 2174"/>
                <a:gd name="T63" fmla="*/ 247 h 728"/>
                <a:gd name="T64" fmla="*/ 1280 w 2174"/>
                <a:gd name="T65" fmla="*/ 291 h 728"/>
                <a:gd name="T66" fmla="*/ 1294 w 2174"/>
                <a:gd name="T67" fmla="*/ 371 h 728"/>
                <a:gd name="T68" fmla="*/ 1294 w 2174"/>
                <a:gd name="T69" fmla="*/ 415 h 728"/>
                <a:gd name="T70" fmla="*/ 1309 w 2174"/>
                <a:gd name="T71" fmla="*/ 487 h 728"/>
                <a:gd name="T72" fmla="*/ 1324 w 2174"/>
                <a:gd name="T73" fmla="*/ 553 h 728"/>
                <a:gd name="T74" fmla="*/ 1367 w 2174"/>
                <a:gd name="T75" fmla="*/ 626 h 728"/>
                <a:gd name="T76" fmla="*/ 1389 w 2174"/>
                <a:gd name="T77" fmla="*/ 706 h 728"/>
                <a:gd name="T78" fmla="*/ 1469 w 2174"/>
                <a:gd name="T79" fmla="*/ 727 h 728"/>
                <a:gd name="T80" fmla="*/ 1578 w 2174"/>
                <a:gd name="T81" fmla="*/ 698 h 728"/>
                <a:gd name="T82" fmla="*/ 1614 w 2174"/>
                <a:gd name="T83" fmla="*/ 567 h 728"/>
                <a:gd name="T84" fmla="*/ 1665 w 2174"/>
                <a:gd name="T85" fmla="*/ 466 h 728"/>
                <a:gd name="T86" fmla="*/ 1680 w 2174"/>
                <a:gd name="T87" fmla="*/ 378 h 728"/>
                <a:gd name="T88" fmla="*/ 1731 w 2174"/>
                <a:gd name="T89" fmla="*/ 240 h 728"/>
                <a:gd name="T90" fmla="*/ 1825 w 2174"/>
                <a:gd name="T91" fmla="*/ 175 h 728"/>
                <a:gd name="T92" fmla="*/ 1884 w 2174"/>
                <a:gd name="T93" fmla="*/ 204 h 728"/>
                <a:gd name="T94" fmla="*/ 1905 w 2174"/>
                <a:gd name="T95" fmla="*/ 298 h 728"/>
                <a:gd name="T96" fmla="*/ 1927 w 2174"/>
                <a:gd name="T97" fmla="*/ 349 h 728"/>
                <a:gd name="T98" fmla="*/ 1949 w 2174"/>
                <a:gd name="T99" fmla="*/ 415 h 728"/>
                <a:gd name="T100" fmla="*/ 1971 w 2174"/>
                <a:gd name="T101" fmla="*/ 473 h 728"/>
                <a:gd name="T102" fmla="*/ 2007 w 2174"/>
                <a:gd name="T103" fmla="*/ 589 h 728"/>
                <a:gd name="T104" fmla="*/ 2036 w 2174"/>
                <a:gd name="T105" fmla="*/ 626 h 728"/>
                <a:gd name="T106" fmla="*/ 2087 w 2174"/>
                <a:gd name="T107" fmla="*/ 647 h 728"/>
                <a:gd name="T108" fmla="*/ 2123 w 2174"/>
                <a:gd name="T109" fmla="*/ 597 h 728"/>
                <a:gd name="T110" fmla="*/ 2174 w 2174"/>
                <a:gd name="T111" fmla="*/ 515 h 72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74" h="728">
                  <a:moveTo>
                    <a:pt x="0" y="466"/>
                  </a:moveTo>
                  <a:cubicBezTo>
                    <a:pt x="16" y="436"/>
                    <a:pt x="62" y="335"/>
                    <a:pt x="95" y="291"/>
                  </a:cubicBezTo>
                  <a:cubicBezTo>
                    <a:pt x="128" y="247"/>
                    <a:pt x="169" y="228"/>
                    <a:pt x="196" y="204"/>
                  </a:cubicBezTo>
                  <a:cubicBezTo>
                    <a:pt x="223" y="180"/>
                    <a:pt x="236" y="147"/>
                    <a:pt x="255" y="146"/>
                  </a:cubicBezTo>
                  <a:cubicBezTo>
                    <a:pt x="274" y="145"/>
                    <a:pt x="295" y="197"/>
                    <a:pt x="313" y="197"/>
                  </a:cubicBezTo>
                  <a:cubicBezTo>
                    <a:pt x="331" y="197"/>
                    <a:pt x="350" y="167"/>
                    <a:pt x="364" y="146"/>
                  </a:cubicBezTo>
                  <a:cubicBezTo>
                    <a:pt x="378" y="125"/>
                    <a:pt x="387" y="85"/>
                    <a:pt x="400" y="73"/>
                  </a:cubicBezTo>
                  <a:cubicBezTo>
                    <a:pt x="413" y="61"/>
                    <a:pt x="432" y="63"/>
                    <a:pt x="444" y="73"/>
                  </a:cubicBezTo>
                  <a:cubicBezTo>
                    <a:pt x="456" y="83"/>
                    <a:pt x="467" y="109"/>
                    <a:pt x="473" y="131"/>
                  </a:cubicBezTo>
                  <a:cubicBezTo>
                    <a:pt x="479" y="153"/>
                    <a:pt x="472" y="165"/>
                    <a:pt x="480" y="204"/>
                  </a:cubicBezTo>
                  <a:cubicBezTo>
                    <a:pt x="488" y="243"/>
                    <a:pt x="512" y="323"/>
                    <a:pt x="524" y="364"/>
                  </a:cubicBezTo>
                  <a:cubicBezTo>
                    <a:pt x="536" y="405"/>
                    <a:pt x="545" y="424"/>
                    <a:pt x="553" y="451"/>
                  </a:cubicBezTo>
                  <a:cubicBezTo>
                    <a:pt x="561" y="478"/>
                    <a:pt x="559" y="491"/>
                    <a:pt x="575" y="524"/>
                  </a:cubicBezTo>
                  <a:cubicBezTo>
                    <a:pt x="591" y="557"/>
                    <a:pt x="620" y="627"/>
                    <a:pt x="647" y="647"/>
                  </a:cubicBezTo>
                  <a:cubicBezTo>
                    <a:pt x="674" y="667"/>
                    <a:pt x="711" y="653"/>
                    <a:pt x="735" y="647"/>
                  </a:cubicBezTo>
                  <a:cubicBezTo>
                    <a:pt x="759" y="641"/>
                    <a:pt x="780" y="630"/>
                    <a:pt x="793" y="611"/>
                  </a:cubicBezTo>
                  <a:cubicBezTo>
                    <a:pt x="806" y="592"/>
                    <a:pt x="805" y="564"/>
                    <a:pt x="815" y="531"/>
                  </a:cubicBezTo>
                  <a:cubicBezTo>
                    <a:pt x="825" y="498"/>
                    <a:pt x="840" y="450"/>
                    <a:pt x="851" y="415"/>
                  </a:cubicBezTo>
                  <a:cubicBezTo>
                    <a:pt x="862" y="380"/>
                    <a:pt x="869" y="353"/>
                    <a:pt x="880" y="320"/>
                  </a:cubicBezTo>
                  <a:cubicBezTo>
                    <a:pt x="891" y="287"/>
                    <a:pt x="905" y="246"/>
                    <a:pt x="916" y="218"/>
                  </a:cubicBezTo>
                  <a:cubicBezTo>
                    <a:pt x="927" y="190"/>
                    <a:pt x="932" y="183"/>
                    <a:pt x="945" y="153"/>
                  </a:cubicBezTo>
                  <a:cubicBezTo>
                    <a:pt x="958" y="123"/>
                    <a:pt x="978" y="61"/>
                    <a:pt x="996" y="37"/>
                  </a:cubicBezTo>
                  <a:cubicBezTo>
                    <a:pt x="1014" y="13"/>
                    <a:pt x="1042" y="0"/>
                    <a:pt x="1055" y="7"/>
                  </a:cubicBezTo>
                  <a:cubicBezTo>
                    <a:pt x="1068" y="14"/>
                    <a:pt x="1068" y="56"/>
                    <a:pt x="1076" y="80"/>
                  </a:cubicBezTo>
                  <a:cubicBezTo>
                    <a:pt x="1084" y="104"/>
                    <a:pt x="1100" y="131"/>
                    <a:pt x="1105" y="153"/>
                  </a:cubicBezTo>
                  <a:cubicBezTo>
                    <a:pt x="1110" y="175"/>
                    <a:pt x="1102" y="189"/>
                    <a:pt x="1105" y="211"/>
                  </a:cubicBezTo>
                  <a:cubicBezTo>
                    <a:pt x="1108" y="233"/>
                    <a:pt x="1109" y="273"/>
                    <a:pt x="1120" y="284"/>
                  </a:cubicBezTo>
                  <a:cubicBezTo>
                    <a:pt x="1131" y="295"/>
                    <a:pt x="1160" y="288"/>
                    <a:pt x="1171" y="277"/>
                  </a:cubicBezTo>
                  <a:cubicBezTo>
                    <a:pt x="1182" y="266"/>
                    <a:pt x="1181" y="240"/>
                    <a:pt x="1185" y="218"/>
                  </a:cubicBezTo>
                  <a:cubicBezTo>
                    <a:pt x="1189" y="196"/>
                    <a:pt x="1180" y="154"/>
                    <a:pt x="1193" y="146"/>
                  </a:cubicBezTo>
                  <a:cubicBezTo>
                    <a:pt x="1206" y="138"/>
                    <a:pt x="1252" y="150"/>
                    <a:pt x="1265" y="167"/>
                  </a:cubicBezTo>
                  <a:cubicBezTo>
                    <a:pt x="1278" y="184"/>
                    <a:pt x="1271" y="226"/>
                    <a:pt x="1273" y="247"/>
                  </a:cubicBezTo>
                  <a:cubicBezTo>
                    <a:pt x="1275" y="268"/>
                    <a:pt x="1276" y="270"/>
                    <a:pt x="1280" y="291"/>
                  </a:cubicBezTo>
                  <a:cubicBezTo>
                    <a:pt x="1284" y="312"/>
                    <a:pt x="1292" y="350"/>
                    <a:pt x="1294" y="371"/>
                  </a:cubicBezTo>
                  <a:cubicBezTo>
                    <a:pt x="1296" y="392"/>
                    <a:pt x="1292" y="396"/>
                    <a:pt x="1294" y="415"/>
                  </a:cubicBezTo>
                  <a:cubicBezTo>
                    <a:pt x="1296" y="434"/>
                    <a:pt x="1304" y="464"/>
                    <a:pt x="1309" y="487"/>
                  </a:cubicBezTo>
                  <a:cubicBezTo>
                    <a:pt x="1314" y="510"/>
                    <a:pt x="1314" y="530"/>
                    <a:pt x="1324" y="553"/>
                  </a:cubicBezTo>
                  <a:cubicBezTo>
                    <a:pt x="1334" y="576"/>
                    <a:pt x="1356" y="601"/>
                    <a:pt x="1367" y="626"/>
                  </a:cubicBezTo>
                  <a:cubicBezTo>
                    <a:pt x="1378" y="651"/>
                    <a:pt x="1372" y="689"/>
                    <a:pt x="1389" y="706"/>
                  </a:cubicBezTo>
                  <a:cubicBezTo>
                    <a:pt x="1406" y="723"/>
                    <a:pt x="1438" y="728"/>
                    <a:pt x="1469" y="727"/>
                  </a:cubicBezTo>
                  <a:cubicBezTo>
                    <a:pt x="1500" y="726"/>
                    <a:pt x="1554" y="725"/>
                    <a:pt x="1578" y="698"/>
                  </a:cubicBezTo>
                  <a:cubicBezTo>
                    <a:pt x="1602" y="671"/>
                    <a:pt x="1600" y="606"/>
                    <a:pt x="1614" y="567"/>
                  </a:cubicBezTo>
                  <a:cubicBezTo>
                    <a:pt x="1628" y="528"/>
                    <a:pt x="1654" y="498"/>
                    <a:pt x="1665" y="466"/>
                  </a:cubicBezTo>
                  <a:cubicBezTo>
                    <a:pt x="1676" y="434"/>
                    <a:pt x="1669" y="416"/>
                    <a:pt x="1680" y="378"/>
                  </a:cubicBezTo>
                  <a:cubicBezTo>
                    <a:pt x="1691" y="340"/>
                    <a:pt x="1707" y="274"/>
                    <a:pt x="1731" y="240"/>
                  </a:cubicBezTo>
                  <a:cubicBezTo>
                    <a:pt x="1755" y="206"/>
                    <a:pt x="1800" y="181"/>
                    <a:pt x="1825" y="175"/>
                  </a:cubicBezTo>
                  <a:cubicBezTo>
                    <a:pt x="1850" y="169"/>
                    <a:pt x="1871" y="184"/>
                    <a:pt x="1884" y="204"/>
                  </a:cubicBezTo>
                  <a:cubicBezTo>
                    <a:pt x="1897" y="224"/>
                    <a:pt x="1898" y="274"/>
                    <a:pt x="1905" y="298"/>
                  </a:cubicBezTo>
                  <a:cubicBezTo>
                    <a:pt x="1912" y="322"/>
                    <a:pt x="1920" y="330"/>
                    <a:pt x="1927" y="349"/>
                  </a:cubicBezTo>
                  <a:cubicBezTo>
                    <a:pt x="1934" y="368"/>
                    <a:pt x="1942" y="394"/>
                    <a:pt x="1949" y="415"/>
                  </a:cubicBezTo>
                  <a:cubicBezTo>
                    <a:pt x="1956" y="436"/>
                    <a:pt x="1961" y="444"/>
                    <a:pt x="1971" y="473"/>
                  </a:cubicBezTo>
                  <a:cubicBezTo>
                    <a:pt x="1981" y="502"/>
                    <a:pt x="1996" y="564"/>
                    <a:pt x="2007" y="589"/>
                  </a:cubicBezTo>
                  <a:cubicBezTo>
                    <a:pt x="2018" y="614"/>
                    <a:pt x="2023" y="616"/>
                    <a:pt x="2036" y="626"/>
                  </a:cubicBezTo>
                  <a:cubicBezTo>
                    <a:pt x="2049" y="636"/>
                    <a:pt x="2073" y="652"/>
                    <a:pt x="2087" y="647"/>
                  </a:cubicBezTo>
                  <a:cubicBezTo>
                    <a:pt x="2101" y="642"/>
                    <a:pt x="2109" y="619"/>
                    <a:pt x="2123" y="597"/>
                  </a:cubicBezTo>
                  <a:cubicBezTo>
                    <a:pt x="2137" y="575"/>
                    <a:pt x="2164" y="532"/>
                    <a:pt x="2174" y="515"/>
                  </a:cubicBezTo>
                </a:path>
              </a:pathLst>
            </a:custGeom>
            <a:noFill/>
            <a:ln w="28575" cap="flat" cmpd="sng">
              <a:solidFill>
                <a:srgbClr val="0000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Freeform 69"/>
            <p:cNvSpPr/>
            <p:nvPr/>
          </p:nvSpPr>
          <p:spPr bwMode="auto">
            <a:xfrm>
              <a:off x="3182" y="1144"/>
              <a:ext cx="956" cy="679"/>
            </a:xfrm>
            <a:custGeom>
              <a:avLst/>
              <a:gdLst>
                <a:gd name="T0" fmla="*/ 0 w 956"/>
                <a:gd name="T1" fmla="*/ 459 h 679"/>
                <a:gd name="T2" fmla="*/ 25 w 956"/>
                <a:gd name="T3" fmla="*/ 434 h 679"/>
                <a:gd name="T4" fmla="*/ 61 w 956"/>
                <a:gd name="T5" fmla="*/ 405 h 679"/>
                <a:gd name="T6" fmla="*/ 127 w 956"/>
                <a:gd name="T7" fmla="*/ 456 h 679"/>
                <a:gd name="T8" fmla="*/ 127 w 956"/>
                <a:gd name="T9" fmla="*/ 507 h 679"/>
                <a:gd name="T10" fmla="*/ 141 w 956"/>
                <a:gd name="T11" fmla="*/ 594 h 679"/>
                <a:gd name="T12" fmla="*/ 192 w 956"/>
                <a:gd name="T13" fmla="*/ 631 h 679"/>
                <a:gd name="T14" fmla="*/ 236 w 956"/>
                <a:gd name="T15" fmla="*/ 674 h 679"/>
                <a:gd name="T16" fmla="*/ 287 w 956"/>
                <a:gd name="T17" fmla="*/ 660 h 679"/>
                <a:gd name="T18" fmla="*/ 309 w 956"/>
                <a:gd name="T19" fmla="*/ 616 h 679"/>
                <a:gd name="T20" fmla="*/ 316 w 956"/>
                <a:gd name="T21" fmla="*/ 565 h 679"/>
                <a:gd name="T22" fmla="*/ 338 w 956"/>
                <a:gd name="T23" fmla="*/ 507 h 679"/>
                <a:gd name="T24" fmla="*/ 352 w 956"/>
                <a:gd name="T25" fmla="*/ 456 h 679"/>
                <a:gd name="T26" fmla="*/ 359 w 956"/>
                <a:gd name="T27" fmla="*/ 398 h 679"/>
                <a:gd name="T28" fmla="*/ 374 w 956"/>
                <a:gd name="T29" fmla="*/ 267 h 679"/>
                <a:gd name="T30" fmla="*/ 374 w 956"/>
                <a:gd name="T31" fmla="*/ 202 h 679"/>
                <a:gd name="T32" fmla="*/ 410 w 956"/>
                <a:gd name="T33" fmla="*/ 143 h 679"/>
                <a:gd name="T34" fmla="*/ 439 w 956"/>
                <a:gd name="T35" fmla="*/ 78 h 679"/>
                <a:gd name="T36" fmla="*/ 490 w 956"/>
                <a:gd name="T37" fmla="*/ 63 h 679"/>
                <a:gd name="T38" fmla="*/ 512 w 956"/>
                <a:gd name="T39" fmla="*/ 122 h 679"/>
                <a:gd name="T40" fmla="*/ 556 w 956"/>
                <a:gd name="T41" fmla="*/ 100 h 679"/>
                <a:gd name="T42" fmla="*/ 592 w 956"/>
                <a:gd name="T43" fmla="*/ 71 h 679"/>
                <a:gd name="T44" fmla="*/ 621 w 956"/>
                <a:gd name="T45" fmla="*/ 27 h 679"/>
                <a:gd name="T46" fmla="*/ 658 w 956"/>
                <a:gd name="T47" fmla="*/ 5 h 679"/>
                <a:gd name="T48" fmla="*/ 679 w 956"/>
                <a:gd name="T49" fmla="*/ 56 h 679"/>
                <a:gd name="T50" fmla="*/ 694 w 956"/>
                <a:gd name="T51" fmla="*/ 100 h 679"/>
                <a:gd name="T52" fmla="*/ 716 w 956"/>
                <a:gd name="T53" fmla="*/ 165 h 679"/>
                <a:gd name="T54" fmla="*/ 738 w 956"/>
                <a:gd name="T55" fmla="*/ 260 h 679"/>
                <a:gd name="T56" fmla="*/ 774 w 956"/>
                <a:gd name="T57" fmla="*/ 420 h 679"/>
                <a:gd name="T58" fmla="*/ 796 w 956"/>
                <a:gd name="T59" fmla="*/ 485 h 679"/>
                <a:gd name="T60" fmla="*/ 825 w 956"/>
                <a:gd name="T61" fmla="*/ 558 h 679"/>
                <a:gd name="T62" fmla="*/ 868 w 956"/>
                <a:gd name="T63" fmla="*/ 558 h 679"/>
                <a:gd name="T64" fmla="*/ 919 w 956"/>
                <a:gd name="T65" fmla="*/ 522 h 679"/>
                <a:gd name="T66" fmla="*/ 956 w 956"/>
                <a:gd name="T67" fmla="*/ 459 h 6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56" h="679">
                  <a:moveTo>
                    <a:pt x="0" y="459"/>
                  </a:moveTo>
                  <a:cubicBezTo>
                    <a:pt x="4" y="456"/>
                    <a:pt x="15" y="443"/>
                    <a:pt x="25" y="434"/>
                  </a:cubicBezTo>
                  <a:cubicBezTo>
                    <a:pt x="35" y="425"/>
                    <a:pt x="44" y="401"/>
                    <a:pt x="61" y="405"/>
                  </a:cubicBezTo>
                  <a:cubicBezTo>
                    <a:pt x="78" y="409"/>
                    <a:pt x="116" y="439"/>
                    <a:pt x="127" y="456"/>
                  </a:cubicBezTo>
                  <a:cubicBezTo>
                    <a:pt x="138" y="473"/>
                    <a:pt x="125" y="484"/>
                    <a:pt x="127" y="507"/>
                  </a:cubicBezTo>
                  <a:cubicBezTo>
                    <a:pt x="129" y="530"/>
                    <a:pt x="130" y="573"/>
                    <a:pt x="141" y="594"/>
                  </a:cubicBezTo>
                  <a:cubicBezTo>
                    <a:pt x="152" y="615"/>
                    <a:pt x="176" y="618"/>
                    <a:pt x="192" y="631"/>
                  </a:cubicBezTo>
                  <a:cubicBezTo>
                    <a:pt x="208" y="644"/>
                    <a:pt x="220" y="669"/>
                    <a:pt x="236" y="674"/>
                  </a:cubicBezTo>
                  <a:cubicBezTo>
                    <a:pt x="252" y="679"/>
                    <a:pt x="275" y="670"/>
                    <a:pt x="287" y="660"/>
                  </a:cubicBezTo>
                  <a:cubicBezTo>
                    <a:pt x="299" y="650"/>
                    <a:pt x="304" y="632"/>
                    <a:pt x="309" y="616"/>
                  </a:cubicBezTo>
                  <a:cubicBezTo>
                    <a:pt x="314" y="600"/>
                    <a:pt x="311" y="583"/>
                    <a:pt x="316" y="565"/>
                  </a:cubicBezTo>
                  <a:cubicBezTo>
                    <a:pt x="321" y="547"/>
                    <a:pt x="332" y="525"/>
                    <a:pt x="338" y="507"/>
                  </a:cubicBezTo>
                  <a:cubicBezTo>
                    <a:pt x="344" y="489"/>
                    <a:pt x="349" y="474"/>
                    <a:pt x="352" y="456"/>
                  </a:cubicBezTo>
                  <a:cubicBezTo>
                    <a:pt x="355" y="438"/>
                    <a:pt x="355" y="429"/>
                    <a:pt x="359" y="398"/>
                  </a:cubicBezTo>
                  <a:cubicBezTo>
                    <a:pt x="363" y="367"/>
                    <a:pt x="372" y="300"/>
                    <a:pt x="374" y="267"/>
                  </a:cubicBezTo>
                  <a:cubicBezTo>
                    <a:pt x="376" y="234"/>
                    <a:pt x="368" y="223"/>
                    <a:pt x="374" y="202"/>
                  </a:cubicBezTo>
                  <a:cubicBezTo>
                    <a:pt x="380" y="181"/>
                    <a:pt x="399" y="164"/>
                    <a:pt x="410" y="143"/>
                  </a:cubicBezTo>
                  <a:cubicBezTo>
                    <a:pt x="421" y="122"/>
                    <a:pt x="426" y="91"/>
                    <a:pt x="439" y="78"/>
                  </a:cubicBezTo>
                  <a:cubicBezTo>
                    <a:pt x="452" y="65"/>
                    <a:pt x="478" y="56"/>
                    <a:pt x="490" y="63"/>
                  </a:cubicBezTo>
                  <a:cubicBezTo>
                    <a:pt x="502" y="70"/>
                    <a:pt x="501" y="116"/>
                    <a:pt x="512" y="122"/>
                  </a:cubicBezTo>
                  <a:cubicBezTo>
                    <a:pt x="523" y="128"/>
                    <a:pt x="543" y="108"/>
                    <a:pt x="556" y="100"/>
                  </a:cubicBezTo>
                  <a:cubicBezTo>
                    <a:pt x="569" y="92"/>
                    <a:pt x="581" y="83"/>
                    <a:pt x="592" y="71"/>
                  </a:cubicBezTo>
                  <a:cubicBezTo>
                    <a:pt x="603" y="59"/>
                    <a:pt x="610" y="38"/>
                    <a:pt x="621" y="27"/>
                  </a:cubicBezTo>
                  <a:cubicBezTo>
                    <a:pt x="632" y="16"/>
                    <a:pt x="648" y="0"/>
                    <a:pt x="658" y="5"/>
                  </a:cubicBezTo>
                  <a:cubicBezTo>
                    <a:pt x="668" y="10"/>
                    <a:pt x="673" y="40"/>
                    <a:pt x="679" y="56"/>
                  </a:cubicBezTo>
                  <a:cubicBezTo>
                    <a:pt x="685" y="72"/>
                    <a:pt x="688" y="82"/>
                    <a:pt x="694" y="100"/>
                  </a:cubicBezTo>
                  <a:cubicBezTo>
                    <a:pt x="700" y="118"/>
                    <a:pt x="709" y="138"/>
                    <a:pt x="716" y="165"/>
                  </a:cubicBezTo>
                  <a:cubicBezTo>
                    <a:pt x="723" y="192"/>
                    <a:pt x="728" y="218"/>
                    <a:pt x="738" y="260"/>
                  </a:cubicBezTo>
                  <a:cubicBezTo>
                    <a:pt x="748" y="302"/>
                    <a:pt x="764" y="383"/>
                    <a:pt x="774" y="420"/>
                  </a:cubicBezTo>
                  <a:cubicBezTo>
                    <a:pt x="784" y="457"/>
                    <a:pt x="787" y="462"/>
                    <a:pt x="796" y="485"/>
                  </a:cubicBezTo>
                  <a:cubicBezTo>
                    <a:pt x="805" y="508"/>
                    <a:pt x="813" y="546"/>
                    <a:pt x="825" y="558"/>
                  </a:cubicBezTo>
                  <a:cubicBezTo>
                    <a:pt x="837" y="570"/>
                    <a:pt x="853" y="564"/>
                    <a:pt x="868" y="558"/>
                  </a:cubicBezTo>
                  <a:cubicBezTo>
                    <a:pt x="883" y="552"/>
                    <a:pt x="904" y="538"/>
                    <a:pt x="919" y="522"/>
                  </a:cubicBezTo>
                  <a:cubicBezTo>
                    <a:pt x="934" y="506"/>
                    <a:pt x="948" y="472"/>
                    <a:pt x="956" y="459"/>
                  </a:cubicBezTo>
                </a:path>
              </a:pathLst>
            </a:custGeom>
            <a:noFill/>
            <a:ln w="28575" cap="flat" cmpd="sng">
              <a:solidFill>
                <a:srgbClr val="0000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Freeform 70"/>
            <p:cNvSpPr/>
            <p:nvPr/>
          </p:nvSpPr>
          <p:spPr bwMode="auto">
            <a:xfrm>
              <a:off x="4411" y="1082"/>
              <a:ext cx="650" cy="705"/>
            </a:xfrm>
            <a:custGeom>
              <a:avLst/>
              <a:gdLst>
                <a:gd name="T0" fmla="*/ 0 w 650"/>
                <a:gd name="T1" fmla="*/ 137 h 705"/>
                <a:gd name="T2" fmla="*/ 39 w 650"/>
                <a:gd name="T3" fmla="*/ 53 h 705"/>
                <a:gd name="T4" fmla="*/ 98 w 650"/>
                <a:gd name="T5" fmla="*/ 2 h 705"/>
                <a:gd name="T6" fmla="*/ 134 w 650"/>
                <a:gd name="T7" fmla="*/ 38 h 705"/>
                <a:gd name="T8" fmla="*/ 192 w 650"/>
                <a:gd name="T9" fmla="*/ 184 h 705"/>
                <a:gd name="T10" fmla="*/ 199 w 650"/>
                <a:gd name="T11" fmla="*/ 264 h 705"/>
                <a:gd name="T12" fmla="*/ 207 w 650"/>
                <a:gd name="T13" fmla="*/ 336 h 705"/>
                <a:gd name="T14" fmla="*/ 214 w 650"/>
                <a:gd name="T15" fmla="*/ 504 h 705"/>
                <a:gd name="T16" fmla="*/ 229 w 650"/>
                <a:gd name="T17" fmla="*/ 569 h 705"/>
                <a:gd name="T18" fmla="*/ 243 w 650"/>
                <a:gd name="T19" fmla="*/ 620 h 705"/>
                <a:gd name="T20" fmla="*/ 265 w 650"/>
                <a:gd name="T21" fmla="*/ 664 h 705"/>
                <a:gd name="T22" fmla="*/ 309 w 650"/>
                <a:gd name="T23" fmla="*/ 700 h 705"/>
                <a:gd name="T24" fmla="*/ 359 w 650"/>
                <a:gd name="T25" fmla="*/ 693 h 705"/>
                <a:gd name="T26" fmla="*/ 388 w 650"/>
                <a:gd name="T27" fmla="*/ 634 h 705"/>
                <a:gd name="T28" fmla="*/ 425 w 650"/>
                <a:gd name="T29" fmla="*/ 554 h 705"/>
                <a:gd name="T30" fmla="*/ 454 w 650"/>
                <a:gd name="T31" fmla="*/ 511 h 705"/>
                <a:gd name="T32" fmla="*/ 454 w 650"/>
                <a:gd name="T33" fmla="*/ 402 h 705"/>
                <a:gd name="T34" fmla="*/ 490 w 650"/>
                <a:gd name="T35" fmla="*/ 380 h 705"/>
                <a:gd name="T36" fmla="*/ 490 w 650"/>
                <a:gd name="T37" fmla="*/ 293 h 705"/>
                <a:gd name="T38" fmla="*/ 519 w 650"/>
                <a:gd name="T39" fmla="*/ 184 h 705"/>
                <a:gd name="T40" fmla="*/ 578 w 650"/>
                <a:gd name="T41" fmla="*/ 169 h 705"/>
                <a:gd name="T42" fmla="*/ 592 w 650"/>
                <a:gd name="T43" fmla="*/ 213 h 705"/>
                <a:gd name="T44" fmla="*/ 614 w 650"/>
                <a:gd name="T45" fmla="*/ 285 h 705"/>
                <a:gd name="T46" fmla="*/ 636 w 650"/>
                <a:gd name="T47" fmla="*/ 336 h 705"/>
                <a:gd name="T48" fmla="*/ 650 w 650"/>
                <a:gd name="T49" fmla="*/ 380 h 70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50" h="705">
                  <a:moveTo>
                    <a:pt x="0" y="137"/>
                  </a:moveTo>
                  <a:cubicBezTo>
                    <a:pt x="7" y="124"/>
                    <a:pt x="23" y="75"/>
                    <a:pt x="39" y="53"/>
                  </a:cubicBezTo>
                  <a:cubicBezTo>
                    <a:pt x="55" y="31"/>
                    <a:pt x="82" y="4"/>
                    <a:pt x="98" y="2"/>
                  </a:cubicBezTo>
                  <a:cubicBezTo>
                    <a:pt x="114" y="0"/>
                    <a:pt x="118" y="8"/>
                    <a:pt x="134" y="38"/>
                  </a:cubicBezTo>
                  <a:cubicBezTo>
                    <a:pt x="150" y="68"/>
                    <a:pt x="181" y="146"/>
                    <a:pt x="192" y="184"/>
                  </a:cubicBezTo>
                  <a:cubicBezTo>
                    <a:pt x="203" y="222"/>
                    <a:pt x="197" y="239"/>
                    <a:pt x="199" y="264"/>
                  </a:cubicBezTo>
                  <a:cubicBezTo>
                    <a:pt x="201" y="289"/>
                    <a:pt x="205" y="296"/>
                    <a:pt x="207" y="336"/>
                  </a:cubicBezTo>
                  <a:cubicBezTo>
                    <a:pt x="209" y="376"/>
                    <a:pt x="210" y="465"/>
                    <a:pt x="214" y="504"/>
                  </a:cubicBezTo>
                  <a:cubicBezTo>
                    <a:pt x="218" y="543"/>
                    <a:pt x="224" y="550"/>
                    <a:pt x="229" y="569"/>
                  </a:cubicBezTo>
                  <a:cubicBezTo>
                    <a:pt x="234" y="588"/>
                    <a:pt x="237" y="604"/>
                    <a:pt x="243" y="620"/>
                  </a:cubicBezTo>
                  <a:cubicBezTo>
                    <a:pt x="249" y="636"/>
                    <a:pt x="254" y="651"/>
                    <a:pt x="265" y="664"/>
                  </a:cubicBezTo>
                  <a:cubicBezTo>
                    <a:pt x="276" y="677"/>
                    <a:pt x="293" y="695"/>
                    <a:pt x="309" y="700"/>
                  </a:cubicBezTo>
                  <a:cubicBezTo>
                    <a:pt x="325" y="705"/>
                    <a:pt x="346" y="704"/>
                    <a:pt x="359" y="693"/>
                  </a:cubicBezTo>
                  <a:cubicBezTo>
                    <a:pt x="372" y="682"/>
                    <a:pt x="377" y="657"/>
                    <a:pt x="388" y="634"/>
                  </a:cubicBezTo>
                  <a:cubicBezTo>
                    <a:pt x="399" y="611"/>
                    <a:pt x="414" y="574"/>
                    <a:pt x="425" y="554"/>
                  </a:cubicBezTo>
                  <a:cubicBezTo>
                    <a:pt x="436" y="534"/>
                    <a:pt x="449" y="536"/>
                    <a:pt x="454" y="511"/>
                  </a:cubicBezTo>
                  <a:cubicBezTo>
                    <a:pt x="459" y="486"/>
                    <a:pt x="448" y="424"/>
                    <a:pt x="454" y="402"/>
                  </a:cubicBezTo>
                  <a:cubicBezTo>
                    <a:pt x="460" y="380"/>
                    <a:pt x="484" y="398"/>
                    <a:pt x="490" y="380"/>
                  </a:cubicBezTo>
                  <a:cubicBezTo>
                    <a:pt x="496" y="362"/>
                    <a:pt x="485" y="326"/>
                    <a:pt x="490" y="293"/>
                  </a:cubicBezTo>
                  <a:cubicBezTo>
                    <a:pt x="495" y="260"/>
                    <a:pt x="504" y="205"/>
                    <a:pt x="519" y="184"/>
                  </a:cubicBezTo>
                  <a:cubicBezTo>
                    <a:pt x="534" y="163"/>
                    <a:pt x="566" y="164"/>
                    <a:pt x="578" y="169"/>
                  </a:cubicBezTo>
                  <a:cubicBezTo>
                    <a:pt x="590" y="174"/>
                    <a:pt x="586" y="194"/>
                    <a:pt x="592" y="213"/>
                  </a:cubicBezTo>
                  <a:cubicBezTo>
                    <a:pt x="598" y="232"/>
                    <a:pt x="607" y="265"/>
                    <a:pt x="614" y="285"/>
                  </a:cubicBezTo>
                  <a:cubicBezTo>
                    <a:pt x="621" y="305"/>
                    <a:pt x="630" y="320"/>
                    <a:pt x="636" y="336"/>
                  </a:cubicBezTo>
                  <a:cubicBezTo>
                    <a:pt x="642" y="352"/>
                    <a:pt x="648" y="374"/>
                    <a:pt x="650" y="380"/>
                  </a:cubicBezTo>
                </a:path>
              </a:pathLst>
            </a:custGeom>
            <a:noFill/>
            <a:ln w="28575" cap="flat" cmpd="sng">
              <a:solidFill>
                <a:srgbClr val="0000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34" name="Group 73"/>
          <p:cNvGrpSpPr/>
          <p:nvPr/>
        </p:nvGrpSpPr>
        <p:grpSpPr bwMode="auto">
          <a:xfrm>
            <a:off x="2513284" y="2910489"/>
            <a:ext cx="6013450" cy="1119187"/>
            <a:chOff x="1135" y="1091"/>
            <a:chExt cx="3788" cy="705"/>
          </a:xfrm>
        </p:grpSpPr>
        <p:sp>
          <p:nvSpPr>
            <p:cNvPr id="35" name="Line 74"/>
            <p:cNvSpPr>
              <a:spLocks noChangeShapeType="1"/>
            </p:cNvSpPr>
            <p:nvPr/>
          </p:nvSpPr>
          <p:spPr bwMode="auto">
            <a:xfrm>
              <a:off x="1135" y="1338"/>
              <a:ext cx="0" cy="124"/>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36" name="Line 75"/>
            <p:cNvSpPr>
              <a:spLocks noChangeShapeType="1"/>
            </p:cNvSpPr>
            <p:nvPr/>
          </p:nvSpPr>
          <p:spPr bwMode="auto">
            <a:xfrm>
              <a:off x="1214" y="1273"/>
              <a:ext cx="0" cy="182"/>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38" name="Line 76"/>
            <p:cNvSpPr>
              <a:spLocks noChangeShapeType="1"/>
            </p:cNvSpPr>
            <p:nvPr/>
          </p:nvSpPr>
          <p:spPr bwMode="auto">
            <a:xfrm>
              <a:off x="1294" y="1244"/>
              <a:ext cx="1" cy="21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39" name="Line 77"/>
            <p:cNvSpPr>
              <a:spLocks noChangeShapeType="1"/>
            </p:cNvSpPr>
            <p:nvPr/>
          </p:nvSpPr>
          <p:spPr bwMode="auto">
            <a:xfrm>
              <a:off x="1374" y="1229"/>
              <a:ext cx="0" cy="226"/>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0" name="Line 78"/>
            <p:cNvSpPr>
              <a:spLocks noChangeShapeType="1"/>
            </p:cNvSpPr>
            <p:nvPr/>
          </p:nvSpPr>
          <p:spPr bwMode="auto">
            <a:xfrm>
              <a:off x="1454" y="1135"/>
              <a:ext cx="0" cy="320"/>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1" name="Line 79"/>
            <p:cNvSpPr>
              <a:spLocks noChangeShapeType="1"/>
            </p:cNvSpPr>
            <p:nvPr/>
          </p:nvSpPr>
          <p:spPr bwMode="auto">
            <a:xfrm>
              <a:off x="1612" y="1450"/>
              <a:ext cx="2" cy="20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2" name="Line 80"/>
            <p:cNvSpPr>
              <a:spLocks noChangeShapeType="1"/>
            </p:cNvSpPr>
            <p:nvPr/>
          </p:nvSpPr>
          <p:spPr bwMode="auto">
            <a:xfrm>
              <a:off x="1695" y="1455"/>
              <a:ext cx="0" cy="276"/>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3" name="Line 81"/>
            <p:cNvSpPr>
              <a:spLocks noChangeShapeType="1"/>
            </p:cNvSpPr>
            <p:nvPr/>
          </p:nvSpPr>
          <p:spPr bwMode="auto">
            <a:xfrm>
              <a:off x="1775" y="1455"/>
              <a:ext cx="0" cy="254"/>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4" name="Line 82"/>
            <p:cNvSpPr>
              <a:spLocks noChangeShapeType="1"/>
            </p:cNvSpPr>
            <p:nvPr/>
          </p:nvSpPr>
          <p:spPr bwMode="auto">
            <a:xfrm>
              <a:off x="1854" y="1455"/>
              <a:ext cx="0" cy="87"/>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5" name="Line 83"/>
            <p:cNvSpPr>
              <a:spLocks noChangeShapeType="1"/>
            </p:cNvSpPr>
            <p:nvPr/>
          </p:nvSpPr>
          <p:spPr bwMode="auto">
            <a:xfrm>
              <a:off x="1934" y="1302"/>
              <a:ext cx="0" cy="153"/>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6" name="Line 84"/>
            <p:cNvSpPr>
              <a:spLocks noChangeShapeType="1"/>
            </p:cNvSpPr>
            <p:nvPr/>
          </p:nvSpPr>
          <p:spPr bwMode="auto">
            <a:xfrm>
              <a:off x="2013" y="1106"/>
              <a:ext cx="1" cy="349"/>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7" name="Line 85"/>
            <p:cNvSpPr>
              <a:spLocks noChangeShapeType="1"/>
            </p:cNvSpPr>
            <p:nvPr/>
          </p:nvSpPr>
          <p:spPr bwMode="auto">
            <a:xfrm flipV="1">
              <a:off x="2094" y="1135"/>
              <a:ext cx="0" cy="320"/>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8" name="Line 86"/>
            <p:cNvSpPr>
              <a:spLocks noChangeShapeType="1"/>
            </p:cNvSpPr>
            <p:nvPr/>
          </p:nvSpPr>
          <p:spPr bwMode="auto">
            <a:xfrm flipV="1">
              <a:off x="2174" y="1360"/>
              <a:ext cx="0" cy="95"/>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9" name="Line 87"/>
            <p:cNvSpPr>
              <a:spLocks noChangeShapeType="1"/>
            </p:cNvSpPr>
            <p:nvPr/>
          </p:nvSpPr>
          <p:spPr bwMode="auto">
            <a:xfrm flipH="1" flipV="1">
              <a:off x="2262" y="1224"/>
              <a:ext cx="0" cy="23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0" name="Line 88"/>
            <p:cNvSpPr>
              <a:spLocks noChangeShapeType="1"/>
            </p:cNvSpPr>
            <p:nvPr/>
          </p:nvSpPr>
          <p:spPr bwMode="auto">
            <a:xfrm>
              <a:off x="2392" y="1455"/>
              <a:ext cx="0" cy="26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1" name="Line 89"/>
            <p:cNvSpPr>
              <a:spLocks noChangeShapeType="1"/>
            </p:cNvSpPr>
            <p:nvPr/>
          </p:nvSpPr>
          <p:spPr bwMode="auto">
            <a:xfrm>
              <a:off x="2473" y="1455"/>
              <a:ext cx="0" cy="34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2" name="Line 90"/>
            <p:cNvSpPr>
              <a:spLocks noChangeShapeType="1"/>
            </p:cNvSpPr>
            <p:nvPr/>
          </p:nvSpPr>
          <p:spPr bwMode="auto">
            <a:xfrm>
              <a:off x="2552" y="1462"/>
              <a:ext cx="0" cy="334"/>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3" name="Line 91"/>
            <p:cNvSpPr>
              <a:spLocks noChangeShapeType="1"/>
            </p:cNvSpPr>
            <p:nvPr/>
          </p:nvSpPr>
          <p:spPr bwMode="auto">
            <a:xfrm>
              <a:off x="2632" y="1455"/>
              <a:ext cx="0" cy="189"/>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4" name="Line 92"/>
            <p:cNvSpPr>
              <a:spLocks noChangeShapeType="1"/>
            </p:cNvSpPr>
            <p:nvPr/>
          </p:nvSpPr>
          <p:spPr bwMode="auto">
            <a:xfrm>
              <a:off x="2763" y="1295"/>
              <a:ext cx="0" cy="160"/>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5" name="Line 93"/>
            <p:cNvSpPr>
              <a:spLocks noChangeShapeType="1"/>
            </p:cNvSpPr>
            <p:nvPr/>
          </p:nvSpPr>
          <p:spPr bwMode="auto">
            <a:xfrm>
              <a:off x="2851" y="1244"/>
              <a:ext cx="0" cy="21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6" name="Line 94"/>
            <p:cNvSpPr>
              <a:spLocks noChangeShapeType="1"/>
            </p:cNvSpPr>
            <p:nvPr/>
          </p:nvSpPr>
          <p:spPr bwMode="auto">
            <a:xfrm>
              <a:off x="3032" y="1455"/>
              <a:ext cx="0" cy="218"/>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7" name="Line 95"/>
            <p:cNvSpPr>
              <a:spLocks noChangeShapeType="1"/>
            </p:cNvSpPr>
            <p:nvPr/>
          </p:nvSpPr>
          <p:spPr bwMode="auto">
            <a:xfrm>
              <a:off x="3120" y="1452"/>
              <a:ext cx="0" cy="249"/>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8" name="Line 96"/>
            <p:cNvSpPr>
              <a:spLocks noChangeShapeType="1"/>
            </p:cNvSpPr>
            <p:nvPr/>
          </p:nvSpPr>
          <p:spPr bwMode="auto">
            <a:xfrm flipH="1">
              <a:off x="3207" y="1452"/>
              <a:ext cx="0" cy="126"/>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9" name="Line 97"/>
            <p:cNvSpPr>
              <a:spLocks noChangeShapeType="1"/>
            </p:cNvSpPr>
            <p:nvPr/>
          </p:nvSpPr>
          <p:spPr bwMode="auto">
            <a:xfrm>
              <a:off x="3292" y="1454"/>
              <a:ext cx="2" cy="132"/>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0" name="Line 98"/>
            <p:cNvSpPr>
              <a:spLocks noChangeShapeType="1"/>
            </p:cNvSpPr>
            <p:nvPr/>
          </p:nvSpPr>
          <p:spPr bwMode="auto">
            <a:xfrm>
              <a:off x="3381" y="1455"/>
              <a:ext cx="0" cy="327"/>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1" name="Line 99"/>
            <p:cNvSpPr>
              <a:spLocks noChangeShapeType="1"/>
            </p:cNvSpPr>
            <p:nvPr/>
          </p:nvSpPr>
          <p:spPr bwMode="auto">
            <a:xfrm>
              <a:off x="3469" y="1455"/>
              <a:ext cx="0" cy="34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2" name="Line 100"/>
            <p:cNvSpPr>
              <a:spLocks noChangeShapeType="1"/>
            </p:cNvSpPr>
            <p:nvPr/>
          </p:nvSpPr>
          <p:spPr bwMode="auto">
            <a:xfrm>
              <a:off x="3621" y="1229"/>
              <a:ext cx="0" cy="226"/>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3" name="Line 101"/>
            <p:cNvSpPr>
              <a:spLocks noChangeShapeType="1"/>
            </p:cNvSpPr>
            <p:nvPr/>
          </p:nvSpPr>
          <p:spPr bwMode="auto">
            <a:xfrm>
              <a:off x="3709" y="1266"/>
              <a:ext cx="0" cy="188"/>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4" name="Freeform 102"/>
            <p:cNvSpPr/>
            <p:nvPr/>
          </p:nvSpPr>
          <p:spPr bwMode="auto">
            <a:xfrm>
              <a:off x="3789" y="1184"/>
              <a:ext cx="1" cy="275"/>
            </a:xfrm>
            <a:custGeom>
              <a:avLst/>
              <a:gdLst>
                <a:gd name="T0" fmla="*/ 0 w 1"/>
                <a:gd name="T1" fmla="*/ 0 h 275"/>
                <a:gd name="T2" fmla="*/ 0 w 1"/>
                <a:gd name="T3" fmla="*/ 275 h 275"/>
                <a:gd name="T4" fmla="*/ 0 60000 65536"/>
                <a:gd name="T5" fmla="*/ 0 60000 65536"/>
              </a:gdLst>
              <a:ahLst/>
              <a:cxnLst>
                <a:cxn ang="T4">
                  <a:pos x="T0" y="T1"/>
                </a:cxn>
                <a:cxn ang="T5">
                  <a:pos x="T2" y="T3"/>
                </a:cxn>
              </a:cxnLst>
              <a:rect l="0" t="0" r="r" b="b"/>
              <a:pathLst>
                <a:path w="1" h="275">
                  <a:moveTo>
                    <a:pt x="0" y="0"/>
                  </a:moveTo>
                  <a:lnTo>
                    <a:pt x="0" y="275"/>
                  </a:lnTo>
                </a:path>
              </a:pathLst>
            </a:custGeom>
            <a:noFill/>
            <a:ln w="12700" cap="flat" cmpd="sng">
              <a:solidFill>
                <a:srgbClr val="FF33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5" name="Line 103"/>
            <p:cNvSpPr>
              <a:spLocks noChangeShapeType="1"/>
            </p:cNvSpPr>
            <p:nvPr/>
          </p:nvSpPr>
          <p:spPr bwMode="auto">
            <a:xfrm>
              <a:off x="3869" y="1222"/>
              <a:ext cx="0" cy="233"/>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6" name="Line 104"/>
            <p:cNvSpPr>
              <a:spLocks noChangeShapeType="1"/>
            </p:cNvSpPr>
            <p:nvPr/>
          </p:nvSpPr>
          <p:spPr bwMode="auto">
            <a:xfrm>
              <a:off x="4014" y="1455"/>
              <a:ext cx="0" cy="254"/>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7" name="Line 105"/>
            <p:cNvSpPr>
              <a:spLocks noChangeShapeType="1"/>
            </p:cNvSpPr>
            <p:nvPr/>
          </p:nvSpPr>
          <p:spPr bwMode="auto">
            <a:xfrm>
              <a:off x="4101" y="1455"/>
              <a:ext cx="0" cy="218"/>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8" name="Line 106"/>
            <p:cNvSpPr>
              <a:spLocks noChangeShapeType="1"/>
            </p:cNvSpPr>
            <p:nvPr/>
          </p:nvSpPr>
          <p:spPr bwMode="auto">
            <a:xfrm>
              <a:off x="4189" y="1455"/>
              <a:ext cx="0" cy="109"/>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9" name="Line 107"/>
            <p:cNvSpPr>
              <a:spLocks noChangeShapeType="1"/>
            </p:cNvSpPr>
            <p:nvPr/>
          </p:nvSpPr>
          <p:spPr bwMode="auto">
            <a:xfrm>
              <a:off x="4276" y="1455"/>
              <a:ext cx="0" cy="29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0" name="Line 108"/>
            <p:cNvSpPr>
              <a:spLocks noChangeShapeType="1"/>
            </p:cNvSpPr>
            <p:nvPr/>
          </p:nvSpPr>
          <p:spPr bwMode="auto">
            <a:xfrm flipH="1">
              <a:off x="4356" y="1455"/>
              <a:ext cx="0" cy="162"/>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1" name="Line 109"/>
            <p:cNvSpPr>
              <a:spLocks noChangeShapeType="1"/>
            </p:cNvSpPr>
            <p:nvPr/>
          </p:nvSpPr>
          <p:spPr bwMode="auto">
            <a:xfrm>
              <a:off x="4436" y="1178"/>
              <a:ext cx="0" cy="277"/>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2" name="Line 110"/>
            <p:cNvSpPr>
              <a:spLocks noChangeShapeType="1"/>
            </p:cNvSpPr>
            <p:nvPr/>
          </p:nvSpPr>
          <p:spPr bwMode="auto">
            <a:xfrm>
              <a:off x="4516" y="1091"/>
              <a:ext cx="0" cy="364"/>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3" name="Line 111"/>
            <p:cNvSpPr>
              <a:spLocks noChangeShapeType="1"/>
            </p:cNvSpPr>
            <p:nvPr/>
          </p:nvSpPr>
          <p:spPr bwMode="auto">
            <a:xfrm>
              <a:off x="4596" y="1244"/>
              <a:ext cx="0" cy="211"/>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4" name="Line 112"/>
            <p:cNvSpPr>
              <a:spLocks noChangeShapeType="1"/>
            </p:cNvSpPr>
            <p:nvPr/>
          </p:nvSpPr>
          <p:spPr bwMode="auto">
            <a:xfrm>
              <a:off x="4669" y="1455"/>
              <a:ext cx="0" cy="269"/>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5" name="Line 113"/>
            <p:cNvSpPr>
              <a:spLocks noChangeShapeType="1"/>
            </p:cNvSpPr>
            <p:nvPr/>
          </p:nvSpPr>
          <p:spPr bwMode="auto">
            <a:xfrm>
              <a:off x="4756" y="1455"/>
              <a:ext cx="0" cy="334"/>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6" name="Line 114"/>
            <p:cNvSpPr>
              <a:spLocks noChangeShapeType="1"/>
            </p:cNvSpPr>
            <p:nvPr/>
          </p:nvSpPr>
          <p:spPr bwMode="auto">
            <a:xfrm>
              <a:off x="4843" y="1455"/>
              <a:ext cx="0" cy="167"/>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7" name="Line 115"/>
            <p:cNvSpPr>
              <a:spLocks noChangeShapeType="1"/>
            </p:cNvSpPr>
            <p:nvPr/>
          </p:nvSpPr>
          <p:spPr bwMode="auto">
            <a:xfrm>
              <a:off x="4923" y="1287"/>
              <a:ext cx="0" cy="168"/>
            </a:xfrm>
            <a:prstGeom prst="line">
              <a:avLst/>
            </a:prstGeom>
            <a:noFill/>
            <a:ln w="1270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78" name="Text Box 116"/>
          <p:cNvSpPr txBox="1">
            <a:spLocks noChangeArrowheads="1"/>
          </p:cNvSpPr>
          <p:nvPr/>
        </p:nvSpPr>
        <p:spPr bwMode="auto">
          <a:xfrm>
            <a:off x="2164034" y="2465989"/>
            <a:ext cx="3238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1800" b="1" i="1">
                <a:solidFill>
                  <a:srgbClr val="000066"/>
                </a:solidFill>
                <a:latin typeface="ISOCPEUR" panose="020B0604020202020204" pitchFamily="34" charset="0"/>
              </a:rPr>
              <a:t>Y</a:t>
            </a:r>
            <a:endParaRPr kumimoji="1" lang="en-US" altLang="zh-CN" sz="1800" b="1" i="1">
              <a:solidFill>
                <a:srgbClr val="000066"/>
              </a:solidFill>
              <a:latin typeface="ISOCPEUR" panose="020B0604020202020204" pitchFamily="34" charset="0"/>
            </a:endParaRPr>
          </a:p>
        </p:txBody>
      </p:sp>
      <p:sp>
        <p:nvSpPr>
          <p:cNvPr id="79" name="Text Box 118"/>
          <p:cNvSpPr txBox="1">
            <a:spLocks noChangeArrowheads="1"/>
          </p:cNvSpPr>
          <p:nvPr/>
        </p:nvSpPr>
        <p:spPr bwMode="auto">
          <a:xfrm>
            <a:off x="2173559" y="3558189"/>
            <a:ext cx="304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1800" b="1" i="1">
                <a:solidFill>
                  <a:srgbClr val="000066"/>
                </a:solidFill>
                <a:latin typeface="ISOCPEUR" panose="020B0604020202020204" pitchFamily="34" charset="0"/>
              </a:rPr>
              <a:t>O</a:t>
            </a:r>
            <a:endParaRPr kumimoji="1" lang="en-US" altLang="zh-CN" sz="1800" b="1" i="1">
              <a:solidFill>
                <a:srgbClr val="000066"/>
              </a:solidFill>
              <a:latin typeface="ISOCPEUR" panose="020B0604020202020204" pitchFamily="34" charset="0"/>
            </a:endParaRPr>
          </a:p>
        </p:txBody>
      </p:sp>
      <p:sp>
        <p:nvSpPr>
          <p:cNvPr id="80" name="Text Box 119"/>
          <p:cNvSpPr txBox="1">
            <a:spLocks noChangeArrowheads="1"/>
          </p:cNvSpPr>
          <p:nvPr/>
        </p:nvSpPr>
        <p:spPr bwMode="auto">
          <a:xfrm>
            <a:off x="9015684" y="3342289"/>
            <a:ext cx="520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1800" b="1" i="1">
                <a:solidFill>
                  <a:srgbClr val="000066"/>
                </a:solidFill>
                <a:latin typeface="ISOCPEUR" panose="020B0604020202020204" pitchFamily="34" charset="0"/>
              </a:rPr>
              <a:t>X</a:t>
            </a:r>
            <a:endParaRPr kumimoji="1" lang="en-US" altLang="zh-CN" sz="1800" b="1" i="1">
              <a:solidFill>
                <a:srgbClr val="000066"/>
              </a:solidFill>
              <a:latin typeface="ISOCPEUR" panose="020B0604020202020204" pitchFamily="34" charset="0"/>
            </a:endParaRPr>
          </a:p>
        </p:txBody>
      </p:sp>
      <p:sp>
        <p:nvSpPr>
          <p:cNvPr id="81" name="Text Box 51"/>
          <p:cNvSpPr txBox="1">
            <a:spLocks noChangeArrowheads="1"/>
          </p:cNvSpPr>
          <p:nvPr/>
        </p:nvSpPr>
        <p:spPr bwMode="auto">
          <a:xfrm>
            <a:off x="835297" y="4590717"/>
            <a:ext cx="4368800" cy="1333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ts val="3300"/>
              </a:lnSpc>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Ra</a:t>
            </a:r>
            <a:r>
              <a:rPr kumimoji="1" lang="zh-CN" altLang="en-US" sz="2400" dirty="0">
                <a:solidFill>
                  <a:srgbClr val="000000"/>
                </a:solidFill>
                <a:latin typeface="黑体" panose="02010609060101010101" pitchFamily="2" charset="-122"/>
                <a:ea typeface="黑体" panose="02010609060101010101" pitchFamily="2" charset="-122"/>
              </a:rPr>
              <a:t>（轮廓算术平均偏差）</a:t>
            </a:r>
            <a:endParaRPr kumimoji="1" lang="zh-CN" altLang="en-US" sz="2400" dirty="0">
              <a:solidFill>
                <a:srgbClr val="000000"/>
              </a:solidFill>
              <a:latin typeface="黑体" panose="02010609060101010101" pitchFamily="2" charset="-122"/>
              <a:ea typeface="黑体" panose="02010609060101010101" pitchFamily="2" charset="-122"/>
            </a:endParaRPr>
          </a:p>
          <a:p>
            <a:pPr fontAlgn="base">
              <a:lnSpc>
                <a:spcPts val="3300"/>
              </a:lnSpc>
              <a:spcBef>
                <a:spcPct val="0"/>
              </a:spcBef>
              <a:spcAft>
                <a:spcPct val="0"/>
              </a:spcAft>
              <a:buFontTx/>
              <a:buNone/>
            </a:pPr>
            <a:endParaRPr kumimoji="1" lang="zh-CN" altLang="en-US" sz="2400" dirty="0">
              <a:solidFill>
                <a:srgbClr val="000000"/>
              </a:solidFill>
              <a:latin typeface="黑体" panose="02010609060101010101" pitchFamily="2" charset="-122"/>
              <a:ea typeface="黑体" panose="02010609060101010101" pitchFamily="2" charset="-122"/>
            </a:endParaRPr>
          </a:p>
          <a:p>
            <a:pPr fontAlgn="base">
              <a:lnSpc>
                <a:spcPts val="3300"/>
              </a:lnSpc>
              <a:spcBef>
                <a:spcPts val="200"/>
              </a:spcBef>
              <a:spcAft>
                <a:spcPct val="0"/>
              </a:spcAft>
              <a:buFontTx/>
              <a:buNone/>
            </a:pPr>
            <a:r>
              <a:rPr kumimoji="1" lang="en-US" altLang="zh-CN" sz="2400" dirty="0" err="1">
                <a:solidFill>
                  <a:srgbClr val="000000"/>
                </a:solidFill>
                <a:latin typeface="黑体" panose="02010609060101010101" pitchFamily="2" charset="-122"/>
                <a:ea typeface="黑体" panose="02010609060101010101" pitchFamily="2" charset="-122"/>
              </a:rPr>
              <a:t>Rz</a:t>
            </a:r>
            <a:r>
              <a:rPr kumimoji="1" lang="zh-CN" altLang="en-US" sz="2400" dirty="0">
                <a:solidFill>
                  <a:srgbClr val="000000"/>
                </a:solidFill>
                <a:latin typeface="黑体" panose="02010609060101010101" pitchFamily="2" charset="-122"/>
                <a:ea typeface="黑体" panose="02010609060101010101" pitchFamily="2" charset="-122"/>
              </a:rPr>
              <a:t>（轮廓最大高度）</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82" name="Text Box 52"/>
          <p:cNvSpPr txBox="1">
            <a:spLocks noChangeArrowheads="1"/>
          </p:cNvSpPr>
          <p:nvPr/>
        </p:nvSpPr>
        <p:spPr bwMode="auto">
          <a:xfrm>
            <a:off x="1291755" y="4988847"/>
            <a:ext cx="10912573" cy="41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在一个取样长度内轮廓偏距（</a:t>
            </a:r>
            <a:r>
              <a:rPr kumimoji="1" lang="en-US" altLang="zh-CN" sz="2000" dirty="0">
                <a:solidFill>
                  <a:srgbClr val="000000"/>
                </a:solidFill>
                <a:latin typeface="黑体" panose="02010609060101010101" pitchFamily="2" charset="-122"/>
                <a:ea typeface="黑体" panose="02010609060101010101" pitchFamily="2" charset="-122"/>
              </a:rPr>
              <a:t>Y</a:t>
            </a:r>
            <a:r>
              <a:rPr kumimoji="1" lang="zh-CN" altLang="en-US" sz="2000" dirty="0">
                <a:solidFill>
                  <a:srgbClr val="000000"/>
                </a:solidFill>
                <a:latin typeface="黑体" panose="02010609060101010101" pitchFamily="2" charset="-122"/>
                <a:ea typeface="黑体" panose="02010609060101010101" pitchFamily="2" charset="-122"/>
              </a:rPr>
              <a:t>方向轮廓线上的点与基准线之间距离）绝对值的算术平均值。</a:t>
            </a:r>
            <a:endParaRPr kumimoji="1" lang="zh-CN" altLang="en-US" sz="2000" dirty="0">
              <a:solidFill>
                <a:srgbClr val="000000"/>
              </a:solidFill>
              <a:latin typeface="黑体" panose="02010609060101010101" pitchFamily="2" charset="-122"/>
              <a:ea typeface="黑体" panose="02010609060101010101" pitchFamily="2" charset="-122"/>
            </a:endParaRPr>
          </a:p>
        </p:txBody>
      </p:sp>
      <p:sp>
        <p:nvSpPr>
          <p:cNvPr id="83" name="Text Box 53"/>
          <p:cNvSpPr txBox="1">
            <a:spLocks noChangeArrowheads="1"/>
          </p:cNvSpPr>
          <p:nvPr/>
        </p:nvSpPr>
        <p:spPr bwMode="auto">
          <a:xfrm>
            <a:off x="1291755" y="5924050"/>
            <a:ext cx="7880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Times New Roman" panose="02020603050405020304" pitchFamily="18" charset="0"/>
                <a:ea typeface="黑体" panose="02010609060101010101" pitchFamily="2" charset="-122"/>
              </a:rPr>
              <a:t>在一个取样长度内最大轮廓峰高和最大轮廓谷深之和的高度。</a:t>
            </a:r>
            <a:endParaRPr kumimoji="1" lang="zh-CN" altLang="en-US" sz="2000" dirty="0">
              <a:solidFill>
                <a:srgbClr val="000000"/>
              </a:solidFill>
              <a:latin typeface="Times New Roman" panose="02020603050405020304" pitchFamily="18" charset="0"/>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childTnLst>
                          </p:cTn>
                        </p:par>
                        <p:par>
                          <p:cTn id="13" fill="hold">
                            <p:stCondLst>
                              <p:cond delay="500"/>
                            </p:stCondLst>
                            <p:childTnLst>
                              <p:par>
                                <p:cTn id="14" presetID="22" presetClass="entr" presetSubtype="1" fill="hold" grpId="0" nodeType="afterEffect">
                                  <p:stCondLst>
                                    <p:cond delay="0"/>
                                  </p:stCondLst>
                                  <p:iterate type="lt">
                                    <p:tmPct val="100000"/>
                                  </p:iterate>
                                  <p:childTnLst>
                                    <p:set>
                                      <p:cBhvr>
                                        <p:cTn id="15" dur="1" fill="hold">
                                          <p:stCondLst>
                                            <p:cond delay="0"/>
                                          </p:stCondLst>
                                        </p:cTn>
                                        <p:tgtEl>
                                          <p:spTgt spid="78">
                                            <p:txEl>
                                              <p:pRg st="0" end="0"/>
                                            </p:txEl>
                                          </p:spTgt>
                                        </p:tgtEl>
                                        <p:attrNameLst>
                                          <p:attrName>style.visibility</p:attrName>
                                        </p:attrNameLst>
                                      </p:cBhvr>
                                      <p:to>
                                        <p:strVal val="visible"/>
                                      </p:to>
                                    </p:set>
                                    <p:animEffect transition="in" filter="wipe(up)">
                                      <p:cBhvr>
                                        <p:cTn id="16" dur="75"/>
                                        <p:tgtEl>
                                          <p:spTgt spid="78">
                                            <p:txEl>
                                              <p:pRg st="0" end="0"/>
                                            </p:txEl>
                                          </p:spTgt>
                                        </p:tgtEl>
                                      </p:cBhvr>
                                    </p:animEffect>
                                  </p:childTnLst>
                                </p:cTn>
                              </p:par>
                            </p:childTnLst>
                          </p:cTn>
                        </p:par>
                        <p:par>
                          <p:cTn id="17" fill="hold">
                            <p:stCondLst>
                              <p:cond delay="574"/>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childTnLst>
                          </p:cTn>
                        </p:par>
                        <p:par>
                          <p:cTn id="21" fill="hold">
                            <p:stCondLst>
                              <p:cond delay="1074"/>
                            </p:stCondLst>
                            <p:childTnLst>
                              <p:par>
                                <p:cTn id="22" presetID="1" presetClass="entr" presetSubtype="0" fill="hold" grpId="0" nodeType="afterEffect">
                                  <p:stCondLst>
                                    <p:cond delay="0"/>
                                  </p:stCondLst>
                                  <p:childTnLst>
                                    <p:set>
                                      <p:cBhvr>
                                        <p:cTn id="23" dur="1" fill="hold">
                                          <p:stCondLst>
                                            <p:cond delay="0"/>
                                          </p:stCondLst>
                                        </p:cTn>
                                        <p:tgtEl>
                                          <p:spTgt spid="79"/>
                                        </p:tgtEl>
                                        <p:attrNameLst>
                                          <p:attrName>style.visibility</p:attrName>
                                        </p:attrNameLst>
                                      </p:cBhvr>
                                      <p:to>
                                        <p:strVal val="visible"/>
                                      </p:to>
                                    </p:set>
                                  </p:childTnLst>
                                </p:cTn>
                              </p:par>
                            </p:childTnLst>
                          </p:cTn>
                        </p:par>
                        <p:par>
                          <p:cTn id="24" fill="hold">
                            <p:stCondLst>
                              <p:cond delay="1074"/>
                            </p:stCondLst>
                            <p:childTnLst>
                              <p:par>
                                <p:cTn id="25" presetID="1" presetClass="entr" presetSubtype="0" fill="hold" grpId="0" nodeType="after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childTnLst>
                          </p:cTn>
                        </p:par>
                        <p:par>
                          <p:cTn id="27" fill="hold">
                            <p:stCondLst>
                              <p:cond delay="1074"/>
                            </p:stCondLst>
                            <p:childTnLst>
                              <p:par>
                                <p:cTn id="28" presetID="22" presetClass="entr" presetSubtype="8" fill="hold"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childTnLst>
                          </p:cTn>
                        </p:par>
                        <p:par>
                          <p:cTn id="31" fill="hold">
                            <p:stCondLst>
                              <p:cond delay="1574"/>
                            </p:stCondLst>
                            <p:childTnLst>
                              <p:par>
                                <p:cTn id="32" presetID="22" presetClass="entr" presetSubtype="1"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childTnLst>
                          </p:cTn>
                        </p:par>
                        <p:par>
                          <p:cTn id="35" fill="hold">
                            <p:stCondLst>
                              <p:cond delay="2074"/>
                            </p:stCondLst>
                            <p:childTnLst>
                              <p:par>
                                <p:cTn id="36" presetID="22" presetClass="entr" presetSubtype="4" fill="hold" nodeType="after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wipe(down)">
                                      <p:cBhvr>
                                        <p:cTn id="38" dur="500"/>
                                        <p:tgtEl>
                                          <p:spTgt spid="3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up)">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left)">
                                      <p:cBhvr>
                                        <p:cTn id="58" dur="500"/>
                                        <p:tgtEl>
                                          <p:spTgt spid="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10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81"/>
                                        </p:tgtEl>
                                        <p:attrNameLst>
                                          <p:attrName>style.visibility</p:attrName>
                                        </p:attrNameLst>
                                      </p:cBhvr>
                                      <p:to>
                                        <p:strVal val="visible"/>
                                      </p:to>
                                    </p:set>
                                    <p:animEffect transition="in" filter="fade">
                                      <p:cBhvr>
                                        <p:cTn id="73" dur="500"/>
                                        <p:tgtEl>
                                          <p:spTgt spid="8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82"/>
                                        </p:tgtEl>
                                        <p:attrNameLst>
                                          <p:attrName>style.visibility</p:attrName>
                                        </p:attrNameLst>
                                      </p:cBhvr>
                                      <p:to>
                                        <p:strVal val="visible"/>
                                      </p:to>
                                    </p:set>
                                    <p:animEffect transition="in" filter="fade">
                                      <p:cBhvr>
                                        <p:cTn id="78" dur="500"/>
                                        <p:tgtEl>
                                          <p:spTgt spid="8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83"/>
                                        </p:tgtEl>
                                        <p:attrNameLst>
                                          <p:attrName>style.visibility</p:attrName>
                                        </p:attrNameLst>
                                      </p:cBhvr>
                                      <p:to>
                                        <p:strVal val="visible"/>
                                      </p:to>
                                    </p:set>
                                    <p:animEffect transition="in" filter="fade">
                                      <p:cBhvr>
                                        <p:cTn id="83"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9" grpId="0"/>
      <p:bldP spid="26" grpId="0" animBg="1"/>
      <p:bldP spid="27" grpId="0" animBg="1"/>
      <p:bldP spid="28" grpId="0" animBg="1"/>
      <p:bldP spid="78" grpId="0" advAuto="0" autoUpdateAnimBg="0" build="p"/>
      <p:bldP spid="79" grpId="0"/>
      <p:bldP spid="80" grpId="0"/>
      <p:bldP spid="81" grpId="0"/>
      <p:bldP spid="82" grpId="0"/>
      <p:bldP spid="8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aphicFrame>
        <p:nvGraphicFramePr>
          <p:cNvPr id="2" name="表格 1"/>
          <p:cNvGraphicFramePr>
            <a:graphicFrameLocks noGrp="1"/>
          </p:cNvGraphicFramePr>
          <p:nvPr/>
        </p:nvGraphicFramePr>
        <p:xfrm>
          <a:off x="1991544" y="1988840"/>
          <a:ext cx="8353425" cy="3565584"/>
        </p:xfrm>
        <a:graphic>
          <a:graphicData uri="http://schemas.openxmlformats.org/drawingml/2006/table">
            <a:tbl>
              <a:tblPr firstRow="1" bandRow="1"/>
              <a:tblGrid>
                <a:gridCol w="1407881"/>
                <a:gridCol w="2252608"/>
                <a:gridCol w="4692936"/>
              </a:tblGrid>
              <a:tr h="396169">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algn="ctr"/>
                      <a:r>
                        <a:rPr lang="en-US" altLang="zh-CN" sz="2000" b="0" i="0" dirty="0">
                          <a:solidFill>
                            <a:schemeClr val="tx1"/>
                          </a:solidFill>
                          <a:latin typeface="ISOCPEUR" panose="020B0604020202020204" pitchFamily="34" charset="0"/>
                          <a:ea typeface="黑体" panose="02010609060101010101" pitchFamily="2" charset="-122"/>
                        </a:rPr>
                        <a:t>Ra</a:t>
                      </a:r>
                      <a:r>
                        <a:rPr lang="zh-CN" altLang="en-US" sz="2000" b="0" i="0" dirty="0">
                          <a:solidFill>
                            <a:schemeClr val="tx1"/>
                          </a:solidFill>
                          <a:latin typeface="ISOCPEUR" panose="020B0604020202020204" pitchFamily="34" charset="0"/>
                          <a:ea typeface="黑体" panose="02010609060101010101" pitchFamily="2" charset="-122"/>
                        </a:rPr>
                        <a:t>（</a:t>
                      </a:r>
                      <a:r>
                        <a:rPr lang="en-US" altLang="zh-CN" sz="2000" b="0" i="0" dirty="0" err="1">
                          <a:solidFill>
                            <a:schemeClr val="tx1"/>
                          </a:solidFill>
                          <a:latin typeface="ISOCPEUR" panose="020B0604020202020204" pitchFamily="34" charset="0"/>
                          <a:ea typeface="黑体" panose="02010609060101010101" pitchFamily="2" charset="-122"/>
                        </a:rPr>
                        <a:t>μm</a:t>
                      </a:r>
                      <a:r>
                        <a:rPr lang="zh-CN" altLang="en-US" sz="2000" b="0" i="0" dirty="0">
                          <a:solidFill>
                            <a:schemeClr val="tx1"/>
                          </a:solidFill>
                          <a:latin typeface="ISOCPEUR" panose="020B0604020202020204" pitchFamily="34" charset="0"/>
                          <a:ea typeface="黑体" panose="02010609060101010101" pitchFamily="2" charset="-122"/>
                        </a:rPr>
                        <a:t>）</a:t>
                      </a:r>
                      <a:endParaRPr lang="zh-CN" altLang="en-US" sz="2000" b="0" i="0" dirty="0">
                        <a:solidFill>
                          <a:schemeClr val="tx1"/>
                        </a:solidFill>
                        <a:latin typeface="ISOCPEUR" panose="020B0604020202020204" pitchFamily="34" charset="0"/>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algn="ctr"/>
                      <a:r>
                        <a:rPr lang="zh-CN" altLang="en-US" sz="2000" b="0" dirty="0">
                          <a:solidFill>
                            <a:schemeClr val="tx1"/>
                          </a:solidFill>
                          <a:latin typeface="黑体" panose="02010609060101010101" pitchFamily="2" charset="-122"/>
                          <a:ea typeface="黑体" panose="02010609060101010101" pitchFamily="2" charset="-122"/>
                        </a:rPr>
                        <a:t>加工方法</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ea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宋体" panose="02010600030101010101" pitchFamily="2" charset="-122"/>
                        </a:defRPr>
                      </a:lvl9pPr>
                    </a:lstStyle>
                    <a:p>
                      <a:pPr algn="ctr"/>
                      <a:r>
                        <a:rPr lang="zh-CN" altLang="en-US" sz="2000" b="0" dirty="0">
                          <a:solidFill>
                            <a:schemeClr val="tx1"/>
                          </a:solidFill>
                          <a:latin typeface="黑体" panose="02010609060101010101" pitchFamily="2" charset="-122"/>
                          <a:ea typeface="黑体" panose="02010609060101010101" pitchFamily="2" charset="-122"/>
                        </a:rPr>
                        <a:t>应用举例</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25</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marL="0" algn="l" defTabSz="914400" rtl="0" eaLnBrk="1" latinLnBrk="0" hangingPunct="1"/>
                      <a:r>
                        <a:rPr lang="zh-CN" altLang="en-US" sz="2000" b="0" kern="1200" dirty="0">
                          <a:solidFill>
                            <a:schemeClr val="tx1"/>
                          </a:solidFill>
                          <a:latin typeface="黑体" panose="02010609060101010101" pitchFamily="2" charset="-122"/>
                          <a:ea typeface="黑体" panose="02010609060101010101" pitchFamily="2" charset="-122"/>
                          <a:cs typeface="+mn-cs"/>
                        </a:rPr>
                        <a:t>粗车，粗铣，粗刨，钻孔等</a:t>
                      </a:r>
                      <a:endParaRPr lang="zh-CN" altLang="en-US" sz="2000" b="0" kern="1200" dirty="0">
                        <a:solidFill>
                          <a:schemeClr val="tx1"/>
                        </a:solidFill>
                        <a:latin typeface="黑体" panose="02010609060101010101" pitchFamily="2" charset="-122"/>
                        <a:ea typeface="黑体" panose="02010609060101010101" pitchFamily="2" charset="-122"/>
                        <a:cs typeface="+mn-cs"/>
                      </a:endParaRPr>
                    </a:p>
                  </a:txBody>
                  <a:tcPr marL="91445" marR="91445" marT="45688" marB="456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en-US" sz="2000" b="0" dirty="0">
                          <a:solidFill>
                            <a:schemeClr val="tx1"/>
                          </a:solidFill>
                          <a:latin typeface="黑体" panose="02010609060101010101" pitchFamily="2" charset="-122"/>
                          <a:ea typeface="黑体" panose="02010609060101010101" pitchFamily="2" charset="-122"/>
                        </a:rPr>
                        <a:t>不重要的接触面或非接触面，如轴的端面、倒角、螺栓孔等</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12.5</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cPr/>
                </a:tc>
                <a:tc vMerge="1">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6.3</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en-US" sz="2000" b="0" dirty="0">
                          <a:solidFill>
                            <a:schemeClr val="tx1"/>
                          </a:solidFill>
                          <a:latin typeface="黑体" panose="02010609060101010101" pitchFamily="2" charset="-122"/>
                          <a:ea typeface="黑体" panose="02010609060101010101" pitchFamily="2" charset="-122"/>
                        </a:rPr>
                        <a:t>精车，精铣，精刨床，铰孔等</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en-US" sz="2000" b="0" dirty="0">
                          <a:solidFill>
                            <a:schemeClr val="tx1"/>
                          </a:solidFill>
                          <a:latin typeface="黑体" panose="02010609060101010101" pitchFamily="2" charset="-122"/>
                          <a:ea typeface="黑体" panose="02010609060101010101" pitchFamily="2" charset="-122"/>
                        </a:rPr>
                        <a:t>较重要的接触面，转动和滑动速度不高的接触面，如：轴套、齿轮端面、键槽等</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3.2</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cPr/>
                </a:tc>
                <a:tc vMerge="1">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1.6</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cPr/>
                </a:tc>
                <a:tc vMerge="1">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0.8</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en-US" sz="2000" b="0" dirty="0">
                          <a:solidFill>
                            <a:schemeClr val="tx1"/>
                          </a:solidFill>
                          <a:latin typeface="黑体" panose="02010609060101010101" pitchFamily="2" charset="-122"/>
                          <a:ea typeface="黑体" panose="02010609060101010101" pitchFamily="2" charset="-122"/>
                        </a:rPr>
                        <a:t>磨削，精铰，抛光等</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r>
                        <a:rPr lang="zh-CN" altLang="en-US" sz="2000" b="0" dirty="0">
                          <a:solidFill>
                            <a:schemeClr val="tx1"/>
                          </a:solidFill>
                          <a:latin typeface="黑体" panose="02010609060101010101" pitchFamily="2" charset="-122"/>
                          <a:ea typeface="黑体" panose="02010609060101010101" pitchFamily="2" charset="-122"/>
                        </a:rPr>
                        <a:t>要求较高的接触面，转动和滑动速度较高的接触面，如：齿轮的工作面、导轨表面、主轴轴颈表面、圆锥销孔表面等</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0.4</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cPr/>
                </a:tc>
                <a:tc vMerge="1">
                  <a:tcPr/>
                </a:tc>
              </a:tr>
              <a:tr h="396169">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r>
                        <a:rPr lang="en-US" altLang="zh-CN" sz="2000" b="0" dirty="0">
                          <a:solidFill>
                            <a:schemeClr val="tx1"/>
                          </a:solidFill>
                          <a:latin typeface="黑体" panose="02010609060101010101" pitchFamily="2" charset="-122"/>
                          <a:ea typeface="黑体" panose="02010609060101010101" pitchFamily="2" charset="-122"/>
                        </a:rPr>
                        <a:t>0.2</a:t>
                      </a:r>
                      <a:endParaRPr lang="zh-CN" altLang="en-US" sz="2000" b="0" dirty="0">
                        <a:solidFill>
                          <a:schemeClr val="tx1"/>
                        </a:solidFill>
                        <a:latin typeface="黑体" panose="02010609060101010101" pitchFamily="2" charset="-122"/>
                        <a:ea typeface="黑体" panose="02010609060101010101" pitchFamily="2" charset="-122"/>
                      </a:endParaRPr>
                    </a:p>
                  </a:txBody>
                  <a:tcPr marL="91445" marR="91445" marT="45688" marB="456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cPr/>
                </a:tc>
                <a:tc vMerge="1">
                  <a:tcPr/>
                </a:tc>
              </a:tr>
            </a:tbl>
          </a:graphicData>
        </a:graphic>
      </p:graphicFrame>
      <p:sp>
        <p:nvSpPr>
          <p:cNvPr id="3" name="Text Box 3"/>
          <p:cNvSpPr txBox="1">
            <a:spLocks noChangeArrowheads="1"/>
          </p:cNvSpPr>
          <p:nvPr/>
        </p:nvSpPr>
        <p:spPr bwMode="auto">
          <a:xfrm>
            <a:off x="587461" y="1289852"/>
            <a:ext cx="2954655"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常用</a:t>
            </a:r>
            <a:r>
              <a:rPr kumimoji="1" lang="en-US" altLang="zh-CN" sz="2400" dirty="0">
                <a:solidFill>
                  <a:srgbClr val="000000"/>
                </a:solidFill>
                <a:latin typeface="黑体" panose="02010609060101010101" pitchFamily="2" charset="-122"/>
                <a:ea typeface="黑体" panose="02010609060101010101" pitchFamily="2" charset="-122"/>
              </a:rPr>
              <a:t>Ra</a:t>
            </a:r>
            <a:r>
              <a:rPr kumimoji="1" lang="zh-CN" altLang="en-US" sz="2400" dirty="0">
                <a:solidFill>
                  <a:srgbClr val="000000"/>
                </a:solidFill>
                <a:latin typeface="黑体" panose="02010609060101010101" pitchFamily="2" charset="-122"/>
                <a:ea typeface="黑体" panose="02010609060101010101" pitchFamily="2" charset="-122"/>
              </a:rPr>
              <a:t>参数的选择：</a:t>
            </a:r>
            <a:endParaRPr kumimoji="1" lang="zh-CN" altLang="en-US" sz="2400" dirty="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9"/>
          <p:cNvSpPr txBox="1">
            <a:spLocks noChangeArrowheads="1"/>
          </p:cNvSpPr>
          <p:nvPr/>
        </p:nvSpPr>
        <p:spPr bwMode="auto">
          <a:xfrm>
            <a:off x="479376" y="1196752"/>
            <a:ext cx="33009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表面结构的标注符号</a:t>
            </a:r>
            <a:endParaRPr lang="zh-CN" altLang="en-US" dirty="0"/>
          </a:p>
        </p:txBody>
      </p:sp>
      <p:grpSp>
        <p:nvGrpSpPr>
          <p:cNvPr id="3" name="Group 10"/>
          <p:cNvGrpSpPr/>
          <p:nvPr/>
        </p:nvGrpSpPr>
        <p:grpSpPr bwMode="auto">
          <a:xfrm>
            <a:off x="4976019" y="2051205"/>
            <a:ext cx="936625" cy="588963"/>
            <a:chOff x="468" y="1298"/>
            <a:chExt cx="590" cy="371"/>
          </a:xfrm>
        </p:grpSpPr>
        <p:grpSp>
          <p:nvGrpSpPr>
            <p:cNvPr id="4" name="Group 11"/>
            <p:cNvGrpSpPr/>
            <p:nvPr/>
          </p:nvGrpSpPr>
          <p:grpSpPr bwMode="auto">
            <a:xfrm>
              <a:off x="578" y="1298"/>
              <a:ext cx="480" cy="371"/>
              <a:chOff x="578" y="1298"/>
              <a:chExt cx="480" cy="371"/>
            </a:xfrm>
          </p:grpSpPr>
          <p:sp>
            <p:nvSpPr>
              <p:cNvPr id="6" name="Line 12"/>
              <p:cNvSpPr>
                <a:spLocks noChangeShapeType="1"/>
              </p:cNvSpPr>
              <p:nvPr/>
            </p:nvSpPr>
            <p:spPr bwMode="auto">
              <a:xfrm flipH="1">
                <a:off x="583" y="1302"/>
                <a:ext cx="25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 name="Line 13"/>
              <p:cNvSpPr>
                <a:spLocks noChangeShapeType="1"/>
              </p:cNvSpPr>
              <p:nvPr/>
            </p:nvSpPr>
            <p:spPr bwMode="auto">
              <a:xfrm flipH="1">
                <a:off x="578" y="1665"/>
                <a:ext cx="48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 name="Line 14"/>
              <p:cNvSpPr>
                <a:spLocks noChangeShapeType="1"/>
              </p:cNvSpPr>
              <p:nvPr/>
            </p:nvSpPr>
            <p:spPr bwMode="auto">
              <a:xfrm>
                <a:off x="629" y="1298"/>
                <a:ext cx="0" cy="371"/>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5" name="Text Box 15"/>
            <p:cNvSpPr txBox="1">
              <a:spLocks noChangeArrowheads="1"/>
            </p:cNvSpPr>
            <p:nvPr/>
          </p:nvSpPr>
          <p:spPr bwMode="auto">
            <a:xfrm rot="-5400000">
              <a:off x="424" y="1388"/>
              <a:ext cx="28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rPr>
                <a:t>H</a:t>
              </a:r>
              <a:r>
                <a:rPr kumimoji="1" lang="en-US" altLang="zh-CN" sz="8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rPr>
                <a:t>1</a:t>
              </a:r>
              <a:endPar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endParaRPr>
            </a:p>
          </p:txBody>
        </p:sp>
      </p:grpSp>
      <p:grpSp>
        <p:nvGrpSpPr>
          <p:cNvPr id="9" name="Group 16"/>
          <p:cNvGrpSpPr/>
          <p:nvPr/>
        </p:nvGrpSpPr>
        <p:grpSpPr bwMode="auto">
          <a:xfrm>
            <a:off x="5917406" y="1467005"/>
            <a:ext cx="1023938" cy="1176338"/>
            <a:chOff x="1061" y="930"/>
            <a:chExt cx="645" cy="741"/>
          </a:xfrm>
        </p:grpSpPr>
        <p:grpSp>
          <p:nvGrpSpPr>
            <p:cNvPr id="10" name="Group 17"/>
            <p:cNvGrpSpPr/>
            <p:nvPr/>
          </p:nvGrpSpPr>
          <p:grpSpPr bwMode="auto">
            <a:xfrm>
              <a:off x="1061" y="930"/>
              <a:ext cx="643" cy="741"/>
              <a:chOff x="1546" y="849"/>
              <a:chExt cx="835" cy="1057"/>
            </a:xfrm>
          </p:grpSpPr>
          <p:sp>
            <p:nvSpPr>
              <p:cNvPr id="12" name="Line 18"/>
              <p:cNvSpPr>
                <a:spLocks noChangeShapeType="1"/>
              </p:cNvSpPr>
              <p:nvPr/>
            </p:nvSpPr>
            <p:spPr bwMode="auto">
              <a:xfrm>
                <a:off x="2146" y="854"/>
                <a:ext cx="22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Line 19"/>
              <p:cNvSpPr>
                <a:spLocks noChangeShapeType="1"/>
              </p:cNvSpPr>
              <p:nvPr/>
            </p:nvSpPr>
            <p:spPr bwMode="auto">
              <a:xfrm>
                <a:off x="1546" y="1896"/>
                <a:ext cx="8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 name="Line 20"/>
              <p:cNvSpPr>
                <a:spLocks noChangeShapeType="1"/>
              </p:cNvSpPr>
              <p:nvPr/>
            </p:nvSpPr>
            <p:spPr bwMode="auto">
              <a:xfrm>
                <a:off x="2333" y="849"/>
                <a:ext cx="0" cy="1057"/>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1" name="Text Box 21"/>
            <p:cNvSpPr txBox="1">
              <a:spLocks noChangeArrowheads="1"/>
            </p:cNvSpPr>
            <p:nvPr/>
          </p:nvSpPr>
          <p:spPr bwMode="auto">
            <a:xfrm rot="-5400000">
              <a:off x="1383" y="1205"/>
              <a:ext cx="45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rPr>
                <a:t>H</a:t>
              </a:r>
              <a:r>
                <a:rPr kumimoji="1" lang="en-US" altLang="zh-CN" sz="8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rPr>
                <a:t>2</a:t>
              </a:r>
              <a:endPar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endParaRPr>
            </a:p>
          </p:txBody>
        </p:sp>
      </p:grpSp>
      <p:grpSp>
        <p:nvGrpSpPr>
          <p:cNvPr id="15" name="Group 22"/>
          <p:cNvGrpSpPr/>
          <p:nvPr/>
        </p:nvGrpSpPr>
        <p:grpSpPr bwMode="auto">
          <a:xfrm>
            <a:off x="5537994" y="1459068"/>
            <a:ext cx="1116012" cy="4614862"/>
            <a:chOff x="822" y="781"/>
            <a:chExt cx="703" cy="2907"/>
          </a:xfrm>
        </p:grpSpPr>
        <p:grpSp>
          <p:nvGrpSpPr>
            <p:cNvPr id="17" name="Group 23"/>
            <p:cNvGrpSpPr/>
            <p:nvPr/>
          </p:nvGrpSpPr>
          <p:grpSpPr bwMode="auto">
            <a:xfrm>
              <a:off x="828" y="781"/>
              <a:ext cx="697" cy="742"/>
              <a:chOff x="1283" y="881"/>
              <a:chExt cx="969" cy="1032"/>
            </a:xfrm>
          </p:grpSpPr>
          <p:sp>
            <p:nvSpPr>
              <p:cNvPr id="27" name="Line 24"/>
              <p:cNvSpPr>
                <a:spLocks noChangeShapeType="1"/>
              </p:cNvSpPr>
              <p:nvPr/>
            </p:nvSpPr>
            <p:spPr bwMode="auto">
              <a:xfrm>
                <a:off x="1283" y="1394"/>
                <a:ext cx="324" cy="517"/>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8" name="Line 25"/>
              <p:cNvSpPr>
                <a:spLocks noChangeShapeType="1"/>
              </p:cNvSpPr>
              <p:nvPr/>
            </p:nvSpPr>
            <p:spPr bwMode="auto">
              <a:xfrm flipV="1">
                <a:off x="1607" y="881"/>
                <a:ext cx="645" cy="1032"/>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8" name="Group 26"/>
            <p:cNvGrpSpPr/>
            <p:nvPr/>
          </p:nvGrpSpPr>
          <p:grpSpPr bwMode="auto">
            <a:xfrm>
              <a:off x="827" y="1902"/>
              <a:ext cx="697" cy="742"/>
              <a:chOff x="908" y="1031"/>
              <a:chExt cx="895" cy="1032"/>
            </a:xfrm>
          </p:grpSpPr>
          <p:sp>
            <p:nvSpPr>
              <p:cNvPr id="24" name="Line 27"/>
              <p:cNvSpPr>
                <a:spLocks noChangeShapeType="1"/>
              </p:cNvSpPr>
              <p:nvPr/>
            </p:nvSpPr>
            <p:spPr bwMode="auto">
              <a:xfrm>
                <a:off x="908" y="1544"/>
                <a:ext cx="299" cy="517"/>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5" name="Line 28"/>
              <p:cNvSpPr>
                <a:spLocks noChangeShapeType="1"/>
              </p:cNvSpPr>
              <p:nvPr/>
            </p:nvSpPr>
            <p:spPr bwMode="auto">
              <a:xfrm flipV="1">
                <a:off x="1207" y="1031"/>
                <a:ext cx="596" cy="1032"/>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6" name="Line 29"/>
              <p:cNvSpPr>
                <a:spLocks noChangeShapeType="1"/>
              </p:cNvSpPr>
              <p:nvPr/>
            </p:nvSpPr>
            <p:spPr bwMode="auto">
              <a:xfrm>
                <a:off x="915" y="1551"/>
                <a:ext cx="584"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9" name="Group 30"/>
            <p:cNvGrpSpPr/>
            <p:nvPr/>
          </p:nvGrpSpPr>
          <p:grpSpPr bwMode="auto">
            <a:xfrm>
              <a:off x="822" y="2946"/>
              <a:ext cx="697" cy="742"/>
              <a:chOff x="4008" y="939"/>
              <a:chExt cx="969" cy="1032"/>
            </a:xfrm>
          </p:grpSpPr>
          <p:grpSp>
            <p:nvGrpSpPr>
              <p:cNvPr id="20" name="Group 31"/>
              <p:cNvGrpSpPr/>
              <p:nvPr/>
            </p:nvGrpSpPr>
            <p:grpSpPr bwMode="auto">
              <a:xfrm>
                <a:off x="4008" y="939"/>
                <a:ext cx="969" cy="1032"/>
                <a:chOff x="1283" y="881"/>
                <a:chExt cx="969" cy="1032"/>
              </a:xfrm>
            </p:grpSpPr>
            <p:sp>
              <p:nvSpPr>
                <p:cNvPr id="22" name="Line 32"/>
                <p:cNvSpPr>
                  <a:spLocks noChangeShapeType="1"/>
                </p:cNvSpPr>
                <p:nvPr/>
              </p:nvSpPr>
              <p:spPr bwMode="auto">
                <a:xfrm>
                  <a:off x="1283" y="1394"/>
                  <a:ext cx="324" cy="517"/>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Line 33"/>
                <p:cNvSpPr>
                  <a:spLocks noChangeShapeType="1"/>
                </p:cNvSpPr>
                <p:nvPr/>
              </p:nvSpPr>
              <p:spPr bwMode="auto">
                <a:xfrm flipV="1">
                  <a:off x="1607" y="881"/>
                  <a:ext cx="645" cy="1032"/>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1" name="Oval 34"/>
              <p:cNvSpPr>
                <a:spLocks noChangeArrowheads="1"/>
              </p:cNvSpPr>
              <p:nvPr/>
            </p:nvSpPr>
            <p:spPr bwMode="auto">
              <a:xfrm>
                <a:off x="4152" y="1460"/>
                <a:ext cx="352" cy="352"/>
              </a:xfrm>
              <a:prstGeom prst="ellipse">
                <a:avLst/>
              </a:prstGeom>
              <a:noFill/>
              <a:ln w="38100">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grpSp>
        <p:nvGrpSpPr>
          <p:cNvPr id="29" name="Group 89"/>
          <p:cNvGrpSpPr/>
          <p:nvPr/>
        </p:nvGrpSpPr>
        <p:grpSpPr bwMode="auto">
          <a:xfrm>
            <a:off x="5245894" y="2173443"/>
            <a:ext cx="1485901" cy="460375"/>
            <a:chOff x="737" y="1231"/>
            <a:chExt cx="936" cy="290"/>
          </a:xfrm>
        </p:grpSpPr>
        <p:grpSp>
          <p:nvGrpSpPr>
            <p:cNvPr id="30" name="Group 88"/>
            <p:cNvGrpSpPr/>
            <p:nvPr/>
          </p:nvGrpSpPr>
          <p:grpSpPr bwMode="auto">
            <a:xfrm>
              <a:off x="737" y="1245"/>
              <a:ext cx="355" cy="276"/>
              <a:chOff x="737" y="1245"/>
              <a:chExt cx="355" cy="276"/>
            </a:xfrm>
          </p:grpSpPr>
          <p:grpSp>
            <p:nvGrpSpPr>
              <p:cNvPr id="39" name="Group 37"/>
              <p:cNvGrpSpPr/>
              <p:nvPr/>
            </p:nvGrpSpPr>
            <p:grpSpPr bwMode="auto">
              <a:xfrm>
                <a:off x="820" y="1245"/>
                <a:ext cx="161" cy="276"/>
                <a:chOff x="721" y="1389"/>
                <a:chExt cx="161" cy="276"/>
              </a:xfrm>
            </p:grpSpPr>
            <p:grpSp>
              <p:nvGrpSpPr>
                <p:cNvPr id="41" name="Group 38"/>
                <p:cNvGrpSpPr/>
                <p:nvPr/>
              </p:nvGrpSpPr>
              <p:grpSpPr bwMode="auto">
                <a:xfrm>
                  <a:off x="721" y="1389"/>
                  <a:ext cx="161" cy="276"/>
                  <a:chOff x="721" y="1389"/>
                  <a:chExt cx="161" cy="276"/>
                </a:xfrm>
              </p:grpSpPr>
              <p:sp>
                <p:nvSpPr>
                  <p:cNvPr id="43" name="Freeform 39"/>
                  <p:cNvSpPr/>
                  <p:nvPr/>
                </p:nvSpPr>
                <p:spPr bwMode="auto">
                  <a:xfrm>
                    <a:off x="750" y="1392"/>
                    <a:ext cx="129" cy="273"/>
                  </a:xfrm>
                  <a:custGeom>
                    <a:avLst/>
                    <a:gdLst>
                      <a:gd name="T0" fmla="*/ 418 w 117"/>
                      <a:gd name="T1" fmla="*/ 0 h 222"/>
                      <a:gd name="T2" fmla="*/ 192 w 117"/>
                      <a:gd name="T3" fmla="*/ 889 h 222"/>
                      <a:gd name="T4" fmla="*/ 41 w 117"/>
                      <a:gd name="T5" fmla="*/ 1909 h 222"/>
                      <a:gd name="T6" fmla="*/ 0 w 117"/>
                      <a:gd name="T7" fmla="*/ 3271 h 2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222">
                        <a:moveTo>
                          <a:pt x="117" y="0"/>
                        </a:moveTo>
                        <a:cubicBezTo>
                          <a:pt x="107" y="9"/>
                          <a:pt x="71" y="38"/>
                          <a:pt x="54" y="60"/>
                        </a:cubicBezTo>
                        <a:cubicBezTo>
                          <a:pt x="37" y="82"/>
                          <a:pt x="21" y="102"/>
                          <a:pt x="12" y="129"/>
                        </a:cubicBezTo>
                        <a:cubicBezTo>
                          <a:pt x="3" y="156"/>
                          <a:pt x="2" y="203"/>
                          <a:pt x="0" y="22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Freeform 40"/>
                  <p:cNvSpPr/>
                  <p:nvPr/>
                </p:nvSpPr>
                <p:spPr bwMode="auto">
                  <a:xfrm>
                    <a:off x="816" y="1389"/>
                    <a:ext cx="66" cy="60"/>
                  </a:xfrm>
                  <a:custGeom>
                    <a:avLst/>
                    <a:gdLst>
                      <a:gd name="T0" fmla="*/ 66 w 66"/>
                      <a:gd name="T1" fmla="*/ 0 h 60"/>
                      <a:gd name="T2" fmla="*/ 0 w 66"/>
                      <a:gd name="T3" fmla="*/ 45 h 60"/>
                      <a:gd name="T4" fmla="*/ 21 w 66"/>
                      <a:gd name="T5" fmla="*/ 60 h 60"/>
                      <a:gd name="T6" fmla="*/ 66 w 66"/>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60">
                        <a:moveTo>
                          <a:pt x="66" y="0"/>
                        </a:moveTo>
                        <a:lnTo>
                          <a:pt x="0" y="45"/>
                        </a:lnTo>
                        <a:lnTo>
                          <a:pt x="21" y="60"/>
                        </a:lnTo>
                        <a:lnTo>
                          <a:pt x="66" y="0"/>
                        </a:lnTo>
                        <a:close/>
                      </a:path>
                    </a:pathLst>
                  </a:custGeom>
                  <a:solidFill>
                    <a:srgbClr val="000000"/>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Freeform 41"/>
                  <p:cNvSpPr/>
                  <p:nvPr/>
                </p:nvSpPr>
                <p:spPr bwMode="auto">
                  <a:xfrm rot="2852490" flipV="1">
                    <a:off x="718" y="1592"/>
                    <a:ext cx="66" cy="60"/>
                  </a:xfrm>
                  <a:custGeom>
                    <a:avLst/>
                    <a:gdLst>
                      <a:gd name="T0" fmla="*/ 66 w 66"/>
                      <a:gd name="T1" fmla="*/ 0 h 60"/>
                      <a:gd name="T2" fmla="*/ 0 w 66"/>
                      <a:gd name="T3" fmla="*/ 45 h 60"/>
                      <a:gd name="T4" fmla="*/ 21 w 66"/>
                      <a:gd name="T5" fmla="*/ 60 h 60"/>
                      <a:gd name="T6" fmla="*/ 66 w 66"/>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60">
                        <a:moveTo>
                          <a:pt x="66" y="0"/>
                        </a:moveTo>
                        <a:lnTo>
                          <a:pt x="0" y="45"/>
                        </a:lnTo>
                        <a:lnTo>
                          <a:pt x="21" y="60"/>
                        </a:lnTo>
                        <a:lnTo>
                          <a:pt x="66" y="0"/>
                        </a:lnTo>
                        <a:close/>
                      </a:path>
                    </a:pathLst>
                  </a:custGeom>
                  <a:solidFill>
                    <a:srgbClr val="000000"/>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42" name="Rectangle 42"/>
                <p:cNvSpPr>
                  <a:spLocks noChangeArrowheads="1"/>
                </p:cNvSpPr>
                <p:nvPr/>
              </p:nvSpPr>
              <p:spPr bwMode="auto">
                <a:xfrm rot="698274">
                  <a:off x="736" y="1464"/>
                  <a:ext cx="99" cy="104"/>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40" name="Text Box 43"/>
              <p:cNvSpPr txBox="1">
                <a:spLocks noChangeArrowheads="1"/>
              </p:cNvSpPr>
              <p:nvPr/>
            </p:nvSpPr>
            <p:spPr bwMode="auto">
              <a:xfrm>
                <a:off x="737" y="1278"/>
                <a:ext cx="3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rPr>
                  <a:t>60°</a:t>
                </a:r>
                <a:endPar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endParaRPr>
              </a:p>
            </p:txBody>
          </p:sp>
        </p:grpSp>
        <p:grpSp>
          <p:nvGrpSpPr>
            <p:cNvPr id="31" name="Group 44"/>
            <p:cNvGrpSpPr/>
            <p:nvPr/>
          </p:nvGrpSpPr>
          <p:grpSpPr bwMode="auto">
            <a:xfrm>
              <a:off x="1318" y="1231"/>
              <a:ext cx="355" cy="276"/>
              <a:chOff x="1219" y="1375"/>
              <a:chExt cx="355" cy="276"/>
            </a:xfrm>
          </p:grpSpPr>
          <p:grpSp>
            <p:nvGrpSpPr>
              <p:cNvPr id="32" name="Group 45"/>
              <p:cNvGrpSpPr/>
              <p:nvPr/>
            </p:nvGrpSpPr>
            <p:grpSpPr bwMode="auto">
              <a:xfrm flipH="1">
                <a:off x="1252" y="1375"/>
                <a:ext cx="161" cy="276"/>
                <a:chOff x="721" y="1389"/>
                <a:chExt cx="161" cy="276"/>
              </a:xfrm>
            </p:grpSpPr>
            <p:sp>
              <p:nvSpPr>
                <p:cNvPr id="35" name="Freeform 46"/>
                <p:cNvSpPr/>
                <p:nvPr/>
              </p:nvSpPr>
              <p:spPr bwMode="auto">
                <a:xfrm>
                  <a:off x="750" y="1392"/>
                  <a:ext cx="129" cy="273"/>
                </a:xfrm>
                <a:custGeom>
                  <a:avLst/>
                  <a:gdLst>
                    <a:gd name="T0" fmla="*/ 418 w 117"/>
                    <a:gd name="T1" fmla="*/ 0 h 222"/>
                    <a:gd name="T2" fmla="*/ 192 w 117"/>
                    <a:gd name="T3" fmla="*/ 889 h 222"/>
                    <a:gd name="T4" fmla="*/ 41 w 117"/>
                    <a:gd name="T5" fmla="*/ 1909 h 222"/>
                    <a:gd name="T6" fmla="*/ 0 w 117"/>
                    <a:gd name="T7" fmla="*/ 3271 h 2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222">
                      <a:moveTo>
                        <a:pt x="117" y="0"/>
                      </a:moveTo>
                      <a:cubicBezTo>
                        <a:pt x="107" y="9"/>
                        <a:pt x="71" y="38"/>
                        <a:pt x="54" y="60"/>
                      </a:cubicBezTo>
                      <a:cubicBezTo>
                        <a:pt x="37" y="82"/>
                        <a:pt x="21" y="102"/>
                        <a:pt x="12" y="129"/>
                      </a:cubicBezTo>
                      <a:cubicBezTo>
                        <a:pt x="3" y="156"/>
                        <a:pt x="2" y="203"/>
                        <a:pt x="0" y="222"/>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Freeform 47"/>
                <p:cNvSpPr/>
                <p:nvPr/>
              </p:nvSpPr>
              <p:spPr bwMode="auto">
                <a:xfrm>
                  <a:off x="816" y="1389"/>
                  <a:ext cx="66" cy="60"/>
                </a:xfrm>
                <a:custGeom>
                  <a:avLst/>
                  <a:gdLst>
                    <a:gd name="T0" fmla="*/ 66 w 66"/>
                    <a:gd name="T1" fmla="*/ 0 h 60"/>
                    <a:gd name="T2" fmla="*/ 0 w 66"/>
                    <a:gd name="T3" fmla="*/ 45 h 60"/>
                    <a:gd name="T4" fmla="*/ 21 w 66"/>
                    <a:gd name="T5" fmla="*/ 60 h 60"/>
                    <a:gd name="T6" fmla="*/ 66 w 66"/>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60">
                      <a:moveTo>
                        <a:pt x="66" y="0"/>
                      </a:moveTo>
                      <a:lnTo>
                        <a:pt x="0" y="45"/>
                      </a:lnTo>
                      <a:lnTo>
                        <a:pt x="21" y="60"/>
                      </a:lnTo>
                      <a:lnTo>
                        <a:pt x="66" y="0"/>
                      </a:lnTo>
                      <a:close/>
                    </a:path>
                  </a:pathLst>
                </a:custGeom>
                <a:solidFill>
                  <a:srgbClr val="000000"/>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8" name="Freeform 48"/>
                <p:cNvSpPr/>
                <p:nvPr/>
              </p:nvSpPr>
              <p:spPr bwMode="auto">
                <a:xfrm rot="2852490" flipV="1">
                  <a:off x="718" y="1592"/>
                  <a:ext cx="66" cy="60"/>
                </a:xfrm>
                <a:custGeom>
                  <a:avLst/>
                  <a:gdLst>
                    <a:gd name="T0" fmla="*/ 66 w 66"/>
                    <a:gd name="T1" fmla="*/ 0 h 60"/>
                    <a:gd name="T2" fmla="*/ 0 w 66"/>
                    <a:gd name="T3" fmla="*/ 45 h 60"/>
                    <a:gd name="T4" fmla="*/ 21 w 66"/>
                    <a:gd name="T5" fmla="*/ 60 h 60"/>
                    <a:gd name="T6" fmla="*/ 66 w 66"/>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60">
                      <a:moveTo>
                        <a:pt x="66" y="0"/>
                      </a:moveTo>
                      <a:lnTo>
                        <a:pt x="0" y="45"/>
                      </a:lnTo>
                      <a:lnTo>
                        <a:pt x="21" y="60"/>
                      </a:lnTo>
                      <a:lnTo>
                        <a:pt x="66" y="0"/>
                      </a:lnTo>
                      <a:close/>
                    </a:path>
                  </a:pathLst>
                </a:custGeom>
                <a:solidFill>
                  <a:srgbClr val="000000"/>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33" name="Rectangle 49"/>
              <p:cNvSpPr>
                <a:spLocks noChangeArrowheads="1"/>
              </p:cNvSpPr>
              <p:nvPr/>
            </p:nvSpPr>
            <p:spPr bwMode="auto">
              <a:xfrm rot="-1277095">
                <a:off x="1291" y="1446"/>
                <a:ext cx="99" cy="104"/>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4" name="Text Box 50"/>
              <p:cNvSpPr txBox="1">
                <a:spLocks noChangeArrowheads="1"/>
              </p:cNvSpPr>
              <p:nvPr/>
            </p:nvSpPr>
            <p:spPr bwMode="auto">
              <a:xfrm>
                <a:off x="1219" y="1401"/>
                <a:ext cx="355"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rPr>
                  <a:t>60°</a:t>
                </a:r>
                <a:endParaRPr kumimoji="1" lang="en-US" altLang="zh-CN" sz="1400" i="1" u="none" strike="noStrike" kern="0" cap="none" spc="0" normalizeH="0" baseline="0" noProof="0">
                  <a:ln>
                    <a:noFill/>
                  </a:ln>
                  <a:solidFill>
                    <a:srgbClr val="CC0000"/>
                  </a:solidFill>
                  <a:effectLst/>
                  <a:uLnTx/>
                  <a:uFillTx/>
                  <a:latin typeface="ISOCPEUR" panose="020B0604020202020204" pitchFamily="34" charset="0"/>
                  <a:ea typeface="黑体" panose="02010609060101010101" pitchFamily="2" charset="-122"/>
                </a:endParaRPr>
              </a:p>
            </p:txBody>
          </p:sp>
        </p:grpSp>
      </p:grpSp>
      <p:sp>
        <p:nvSpPr>
          <p:cNvPr id="46" name="Text Box 51"/>
          <p:cNvSpPr txBox="1">
            <a:spLocks noChangeArrowheads="1"/>
          </p:cNvSpPr>
          <p:nvPr/>
        </p:nvSpPr>
        <p:spPr bwMode="auto">
          <a:xfrm>
            <a:off x="7133431" y="1246817"/>
            <a:ext cx="17817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基本符号</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47" name="Text Box 52"/>
          <p:cNvSpPr txBox="1">
            <a:spLocks noChangeArrowheads="1"/>
          </p:cNvSpPr>
          <p:nvPr/>
        </p:nvSpPr>
        <p:spPr bwMode="auto">
          <a:xfrm>
            <a:off x="7133431" y="3384705"/>
            <a:ext cx="3920426"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表面用去除材料的方法获得（车、铣、刨、磨等）</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48" name="Text Box 53"/>
          <p:cNvSpPr txBox="1">
            <a:spLocks noChangeArrowheads="1"/>
          </p:cNvSpPr>
          <p:nvPr/>
        </p:nvSpPr>
        <p:spPr bwMode="auto">
          <a:xfrm>
            <a:off x="7133431" y="5075393"/>
            <a:ext cx="4147145"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表面用不去除材料的方法获得（铸、锻、切割等）</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grpSp>
        <p:nvGrpSpPr>
          <p:cNvPr id="49" name="Group 74"/>
          <p:cNvGrpSpPr/>
          <p:nvPr/>
        </p:nvGrpSpPr>
        <p:grpSpPr bwMode="auto">
          <a:xfrm>
            <a:off x="5144294" y="3186268"/>
            <a:ext cx="950912" cy="646112"/>
            <a:chOff x="537" y="1869"/>
            <a:chExt cx="599" cy="407"/>
          </a:xfrm>
        </p:grpSpPr>
        <p:sp>
          <p:nvSpPr>
            <p:cNvPr id="50" name="Text Box 75"/>
            <p:cNvSpPr txBox="1">
              <a:spLocks noChangeArrowheads="1"/>
            </p:cNvSpPr>
            <p:nvPr/>
          </p:nvSpPr>
          <p:spPr bwMode="auto">
            <a:xfrm>
              <a:off x="537" y="1869"/>
              <a:ext cx="5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a:solidFill>
                    <a:srgbClr val="000000"/>
                  </a:solidFill>
                  <a:latin typeface="Times New Roman" panose="02020603050405020304" pitchFamily="18" charset="0"/>
                  <a:ea typeface="黑体" panose="02010609060101010101" pitchFamily="2" charset="-122"/>
                </a:rPr>
                <a:t>加横线</a:t>
              </a:r>
              <a:endParaRPr kumimoji="1" lang="zh-CN" altLang="en-US" sz="2000">
                <a:solidFill>
                  <a:srgbClr val="000000"/>
                </a:solidFill>
                <a:latin typeface="Times New Roman" panose="02020603050405020304" pitchFamily="18" charset="0"/>
                <a:ea typeface="黑体" panose="02010609060101010101" pitchFamily="2" charset="-122"/>
              </a:endParaRPr>
            </a:p>
          </p:txBody>
        </p:sp>
        <p:sp>
          <p:nvSpPr>
            <p:cNvPr id="51" name="Line 76"/>
            <p:cNvSpPr>
              <a:spLocks noChangeShapeType="1"/>
            </p:cNvSpPr>
            <p:nvPr/>
          </p:nvSpPr>
          <p:spPr bwMode="auto">
            <a:xfrm>
              <a:off x="966" y="2090"/>
              <a:ext cx="47" cy="186"/>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52" name="Group 77"/>
          <p:cNvGrpSpPr/>
          <p:nvPr/>
        </p:nvGrpSpPr>
        <p:grpSpPr bwMode="auto">
          <a:xfrm>
            <a:off x="5152231" y="4727727"/>
            <a:ext cx="1206500" cy="708025"/>
            <a:chOff x="543" y="2937"/>
            <a:chExt cx="760" cy="446"/>
          </a:xfrm>
        </p:grpSpPr>
        <p:sp>
          <p:nvSpPr>
            <p:cNvPr id="53" name="Text Box 78"/>
            <p:cNvSpPr txBox="1">
              <a:spLocks noChangeArrowheads="1"/>
            </p:cNvSpPr>
            <p:nvPr/>
          </p:nvSpPr>
          <p:spPr bwMode="auto">
            <a:xfrm>
              <a:off x="543" y="2937"/>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a:solidFill>
                    <a:srgbClr val="000000"/>
                  </a:solidFill>
                  <a:latin typeface="Times New Roman" panose="02020603050405020304" pitchFamily="18" charset="0"/>
                  <a:ea typeface="黑体" panose="02010609060101010101" pitchFamily="2" charset="-122"/>
                </a:rPr>
                <a:t>加小圆圈</a:t>
              </a:r>
              <a:endParaRPr kumimoji="1" lang="zh-CN" altLang="en-US" sz="2000">
                <a:solidFill>
                  <a:srgbClr val="000000"/>
                </a:solidFill>
                <a:latin typeface="Times New Roman" panose="02020603050405020304" pitchFamily="18" charset="0"/>
                <a:ea typeface="黑体" panose="02010609060101010101" pitchFamily="2" charset="-122"/>
              </a:endParaRPr>
            </a:p>
          </p:txBody>
        </p:sp>
        <p:sp>
          <p:nvSpPr>
            <p:cNvPr id="54" name="Line 79"/>
            <p:cNvSpPr>
              <a:spLocks noChangeShapeType="1"/>
            </p:cNvSpPr>
            <p:nvPr/>
          </p:nvSpPr>
          <p:spPr bwMode="auto">
            <a:xfrm>
              <a:off x="957" y="3193"/>
              <a:ext cx="57" cy="190"/>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55" name="Text Box 87"/>
          <p:cNvSpPr txBox="1">
            <a:spLocks noChangeArrowheads="1"/>
          </p:cNvSpPr>
          <p:nvPr/>
        </p:nvSpPr>
        <p:spPr bwMode="auto">
          <a:xfrm>
            <a:off x="7576344" y="1595761"/>
            <a:ext cx="1338828"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000" dirty="0">
                <a:solidFill>
                  <a:srgbClr val="000000"/>
                </a:solidFill>
                <a:latin typeface="黑体" panose="02010609060101010101" pitchFamily="2" charset="-122"/>
                <a:ea typeface="黑体" panose="02010609060101010101" pitchFamily="2" charset="-122"/>
              </a:rPr>
              <a:t>h </a:t>
            </a:r>
            <a:r>
              <a:rPr kumimoji="1" lang="en-US" altLang="zh-CN" sz="2000" dirty="0">
                <a:solidFill>
                  <a:srgbClr val="000000"/>
                </a:solidFill>
                <a:latin typeface="Times New Roman" panose="02020603050405020304" pitchFamily="18" charset="0"/>
                <a:ea typeface="黑体" panose="02010609060101010101" pitchFamily="2" charset="-122"/>
              </a:rPr>
              <a:t>—</a:t>
            </a:r>
            <a:r>
              <a:rPr kumimoji="1" lang="en-US" altLang="zh-CN" sz="2000" dirty="0">
                <a:solidFill>
                  <a:srgbClr val="000000"/>
                </a:solidFill>
                <a:latin typeface="黑体" panose="02010609060101010101" pitchFamily="2" charset="-122"/>
                <a:ea typeface="黑体" panose="02010609060101010101" pitchFamily="2" charset="-122"/>
              </a:rPr>
              <a:t> </a:t>
            </a:r>
            <a:r>
              <a:rPr kumimoji="1" lang="zh-CN" altLang="en-US" sz="2000" dirty="0">
                <a:solidFill>
                  <a:srgbClr val="000000"/>
                </a:solidFill>
                <a:latin typeface="黑体" panose="02010609060101010101" pitchFamily="2" charset="-122"/>
                <a:ea typeface="黑体" panose="02010609060101010101" pitchFamily="2" charset="-122"/>
              </a:rPr>
              <a:t>字高</a:t>
            </a:r>
            <a:endParaRPr kumimoji="1" lang="zh-CN" altLang="en-US" sz="2000" baseline="-250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000" dirty="0">
                <a:solidFill>
                  <a:srgbClr val="000000"/>
                </a:solidFill>
                <a:latin typeface="黑体" panose="02010609060101010101" pitchFamily="2" charset="-122"/>
                <a:ea typeface="黑体" panose="02010609060101010101" pitchFamily="2" charset="-122"/>
              </a:rPr>
              <a:t>H</a:t>
            </a:r>
            <a:r>
              <a:rPr kumimoji="1" lang="en-US" altLang="zh-CN" sz="2000" baseline="-25000" dirty="0">
                <a:solidFill>
                  <a:srgbClr val="000000"/>
                </a:solidFill>
                <a:latin typeface="黑体" panose="02010609060101010101" pitchFamily="2" charset="-122"/>
                <a:ea typeface="黑体" panose="02010609060101010101" pitchFamily="2" charset="-122"/>
              </a:rPr>
              <a:t>1 </a:t>
            </a:r>
            <a:r>
              <a:rPr kumimoji="1" lang="en-US" altLang="zh-CN" sz="2000" dirty="0">
                <a:solidFill>
                  <a:srgbClr val="000000"/>
                </a:solidFill>
                <a:latin typeface="黑体" panose="02010609060101010101" pitchFamily="2" charset="-122"/>
                <a:ea typeface="黑体" panose="02010609060101010101" pitchFamily="2" charset="-122"/>
              </a:rPr>
              <a:t>≈1.4h</a:t>
            </a:r>
            <a:endParaRPr kumimoji="1" lang="en-US" altLang="zh-CN" sz="20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000" dirty="0">
                <a:solidFill>
                  <a:srgbClr val="000000"/>
                </a:solidFill>
                <a:latin typeface="黑体" panose="02010609060101010101" pitchFamily="2" charset="-122"/>
                <a:ea typeface="黑体" panose="02010609060101010101" pitchFamily="2" charset="-122"/>
              </a:rPr>
              <a:t>H</a:t>
            </a:r>
            <a:r>
              <a:rPr kumimoji="1" lang="en-US" altLang="zh-CN" sz="2000" baseline="-25000" dirty="0">
                <a:solidFill>
                  <a:srgbClr val="000000"/>
                </a:solidFill>
                <a:latin typeface="黑体" panose="02010609060101010101" pitchFamily="2" charset="-122"/>
                <a:ea typeface="黑体" panose="02010609060101010101" pitchFamily="2" charset="-122"/>
              </a:rPr>
              <a:t>2 </a:t>
            </a:r>
            <a:r>
              <a:rPr kumimoji="1" lang="en-US" altLang="zh-CN" sz="2000" dirty="0">
                <a:solidFill>
                  <a:srgbClr val="000000"/>
                </a:solidFill>
                <a:latin typeface="黑体" panose="02010609060101010101" pitchFamily="2" charset="-122"/>
                <a:ea typeface="黑体" panose="02010609060101010101" pitchFamily="2" charset="-122"/>
              </a:rPr>
              <a:t>≈2H</a:t>
            </a:r>
            <a:r>
              <a:rPr kumimoji="1" lang="en-US" altLang="zh-CN" sz="2000" baseline="-25000" dirty="0">
                <a:solidFill>
                  <a:srgbClr val="000000"/>
                </a:solidFill>
                <a:latin typeface="黑体" panose="02010609060101010101" pitchFamily="2" charset="-122"/>
                <a:ea typeface="黑体" panose="02010609060101010101" pitchFamily="2" charset="-122"/>
              </a:rPr>
              <a:t>1</a:t>
            </a:r>
            <a:endParaRPr kumimoji="1" lang="en-US" altLang="zh-CN" sz="2000" dirty="0">
              <a:solidFill>
                <a:srgbClr val="000000"/>
              </a:solidFill>
              <a:latin typeface="黑体" panose="02010609060101010101" pitchFamily="2" charset="-122"/>
              <a:ea typeface="黑体" panose="02010609060101010101" pitchFamily="2" charset="-122"/>
            </a:endParaRPr>
          </a:p>
        </p:txBody>
      </p:sp>
      <p:grpSp>
        <p:nvGrpSpPr>
          <p:cNvPr id="56" name="组合 55"/>
          <p:cNvGrpSpPr/>
          <p:nvPr/>
        </p:nvGrpSpPr>
        <p:grpSpPr bwMode="auto">
          <a:xfrm>
            <a:off x="1278819" y="2987298"/>
            <a:ext cx="3054350" cy="2333625"/>
            <a:chOff x="572120" y="483394"/>
            <a:chExt cx="3053384" cy="2333626"/>
          </a:xfrm>
        </p:grpSpPr>
        <p:grpSp>
          <p:nvGrpSpPr>
            <p:cNvPr id="57" name="Group 55"/>
            <p:cNvGrpSpPr/>
            <p:nvPr/>
          </p:nvGrpSpPr>
          <p:grpSpPr bwMode="auto">
            <a:xfrm>
              <a:off x="572120" y="1653382"/>
              <a:ext cx="1874838" cy="1163638"/>
              <a:chOff x="3331" y="772"/>
              <a:chExt cx="1212" cy="752"/>
            </a:xfrm>
          </p:grpSpPr>
          <p:grpSp>
            <p:nvGrpSpPr>
              <p:cNvPr id="64" name="Group 56"/>
              <p:cNvGrpSpPr/>
              <p:nvPr/>
            </p:nvGrpSpPr>
            <p:grpSpPr bwMode="auto">
              <a:xfrm>
                <a:off x="3331" y="772"/>
                <a:ext cx="707" cy="752"/>
                <a:chOff x="908" y="1031"/>
                <a:chExt cx="895" cy="1032"/>
              </a:xfrm>
            </p:grpSpPr>
            <p:sp>
              <p:nvSpPr>
                <p:cNvPr id="66" name="Line 57"/>
                <p:cNvSpPr>
                  <a:spLocks noChangeShapeType="1"/>
                </p:cNvSpPr>
                <p:nvPr/>
              </p:nvSpPr>
              <p:spPr bwMode="auto">
                <a:xfrm>
                  <a:off x="908" y="1544"/>
                  <a:ext cx="299" cy="517"/>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7" name="Line 58"/>
                <p:cNvSpPr>
                  <a:spLocks noChangeShapeType="1"/>
                </p:cNvSpPr>
                <p:nvPr/>
              </p:nvSpPr>
              <p:spPr bwMode="auto">
                <a:xfrm flipV="1">
                  <a:off x="1207" y="1031"/>
                  <a:ext cx="596" cy="1032"/>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8" name="Line 59"/>
                <p:cNvSpPr>
                  <a:spLocks noChangeShapeType="1"/>
                </p:cNvSpPr>
                <p:nvPr/>
              </p:nvSpPr>
              <p:spPr bwMode="auto">
                <a:xfrm>
                  <a:off x="915" y="1551"/>
                  <a:ext cx="584"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65" name="Line 60"/>
              <p:cNvSpPr>
                <a:spLocks noChangeShapeType="1"/>
              </p:cNvSpPr>
              <p:nvPr/>
            </p:nvSpPr>
            <p:spPr bwMode="auto">
              <a:xfrm>
                <a:off x="4032" y="777"/>
                <a:ext cx="511"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58" name="Group 68"/>
            <p:cNvGrpSpPr/>
            <p:nvPr/>
          </p:nvGrpSpPr>
          <p:grpSpPr bwMode="auto">
            <a:xfrm>
              <a:off x="1707804" y="483394"/>
              <a:ext cx="1917700" cy="1185861"/>
              <a:chOff x="3879" y="275"/>
              <a:chExt cx="1144" cy="747"/>
            </a:xfrm>
          </p:grpSpPr>
          <p:sp>
            <p:nvSpPr>
              <p:cNvPr id="62" name="Line 69"/>
              <p:cNvSpPr>
                <a:spLocks noChangeShapeType="1"/>
              </p:cNvSpPr>
              <p:nvPr/>
            </p:nvSpPr>
            <p:spPr bwMode="auto">
              <a:xfrm flipV="1">
                <a:off x="4032" y="780"/>
                <a:ext cx="149" cy="24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3" name="Text Box 70"/>
              <p:cNvSpPr txBox="1">
                <a:spLocks noChangeArrowheads="1"/>
              </p:cNvSpPr>
              <p:nvPr/>
            </p:nvSpPr>
            <p:spPr bwMode="auto">
              <a:xfrm>
                <a:off x="3879" y="275"/>
                <a:ext cx="114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20000"/>
                  </a:lnSpc>
                  <a:spcBef>
                    <a:spcPct val="0"/>
                  </a:spcBef>
                  <a:spcAft>
                    <a:spcPct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2" charset="-122"/>
                  </a:rPr>
                  <a:t>用于标注有关参数和说明</a:t>
                </a:r>
                <a:endParaRPr kumimoji="1" lang="zh-CN" altLang="en-US" sz="20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2" charset="-122"/>
                </a:endParaRPr>
              </a:p>
            </p:txBody>
          </p:sp>
        </p:grpSp>
        <p:grpSp>
          <p:nvGrpSpPr>
            <p:cNvPr id="59" name="Group 81"/>
            <p:cNvGrpSpPr/>
            <p:nvPr/>
          </p:nvGrpSpPr>
          <p:grpSpPr bwMode="auto">
            <a:xfrm>
              <a:off x="627682" y="897732"/>
              <a:ext cx="1109663" cy="763588"/>
              <a:chOff x="3119" y="869"/>
              <a:chExt cx="699" cy="481"/>
            </a:xfrm>
          </p:grpSpPr>
          <p:sp>
            <p:nvSpPr>
              <p:cNvPr id="60" name="Text Box 82"/>
              <p:cNvSpPr txBox="1">
                <a:spLocks noChangeArrowheads="1"/>
              </p:cNvSpPr>
              <p:nvPr/>
            </p:nvSpPr>
            <p:spPr bwMode="auto">
              <a:xfrm>
                <a:off x="3119" y="869"/>
                <a:ext cx="5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rPr>
                  <a:t>加横线</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endParaRPr>
              </a:p>
            </p:txBody>
          </p:sp>
          <p:sp>
            <p:nvSpPr>
              <p:cNvPr id="61" name="Line 83"/>
              <p:cNvSpPr>
                <a:spLocks noChangeShapeType="1"/>
              </p:cNvSpPr>
              <p:nvPr/>
            </p:nvSpPr>
            <p:spPr bwMode="auto">
              <a:xfrm>
                <a:off x="3603" y="1108"/>
                <a:ext cx="215" cy="242"/>
              </a:xfrm>
              <a:prstGeom prst="line">
                <a:avLst/>
              </a:prstGeom>
              <a:noFill/>
              <a:ln w="9525">
                <a:solidFill>
                  <a:srgbClr val="CC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down)">
                                      <p:cBhvr>
                                        <p:cTn id="37" dur="500"/>
                                        <p:tgtEl>
                                          <p:spTgt spid="4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wipe(down)">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 calcmode="lin" valueType="num">
                                      <p:cBhvr>
                                        <p:cTn id="57" dur="500" fill="hold"/>
                                        <p:tgtEl>
                                          <p:spTgt spid="56"/>
                                        </p:tgtEl>
                                        <p:attrNameLst>
                                          <p:attrName>ppt_w</p:attrName>
                                        </p:attrNameLst>
                                      </p:cBhvr>
                                      <p:tavLst>
                                        <p:tav tm="0">
                                          <p:val>
                                            <p:fltVal val="0"/>
                                          </p:val>
                                        </p:tav>
                                        <p:tav tm="100000">
                                          <p:val>
                                            <p:strVal val="#ppt_w"/>
                                          </p:val>
                                        </p:tav>
                                      </p:tavLst>
                                    </p:anim>
                                    <p:anim calcmode="lin" valueType="num">
                                      <p:cBhvr>
                                        <p:cTn id="58" dur="500" fill="hold"/>
                                        <p:tgtEl>
                                          <p:spTgt spid="56"/>
                                        </p:tgtEl>
                                        <p:attrNameLst>
                                          <p:attrName>ppt_h</p:attrName>
                                        </p:attrNameLst>
                                      </p:cBhvr>
                                      <p:tavLst>
                                        <p:tav tm="0">
                                          <p:val>
                                            <p:fltVal val="0"/>
                                          </p:val>
                                        </p:tav>
                                        <p:tav tm="100000">
                                          <p:val>
                                            <p:strVal val="#ppt_h"/>
                                          </p:val>
                                        </p:tav>
                                      </p:tavLst>
                                    </p:anim>
                                    <p:animEffect transition="in" filter="fade">
                                      <p:cBhvr>
                                        <p:cTn id="5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5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5"/>
          <p:cNvSpPr txBox="1">
            <a:spLocks noChangeArrowheads="1"/>
          </p:cNvSpPr>
          <p:nvPr/>
        </p:nvSpPr>
        <p:spPr bwMode="auto">
          <a:xfrm>
            <a:off x="437034" y="1154453"/>
            <a:ext cx="39164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表面结构在图样上的标注</a:t>
            </a:r>
            <a:endParaRPr lang="zh-CN" altLang="en-US" dirty="0"/>
          </a:p>
        </p:txBody>
      </p:sp>
      <p:sp>
        <p:nvSpPr>
          <p:cNvPr id="3" name="Rectangle 26"/>
          <p:cNvSpPr>
            <a:spLocks noChangeArrowheads="1"/>
          </p:cNvSpPr>
          <p:nvPr/>
        </p:nvSpPr>
        <p:spPr bwMode="auto">
          <a:xfrm>
            <a:off x="629576" y="1709270"/>
            <a:ext cx="2465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dirty="0">
                <a:solidFill>
                  <a:srgbClr val="000000"/>
                </a:solidFill>
                <a:latin typeface="黑体" panose="02010609060101010101" pitchFamily="2" charset="-122"/>
                <a:ea typeface="黑体" panose="02010609060101010101" pitchFamily="2" charset="-122"/>
              </a:rPr>
              <a:t> </a:t>
            </a:r>
            <a:r>
              <a:rPr kumimoji="1" lang="zh-CN" altLang="en-US" sz="2400" b="1" dirty="0">
                <a:solidFill>
                  <a:srgbClr val="CC0000"/>
                </a:solidFill>
                <a:latin typeface="黑体" panose="02010609060101010101" pitchFamily="2" charset="-122"/>
                <a:ea typeface="黑体" panose="02010609060101010101" pitchFamily="2" charset="-122"/>
              </a:rPr>
              <a:t>基本规则</a:t>
            </a:r>
            <a:endParaRPr kumimoji="1" lang="zh-CN" altLang="en-US" sz="2400" b="1" dirty="0">
              <a:solidFill>
                <a:srgbClr val="CC0000"/>
              </a:solidFill>
              <a:latin typeface="黑体" panose="02010609060101010101" pitchFamily="2" charset="-122"/>
              <a:ea typeface="黑体" panose="02010609060101010101" pitchFamily="2" charset="-122"/>
            </a:endParaRPr>
          </a:p>
        </p:txBody>
      </p:sp>
      <p:sp>
        <p:nvSpPr>
          <p:cNvPr id="4" name="Text Box 89"/>
          <p:cNvSpPr txBox="1">
            <a:spLocks noChangeArrowheads="1"/>
          </p:cNvSpPr>
          <p:nvPr/>
        </p:nvSpPr>
        <p:spPr bwMode="auto">
          <a:xfrm>
            <a:off x="2351584" y="1677399"/>
            <a:ext cx="96424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lang="zh-CN" altLang="en-US" sz="2400" dirty="0">
                <a:solidFill>
                  <a:srgbClr val="000000"/>
                </a:solidFill>
                <a:latin typeface="黑体" panose="02010609060101010101" pitchFamily="2" charset="-122"/>
                <a:ea typeface="黑体" panose="02010609060101010101" pitchFamily="2" charset="-122"/>
              </a:rPr>
              <a:t>每一表面只标注一次，并尽量标在相应尺寸及其公差的同一视图上</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5" name="Text Box 90"/>
          <p:cNvSpPr txBox="1">
            <a:spLocks noChangeArrowheads="1"/>
          </p:cNvSpPr>
          <p:nvPr/>
        </p:nvSpPr>
        <p:spPr bwMode="auto">
          <a:xfrm>
            <a:off x="2351584" y="2132856"/>
            <a:ext cx="83334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lang="zh-CN" altLang="en-US" sz="2400" dirty="0">
                <a:solidFill>
                  <a:srgbClr val="000000"/>
                </a:solidFill>
                <a:latin typeface="黑体" panose="02010609060101010101" pitchFamily="2" charset="-122"/>
                <a:ea typeface="黑体" panose="02010609060101010101" pitchFamily="2" charset="-122"/>
              </a:rPr>
              <a:t>标注在可见轮廓线、尺寸线、尺寸界线或它们的延长线上</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6" name="Text Box 91"/>
          <p:cNvSpPr txBox="1">
            <a:spLocks noChangeArrowheads="1"/>
          </p:cNvSpPr>
          <p:nvPr/>
        </p:nvSpPr>
        <p:spPr bwMode="auto">
          <a:xfrm>
            <a:off x="2351584" y="2588313"/>
            <a:ext cx="76952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lang="zh-CN" altLang="en-US" sz="2400" dirty="0">
                <a:solidFill>
                  <a:srgbClr val="000000"/>
                </a:solidFill>
                <a:latin typeface="黑体" panose="02010609060101010101" pitchFamily="2" charset="-122"/>
                <a:ea typeface="黑体" panose="02010609060101010101" pitchFamily="2" charset="-122"/>
              </a:rPr>
              <a:t>符号应从材料外指向并接触表面</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7" name="Text Box 92"/>
          <p:cNvSpPr txBox="1">
            <a:spLocks noChangeArrowheads="1"/>
          </p:cNvSpPr>
          <p:nvPr/>
        </p:nvSpPr>
        <p:spPr bwMode="auto">
          <a:xfrm>
            <a:off x="2351584" y="3043769"/>
            <a:ext cx="86345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Wingdings" panose="05000000000000000000" pitchFamily="2" charset="2"/>
              <a:buChar char="ü"/>
            </a:pPr>
            <a:r>
              <a:rPr lang="zh-CN" altLang="en-US" sz="2400" dirty="0">
                <a:solidFill>
                  <a:srgbClr val="000000"/>
                </a:solidFill>
                <a:latin typeface="黑体" panose="02010609060101010101" pitchFamily="2" charset="-122"/>
                <a:ea typeface="黑体" panose="02010609060101010101" pitchFamily="2" charset="-122"/>
              </a:rPr>
              <a:t>注写和读取方向与尺寸的注写和读取方向一致</a:t>
            </a:r>
            <a:endParaRPr lang="zh-CN" altLang="en-US" sz="2400" dirty="0">
              <a:solidFill>
                <a:srgbClr val="000000"/>
              </a:solidFill>
              <a:latin typeface="黑体" panose="02010609060101010101" pitchFamily="2" charset="-122"/>
              <a:ea typeface="黑体" panose="02010609060101010101" pitchFamily="2" charset="-122"/>
            </a:endParaRPr>
          </a:p>
        </p:txBody>
      </p:sp>
      <p:grpSp>
        <p:nvGrpSpPr>
          <p:cNvPr id="8" name="Group 106"/>
          <p:cNvGrpSpPr/>
          <p:nvPr/>
        </p:nvGrpSpPr>
        <p:grpSpPr bwMode="auto">
          <a:xfrm>
            <a:off x="4433501" y="3849062"/>
            <a:ext cx="4502150" cy="2392363"/>
            <a:chOff x="1695" y="1854"/>
            <a:chExt cx="2836" cy="1507"/>
          </a:xfrm>
        </p:grpSpPr>
        <p:grpSp>
          <p:nvGrpSpPr>
            <p:cNvPr id="9" name="Group 70"/>
            <p:cNvGrpSpPr/>
            <p:nvPr/>
          </p:nvGrpSpPr>
          <p:grpSpPr bwMode="auto">
            <a:xfrm>
              <a:off x="2020" y="2366"/>
              <a:ext cx="1431" cy="662"/>
              <a:chOff x="1374" y="1221"/>
              <a:chExt cx="1431" cy="662"/>
            </a:xfrm>
          </p:grpSpPr>
          <p:sp>
            <p:nvSpPr>
              <p:cNvPr id="71" name="Line 12"/>
              <p:cNvSpPr>
                <a:spLocks noChangeShapeType="1"/>
              </p:cNvSpPr>
              <p:nvPr/>
            </p:nvSpPr>
            <p:spPr bwMode="auto">
              <a:xfrm flipH="1" flipV="1">
                <a:off x="1869" y="1228"/>
                <a:ext cx="226" cy="22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2" name="Line 13"/>
              <p:cNvSpPr>
                <a:spLocks noChangeShapeType="1"/>
              </p:cNvSpPr>
              <p:nvPr/>
            </p:nvSpPr>
            <p:spPr bwMode="auto">
              <a:xfrm flipV="1">
                <a:off x="2086" y="1232"/>
                <a:ext cx="229" cy="22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3" name="Line 14"/>
              <p:cNvSpPr>
                <a:spLocks noChangeShapeType="1"/>
              </p:cNvSpPr>
              <p:nvPr/>
            </p:nvSpPr>
            <p:spPr bwMode="auto">
              <a:xfrm flipH="1">
                <a:off x="1871" y="1639"/>
                <a:ext cx="234" cy="23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4" name="Line 15"/>
              <p:cNvSpPr>
                <a:spLocks noChangeShapeType="1"/>
              </p:cNvSpPr>
              <p:nvPr/>
            </p:nvSpPr>
            <p:spPr bwMode="auto">
              <a:xfrm>
                <a:off x="2088" y="1641"/>
                <a:ext cx="234" cy="23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5" name="Line 16"/>
              <p:cNvSpPr>
                <a:spLocks noChangeShapeType="1"/>
              </p:cNvSpPr>
              <p:nvPr/>
            </p:nvSpPr>
            <p:spPr bwMode="auto">
              <a:xfrm flipH="1">
                <a:off x="1383" y="1230"/>
                <a:ext cx="495"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6" name="Line 17"/>
              <p:cNvSpPr>
                <a:spLocks noChangeShapeType="1"/>
              </p:cNvSpPr>
              <p:nvPr/>
            </p:nvSpPr>
            <p:spPr bwMode="auto">
              <a:xfrm>
                <a:off x="1383" y="1222"/>
                <a:ext cx="0" cy="65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7" name="Line 18"/>
              <p:cNvSpPr>
                <a:spLocks noChangeShapeType="1"/>
              </p:cNvSpPr>
              <p:nvPr/>
            </p:nvSpPr>
            <p:spPr bwMode="auto">
              <a:xfrm>
                <a:off x="1374" y="1870"/>
                <a:ext cx="50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8" name="Line 19"/>
              <p:cNvSpPr>
                <a:spLocks noChangeShapeType="1"/>
              </p:cNvSpPr>
              <p:nvPr/>
            </p:nvSpPr>
            <p:spPr bwMode="auto">
              <a:xfrm>
                <a:off x="2310" y="1872"/>
                <a:ext cx="495"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9" name="Line 20"/>
              <p:cNvSpPr>
                <a:spLocks noChangeShapeType="1"/>
              </p:cNvSpPr>
              <p:nvPr/>
            </p:nvSpPr>
            <p:spPr bwMode="auto">
              <a:xfrm flipV="1">
                <a:off x="2805" y="1221"/>
                <a:ext cx="0" cy="66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0" name="Line 21"/>
              <p:cNvSpPr>
                <a:spLocks noChangeShapeType="1"/>
              </p:cNvSpPr>
              <p:nvPr/>
            </p:nvSpPr>
            <p:spPr bwMode="auto">
              <a:xfrm flipH="1">
                <a:off x="2305" y="1232"/>
                <a:ext cx="50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0" name="Group 32"/>
            <p:cNvGrpSpPr/>
            <p:nvPr/>
          </p:nvGrpSpPr>
          <p:grpSpPr bwMode="auto">
            <a:xfrm>
              <a:off x="2477" y="1854"/>
              <a:ext cx="813" cy="322"/>
              <a:chOff x="3202" y="1543"/>
              <a:chExt cx="813" cy="322"/>
            </a:xfrm>
          </p:grpSpPr>
          <p:grpSp>
            <p:nvGrpSpPr>
              <p:cNvPr id="65" name="Group 30"/>
              <p:cNvGrpSpPr/>
              <p:nvPr/>
            </p:nvGrpSpPr>
            <p:grpSpPr bwMode="auto">
              <a:xfrm>
                <a:off x="3202" y="1589"/>
                <a:ext cx="675" cy="276"/>
                <a:chOff x="3208" y="1599"/>
                <a:chExt cx="616" cy="252"/>
              </a:xfrm>
            </p:grpSpPr>
            <p:sp>
              <p:nvSpPr>
                <p:cNvPr id="67" name="Line 24"/>
                <p:cNvSpPr>
                  <a:spLocks noChangeShapeType="1"/>
                </p:cNvSpPr>
                <p:nvPr/>
              </p:nvSpPr>
              <p:spPr bwMode="auto">
                <a:xfrm>
                  <a:off x="3209" y="1731"/>
                  <a:ext cx="69" cy="119"/>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8" name="Line 25"/>
                <p:cNvSpPr>
                  <a:spLocks noChangeShapeType="1"/>
                </p:cNvSpPr>
                <p:nvPr/>
              </p:nvSpPr>
              <p:spPr bwMode="auto">
                <a:xfrm flipV="1">
                  <a:off x="3280" y="1601"/>
                  <a:ext cx="144" cy="25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9" name="Line 26"/>
                <p:cNvSpPr>
                  <a:spLocks noChangeShapeType="1"/>
                </p:cNvSpPr>
                <p:nvPr/>
              </p:nvSpPr>
              <p:spPr bwMode="auto">
                <a:xfrm>
                  <a:off x="3208" y="1728"/>
                  <a:ext cx="143"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0" name="Line 27"/>
                <p:cNvSpPr>
                  <a:spLocks noChangeShapeType="1"/>
                </p:cNvSpPr>
                <p:nvPr/>
              </p:nvSpPr>
              <p:spPr bwMode="auto">
                <a:xfrm flipV="1">
                  <a:off x="3424" y="1599"/>
                  <a:ext cx="400"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66" name="Text Box 31"/>
              <p:cNvSpPr txBox="1">
                <a:spLocks noChangeArrowheads="1"/>
              </p:cNvSpPr>
              <p:nvPr/>
            </p:nvSpPr>
            <p:spPr bwMode="auto">
              <a:xfrm>
                <a:off x="3361" y="1543"/>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Rz 12.5</a:t>
                </a:r>
                <a:endPar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11" name="Group 33"/>
            <p:cNvGrpSpPr/>
            <p:nvPr/>
          </p:nvGrpSpPr>
          <p:grpSpPr bwMode="auto">
            <a:xfrm>
              <a:off x="2078" y="3035"/>
              <a:ext cx="815" cy="322"/>
              <a:chOff x="3200" y="1543"/>
              <a:chExt cx="815" cy="322"/>
            </a:xfrm>
          </p:grpSpPr>
          <p:grpSp>
            <p:nvGrpSpPr>
              <p:cNvPr id="59" name="Group 34"/>
              <p:cNvGrpSpPr/>
              <p:nvPr/>
            </p:nvGrpSpPr>
            <p:grpSpPr bwMode="auto">
              <a:xfrm>
                <a:off x="3200" y="1589"/>
                <a:ext cx="633" cy="276"/>
                <a:chOff x="3208" y="1599"/>
                <a:chExt cx="578" cy="252"/>
              </a:xfrm>
            </p:grpSpPr>
            <p:sp>
              <p:nvSpPr>
                <p:cNvPr id="61" name="Line 35"/>
                <p:cNvSpPr>
                  <a:spLocks noChangeShapeType="1"/>
                </p:cNvSpPr>
                <p:nvPr/>
              </p:nvSpPr>
              <p:spPr bwMode="auto">
                <a:xfrm>
                  <a:off x="3209" y="1731"/>
                  <a:ext cx="69" cy="119"/>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2" name="Line 36"/>
                <p:cNvSpPr>
                  <a:spLocks noChangeShapeType="1"/>
                </p:cNvSpPr>
                <p:nvPr/>
              </p:nvSpPr>
              <p:spPr bwMode="auto">
                <a:xfrm flipV="1">
                  <a:off x="3280" y="1601"/>
                  <a:ext cx="144" cy="25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3" name="Line 37"/>
                <p:cNvSpPr>
                  <a:spLocks noChangeShapeType="1"/>
                </p:cNvSpPr>
                <p:nvPr/>
              </p:nvSpPr>
              <p:spPr bwMode="auto">
                <a:xfrm>
                  <a:off x="3208" y="1728"/>
                  <a:ext cx="143"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4" name="Line 38"/>
                <p:cNvSpPr>
                  <a:spLocks noChangeShapeType="1"/>
                </p:cNvSpPr>
                <p:nvPr/>
              </p:nvSpPr>
              <p:spPr bwMode="auto">
                <a:xfrm>
                  <a:off x="3424" y="1599"/>
                  <a:ext cx="362" cy="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60" name="Text Box 39"/>
              <p:cNvSpPr txBox="1">
                <a:spLocks noChangeArrowheads="1"/>
              </p:cNvSpPr>
              <p:nvPr/>
            </p:nvSpPr>
            <p:spPr bwMode="auto">
              <a:xfrm>
                <a:off x="3361" y="1543"/>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Rz 12.5</a:t>
                </a:r>
                <a:endPar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12" name="Group 48"/>
            <p:cNvGrpSpPr/>
            <p:nvPr/>
          </p:nvGrpSpPr>
          <p:grpSpPr bwMode="auto">
            <a:xfrm>
              <a:off x="3718" y="3034"/>
              <a:ext cx="813" cy="322"/>
              <a:chOff x="2790" y="1316"/>
              <a:chExt cx="813" cy="322"/>
            </a:xfrm>
          </p:grpSpPr>
          <p:grpSp>
            <p:nvGrpSpPr>
              <p:cNvPr id="53" name="Group 47"/>
              <p:cNvGrpSpPr/>
              <p:nvPr/>
            </p:nvGrpSpPr>
            <p:grpSpPr bwMode="auto">
              <a:xfrm>
                <a:off x="2790" y="1362"/>
                <a:ext cx="613" cy="276"/>
                <a:chOff x="2790" y="1362"/>
                <a:chExt cx="613" cy="276"/>
              </a:xfrm>
            </p:grpSpPr>
            <p:sp>
              <p:nvSpPr>
                <p:cNvPr id="55" name="Line 42"/>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6" name="Line 43"/>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7" name="Line 44"/>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8" name="Line 45"/>
                <p:cNvSpPr>
                  <a:spLocks noChangeShapeType="1"/>
                </p:cNvSpPr>
                <p:nvPr/>
              </p:nvSpPr>
              <p:spPr bwMode="auto">
                <a:xfrm>
                  <a:off x="3027" y="1362"/>
                  <a:ext cx="376"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54" name="Text Box 46"/>
              <p:cNvSpPr txBox="1">
                <a:spLocks noChangeArrowheads="1"/>
              </p:cNvSpPr>
              <p:nvPr/>
            </p:nvSpPr>
            <p:spPr bwMode="auto">
              <a:xfrm>
                <a:off x="2949" y="1316"/>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Rz 6.3</a:t>
                </a:r>
                <a:endPar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13" name="Group 49"/>
            <p:cNvGrpSpPr/>
            <p:nvPr/>
          </p:nvGrpSpPr>
          <p:grpSpPr bwMode="auto">
            <a:xfrm>
              <a:off x="3186" y="2035"/>
              <a:ext cx="832" cy="330"/>
              <a:chOff x="2790" y="1308"/>
              <a:chExt cx="832" cy="330"/>
            </a:xfrm>
          </p:grpSpPr>
          <p:grpSp>
            <p:nvGrpSpPr>
              <p:cNvPr id="47" name="Group 50"/>
              <p:cNvGrpSpPr/>
              <p:nvPr/>
            </p:nvGrpSpPr>
            <p:grpSpPr bwMode="auto">
              <a:xfrm>
                <a:off x="2790" y="1362"/>
                <a:ext cx="609" cy="276"/>
                <a:chOff x="2790" y="1362"/>
                <a:chExt cx="609" cy="276"/>
              </a:xfrm>
            </p:grpSpPr>
            <p:sp>
              <p:nvSpPr>
                <p:cNvPr id="49" name="Line 51"/>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0" name="Line 52"/>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1" name="Line 53"/>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2" name="Line 54"/>
                <p:cNvSpPr>
                  <a:spLocks noChangeShapeType="1"/>
                </p:cNvSpPr>
                <p:nvPr/>
              </p:nvSpPr>
              <p:spPr bwMode="auto">
                <a:xfrm>
                  <a:off x="3027" y="1362"/>
                  <a:ext cx="372"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48" name="Text Box 55"/>
              <p:cNvSpPr txBox="1">
                <a:spLocks noChangeArrowheads="1"/>
              </p:cNvSpPr>
              <p:nvPr/>
            </p:nvSpPr>
            <p:spPr bwMode="auto">
              <a:xfrm>
                <a:off x="2968" y="1308"/>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Rz 6.3</a:t>
                </a:r>
                <a:endPar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14" name="Group 56"/>
            <p:cNvGrpSpPr/>
            <p:nvPr/>
          </p:nvGrpSpPr>
          <p:grpSpPr bwMode="auto">
            <a:xfrm>
              <a:off x="3655" y="2341"/>
              <a:ext cx="813" cy="322"/>
              <a:chOff x="2790" y="1316"/>
              <a:chExt cx="813" cy="322"/>
            </a:xfrm>
          </p:grpSpPr>
          <p:grpSp>
            <p:nvGrpSpPr>
              <p:cNvPr id="41" name="Group 57"/>
              <p:cNvGrpSpPr/>
              <p:nvPr/>
            </p:nvGrpSpPr>
            <p:grpSpPr bwMode="auto">
              <a:xfrm>
                <a:off x="2790" y="1362"/>
                <a:ext cx="631" cy="276"/>
                <a:chOff x="2790" y="1362"/>
                <a:chExt cx="631" cy="276"/>
              </a:xfrm>
            </p:grpSpPr>
            <p:sp>
              <p:nvSpPr>
                <p:cNvPr id="43" name="Line 58"/>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Line 59"/>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Line 60"/>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6" name="Line 61"/>
                <p:cNvSpPr>
                  <a:spLocks noChangeShapeType="1"/>
                </p:cNvSpPr>
                <p:nvPr/>
              </p:nvSpPr>
              <p:spPr bwMode="auto">
                <a:xfrm>
                  <a:off x="3027" y="1362"/>
                  <a:ext cx="394" cy="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42" name="Text Box 62"/>
              <p:cNvSpPr txBox="1">
                <a:spLocks noChangeArrowheads="1"/>
              </p:cNvSpPr>
              <p:nvPr/>
            </p:nvSpPr>
            <p:spPr bwMode="auto">
              <a:xfrm>
                <a:off x="2949" y="1316"/>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Rz 1.6</a:t>
                </a:r>
                <a:endPar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15" name="Group 63"/>
            <p:cNvGrpSpPr/>
            <p:nvPr/>
          </p:nvGrpSpPr>
          <p:grpSpPr bwMode="auto">
            <a:xfrm rot="-5400000">
              <a:off x="1446" y="2272"/>
              <a:ext cx="820" cy="321"/>
              <a:chOff x="2790" y="1317"/>
              <a:chExt cx="820" cy="321"/>
            </a:xfrm>
          </p:grpSpPr>
          <p:grpSp>
            <p:nvGrpSpPr>
              <p:cNvPr id="34" name="Group 64"/>
              <p:cNvGrpSpPr/>
              <p:nvPr/>
            </p:nvGrpSpPr>
            <p:grpSpPr bwMode="auto">
              <a:xfrm>
                <a:off x="2790" y="1362"/>
                <a:ext cx="614" cy="276"/>
                <a:chOff x="2790" y="1362"/>
                <a:chExt cx="614" cy="276"/>
              </a:xfrm>
            </p:grpSpPr>
            <p:sp>
              <p:nvSpPr>
                <p:cNvPr id="36" name="Line 65"/>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8" name="Line 66"/>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Line 67"/>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Line 68"/>
                <p:cNvSpPr>
                  <a:spLocks noChangeShapeType="1"/>
                </p:cNvSpPr>
                <p:nvPr/>
              </p:nvSpPr>
              <p:spPr bwMode="auto">
                <a:xfrm>
                  <a:off x="3027" y="1362"/>
                  <a:ext cx="37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35" name="Text Box 69"/>
              <p:cNvSpPr txBox="1">
                <a:spLocks noChangeArrowheads="1"/>
              </p:cNvSpPr>
              <p:nvPr/>
            </p:nvSpPr>
            <p:spPr bwMode="auto">
              <a:xfrm>
                <a:off x="2956" y="1317"/>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Rz 1.6</a:t>
                </a:r>
                <a:endParaRPr kumimoji="0" lang="en-US" altLang="zh-CN" sz="1800" b="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17" name="Group 75"/>
            <p:cNvGrpSpPr/>
            <p:nvPr/>
          </p:nvGrpSpPr>
          <p:grpSpPr bwMode="auto">
            <a:xfrm>
              <a:off x="2440" y="2180"/>
              <a:ext cx="446" cy="276"/>
              <a:chOff x="1794" y="1035"/>
              <a:chExt cx="446" cy="276"/>
            </a:xfrm>
          </p:grpSpPr>
          <p:sp>
            <p:nvSpPr>
              <p:cNvPr id="30" name="Line 71"/>
              <p:cNvSpPr>
                <a:spLocks noChangeShapeType="1"/>
              </p:cNvSpPr>
              <p:nvPr/>
            </p:nvSpPr>
            <p:spPr bwMode="auto">
              <a:xfrm flipH="1">
                <a:off x="1944" y="1164"/>
                <a:ext cx="147" cy="147"/>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Line 72"/>
              <p:cNvSpPr>
                <a:spLocks noChangeShapeType="1"/>
              </p:cNvSpPr>
              <p:nvPr/>
            </p:nvSpPr>
            <p:spPr bwMode="auto">
              <a:xfrm>
                <a:off x="2093" y="1160"/>
                <a:ext cx="147" cy="147"/>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Line 73"/>
              <p:cNvSpPr>
                <a:spLocks noChangeShapeType="1"/>
              </p:cNvSpPr>
              <p:nvPr/>
            </p:nvSpPr>
            <p:spPr bwMode="auto">
              <a:xfrm flipV="1">
                <a:off x="2094" y="1038"/>
                <a:ext cx="0" cy="123"/>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Line 74"/>
              <p:cNvSpPr>
                <a:spLocks noChangeShapeType="1"/>
              </p:cNvSpPr>
              <p:nvPr/>
            </p:nvSpPr>
            <p:spPr bwMode="auto">
              <a:xfrm flipH="1">
                <a:off x="1794" y="1035"/>
                <a:ext cx="300"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8" name="Group 78"/>
            <p:cNvGrpSpPr/>
            <p:nvPr/>
          </p:nvGrpSpPr>
          <p:grpSpPr bwMode="auto">
            <a:xfrm>
              <a:off x="3454" y="2667"/>
              <a:ext cx="450" cy="138"/>
              <a:chOff x="2808" y="1452"/>
              <a:chExt cx="450" cy="138"/>
            </a:xfrm>
          </p:grpSpPr>
          <p:sp>
            <p:nvSpPr>
              <p:cNvPr id="28" name="Line 76"/>
              <p:cNvSpPr>
                <a:spLocks noChangeShapeType="1"/>
              </p:cNvSpPr>
              <p:nvPr/>
            </p:nvSpPr>
            <p:spPr bwMode="auto">
              <a:xfrm flipH="1">
                <a:off x="2808" y="1452"/>
                <a:ext cx="138" cy="138"/>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9" name="Line 77"/>
              <p:cNvSpPr>
                <a:spLocks noChangeShapeType="1"/>
              </p:cNvSpPr>
              <p:nvPr/>
            </p:nvSpPr>
            <p:spPr bwMode="auto">
              <a:xfrm>
                <a:off x="2946" y="1452"/>
                <a:ext cx="312"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9" name="Group 84"/>
            <p:cNvGrpSpPr/>
            <p:nvPr/>
          </p:nvGrpSpPr>
          <p:grpSpPr bwMode="auto">
            <a:xfrm>
              <a:off x="2064" y="2944"/>
              <a:ext cx="827" cy="417"/>
              <a:chOff x="1418" y="1799"/>
              <a:chExt cx="827" cy="417"/>
            </a:xfrm>
          </p:grpSpPr>
          <p:sp>
            <p:nvSpPr>
              <p:cNvPr id="24" name="Line 80"/>
              <p:cNvSpPr>
                <a:spLocks noChangeShapeType="1"/>
              </p:cNvSpPr>
              <p:nvPr/>
            </p:nvSpPr>
            <p:spPr bwMode="auto">
              <a:xfrm flipH="1" flipV="1">
                <a:off x="1949" y="1799"/>
                <a:ext cx="147" cy="147"/>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5" name="Line 81"/>
              <p:cNvSpPr>
                <a:spLocks noChangeShapeType="1"/>
              </p:cNvSpPr>
              <p:nvPr/>
            </p:nvSpPr>
            <p:spPr bwMode="auto">
              <a:xfrm flipV="1">
                <a:off x="2098" y="1803"/>
                <a:ext cx="147" cy="147"/>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6" name="Line 82"/>
              <p:cNvSpPr>
                <a:spLocks noChangeShapeType="1"/>
              </p:cNvSpPr>
              <p:nvPr/>
            </p:nvSpPr>
            <p:spPr bwMode="auto">
              <a:xfrm>
                <a:off x="2099" y="1949"/>
                <a:ext cx="0" cy="267"/>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Line 83"/>
              <p:cNvSpPr>
                <a:spLocks noChangeShapeType="1"/>
              </p:cNvSpPr>
              <p:nvPr/>
            </p:nvSpPr>
            <p:spPr bwMode="auto">
              <a:xfrm flipH="1" flipV="1">
                <a:off x="1418" y="2216"/>
                <a:ext cx="681"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0" name="Line 85"/>
            <p:cNvSpPr>
              <a:spLocks noChangeShapeType="1"/>
            </p:cNvSpPr>
            <p:nvPr/>
          </p:nvSpPr>
          <p:spPr bwMode="auto">
            <a:xfrm>
              <a:off x="3451" y="3014"/>
              <a:ext cx="199"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21" name="Group 88"/>
            <p:cNvGrpSpPr/>
            <p:nvPr/>
          </p:nvGrpSpPr>
          <p:grpSpPr bwMode="auto">
            <a:xfrm>
              <a:off x="3512" y="3014"/>
              <a:ext cx="683" cy="342"/>
              <a:chOff x="2866" y="1872"/>
              <a:chExt cx="683" cy="342"/>
            </a:xfrm>
          </p:grpSpPr>
          <p:sp>
            <p:nvSpPr>
              <p:cNvPr id="22" name="Line 86"/>
              <p:cNvSpPr>
                <a:spLocks noChangeShapeType="1"/>
              </p:cNvSpPr>
              <p:nvPr/>
            </p:nvSpPr>
            <p:spPr bwMode="auto">
              <a:xfrm flipH="1" flipV="1">
                <a:off x="2866" y="1872"/>
                <a:ext cx="196" cy="339"/>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Line 87"/>
              <p:cNvSpPr>
                <a:spLocks noChangeShapeType="1"/>
              </p:cNvSpPr>
              <p:nvPr/>
            </p:nvSpPr>
            <p:spPr bwMode="auto">
              <a:xfrm>
                <a:off x="3063" y="2214"/>
                <a:ext cx="486"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sp>
        <p:nvSpPr>
          <p:cNvPr id="81" name="Text Box 96"/>
          <p:cNvSpPr txBox="1">
            <a:spLocks noChangeArrowheads="1"/>
          </p:cNvSpPr>
          <p:nvPr/>
        </p:nvSpPr>
        <p:spPr bwMode="auto">
          <a:xfrm>
            <a:off x="1786359" y="3773477"/>
            <a:ext cx="2492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a:solidFill>
                  <a:srgbClr val="000000"/>
                </a:solidFill>
                <a:latin typeface="黑体" panose="02010609060101010101" pitchFamily="2" charset="-122"/>
                <a:ea typeface="黑体" panose="02010609060101010101" pitchFamily="2" charset="-122"/>
              </a:rPr>
              <a:t>标注在轮廓线上</a:t>
            </a:r>
            <a:r>
              <a:rPr lang="en-US" altLang="zh-CN" sz="2400">
                <a:solidFill>
                  <a:srgbClr val="000000"/>
                </a:solidFill>
                <a:latin typeface="黑体" panose="02010609060101010101" pitchFamily="2" charset="-122"/>
                <a:ea typeface="黑体" panose="02010609060101010101" pitchFamily="2" charset="-122"/>
              </a:rPr>
              <a:t>:</a:t>
            </a:r>
            <a:endParaRPr lang="zh-CN" altLang="en-US" sz="2400">
              <a:solidFill>
                <a:srgbClr val="000000"/>
              </a:solidFill>
              <a:latin typeface="黑体" panose="02010609060101010101" pitchFamily="2" charset="-122"/>
              <a:ea typeface="黑体" panose="02010609060101010101" pitchFamily="2" charset="-122"/>
            </a:endParaRPr>
          </a:p>
        </p:txBody>
      </p:sp>
      <p:grpSp>
        <p:nvGrpSpPr>
          <p:cNvPr id="82" name="Group 99"/>
          <p:cNvGrpSpPr/>
          <p:nvPr/>
        </p:nvGrpSpPr>
        <p:grpSpPr bwMode="auto">
          <a:xfrm>
            <a:off x="2018913" y="5255587"/>
            <a:ext cx="2878138" cy="1031875"/>
            <a:chOff x="167" y="2762"/>
            <a:chExt cx="1813" cy="650"/>
          </a:xfrm>
        </p:grpSpPr>
        <p:sp>
          <p:nvSpPr>
            <p:cNvPr id="83" name="Text Box 97"/>
            <p:cNvSpPr txBox="1">
              <a:spLocks noChangeArrowheads="1"/>
            </p:cNvSpPr>
            <p:nvPr/>
          </p:nvSpPr>
          <p:spPr bwMode="auto">
            <a:xfrm>
              <a:off x="167" y="2966"/>
              <a:ext cx="1813"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2000" dirty="0">
                  <a:solidFill>
                    <a:srgbClr val="000000"/>
                  </a:solidFill>
                  <a:latin typeface="黑体" panose="02010609060101010101" pitchFamily="2" charset="-122"/>
                  <a:ea typeface="黑体" panose="02010609060101010101" pitchFamily="2" charset="-122"/>
                </a:rPr>
                <a:t>  </a:t>
              </a:r>
              <a:r>
                <a:rPr lang="zh-CN" altLang="en-US" sz="2000" dirty="0">
                  <a:solidFill>
                    <a:srgbClr val="000000"/>
                  </a:solidFill>
                  <a:latin typeface="黑体" panose="02010609060101010101" pitchFamily="2" charset="-122"/>
                  <a:ea typeface="黑体" panose="02010609060101010101" pitchFamily="2" charset="-122"/>
                </a:rPr>
                <a:t>注写和读取方向与尺寸注写和读取方向相同</a:t>
              </a:r>
              <a:endParaRPr lang="zh-CN" altLang="en-US" sz="2000" dirty="0">
                <a:solidFill>
                  <a:srgbClr val="000000"/>
                </a:solidFill>
                <a:latin typeface="黑体" panose="02010609060101010101" pitchFamily="2" charset="-122"/>
                <a:ea typeface="黑体" panose="02010609060101010101" pitchFamily="2" charset="-122"/>
              </a:endParaRPr>
            </a:p>
          </p:txBody>
        </p:sp>
        <p:sp>
          <p:nvSpPr>
            <p:cNvPr id="84" name="Line 98"/>
            <p:cNvSpPr>
              <a:spLocks noChangeShapeType="1"/>
            </p:cNvSpPr>
            <p:nvPr/>
          </p:nvSpPr>
          <p:spPr bwMode="auto">
            <a:xfrm flipH="1">
              <a:off x="1555" y="2762"/>
              <a:ext cx="263" cy="243"/>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000">
                <a:solidFill>
                  <a:srgbClr val="000000"/>
                </a:solidFill>
                <a:ea typeface="宋体" panose="02010600030101010101" pitchFamily="2" charset="-122"/>
              </a:endParaRPr>
            </a:p>
          </p:txBody>
        </p:sp>
      </p:grpSp>
      <p:grpSp>
        <p:nvGrpSpPr>
          <p:cNvPr id="85" name="Group 102"/>
          <p:cNvGrpSpPr/>
          <p:nvPr/>
        </p:nvGrpSpPr>
        <p:grpSpPr bwMode="auto">
          <a:xfrm>
            <a:off x="4816088" y="4533275"/>
            <a:ext cx="2239963" cy="889000"/>
            <a:chOff x="1936" y="2285"/>
            <a:chExt cx="1411" cy="560"/>
          </a:xfrm>
        </p:grpSpPr>
        <p:sp>
          <p:nvSpPr>
            <p:cNvPr id="86" name="Oval 100"/>
            <p:cNvSpPr>
              <a:spLocks noChangeArrowheads="1"/>
            </p:cNvSpPr>
            <p:nvPr/>
          </p:nvSpPr>
          <p:spPr bwMode="auto">
            <a:xfrm>
              <a:off x="1936" y="2671"/>
              <a:ext cx="174" cy="174"/>
            </a:xfrm>
            <a:prstGeom prst="ellipse">
              <a:avLst/>
            </a:prstGeom>
            <a:noFill/>
            <a:ln w="9525">
              <a:solidFill>
                <a:srgbClr val="A5002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7" name="Oval 101"/>
            <p:cNvSpPr>
              <a:spLocks noChangeArrowheads="1"/>
            </p:cNvSpPr>
            <p:nvPr/>
          </p:nvSpPr>
          <p:spPr bwMode="auto">
            <a:xfrm>
              <a:off x="3173" y="2285"/>
              <a:ext cx="174" cy="174"/>
            </a:xfrm>
            <a:prstGeom prst="ellipse">
              <a:avLst/>
            </a:prstGeom>
            <a:noFill/>
            <a:ln w="9525">
              <a:solidFill>
                <a:srgbClr val="A5002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88" name="Group 107"/>
          <p:cNvGrpSpPr/>
          <p:nvPr/>
        </p:nvGrpSpPr>
        <p:grpSpPr bwMode="auto">
          <a:xfrm>
            <a:off x="7071926" y="3922085"/>
            <a:ext cx="3068637" cy="708025"/>
            <a:chOff x="3357" y="1900"/>
            <a:chExt cx="1933" cy="446"/>
          </a:xfrm>
        </p:grpSpPr>
        <p:sp>
          <p:nvSpPr>
            <p:cNvPr id="89" name="Text Box 104"/>
            <p:cNvSpPr txBox="1">
              <a:spLocks noChangeArrowheads="1"/>
            </p:cNvSpPr>
            <p:nvPr/>
          </p:nvSpPr>
          <p:spPr bwMode="auto">
            <a:xfrm>
              <a:off x="3882" y="1900"/>
              <a:ext cx="14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符号从材料外</a:t>
              </a:r>
              <a:endParaRPr lang="zh-CN" altLang="en-US" sz="200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指向并接触表面</a:t>
              </a:r>
              <a:endParaRPr lang="zh-CN" altLang="en-US" sz="2000">
                <a:solidFill>
                  <a:srgbClr val="000000"/>
                </a:solidFill>
                <a:latin typeface="黑体" panose="02010609060101010101" pitchFamily="2" charset="-122"/>
                <a:ea typeface="黑体" panose="02010609060101010101" pitchFamily="2" charset="-122"/>
              </a:endParaRPr>
            </a:p>
          </p:txBody>
        </p:sp>
        <p:sp>
          <p:nvSpPr>
            <p:cNvPr id="90" name="Line 105"/>
            <p:cNvSpPr>
              <a:spLocks noChangeShapeType="1"/>
            </p:cNvSpPr>
            <p:nvPr/>
          </p:nvSpPr>
          <p:spPr bwMode="auto">
            <a:xfrm flipV="1">
              <a:off x="3357" y="2194"/>
              <a:ext cx="553" cy="143"/>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000">
                <a:solidFill>
                  <a:srgbClr val="000000"/>
                </a:solidFill>
                <a:ea typeface="宋体" panose="02010600030101010101" pitchFamily="2" charset="-122"/>
              </a:endParaRPr>
            </a:p>
          </p:txBody>
        </p:sp>
      </p:grpSp>
      <p:grpSp>
        <p:nvGrpSpPr>
          <p:cNvPr id="91" name="Group 111"/>
          <p:cNvGrpSpPr/>
          <p:nvPr/>
        </p:nvGrpSpPr>
        <p:grpSpPr bwMode="auto">
          <a:xfrm>
            <a:off x="8191113" y="5187325"/>
            <a:ext cx="2493963" cy="565150"/>
            <a:chOff x="3804" y="2694"/>
            <a:chExt cx="1571" cy="356"/>
          </a:xfrm>
        </p:grpSpPr>
        <p:sp>
          <p:nvSpPr>
            <p:cNvPr id="92" name="Text Box 109"/>
            <p:cNvSpPr txBox="1">
              <a:spLocks noChangeArrowheads="1"/>
            </p:cNvSpPr>
            <p:nvPr/>
          </p:nvSpPr>
          <p:spPr bwMode="auto">
            <a:xfrm>
              <a:off x="3804" y="2694"/>
              <a:ext cx="157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000">
                  <a:solidFill>
                    <a:srgbClr val="000000"/>
                  </a:solidFill>
                  <a:latin typeface="黑体" panose="02010609060101010101" pitchFamily="2" charset="-122"/>
                  <a:ea typeface="黑体" panose="02010609060101010101" pitchFamily="2" charset="-122"/>
                </a:rPr>
                <a:t>标在轮廓线延长线上</a:t>
              </a:r>
              <a:endParaRPr lang="zh-CN" altLang="en-US" sz="2000">
                <a:solidFill>
                  <a:srgbClr val="000000"/>
                </a:solidFill>
                <a:latin typeface="黑体" panose="02010609060101010101" pitchFamily="2" charset="-122"/>
                <a:ea typeface="黑体" panose="02010609060101010101" pitchFamily="2" charset="-122"/>
              </a:endParaRPr>
            </a:p>
          </p:txBody>
        </p:sp>
        <p:sp>
          <p:nvSpPr>
            <p:cNvPr id="93" name="Line 110"/>
            <p:cNvSpPr>
              <a:spLocks noChangeShapeType="1"/>
            </p:cNvSpPr>
            <p:nvPr/>
          </p:nvSpPr>
          <p:spPr bwMode="auto">
            <a:xfrm flipV="1">
              <a:off x="4126" y="2918"/>
              <a:ext cx="98" cy="132"/>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000">
                <a:solidFill>
                  <a:srgbClr val="000000"/>
                </a:solidFill>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500"/>
                                        <p:tgtEl>
                                          <p:spTgt spid="81"/>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85"/>
                                        </p:tgtEl>
                                        <p:attrNameLst>
                                          <p:attrName>style.visibility</p:attrName>
                                        </p:attrNameLst>
                                      </p:cBhvr>
                                      <p:to>
                                        <p:strVal val="visible"/>
                                      </p:to>
                                    </p:set>
                                    <p:animEffect transition="in" filter="wipe(down)">
                                      <p:cBhvr>
                                        <p:cTn id="41" dur="500"/>
                                        <p:tgtEl>
                                          <p:spTgt spid="8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88"/>
                                        </p:tgtEl>
                                        <p:attrNameLst>
                                          <p:attrName>style.visibility</p:attrName>
                                        </p:attrNameLst>
                                      </p:cBhvr>
                                      <p:to>
                                        <p:strVal val="visible"/>
                                      </p:to>
                                    </p:set>
                                    <p:animEffect transition="in" filter="wipe(down)">
                                      <p:cBhvr>
                                        <p:cTn id="46" dur="500"/>
                                        <p:tgtEl>
                                          <p:spTgt spid="8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fade">
                                      <p:cBhvr>
                                        <p:cTn id="51" dur="500"/>
                                        <p:tgtEl>
                                          <p:spTgt spid="8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91"/>
                                        </p:tgtEl>
                                        <p:attrNameLst>
                                          <p:attrName>style.visibility</p:attrName>
                                        </p:attrNameLst>
                                      </p:cBhvr>
                                      <p:to>
                                        <p:strVal val="visible"/>
                                      </p:to>
                                    </p:set>
                                    <p:animEffect transition="in" filter="wipe(down)">
                                      <p:cBhvr>
                                        <p:cTn id="56"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2" name="Group 287"/>
          <p:cNvGrpSpPr/>
          <p:nvPr/>
        </p:nvGrpSpPr>
        <p:grpSpPr bwMode="auto">
          <a:xfrm>
            <a:off x="4074939" y="2263800"/>
            <a:ext cx="5494337" cy="2476500"/>
            <a:chOff x="925" y="641"/>
            <a:chExt cx="3461" cy="1560"/>
          </a:xfrm>
        </p:grpSpPr>
        <p:grpSp>
          <p:nvGrpSpPr>
            <p:cNvPr id="3" name="Group 166"/>
            <p:cNvGrpSpPr/>
            <p:nvPr/>
          </p:nvGrpSpPr>
          <p:grpSpPr bwMode="auto">
            <a:xfrm>
              <a:off x="1069" y="908"/>
              <a:ext cx="2846" cy="1293"/>
              <a:chOff x="1294" y="1017"/>
              <a:chExt cx="2846" cy="1293"/>
            </a:xfrm>
          </p:grpSpPr>
          <p:sp>
            <p:nvSpPr>
              <p:cNvPr id="42" name="Line 49"/>
              <p:cNvSpPr>
                <a:spLocks noChangeShapeType="1"/>
              </p:cNvSpPr>
              <p:nvPr/>
            </p:nvSpPr>
            <p:spPr bwMode="auto">
              <a:xfrm>
                <a:off x="3408" y="1106"/>
                <a:ext cx="64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3" name="Line 50"/>
              <p:cNvSpPr>
                <a:spLocks noChangeShapeType="1"/>
              </p:cNvSpPr>
              <p:nvPr/>
            </p:nvSpPr>
            <p:spPr bwMode="auto">
              <a:xfrm>
                <a:off x="3600" y="1724"/>
                <a:ext cx="31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Line 51"/>
              <p:cNvSpPr>
                <a:spLocks noChangeShapeType="1"/>
              </p:cNvSpPr>
              <p:nvPr/>
            </p:nvSpPr>
            <p:spPr bwMode="auto">
              <a:xfrm>
                <a:off x="3598" y="1158"/>
                <a:ext cx="31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Line 52"/>
              <p:cNvSpPr>
                <a:spLocks noChangeShapeType="1"/>
              </p:cNvSpPr>
              <p:nvPr/>
            </p:nvSpPr>
            <p:spPr bwMode="auto">
              <a:xfrm>
                <a:off x="3398" y="1784"/>
                <a:ext cx="65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6" name="Line 53"/>
              <p:cNvSpPr>
                <a:spLocks noChangeShapeType="1"/>
              </p:cNvSpPr>
              <p:nvPr/>
            </p:nvSpPr>
            <p:spPr bwMode="auto">
              <a:xfrm flipH="1">
                <a:off x="2610" y="1158"/>
                <a:ext cx="25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7" name="Line 54"/>
              <p:cNvSpPr>
                <a:spLocks noChangeShapeType="1"/>
              </p:cNvSpPr>
              <p:nvPr/>
            </p:nvSpPr>
            <p:spPr bwMode="auto">
              <a:xfrm flipH="1">
                <a:off x="2684" y="1726"/>
                <a:ext cx="18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8" name="Line 55"/>
              <p:cNvSpPr>
                <a:spLocks noChangeShapeType="1"/>
              </p:cNvSpPr>
              <p:nvPr/>
            </p:nvSpPr>
            <p:spPr bwMode="auto">
              <a:xfrm>
                <a:off x="2864" y="1710"/>
                <a:ext cx="0" cy="59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9" name="Line 56"/>
              <p:cNvSpPr>
                <a:spLocks noChangeShapeType="1"/>
              </p:cNvSpPr>
              <p:nvPr/>
            </p:nvSpPr>
            <p:spPr bwMode="auto">
              <a:xfrm>
                <a:off x="2992" y="1850"/>
                <a:ext cx="0" cy="46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0" name="Line 57"/>
              <p:cNvSpPr>
                <a:spLocks noChangeShapeType="1"/>
              </p:cNvSpPr>
              <p:nvPr/>
            </p:nvSpPr>
            <p:spPr bwMode="auto">
              <a:xfrm>
                <a:off x="3144" y="1864"/>
                <a:ext cx="0" cy="17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1" name="Line 58"/>
              <p:cNvSpPr>
                <a:spLocks noChangeShapeType="1"/>
              </p:cNvSpPr>
              <p:nvPr/>
            </p:nvSpPr>
            <p:spPr bwMode="auto">
              <a:xfrm>
                <a:off x="3402" y="1772"/>
                <a:ext cx="0" cy="40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2" name="Line 59"/>
              <p:cNvSpPr>
                <a:spLocks noChangeShapeType="1"/>
              </p:cNvSpPr>
              <p:nvPr/>
            </p:nvSpPr>
            <p:spPr bwMode="auto">
              <a:xfrm>
                <a:off x="3600" y="1712"/>
                <a:ext cx="0" cy="59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3" name="Line 60"/>
              <p:cNvSpPr>
                <a:spLocks noChangeShapeType="1"/>
              </p:cNvSpPr>
              <p:nvPr/>
            </p:nvSpPr>
            <p:spPr bwMode="auto">
              <a:xfrm>
                <a:off x="2990" y="2006"/>
                <a:ext cx="15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4" name="Line 61"/>
              <p:cNvSpPr>
                <a:spLocks noChangeShapeType="1"/>
              </p:cNvSpPr>
              <p:nvPr/>
            </p:nvSpPr>
            <p:spPr bwMode="auto">
              <a:xfrm flipH="1">
                <a:off x="3144" y="2006"/>
                <a:ext cx="124"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5" name="Line 62"/>
              <p:cNvSpPr>
                <a:spLocks noChangeShapeType="1"/>
              </p:cNvSpPr>
              <p:nvPr/>
            </p:nvSpPr>
            <p:spPr bwMode="auto">
              <a:xfrm>
                <a:off x="2992" y="2144"/>
                <a:ext cx="410"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6" name="Line 63"/>
              <p:cNvSpPr>
                <a:spLocks noChangeShapeType="1"/>
              </p:cNvSpPr>
              <p:nvPr/>
            </p:nvSpPr>
            <p:spPr bwMode="auto">
              <a:xfrm>
                <a:off x="2989" y="2281"/>
                <a:ext cx="610"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7" name="Line 64"/>
              <p:cNvSpPr>
                <a:spLocks noChangeShapeType="1"/>
              </p:cNvSpPr>
              <p:nvPr/>
            </p:nvSpPr>
            <p:spPr bwMode="auto">
              <a:xfrm>
                <a:off x="2877" y="2005"/>
                <a:ext cx="120"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8" name="Line 66"/>
              <p:cNvSpPr>
                <a:spLocks noChangeShapeType="1"/>
              </p:cNvSpPr>
              <p:nvPr/>
            </p:nvSpPr>
            <p:spPr bwMode="auto">
              <a:xfrm>
                <a:off x="2736" y="2282"/>
                <a:ext cx="128" cy="0"/>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9" name="Line 67"/>
              <p:cNvSpPr>
                <a:spLocks noChangeShapeType="1"/>
              </p:cNvSpPr>
              <p:nvPr/>
            </p:nvSpPr>
            <p:spPr bwMode="auto">
              <a:xfrm>
                <a:off x="2860" y="2282"/>
                <a:ext cx="13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0" name="Line 68"/>
              <p:cNvSpPr>
                <a:spLocks noChangeShapeType="1"/>
              </p:cNvSpPr>
              <p:nvPr/>
            </p:nvSpPr>
            <p:spPr bwMode="auto">
              <a:xfrm flipH="1" flipV="1">
                <a:off x="3600" y="2030"/>
                <a:ext cx="126" cy="126"/>
              </a:xfrm>
              <a:prstGeom prst="line">
                <a:avLst/>
              </a:prstGeom>
              <a:noFill/>
              <a:ln w="9525">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1" name="Line 69"/>
              <p:cNvSpPr>
                <a:spLocks noChangeShapeType="1"/>
              </p:cNvSpPr>
              <p:nvPr/>
            </p:nvSpPr>
            <p:spPr bwMode="auto">
              <a:xfrm>
                <a:off x="3726" y="2158"/>
                <a:ext cx="41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2" name="Line 70"/>
              <p:cNvSpPr>
                <a:spLocks noChangeShapeType="1"/>
              </p:cNvSpPr>
              <p:nvPr/>
            </p:nvSpPr>
            <p:spPr bwMode="auto">
              <a:xfrm>
                <a:off x="2720" y="1162"/>
                <a:ext cx="0" cy="56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3" name="Line 71"/>
              <p:cNvSpPr>
                <a:spLocks noChangeShapeType="1"/>
              </p:cNvSpPr>
              <p:nvPr/>
            </p:nvSpPr>
            <p:spPr bwMode="auto">
              <a:xfrm>
                <a:off x="3883" y="1161"/>
                <a:ext cx="0" cy="56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4" name="Line 72"/>
              <p:cNvSpPr>
                <a:spLocks noChangeShapeType="1"/>
              </p:cNvSpPr>
              <p:nvPr/>
            </p:nvSpPr>
            <p:spPr bwMode="auto">
              <a:xfrm>
                <a:off x="4024" y="1104"/>
                <a:ext cx="0" cy="678"/>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5" name="Line 73"/>
              <p:cNvSpPr>
                <a:spLocks noChangeShapeType="1"/>
              </p:cNvSpPr>
              <p:nvPr/>
            </p:nvSpPr>
            <p:spPr bwMode="auto">
              <a:xfrm>
                <a:off x="3742" y="1248"/>
                <a:ext cx="0" cy="39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66" name="Group 78"/>
              <p:cNvGrpSpPr/>
              <p:nvPr/>
            </p:nvGrpSpPr>
            <p:grpSpPr bwMode="auto">
              <a:xfrm>
                <a:off x="1294" y="1017"/>
                <a:ext cx="1076" cy="1023"/>
                <a:chOff x="1294" y="1017"/>
                <a:chExt cx="1076" cy="1023"/>
              </a:xfrm>
            </p:grpSpPr>
            <p:sp>
              <p:nvSpPr>
                <p:cNvPr id="119" name="Line 17"/>
                <p:cNvSpPr>
                  <a:spLocks noChangeShapeType="1"/>
                </p:cNvSpPr>
                <p:nvPr/>
              </p:nvSpPr>
              <p:spPr bwMode="auto">
                <a:xfrm>
                  <a:off x="1296" y="1445"/>
                  <a:ext cx="107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0" name="Line 18"/>
                <p:cNvSpPr>
                  <a:spLocks noChangeShapeType="1"/>
                </p:cNvSpPr>
                <p:nvPr/>
              </p:nvSpPr>
              <p:spPr bwMode="auto">
                <a:xfrm>
                  <a:off x="1895" y="1017"/>
                  <a:ext cx="0" cy="89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1" name="Line 19"/>
                <p:cNvSpPr>
                  <a:spLocks noChangeShapeType="1"/>
                </p:cNvSpPr>
                <p:nvPr/>
              </p:nvSpPr>
              <p:spPr bwMode="auto">
                <a:xfrm>
                  <a:off x="1467" y="2007"/>
                  <a:ext cx="852"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2" name="Line 20"/>
                <p:cNvSpPr>
                  <a:spLocks noChangeShapeType="1"/>
                </p:cNvSpPr>
                <p:nvPr/>
              </p:nvSpPr>
              <p:spPr bwMode="auto">
                <a:xfrm>
                  <a:off x="1469" y="1449"/>
                  <a:ext cx="0" cy="58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3" name="Line 21"/>
                <p:cNvSpPr>
                  <a:spLocks noChangeShapeType="1"/>
                </p:cNvSpPr>
                <p:nvPr/>
              </p:nvSpPr>
              <p:spPr bwMode="auto">
                <a:xfrm>
                  <a:off x="2317" y="1449"/>
                  <a:ext cx="0" cy="59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4" name="Oval 22"/>
                <p:cNvSpPr>
                  <a:spLocks noChangeArrowheads="1"/>
                </p:cNvSpPr>
                <p:nvPr/>
              </p:nvSpPr>
              <p:spPr bwMode="auto">
                <a:xfrm>
                  <a:off x="1553" y="1105"/>
                  <a:ext cx="678" cy="67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5" name="Oval 23"/>
                <p:cNvSpPr>
                  <a:spLocks noChangeArrowheads="1"/>
                </p:cNvSpPr>
                <p:nvPr/>
              </p:nvSpPr>
              <p:spPr bwMode="auto">
                <a:xfrm>
                  <a:off x="1610" y="1159"/>
                  <a:ext cx="567" cy="567"/>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6" name="Oval 24"/>
                <p:cNvSpPr>
                  <a:spLocks noChangeArrowheads="1"/>
                </p:cNvSpPr>
                <p:nvPr/>
              </p:nvSpPr>
              <p:spPr bwMode="auto">
                <a:xfrm>
                  <a:off x="1699" y="1249"/>
                  <a:ext cx="390" cy="390"/>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7" name="Arc 25"/>
                <p:cNvSpPr/>
                <p:nvPr/>
              </p:nvSpPr>
              <p:spPr bwMode="auto">
                <a:xfrm flipH="1" flipV="1">
                  <a:off x="1471" y="1060"/>
                  <a:ext cx="846" cy="807"/>
                </a:xfrm>
                <a:custGeom>
                  <a:avLst/>
                  <a:gdLst>
                    <a:gd name="T0" fmla="*/ 0 w 43200"/>
                    <a:gd name="T1" fmla="*/ 0 h 41214"/>
                    <a:gd name="T2" fmla="*/ 0 w 43200"/>
                    <a:gd name="T3" fmla="*/ 0 h 41214"/>
                    <a:gd name="T4" fmla="*/ 0 w 43200"/>
                    <a:gd name="T5" fmla="*/ 0 h 41214"/>
                    <a:gd name="T6" fmla="*/ 0 60000 65536"/>
                    <a:gd name="T7" fmla="*/ 0 60000 65536"/>
                    <a:gd name="T8" fmla="*/ 0 60000 65536"/>
                  </a:gdLst>
                  <a:ahLst/>
                  <a:cxnLst>
                    <a:cxn ang="T6">
                      <a:pos x="T0" y="T1"/>
                    </a:cxn>
                    <a:cxn ang="T7">
                      <a:pos x="T2" y="T3"/>
                    </a:cxn>
                    <a:cxn ang="T8">
                      <a:pos x="T4" y="T5"/>
                    </a:cxn>
                  </a:cxnLst>
                  <a:rect l="0" t="0" r="r" b="b"/>
                  <a:pathLst>
                    <a:path w="43200" h="41214" fill="none" extrusionOk="0">
                      <a:moveTo>
                        <a:pt x="12009" y="40954"/>
                      </a:moveTo>
                      <a:cubicBezTo>
                        <a:pt x="4653" y="37309"/>
                        <a:pt x="0" y="29809"/>
                        <a:pt x="0" y="21600"/>
                      </a:cubicBezTo>
                      <a:cubicBezTo>
                        <a:pt x="0" y="9670"/>
                        <a:pt x="9670" y="0"/>
                        <a:pt x="21600" y="0"/>
                      </a:cubicBezTo>
                      <a:cubicBezTo>
                        <a:pt x="33529" y="0"/>
                        <a:pt x="43200" y="9670"/>
                        <a:pt x="43200" y="21600"/>
                      </a:cubicBezTo>
                      <a:cubicBezTo>
                        <a:pt x="43200" y="30026"/>
                        <a:pt x="38299" y="37684"/>
                        <a:pt x="30647" y="41214"/>
                      </a:cubicBezTo>
                    </a:path>
                    <a:path w="43200" h="41214" stroke="0" extrusionOk="0">
                      <a:moveTo>
                        <a:pt x="12009" y="40954"/>
                      </a:moveTo>
                      <a:cubicBezTo>
                        <a:pt x="4653" y="37309"/>
                        <a:pt x="0" y="29809"/>
                        <a:pt x="0" y="21600"/>
                      </a:cubicBezTo>
                      <a:cubicBezTo>
                        <a:pt x="0" y="9670"/>
                        <a:pt x="9670" y="0"/>
                        <a:pt x="21600" y="0"/>
                      </a:cubicBezTo>
                      <a:cubicBezTo>
                        <a:pt x="33529" y="0"/>
                        <a:pt x="43200" y="9670"/>
                        <a:pt x="43200" y="21600"/>
                      </a:cubicBezTo>
                      <a:cubicBezTo>
                        <a:pt x="43200" y="30026"/>
                        <a:pt x="38299" y="37684"/>
                        <a:pt x="30647" y="41214"/>
                      </a:cubicBezTo>
                      <a:lnTo>
                        <a:pt x="21600" y="21600"/>
                      </a:lnTo>
                      <a:lnTo>
                        <a:pt x="12009" y="40954"/>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8" name="Line 26"/>
                <p:cNvSpPr>
                  <a:spLocks noChangeShapeType="1"/>
                </p:cNvSpPr>
                <p:nvPr/>
              </p:nvSpPr>
              <p:spPr bwMode="auto">
                <a:xfrm>
                  <a:off x="1705" y="1065"/>
                  <a:ext cx="384"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9" name="Line 27"/>
                <p:cNvSpPr>
                  <a:spLocks noChangeShapeType="1"/>
                </p:cNvSpPr>
                <p:nvPr/>
              </p:nvSpPr>
              <p:spPr bwMode="auto">
                <a:xfrm flipH="1">
                  <a:off x="1294" y="1062"/>
                  <a:ext cx="41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0" name="Line 28"/>
                <p:cNvSpPr>
                  <a:spLocks noChangeShapeType="1"/>
                </p:cNvSpPr>
                <p:nvPr/>
              </p:nvSpPr>
              <p:spPr bwMode="auto">
                <a:xfrm>
                  <a:off x="1328" y="1062"/>
                  <a:ext cx="0" cy="38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1" name="Line 74"/>
                <p:cNvSpPr>
                  <a:spLocks noChangeShapeType="1"/>
                </p:cNvSpPr>
                <p:nvPr/>
              </p:nvSpPr>
              <p:spPr bwMode="auto">
                <a:xfrm>
                  <a:off x="1744" y="1424"/>
                  <a:ext cx="0" cy="44"/>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2" name="Line 75"/>
                <p:cNvSpPr>
                  <a:spLocks noChangeShapeType="1"/>
                </p:cNvSpPr>
                <p:nvPr/>
              </p:nvSpPr>
              <p:spPr bwMode="auto">
                <a:xfrm>
                  <a:off x="1801" y="1427"/>
                  <a:ext cx="0" cy="44"/>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3" name="Line 76"/>
                <p:cNvSpPr>
                  <a:spLocks noChangeShapeType="1"/>
                </p:cNvSpPr>
                <p:nvPr/>
              </p:nvSpPr>
              <p:spPr bwMode="auto">
                <a:xfrm>
                  <a:off x="1878" y="1546"/>
                  <a:ext cx="34" cy="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4" name="Line 77"/>
                <p:cNvSpPr>
                  <a:spLocks noChangeShapeType="1"/>
                </p:cNvSpPr>
                <p:nvPr/>
              </p:nvSpPr>
              <p:spPr bwMode="auto">
                <a:xfrm>
                  <a:off x="1873" y="1601"/>
                  <a:ext cx="34" cy="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67" name="Group 122"/>
              <p:cNvGrpSpPr/>
              <p:nvPr/>
            </p:nvGrpSpPr>
            <p:grpSpPr bwMode="auto">
              <a:xfrm>
                <a:off x="2810" y="1052"/>
                <a:ext cx="840" cy="828"/>
                <a:chOff x="2810" y="1052"/>
                <a:chExt cx="840" cy="828"/>
              </a:xfrm>
            </p:grpSpPr>
            <p:sp>
              <p:nvSpPr>
                <p:cNvPr id="70" name="Line 29"/>
                <p:cNvSpPr>
                  <a:spLocks noChangeShapeType="1"/>
                </p:cNvSpPr>
                <p:nvPr/>
              </p:nvSpPr>
              <p:spPr bwMode="auto">
                <a:xfrm>
                  <a:off x="2810" y="1444"/>
                  <a:ext cx="84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1" name="Line 30"/>
                <p:cNvSpPr>
                  <a:spLocks noChangeShapeType="1"/>
                </p:cNvSpPr>
                <p:nvPr/>
              </p:nvSpPr>
              <p:spPr bwMode="auto">
                <a:xfrm>
                  <a:off x="2864" y="1158"/>
                  <a:ext cx="0" cy="56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2" name="Line 31"/>
                <p:cNvSpPr>
                  <a:spLocks noChangeShapeType="1"/>
                </p:cNvSpPr>
                <p:nvPr/>
              </p:nvSpPr>
              <p:spPr bwMode="auto">
                <a:xfrm>
                  <a:off x="2854" y="1728"/>
                  <a:ext cx="15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3" name="Line 32"/>
                <p:cNvSpPr>
                  <a:spLocks noChangeShapeType="1"/>
                </p:cNvSpPr>
                <p:nvPr/>
              </p:nvSpPr>
              <p:spPr bwMode="auto">
                <a:xfrm>
                  <a:off x="2994" y="1726"/>
                  <a:ext cx="0" cy="14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4" name="Line 33"/>
                <p:cNvSpPr>
                  <a:spLocks noChangeShapeType="1"/>
                </p:cNvSpPr>
                <p:nvPr/>
              </p:nvSpPr>
              <p:spPr bwMode="auto">
                <a:xfrm>
                  <a:off x="2982" y="1868"/>
                  <a:ext cx="16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5" name="Line 34"/>
                <p:cNvSpPr>
                  <a:spLocks noChangeShapeType="1"/>
                </p:cNvSpPr>
                <p:nvPr/>
              </p:nvSpPr>
              <p:spPr bwMode="auto">
                <a:xfrm flipV="1">
                  <a:off x="3144" y="1772"/>
                  <a:ext cx="0" cy="10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6" name="Line 35"/>
                <p:cNvSpPr>
                  <a:spLocks noChangeShapeType="1"/>
                </p:cNvSpPr>
                <p:nvPr/>
              </p:nvSpPr>
              <p:spPr bwMode="auto">
                <a:xfrm>
                  <a:off x="3134" y="1784"/>
                  <a:ext cx="27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7" name="Line 36"/>
                <p:cNvSpPr>
                  <a:spLocks noChangeShapeType="1"/>
                </p:cNvSpPr>
                <p:nvPr/>
              </p:nvSpPr>
              <p:spPr bwMode="auto">
                <a:xfrm flipV="1">
                  <a:off x="3402" y="1712"/>
                  <a:ext cx="0" cy="8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8" name="Line 37"/>
                <p:cNvSpPr>
                  <a:spLocks noChangeShapeType="1"/>
                </p:cNvSpPr>
                <p:nvPr/>
              </p:nvSpPr>
              <p:spPr bwMode="auto">
                <a:xfrm>
                  <a:off x="3394" y="1724"/>
                  <a:ext cx="21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9" name="Line 38"/>
                <p:cNvSpPr>
                  <a:spLocks noChangeShapeType="1"/>
                </p:cNvSpPr>
                <p:nvPr/>
              </p:nvSpPr>
              <p:spPr bwMode="auto">
                <a:xfrm flipV="1">
                  <a:off x="3600" y="1148"/>
                  <a:ext cx="0" cy="57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0" name="Line 39"/>
                <p:cNvSpPr>
                  <a:spLocks noChangeShapeType="1"/>
                </p:cNvSpPr>
                <p:nvPr/>
              </p:nvSpPr>
              <p:spPr bwMode="auto">
                <a:xfrm flipH="1">
                  <a:off x="3390" y="1158"/>
                  <a:ext cx="22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1" name="Line 40"/>
                <p:cNvSpPr>
                  <a:spLocks noChangeShapeType="1"/>
                </p:cNvSpPr>
                <p:nvPr/>
              </p:nvSpPr>
              <p:spPr bwMode="auto">
                <a:xfrm flipV="1">
                  <a:off x="3402" y="1098"/>
                  <a:ext cx="0" cy="7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2" name="Line 41"/>
                <p:cNvSpPr>
                  <a:spLocks noChangeShapeType="1"/>
                </p:cNvSpPr>
                <p:nvPr/>
              </p:nvSpPr>
              <p:spPr bwMode="auto">
                <a:xfrm flipH="1">
                  <a:off x="3136" y="1104"/>
                  <a:ext cx="27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3" name="Line 42"/>
                <p:cNvSpPr>
                  <a:spLocks noChangeShapeType="1"/>
                </p:cNvSpPr>
                <p:nvPr/>
              </p:nvSpPr>
              <p:spPr bwMode="auto">
                <a:xfrm flipV="1">
                  <a:off x="3144" y="1052"/>
                  <a:ext cx="0" cy="6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4" name="Line 43"/>
                <p:cNvSpPr>
                  <a:spLocks noChangeShapeType="1"/>
                </p:cNvSpPr>
                <p:nvPr/>
              </p:nvSpPr>
              <p:spPr bwMode="auto">
                <a:xfrm flipH="1">
                  <a:off x="2994" y="1064"/>
                  <a:ext cx="15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5" name="Line 44"/>
                <p:cNvSpPr>
                  <a:spLocks noChangeShapeType="1"/>
                </p:cNvSpPr>
                <p:nvPr/>
              </p:nvSpPr>
              <p:spPr bwMode="auto">
                <a:xfrm>
                  <a:off x="2994" y="1052"/>
                  <a:ext cx="0" cy="11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6" name="Line 45"/>
                <p:cNvSpPr>
                  <a:spLocks noChangeShapeType="1"/>
                </p:cNvSpPr>
                <p:nvPr/>
              </p:nvSpPr>
              <p:spPr bwMode="auto">
                <a:xfrm flipH="1">
                  <a:off x="2852" y="1158"/>
                  <a:ext cx="1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7" name="Line 46"/>
                <p:cNvSpPr>
                  <a:spLocks noChangeShapeType="1"/>
                </p:cNvSpPr>
                <p:nvPr/>
              </p:nvSpPr>
              <p:spPr bwMode="auto">
                <a:xfrm>
                  <a:off x="2864" y="1150"/>
                  <a:ext cx="0" cy="5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8" name="Line 47"/>
                <p:cNvSpPr>
                  <a:spLocks noChangeShapeType="1"/>
                </p:cNvSpPr>
                <p:nvPr/>
              </p:nvSpPr>
              <p:spPr bwMode="auto">
                <a:xfrm>
                  <a:off x="2860" y="1638"/>
                  <a:ext cx="74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9" name="Line 48"/>
                <p:cNvSpPr>
                  <a:spLocks noChangeShapeType="1"/>
                </p:cNvSpPr>
                <p:nvPr/>
              </p:nvSpPr>
              <p:spPr bwMode="auto">
                <a:xfrm>
                  <a:off x="2864" y="1248"/>
                  <a:ext cx="7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0" name="Line 92"/>
                <p:cNvSpPr>
                  <a:spLocks noChangeShapeType="1"/>
                </p:cNvSpPr>
                <p:nvPr/>
              </p:nvSpPr>
              <p:spPr bwMode="auto">
                <a:xfrm flipH="1">
                  <a:off x="3217" y="1108"/>
                  <a:ext cx="141" cy="14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1" name="Line 93"/>
                <p:cNvSpPr>
                  <a:spLocks noChangeShapeType="1"/>
                </p:cNvSpPr>
                <p:nvPr/>
              </p:nvSpPr>
              <p:spPr bwMode="auto">
                <a:xfrm flipH="1">
                  <a:off x="3281" y="1129"/>
                  <a:ext cx="122" cy="12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2" name="Line 94"/>
                <p:cNvSpPr>
                  <a:spLocks noChangeShapeType="1"/>
                </p:cNvSpPr>
                <p:nvPr/>
              </p:nvSpPr>
              <p:spPr bwMode="auto">
                <a:xfrm flipH="1">
                  <a:off x="3092" y="1103"/>
                  <a:ext cx="140" cy="14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3" name="Line 95"/>
                <p:cNvSpPr>
                  <a:spLocks noChangeShapeType="1"/>
                </p:cNvSpPr>
                <p:nvPr/>
              </p:nvSpPr>
              <p:spPr bwMode="auto">
                <a:xfrm flipH="1">
                  <a:off x="3154" y="1101"/>
                  <a:ext cx="146" cy="14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4" name="Line 96"/>
                <p:cNvSpPr>
                  <a:spLocks noChangeShapeType="1"/>
                </p:cNvSpPr>
                <p:nvPr/>
              </p:nvSpPr>
              <p:spPr bwMode="auto">
                <a:xfrm flipH="1">
                  <a:off x="2958" y="1071"/>
                  <a:ext cx="173" cy="17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5" name="Line 97"/>
                <p:cNvSpPr>
                  <a:spLocks noChangeShapeType="1"/>
                </p:cNvSpPr>
                <p:nvPr/>
              </p:nvSpPr>
              <p:spPr bwMode="auto">
                <a:xfrm flipH="1">
                  <a:off x="3022" y="1097"/>
                  <a:ext cx="149" cy="14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6" name="Line 98"/>
                <p:cNvSpPr>
                  <a:spLocks noChangeShapeType="1"/>
                </p:cNvSpPr>
                <p:nvPr/>
              </p:nvSpPr>
              <p:spPr bwMode="auto">
                <a:xfrm flipH="1">
                  <a:off x="2869" y="1158"/>
                  <a:ext cx="44" cy="4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7" name="Line 99"/>
                <p:cNvSpPr>
                  <a:spLocks noChangeShapeType="1"/>
                </p:cNvSpPr>
                <p:nvPr/>
              </p:nvSpPr>
              <p:spPr bwMode="auto">
                <a:xfrm flipH="1">
                  <a:off x="2891" y="1067"/>
                  <a:ext cx="179" cy="17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8" name="Line 100"/>
                <p:cNvSpPr>
                  <a:spLocks noChangeShapeType="1"/>
                </p:cNvSpPr>
                <p:nvPr/>
              </p:nvSpPr>
              <p:spPr bwMode="auto">
                <a:xfrm flipH="1">
                  <a:off x="3478" y="1161"/>
                  <a:ext cx="89" cy="8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9" name="Line 101"/>
                <p:cNvSpPr>
                  <a:spLocks noChangeShapeType="1"/>
                </p:cNvSpPr>
                <p:nvPr/>
              </p:nvSpPr>
              <p:spPr bwMode="auto">
                <a:xfrm flipH="1">
                  <a:off x="3347" y="1160"/>
                  <a:ext cx="90" cy="9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0" name="Line 102"/>
                <p:cNvSpPr>
                  <a:spLocks noChangeShapeType="1"/>
                </p:cNvSpPr>
                <p:nvPr/>
              </p:nvSpPr>
              <p:spPr bwMode="auto">
                <a:xfrm flipH="1">
                  <a:off x="3413" y="1163"/>
                  <a:ext cx="87" cy="8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1" name="Line 104"/>
                <p:cNvSpPr>
                  <a:spLocks noChangeShapeType="1"/>
                </p:cNvSpPr>
                <p:nvPr/>
              </p:nvSpPr>
              <p:spPr bwMode="auto">
                <a:xfrm flipH="1">
                  <a:off x="3106" y="1825"/>
                  <a:ext cx="37" cy="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2" name="Line 105"/>
                <p:cNvSpPr>
                  <a:spLocks noChangeShapeType="1"/>
                </p:cNvSpPr>
                <p:nvPr/>
              </p:nvSpPr>
              <p:spPr bwMode="auto">
                <a:xfrm flipH="1">
                  <a:off x="3248" y="1634"/>
                  <a:ext cx="152" cy="15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3" name="Line 106"/>
                <p:cNvSpPr>
                  <a:spLocks noChangeShapeType="1"/>
                </p:cNvSpPr>
                <p:nvPr/>
              </p:nvSpPr>
              <p:spPr bwMode="auto">
                <a:xfrm flipH="1">
                  <a:off x="2995" y="1636"/>
                  <a:ext cx="206" cy="20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4" name="Line 107"/>
                <p:cNvSpPr>
                  <a:spLocks noChangeShapeType="1"/>
                </p:cNvSpPr>
                <p:nvPr/>
              </p:nvSpPr>
              <p:spPr bwMode="auto">
                <a:xfrm flipH="1">
                  <a:off x="3045" y="1638"/>
                  <a:ext cx="220" cy="22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5" name="Line 108"/>
                <p:cNvSpPr>
                  <a:spLocks noChangeShapeType="1"/>
                </p:cNvSpPr>
                <p:nvPr/>
              </p:nvSpPr>
              <p:spPr bwMode="auto">
                <a:xfrm flipH="1">
                  <a:off x="2979" y="1636"/>
                  <a:ext cx="89" cy="8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6" name="Line 109"/>
                <p:cNvSpPr>
                  <a:spLocks noChangeShapeType="1"/>
                </p:cNvSpPr>
                <p:nvPr/>
              </p:nvSpPr>
              <p:spPr bwMode="auto">
                <a:xfrm flipH="1">
                  <a:off x="2995" y="1638"/>
                  <a:ext cx="137" cy="1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7" name="Line 110"/>
                <p:cNvSpPr>
                  <a:spLocks noChangeShapeType="1"/>
                </p:cNvSpPr>
                <p:nvPr/>
              </p:nvSpPr>
              <p:spPr bwMode="auto">
                <a:xfrm flipH="1">
                  <a:off x="2864" y="1635"/>
                  <a:ext cx="74" cy="7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8" name="Line 111"/>
                <p:cNvSpPr>
                  <a:spLocks noChangeShapeType="1"/>
                </p:cNvSpPr>
                <p:nvPr/>
              </p:nvSpPr>
              <p:spPr bwMode="auto">
                <a:xfrm flipH="1">
                  <a:off x="2912" y="1644"/>
                  <a:ext cx="83" cy="8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9" name="Line 112"/>
                <p:cNvSpPr>
                  <a:spLocks noChangeShapeType="1"/>
                </p:cNvSpPr>
                <p:nvPr/>
              </p:nvSpPr>
              <p:spPr bwMode="auto">
                <a:xfrm flipH="1">
                  <a:off x="3499" y="1644"/>
                  <a:ext cx="87" cy="8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0" name="Line 113"/>
                <p:cNvSpPr>
                  <a:spLocks noChangeShapeType="1"/>
                </p:cNvSpPr>
                <p:nvPr/>
              </p:nvSpPr>
              <p:spPr bwMode="auto">
                <a:xfrm flipH="1">
                  <a:off x="3310" y="1635"/>
                  <a:ext cx="154" cy="15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1" name="Line 114"/>
                <p:cNvSpPr>
                  <a:spLocks noChangeShapeType="1"/>
                </p:cNvSpPr>
                <p:nvPr/>
              </p:nvSpPr>
              <p:spPr bwMode="auto">
                <a:xfrm flipH="1">
                  <a:off x="3448" y="1644"/>
                  <a:ext cx="73" cy="7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2" name="Line 115"/>
                <p:cNvSpPr>
                  <a:spLocks noChangeShapeType="1"/>
                </p:cNvSpPr>
                <p:nvPr/>
              </p:nvSpPr>
              <p:spPr bwMode="auto">
                <a:xfrm flipH="1">
                  <a:off x="3544" y="1194"/>
                  <a:ext cx="55" cy="5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3" name="Line 116"/>
                <p:cNvSpPr>
                  <a:spLocks noChangeShapeType="1"/>
                </p:cNvSpPr>
                <p:nvPr/>
              </p:nvSpPr>
              <p:spPr bwMode="auto">
                <a:xfrm flipH="1">
                  <a:off x="3574" y="1689"/>
                  <a:ext cx="29" cy="2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4" name="Line 117"/>
                <p:cNvSpPr>
                  <a:spLocks noChangeShapeType="1"/>
                </p:cNvSpPr>
                <p:nvPr/>
              </p:nvSpPr>
              <p:spPr bwMode="auto">
                <a:xfrm flipH="1">
                  <a:off x="3183" y="1642"/>
                  <a:ext cx="143" cy="14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5" name="Line 118"/>
                <p:cNvSpPr>
                  <a:spLocks noChangeShapeType="1"/>
                </p:cNvSpPr>
                <p:nvPr/>
              </p:nvSpPr>
              <p:spPr bwMode="auto">
                <a:xfrm>
                  <a:off x="2988" y="1414"/>
                  <a:ext cx="0" cy="5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6" name="Line 119"/>
                <p:cNvSpPr>
                  <a:spLocks noChangeShapeType="1"/>
                </p:cNvSpPr>
                <p:nvPr/>
              </p:nvSpPr>
              <p:spPr bwMode="auto">
                <a:xfrm>
                  <a:off x="3049" y="1421"/>
                  <a:ext cx="0" cy="5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7" name="Line 120"/>
                <p:cNvSpPr>
                  <a:spLocks noChangeShapeType="1"/>
                </p:cNvSpPr>
                <p:nvPr/>
              </p:nvSpPr>
              <p:spPr bwMode="auto">
                <a:xfrm>
                  <a:off x="3411" y="1417"/>
                  <a:ext cx="0" cy="5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8" name="Line 121"/>
                <p:cNvSpPr>
                  <a:spLocks noChangeShapeType="1"/>
                </p:cNvSpPr>
                <p:nvPr/>
              </p:nvSpPr>
              <p:spPr bwMode="auto">
                <a:xfrm>
                  <a:off x="3472" y="1424"/>
                  <a:ext cx="0" cy="5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68" name="Line 123"/>
              <p:cNvSpPr>
                <a:spLocks noChangeShapeType="1"/>
              </p:cNvSpPr>
              <p:nvPr/>
            </p:nvSpPr>
            <p:spPr bwMode="auto">
              <a:xfrm>
                <a:off x="3592" y="1246"/>
                <a:ext cx="17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9" name="Line 124"/>
              <p:cNvSpPr>
                <a:spLocks noChangeShapeType="1"/>
              </p:cNvSpPr>
              <p:nvPr/>
            </p:nvSpPr>
            <p:spPr bwMode="auto">
              <a:xfrm>
                <a:off x="3590" y="1636"/>
                <a:ext cx="18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4" name="Group 134"/>
            <p:cNvGrpSpPr/>
            <p:nvPr/>
          </p:nvGrpSpPr>
          <p:grpSpPr bwMode="auto">
            <a:xfrm>
              <a:off x="2347" y="736"/>
              <a:ext cx="814" cy="311"/>
              <a:chOff x="2790" y="1327"/>
              <a:chExt cx="814" cy="311"/>
            </a:xfrm>
          </p:grpSpPr>
          <p:grpSp>
            <p:nvGrpSpPr>
              <p:cNvPr id="35" name="Group 135"/>
              <p:cNvGrpSpPr/>
              <p:nvPr/>
            </p:nvGrpSpPr>
            <p:grpSpPr bwMode="auto">
              <a:xfrm>
                <a:off x="2790" y="1362"/>
                <a:ext cx="611" cy="276"/>
                <a:chOff x="2790" y="1362"/>
                <a:chExt cx="611" cy="276"/>
              </a:xfrm>
            </p:grpSpPr>
            <p:sp>
              <p:nvSpPr>
                <p:cNvPr id="38" name="Line 136"/>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Line 137"/>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Line 138"/>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1" name="Line 139"/>
                <p:cNvSpPr>
                  <a:spLocks noChangeShapeType="1"/>
                </p:cNvSpPr>
                <p:nvPr/>
              </p:nvSpPr>
              <p:spPr bwMode="auto">
                <a:xfrm>
                  <a:off x="3027" y="1362"/>
                  <a:ext cx="374"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36" name="Text Box 140"/>
              <p:cNvSpPr txBox="1">
                <a:spLocks noChangeArrowheads="1"/>
              </p:cNvSpPr>
              <p:nvPr/>
            </p:nvSpPr>
            <p:spPr bwMode="auto">
              <a:xfrm>
                <a:off x="2950" y="1327"/>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Rz 6.3</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grpSp>
          <p:nvGrpSpPr>
            <p:cNvPr id="5" name="Group 141"/>
            <p:cNvGrpSpPr/>
            <p:nvPr/>
          </p:nvGrpSpPr>
          <p:grpSpPr bwMode="auto">
            <a:xfrm>
              <a:off x="3572" y="1736"/>
              <a:ext cx="814" cy="311"/>
              <a:chOff x="2790" y="1327"/>
              <a:chExt cx="814" cy="311"/>
            </a:xfrm>
          </p:grpSpPr>
          <p:grpSp>
            <p:nvGrpSpPr>
              <p:cNvPr id="29" name="Group 142"/>
              <p:cNvGrpSpPr/>
              <p:nvPr/>
            </p:nvGrpSpPr>
            <p:grpSpPr bwMode="auto">
              <a:xfrm>
                <a:off x="2790" y="1360"/>
                <a:ext cx="594" cy="278"/>
                <a:chOff x="2790" y="1360"/>
                <a:chExt cx="594" cy="278"/>
              </a:xfrm>
            </p:grpSpPr>
            <p:sp>
              <p:nvSpPr>
                <p:cNvPr id="31" name="Line 143"/>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Line 144"/>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Line 145"/>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4" name="Line 146"/>
                <p:cNvSpPr>
                  <a:spLocks noChangeShapeType="1"/>
                </p:cNvSpPr>
                <p:nvPr/>
              </p:nvSpPr>
              <p:spPr bwMode="auto">
                <a:xfrm flipV="1">
                  <a:off x="3027" y="1360"/>
                  <a:ext cx="357" cy="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30" name="Text Box 147"/>
              <p:cNvSpPr txBox="1">
                <a:spLocks noChangeArrowheads="1"/>
              </p:cNvSpPr>
              <p:nvPr/>
            </p:nvSpPr>
            <p:spPr bwMode="auto">
              <a:xfrm>
                <a:off x="2950" y="1327"/>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Rz 1.6</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grpSp>
          <p:nvGrpSpPr>
            <p:cNvPr id="6" name="Group 148"/>
            <p:cNvGrpSpPr/>
            <p:nvPr/>
          </p:nvGrpSpPr>
          <p:grpSpPr bwMode="auto">
            <a:xfrm rot="-5400000">
              <a:off x="684" y="1369"/>
              <a:ext cx="802" cy="319"/>
              <a:chOff x="2790" y="1319"/>
              <a:chExt cx="802" cy="319"/>
            </a:xfrm>
          </p:grpSpPr>
          <p:grpSp>
            <p:nvGrpSpPr>
              <p:cNvPr id="23" name="Group 149"/>
              <p:cNvGrpSpPr/>
              <p:nvPr/>
            </p:nvGrpSpPr>
            <p:grpSpPr bwMode="auto">
              <a:xfrm>
                <a:off x="2790" y="1362"/>
                <a:ext cx="610" cy="276"/>
                <a:chOff x="2790" y="1362"/>
                <a:chExt cx="610" cy="276"/>
              </a:xfrm>
            </p:grpSpPr>
            <p:sp>
              <p:nvSpPr>
                <p:cNvPr id="25" name="Line 150"/>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6" name="Line 151"/>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Line 152"/>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8" name="Line 153"/>
                <p:cNvSpPr>
                  <a:spLocks noChangeShapeType="1"/>
                </p:cNvSpPr>
                <p:nvPr/>
              </p:nvSpPr>
              <p:spPr bwMode="auto">
                <a:xfrm>
                  <a:off x="3027" y="1362"/>
                  <a:ext cx="373"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4" name="Text Box 154"/>
              <p:cNvSpPr txBox="1">
                <a:spLocks noChangeArrowheads="1"/>
              </p:cNvSpPr>
              <p:nvPr/>
            </p:nvSpPr>
            <p:spPr bwMode="auto">
              <a:xfrm>
                <a:off x="2938" y="1319"/>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Rz 6.3</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grpSp>
          <p:nvGrpSpPr>
            <p:cNvPr id="7" name="Group 155"/>
            <p:cNvGrpSpPr/>
            <p:nvPr/>
          </p:nvGrpSpPr>
          <p:grpSpPr bwMode="auto">
            <a:xfrm>
              <a:off x="1155" y="641"/>
              <a:ext cx="814" cy="311"/>
              <a:chOff x="2790" y="1327"/>
              <a:chExt cx="814" cy="311"/>
            </a:xfrm>
          </p:grpSpPr>
          <p:grpSp>
            <p:nvGrpSpPr>
              <p:cNvPr id="17" name="Group 156"/>
              <p:cNvGrpSpPr/>
              <p:nvPr/>
            </p:nvGrpSpPr>
            <p:grpSpPr bwMode="auto">
              <a:xfrm>
                <a:off x="2790" y="1362"/>
                <a:ext cx="591" cy="276"/>
                <a:chOff x="2790" y="1362"/>
                <a:chExt cx="591" cy="276"/>
              </a:xfrm>
            </p:grpSpPr>
            <p:sp>
              <p:nvSpPr>
                <p:cNvPr id="19" name="Line 157"/>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0" name="Line 158"/>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1" name="Line 159"/>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2" name="Line 160"/>
                <p:cNvSpPr>
                  <a:spLocks noChangeShapeType="1"/>
                </p:cNvSpPr>
                <p:nvPr/>
              </p:nvSpPr>
              <p:spPr bwMode="auto">
                <a:xfrm>
                  <a:off x="3027" y="1362"/>
                  <a:ext cx="354" cy="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8" name="Text Box 161"/>
              <p:cNvSpPr txBox="1">
                <a:spLocks noChangeArrowheads="1"/>
              </p:cNvSpPr>
              <p:nvPr/>
            </p:nvSpPr>
            <p:spPr bwMode="auto">
              <a:xfrm>
                <a:off x="2950" y="1327"/>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Rz 1.6</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sp>
          <p:nvSpPr>
            <p:cNvPr id="8" name="Freeform 165"/>
            <p:cNvSpPr/>
            <p:nvPr/>
          </p:nvSpPr>
          <p:spPr bwMode="auto">
            <a:xfrm>
              <a:off x="3243" y="963"/>
              <a:ext cx="124" cy="70"/>
            </a:xfrm>
            <a:custGeom>
              <a:avLst/>
              <a:gdLst>
                <a:gd name="T0" fmla="*/ 0 w 124"/>
                <a:gd name="T1" fmla="*/ 6 h 70"/>
                <a:gd name="T2" fmla="*/ 37 w 124"/>
                <a:gd name="T3" fmla="*/ 70 h 70"/>
                <a:gd name="T4" fmla="*/ 84 w 124"/>
                <a:gd name="T5" fmla="*/ 70 h 70"/>
                <a:gd name="T6" fmla="*/ 124 w 124"/>
                <a:gd name="T7" fmla="*/ 0 h 70"/>
                <a:gd name="T8" fmla="*/ 0 w 124"/>
                <a:gd name="T9" fmla="*/ 6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 h="70">
                  <a:moveTo>
                    <a:pt x="0" y="6"/>
                  </a:moveTo>
                  <a:lnTo>
                    <a:pt x="37" y="70"/>
                  </a:lnTo>
                  <a:lnTo>
                    <a:pt x="84" y="70"/>
                  </a:lnTo>
                  <a:lnTo>
                    <a:pt x="124" y="0"/>
                  </a:lnTo>
                  <a:lnTo>
                    <a:pt x="0" y="6"/>
                  </a:lnTo>
                  <a:close/>
                </a:path>
              </a:pathLst>
            </a:custGeom>
            <a:solidFill>
              <a:srgbClr val="FFFFFF"/>
            </a:solidFill>
            <a:ln w="9525">
              <a:solidFill>
                <a:srgbClr val="FFFF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9" name="Group 127"/>
            <p:cNvGrpSpPr/>
            <p:nvPr/>
          </p:nvGrpSpPr>
          <p:grpSpPr bwMode="auto">
            <a:xfrm>
              <a:off x="3223" y="725"/>
              <a:ext cx="814" cy="311"/>
              <a:chOff x="2790" y="1327"/>
              <a:chExt cx="814" cy="311"/>
            </a:xfrm>
          </p:grpSpPr>
          <p:grpSp>
            <p:nvGrpSpPr>
              <p:cNvPr id="10" name="Group 128"/>
              <p:cNvGrpSpPr/>
              <p:nvPr/>
            </p:nvGrpSpPr>
            <p:grpSpPr bwMode="auto">
              <a:xfrm>
                <a:off x="2790" y="1362"/>
                <a:ext cx="606" cy="276"/>
                <a:chOff x="2790" y="1362"/>
                <a:chExt cx="606" cy="276"/>
              </a:xfrm>
            </p:grpSpPr>
            <p:sp>
              <p:nvSpPr>
                <p:cNvPr id="12" name="Line 129"/>
                <p:cNvSpPr>
                  <a:spLocks noChangeShapeType="1"/>
                </p:cNvSpPr>
                <p:nvPr/>
              </p:nvSpPr>
              <p:spPr bwMode="auto">
                <a:xfrm>
                  <a:off x="2791" y="1507"/>
                  <a:ext cx="76" cy="13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Line 130"/>
                <p:cNvSpPr>
                  <a:spLocks noChangeShapeType="1"/>
                </p:cNvSpPr>
                <p:nvPr/>
              </p:nvSpPr>
              <p:spPr bwMode="auto">
                <a:xfrm flipV="1">
                  <a:off x="2869" y="1364"/>
                  <a:ext cx="158" cy="274"/>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 name="Line 131"/>
                <p:cNvSpPr>
                  <a:spLocks noChangeShapeType="1"/>
                </p:cNvSpPr>
                <p:nvPr/>
              </p:nvSpPr>
              <p:spPr bwMode="auto">
                <a:xfrm>
                  <a:off x="2790" y="1503"/>
                  <a:ext cx="157"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5" name="Line 132"/>
                <p:cNvSpPr>
                  <a:spLocks noChangeShapeType="1"/>
                </p:cNvSpPr>
                <p:nvPr/>
              </p:nvSpPr>
              <p:spPr bwMode="auto">
                <a:xfrm>
                  <a:off x="3027" y="1362"/>
                  <a:ext cx="369" cy="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1" name="Text Box 133"/>
              <p:cNvSpPr txBox="1">
                <a:spLocks noChangeArrowheads="1"/>
              </p:cNvSpPr>
              <p:nvPr/>
            </p:nvSpPr>
            <p:spPr bwMode="auto">
              <a:xfrm>
                <a:off x="2950" y="1327"/>
                <a:ext cx="6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Rz 6.3</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grpSp>
      <p:grpSp>
        <p:nvGrpSpPr>
          <p:cNvPr id="135" name="Group 174"/>
          <p:cNvGrpSpPr/>
          <p:nvPr/>
        </p:nvGrpSpPr>
        <p:grpSpPr bwMode="auto">
          <a:xfrm>
            <a:off x="4871864" y="1628800"/>
            <a:ext cx="4110037" cy="985838"/>
            <a:chOff x="1742" y="87"/>
            <a:chExt cx="2589" cy="621"/>
          </a:xfrm>
        </p:grpSpPr>
        <p:sp>
          <p:nvSpPr>
            <p:cNvPr id="136" name="Text Box 168"/>
            <p:cNvSpPr txBox="1">
              <a:spLocks noChangeArrowheads="1"/>
            </p:cNvSpPr>
            <p:nvPr/>
          </p:nvSpPr>
          <p:spPr bwMode="auto">
            <a:xfrm>
              <a:off x="1742" y="87"/>
              <a:ext cx="25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000000"/>
                  </a:solidFill>
                  <a:latin typeface="黑体" panose="02010609060101010101" pitchFamily="2" charset="-122"/>
                  <a:ea typeface="黑体" panose="02010609060101010101" pitchFamily="2" charset="-122"/>
                </a:rPr>
                <a:t>标注在圆柱特征的延长线上</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137" name="Line 171"/>
            <p:cNvSpPr>
              <a:spLocks noChangeShapeType="1"/>
            </p:cNvSpPr>
            <p:nvPr/>
          </p:nvSpPr>
          <p:spPr bwMode="auto">
            <a:xfrm>
              <a:off x="2484" y="416"/>
              <a:ext cx="271" cy="292"/>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000">
                <a:solidFill>
                  <a:srgbClr val="000000"/>
                </a:solidFill>
                <a:ea typeface="宋体" panose="02010600030101010101" pitchFamily="2" charset="-122"/>
              </a:endParaRPr>
            </a:p>
          </p:txBody>
        </p:sp>
      </p:grpSp>
      <p:sp>
        <p:nvSpPr>
          <p:cNvPr id="138" name="矩形 1"/>
          <p:cNvSpPr>
            <a:spLocks noChangeArrowheads="1"/>
          </p:cNvSpPr>
          <p:nvPr/>
        </p:nvSpPr>
        <p:spPr bwMode="auto">
          <a:xfrm rot="-5400000">
            <a:off x="6310138" y="3170263"/>
            <a:ext cx="301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800" i="1">
                <a:solidFill>
                  <a:srgbClr val="000066"/>
                </a:solidFill>
                <a:latin typeface="宋体" panose="02010600030101010101" pitchFamily="2" charset="-122"/>
              </a:rPr>
              <a:t>ø</a:t>
            </a:r>
            <a:endParaRPr lang="en-US" altLang="zh-CN" sz="1800" i="1">
              <a:solidFill>
                <a:srgbClr val="000066"/>
              </a:solidFill>
              <a:latin typeface="ISOCPEUR" panose="020B0604020202020204" pitchFamily="34" charset="0"/>
            </a:endParaRPr>
          </a:p>
        </p:txBody>
      </p:sp>
      <p:sp>
        <p:nvSpPr>
          <p:cNvPr id="139" name="矩形 154"/>
          <p:cNvSpPr>
            <a:spLocks noChangeArrowheads="1"/>
          </p:cNvSpPr>
          <p:nvPr/>
        </p:nvSpPr>
        <p:spPr bwMode="auto">
          <a:xfrm rot="-5400000">
            <a:off x="7942882" y="3169469"/>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800" i="1">
                <a:solidFill>
                  <a:srgbClr val="000066"/>
                </a:solidFill>
                <a:latin typeface="宋体" panose="02010600030101010101" pitchFamily="2" charset="-122"/>
              </a:rPr>
              <a:t>ø</a:t>
            </a:r>
            <a:endParaRPr lang="en-US" altLang="zh-CN" sz="1800" i="1">
              <a:solidFill>
                <a:srgbClr val="000066"/>
              </a:solidFill>
              <a:latin typeface="ISOCPEUR" panose="020B0604020202020204" pitchFamily="34" charset="0"/>
            </a:endParaRPr>
          </a:p>
        </p:txBody>
      </p:sp>
      <p:sp>
        <p:nvSpPr>
          <p:cNvPr id="140" name="矩形 155"/>
          <p:cNvSpPr>
            <a:spLocks noChangeArrowheads="1"/>
          </p:cNvSpPr>
          <p:nvPr/>
        </p:nvSpPr>
        <p:spPr bwMode="auto">
          <a:xfrm rot="-5400000">
            <a:off x="8154020" y="3169469"/>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800" i="1">
                <a:solidFill>
                  <a:srgbClr val="000066"/>
                </a:solidFill>
                <a:latin typeface="宋体" panose="02010600030101010101" pitchFamily="2" charset="-122"/>
              </a:rPr>
              <a:t>ø</a:t>
            </a:r>
            <a:endParaRPr lang="en-US" altLang="zh-CN" sz="1800" i="1">
              <a:solidFill>
                <a:srgbClr val="000066"/>
              </a:solidFill>
              <a:latin typeface="ISOCPEUR" panose="020B0604020202020204" pitchFamily="34" charset="0"/>
            </a:endParaRPr>
          </a:p>
        </p:txBody>
      </p:sp>
      <p:sp>
        <p:nvSpPr>
          <p:cNvPr id="141" name="矩形 156"/>
          <p:cNvSpPr>
            <a:spLocks noChangeArrowheads="1"/>
          </p:cNvSpPr>
          <p:nvPr/>
        </p:nvSpPr>
        <p:spPr bwMode="auto">
          <a:xfrm rot="-5400000">
            <a:off x="8364363" y="3170263"/>
            <a:ext cx="301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800" i="1">
                <a:solidFill>
                  <a:srgbClr val="000066"/>
                </a:solidFill>
                <a:latin typeface="宋体" panose="02010600030101010101" pitchFamily="2" charset="-122"/>
              </a:rPr>
              <a:t>ø</a:t>
            </a:r>
            <a:endParaRPr lang="en-US" altLang="zh-CN" sz="1800" i="1">
              <a:solidFill>
                <a:srgbClr val="000066"/>
              </a:solidFill>
              <a:latin typeface="ISOCPEUR"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wipe(down)">
                                      <p:cBhvr>
                                        <p:cTn id="7"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Text Box 2"/>
          <p:cNvSpPr txBox="1">
            <a:spLocks noChangeArrowheads="1"/>
          </p:cNvSpPr>
          <p:nvPr/>
        </p:nvSpPr>
        <p:spPr bwMode="auto">
          <a:xfrm>
            <a:off x="1223181" y="2332533"/>
            <a:ext cx="959687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一批相同零件中，不经挑选和辅助加工，任取一个就可顺利地装到机器上去，并满足机器的性能要求。这种性质称为互换性。</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4" name="Text Box 3"/>
          <p:cNvSpPr txBox="1">
            <a:spLocks noChangeArrowheads="1"/>
          </p:cNvSpPr>
          <p:nvPr/>
        </p:nvSpPr>
        <p:spPr bwMode="auto">
          <a:xfrm>
            <a:off x="479376" y="1797330"/>
            <a:ext cx="141577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互换性：</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5" name="Text Box 4"/>
          <p:cNvSpPr txBox="1">
            <a:spLocks noChangeArrowheads="1"/>
          </p:cNvSpPr>
          <p:nvPr/>
        </p:nvSpPr>
        <p:spPr bwMode="auto">
          <a:xfrm>
            <a:off x="479376" y="3377320"/>
            <a:ext cx="1107996"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极限：</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6" name="Text Box 5"/>
          <p:cNvSpPr txBox="1">
            <a:spLocks noChangeArrowheads="1"/>
          </p:cNvSpPr>
          <p:nvPr/>
        </p:nvSpPr>
        <p:spPr bwMode="auto">
          <a:xfrm>
            <a:off x="1223181" y="3841229"/>
            <a:ext cx="941312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加工时限制零件的功能尺寸不超过设定的最大极限值和最小极限值。它是保证零件具有互换性的措施。</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7" name="Text Box 6"/>
          <p:cNvSpPr txBox="1">
            <a:spLocks noChangeArrowheads="1"/>
          </p:cNvSpPr>
          <p:nvPr/>
        </p:nvSpPr>
        <p:spPr bwMode="auto">
          <a:xfrm>
            <a:off x="1223181" y="5099407"/>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标准化是互换性的保证。</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8" name="Text Box 4"/>
          <p:cNvSpPr txBox="1">
            <a:spLocks noChangeArrowheads="1"/>
          </p:cNvSpPr>
          <p:nvPr/>
        </p:nvSpPr>
        <p:spPr bwMode="auto">
          <a:xfrm>
            <a:off x="306971" y="1245139"/>
            <a:ext cx="3159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尺寸极限与公差</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335136" y="1234370"/>
            <a:ext cx="1768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相关术语</a:t>
            </a:r>
            <a:endParaRPr lang="zh-CN" altLang="en-US" dirty="0"/>
          </a:p>
        </p:txBody>
      </p:sp>
      <p:grpSp>
        <p:nvGrpSpPr>
          <p:cNvPr id="3" name="组合 12"/>
          <p:cNvGrpSpPr/>
          <p:nvPr/>
        </p:nvGrpSpPr>
        <p:grpSpPr bwMode="auto">
          <a:xfrm>
            <a:off x="652435" y="2037295"/>
            <a:ext cx="6032982" cy="974051"/>
            <a:chOff x="-254506" y="2042657"/>
            <a:chExt cx="6033006" cy="973297"/>
          </a:xfrm>
        </p:grpSpPr>
        <p:sp>
          <p:nvSpPr>
            <p:cNvPr id="4" name="Text Box 7"/>
            <p:cNvSpPr txBox="1">
              <a:spLocks noChangeArrowheads="1"/>
            </p:cNvSpPr>
            <p:nvPr/>
          </p:nvSpPr>
          <p:spPr bwMode="auto">
            <a:xfrm>
              <a:off x="-254506" y="2042657"/>
              <a:ext cx="3185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零件合格的条件：</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5" name="Text Box 8"/>
            <p:cNvSpPr txBox="1">
              <a:spLocks noChangeArrowheads="1"/>
            </p:cNvSpPr>
            <p:nvPr/>
          </p:nvSpPr>
          <p:spPr bwMode="auto">
            <a:xfrm>
              <a:off x="-33361" y="2554289"/>
              <a:ext cx="58118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最大极限尺寸≥实际尺寸≥最小极限尺寸</a:t>
              </a:r>
              <a:endParaRPr kumimoji="1" lang="zh-CN" altLang="en-US" sz="2400" dirty="0">
                <a:solidFill>
                  <a:srgbClr val="000000"/>
                </a:solidFill>
                <a:latin typeface="黑体" panose="02010609060101010101" pitchFamily="2" charset="-122"/>
                <a:ea typeface="黑体" panose="02010609060101010101" pitchFamily="2" charset="-122"/>
              </a:endParaRPr>
            </a:p>
          </p:txBody>
        </p:sp>
      </p:grpSp>
      <p:grpSp>
        <p:nvGrpSpPr>
          <p:cNvPr id="6" name="Group 19"/>
          <p:cNvGrpSpPr/>
          <p:nvPr/>
        </p:nvGrpSpPr>
        <p:grpSpPr bwMode="auto">
          <a:xfrm>
            <a:off x="8565934" y="1173510"/>
            <a:ext cx="2132012" cy="1649412"/>
            <a:chOff x="4321" y="1476"/>
            <a:chExt cx="1343" cy="1039"/>
          </a:xfrm>
        </p:grpSpPr>
        <p:sp>
          <p:nvSpPr>
            <p:cNvPr id="7" name="Line 20"/>
            <p:cNvSpPr>
              <a:spLocks noChangeShapeType="1"/>
            </p:cNvSpPr>
            <p:nvPr/>
          </p:nvSpPr>
          <p:spPr bwMode="auto">
            <a:xfrm>
              <a:off x="4321" y="1479"/>
              <a:ext cx="1305"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 name="Line 21"/>
            <p:cNvSpPr>
              <a:spLocks noChangeShapeType="1"/>
            </p:cNvSpPr>
            <p:nvPr/>
          </p:nvSpPr>
          <p:spPr bwMode="auto">
            <a:xfrm>
              <a:off x="5558" y="1476"/>
              <a:ext cx="0" cy="975"/>
            </a:xfrm>
            <a:prstGeom prst="line">
              <a:avLst/>
            </a:prstGeom>
            <a:noFill/>
            <a:ln w="1905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 name="Text Box 22"/>
            <p:cNvSpPr txBox="1">
              <a:spLocks noChangeArrowheads="1"/>
            </p:cNvSpPr>
            <p:nvPr/>
          </p:nvSpPr>
          <p:spPr bwMode="auto">
            <a:xfrm rot="16200000">
              <a:off x="4976" y="1915"/>
              <a:ext cx="9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i="1" u="none" strike="noStrike" kern="0" cap="none" spc="0" normalizeH="0" baseline="0" noProof="0">
                  <a:ln>
                    <a:noFill/>
                  </a:ln>
                  <a:solidFill>
                    <a:srgbClr val="000000"/>
                  </a:solidFill>
                  <a:effectLst/>
                  <a:uLnTx/>
                  <a:uFillTx/>
                  <a:latin typeface="ISOCP" panose="00000400000000000000" pitchFamily="2" charset="0"/>
                  <a:ea typeface="宋体" panose="02010600030101010101" pitchFamily="2" charset="-122"/>
                  <a:sym typeface="Symbol" panose="05050102010706020507" pitchFamily="18" charset="2"/>
                </a:rPr>
                <a:t></a:t>
              </a:r>
              <a:r>
                <a:rPr kumimoji="1" lang="en-US" altLang="zh-CN" sz="24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50.006</a:t>
              </a:r>
              <a:endParaRPr kumimoji="1" lang="en-US" altLang="zh-CN" sz="2400" i="0"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10" name="Line 23"/>
            <p:cNvSpPr>
              <a:spLocks noChangeShapeType="1"/>
            </p:cNvSpPr>
            <p:nvPr/>
          </p:nvSpPr>
          <p:spPr bwMode="auto">
            <a:xfrm>
              <a:off x="4415" y="2436"/>
              <a:ext cx="1249"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1" name="Group 24"/>
          <p:cNvGrpSpPr/>
          <p:nvPr/>
        </p:nvGrpSpPr>
        <p:grpSpPr bwMode="auto">
          <a:xfrm>
            <a:off x="7421346" y="1162397"/>
            <a:ext cx="1263650" cy="146050"/>
            <a:chOff x="3600" y="1349"/>
            <a:chExt cx="796" cy="92"/>
          </a:xfrm>
        </p:grpSpPr>
        <p:sp>
          <p:nvSpPr>
            <p:cNvPr id="12" name="Freeform 25"/>
            <p:cNvSpPr/>
            <p:nvPr/>
          </p:nvSpPr>
          <p:spPr bwMode="auto">
            <a:xfrm>
              <a:off x="4314" y="1359"/>
              <a:ext cx="82" cy="80"/>
            </a:xfrm>
            <a:custGeom>
              <a:avLst/>
              <a:gdLst>
                <a:gd name="T0" fmla="*/ 0 w 74"/>
                <a:gd name="T1" fmla="*/ 0 h 64"/>
                <a:gd name="T2" fmla="*/ 280 w 74"/>
                <a:gd name="T3" fmla="*/ 1163 h 64"/>
                <a:gd name="T4" fmla="*/ 0 60000 65536"/>
                <a:gd name="T5" fmla="*/ 0 60000 65536"/>
              </a:gdLst>
              <a:ahLst/>
              <a:cxnLst>
                <a:cxn ang="T4">
                  <a:pos x="T0" y="T1"/>
                </a:cxn>
                <a:cxn ang="T5">
                  <a:pos x="T2" y="T3"/>
                </a:cxn>
              </a:cxnLst>
              <a:rect l="0" t="0" r="r" b="b"/>
              <a:pathLst>
                <a:path w="74" h="64">
                  <a:moveTo>
                    <a:pt x="0" y="0"/>
                  </a:moveTo>
                  <a:cubicBezTo>
                    <a:pt x="12" y="11"/>
                    <a:pt x="59" y="51"/>
                    <a:pt x="74" y="64"/>
                  </a:cubicBez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Freeform 26"/>
            <p:cNvSpPr/>
            <p:nvPr/>
          </p:nvSpPr>
          <p:spPr bwMode="auto">
            <a:xfrm>
              <a:off x="3600" y="1351"/>
              <a:ext cx="718" cy="2"/>
            </a:xfrm>
            <a:custGeom>
              <a:avLst/>
              <a:gdLst>
                <a:gd name="T0" fmla="*/ 0 w 778"/>
                <a:gd name="T1" fmla="*/ 2 h 2"/>
                <a:gd name="T2" fmla="*/ 274 w 778"/>
                <a:gd name="T3" fmla="*/ 0 h 2"/>
                <a:gd name="T4" fmla="*/ 0 60000 65536"/>
                <a:gd name="T5" fmla="*/ 0 60000 65536"/>
              </a:gdLst>
              <a:ahLst/>
              <a:cxnLst>
                <a:cxn ang="T4">
                  <a:pos x="T0" y="T1"/>
                </a:cxn>
                <a:cxn ang="T5">
                  <a:pos x="T2" y="T3"/>
                </a:cxn>
              </a:cxnLst>
              <a:rect l="0" t="0" r="r" b="b"/>
              <a:pathLst>
                <a:path w="778" h="2">
                  <a:moveTo>
                    <a:pt x="0" y="2"/>
                  </a:moveTo>
                  <a:lnTo>
                    <a:pt x="778" y="0"/>
                  </a:lnTo>
                </a:path>
              </a:pathLst>
            </a:cu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 name="Freeform 27" descr="75%"/>
            <p:cNvSpPr/>
            <p:nvPr/>
          </p:nvSpPr>
          <p:spPr bwMode="auto">
            <a:xfrm>
              <a:off x="3600" y="1359"/>
              <a:ext cx="775" cy="71"/>
            </a:xfrm>
            <a:custGeom>
              <a:avLst/>
              <a:gdLst>
                <a:gd name="T0" fmla="*/ 0 w 840"/>
                <a:gd name="T1" fmla="*/ 0 h 77"/>
                <a:gd name="T2" fmla="*/ 0 w 840"/>
                <a:gd name="T3" fmla="*/ 27 h 77"/>
                <a:gd name="T4" fmla="*/ 295 w 840"/>
                <a:gd name="T5" fmla="*/ 27 h 77"/>
                <a:gd name="T6" fmla="*/ 271 w 840"/>
                <a:gd name="T7" fmla="*/ 0 h 77"/>
                <a:gd name="T8" fmla="*/ 0 w 840"/>
                <a:gd name="T9" fmla="*/ 0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0" h="77">
                  <a:moveTo>
                    <a:pt x="0" y="0"/>
                  </a:moveTo>
                  <a:lnTo>
                    <a:pt x="0" y="77"/>
                  </a:lnTo>
                  <a:lnTo>
                    <a:pt x="840" y="77"/>
                  </a:lnTo>
                  <a:lnTo>
                    <a:pt x="773" y="0"/>
                  </a:lnTo>
                  <a:lnTo>
                    <a:pt x="0" y="0"/>
                  </a:lnTo>
                  <a:close/>
                </a:path>
              </a:pathLst>
            </a:custGeom>
            <a:pattFill prst="pct75">
              <a:fgClr>
                <a:srgbClr val="333399">
                  <a:alpha val="54901"/>
                </a:srgbClr>
              </a:fgClr>
              <a:bgClr>
                <a:srgbClr val="FFFFFF">
                  <a:alpha val="54901"/>
                </a:srgbClr>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5" name="Line 28"/>
            <p:cNvSpPr>
              <a:spLocks noChangeShapeType="1"/>
            </p:cNvSpPr>
            <p:nvPr/>
          </p:nvSpPr>
          <p:spPr bwMode="auto">
            <a:xfrm flipV="1">
              <a:off x="3602" y="1349"/>
              <a:ext cx="0" cy="9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7" name="Group 29"/>
          <p:cNvGrpSpPr/>
          <p:nvPr/>
        </p:nvGrpSpPr>
        <p:grpSpPr bwMode="auto">
          <a:xfrm>
            <a:off x="6708559" y="1287810"/>
            <a:ext cx="801687" cy="1428750"/>
            <a:chOff x="3139" y="1548"/>
            <a:chExt cx="505" cy="900"/>
          </a:xfrm>
        </p:grpSpPr>
        <p:sp>
          <p:nvSpPr>
            <p:cNvPr id="18" name="Text Box 30"/>
            <p:cNvSpPr txBox="1">
              <a:spLocks noChangeArrowheads="1"/>
            </p:cNvSpPr>
            <p:nvPr/>
          </p:nvSpPr>
          <p:spPr bwMode="auto">
            <a:xfrm rot="16200000">
              <a:off x="3068" y="1895"/>
              <a:ext cx="4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50</a:t>
              </a:r>
              <a:endParaRPr kumimoji="1" lang="en-US" altLang="zh-CN" sz="2400" i="0"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19" name="Line 31"/>
            <p:cNvSpPr>
              <a:spLocks noChangeShapeType="1"/>
            </p:cNvSpPr>
            <p:nvPr/>
          </p:nvSpPr>
          <p:spPr bwMode="auto">
            <a:xfrm flipH="1" flipV="1">
              <a:off x="3297" y="2447"/>
              <a:ext cx="347" cy="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0" name="Line 32"/>
            <p:cNvSpPr>
              <a:spLocks noChangeShapeType="1"/>
            </p:cNvSpPr>
            <p:nvPr/>
          </p:nvSpPr>
          <p:spPr bwMode="auto">
            <a:xfrm flipH="1">
              <a:off x="3288" y="1560"/>
              <a:ext cx="30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1" name="Line 33"/>
            <p:cNvSpPr>
              <a:spLocks noChangeShapeType="1"/>
            </p:cNvSpPr>
            <p:nvPr/>
          </p:nvSpPr>
          <p:spPr bwMode="auto">
            <a:xfrm>
              <a:off x="3372" y="1548"/>
              <a:ext cx="0" cy="900"/>
            </a:xfrm>
            <a:prstGeom prst="line">
              <a:avLst/>
            </a:prstGeom>
            <a:noFill/>
            <a:ln w="1905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22" name="Group 37"/>
          <p:cNvGrpSpPr/>
          <p:nvPr/>
        </p:nvGrpSpPr>
        <p:grpSpPr bwMode="auto">
          <a:xfrm>
            <a:off x="8697696" y="1390998"/>
            <a:ext cx="1143000" cy="1441450"/>
            <a:chOff x="4404" y="1613"/>
            <a:chExt cx="720" cy="908"/>
          </a:xfrm>
        </p:grpSpPr>
        <p:sp>
          <p:nvSpPr>
            <p:cNvPr id="23" name="Line 38"/>
            <p:cNvSpPr>
              <a:spLocks noChangeShapeType="1"/>
            </p:cNvSpPr>
            <p:nvPr/>
          </p:nvSpPr>
          <p:spPr bwMode="auto">
            <a:xfrm>
              <a:off x="5044" y="1626"/>
              <a:ext cx="0" cy="814"/>
            </a:xfrm>
            <a:prstGeom prst="line">
              <a:avLst/>
            </a:prstGeom>
            <a:noFill/>
            <a:ln w="1905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4" name="Text Box 39"/>
            <p:cNvSpPr txBox="1">
              <a:spLocks noChangeArrowheads="1"/>
            </p:cNvSpPr>
            <p:nvPr/>
          </p:nvSpPr>
          <p:spPr bwMode="auto">
            <a:xfrm rot="16200000">
              <a:off x="4446" y="1921"/>
              <a:ext cx="9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1" lang="en-US" altLang="zh-CN" sz="240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u="none" strike="noStrike" kern="0" cap="none" spc="0" normalizeH="0" baseline="0" noProof="0" dirty="0">
                  <a:ln>
                    <a:noFill/>
                  </a:ln>
                  <a:solidFill>
                    <a:srgbClr val="000000"/>
                  </a:solidFill>
                  <a:effectLst/>
                  <a:uLnTx/>
                  <a:uFillTx/>
                  <a:latin typeface="ISOCPEUR" panose="020B0604020202020204" pitchFamily="34" charset="0"/>
                  <a:ea typeface="宋体" panose="02010600030101010101" pitchFamily="2" charset="-122"/>
                </a:rPr>
                <a:t>49.992</a:t>
              </a:r>
              <a:endParaRPr kumimoji="1" lang="en-US" altLang="zh-CN" sz="2400" i="0" u="none" strike="noStrike" kern="0" cap="none" spc="0" normalizeH="0" baseline="0" noProof="0" dirty="0">
                <a:ln>
                  <a:noFill/>
                </a:ln>
                <a:solidFill>
                  <a:srgbClr val="000000"/>
                </a:solidFill>
                <a:effectLst/>
                <a:uLnTx/>
                <a:uFillTx/>
                <a:latin typeface="ISOCPEUR" panose="020B0604020202020204" pitchFamily="34" charset="0"/>
                <a:ea typeface="宋体" panose="02010600030101010101" pitchFamily="2" charset="-122"/>
              </a:endParaRPr>
            </a:p>
          </p:txBody>
        </p:sp>
        <p:sp>
          <p:nvSpPr>
            <p:cNvPr id="25" name="Line 40"/>
            <p:cNvSpPr>
              <a:spLocks noChangeShapeType="1"/>
            </p:cNvSpPr>
            <p:nvPr/>
          </p:nvSpPr>
          <p:spPr bwMode="auto">
            <a:xfrm>
              <a:off x="4404" y="1644"/>
              <a:ext cx="72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26" name="Group 41"/>
          <p:cNvGrpSpPr/>
          <p:nvPr/>
        </p:nvGrpSpPr>
        <p:grpSpPr bwMode="auto">
          <a:xfrm>
            <a:off x="7240371" y="1306860"/>
            <a:ext cx="1617663" cy="1428750"/>
            <a:chOff x="3486" y="1560"/>
            <a:chExt cx="1019" cy="900"/>
          </a:xfrm>
        </p:grpSpPr>
        <p:grpSp>
          <p:nvGrpSpPr>
            <p:cNvPr id="27" name="Group 42"/>
            <p:cNvGrpSpPr/>
            <p:nvPr/>
          </p:nvGrpSpPr>
          <p:grpSpPr bwMode="auto">
            <a:xfrm>
              <a:off x="3600" y="1560"/>
              <a:ext cx="834" cy="900"/>
              <a:chOff x="3600" y="1560"/>
              <a:chExt cx="834" cy="900"/>
            </a:xfrm>
          </p:grpSpPr>
          <p:sp>
            <p:nvSpPr>
              <p:cNvPr id="29" name="Freeform 43"/>
              <p:cNvSpPr/>
              <p:nvPr/>
            </p:nvSpPr>
            <p:spPr bwMode="auto">
              <a:xfrm>
                <a:off x="3608" y="1560"/>
                <a:ext cx="826" cy="885"/>
              </a:xfrm>
              <a:custGeom>
                <a:avLst/>
                <a:gdLst>
                  <a:gd name="T0" fmla="*/ 0 w 826"/>
                  <a:gd name="T1" fmla="*/ 0 h 885"/>
                  <a:gd name="T2" fmla="*/ 0 w 826"/>
                  <a:gd name="T3" fmla="*/ 885 h 885"/>
                  <a:gd name="T4" fmla="*/ 823 w 826"/>
                  <a:gd name="T5" fmla="*/ 885 h 885"/>
                  <a:gd name="T6" fmla="*/ 820 w 826"/>
                  <a:gd name="T7" fmla="*/ 804 h 885"/>
                  <a:gd name="T8" fmla="*/ 772 w 826"/>
                  <a:gd name="T9" fmla="*/ 708 h 885"/>
                  <a:gd name="T10" fmla="*/ 748 w 826"/>
                  <a:gd name="T11" fmla="*/ 636 h 885"/>
                  <a:gd name="T12" fmla="*/ 760 w 826"/>
                  <a:gd name="T13" fmla="*/ 528 h 885"/>
                  <a:gd name="T14" fmla="*/ 796 w 826"/>
                  <a:gd name="T15" fmla="*/ 456 h 885"/>
                  <a:gd name="T16" fmla="*/ 788 w 826"/>
                  <a:gd name="T17" fmla="*/ 384 h 885"/>
                  <a:gd name="T18" fmla="*/ 772 w 826"/>
                  <a:gd name="T19" fmla="*/ 264 h 885"/>
                  <a:gd name="T20" fmla="*/ 826 w 826"/>
                  <a:gd name="T21" fmla="*/ 138 h 885"/>
                  <a:gd name="T22" fmla="*/ 814 w 826"/>
                  <a:gd name="T23" fmla="*/ 54 h 885"/>
                  <a:gd name="T24" fmla="*/ 791 w 826"/>
                  <a:gd name="T25" fmla="*/ 0 h 885"/>
                  <a:gd name="T26" fmla="*/ 0 w 826"/>
                  <a:gd name="T27" fmla="*/ 0 h 8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26" h="885">
                    <a:moveTo>
                      <a:pt x="0" y="0"/>
                    </a:moveTo>
                    <a:lnTo>
                      <a:pt x="0" y="885"/>
                    </a:lnTo>
                    <a:lnTo>
                      <a:pt x="823" y="885"/>
                    </a:lnTo>
                    <a:lnTo>
                      <a:pt x="820" y="804"/>
                    </a:lnTo>
                    <a:lnTo>
                      <a:pt x="772" y="708"/>
                    </a:lnTo>
                    <a:lnTo>
                      <a:pt x="748" y="636"/>
                    </a:lnTo>
                    <a:lnTo>
                      <a:pt x="760" y="528"/>
                    </a:lnTo>
                    <a:lnTo>
                      <a:pt x="796" y="456"/>
                    </a:lnTo>
                    <a:lnTo>
                      <a:pt x="788" y="384"/>
                    </a:lnTo>
                    <a:lnTo>
                      <a:pt x="772" y="264"/>
                    </a:lnTo>
                    <a:lnTo>
                      <a:pt x="826" y="138"/>
                    </a:lnTo>
                    <a:lnTo>
                      <a:pt x="814" y="54"/>
                    </a:lnTo>
                    <a:lnTo>
                      <a:pt x="791" y="0"/>
                    </a:lnTo>
                    <a:lnTo>
                      <a:pt x="0" y="0"/>
                    </a:lnTo>
                    <a:close/>
                  </a:path>
                </a:pathLst>
              </a:custGeom>
              <a:gradFill rotWithShape="0">
                <a:gsLst>
                  <a:gs pos="0">
                    <a:srgbClr val="00CC66"/>
                  </a:gs>
                  <a:gs pos="50000">
                    <a:srgbClr val="B4F0D2"/>
                  </a:gs>
                  <a:gs pos="100000">
                    <a:srgbClr val="00CC66"/>
                  </a:gs>
                </a:gsLst>
                <a:lin ang="5400000" scaled="1"/>
              </a:gradFill>
              <a:ln w="190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0" name="Line 44"/>
              <p:cNvSpPr>
                <a:spLocks noChangeShapeType="1"/>
              </p:cNvSpPr>
              <p:nvPr/>
            </p:nvSpPr>
            <p:spPr bwMode="auto">
              <a:xfrm flipV="1">
                <a:off x="3600" y="1560"/>
                <a:ext cx="0" cy="9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Line 45"/>
              <p:cNvSpPr>
                <a:spLocks noChangeShapeType="1"/>
              </p:cNvSpPr>
              <p:nvPr/>
            </p:nvSpPr>
            <p:spPr bwMode="auto">
              <a:xfrm>
                <a:off x="3600" y="1560"/>
                <a:ext cx="804"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Line 46"/>
              <p:cNvSpPr>
                <a:spLocks noChangeShapeType="1"/>
              </p:cNvSpPr>
              <p:nvPr/>
            </p:nvSpPr>
            <p:spPr bwMode="auto">
              <a:xfrm>
                <a:off x="3600" y="2448"/>
                <a:ext cx="82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8" name="Line 47"/>
            <p:cNvSpPr>
              <a:spLocks noChangeShapeType="1"/>
            </p:cNvSpPr>
            <p:nvPr/>
          </p:nvSpPr>
          <p:spPr bwMode="auto">
            <a:xfrm>
              <a:off x="3486" y="2027"/>
              <a:ext cx="1019"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33" name="Group 48"/>
          <p:cNvGrpSpPr/>
          <p:nvPr/>
        </p:nvGrpSpPr>
        <p:grpSpPr bwMode="auto">
          <a:xfrm>
            <a:off x="7411821" y="1311622"/>
            <a:ext cx="1338263" cy="128588"/>
            <a:chOff x="3594" y="1443"/>
            <a:chExt cx="843" cy="81"/>
          </a:xfrm>
        </p:grpSpPr>
        <p:sp>
          <p:nvSpPr>
            <p:cNvPr id="34" name="Freeform 49" descr="75%"/>
            <p:cNvSpPr/>
            <p:nvPr/>
          </p:nvSpPr>
          <p:spPr bwMode="auto">
            <a:xfrm>
              <a:off x="3600" y="1443"/>
              <a:ext cx="837" cy="81"/>
            </a:xfrm>
            <a:custGeom>
              <a:avLst/>
              <a:gdLst>
                <a:gd name="T0" fmla="*/ 8 w 837"/>
                <a:gd name="T1" fmla="*/ 0 h 81"/>
                <a:gd name="T2" fmla="*/ 0 w 837"/>
                <a:gd name="T3" fmla="*/ 81 h 81"/>
                <a:gd name="T4" fmla="*/ 837 w 837"/>
                <a:gd name="T5" fmla="*/ 81 h 81"/>
                <a:gd name="T6" fmla="*/ 823 w 837"/>
                <a:gd name="T7" fmla="*/ 41 h 81"/>
                <a:gd name="T8" fmla="*/ 800 w 837"/>
                <a:gd name="T9" fmla="*/ 0 h 81"/>
                <a:gd name="T10" fmla="*/ 8 w 837"/>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7" h="81">
                  <a:moveTo>
                    <a:pt x="8" y="0"/>
                  </a:moveTo>
                  <a:lnTo>
                    <a:pt x="0" y="81"/>
                  </a:lnTo>
                  <a:lnTo>
                    <a:pt x="837" y="81"/>
                  </a:lnTo>
                  <a:lnTo>
                    <a:pt x="823" y="41"/>
                  </a:lnTo>
                  <a:lnTo>
                    <a:pt x="800" y="0"/>
                  </a:lnTo>
                  <a:lnTo>
                    <a:pt x="8" y="0"/>
                  </a:lnTo>
                  <a:close/>
                </a:path>
              </a:pathLst>
            </a:custGeom>
            <a:pattFill prst="pct75">
              <a:fgClr>
                <a:srgbClr val="333399">
                  <a:alpha val="54901"/>
                </a:srgbClr>
              </a:fgClr>
              <a:bgClr>
                <a:srgbClr val="FFFFFF">
                  <a:alpha val="54901"/>
                </a:srgbClr>
              </a:bgClr>
            </a:pattFill>
            <a:ln w="9525"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5" name="Line 50"/>
            <p:cNvSpPr>
              <a:spLocks noChangeShapeType="1"/>
            </p:cNvSpPr>
            <p:nvPr/>
          </p:nvSpPr>
          <p:spPr bwMode="auto">
            <a:xfrm>
              <a:off x="3594" y="1524"/>
              <a:ext cx="84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36" name="组合 3"/>
          <p:cNvGrpSpPr/>
          <p:nvPr/>
        </p:nvGrpSpPr>
        <p:grpSpPr bwMode="auto">
          <a:xfrm>
            <a:off x="2423592" y="1268760"/>
            <a:ext cx="4308780" cy="842034"/>
            <a:chOff x="691907" y="1014562"/>
            <a:chExt cx="4308720" cy="841876"/>
          </a:xfrm>
        </p:grpSpPr>
        <p:sp>
          <p:nvSpPr>
            <p:cNvPr id="38" name="Text Box 3"/>
            <p:cNvSpPr txBox="1">
              <a:spLocks noChangeArrowheads="1"/>
            </p:cNvSpPr>
            <p:nvPr/>
          </p:nvSpPr>
          <p:spPr bwMode="auto">
            <a:xfrm>
              <a:off x="691907" y="1014562"/>
              <a:ext cx="4288081" cy="46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基本尺寸</a:t>
              </a:r>
              <a:r>
                <a:rPr kumimoji="1" lang="en-US" altLang="zh-CN" sz="2400" dirty="0">
                  <a:solidFill>
                    <a:srgbClr val="000000"/>
                  </a:solidFill>
                  <a:latin typeface="黑体" panose="02010609060101010101" pitchFamily="2" charset="-122"/>
                  <a:ea typeface="黑体" panose="02010609060101010101" pitchFamily="2" charset="-122"/>
                </a:rPr>
                <a:t>:</a:t>
              </a:r>
              <a:r>
                <a:rPr kumimoji="1" lang="zh-CN" altLang="en-US" sz="2400" dirty="0">
                  <a:solidFill>
                    <a:srgbClr val="000000"/>
                  </a:solidFill>
                  <a:latin typeface="Times New Roman" panose="02020603050405020304" pitchFamily="18" charset="0"/>
                  <a:ea typeface="黑体" panose="02010609060101010101" pitchFamily="2" charset="-122"/>
                </a:rPr>
                <a:t>设计时确定的尺寸</a:t>
              </a:r>
              <a:endParaRPr kumimoji="1" lang="en-US" altLang="zh-CN" sz="2400" dirty="0">
                <a:solidFill>
                  <a:srgbClr val="000000"/>
                </a:solidFill>
                <a:latin typeface="黑体" panose="02010609060101010101" pitchFamily="2" charset="-122"/>
                <a:ea typeface="黑体" panose="02010609060101010101" pitchFamily="2" charset="-122"/>
              </a:endParaRPr>
            </a:p>
          </p:txBody>
        </p:sp>
        <p:cxnSp>
          <p:nvCxnSpPr>
            <p:cNvPr id="39" name="直接连接符 2"/>
            <p:cNvCxnSpPr>
              <a:cxnSpLocks noChangeShapeType="1"/>
            </p:cNvCxnSpPr>
            <p:nvPr/>
          </p:nvCxnSpPr>
          <p:spPr bwMode="auto">
            <a:xfrm flipH="1" flipV="1">
              <a:off x="4128684" y="1512808"/>
              <a:ext cx="871943" cy="343630"/>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组合 11"/>
          <p:cNvGrpSpPr/>
          <p:nvPr/>
        </p:nvGrpSpPr>
        <p:grpSpPr bwMode="auto">
          <a:xfrm>
            <a:off x="8059521" y="2530822"/>
            <a:ext cx="2773363" cy="2067815"/>
            <a:chOff x="6327779" y="2276872"/>
            <a:chExt cx="2773870" cy="2067967"/>
          </a:xfrm>
        </p:grpSpPr>
        <p:sp>
          <p:nvSpPr>
            <p:cNvPr id="41" name="Text Box 6"/>
            <p:cNvSpPr txBox="1">
              <a:spLocks noChangeArrowheads="1"/>
            </p:cNvSpPr>
            <p:nvPr/>
          </p:nvSpPr>
          <p:spPr bwMode="auto">
            <a:xfrm>
              <a:off x="6327779" y="3636953"/>
              <a:ext cx="277387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最大极限尺寸</a:t>
              </a:r>
              <a:r>
                <a:rPr kumimoji="1" lang="en-US" altLang="zh-CN" sz="2000" dirty="0">
                  <a:solidFill>
                    <a:srgbClr val="000000"/>
                  </a:solidFill>
                  <a:latin typeface="黑体" panose="02010609060101010101" pitchFamily="2" charset="-122"/>
                  <a:ea typeface="黑体" panose="02010609060101010101" pitchFamily="2" charset="-122"/>
                </a:rPr>
                <a:t>:</a:t>
              </a:r>
              <a:r>
                <a:rPr kumimoji="1" lang="zh-CN" altLang="en-US" sz="2000" dirty="0">
                  <a:solidFill>
                    <a:srgbClr val="000000"/>
                  </a:solidFill>
                  <a:latin typeface="黑体" panose="02010609060101010101" pitchFamily="2" charset="-122"/>
                  <a:ea typeface="黑体" panose="02010609060101010101" pitchFamily="2" charset="-122"/>
                </a:rPr>
                <a:t>允许实际尺寸的最大值</a:t>
              </a:r>
              <a:endParaRPr kumimoji="1" lang="zh-CN" altLang="en-US" sz="2000" dirty="0">
                <a:solidFill>
                  <a:srgbClr val="000000"/>
                </a:solidFill>
                <a:latin typeface="黑体" panose="02010609060101010101" pitchFamily="2" charset="-122"/>
                <a:ea typeface="黑体" panose="02010609060101010101" pitchFamily="2" charset="-122"/>
              </a:endParaRPr>
            </a:p>
          </p:txBody>
        </p:sp>
        <p:cxnSp>
          <p:nvCxnSpPr>
            <p:cNvPr id="42" name="直接连接符 52"/>
            <p:cNvCxnSpPr>
              <a:cxnSpLocks noChangeShapeType="1"/>
            </p:cNvCxnSpPr>
            <p:nvPr/>
          </p:nvCxnSpPr>
          <p:spPr bwMode="auto">
            <a:xfrm flipV="1">
              <a:off x="7927976" y="2276872"/>
              <a:ext cx="666750" cy="1440160"/>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组合 10"/>
          <p:cNvGrpSpPr/>
          <p:nvPr/>
        </p:nvGrpSpPr>
        <p:grpSpPr bwMode="auto">
          <a:xfrm>
            <a:off x="7158614" y="2322105"/>
            <a:ext cx="2443163" cy="1441450"/>
            <a:chOff x="5427017" y="2067763"/>
            <a:chExt cx="2443807" cy="1441314"/>
          </a:xfrm>
        </p:grpSpPr>
        <p:sp>
          <p:nvSpPr>
            <p:cNvPr id="44" name="Text Box 11"/>
            <p:cNvSpPr txBox="1">
              <a:spLocks noChangeArrowheads="1"/>
            </p:cNvSpPr>
            <p:nvPr/>
          </p:nvSpPr>
          <p:spPr bwMode="auto">
            <a:xfrm>
              <a:off x="5427017" y="2801191"/>
              <a:ext cx="24438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最小极限尺寸</a:t>
              </a:r>
              <a:r>
                <a:rPr kumimoji="1" lang="en-US" altLang="zh-CN" sz="2000" dirty="0">
                  <a:solidFill>
                    <a:srgbClr val="000000"/>
                  </a:solidFill>
                  <a:latin typeface="黑体" panose="02010609060101010101" pitchFamily="2" charset="-122"/>
                  <a:ea typeface="黑体" panose="02010609060101010101" pitchFamily="2" charset="-122"/>
                </a:rPr>
                <a:t>:</a:t>
              </a:r>
              <a:r>
                <a:rPr kumimoji="1" lang="zh-CN" altLang="en-US" sz="2000" dirty="0">
                  <a:solidFill>
                    <a:srgbClr val="000000"/>
                  </a:solidFill>
                  <a:latin typeface="黑体" panose="02010609060101010101" pitchFamily="2" charset="-122"/>
                  <a:ea typeface="黑体" panose="02010609060101010101" pitchFamily="2" charset="-122"/>
                </a:rPr>
                <a:t>允许实际尺寸的最小值。</a:t>
              </a:r>
              <a:endParaRPr kumimoji="1" lang="zh-CN" altLang="en-US" sz="2000" dirty="0">
                <a:solidFill>
                  <a:srgbClr val="000000"/>
                </a:solidFill>
                <a:latin typeface="黑体" panose="02010609060101010101" pitchFamily="2" charset="-122"/>
                <a:ea typeface="黑体" panose="02010609060101010101" pitchFamily="2" charset="-122"/>
              </a:endParaRPr>
            </a:p>
          </p:txBody>
        </p:sp>
        <p:cxnSp>
          <p:nvCxnSpPr>
            <p:cNvPr id="45" name="直接连接符 53"/>
            <p:cNvCxnSpPr>
              <a:cxnSpLocks noChangeShapeType="1"/>
            </p:cNvCxnSpPr>
            <p:nvPr/>
          </p:nvCxnSpPr>
          <p:spPr bwMode="auto">
            <a:xfrm flipH="1">
              <a:off x="7016422" y="2067763"/>
              <a:ext cx="552004" cy="747714"/>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6" name="组合 9"/>
          <p:cNvGrpSpPr/>
          <p:nvPr/>
        </p:nvGrpSpPr>
        <p:grpSpPr bwMode="auto">
          <a:xfrm>
            <a:off x="2646959" y="3082257"/>
            <a:ext cx="1817687" cy="906463"/>
            <a:chOff x="1729396" y="3015955"/>
            <a:chExt cx="1817613" cy="907224"/>
          </a:xfrm>
        </p:grpSpPr>
        <p:sp>
          <p:nvSpPr>
            <p:cNvPr id="47" name="Text Box 4"/>
            <p:cNvSpPr txBox="1">
              <a:spLocks noChangeArrowheads="1"/>
            </p:cNvSpPr>
            <p:nvPr/>
          </p:nvSpPr>
          <p:spPr bwMode="auto">
            <a:xfrm>
              <a:off x="1729396" y="3215293"/>
              <a:ext cx="18176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零件制成后实际测得的尺寸</a:t>
              </a:r>
              <a:endParaRPr kumimoji="1" lang="zh-CN" altLang="en-US" sz="2000" dirty="0">
                <a:solidFill>
                  <a:srgbClr val="000000"/>
                </a:solidFill>
                <a:latin typeface="黑体" panose="02010609060101010101" pitchFamily="2" charset="-122"/>
                <a:ea typeface="黑体" panose="02010609060101010101" pitchFamily="2" charset="-122"/>
              </a:endParaRPr>
            </a:p>
          </p:txBody>
        </p:sp>
        <p:cxnSp>
          <p:nvCxnSpPr>
            <p:cNvPr id="48" name="直接连接符 57"/>
            <p:cNvCxnSpPr>
              <a:cxnSpLocks noChangeShapeType="1"/>
              <a:stCxn id="47" idx="0"/>
            </p:cNvCxnSpPr>
            <p:nvPr/>
          </p:nvCxnSpPr>
          <p:spPr bwMode="auto">
            <a:xfrm flipV="1">
              <a:off x="2638203" y="3015955"/>
              <a:ext cx="234366" cy="19933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Group 2"/>
          <p:cNvGrpSpPr/>
          <p:nvPr/>
        </p:nvGrpSpPr>
        <p:grpSpPr bwMode="auto">
          <a:xfrm>
            <a:off x="1886583" y="4477097"/>
            <a:ext cx="976313" cy="1477961"/>
            <a:chOff x="435" y="1135"/>
            <a:chExt cx="615" cy="931"/>
          </a:xfrm>
        </p:grpSpPr>
        <p:grpSp>
          <p:nvGrpSpPr>
            <p:cNvPr id="50" name="Group 3"/>
            <p:cNvGrpSpPr/>
            <p:nvPr/>
          </p:nvGrpSpPr>
          <p:grpSpPr bwMode="auto">
            <a:xfrm>
              <a:off x="784" y="1219"/>
              <a:ext cx="266" cy="793"/>
              <a:chOff x="784" y="1210"/>
              <a:chExt cx="266" cy="808"/>
            </a:xfrm>
          </p:grpSpPr>
          <p:sp>
            <p:nvSpPr>
              <p:cNvPr id="54" name="Line 4"/>
              <p:cNvSpPr>
                <a:spLocks noChangeShapeType="1"/>
              </p:cNvSpPr>
              <p:nvPr/>
            </p:nvSpPr>
            <p:spPr bwMode="auto">
              <a:xfrm rot="16200000" flipV="1">
                <a:off x="917" y="1885"/>
                <a:ext cx="0" cy="26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5" name="Line 5"/>
              <p:cNvSpPr>
                <a:spLocks noChangeShapeType="1"/>
              </p:cNvSpPr>
              <p:nvPr/>
            </p:nvSpPr>
            <p:spPr bwMode="auto">
              <a:xfrm rot="16200000" flipV="1">
                <a:off x="911" y="1097"/>
                <a:ext cx="0" cy="24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6" name="Line 6"/>
              <p:cNvSpPr>
                <a:spLocks noChangeShapeType="1"/>
              </p:cNvSpPr>
              <p:nvPr/>
            </p:nvSpPr>
            <p:spPr bwMode="auto">
              <a:xfrm rot="-5400000">
                <a:off x="458" y="1614"/>
                <a:ext cx="807"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51" name="Group 7"/>
            <p:cNvGrpSpPr/>
            <p:nvPr/>
          </p:nvGrpSpPr>
          <p:grpSpPr bwMode="auto">
            <a:xfrm>
              <a:off x="435" y="1135"/>
              <a:ext cx="407" cy="931"/>
              <a:chOff x="387" y="1135"/>
              <a:chExt cx="407" cy="931"/>
            </a:xfrm>
          </p:grpSpPr>
          <p:sp>
            <p:nvSpPr>
              <p:cNvPr id="52" name="Text Box 8"/>
              <p:cNvSpPr txBox="1">
                <a:spLocks noChangeArrowheads="1"/>
              </p:cNvSpPr>
              <p:nvPr/>
            </p:nvSpPr>
            <p:spPr bwMode="auto">
              <a:xfrm rot="16200000">
                <a:off x="342" y="1689"/>
                <a:ext cx="5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20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sym typeface="UniversalMath1 BT" panose="05050102010205020602" pitchFamily="18" charset="2"/>
                  </a:rPr>
                  <a:t>50</a:t>
                </a:r>
                <a:r>
                  <a:rPr kumimoji="1" lang="en-US" altLang="zh-CN" sz="20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sym typeface="UniversalMath1 BT" panose="05050102010205020602" pitchFamily="18" charset="2"/>
                  </a:rPr>
                  <a:t> </a:t>
                </a:r>
                <a:endParaRPr kumimoji="1" lang="en-US" altLang="zh-CN" sz="20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sym typeface="UniversalMath1 BT" panose="05050102010205020602" pitchFamily="18" charset="2"/>
                </a:endParaRPr>
              </a:p>
            </p:txBody>
          </p:sp>
          <p:sp>
            <p:nvSpPr>
              <p:cNvPr id="53" name="Text Box 9"/>
              <p:cNvSpPr txBox="1">
                <a:spLocks noChangeArrowheads="1"/>
              </p:cNvSpPr>
              <p:nvPr/>
            </p:nvSpPr>
            <p:spPr bwMode="auto">
              <a:xfrm rot="16200000">
                <a:off x="252" y="1270"/>
                <a:ext cx="678"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 </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+0.006 </a:t>
                </a:r>
                <a:endPar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–0.008</a:t>
                </a:r>
                <a:r>
                  <a:rPr kumimoji="1" lang="en-US" altLang="zh-CN" sz="18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 </a:t>
                </a:r>
                <a:endParaRPr kumimoji="1" lang="en-US" altLang="zh-CN" sz="18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grpSp>
      <p:grpSp>
        <p:nvGrpSpPr>
          <p:cNvPr id="57" name="Group 10"/>
          <p:cNvGrpSpPr/>
          <p:nvPr/>
        </p:nvGrpSpPr>
        <p:grpSpPr bwMode="auto">
          <a:xfrm>
            <a:off x="5731830" y="5178773"/>
            <a:ext cx="2050114" cy="830263"/>
            <a:chOff x="2701" y="1311"/>
            <a:chExt cx="1191" cy="523"/>
          </a:xfrm>
        </p:grpSpPr>
        <p:sp>
          <p:nvSpPr>
            <p:cNvPr id="58" name="Text Box 11"/>
            <p:cNvSpPr txBox="1">
              <a:spLocks noChangeArrowheads="1"/>
            </p:cNvSpPr>
            <p:nvPr/>
          </p:nvSpPr>
          <p:spPr bwMode="auto">
            <a:xfrm>
              <a:off x="2701" y="1393"/>
              <a:ext cx="6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800" i="1">
                  <a:solidFill>
                    <a:srgbClr val="000000"/>
                  </a:solidFill>
                  <a:latin typeface="ISOCPEUR" panose="020B0604020202020204" pitchFamily="34" charset="0"/>
                </a:rPr>
                <a:t>Ø</a:t>
              </a:r>
              <a:r>
                <a:rPr kumimoji="1" lang="en-US" altLang="zh-CN" sz="2800">
                  <a:solidFill>
                    <a:srgbClr val="000000"/>
                  </a:solidFill>
                  <a:latin typeface="Times New Roman" panose="02020603050405020304" pitchFamily="18" charset="0"/>
                </a:rPr>
                <a:t> </a:t>
              </a:r>
              <a:r>
                <a:rPr kumimoji="1" lang="en-US" altLang="zh-CN" sz="2800">
                  <a:solidFill>
                    <a:srgbClr val="000000"/>
                  </a:solidFill>
                  <a:latin typeface="黑体" panose="02010609060101010101" pitchFamily="2" charset="-122"/>
                  <a:ea typeface="黑体" panose="02010609060101010101" pitchFamily="2" charset="-122"/>
                  <a:sym typeface="UniversalMath1 BT" panose="05050102010205020602" pitchFamily="18" charset="2"/>
                </a:rPr>
                <a:t>50 </a:t>
              </a:r>
              <a:endParaRPr kumimoji="1" lang="en-US" altLang="zh-CN" sz="280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59" name="Text Box 12"/>
            <p:cNvSpPr txBox="1">
              <a:spLocks noChangeArrowheads="1"/>
            </p:cNvSpPr>
            <p:nvPr/>
          </p:nvSpPr>
          <p:spPr bwMode="auto">
            <a:xfrm>
              <a:off x="3078" y="1311"/>
              <a:ext cx="8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黑体" panose="02010609060101010101" pitchFamily="2" charset="-122"/>
                  <a:ea typeface="黑体" panose="02010609060101010101" pitchFamily="2" charset="-122"/>
                </a:rPr>
                <a:t> +0.006</a:t>
              </a:r>
              <a:endParaRPr kumimoji="1" lang="en-US" altLang="zh-CN" sz="240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400">
                  <a:solidFill>
                    <a:srgbClr val="000000"/>
                  </a:solidFill>
                  <a:latin typeface="黑体" panose="02010609060101010101" pitchFamily="2" charset="-122"/>
                  <a:ea typeface="黑体" panose="02010609060101010101" pitchFamily="2" charset="-122"/>
                </a:rPr>
                <a:t> </a:t>
              </a:r>
              <a:r>
                <a:rPr kumimoji="1" lang="en-US" altLang="zh-CN" sz="2400">
                  <a:solidFill>
                    <a:srgbClr val="000000"/>
                  </a:solidFill>
                  <a:latin typeface="ISOCP" panose="00000400000000000000" pitchFamily="2" charset="0"/>
                  <a:ea typeface="黑体" panose="02010609060101010101" pitchFamily="2" charset="-122"/>
                </a:rPr>
                <a:t>–</a:t>
              </a:r>
              <a:r>
                <a:rPr kumimoji="1" lang="en-US" altLang="zh-CN" sz="2400">
                  <a:solidFill>
                    <a:srgbClr val="000000"/>
                  </a:solidFill>
                  <a:latin typeface="黑体" panose="02010609060101010101" pitchFamily="2" charset="-122"/>
                  <a:ea typeface="黑体" panose="02010609060101010101" pitchFamily="2" charset="-122"/>
                </a:rPr>
                <a:t>0.008 </a:t>
              </a:r>
              <a:endParaRPr kumimoji="1" lang="en-US" altLang="zh-CN" sz="240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6231892" y="4477097"/>
            <a:ext cx="1265237" cy="728663"/>
            <a:chOff x="6231404" y="4125103"/>
            <a:chExt cx="1265237" cy="728663"/>
          </a:xfrm>
        </p:grpSpPr>
        <p:sp>
          <p:nvSpPr>
            <p:cNvPr id="61" name="Text Box 19"/>
            <p:cNvSpPr txBox="1">
              <a:spLocks noChangeArrowheads="1"/>
            </p:cNvSpPr>
            <p:nvPr/>
          </p:nvSpPr>
          <p:spPr bwMode="auto">
            <a:xfrm>
              <a:off x="6231404" y="4125103"/>
              <a:ext cx="12652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Times New Roman" panose="02020603050405020304" pitchFamily="18" charset="0"/>
                  <a:ea typeface="黑体" panose="02010609060101010101" pitchFamily="2" charset="-122"/>
                </a:rPr>
                <a:t>极限偏差</a:t>
              </a:r>
              <a:endParaRPr kumimoji="1" lang="zh-CN" altLang="en-US" sz="2000" dirty="0">
                <a:solidFill>
                  <a:srgbClr val="000000"/>
                </a:solidFill>
                <a:latin typeface="Times New Roman" panose="02020603050405020304" pitchFamily="18" charset="0"/>
                <a:ea typeface="黑体" panose="02010609060101010101" pitchFamily="2" charset="-122"/>
              </a:endParaRPr>
            </a:p>
          </p:txBody>
        </p:sp>
        <p:sp>
          <p:nvSpPr>
            <p:cNvPr id="62" name="Line 20"/>
            <p:cNvSpPr>
              <a:spLocks noChangeShapeType="1"/>
            </p:cNvSpPr>
            <p:nvPr/>
          </p:nvSpPr>
          <p:spPr bwMode="auto">
            <a:xfrm>
              <a:off x="6879104" y="4501341"/>
              <a:ext cx="188912" cy="352425"/>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63" name="Group 21"/>
          <p:cNvGrpSpPr/>
          <p:nvPr/>
        </p:nvGrpSpPr>
        <p:grpSpPr bwMode="auto">
          <a:xfrm>
            <a:off x="2651758" y="4612036"/>
            <a:ext cx="2054225" cy="1260475"/>
            <a:chOff x="917" y="860"/>
            <a:chExt cx="1294" cy="794"/>
          </a:xfrm>
        </p:grpSpPr>
        <p:sp>
          <p:nvSpPr>
            <p:cNvPr id="64" name="Rectangle 22"/>
            <p:cNvSpPr>
              <a:spLocks noChangeArrowheads="1"/>
            </p:cNvSpPr>
            <p:nvPr/>
          </p:nvSpPr>
          <p:spPr bwMode="auto">
            <a:xfrm rot="-5400000">
              <a:off x="1166" y="737"/>
              <a:ext cx="794" cy="1040"/>
            </a:xfrm>
            <a:prstGeom prst="rect">
              <a:avLst/>
            </a:prstGeom>
            <a:noFill/>
            <a:ln w="57150">
              <a:solidFill>
                <a:srgbClr val="000000"/>
              </a:solidFill>
              <a:miter lim="800000"/>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65" name="Group 23"/>
            <p:cNvGrpSpPr/>
            <p:nvPr/>
          </p:nvGrpSpPr>
          <p:grpSpPr bwMode="auto">
            <a:xfrm>
              <a:off x="917" y="1255"/>
              <a:ext cx="1294" cy="4"/>
              <a:chOff x="917" y="1255"/>
              <a:chExt cx="1294" cy="4"/>
            </a:xfrm>
          </p:grpSpPr>
          <p:sp>
            <p:nvSpPr>
              <p:cNvPr id="66" name="Line 24"/>
              <p:cNvSpPr>
                <a:spLocks noChangeShapeType="1"/>
              </p:cNvSpPr>
              <p:nvPr/>
            </p:nvSpPr>
            <p:spPr bwMode="auto">
              <a:xfrm rot="5400000" flipV="1">
                <a:off x="1098" y="1078"/>
                <a:ext cx="0" cy="361"/>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7" name="Line 25"/>
              <p:cNvSpPr>
                <a:spLocks noChangeShapeType="1"/>
              </p:cNvSpPr>
              <p:nvPr/>
            </p:nvSpPr>
            <p:spPr bwMode="auto">
              <a:xfrm rot="5400000" flipV="1">
                <a:off x="2058" y="1101"/>
                <a:ext cx="0" cy="30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8" name="Line 26"/>
              <p:cNvSpPr>
                <a:spLocks noChangeShapeType="1"/>
              </p:cNvSpPr>
              <p:nvPr/>
            </p:nvSpPr>
            <p:spPr bwMode="auto">
              <a:xfrm rot="5400000" flipV="1">
                <a:off x="1593" y="1043"/>
                <a:ext cx="0" cy="4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9" name="Line 27"/>
              <p:cNvSpPr>
                <a:spLocks noChangeShapeType="1"/>
              </p:cNvSpPr>
              <p:nvPr/>
            </p:nvSpPr>
            <p:spPr bwMode="auto">
              <a:xfrm>
                <a:off x="1836" y="1256"/>
                <a:ext cx="39"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0" name="Line 28"/>
              <p:cNvSpPr>
                <a:spLocks noChangeShapeType="1"/>
              </p:cNvSpPr>
              <p:nvPr/>
            </p:nvSpPr>
            <p:spPr bwMode="auto">
              <a:xfrm>
                <a:off x="1308" y="1258"/>
                <a:ext cx="39"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71" name="组合 70"/>
          <p:cNvGrpSpPr/>
          <p:nvPr/>
        </p:nvGrpSpPr>
        <p:grpSpPr>
          <a:xfrm>
            <a:off x="5047617" y="4759672"/>
            <a:ext cx="1477962" cy="695325"/>
            <a:chOff x="5047129" y="4407678"/>
            <a:chExt cx="1477962" cy="695325"/>
          </a:xfrm>
        </p:grpSpPr>
        <p:sp>
          <p:nvSpPr>
            <p:cNvPr id="72" name="Text Box 15"/>
            <p:cNvSpPr txBox="1">
              <a:spLocks noChangeArrowheads="1"/>
            </p:cNvSpPr>
            <p:nvPr/>
          </p:nvSpPr>
          <p:spPr bwMode="auto">
            <a:xfrm>
              <a:off x="5047129" y="4407678"/>
              <a:ext cx="14779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基本尺寸</a:t>
              </a:r>
              <a:endParaRPr kumimoji="1" lang="zh-CN" altLang="en-US" sz="2000" dirty="0">
                <a:solidFill>
                  <a:srgbClr val="000000"/>
                </a:solidFill>
                <a:latin typeface="黑体" panose="02010609060101010101" pitchFamily="2" charset="-122"/>
                <a:ea typeface="黑体" panose="02010609060101010101" pitchFamily="2" charset="-122"/>
              </a:endParaRPr>
            </a:p>
          </p:txBody>
        </p:sp>
        <p:sp>
          <p:nvSpPr>
            <p:cNvPr id="73" name="Line 29"/>
            <p:cNvSpPr>
              <a:spLocks noChangeShapeType="1"/>
            </p:cNvSpPr>
            <p:nvPr/>
          </p:nvSpPr>
          <p:spPr bwMode="auto">
            <a:xfrm>
              <a:off x="5672604" y="4822016"/>
              <a:ext cx="163512" cy="280987"/>
            </a:xfrm>
            <a:prstGeom prst="line">
              <a:avLst/>
            </a:prstGeom>
            <a:noFill/>
            <a:ln w="127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74" name="Rectangle 30"/>
          <p:cNvSpPr>
            <a:spLocks noChangeArrowheads="1"/>
          </p:cNvSpPr>
          <p:nvPr/>
        </p:nvSpPr>
        <p:spPr bwMode="auto">
          <a:xfrm>
            <a:off x="6514467" y="5248622"/>
            <a:ext cx="1135062" cy="663575"/>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75" name="组合 74"/>
          <p:cNvGrpSpPr/>
          <p:nvPr/>
        </p:nvGrpSpPr>
        <p:grpSpPr>
          <a:xfrm>
            <a:off x="7517767" y="4824760"/>
            <a:ext cx="1387475" cy="541337"/>
            <a:chOff x="7517279" y="4472766"/>
            <a:chExt cx="1387475" cy="541337"/>
          </a:xfrm>
        </p:grpSpPr>
        <p:sp>
          <p:nvSpPr>
            <p:cNvPr id="76" name="Text Box 16"/>
            <p:cNvSpPr txBox="1">
              <a:spLocks noChangeArrowheads="1"/>
            </p:cNvSpPr>
            <p:nvPr/>
          </p:nvSpPr>
          <p:spPr bwMode="auto">
            <a:xfrm>
              <a:off x="7837954" y="4472766"/>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上偏差</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77" name="Line 31"/>
            <p:cNvSpPr>
              <a:spLocks noChangeShapeType="1"/>
            </p:cNvSpPr>
            <p:nvPr/>
          </p:nvSpPr>
          <p:spPr bwMode="auto">
            <a:xfrm flipH="1">
              <a:off x="7517279" y="4763278"/>
              <a:ext cx="398462" cy="250825"/>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78" name="组合 77"/>
          <p:cNvGrpSpPr/>
          <p:nvPr/>
        </p:nvGrpSpPr>
        <p:grpSpPr>
          <a:xfrm>
            <a:off x="7551104" y="5769322"/>
            <a:ext cx="1414463" cy="400050"/>
            <a:chOff x="7550616" y="5417328"/>
            <a:chExt cx="1414463" cy="400050"/>
          </a:xfrm>
        </p:grpSpPr>
        <p:sp>
          <p:nvSpPr>
            <p:cNvPr id="79" name="Text Box 17"/>
            <p:cNvSpPr txBox="1">
              <a:spLocks noChangeArrowheads="1"/>
            </p:cNvSpPr>
            <p:nvPr/>
          </p:nvSpPr>
          <p:spPr bwMode="auto">
            <a:xfrm>
              <a:off x="7871291" y="5420503"/>
              <a:ext cx="1093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下偏差</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80" name="Line 32"/>
            <p:cNvSpPr>
              <a:spLocks noChangeShapeType="1"/>
            </p:cNvSpPr>
            <p:nvPr/>
          </p:nvSpPr>
          <p:spPr bwMode="auto">
            <a:xfrm flipH="1" flipV="1">
              <a:off x="7550616" y="5417328"/>
              <a:ext cx="384175" cy="204788"/>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81" name="Text Box 33"/>
          <p:cNvSpPr txBox="1">
            <a:spLocks noChangeArrowheads="1"/>
          </p:cNvSpPr>
          <p:nvPr/>
        </p:nvSpPr>
        <p:spPr bwMode="auto">
          <a:xfrm>
            <a:off x="8957629" y="4678710"/>
            <a:ext cx="1368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000">
                <a:solidFill>
                  <a:srgbClr val="000000"/>
                </a:solidFill>
                <a:latin typeface="黑体" panose="02010609060101010101" pitchFamily="2" charset="-122"/>
                <a:ea typeface="黑体" panose="02010609060101010101" pitchFamily="2" charset="-122"/>
              </a:rPr>
              <a:t>ES</a:t>
            </a:r>
            <a:r>
              <a:rPr kumimoji="1" lang="zh-CN" altLang="en-US" sz="2000">
                <a:solidFill>
                  <a:srgbClr val="000000"/>
                </a:solidFill>
                <a:latin typeface="黑体" panose="02010609060101010101" pitchFamily="2" charset="-122"/>
                <a:ea typeface="黑体" panose="02010609060101010101" pitchFamily="2" charset="-122"/>
              </a:rPr>
              <a:t>（孔）</a:t>
            </a:r>
            <a:endParaRPr kumimoji="1" lang="zh-CN" altLang="en-US" sz="200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000">
                <a:solidFill>
                  <a:srgbClr val="000000"/>
                </a:solidFill>
                <a:latin typeface="黑体" panose="02010609060101010101" pitchFamily="2" charset="-122"/>
                <a:ea typeface="黑体" panose="02010609060101010101" pitchFamily="2" charset="-122"/>
              </a:rPr>
              <a:t>es</a:t>
            </a:r>
            <a:r>
              <a:rPr kumimoji="1" lang="zh-CN" altLang="en-US" sz="2000">
                <a:solidFill>
                  <a:srgbClr val="000000"/>
                </a:solidFill>
                <a:latin typeface="黑体" panose="02010609060101010101" pitchFamily="2" charset="-122"/>
                <a:ea typeface="黑体" panose="02010609060101010101" pitchFamily="2" charset="-122"/>
              </a:rPr>
              <a:t>（轴）</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82" name="Text Box 34"/>
          <p:cNvSpPr txBox="1">
            <a:spLocks noChangeArrowheads="1"/>
          </p:cNvSpPr>
          <p:nvPr/>
        </p:nvSpPr>
        <p:spPr bwMode="auto">
          <a:xfrm>
            <a:off x="8967154" y="5621685"/>
            <a:ext cx="13382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000">
                <a:solidFill>
                  <a:srgbClr val="000000"/>
                </a:solidFill>
                <a:latin typeface="黑体" panose="02010609060101010101" pitchFamily="2" charset="-122"/>
                <a:ea typeface="黑体" panose="02010609060101010101" pitchFamily="2" charset="-122"/>
              </a:rPr>
              <a:t>EI</a:t>
            </a:r>
            <a:r>
              <a:rPr kumimoji="1" lang="zh-CN" altLang="en-US" sz="2000">
                <a:solidFill>
                  <a:srgbClr val="000000"/>
                </a:solidFill>
                <a:latin typeface="黑体" panose="02010609060101010101" pitchFamily="2" charset="-122"/>
                <a:ea typeface="黑体" panose="02010609060101010101" pitchFamily="2" charset="-122"/>
              </a:rPr>
              <a:t>（孔）</a:t>
            </a:r>
            <a:endParaRPr kumimoji="1" lang="zh-CN" altLang="en-US" sz="200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000">
                <a:solidFill>
                  <a:srgbClr val="000000"/>
                </a:solidFill>
                <a:latin typeface="黑体" panose="02010609060101010101" pitchFamily="2" charset="-122"/>
                <a:ea typeface="黑体" panose="02010609060101010101" pitchFamily="2" charset="-122"/>
              </a:rPr>
              <a:t>ei</a:t>
            </a:r>
            <a:r>
              <a:rPr kumimoji="1" lang="zh-CN" altLang="en-US" sz="2000">
                <a:solidFill>
                  <a:srgbClr val="000000"/>
                </a:solidFill>
                <a:latin typeface="黑体" panose="02010609060101010101" pitchFamily="2" charset="-122"/>
                <a:ea typeface="黑体" panose="02010609060101010101" pitchFamily="2" charset="-122"/>
              </a:rPr>
              <a:t>（</a:t>
            </a:r>
            <a:r>
              <a:rPr kumimoji="1" lang="zh-CN" altLang="zh-CN" sz="2000">
                <a:solidFill>
                  <a:srgbClr val="000000"/>
                </a:solidFill>
                <a:latin typeface="黑体" panose="02010609060101010101" pitchFamily="2" charset="-122"/>
                <a:ea typeface="黑体" panose="02010609060101010101" pitchFamily="2" charset="-122"/>
              </a:rPr>
              <a:t>轴）</a:t>
            </a:r>
            <a:endParaRPr kumimoji="1" lang="zh-CN" altLang="en-US" sz="200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down)">
                                      <p:cBhvr>
                                        <p:cTn id="11" dur="500"/>
                                        <p:tgtEl>
                                          <p:spTgt spid="3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up)">
                                      <p:cBhvr>
                                        <p:cTn id="24" dur="5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up)">
                                      <p:cBhvr>
                                        <p:cTn id="29" dur="500"/>
                                        <p:tgtEl>
                                          <p:spTgt spid="33"/>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up)">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fade">
                                      <p:cBhvr>
                                        <p:cTn id="52" dur="500"/>
                                        <p:tgtEl>
                                          <p:spTgt spid="6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wipe(right)">
                                      <p:cBhvr>
                                        <p:cTn id="57" dur="500"/>
                                        <p:tgtEl>
                                          <p:spTgt spid="4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wipe(left)">
                                      <p:cBhvr>
                                        <p:cTn id="62" dur="500"/>
                                        <p:tgtEl>
                                          <p:spTgt spid="5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71"/>
                                        </p:tgtEl>
                                        <p:attrNameLst>
                                          <p:attrName>style.visibility</p:attrName>
                                        </p:attrNameLst>
                                      </p:cBhvr>
                                      <p:to>
                                        <p:strVal val="visible"/>
                                      </p:to>
                                    </p:set>
                                    <p:animEffect transition="in" filter="wipe(down)">
                                      <p:cBhvr>
                                        <p:cTn id="67" dur="500"/>
                                        <p:tgtEl>
                                          <p:spTgt spid="71"/>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strips(downRight)">
                                      <p:cBhvr>
                                        <p:cTn id="72" dur="500"/>
                                        <p:tgtEl>
                                          <p:spTgt spid="7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wipe(down)">
                                      <p:cBhvr>
                                        <p:cTn id="77" dur="500"/>
                                        <p:tgtEl>
                                          <p:spTgt spid="6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wipe(left)">
                                      <p:cBhvr>
                                        <p:cTn id="82" dur="500"/>
                                        <p:tgtEl>
                                          <p:spTgt spid="7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75"/>
                                        </p:tgtEl>
                                        <p:attrNameLst>
                                          <p:attrName>style.visibility</p:attrName>
                                        </p:attrNameLst>
                                      </p:cBhvr>
                                      <p:to>
                                        <p:strVal val="visible"/>
                                      </p:to>
                                    </p:set>
                                    <p:animEffect transition="in" filter="wipe(left)">
                                      <p:cBhvr>
                                        <p:cTn id="87" dur="500"/>
                                        <p:tgtEl>
                                          <p:spTgt spid="7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81"/>
                                        </p:tgtEl>
                                        <p:attrNameLst>
                                          <p:attrName>style.visibility</p:attrName>
                                        </p:attrNameLst>
                                      </p:cBhvr>
                                      <p:to>
                                        <p:strVal val="visible"/>
                                      </p:to>
                                    </p:set>
                                    <p:animEffect transition="in" filter="wipe(up)">
                                      <p:cBhvr>
                                        <p:cTn id="92" dur="500"/>
                                        <p:tgtEl>
                                          <p:spTgt spid="8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82"/>
                                        </p:tgtEl>
                                        <p:attrNameLst>
                                          <p:attrName>style.visibility</p:attrName>
                                        </p:attrNameLst>
                                      </p:cBhvr>
                                      <p:to>
                                        <p:strVal val="visible"/>
                                      </p:to>
                                    </p:set>
                                    <p:animEffect transition="in" filter="wipe(up)">
                                      <p:cBhvr>
                                        <p:cTn id="9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81" grpId="0" autoUpdateAnimBg="0"/>
      <p:bldP spid="82"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3"/>
          <p:cNvSpPr txBox="1">
            <a:spLocks noChangeArrowheads="1"/>
          </p:cNvSpPr>
          <p:nvPr/>
        </p:nvSpPr>
        <p:spPr bwMode="auto">
          <a:xfrm>
            <a:off x="4151784" y="1275468"/>
            <a:ext cx="4955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上偏差 </a:t>
            </a:r>
            <a:r>
              <a:rPr kumimoji="1" lang="en-US" altLang="zh-CN" sz="2400" dirty="0">
                <a:solidFill>
                  <a:srgbClr val="000000"/>
                </a:solidFill>
                <a:latin typeface="黑体" panose="02010609060101010101" pitchFamily="2" charset="-122"/>
                <a:ea typeface="黑体" panose="02010609060101010101" pitchFamily="2" charset="-122"/>
              </a:rPr>
              <a:t>= </a:t>
            </a:r>
            <a:r>
              <a:rPr kumimoji="1" lang="zh-CN" altLang="en-US" sz="2400" dirty="0">
                <a:solidFill>
                  <a:srgbClr val="000000"/>
                </a:solidFill>
                <a:latin typeface="黑体" panose="02010609060101010101" pitchFamily="2" charset="-122"/>
                <a:ea typeface="黑体" panose="02010609060101010101" pitchFamily="2" charset="-122"/>
              </a:rPr>
              <a:t>最大极限尺寸－基本尺寸</a:t>
            </a:r>
            <a:endParaRPr kumimoji="1" lang="en-US" altLang="zh-CN" sz="2400" dirty="0">
              <a:solidFill>
                <a:srgbClr val="000000"/>
              </a:solidFill>
              <a:latin typeface="黑体" panose="02010609060101010101" pitchFamily="2" charset="-122"/>
              <a:ea typeface="黑体" panose="02010609060101010101" pitchFamily="2" charset="-122"/>
            </a:endParaRPr>
          </a:p>
        </p:txBody>
      </p:sp>
      <p:sp>
        <p:nvSpPr>
          <p:cNvPr id="3" name="Text Box 4"/>
          <p:cNvSpPr txBox="1">
            <a:spLocks noChangeArrowheads="1"/>
          </p:cNvSpPr>
          <p:nvPr/>
        </p:nvSpPr>
        <p:spPr bwMode="auto">
          <a:xfrm>
            <a:off x="4151784" y="1791405"/>
            <a:ext cx="4955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黑体" panose="02010609060101010101" pitchFamily="2" charset="-122"/>
                <a:ea typeface="黑体" panose="02010609060101010101" pitchFamily="2" charset="-122"/>
              </a:rPr>
              <a:t>下偏差 </a:t>
            </a:r>
            <a:r>
              <a:rPr kumimoji="1" lang="en-US" altLang="zh-CN" sz="2400">
                <a:solidFill>
                  <a:srgbClr val="000000"/>
                </a:solidFill>
                <a:latin typeface="黑体" panose="02010609060101010101" pitchFamily="2" charset="-122"/>
                <a:ea typeface="黑体" panose="02010609060101010101" pitchFamily="2" charset="-122"/>
              </a:rPr>
              <a:t>= </a:t>
            </a:r>
            <a:r>
              <a:rPr kumimoji="1" lang="zh-CN" altLang="en-US" sz="2400">
                <a:solidFill>
                  <a:srgbClr val="000000"/>
                </a:solidFill>
                <a:latin typeface="黑体" panose="02010609060101010101" pitchFamily="2" charset="-122"/>
                <a:ea typeface="黑体" panose="02010609060101010101" pitchFamily="2" charset="-122"/>
              </a:rPr>
              <a:t>最小极限尺寸－基本尺寸</a:t>
            </a:r>
            <a:endParaRPr kumimoji="1" lang="en-US" altLang="zh-CN" sz="2400">
              <a:solidFill>
                <a:srgbClr val="000000"/>
              </a:solidFill>
              <a:latin typeface="黑体" panose="02010609060101010101" pitchFamily="2" charset="-122"/>
              <a:ea typeface="黑体" panose="02010609060101010101" pitchFamily="2" charset="-122"/>
            </a:endParaRPr>
          </a:p>
        </p:txBody>
      </p:sp>
      <p:sp>
        <p:nvSpPr>
          <p:cNvPr id="4" name="Text Box 7"/>
          <p:cNvSpPr txBox="1">
            <a:spLocks noChangeArrowheads="1"/>
          </p:cNvSpPr>
          <p:nvPr/>
        </p:nvSpPr>
        <p:spPr bwMode="auto">
          <a:xfrm>
            <a:off x="1271464" y="2492896"/>
            <a:ext cx="6937375"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b="1" dirty="0">
                <a:solidFill>
                  <a:srgbClr val="000000"/>
                </a:solidFill>
                <a:latin typeface="Times New Roman" panose="02020603050405020304" pitchFamily="18" charset="0"/>
                <a:ea typeface="黑体" panose="02010609060101010101" pitchFamily="2" charset="-122"/>
              </a:rPr>
              <a:t>尺寸公差</a:t>
            </a:r>
            <a:r>
              <a:rPr kumimoji="1" lang="zh-CN" altLang="en-US" sz="2400" dirty="0">
                <a:solidFill>
                  <a:srgbClr val="000000"/>
                </a:solidFill>
                <a:latin typeface="Times New Roman" panose="02020603050405020304" pitchFamily="18" charset="0"/>
                <a:ea typeface="黑体" panose="02010609060101010101" pitchFamily="2" charset="-122"/>
              </a:rPr>
              <a:t>（简称公差）</a:t>
            </a:r>
            <a:r>
              <a:rPr kumimoji="1" lang="en-US" altLang="zh-CN" sz="2400" dirty="0">
                <a:solidFill>
                  <a:srgbClr val="000000"/>
                </a:solidFill>
                <a:latin typeface="Times New Roman" panose="02020603050405020304" pitchFamily="18" charset="0"/>
                <a:ea typeface="黑体" panose="02010609060101010101" pitchFamily="2" charset="-122"/>
              </a:rPr>
              <a:t>:  </a:t>
            </a:r>
            <a:r>
              <a:rPr kumimoji="1" lang="zh-CN" altLang="en-US" sz="2400" dirty="0">
                <a:solidFill>
                  <a:srgbClr val="000000"/>
                </a:solidFill>
                <a:latin typeface="Times New Roman" panose="02020603050405020304" pitchFamily="18" charset="0"/>
                <a:ea typeface="黑体" panose="02010609060101010101" pitchFamily="2" charset="-122"/>
              </a:rPr>
              <a:t>允许实际尺寸的变动量。</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5" name="Text Box 8"/>
          <p:cNvSpPr txBox="1">
            <a:spLocks noChangeArrowheads="1"/>
          </p:cNvSpPr>
          <p:nvPr/>
        </p:nvSpPr>
        <p:spPr bwMode="auto">
          <a:xfrm>
            <a:off x="1285752" y="2947224"/>
            <a:ext cx="6254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公差 </a:t>
            </a:r>
            <a:r>
              <a:rPr kumimoji="1" lang="en-US" altLang="zh-CN" sz="2400" dirty="0">
                <a:solidFill>
                  <a:srgbClr val="000000"/>
                </a:solidFill>
                <a:latin typeface="黑体" panose="02010609060101010101" pitchFamily="2" charset="-122"/>
                <a:ea typeface="黑体" panose="02010609060101010101" pitchFamily="2" charset="-122"/>
              </a:rPr>
              <a:t>= </a:t>
            </a:r>
            <a:r>
              <a:rPr kumimoji="1" lang="zh-CN" altLang="en-US" sz="2400" dirty="0">
                <a:solidFill>
                  <a:srgbClr val="000000"/>
                </a:solidFill>
                <a:latin typeface="黑体" panose="02010609060101010101" pitchFamily="2" charset="-122"/>
                <a:ea typeface="黑体" panose="02010609060101010101" pitchFamily="2" charset="-122"/>
              </a:rPr>
              <a:t>最大极限尺寸－最小极限尺寸 </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     = </a:t>
            </a:r>
            <a:r>
              <a:rPr kumimoji="1" lang="zh-CN" altLang="en-US" sz="2400" dirty="0">
                <a:solidFill>
                  <a:srgbClr val="000000"/>
                </a:solidFill>
                <a:latin typeface="黑体" panose="02010609060101010101" pitchFamily="2" charset="-122"/>
                <a:ea typeface="黑体" panose="02010609060101010101" pitchFamily="2" charset="-122"/>
              </a:rPr>
              <a:t>上偏差－下偏差</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     = 0.014</a:t>
            </a:r>
            <a:endParaRPr kumimoji="1" lang="en-US" altLang="zh-CN" sz="2400" dirty="0">
              <a:solidFill>
                <a:srgbClr val="000000"/>
              </a:solidFill>
              <a:latin typeface="黑体" panose="02010609060101010101" pitchFamily="2" charset="-122"/>
              <a:ea typeface="黑体" panose="02010609060101010101" pitchFamily="2" charset="-122"/>
            </a:endParaRPr>
          </a:p>
        </p:txBody>
      </p:sp>
      <p:grpSp>
        <p:nvGrpSpPr>
          <p:cNvPr id="6" name="Group 10"/>
          <p:cNvGrpSpPr/>
          <p:nvPr/>
        </p:nvGrpSpPr>
        <p:grpSpPr bwMode="auto">
          <a:xfrm>
            <a:off x="1669983" y="1365129"/>
            <a:ext cx="2050113" cy="830263"/>
            <a:chOff x="2701" y="1311"/>
            <a:chExt cx="1191" cy="523"/>
          </a:xfrm>
        </p:grpSpPr>
        <p:sp>
          <p:nvSpPr>
            <p:cNvPr id="7" name="Text Box 11"/>
            <p:cNvSpPr txBox="1">
              <a:spLocks noChangeArrowheads="1"/>
            </p:cNvSpPr>
            <p:nvPr/>
          </p:nvSpPr>
          <p:spPr bwMode="auto">
            <a:xfrm>
              <a:off x="2701" y="1393"/>
              <a:ext cx="6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800" i="1">
                  <a:solidFill>
                    <a:srgbClr val="000000"/>
                  </a:solidFill>
                  <a:latin typeface="ISOCPEUR" panose="020B0604020202020204" pitchFamily="34" charset="0"/>
                </a:rPr>
                <a:t>Ø</a:t>
              </a:r>
              <a:r>
                <a:rPr kumimoji="1" lang="en-US" altLang="zh-CN" sz="2800">
                  <a:solidFill>
                    <a:srgbClr val="000000"/>
                  </a:solidFill>
                  <a:latin typeface="Times New Roman" panose="02020603050405020304" pitchFamily="18" charset="0"/>
                </a:rPr>
                <a:t> </a:t>
              </a:r>
              <a:r>
                <a:rPr kumimoji="1" lang="en-US" altLang="zh-CN" sz="2800">
                  <a:solidFill>
                    <a:srgbClr val="000000"/>
                  </a:solidFill>
                  <a:latin typeface="黑体" panose="02010609060101010101" pitchFamily="2" charset="-122"/>
                  <a:ea typeface="黑体" panose="02010609060101010101" pitchFamily="2" charset="-122"/>
                  <a:sym typeface="UniversalMath1 BT" panose="05050102010205020602" pitchFamily="18" charset="2"/>
                </a:rPr>
                <a:t>50 </a:t>
              </a:r>
              <a:endParaRPr kumimoji="1" lang="en-US" altLang="zh-CN" sz="280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8" name="Text Box 12"/>
            <p:cNvSpPr txBox="1">
              <a:spLocks noChangeArrowheads="1"/>
            </p:cNvSpPr>
            <p:nvPr/>
          </p:nvSpPr>
          <p:spPr bwMode="auto">
            <a:xfrm>
              <a:off x="3078" y="1311"/>
              <a:ext cx="8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 +0.006</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 </a:t>
              </a:r>
              <a:r>
                <a:rPr kumimoji="1" lang="en-US" altLang="zh-CN" sz="2400" dirty="0">
                  <a:solidFill>
                    <a:srgbClr val="000000"/>
                  </a:solidFill>
                  <a:latin typeface="ISOCP" panose="00000400000000000000" pitchFamily="2" charset="0"/>
                  <a:ea typeface="黑体" panose="02010609060101010101" pitchFamily="2" charset="-122"/>
                </a:rPr>
                <a:t>–</a:t>
              </a:r>
              <a:r>
                <a:rPr kumimoji="1" lang="en-US" altLang="zh-CN" sz="2400" dirty="0">
                  <a:solidFill>
                    <a:srgbClr val="000000"/>
                  </a:solidFill>
                  <a:latin typeface="黑体" panose="02010609060101010101" pitchFamily="2" charset="-122"/>
                  <a:ea typeface="黑体" panose="02010609060101010101" pitchFamily="2" charset="-122"/>
                </a:rPr>
                <a:t>0.008 </a:t>
              </a:r>
              <a:endParaRPr kumimoji="1" lang="en-US" altLang="zh-CN" sz="2400" dirty="0">
                <a:solidFill>
                  <a:srgbClr val="000000"/>
                </a:solidFill>
                <a:latin typeface="黑体" panose="02010609060101010101" pitchFamily="2" charset="-122"/>
                <a:ea typeface="黑体" panose="02010609060101010101" pitchFamily="2" charset="-122"/>
              </a:endParaRPr>
            </a:p>
          </p:txBody>
        </p:sp>
      </p:grpSp>
      <p:sp>
        <p:nvSpPr>
          <p:cNvPr id="9" name="Text Box 40"/>
          <p:cNvSpPr txBox="1">
            <a:spLocks noChangeArrowheads="1"/>
          </p:cNvSpPr>
          <p:nvPr/>
        </p:nvSpPr>
        <p:spPr bwMode="auto">
          <a:xfrm>
            <a:off x="1419680" y="4450804"/>
            <a:ext cx="9142845" cy="1754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同一基本尺寸，公差值的大小反映了尺寸的精度和加工的难易程度。</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lnSpc>
                <a:spcPct val="15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公差值小，精度高，加工难度大；</a:t>
            </a:r>
            <a:endParaRPr kumimoji="1" lang="zh-CN" altLang="en-US" sz="2400" dirty="0">
              <a:solidFill>
                <a:srgbClr val="000000"/>
              </a:solidFill>
              <a:latin typeface="黑体" panose="02010609060101010101" pitchFamily="2" charset="-122"/>
              <a:ea typeface="黑体" panose="02010609060101010101" pitchFamily="2" charset="-122"/>
            </a:endParaRPr>
          </a:p>
          <a:p>
            <a:pPr fontAlgn="base">
              <a:lnSpc>
                <a:spcPct val="15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公差值大，精度低，加工难度小。</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10" name="AutoShape 38"/>
          <p:cNvSpPr>
            <a:spLocks noChangeArrowheads="1"/>
          </p:cNvSpPr>
          <p:nvPr/>
        </p:nvSpPr>
        <p:spPr bwMode="auto">
          <a:xfrm>
            <a:off x="9524601" y="1434218"/>
            <a:ext cx="1422400" cy="782638"/>
          </a:xfrm>
          <a:prstGeom prst="wedgeRoundRectCallout">
            <a:avLst>
              <a:gd name="adj1" fmla="val -79131"/>
              <a:gd name="adj2" fmla="val 2513"/>
              <a:gd name="adj3" fmla="val 16667"/>
            </a:avLst>
          </a:prstGeom>
          <a:solidFill>
            <a:schemeClr val="accent5">
              <a:lumMod val="40000"/>
              <a:lumOff val="60000"/>
            </a:schemeClr>
          </a:solidFill>
          <a:ln>
            <a:headEnd type="none" w="sm" len="lg"/>
            <a:tailEnd type="none" w="sm" len="lg"/>
          </a:ln>
        </p:spPr>
        <p:style>
          <a:lnRef idx="2">
            <a:schemeClr val="accent4"/>
          </a:lnRef>
          <a:fillRef idx="1">
            <a:schemeClr val="lt1"/>
          </a:fillRef>
          <a:effectRef idx="0">
            <a:schemeClr val="accent4"/>
          </a:effectRef>
          <a:fontRef idx="minor">
            <a:schemeClr val="dk1"/>
          </a:fontRef>
        </p:style>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2" charset="-122"/>
              </a:rPr>
              <a:t>偏差可正可负</a:t>
            </a:r>
            <a:endParaRPr kumimoji="1" lang="zh-CN" altLang="en-US" sz="20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2" charset="-122"/>
            </a:endParaRPr>
          </a:p>
        </p:txBody>
      </p:sp>
      <p:sp>
        <p:nvSpPr>
          <p:cNvPr id="11" name="AutoShape 39"/>
          <p:cNvSpPr>
            <a:spLocks noChangeArrowheads="1"/>
          </p:cNvSpPr>
          <p:nvPr/>
        </p:nvSpPr>
        <p:spPr bwMode="auto">
          <a:xfrm>
            <a:off x="3724153" y="3795234"/>
            <a:ext cx="2266950" cy="442674"/>
          </a:xfrm>
          <a:prstGeom prst="wedgeRoundRectCallout">
            <a:avLst>
              <a:gd name="adj1" fmla="val -60304"/>
              <a:gd name="adj2" fmla="val -26959"/>
              <a:gd name="adj3" fmla="val 16667"/>
            </a:avLst>
          </a:prstGeom>
          <a:solidFill>
            <a:schemeClr val="accent5">
              <a:lumMod val="40000"/>
              <a:lumOff val="60000"/>
            </a:schemeClr>
          </a:solidFill>
          <a:ln>
            <a:headEnd type="none" w="sm" len="lg"/>
            <a:tailEnd type="none" w="sm" len="lg"/>
          </a:ln>
        </p:spPr>
        <p:style>
          <a:lnRef idx="2">
            <a:schemeClr val="accent4"/>
          </a:lnRef>
          <a:fillRef idx="1">
            <a:schemeClr val="lt1"/>
          </a:fillRef>
          <a:effectRef idx="0">
            <a:schemeClr val="accent4"/>
          </a:effectRef>
          <a:fontRef idx="minor">
            <a:schemeClr val="dk1"/>
          </a:fontRef>
        </p:style>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rPr>
              <a:t>公差恒为正</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1" end="1"/>
                                            </p:txEl>
                                          </p:spTgt>
                                        </p:tgtEl>
                                        <p:attrNameLst>
                                          <p:attrName>style.visibility</p:attrName>
                                        </p:attrNameLst>
                                      </p:cBhvr>
                                      <p:to>
                                        <p:strVal val="visible"/>
                                      </p:to>
                                    </p:set>
                                    <p:animEffect transition="in" filter="fade">
                                      <p:cBhvr>
                                        <p:cTn id="32" dur="500"/>
                                        <p:tgtEl>
                                          <p:spTgt spid="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animEffect transition="in" filter="fade">
                                      <p:cBhvr>
                                        <p:cTn id="3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build="p"/>
      <p:bldP spid="10" grpId="0" animBg="1" autoUpdateAnimBg="0"/>
      <p:bldP spid="11"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2" name="Group 25"/>
          <p:cNvGrpSpPr/>
          <p:nvPr/>
        </p:nvGrpSpPr>
        <p:grpSpPr bwMode="auto">
          <a:xfrm>
            <a:off x="2436028" y="2915688"/>
            <a:ext cx="7310438" cy="1962150"/>
            <a:chOff x="754" y="808"/>
            <a:chExt cx="4605" cy="1236"/>
          </a:xfrm>
        </p:grpSpPr>
        <p:sp>
          <p:nvSpPr>
            <p:cNvPr id="3" name="Line 28"/>
            <p:cNvSpPr>
              <a:spLocks noChangeShapeType="1"/>
            </p:cNvSpPr>
            <p:nvPr/>
          </p:nvSpPr>
          <p:spPr bwMode="auto">
            <a:xfrm>
              <a:off x="945" y="1156"/>
              <a:ext cx="42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 name="Text Box 26"/>
            <p:cNvSpPr txBox="1">
              <a:spLocks noChangeArrowheads="1"/>
            </p:cNvSpPr>
            <p:nvPr/>
          </p:nvSpPr>
          <p:spPr bwMode="auto">
            <a:xfrm>
              <a:off x="842" y="808"/>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 name="Text Box 27"/>
            <p:cNvSpPr txBox="1">
              <a:spLocks noChangeArrowheads="1"/>
            </p:cNvSpPr>
            <p:nvPr/>
          </p:nvSpPr>
          <p:spPr bwMode="auto">
            <a:xfrm>
              <a:off x="842" y="1139"/>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 name="Text Box 29"/>
            <p:cNvSpPr txBox="1">
              <a:spLocks noChangeArrowheads="1"/>
            </p:cNvSpPr>
            <p:nvPr/>
          </p:nvSpPr>
          <p:spPr bwMode="auto">
            <a:xfrm>
              <a:off x="5147" y="100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Text Box 30"/>
            <p:cNvSpPr txBox="1">
              <a:spLocks noChangeArrowheads="1"/>
            </p:cNvSpPr>
            <p:nvPr/>
          </p:nvSpPr>
          <p:spPr bwMode="auto">
            <a:xfrm>
              <a:off x="754" y="100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 name="Text Box 31"/>
            <p:cNvSpPr txBox="1">
              <a:spLocks noChangeArrowheads="1"/>
            </p:cNvSpPr>
            <p:nvPr/>
          </p:nvSpPr>
          <p:spPr bwMode="auto">
            <a:xfrm rot="-5400000">
              <a:off x="904" y="1519"/>
              <a:ext cx="80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rPr>
                <a:t>基本尺寸 </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endParaRPr>
            </a:p>
          </p:txBody>
        </p:sp>
        <p:sp>
          <p:nvSpPr>
            <p:cNvPr id="9" name="Text Box 32"/>
            <p:cNvSpPr txBox="1">
              <a:spLocks noChangeArrowheads="1"/>
            </p:cNvSpPr>
            <p:nvPr/>
          </p:nvSpPr>
          <p:spPr bwMode="auto">
            <a:xfrm rot="-5400000">
              <a:off x="839" y="1419"/>
              <a:ext cx="4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50</a:t>
              </a:r>
              <a:endPar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 name="Line 33"/>
            <p:cNvSpPr>
              <a:spLocks noChangeShapeType="1"/>
            </p:cNvSpPr>
            <p:nvPr/>
          </p:nvSpPr>
          <p:spPr bwMode="auto">
            <a:xfrm>
              <a:off x="1182" y="1141"/>
              <a:ext cx="0" cy="840"/>
            </a:xfrm>
            <a:prstGeom prst="line">
              <a:avLst/>
            </a:prstGeom>
            <a:noFill/>
            <a:ln w="9525">
              <a:solidFill>
                <a:srgbClr val="0000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1" name="Rectangle 45"/>
          <p:cNvSpPr>
            <a:spLocks noChangeArrowheads="1"/>
          </p:cNvSpPr>
          <p:nvPr/>
        </p:nvSpPr>
        <p:spPr bwMode="auto">
          <a:xfrm>
            <a:off x="3906053" y="3276050"/>
            <a:ext cx="976313" cy="382588"/>
          </a:xfrm>
          <a:prstGeom prst="rect">
            <a:avLst/>
          </a:prstGeom>
          <a:solidFill>
            <a:srgbClr val="FF99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2" name="Group 2"/>
          <p:cNvGrpSpPr/>
          <p:nvPr/>
        </p:nvGrpSpPr>
        <p:grpSpPr bwMode="auto">
          <a:xfrm>
            <a:off x="3810803" y="3666575"/>
            <a:ext cx="1089025" cy="666750"/>
            <a:chOff x="1440" y="1176"/>
            <a:chExt cx="686" cy="420"/>
          </a:xfrm>
        </p:grpSpPr>
        <p:sp>
          <p:nvSpPr>
            <p:cNvPr id="13" name="Text Box 3"/>
            <p:cNvSpPr txBox="1">
              <a:spLocks noChangeArrowheads="1"/>
            </p:cNvSpPr>
            <p:nvPr/>
          </p:nvSpPr>
          <p:spPr bwMode="auto">
            <a:xfrm>
              <a:off x="1440" y="1340"/>
              <a:ext cx="686" cy="256"/>
            </a:xfrm>
            <a:prstGeom prst="rect">
              <a:avLst/>
            </a:prstGeom>
            <a:noFill/>
            <a:ln w="9525">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下偏差 </a:t>
              </a:r>
              <a:endParaRPr kumimoji="1" lang="zh-CN" altLang="en-US" sz="20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 name="Line 4"/>
            <p:cNvSpPr>
              <a:spLocks noChangeShapeType="1"/>
            </p:cNvSpPr>
            <p:nvPr/>
          </p:nvSpPr>
          <p:spPr bwMode="auto">
            <a:xfrm flipV="1">
              <a:off x="1806" y="1176"/>
              <a:ext cx="0" cy="151"/>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5" name="Text Box 5"/>
          <p:cNvSpPr txBox="1">
            <a:spLocks noChangeArrowheads="1"/>
          </p:cNvSpPr>
          <p:nvPr/>
        </p:nvSpPr>
        <p:spPr bwMode="auto">
          <a:xfrm>
            <a:off x="4836328" y="3033163"/>
            <a:ext cx="10429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rPr>
              <a:t>+0.008</a:t>
            </a:r>
            <a:endParaRPr kumimoji="1" lang="en-US" altLang="zh-CN" sz="2400">
              <a:solidFill>
                <a:srgbClr val="000000"/>
              </a:solidFill>
              <a:latin typeface="Times New Roman" panose="02020603050405020304" pitchFamily="18" charset="0"/>
            </a:endParaRPr>
          </a:p>
        </p:txBody>
      </p:sp>
      <p:sp>
        <p:nvSpPr>
          <p:cNvPr id="17" name="Text Box 6"/>
          <p:cNvSpPr txBox="1">
            <a:spLocks noChangeArrowheads="1"/>
          </p:cNvSpPr>
          <p:nvPr/>
        </p:nvSpPr>
        <p:spPr bwMode="auto">
          <a:xfrm>
            <a:off x="4836328" y="3439563"/>
            <a:ext cx="971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rPr>
              <a:t>-0.008</a:t>
            </a:r>
            <a:endParaRPr kumimoji="1" lang="en-US" altLang="zh-CN" sz="2400">
              <a:solidFill>
                <a:srgbClr val="000000"/>
              </a:solidFill>
              <a:latin typeface="Times New Roman" panose="02020603050405020304" pitchFamily="18" charset="0"/>
            </a:endParaRPr>
          </a:p>
        </p:txBody>
      </p:sp>
      <p:grpSp>
        <p:nvGrpSpPr>
          <p:cNvPr id="18" name="Group 7"/>
          <p:cNvGrpSpPr/>
          <p:nvPr/>
        </p:nvGrpSpPr>
        <p:grpSpPr bwMode="auto">
          <a:xfrm>
            <a:off x="6082516" y="2669625"/>
            <a:ext cx="1989137" cy="844550"/>
            <a:chOff x="3051" y="653"/>
            <a:chExt cx="1253" cy="532"/>
          </a:xfrm>
        </p:grpSpPr>
        <p:sp>
          <p:nvSpPr>
            <p:cNvPr id="19" name="Text Box 8"/>
            <p:cNvSpPr txBox="1">
              <a:spLocks noChangeArrowheads="1"/>
            </p:cNvSpPr>
            <p:nvPr/>
          </p:nvSpPr>
          <p:spPr bwMode="auto">
            <a:xfrm>
              <a:off x="3647" y="897"/>
              <a:ext cx="6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+0.008</a:t>
              </a:r>
              <a:endPar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Text Box 9"/>
            <p:cNvSpPr txBox="1">
              <a:spLocks noChangeArrowheads="1"/>
            </p:cNvSpPr>
            <p:nvPr/>
          </p:nvSpPr>
          <p:spPr bwMode="auto">
            <a:xfrm>
              <a:off x="3632" y="653"/>
              <a:ext cx="6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+0.024</a:t>
              </a:r>
              <a:endPar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Rectangle 10"/>
            <p:cNvSpPr>
              <a:spLocks noChangeArrowheads="1"/>
            </p:cNvSpPr>
            <p:nvPr/>
          </p:nvSpPr>
          <p:spPr bwMode="auto">
            <a:xfrm>
              <a:off x="3051" y="800"/>
              <a:ext cx="615" cy="241"/>
            </a:xfrm>
            <a:prstGeom prst="rect">
              <a:avLst/>
            </a:prstGeom>
            <a:solidFill>
              <a:srgbClr val="0099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22" name="Group 11"/>
          <p:cNvGrpSpPr/>
          <p:nvPr/>
        </p:nvGrpSpPr>
        <p:grpSpPr bwMode="auto">
          <a:xfrm>
            <a:off x="7249328" y="3366538"/>
            <a:ext cx="1893888" cy="838200"/>
            <a:chOff x="3786" y="1092"/>
            <a:chExt cx="1193" cy="528"/>
          </a:xfrm>
        </p:grpSpPr>
        <p:sp>
          <p:nvSpPr>
            <p:cNvPr id="23" name="Rectangle 12"/>
            <p:cNvSpPr>
              <a:spLocks noChangeArrowheads="1"/>
            </p:cNvSpPr>
            <p:nvPr/>
          </p:nvSpPr>
          <p:spPr bwMode="auto">
            <a:xfrm>
              <a:off x="3786" y="1251"/>
              <a:ext cx="615" cy="241"/>
            </a:xfrm>
            <a:prstGeom prst="rect">
              <a:avLst/>
            </a:prstGeom>
            <a:solidFill>
              <a:srgbClr val="FF66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Text Box 13"/>
            <p:cNvSpPr txBox="1">
              <a:spLocks noChangeArrowheads="1"/>
            </p:cNvSpPr>
            <p:nvPr/>
          </p:nvSpPr>
          <p:spPr bwMode="auto">
            <a:xfrm>
              <a:off x="4367" y="1092"/>
              <a:ext cx="612"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-0.006</a:t>
              </a:r>
              <a:endParaRPr kumimoji="1" lang="en-US" altLang="zh-CN" sz="240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Text Box 14"/>
            <p:cNvSpPr txBox="1">
              <a:spLocks noChangeArrowheads="1"/>
            </p:cNvSpPr>
            <p:nvPr/>
          </p:nvSpPr>
          <p:spPr bwMode="auto">
            <a:xfrm>
              <a:off x="4367" y="1332"/>
              <a:ext cx="612"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-0.022</a:t>
              </a:r>
              <a:endParaRPr kumimoji="1" lang="en-US" altLang="zh-CN" sz="240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26" name="Text Box 15"/>
          <p:cNvSpPr txBox="1">
            <a:spLocks noChangeArrowheads="1"/>
          </p:cNvSpPr>
          <p:nvPr/>
        </p:nvSpPr>
        <p:spPr bwMode="auto">
          <a:xfrm>
            <a:off x="651749" y="2465176"/>
            <a:ext cx="1970088" cy="5355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公差带图：</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27" name="Text Box 16"/>
          <p:cNvSpPr txBox="1">
            <a:spLocks noChangeArrowheads="1"/>
          </p:cNvSpPr>
          <p:nvPr/>
        </p:nvSpPr>
        <p:spPr bwMode="auto">
          <a:xfrm>
            <a:off x="1314242" y="5676700"/>
            <a:ext cx="1076180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b="1" dirty="0">
                <a:solidFill>
                  <a:srgbClr val="000000"/>
                </a:solidFill>
                <a:latin typeface="黑体" panose="02010609060101010101" pitchFamily="2" charset="-122"/>
                <a:ea typeface="黑体" panose="02010609060101010101" pitchFamily="2" charset="-122"/>
              </a:rPr>
              <a:t>公差带图可以直观地表示出公差的</a:t>
            </a:r>
            <a:r>
              <a:rPr kumimoji="1" lang="zh-CN" altLang="en-US" sz="2400" b="1" dirty="0">
                <a:solidFill>
                  <a:srgbClr val="FF3300"/>
                </a:solidFill>
                <a:latin typeface="黑体" panose="02010609060101010101" pitchFamily="2" charset="-122"/>
                <a:ea typeface="黑体" panose="02010609060101010101" pitchFamily="2" charset="-122"/>
              </a:rPr>
              <a:t>大小</a:t>
            </a:r>
            <a:r>
              <a:rPr kumimoji="1" lang="zh-CN" altLang="en-US" sz="2400" b="1" dirty="0">
                <a:solidFill>
                  <a:srgbClr val="000000"/>
                </a:solidFill>
                <a:latin typeface="黑体" panose="02010609060101010101" pitchFamily="2" charset="-122"/>
                <a:ea typeface="黑体" panose="02010609060101010101" pitchFamily="2" charset="-122"/>
              </a:rPr>
              <a:t>及公差带相对于零线的</a:t>
            </a:r>
            <a:r>
              <a:rPr kumimoji="1" lang="zh-CN" altLang="en-US" sz="2400" b="1" dirty="0">
                <a:solidFill>
                  <a:srgbClr val="FF3300"/>
                </a:solidFill>
                <a:latin typeface="黑体" panose="02010609060101010101" pitchFamily="2" charset="-122"/>
                <a:ea typeface="黑体" panose="02010609060101010101" pitchFamily="2" charset="-122"/>
              </a:rPr>
              <a:t>位置</a:t>
            </a:r>
            <a:r>
              <a:rPr kumimoji="1" lang="zh-CN" altLang="en-US" sz="2400" b="1" dirty="0">
                <a:solidFill>
                  <a:srgbClr val="000000"/>
                </a:solidFill>
                <a:latin typeface="黑体" panose="02010609060101010101" pitchFamily="2" charset="-122"/>
                <a:ea typeface="黑体" panose="02010609060101010101" pitchFamily="2" charset="-122"/>
              </a:rPr>
              <a:t>。</a:t>
            </a:r>
            <a:endParaRPr kumimoji="1" lang="zh-CN" altLang="en-US" sz="2400" b="1" dirty="0">
              <a:solidFill>
                <a:srgbClr val="000000"/>
              </a:solidFill>
              <a:latin typeface="黑体" panose="02010609060101010101" pitchFamily="2" charset="-122"/>
              <a:ea typeface="黑体" panose="02010609060101010101" pitchFamily="2" charset="-122"/>
            </a:endParaRPr>
          </a:p>
        </p:txBody>
      </p:sp>
      <p:grpSp>
        <p:nvGrpSpPr>
          <p:cNvPr id="28" name="Group 17"/>
          <p:cNvGrpSpPr/>
          <p:nvPr/>
        </p:nvGrpSpPr>
        <p:grpSpPr bwMode="auto">
          <a:xfrm>
            <a:off x="5218916" y="4787350"/>
            <a:ext cx="1806575" cy="692150"/>
            <a:chOff x="2507" y="2119"/>
            <a:chExt cx="1138" cy="436"/>
          </a:xfrm>
        </p:grpSpPr>
        <p:sp>
          <p:nvSpPr>
            <p:cNvPr id="29" name="Text Box 18"/>
            <p:cNvSpPr txBox="1">
              <a:spLocks noChangeArrowheads="1"/>
            </p:cNvSpPr>
            <p:nvPr/>
          </p:nvSpPr>
          <p:spPr bwMode="auto">
            <a:xfrm>
              <a:off x="2507" y="2258"/>
              <a:ext cx="50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sym typeface="Symbol" panose="05050102010706020507" pitchFamily="18" charset="2"/>
                </a:rPr>
                <a:t>50</a:t>
              </a:r>
              <a:endParaRPr kumimoji="1" lang="en-US" altLang="zh-CN" sz="2400">
                <a:solidFill>
                  <a:srgbClr val="000000"/>
                </a:solidFill>
                <a:latin typeface="Times New Roman" panose="02020603050405020304" pitchFamily="18" charset="0"/>
                <a:ea typeface="黑体" panose="02010609060101010101" pitchFamily="2" charset="-122"/>
              </a:endParaRPr>
            </a:p>
          </p:txBody>
        </p:sp>
        <p:sp>
          <p:nvSpPr>
            <p:cNvPr id="30" name="Text Box 19"/>
            <p:cNvSpPr txBox="1">
              <a:spLocks noChangeArrowheads="1"/>
            </p:cNvSpPr>
            <p:nvPr/>
          </p:nvSpPr>
          <p:spPr bwMode="auto">
            <a:xfrm>
              <a:off x="2988" y="2119"/>
              <a:ext cx="6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rPr>
                <a:t>+0.024</a:t>
              </a:r>
              <a:endParaRPr kumimoji="1" lang="en-US" altLang="zh-CN" sz="2400">
                <a:solidFill>
                  <a:srgbClr val="000000"/>
                </a:solidFill>
                <a:latin typeface="Times New Roman" panose="02020603050405020304" pitchFamily="18" charset="0"/>
                <a:ea typeface="黑体" panose="02010609060101010101" pitchFamily="2" charset="-122"/>
              </a:endParaRPr>
            </a:p>
          </p:txBody>
        </p:sp>
        <p:sp>
          <p:nvSpPr>
            <p:cNvPr id="31" name="Text Box 20"/>
            <p:cNvSpPr txBox="1">
              <a:spLocks noChangeArrowheads="1"/>
            </p:cNvSpPr>
            <p:nvPr/>
          </p:nvSpPr>
          <p:spPr bwMode="auto">
            <a:xfrm>
              <a:off x="2988" y="2267"/>
              <a:ext cx="6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rPr>
                <a:t>+0.008</a:t>
              </a:r>
              <a:endParaRPr kumimoji="1" lang="en-US" altLang="zh-CN" sz="2400">
                <a:solidFill>
                  <a:srgbClr val="000000"/>
                </a:solidFill>
                <a:latin typeface="Times New Roman" panose="02020603050405020304" pitchFamily="18" charset="0"/>
                <a:ea typeface="黑体" panose="02010609060101010101" pitchFamily="2" charset="-122"/>
              </a:endParaRPr>
            </a:p>
          </p:txBody>
        </p:sp>
      </p:grpSp>
      <p:grpSp>
        <p:nvGrpSpPr>
          <p:cNvPr id="32" name="Group 21"/>
          <p:cNvGrpSpPr/>
          <p:nvPr/>
        </p:nvGrpSpPr>
        <p:grpSpPr bwMode="auto">
          <a:xfrm>
            <a:off x="7371566" y="4777825"/>
            <a:ext cx="1755775" cy="698500"/>
            <a:chOff x="3863" y="2113"/>
            <a:chExt cx="1106" cy="440"/>
          </a:xfrm>
        </p:grpSpPr>
        <p:sp>
          <p:nvSpPr>
            <p:cNvPr id="33" name="Text Box 22"/>
            <p:cNvSpPr txBox="1">
              <a:spLocks noChangeArrowheads="1"/>
            </p:cNvSpPr>
            <p:nvPr/>
          </p:nvSpPr>
          <p:spPr bwMode="auto">
            <a:xfrm>
              <a:off x="3863" y="2249"/>
              <a:ext cx="50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sym typeface="Symbol" panose="05050102010706020507" pitchFamily="18" charset="2"/>
                </a:rPr>
                <a:t>50</a:t>
              </a:r>
              <a:endParaRPr kumimoji="1" lang="en-US" altLang="zh-CN" sz="2400">
                <a:solidFill>
                  <a:srgbClr val="000000"/>
                </a:solidFill>
                <a:latin typeface="Times New Roman" panose="02020603050405020304" pitchFamily="18" charset="0"/>
                <a:ea typeface="黑体" panose="02010609060101010101" pitchFamily="2" charset="-122"/>
              </a:endParaRPr>
            </a:p>
          </p:txBody>
        </p:sp>
        <p:sp>
          <p:nvSpPr>
            <p:cNvPr id="34" name="Text Box 23"/>
            <p:cNvSpPr txBox="1">
              <a:spLocks noChangeArrowheads="1"/>
            </p:cNvSpPr>
            <p:nvPr/>
          </p:nvSpPr>
          <p:spPr bwMode="auto">
            <a:xfrm>
              <a:off x="4357" y="2113"/>
              <a:ext cx="6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rPr>
                <a:t>-0.006</a:t>
              </a:r>
              <a:endParaRPr kumimoji="1" lang="en-US" altLang="zh-CN" sz="2400">
                <a:solidFill>
                  <a:srgbClr val="000000"/>
                </a:solidFill>
                <a:latin typeface="Times New Roman" panose="02020603050405020304" pitchFamily="18" charset="0"/>
                <a:ea typeface="黑体" panose="02010609060101010101" pitchFamily="2" charset="-122"/>
              </a:endParaRPr>
            </a:p>
          </p:txBody>
        </p:sp>
        <p:sp>
          <p:nvSpPr>
            <p:cNvPr id="35" name="Text Box 24"/>
            <p:cNvSpPr txBox="1">
              <a:spLocks noChangeArrowheads="1"/>
            </p:cNvSpPr>
            <p:nvPr/>
          </p:nvSpPr>
          <p:spPr bwMode="auto">
            <a:xfrm>
              <a:off x="4357" y="2265"/>
              <a:ext cx="6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rPr>
                <a:t>-0.022</a:t>
              </a:r>
              <a:endParaRPr kumimoji="1" lang="en-US" altLang="zh-CN" sz="2400">
                <a:solidFill>
                  <a:srgbClr val="000000"/>
                </a:solidFill>
                <a:latin typeface="Times New Roman" panose="02020603050405020304" pitchFamily="18" charset="0"/>
                <a:ea typeface="黑体" panose="02010609060101010101" pitchFamily="2" charset="-122"/>
              </a:endParaRPr>
            </a:p>
          </p:txBody>
        </p:sp>
      </p:grpSp>
      <p:grpSp>
        <p:nvGrpSpPr>
          <p:cNvPr id="36" name="Group 34"/>
          <p:cNvGrpSpPr/>
          <p:nvPr/>
        </p:nvGrpSpPr>
        <p:grpSpPr bwMode="auto">
          <a:xfrm>
            <a:off x="2385228" y="4990550"/>
            <a:ext cx="2520950" cy="473075"/>
            <a:chOff x="722" y="2247"/>
            <a:chExt cx="1588" cy="298"/>
          </a:xfrm>
        </p:grpSpPr>
        <p:sp>
          <p:nvSpPr>
            <p:cNvPr id="38" name="Text Box 35"/>
            <p:cNvSpPr txBox="1">
              <a:spLocks noChangeArrowheads="1"/>
            </p:cNvSpPr>
            <p:nvPr/>
          </p:nvSpPr>
          <p:spPr bwMode="auto">
            <a:xfrm>
              <a:off x="722" y="2247"/>
              <a:ext cx="37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Times New Roman" panose="02020603050405020304" pitchFamily="18" charset="0"/>
                  <a:ea typeface="黑体" panose="02010609060101010101" pitchFamily="2" charset="-122"/>
                </a:rPr>
                <a:t>例</a:t>
              </a:r>
              <a:r>
                <a:rPr kumimoji="1" lang="en-US" altLang="zh-CN" sz="2400">
                  <a:solidFill>
                    <a:srgbClr val="000000"/>
                  </a:solidFill>
                  <a:latin typeface="Times New Roman" panose="02020603050405020304" pitchFamily="18" charset="0"/>
                  <a:ea typeface="黑体" panose="02010609060101010101" pitchFamily="2" charset="-122"/>
                </a:rPr>
                <a:t>:</a:t>
              </a:r>
              <a:endParaRPr kumimoji="1" lang="en-US" altLang="zh-CN" sz="2400">
                <a:solidFill>
                  <a:srgbClr val="000000"/>
                </a:solidFill>
                <a:latin typeface="Times New Roman" panose="02020603050405020304" pitchFamily="18" charset="0"/>
                <a:ea typeface="黑体" panose="02010609060101010101" pitchFamily="2" charset="-122"/>
              </a:endParaRPr>
            </a:p>
          </p:txBody>
        </p:sp>
        <p:sp>
          <p:nvSpPr>
            <p:cNvPr id="39" name="Text Box 36"/>
            <p:cNvSpPr txBox="1">
              <a:spLocks noChangeArrowheads="1"/>
            </p:cNvSpPr>
            <p:nvPr/>
          </p:nvSpPr>
          <p:spPr bwMode="auto">
            <a:xfrm>
              <a:off x="1230" y="2257"/>
              <a:ext cx="10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a:solidFill>
                    <a:srgbClr val="000000"/>
                  </a:solidFill>
                  <a:latin typeface="Times New Roman" panose="02020603050405020304" pitchFamily="18" charset="0"/>
                  <a:ea typeface="黑体" panose="02010609060101010101" pitchFamily="2" charset="-122"/>
                  <a:sym typeface="Symbol" panose="05050102010706020507" pitchFamily="18" charset="2"/>
                </a:rPr>
                <a:t>50±0.008</a:t>
              </a:r>
              <a:endParaRPr kumimoji="1" lang="en-US" altLang="zh-CN" sz="2400">
                <a:solidFill>
                  <a:srgbClr val="000000"/>
                </a:solidFill>
                <a:latin typeface="Times New Roman" panose="02020603050405020304" pitchFamily="18" charset="0"/>
                <a:ea typeface="黑体" panose="02010609060101010101" pitchFamily="2" charset="-122"/>
                <a:sym typeface="Symbol" panose="05050102010706020507" pitchFamily="18" charset="2"/>
              </a:endParaRPr>
            </a:p>
          </p:txBody>
        </p:sp>
      </p:grpSp>
      <p:grpSp>
        <p:nvGrpSpPr>
          <p:cNvPr id="40" name="Group 37"/>
          <p:cNvGrpSpPr/>
          <p:nvPr/>
        </p:nvGrpSpPr>
        <p:grpSpPr bwMode="auto">
          <a:xfrm>
            <a:off x="3323441" y="2618825"/>
            <a:ext cx="1089025" cy="657225"/>
            <a:chOff x="1133" y="516"/>
            <a:chExt cx="686" cy="414"/>
          </a:xfrm>
        </p:grpSpPr>
        <p:sp>
          <p:nvSpPr>
            <p:cNvPr id="41" name="Text Box 38"/>
            <p:cNvSpPr txBox="1">
              <a:spLocks noChangeArrowheads="1"/>
            </p:cNvSpPr>
            <p:nvPr/>
          </p:nvSpPr>
          <p:spPr bwMode="auto">
            <a:xfrm>
              <a:off x="1133" y="516"/>
              <a:ext cx="686" cy="256"/>
            </a:xfrm>
            <a:prstGeom prst="rect">
              <a:avLst/>
            </a:prstGeom>
            <a:noFill/>
            <a:ln w="9525" algn="ctr">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上偏差 </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42" name="Freeform 39"/>
            <p:cNvSpPr/>
            <p:nvPr/>
          </p:nvSpPr>
          <p:spPr bwMode="auto">
            <a:xfrm>
              <a:off x="1648" y="785"/>
              <a:ext cx="58" cy="145"/>
            </a:xfrm>
            <a:custGeom>
              <a:avLst/>
              <a:gdLst>
                <a:gd name="T0" fmla="*/ 0 w 1"/>
                <a:gd name="T1" fmla="*/ 0 h 151"/>
                <a:gd name="T2" fmla="*/ 1 w 1"/>
                <a:gd name="T3" fmla="*/ 151 h 151"/>
                <a:gd name="T4" fmla="*/ 0 60000 65536"/>
                <a:gd name="T5" fmla="*/ 0 60000 65536"/>
              </a:gdLst>
              <a:ahLst/>
              <a:cxnLst>
                <a:cxn ang="T4">
                  <a:pos x="T0" y="T1"/>
                </a:cxn>
                <a:cxn ang="T5">
                  <a:pos x="T2" y="T3"/>
                </a:cxn>
              </a:cxnLst>
              <a:rect l="0" t="0" r="r" b="b"/>
              <a:pathLst>
                <a:path w="1" h="151">
                  <a:moveTo>
                    <a:pt x="0" y="0"/>
                  </a:moveTo>
                  <a:lnTo>
                    <a:pt x="1" y="151"/>
                  </a:lnTo>
                </a:path>
              </a:pathLst>
            </a:custGeom>
            <a:noFill/>
            <a:ln w="9525" cap="flat" cmpd="sng">
              <a:solidFill>
                <a:srgbClr val="FF0000"/>
              </a:solidFill>
              <a:prstDash val="solid"/>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43" name="Text Box 41"/>
          <p:cNvSpPr txBox="1">
            <a:spLocks noChangeArrowheads="1"/>
          </p:cNvSpPr>
          <p:nvPr/>
        </p:nvSpPr>
        <p:spPr bwMode="auto">
          <a:xfrm>
            <a:off x="623392" y="1268760"/>
            <a:ext cx="9686059" cy="936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b="1" dirty="0">
                <a:solidFill>
                  <a:srgbClr val="000000"/>
                </a:solidFill>
                <a:latin typeface="Times New Roman" panose="02020603050405020304" pitchFamily="18" charset="0"/>
                <a:ea typeface="黑体" panose="02010609060101010101" pitchFamily="2" charset="-122"/>
              </a:rPr>
              <a:t>公差带</a:t>
            </a:r>
            <a:r>
              <a:rPr kumimoji="1" lang="zh-CN" altLang="en-US" sz="2400" dirty="0">
                <a:solidFill>
                  <a:srgbClr val="000000"/>
                </a:solidFill>
                <a:latin typeface="Times New Roman" panose="02020603050405020304" pitchFamily="18" charset="0"/>
                <a:ea typeface="黑体" panose="02010609060101010101" pitchFamily="2" charset="-122"/>
              </a:rPr>
              <a:t>：是指代表上、下偏差或最大、最小极限尺寸的两条直线</a:t>
            </a:r>
            <a:endParaRPr kumimoji="1" lang="en-US" altLang="zh-CN" sz="2400" dirty="0">
              <a:solidFill>
                <a:srgbClr val="000000"/>
              </a:solidFill>
              <a:latin typeface="Times New Roman" panose="02020603050405020304" pitchFamily="18" charset="0"/>
              <a:ea typeface="黑体" panose="02010609060101010101" pitchFamily="2" charset="-122"/>
            </a:endParaRPr>
          </a:p>
          <a:p>
            <a:pPr fontAlgn="base">
              <a:lnSpc>
                <a:spcPct val="120000"/>
              </a:lnSpc>
              <a:spcBef>
                <a:spcPct val="0"/>
              </a:spcBef>
              <a:spcAft>
                <a:spcPct val="0"/>
              </a:spcAft>
              <a:buFontTx/>
              <a:buNone/>
            </a:pPr>
            <a:r>
              <a:rPr kumimoji="1" lang="en-US" altLang="zh-CN" sz="2400" dirty="0">
                <a:solidFill>
                  <a:srgbClr val="000000"/>
                </a:solidFill>
                <a:latin typeface="Times New Roman" panose="02020603050405020304" pitchFamily="18" charset="0"/>
                <a:ea typeface="黑体" panose="02010609060101010101" pitchFamily="2" charset="-122"/>
              </a:rPr>
              <a:t>                </a:t>
            </a:r>
            <a:r>
              <a:rPr kumimoji="1" lang="zh-CN" altLang="en-US" sz="2400" dirty="0">
                <a:solidFill>
                  <a:srgbClr val="000000"/>
                </a:solidFill>
                <a:latin typeface="Times New Roman" panose="02020603050405020304" pitchFamily="18" charset="0"/>
                <a:ea typeface="黑体" panose="02010609060101010101" pitchFamily="2" charset="-122"/>
              </a:rPr>
              <a:t>所限定的一个区域。</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grpSp>
        <p:nvGrpSpPr>
          <p:cNvPr id="44" name="Group 42"/>
          <p:cNvGrpSpPr/>
          <p:nvPr/>
        </p:nvGrpSpPr>
        <p:grpSpPr bwMode="auto">
          <a:xfrm>
            <a:off x="9036853" y="2472777"/>
            <a:ext cx="833437" cy="974725"/>
            <a:chOff x="4912" y="1464"/>
            <a:chExt cx="525" cy="614"/>
          </a:xfrm>
        </p:grpSpPr>
        <p:sp>
          <p:nvSpPr>
            <p:cNvPr id="45" name="Text Box 43"/>
            <p:cNvSpPr txBox="1">
              <a:spLocks noChangeArrowheads="1"/>
            </p:cNvSpPr>
            <p:nvPr/>
          </p:nvSpPr>
          <p:spPr bwMode="auto">
            <a:xfrm>
              <a:off x="4912" y="1464"/>
              <a:ext cx="525" cy="256"/>
            </a:xfrm>
            <a:prstGeom prst="rect">
              <a:avLst/>
            </a:prstGeom>
            <a:noFill/>
            <a:ln w="9525" algn="ctr">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零线 </a:t>
              </a:r>
              <a:endParaRPr kumimoji="1" lang="zh-CN" altLang="en-US" sz="2000" dirty="0">
                <a:solidFill>
                  <a:srgbClr val="000000"/>
                </a:solidFill>
                <a:latin typeface="黑体" panose="02010609060101010101" pitchFamily="2" charset="-122"/>
                <a:ea typeface="黑体" panose="02010609060101010101" pitchFamily="2" charset="-122"/>
              </a:endParaRPr>
            </a:p>
          </p:txBody>
        </p:sp>
        <p:sp>
          <p:nvSpPr>
            <p:cNvPr id="46" name="Line 44"/>
            <p:cNvSpPr>
              <a:spLocks noChangeShapeType="1"/>
            </p:cNvSpPr>
            <p:nvPr/>
          </p:nvSpPr>
          <p:spPr bwMode="auto">
            <a:xfrm flipH="1">
              <a:off x="5023" y="1722"/>
              <a:ext cx="178" cy="356"/>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47" name="Group 46"/>
          <p:cNvGrpSpPr/>
          <p:nvPr/>
        </p:nvGrpSpPr>
        <p:grpSpPr bwMode="auto">
          <a:xfrm>
            <a:off x="4499778" y="2615650"/>
            <a:ext cx="1381125" cy="777875"/>
            <a:chOff x="1874" y="514"/>
            <a:chExt cx="870" cy="490"/>
          </a:xfrm>
        </p:grpSpPr>
        <p:sp>
          <p:nvSpPr>
            <p:cNvPr id="48" name="Text Box 47"/>
            <p:cNvSpPr txBox="1">
              <a:spLocks noChangeArrowheads="1"/>
            </p:cNvSpPr>
            <p:nvPr/>
          </p:nvSpPr>
          <p:spPr bwMode="auto">
            <a:xfrm>
              <a:off x="2058" y="514"/>
              <a:ext cx="686" cy="256"/>
            </a:xfrm>
            <a:prstGeom prst="rect">
              <a:avLst/>
            </a:prstGeom>
            <a:noFill/>
            <a:ln w="9525" algn="ctr">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公差带 </a:t>
              </a:r>
              <a:endParaRPr kumimoji="1" lang="zh-CN" altLang="en-US" sz="2000" dirty="0">
                <a:solidFill>
                  <a:srgbClr val="000000"/>
                </a:solidFill>
                <a:latin typeface="黑体" panose="02010609060101010101" pitchFamily="2" charset="-122"/>
                <a:ea typeface="黑体" panose="02010609060101010101" pitchFamily="2" charset="-122"/>
              </a:endParaRPr>
            </a:p>
          </p:txBody>
        </p:sp>
        <p:sp>
          <p:nvSpPr>
            <p:cNvPr id="49" name="Line 48"/>
            <p:cNvSpPr>
              <a:spLocks noChangeShapeType="1"/>
            </p:cNvSpPr>
            <p:nvPr/>
          </p:nvSpPr>
          <p:spPr bwMode="auto">
            <a:xfrm flipH="1">
              <a:off x="1874" y="775"/>
              <a:ext cx="212" cy="229"/>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32"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strVal val="4*#ppt_w"/>
                                          </p:val>
                                        </p:tav>
                                        <p:tav tm="100000">
                                          <p:val>
                                            <p:strVal val="#ppt_w"/>
                                          </p:val>
                                        </p:tav>
                                      </p:tavLst>
                                    </p:anim>
                                    <p:anim calcmode="lin" valueType="num">
                                      <p:cBhvr>
                                        <p:cTn id="33" dur="500" fill="hold"/>
                                        <p:tgtEl>
                                          <p:spTgt spid="11"/>
                                        </p:tgtEl>
                                        <p:attrNameLst>
                                          <p:attrName>ppt_h</p:attrName>
                                        </p:attrNameLst>
                                      </p:cBhvr>
                                      <p:tavLst>
                                        <p:tav tm="0">
                                          <p:val>
                                            <p:strVal val="4*#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iterate type="lt">
                                    <p:tmPct val="100000"/>
                                  </p:iterate>
                                  <p:childTnLst>
                                    <p:set>
                                      <p:cBhvr>
                                        <p:cTn id="37" dur="1" fill="hold">
                                          <p:stCondLst>
                                            <p:cond delay="0"/>
                                          </p:stCondLst>
                                        </p:cTn>
                                        <p:tgtEl>
                                          <p:spTgt spid="15">
                                            <p:txEl>
                                              <p:pRg st="0" end="0"/>
                                            </p:txEl>
                                          </p:spTgt>
                                        </p:tgtEl>
                                        <p:attrNameLst>
                                          <p:attrName>style.visibility</p:attrName>
                                        </p:attrNameLst>
                                      </p:cBhvr>
                                      <p:to>
                                        <p:strVal val="visible"/>
                                      </p:to>
                                    </p:set>
                                    <p:animEffect transition="in" filter="wipe(up)">
                                      <p:cBhvr>
                                        <p:cTn id="38" dur="75"/>
                                        <p:tgtEl>
                                          <p:spTgt spid="1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iterate type="lt">
                                    <p:tmPct val="100000"/>
                                  </p:iterate>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wipe(up)">
                                      <p:cBhvr>
                                        <p:cTn id="43" dur="75"/>
                                        <p:tgtEl>
                                          <p:spTgt spid="1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down)">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up)">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wipe(down)">
                                      <p:cBhvr>
                                        <p:cTn id="58" dur="500"/>
                                        <p:tgtEl>
                                          <p:spTgt spid="4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wipe(left)">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left)">
                                      <p:cBhvr>
                                        <p:cTn id="73" dur="500"/>
                                        <p:tgtEl>
                                          <p:spTgt spid="3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wipe(left)">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utoUpdateAnimBg="0" build="p"/>
      <p:bldP spid="17" grpId="0" autoUpdateAnimBg="0" build="p"/>
      <p:bldP spid="26" grpId="0"/>
      <p:bldP spid="27" grpId="0"/>
      <p:bldP spid="4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208430" y="1347714"/>
            <a:ext cx="3315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标准公差和基本偏差</a:t>
            </a:r>
            <a:endParaRPr lang="zh-CN" altLang="en-US" dirty="0"/>
          </a:p>
        </p:txBody>
      </p:sp>
      <p:sp>
        <p:nvSpPr>
          <p:cNvPr id="3" name="Text Box 3"/>
          <p:cNvSpPr txBox="1">
            <a:spLocks noChangeArrowheads="1"/>
          </p:cNvSpPr>
          <p:nvPr/>
        </p:nvSpPr>
        <p:spPr bwMode="auto">
          <a:xfrm>
            <a:off x="960040" y="2588392"/>
            <a:ext cx="2201862"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b="1" dirty="0">
                <a:solidFill>
                  <a:srgbClr val="000000"/>
                </a:solidFill>
                <a:latin typeface="黑体" panose="02010609060101010101" pitchFamily="2" charset="-122"/>
                <a:ea typeface="黑体" panose="02010609060101010101" pitchFamily="2" charset="-122"/>
              </a:rPr>
              <a:t>（</a:t>
            </a:r>
            <a:r>
              <a:rPr kumimoji="1" lang="en-US" altLang="zh-CN" sz="2400" b="1" dirty="0">
                <a:solidFill>
                  <a:srgbClr val="000000"/>
                </a:solidFill>
                <a:latin typeface="黑体" panose="02010609060101010101" pitchFamily="2" charset="-122"/>
                <a:ea typeface="黑体" panose="02010609060101010101" pitchFamily="2" charset="-122"/>
              </a:rPr>
              <a:t>1</a:t>
            </a:r>
            <a:r>
              <a:rPr kumimoji="1" lang="zh-CN" altLang="en-US" sz="2400" b="1" dirty="0">
                <a:solidFill>
                  <a:srgbClr val="000000"/>
                </a:solidFill>
                <a:latin typeface="黑体" panose="02010609060101010101" pitchFamily="2" charset="-122"/>
                <a:ea typeface="黑体" panose="02010609060101010101" pitchFamily="2" charset="-122"/>
              </a:rPr>
              <a:t>）标准公差</a:t>
            </a:r>
            <a:endParaRPr kumimoji="1" lang="zh-CN" altLang="en-US" sz="2400" b="1" dirty="0">
              <a:solidFill>
                <a:srgbClr val="000000"/>
              </a:solidFill>
              <a:latin typeface="黑体" panose="02010609060101010101" pitchFamily="2" charset="-122"/>
              <a:ea typeface="黑体" panose="02010609060101010101" pitchFamily="2" charset="-122"/>
            </a:endParaRPr>
          </a:p>
        </p:txBody>
      </p:sp>
      <p:sp>
        <p:nvSpPr>
          <p:cNvPr id="4" name="Text Box 4"/>
          <p:cNvSpPr txBox="1">
            <a:spLocks noChangeArrowheads="1"/>
          </p:cNvSpPr>
          <p:nvPr/>
        </p:nvSpPr>
        <p:spPr bwMode="auto">
          <a:xfrm>
            <a:off x="1722040" y="3056704"/>
            <a:ext cx="17494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400">
                <a:solidFill>
                  <a:srgbClr val="000000"/>
                </a:solidFill>
                <a:latin typeface="黑体" panose="02010609060101010101" pitchFamily="2" charset="-122"/>
                <a:ea typeface="黑体" panose="02010609060101010101" pitchFamily="2" charset="-122"/>
              </a:rPr>
              <a:t>代号：</a:t>
            </a:r>
            <a:r>
              <a:rPr kumimoji="1" lang="en-US" altLang="zh-CN" sz="2400">
                <a:solidFill>
                  <a:srgbClr val="CC0000"/>
                </a:solidFill>
                <a:latin typeface="黑体" panose="02010609060101010101" pitchFamily="2" charset="-122"/>
                <a:ea typeface="黑体" panose="02010609060101010101" pitchFamily="2" charset="-122"/>
              </a:rPr>
              <a:t>IT</a:t>
            </a:r>
            <a:endParaRPr kumimoji="1" lang="en-US" altLang="zh-CN" sz="2400">
              <a:solidFill>
                <a:srgbClr val="CC0000"/>
              </a:solidFill>
              <a:latin typeface="黑体" panose="02010609060101010101" pitchFamily="2" charset="-122"/>
              <a:ea typeface="黑体" panose="02010609060101010101" pitchFamily="2" charset="-122"/>
            </a:endParaRPr>
          </a:p>
        </p:txBody>
      </p:sp>
      <p:sp>
        <p:nvSpPr>
          <p:cNvPr id="5" name="Text Box 5"/>
          <p:cNvSpPr txBox="1">
            <a:spLocks noChangeArrowheads="1"/>
          </p:cNvSpPr>
          <p:nvPr/>
        </p:nvSpPr>
        <p:spPr bwMode="auto">
          <a:xfrm>
            <a:off x="2480865" y="3539304"/>
            <a:ext cx="5753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a:solidFill>
                  <a:srgbClr val="000000"/>
                </a:solidFill>
                <a:latin typeface="黑体" panose="02010609060101010101" pitchFamily="2" charset="-122"/>
                <a:ea typeface="黑体" panose="02010609060101010101" pitchFamily="2" charset="-122"/>
              </a:rPr>
              <a:t>IT01</a:t>
            </a:r>
            <a:r>
              <a:rPr kumimoji="1" lang="zh-CN" altLang="en-US" sz="2400">
                <a:solidFill>
                  <a:srgbClr val="000000"/>
                </a:solidFill>
                <a:latin typeface="黑体" panose="02010609060101010101" pitchFamily="2" charset="-122"/>
                <a:ea typeface="黑体" panose="02010609060101010101" pitchFamily="2" charset="-122"/>
              </a:rPr>
              <a:t>、</a:t>
            </a:r>
            <a:r>
              <a:rPr kumimoji="1" lang="en-US" altLang="zh-CN" sz="2400">
                <a:solidFill>
                  <a:srgbClr val="000000"/>
                </a:solidFill>
                <a:latin typeface="黑体" panose="02010609060101010101" pitchFamily="2" charset="-122"/>
                <a:ea typeface="黑体" panose="02010609060101010101" pitchFamily="2" charset="-122"/>
              </a:rPr>
              <a:t>IT0</a:t>
            </a:r>
            <a:r>
              <a:rPr kumimoji="1" lang="zh-CN" altLang="en-US" sz="2400">
                <a:solidFill>
                  <a:srgbClr val="000000"/>
                </a:solidFill>
                <a:latin typeface="黑体" panose="02010609060101010101" pitchFamily="2" charset="-122"/>
                <a:ea typeface="黑体" panose="02010609060101010101" pitchFamily="2" charset="-122"/>
              </a:rPr>
              <a:t>、</a:t>
            </a:r>
            <a:r>
              <a:rPr kumimoji="1" lang="en-US" altLang="zh-CN" sz="2400">
                <a:solidFill>
                  <a:srgbClr val="000000"/>
                </a:solidFill>
                <a:latin typeface="黑体" panose="02010609060101010101" pitchFamily="2" charset="-122"/>
                <a:ea typeface="黑体" panose="02010609060101010101" pitchFamily="2" charset="-122"/>
              </a:rPr>
              <a:t>IT1</a:t>
            </a:r>
            <a:r>
              <a:rPr kumimoji="1" lang="zh-CN" altLang="en-US" sz="2400">
                <a:solidFill>
                  <a:srgbClr val="000000"/>
                </a:solidFill>
                <a:latin typeface="黑体" panose="02010609060101010101" pitchFamily="2" charset="-122"/>
                <a:ea typeface="黑体" panose="02010609060101010101" pitchFamily="2" charset="-122"/>
              </a:rPr>
              <a:t>、</a:t>
            </a:r>
            <a:r>
              <a:rPr kumimoji="1" lang="en-US" altLang="zh-CN" sz="2400">
                <a:solidFill>
                  <a:srgbClr val="000000"/>
                </a:solidFill>
                <a:latin typeface="黑体" panose="02010609060101010101" pitchFamily="2" charset="-122"/>
                <a:ea typeface="黑体" panose="02010609060101010101" pitchFamily="2" charset="-122"/>
              </a:rPr>
              <a:t>IT2</a:t>
            </a:r>
            <a:r>
              <a:rPr kumimoji="1" lang="zh-CN" altLang="en-US" sz="2400">
                <a:solidFill>
                  <a:srgbClr val="000000"/>
                </a:solidFill>
                <a:latin typeface="黑体" panose="02010609060101010101" pitchFamily="2" charset="-122"/>
                <a:ea typeface="黑体" panose="02010609060101010101" pitchFamily="2" charset="-122"/>
              </a:rPr>
              <a:t>、</a:t>
            </a:r>
            <a:r>
              <a:rPr kumimoji="1" lang="en-US" altLang="zh-CN" sz="2400">
                <a:solidFill>
                  <a:srgbClr val="000000"/>
                </a:solidFill>
                <a:latin typeface="Times New Roman" panose="02020603050405020304" pitchFamily="18" charset="0"/>
                <a:cs typeface="Times New Roman" panose="02020603050405020304" pitchFamily="18" charset="0"/>
              </a:rPr>
              <a:t>• • • • • •   </a:t>
            </a:r>
            <a:r>
              <a:rPr kumimoji="1" lang="en-US" altLang="zh-CN" sz="2400">
                <a:solidFill>
                  <a:srgbClr val="000000"/>
                </a:solidFill>
                <a:latin typeface="黑体" panose="02010609060101010101" pitchFamily="2" charset="-122"/>
                <a:ea typeface="黑体" panose="02010609060101010101" pitchFamily="2" charset="-122"/>
              </a:rPr>
              <a:t>IT18</a:t>
            </a:r>
            <a:endParaRPr kumimoji="1" lang="en-US" altLang="zh-CN" sz="2400">
              <a:solidFill>
                <a:srgbClr val="000000"/>
              </a:solidFill>
              <a:latin typeface="黑体" panose="02010609060101010101" pitchFamily="2" charset="-122"/>
              <a:ea typeface="黑体" panose="02010609060101010101" pitchFamily="2" charset="-122"/>
            </a:endParaRPr>
          </a:p>
        </p:txBody>
      </p:sp>
      <p:sp>
        <p:nvSpPr>
          <p:cNvPr id="6" name="Text Box 6"/>
          <p:cNvSpPr txBox="1">
            <a:spLocks noChangeArrowheads="1"/>
          </p:cNvSpPr>
          <p:nvPr/>
        </p:nvSpPr>
        <p:spPr bwMode="auto">
          <a:xfrm>
            <a:off x="2398689" y="4748979"/>
            <a:ext cx="971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400">
                <a:solidFill>
                  <a:srgbClr val="000000"/>
                </a:solidFill>
                <a:latin typeface="黑体" panose="02010609060101010101" pitchFamily="2" charset="-122"/>
                <a:ea typeface="黑体" panose="02010609060101010101" pitchFamily="2" charset="-122"/>
              </a:rPr>
              <a:t>例：</a:t>
            </a:r>
            <a:endParaRPr kumimoji="1" lang="zh-CN" altLang="en-US" sz="2400">
              <a:solidFill>
                <a:srgbClr val="000000"/>
              </a:solidFill>
              <a:latin typeface="黑体" panose="02010609060101010101" pitchFamily="2" charset="-122"/>
              <a:ea typeface="黑体" panose="02010609060101010101" pitchFamily="2" charset="-122"/>
            </a:endParaRPr>
          </a:p>
        </p:txBody>
      </p:sp>
      <p:sp>
        <p:nvSpPr>
          <p:cNvPr id="7" name="Text Box 7"/>
          <p:cNvSpPr txBox="1">
            <a:spLocks noChangeArrowheads="1"/>
          </p:cNvSpPr>
          <p:nvPr/>
        </p:nvSpPr>
        <p:spPr bwMode="auto">
          <a:xfrm>
            <a:off x="3732982" y="4767385"/>
            <a:ext cx="103906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a:solidFill>
                  <a:srgbClr val="000000"/>
                </a:solidFill>
                <a:latin typeface="ISOCPEUR" panose="020B0604020202020204" pitchFamily="34" charset="0"/>
                <a:ea typeface="黑体" panose="02010609060101010101" pitchFamily="2" charset="-122"/>
              </a:rPr>
              <a:t>Ø</a:t>
            </a:r>
            <a:r>
              <a:rPr kumimoji="1" lang="en-US" altLang="zh-CN" sz="2400">
                <a:solidFill>
                  <a:srgbClr val="000000"/>
                </a:solidFill>
                <a:latin typeface="黑体" panose="02010609060101010101" pitchFamily="2" charset="-122"/>
                <a:ea typeface="黑体" panose="02010609060101010101" pitchFamily="2" charset="-122"/>
                <a:sym typeface="UniversalMath1 BT" panose="05050102010205020602" pitchFamily="18" charset="2"/>
              </a:rPr>
              <a:t>50  </a:t>
            </a:r>
            <a:endParaRPr kumimoji="1" lang="en-US" altLang="zh-CN" sz="240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8" name="Text Box 8"/>
          <p:cNvSpPr txBox="1">
            <a:spLocks noChangeArrowheads="1"/>
          </p:cNvSpPr>
          <p:nvPr/>
        </p:nvSpPr>
        <p:spPr bwMode="auto">
          <a:xfrm>
            <a:off x="4981177" y="4741042"/>
            <a:ext cx="24495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IT7</a:t>
            </a:r>
            <a:r>
              <a:rPr kumimoji="1" lang="zh-CN" altLang="en-US" sz="2400" dirty="0">
                <a:solidFill>
                  <a:srgbClr val="000000"/>
                </a:solidFill>
                <a:latin typeface="黑体" panose="02010609060101010101" pitchFamily="2" charset="-122"/>
                <a:ea typeface="黑体" panose="02010609060101010101" pitchFamily="2" charset="-122"/>
              </a:rPr>
              <a:t>：</a:t>
            </a:r>
            <a:r>
              <a:rPr kumimoji="1" lang="en-US" altLang="zh-CN" sz="2400" dirty="0">
                <a:solidFill>
                  <a:srgbClr val="000000"/>
                </a:solidFill>
                <a:latin typeface="黑体" panose="02010609060101010101" pitchFamily="2" charset="-122"/>
                <a:ea typeface="黑体" panose="02010609060101010101" pitchFamily="2" charset="-122"/>
              </a:rPr>
              <a:t>25 </a:t>
            </a:r>
            <a:r>
              <a:rPr kumimoji="1" lang="en-US" altLang="zh-CN" sz="2400" dirty="0" err="1">
                <a:solidFill>
                  <a:srgbClr val="000000"/>
                </a:solidFill>
                <a:latin typeface="黑体" panose="02010609060101010101" pitchFamily="2" charset="-122"/>
                <a:ea typeface="黑体" panose="02010609060101010101" pitchFamily="2" charset="-122"/>
                <a:sym typeface="UniversalMath1 BT" panose="05050102010205020602" pitchFamily="18" charset="2"/>
              </a:rPr>
              <a:t>μm</a:t>
            </a:r>
            <a:endParaRPr kumimoji="1" lang="en-US" altLang="zh-CN" sz="2400" dirty="0">
              <a:solidFill>
                <a:srgbClr val="000000"/>
              </a:solidFill>
              <a:latin typeface="黑体" panose="02010609060101010101" pitchFamily="2" charset="-122"/>
              <a:ea typeface="黑体" panose="02010609060101010101" pitchFamily="2" charset="-122"/>
            </a:endParaRPr>
          </a:p>
        </p:txBody>
      </p:sp>
      <p:sp>
        <p:nvSpPr>
          <p:cNvPr id="9" name="Text Box 9"/>
          <p:cNvSpPr txBox="1">
            <a:spLocks noChangeArrowheads="1"/>
          </p:cNvSpPr>
          <p:nvPr/>
        </p:nvSpPr>
        <p:spPr bwMode="auto">
          <a:xfrm>
            <a:off x="4989115" y="5183954"/>
            <a:ext cx="27733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kumimoji="1" lang="en-US" altLang="zh-CN" sz="2400" dirty="0">
                <a:solidFill>
                  <a:srgbClr val="000000"/>
                </a:solidFill>
                <a:latin typeface="黑体" panose="02010609060101010101" pitchFamily="2" charset="-122"/>
                <a:ea typeface="黑体" panose="02010609060101010101" pitchFamily="2" charset="-122"/>
              </a:rPr>
              <a:t>IT9</a:t>
            </a:r>
            <a:r>
              <a:rPr kumimoji="1" lang="zh-CN" altLang="en-US" sz="2400" dirty="0">
                <a:solidFill>
                  <a:srgbClr val="000000"/>
                </a:solidFill>
                <a:latin typeface="黑体" panose="02010609060101010101" pitchFamily="2" charset="-122"/>
                <a:ea typeface="黑体" panose="02010609060101010101" pitchFamily="2" charset="-122"/>
              </a:rPr>
              <a:t>：</a:t>
            </a:r>
            <a:r>
              <a:rPr kumimoji="1" lang="en-US" altLang="zh-CN" sz="2400" dirty="0">
                <a:solidFill>
                  <a:srgbClr val="000000"/>
                </a:solidFill>
                <a:latin typeface="黑体" panose="02010609060101010101" pitchFamily="2" charset="-122"/>
                <a:ea typeface="黑体" panose="02010609060101010101" pitchFamily="2" charset="-122"/>
              </a:rPr>
              <a:t>62 </a:t>
            </a:r>
            <a:r>
              <a:rPr kumimoji="1" lang="en-US" altLang="zh-CN" sz="2400" dirty="0" err="1">
                <a:solidFill>
                  <a:srgbClr val="000000"/>
                </a:solidFill>
                <a:latin typeface="黑体" panose="02010609060101010101" pitchFamily="2" charset="-122"/>
                <a:ea typeface="黑体" panose="02010609060101010101" pitchFamily="2" charset="-122"/>
                <a:sym typeface="UniversalMath1 BT" panose="05050102010205020602" pitchFamily="18" charset="2"/>
              </a:rPr>
              <a:t>μm</a:t>
            </a:r>
            <a:endParaRPr kumimoji="1" lang="en-US" altLang="zh-CN" sz="2400" dirty="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10" name="Text Box 10"/>
          <p:cNvSpPr txBox="1">
            <a:spLocks noChangeArrowheads="1"/>
          </p:cNvSpPr>
          <p:nvPr/>
        </p:nvSpPr>
        <p:spPr bwMode="auto">
          <a:xfrm>
            <a:off x="7430690" y="4767384"/>
            <a:ext cx="103906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dirty="0">
                <a:solidFill>
                  <a:srgbClr val="000000"/>
                </a:solidFill>
                <a:latin typeface="ISOCPEUR" panose="020B0604020202020204" pitchFamily="34" charset="0"/>
                <a:ea typeface="黑体" panose="02010609060101010101" pitchFamily="2" charset="-122"/>
              </a:rPr>
              <a:t>Ø</a:t>
            </a:r>
            <a:r>
              <a:rPr kumimoji="1" lang="en-US" altLang="zh-CN" sz="2400" dirty="0">
                <a:solidFill>
                  <a:srgbClr val="000000"/>
                </a:solidFill>
                <a:latin typeface="黑体" panose="02010609060101010101" pitchFamily="2" charset="-122"/>
                <a:ea typeface="黑体" panose="02010609060101010101" pitchFamily="2" charset="-122"/>
                <a:sym typeface="UniversalMath1 BT" panose="05050102010205020602" pitchFamily="18" charset="2"/>
              </a:rPr>
              <a:t>30  </a:t>
            </a:r>
            <a:endParaRPr kumimoji="1" lang="en-US" altLang="zh-CN" sz="2400" dirty="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11" name="Text Box 11"/>
          <p:cNvSpPr txBox="1">
            <a:spLocks noChangeArrowheads="1"/>
          </p:cNvSpPr>
          <p:nvPr/>
        </p:nvSpPr>
        <p:spPr bwMode="auto">
          <a:xfrm>
            <a:off x="8279208" y="4714398"/>
            <a:ext cx="2817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kumimoji="1" lang="en-US" altLang="zh-CN" sz="2400" dirty="0">
                <a:solidFill>
                  <a:srgbClr val="000000"/>
                </a:solidFill>
                <a:latin typeface="黑体" panose="02010609060101010101" pitchFamily="2" charset="-122"/>
                <a:ea typeface="黑体" panose="02010609060101010101" pitchFamily="2" charset="-122"/>
              </a:rPr>
              <a:t>IT7</a:t>
            </a:r>
            <a:r>
              <a:rPr kumimoji="1" lang="zh-CN" altLang="en-US" sz="2400" dirty="0">
                <a:solidFill>
                  <a:srgbClr val="000000"/>
                </a:solidFill>
                <a:latin typeface="黑体" panose="02010609060101010101" pitchFamily="2" charset="-122"/>
                <a:ea typeface="黑体" panose="02010609060101010101" pitchFamily="2" charset="-122"/>
              </a:rPr>
              <a:t>：</a:t>
            </a:r>
            <a:r>
              <a:rPr kumimoji="1" lang="en-US" altLang="zh-CN" sz="2400" dirty="0">
                <a:solidFill>
                  <a:srgbClr val="000000"/>
                </a:solidFill>
                <a:latin typeface="黑体" panose="02010609060101010101" pitchFamily="2" charset="-122"/>
                <a:ea typeface="黑体" panose="02010609060101010101" pitchFamily="2" charset="-122"/>
              </a:rPr>
              <a:t>21 </a:t>
            </a:r>
            <a:r>
              <a:rPr kumimoji="1" lang="en-US" altLang="zh-CN" sz="2400" dirty="0" err="1">
                <a:solidFill>
                  <a:srgbClr val="000000"/>
                </a:solidFill>
                <a:latin typeface="黑体" panose="02010609060101010101" pitchFamily="2" charset="-122"/>
                <a:ea typeface="黑体" panose="02010609060101010101" pitchFamily="2" charset="-122"/>
                <a:sym typeface="UniversalMath1 BT" panose="05050102010205020602" pitchFamily="18" charset="2"/>
              </a:rPr>
              <a:t>μm</a:t>
            </a:r>
            <a:endParaRPr kumimoji="1" lang="en-US" altLang="zh-CN" sz="2400" dirty="0">
              <a:solidFill>
                <a:srgbClr val="000000"/>
              </a:solidFill>
              <a:latin typeface="黑体" panose="02010609060101010101" pitchFamily="2" charset="-122"/>
              <a:ea typeface="黑体" panose="02010609060101010101" pitchFamily="2" charset="-122"/>
            </a:endParaRPr>
          </a:p>
        </p:txBody>
      </p:sp>
      <p:sp>
        <p:nvSpPr>
          <p:cNvPr id="12" name="Text Box 12"/>
          <p:cNvSpPr txBox="1">
            <a:spLocks noChangeArrowheads="1"/>
          </p:cNvSpPr>
          <p:nvPr/>
        </p:nvSpPr>
        <p:spPr bwMode="auto">
          <a:xfrm>
            <a:off x="8285558" y="5157311"/>
            <a:ext cx="2744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kumimoji="1" lang="en-US" altLang="zh-CN" sz="2400" dirty="0">
                <a:solidFill>
                  <a:srgbClr val="000000"/>
                </a:solidFill>
                <a:latin typeface="黑体" panose="02010609060101010101" pitchFamily="2" charset="-122"/>
                <a:ea typeface="黑体" panose="02010609060101010101" pitchFamily="2" charset="-122"/>
              </a:rPr>
              <a:t>IT9</a:t>
            </a:r>
            <a:r>
              <a:rPr kumimoji="1" lang="zh-CN" altLang="en-US" sz="2400" dirty="0">
                <a:solidFill>
                  <a:srgbClr val="000000"/>
                </a:solidFill>
                <a:latin typeface="黑体" panose="02010609060101010101" pitchFamily="2" charset="-122"/>
                <a:ea typeface="黑体" panose="02010609060101010101" pitchFamily="2" charset="-122"/>
              </a:rPr>
              <a:t>：</a:t>
            </a:r>
            <a:r>
              <a:rPr kumimoji="1" lang="en-US" altLang="zh-CN" sz="2400" dirty="0">
                <a:solidFill>
                  <a:srgbClr val="000000"/>
                </a:solidFill>
                <a:latin typeface="黑体" panose="02010609060101010101" pitchFamily="2" charset="-122"/>
                <a:ea typeface="黑体" panose="02010609060101010101" pitchFamily="2" charset="-122"/>
              </a:rPr>
              <a:t>52 </a:t>
            </a:r>
            <a:r>
              <a:rPr kumimoji="1" lang="en-US" altLang="zh-CN" sz="2400" dirty="0" err="1">
                <a:solidFill>
                  <a:srgbClr val="000000"/>
                </a:solidFill>
                <a:latin typeface="黑体" panose="02010609060101010101" pitchFamily="2" charset="-122"/>
                <a:ea typeface="黑体" panose="02010609060101010101" pitchFamily="2" charset="-122"/>
                <a:sym typeface="UniversalMath1 BT" panose="05050102010205020602" pitchFamily="18" charset="2"/>
              </a:rPr>
              <a:t>μm</a:t>
            </a:r>
            <a:endParaRPr kumimoji="1" lang="en-US" altLang="zh-CN" sz="2400" dirty="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13" name="Text Box 13"/>
          <p:cNvSpPr txBox="1">
            <a:spLocks noChangeArrowheads="1"/>
          </p:cNvSpPr>
          <p:nvPr/>
        </p:nvSpPr>
        <p:spPr bwMode="auto">
          <a:xfrm>
            <a:off x="3790552" y="3051942"/>
            <a:ext cx="5867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确定公差带</a:t>
            </a:r>
            <a:r>
              <a:rPr kumimoji="1" lang="zh-CN" altLang="en-US" sz="2400" dirty="0">
                <a:solidFill>
                  <a:srgbClr val="FF3300"/>
                </a:solidFill>
                <a:latin typeface="黑体" panose="02010609060101010101" pitchFamily="2" charset="-122"/>
                <a:ea typeface="黑体" panose="02010609060101010101" pitchFamily="2" charset="-122"/>
              </a:rPr>
              <a:t>大小</a:t>
            </a:r>
            <a:r>
              <a:rPr kumimoji="1" lang="zh-CN" altLang="en-US" sz="2400" dirty="0">
                <a:solidFill>
                  <a:srgbClr val="000000"/>
                </a:solidFill>
                <a:latin typeface="黑体" panose="02010609060101010101" pitchFamily="2" charset="-122"/>
                <a:ea typeface="黑体" panose="02010609060101010101" pitchFamily="2" charset="-122"/>
              </a:rPr>
              <a:t>（即公差带的宽度）</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14" name="Text Box 14"/>
          <p:cNvSpPr txBox="1">
            <a:spLocks noChangeArrowheads="1"/>
          </p:cNvSpPr>
          <p:nvPr/>
        </p:nvSpPr>
        <p:spPr bwMode="auto">
          <a:xfrm>
            <a:off x="2060177" y="4126679"/>
            <a:ext cx="69818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黑体" panose="02010609060101010101" pitchFamily="2" charset="-122"/>
                <a:ea typeface="黑体" panose="02010609060101010101" pitchFamily="2" charset="-122"/>
              </a:rPr>
              <a:t>构成</a:t>
            </a:r>
            <a:r>
              <a:rPr kumimoji="1" lang="en-US" altLang="zh-CN" sz="2400">
                <a:solidFill>
                  <a:srgbClr val="000000"/>
                </a:solidFill>
                <a:latin typeface="黑体" panose="02010609060101010101" pitchFamily="2" charset="-122"/>
                <a:ea typeface="黑体" panose="02010609060101010101" pitchFamily="2" charset="-122"/>
              </a:rPr>
              <a:t>20</a:t>
            </a:r>
            <a:r>
              <a:rPr kumimoji="1" lang="zh-CN" altLang="en-US" sz="2400">
                <a:solidFill>
                  <a:srgbClr val="000000"/>
                </a:solidFill>
                <a:latin typeface="黑体" panose="02010609060101010101" pitchFamily="2" charset="-122"/>
                <a:ea typeface="黑体" panose="02010609060101010101" pitchFamily="2" charset="-122"/>
              </a:rPr>
              <a:t>个标准公差等级；数字递增，精度依次降低。</a:t>
            </a:r>
            <a:endParaRPr kumimoji="1" lang="zh-CN" altLang="en-US" sz="2400">
              <a:solidFill>
                <a:srgbClr val="000000"/>
              </a:solidFill>
              <a:latin typeface="黑体" panose="02010609060101010101" pitchFamily="2" charset="-122"/>
              <a:ea typeface="黑体" panose="02010609060101010101" pitchFamily="2" charset="-122"/>
            </a:endParaRPr>
          </a:p>
        </p:txBody>
      </p:sp>
      <p:sp>
        <p:nvSpPr>
          <p:cNvPr id="15" name="Text Box 5"/>
          <p:cNvSpPr txBox="1">
            <a:spLocks noChangeArrowheads="1"/>
          </p:cNvSpPr>
          <p:nvPr/>
        </p:nvSpPr>
        <p:spPr bwMode="auto">
          <a:xfrm>
            <a:off x="911424" y="1916832"/>
            <a:ext cx="109808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000000"/>
                </a:solidFill>
                <a:latin typeface="黑体" panose="02010609060101010101" pitchFamily="2" charset="-122"/>
                <a:ea typeface="黑体" panose="02010609060101010101" pitchFamily="2" charset="-122"/>
              </a:rPr>
              <a:t>国家标准对 </a:t>
            </a:r>
            <a:r>
              <a:rPr lang="zh-CN" altLang="en-US" sz="2400" b="1" dirty="0">
                <a:solidFill>
                  <a:srgbClr val="000000"/>
                </a:solidFill>
                <a:latin typeface="黑体" panose="02010609060101010101" pitchFamily="2" charset="-122"/>
                <a:ea typeface="黑体" panose="02010609060101010101" pitchFamily="2" charset="-122"/>
              </a:rPr>
              <a:t>公差带大小 </a:t>
            </a:r>
            <a:r>
              <a:rPr lang="zh-CN" altLang="en-US" sz="2400" dirty="0">
                <a:solidFill>
                  <a:srgbClr val="000000"/>
                </a:solidFill>
                <a:latin typeface="黑体" panose="02010609060101010101" pitchFamily="2" charset="-122"/>
                <a:ea typeface="黑体" panose="02010609060101010101" pitchFamily="2" charset="-122"/>
              </a:rPr>
              <a:t>及 </a:t>
            </a:r>
            <a:r>
              <a:rPr lang="zh-CN" altLang="en-US" sz="2400" b="1" dirty="0">
                <a:solidFill>
                  <a:srgbClr val="000000"/>
                </a:solidFill>
                <a:latin typeface="黑体" panose="02010609060101010101" pitchFamily="2" charset="-122"/>
                <a:ea typeface="黑体" panose="02010609060101010101" pitchFamily="2" charset="-122"/>
              </a:rPr>
              <a:t>相对于零线的位置 </a:t>
            </a:r>
            <a:r>
              <a:rPr lang="zh-CN" altLang="en-US" sz="2400" dirty="0">
                <a:solidFill>
                  <a:srgbClr val="000000"/>
                </a:solidFill>
                <a:latin typeface="黑体" panose="02010609060101010101" pitchFamily="2" charset="-122"/>
                <a:ea typeface="黑体" panose="02010609060101010101" pitchFamily="2" charset="-122"/>
              </a:rPr>
              <a:t>分别定义为</a:t>
            </a:r>
            <a:r>
              <a:rPr lang="zh-CN" altLang="en-US" sz="2400" b="1" dirty="0">
                <a:solidFill>
                  <a:srgbClr val="000000"/>
                </a:solidFill>
                <a:latin typeface="黑体" panose="02010609060101010101" pitchFamily="2" charset="-122"/>
                <a:ea typeface="黑体" panose="02010609060101010101" pitchFamily="2" charset="-122"/>
              </a:rPr>
              <a:t>标准公差</a:t>
            </a:r>
            <a:r>
              <a:rPr lang="zh-CN" altLang="en-US" sz="2400" dirty="0">
                <a:solidFill>
                  <a:srgbClr val="000000"/>
                </a:solidFill>
                <a:latin typeface="黑体" panose="02010609060101010101" pitchFamily="2" charset="-122"/>
                <a:ea typeface="黑体" panose="02010609060101010101" pitchFamily="2" charset="-122"/>
              </a:rPr>
              <a:t>和</a:t>
            </a:r>
            <a:r>
              <a:rPr lang="zh-CN" altLang="en-US" sz="2400" b="1" dirty="0">
                <a:solidFill>
                  <a:srgbClr val="000000"/>
                </a:solidFill>
                <a:latin typeface="黑体" panose="02010609060101010101" pitchFamily="2" charset="-122"/>
                <a:ea typeface="黑体" panose="02010609060101010101" pitchFamily="2" charset="-122"/>
              </a:rPr>
              <a:t>基本偏差</a:t>
            </a:r>
            <a:endParaRPr lang="zh-CN" altLang="en-US" sz="2400" b="1" dirty="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animEffect transition="in" filter="wipe(left)">
                                      <p:cBhvr>
                                        <p:cTn id="33" dur="500"/>
                                        <p:tgtEl>
                                          <p:spTgt spid="6">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wipe(left)">
                                      <p:cBhvr>
                                        <p:cTn id="38" dur="500"/>
                                        <p:tgtEl>
                                          <p:spTgt spid="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utoUpdateAnimBg="0" build="p"/>
      <p:bldP spid="7" grpId="0" autoUpdateAnimBg="0" build="p"/>
      <p:bldP spid="8" grpId="0"/>
      <p:bldP spid="9" grpId="0"/>
      <p:bldP spid="10" grpId="0"/>
      <p:bldP spid="11" grpId="0"/>
      <p:bldP spid="12" grpId="0"/>
      <p:bldP spid="13" grpId="0"/>
      <p:bldP spid="14" grpId="0"/>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450850" y="1299980"/>
            <a:ext cx="2182305"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b="1" dirty="0">
                <a:solidFill>
                  <a:srgbClr val="000000"/>
                </a:solidFill>
                <a:latin typeface="黑体" panose="02010609060101010101" pitchFamily="2" charset="-122"/>
                <a:ea typeface="黑体" panose="02010609060101010101" pitchFamily="2" charset="-122"/>
              </a:rPr>
              <a:t>（</a:t>
            </a:r>
            <a:r>
              <a:rPr kumimoji="1" lang="en-US" altLang="zh-CN" sz="2400" b="1" dirty="0">
                <a:solidFill>
                  <a:srgbClr val="000000"/>
                </a:solidFill>
                <a:latin typeface="黑体" panose="02010609060101010101" pitchFamily="2" charset="-122"/>
                <a:ea typeface="黑体" panose="02010609060101010101" pitchFamily="2" charset="-122"/>
              </a:rPr>
              <a:t>2</a:t>
            </a:r>
            <a:r>
              <a:rPr kumimoji="1" lang="zh-CN" altLang="en-US" sz="2400" b="1" dirty="0">
                <a:solidFill>
                  <a:srgbClr val="000000"/>
                </a:solidFill>
                <a:latin typeface="黑体" panose="02010609060101010101" pitchFamily="2" charset="-122"/>
                <a:ea typeface="黑体" panose="02010609060101010101" pitchFamily="2" charset="-122"/>
              </a:rPr>
              <a:t>）基本偏差</a:t>
            </a:r>
            <a:endParaRPr kumimoji="1" lang="zh-CN" altLang="en-US" sz="2400" b="1" dirty="0">
              <a:solidFill>
                <a:srgbClr val="000000"/>
              </a:solidFill>
              <a:latin typeface="黑体" panose="02010609060101010101" pitchFamily="2" charset="-122"/>
              <a:ea typeface="黑体" panose="02010609060101010101" pitchFamily="2" charset="-122"/>
            </a:endParaRPr>
          </a:p>
        </p:txBody>
      </p:sp>
      <p:sp>
        <p:nvSpPr>
          <p:cNvPr id="3" name="Line 3"/>
          <p:cNvSpPr>
            <a:spLocks noChangeShapeType="1"/>
          </p:cNvSpPr>
          <p:nvPr/>
        </p:nvSpPr>
        <p:spPr bwMode="auto">
          <a:xfrm>
            <a:off x="6435725" y="3763134"/>
            <a:ext cx="0" cy="455612"/>
          </a:xfrm>
          <a:prstGeom prst="line">
            <a:avLst/>
          </a:prstGeom>
          <a:noFill/>
          <a:ln w="12700">
            <a:solidFill>
              <a:srgbClr val="CC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nvGrpSpPr>
          <p:cNvPr id="4" name="Group 4"/>
          <p:cNvGrpSpPr/>
          <p:nvPr/>
        </p:nvGrpSpPr>
        <p:grpSpPr bwMode="auto">
          <a:xfrm>
            <a:off x="6062663" y="3296409"/>
            <a:ext cx="1146175" cy="1822450"/>
            <a:chOff x="2774" y="949"/>
            <a:chExt cx="722" cy="1156"/>
          </a:xfrm>
        </p:grpSpPr>
        <p:grpSp>
          <p:nvGrpSpPr>
            <p:cNvPr id="5" name="Group 5"/>
            <p:cNvGrpSpPr/>
            <p:nvPr/>
          </p:nvGrpSpPr>
          <p:grpSpPr bwMode="auto">
            <a:xfrm>
              <a:off x="3183" y="1803"/>
              <a:ext cx="313" cy="302"/>
              <a:chOff x="3136" y="1920"/>
              <a:chExt cx="289" cy="302"/>
            </a:xfrm>
          </p:grpSpPr>
          <p:sp>
            <p:nvSpPr>
              <p:cNvPr id="10" name="Line 6"/>
              <p:cNvSpPr>
                <a:spLocks noChangeShapeType="1"/>
              </p:cNvSpPr>
              <p:nvPr/>
            </p:nvSpPr>
            <p:spPr bwMode="auto">
              <a:xfrm>
                <a:off x="3136" y="1921"/>
                <a:ext cx="28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 name="Line 7"/>
              <p:cNvSpPr>
                <a:spLocks noChangeShapeType="1"/>
              </p:cNvSpPr>
              <p:nvPr/>
            </p:nvSpPr>
            <p:spPr bwMode="auto">
              <a:xfrm>
                <a:off x="3137" y="2219"/>
                <a:ext cx="28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8"/>
              <p:cNvSpPr>
                <a:spLocks noChangeShapeType="1"/>
              </p:cNvSpPr>
              <p:nvPr/>
            </p:nvSpPr>
            <p:spPr bwMode="auto">
              <a:xfrm>
                <a:off x="3322" y="1920"/>
                <a:ext cx="0" cy="302"/>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6" name="Group 9"/>
            <p:cNvGrpSpPr/>
            <p:nvPr/>
          </p:nvGrpSpPr>
          <p:grpSpPr bwMode="auto">
            <a:xfrm>
              <a:off x="2774" y="949"/>
              <a:ext cx="315" cy="301"/>
              <a:chOff x="2814" y="1066"/>
              <a:chExt cx="291" cy="301"/>
            </a:xfrm>
          </p:grpSpPr>
          <p:sp>
            <p:nvSpPr>
              <p:cNvPr id="7" name="Line 10"/>
              <p:cNvSpPr>
                <a:spLocks noChangeShapeType="1"/>
              </p:cNvSpPr>
              <p:nvPr/>
            </p:nvSpPr>
            <p:spPr bwMode="auto">
              <a:xfrm>
                <a:off x="2814" y="1066"/>
                <a:ext cx="28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 name="Line 11"/>
              <p:cNvSpPr>
                <a:spLocks noChangeShapeType="1"/>
              </p:cNvSpPr>
              <p:nvPr/>
            </p:nvSpPr>
            <p:spPr bwMode="auto">
              <a:xfrm>
                <a:off x="2817" y="1366"/>
                <a:ext cx="28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 name="Line 12"/>
              <p:cNvSpPr>
                <a:spLocks noChangeShapeType="1"/>
              </p:cNvSpPr>
              <p:nvPr/>
            </p:nvSpPr>
            <p:spPr bwMode="auto">
              <a:xfrm>
                <a:off x="3025" y="1067"/>
                <a:ext cx="0" cy="300"/>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sp>
        <p:nvSpPr>
          <p:cNvPr id="13" name="Line 13"/>
          <p:cNvSpPr>
            <a:spLocks noChangeShapeType="1"/>
          </p:cNvSpPr>
          <p:nvPr/>
        </p:nvSpPr>
        <p:spPr bwMode="auto">
          <a:xfrm>
            <a:off x="7031038" y="4204459"/>
            <a:ext cx="0" cy="447675"/>
          </a:xfrm>
          <a:prstGeom prst="line">
            <a:avLst/>
          </a:prstGeom>
          <a:noFill/>
          <a:ln w="12700">
            <a:solidFill>
              <a:srgbClr val="CC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nvGrpSpPr>
          <p:cNvPr id="14" name="Group 14"/>
          <p:cNvGrpSpPr/>
          <p:nvPr/>
        </p:nvGrpSpPr>
        <p:grpSpPr bwMode="auto">
          <a:xfrm>
            <a:off x="6443663" y="3509134"/>
            <a:ext cx="1538287" cy="506412"/>
            <a:chOff x="3004" y="1083"/>
            <a:chExt cx="933" cy="319"/>
          </a:xfrm>
        </p:grpSpPr>
        <p:grpSp>
          <p:nvGrpSpPr>
            <p:cNvPr id="15" name="Group 15"/>
            <p:cNvGrpSpPr/>
            <p:nvPr/>
          </p:nvGrpSpPr>
          <p:grpSpPr bwMode="auto">
            <a:xfrm>
              <a:off x="3004" y="1313"/>
              <a:ext cx="876" cy="89"/>
              <a:chOff x="3004" y="1313"/>
              <a:chExt cx="876" cy="89"/>
            </a:xfrm>
          </p:grpSpPr>
          <p:sp>
            <p:nvSpPr>
              <p:cNvPr id="18" name="Line 16"/>
              <p:cNvSpPr>
                <a:spLocks noChangeShapeType="1"/>
              </p:cNvSpPr>
              <p:nvPr/>
            </p:nvSpPr>
            <p:spPr bwMode="auto">
              <a:xfrm flipV="1">
                <a:off x="3004" y="1313"/>
                <a:ext cx="233" cy="89"/>
              </a:xfrm>
              <a:prstGeom prst="line">
                <a:avLst/>
              </a:prstGeom>
              <a:noFill/>
              <a:ln w="127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9" name="Line 17"/>
              <p:cNvSpPr>
                <a:spLocks noChangeShapeType="1"/>
              </p:cNvSpPr>
              <p:nvPr/>
            </p:nvSpPr>
            <p:spPr bwMode="auto">
              <a:xfrm>
                <a:off x="3237" y="1313"/>
                <a:ext cx="643" cy="0"/>
              </a:xfrm>
              <a:prstGeom prst="line">
                <a:avLst/>
              </a:prstGeom>
              <a:noFill/>
              <a:ln w="127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17" name="Text Box 18"/>
            <p:cNvSpPr txBox="1">
              <a:spLocks noChangeArrowheads="1"/>
            </p:cNvSpPr>
            <p:nvPr/>
          </p:nvSpPr>
          <p:spPr bwMode="auto">
            <a:xfrm>
              <a:off x="3177" y="1083"/>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CC0000"/>
                  </a:solidFill>
                  <a:latin typeface="黑体" panose="02010609060101010101" pitchFamily="2" charset="-122"/>
                  <a:ea typeface="黑体" panose="02010609060101010101" pitchFamily="2" charset="-122"/>
                </a:rPr>
                <a:t>基本偏差</a:t>
              </a:r>
              <a:endParaRPr kumimoji="1" lang="zh-CN" altLang="en-US" sz="2000">
                <a:solidFill>
                  <a:srgbClr val="CC0000"/>
                </a:solidFill>
                <a:latin typeface="黑体" panose="02010609060101010101" pitchFamily="2" charset="-122"/>
                <a:ea typeface="黑体" panose="02010609060101010101" pitchFamily="2" charset="-122"/>
              </a:endParaRPr>
            </a:p>
          </p:txBody>
        </p:sp>
      </p:grpSp>
      <p:grpSp>
        <p:nvGrpSpPr>
          <p:cNvPr id="20" name="Group 19"/>
          <p:cNvGrpSpPr/>
          <p:nvPr/>
        </p:nvGrpSpPr>
        <p:grpSpPr bwMode="auto">
          <a:xfrm>
            <a:off x="7034213" y="4306059"/>
            <a:ext cx="1646237" cy="396875"/>
            <a:chOff x="3385" y="1585"/>
            <a:chExt cx="974" cy="250"/>
          </a:xfrm>
        </p:grpSpPr>
        <p:grpSp>
          <p:nvGrpSpPr>
            <p:cNvPr id="21" name="Group 20"/>
            <p:cNvGrpSpPr/>
            <p:nvPr/>
          </p:nvGrpSpPr>
          <p:grpSpPr bwMode="auto">
            <a:xfrm>
              <a:off x="3385" y="1659"/>
              <a:ext cx="953" cy="157"/>
              <a:chOff x="3385" y="1659"/>
              <a:chExt cx="953" cy="157"/>
            </a:xfrm>
          </p:grpSpPr>
          <p:sp>
            <p:nvSpPr>
              <p:cNvPr id="23" name="Line 21"/>
              <p:cNvSpPr>
                <a:spLocks noChangeShapeType="1"/>
              </p:cNvSpPr>
              <p:nvPr/>
            </p:nvSpPr>
            <p:spPr bwMode="auto">
              <a:xfrm>
                <a:off x="3385" y="1659"/>
                <a:ext cx="271" cy="153"/>
              </a:xfrm>
              <a:prstGeom prst="line">
                <a:avLst/>
              </a:prstGeom>
              <a:noFill/>
              <a:ln w="127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24" name="Line 22"/>
              <p:cNvSpPr>
                <a:spLocks noChangeShapeType="1"/>
              </p:cNvSpPr>
              <p:nvPr/>
            </p:nvSpPr>
            <p:spPr bwMode="auto">
              <a:xfrm>
                <a:off x="3656" y="1816"/>
                <a:ext cx="682" cy="0"/>
              </a:xfrm>
              <a:prstGeom prst="line">
                <a:avLst/>
              </a:prstGeom>
              <a:noFill/>
              <a:ln w="127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22" name="Text Box 23"/>
            <p:cNvSpPr txBox="1">
              <a:spLocks noChangeArrowheads="1"/>
            </p:cNvSpPr>
            <p:nvPr/>
          </p:nvSpPr>
          <p:spPr bwMode="auto">
            <a:xfrm>
              <a:off x="3633" y="1585"/>
              <a:ext cx="72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a:solidFill>
                    <a:srgbClr val="CC0000"/>
                  </a:solidFill>
                  <a:latin typeface="黑体" panose="02010609060101010101" pitchFamily="2" charset="-122"/>
                  <a:ea typeface="黑体" panose="02010609060101010101" pitchFamily="2" charset="-122"/>
                </a:rPr>
                <a:t>基本偏差</a:t>
              </a:r>
              <a:endParaRPr kumimoji="1" lang="zh-CN" altLang="en-US" sz="2000">
                <a:solidFill>
                  <a:srgbClr val="CC0000"/>
                </a:solidFill>
                <a:latin typeface="黑体" panose="02010609060101010101" pitchFamily="2" charset="-122"/>
                <a:ea typeface="黑体" panose="02010609060101010101" pitchFamily="2" charset="-122"/>
              </a:endParaRPr>
            </a:p>
          </p:txBody>
        </p:sp>
      </p:grpSp>
      <p:grpSp>
        <p:nvGrpSpPr>
          <p:cNvPr id="25" name="Group 24"/>
          <p:cNvGrpSpPr/>
          <p:nvPr/>
        </p:nvGrpSpPr>
        <p:grpSpPr bwMode="auto">
          <a:xfrm>
            <a:off x="6456363" y="2988434"/>
            <a:ext cx="2406650" cy="2182812"/>
            <a:chOff x="3022" y="755"/>
            <a:chExt cx="1516" cy="1375"/>
          </a:xfrm>
        </p:grpSpPr>
        <p:grpSp>
          <p:nvGrpSpPr>
            <p:cNvPr id="26" name="Group 25"/>
            <p:cNvGrpSpPr/>
            <p:nvPr/>
          </p:nvGrpSpPr>
          <p:grpSpPr bwMode="auto">
            <a:xfrm>
              <a:off x="3022" y="981"/>
              <a:ext cx="890" cy="103"/>
              <a:chOff x="3004" y="981"/>
              <a:chExt cx="850" cy="103"/>
            </a:xfrm>
          </p:grpSpPr>
          <p:sp>
            <p:nvSpPr>
              <p:cNvPr id="32" name="Line 26"/>
              <p:cNvSpPr>
                <a:spLocks noChangeShapeType="1"/>
              </p:cNvSpPr>
              <p:nvPr/>
            </p:nvSpPr>
            <p:spPr bwMode="auto">
              <a:xfrm flipV="1">
                <a:off x="3004" y="981"/>
                <a:ext cx="198" cy="10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Line 27"/>
              <p:cNvSpPr>
                <a:spLocks noChangeShapeType="1"/>
              </p:cNvSpPr>
              <p:nvPr/>
            </p:nvSpPr>
            <p:spPr bwMode="auto">
              <a:xfrm>
                <a:off x="3202" y="981"/>
                <a:ext cx="652"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7" name="Text Box 28"/>
            <p:cNvSpPr txBox="1">
              <a:spLocks noChangeArrowheads="1"/>
            </p:cNvSpPr>
            <p:nvPr/>
          </p:nvSpPr>
          <p:spPr bwMode="auto">
            <a:xfrm>
              <a:off x="3178" y="755"/>
              <a:ext cx="79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标准公差</a:t>
              </a:r>
              <a:endParaRPr kumimoji="1" lang="zh-CN" altLang="en-US" sz="20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nvGrpSpPr>
            <p:cNvPr id="28" name="Group 29"/>
            <p:cNvGrpSpPr/>
            <p:nvPr/>
          </p:nvGrpSpPr>
          <p:grpSpPr bwMode="auto">
            <a:xfrm>
              <a:off x="3385" y="1976"/>
              <a:ext cx="1012" cy="135"/>
              <a:chOff x="3385" y="1976"/>
              <a:chExt cx="967" cy="135"/>
            </a:xfrm>
          </p:grpSpPr>
          <p:sp>
            <p:nvSpPr>
              <p:cNvPr id="30" name="Line 30"/>
              <p:cNvSpPr>
                <a:spLocks noChangeShapeType="1"/>
              </p:cNvSpPr>
              <p:nvPr/>
            </p:nvSpPr>
            <p:spPr bwMode="auto">
              <a:xfrm>
                <a:off x="3385" y="1976"/>
                <a:ext cx="298" cy="13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Line 31"/>
              <p:cNvSpPr>
                <a:spLocks noChangeShapeType="1"/>
              </p:cNvSpPr>
              <p:nvPr/>
            </p:nvSpPr>
            <p:spPr bwMode="auto">
              <a:xfrm>
                <a:off x="3683" y="2111"/>
                <a:ext cx="669"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9" name="Text Box 32"/>
            <p:cNvSpPr txBox="1">
              <a:spLocks noChangeArrowheads="1"/>
            </p:cNvSpPr>
            <p:nvPr/>
          </p:nvSpPr>
          <p:spPr bwMode="auto">
            <a:xfrm>
              <a:off x="3529" y="1880"/>
              <a:ext cx="100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标准公差</a:t>
              </a:r>
              <a:endParaRPr kumimoji="1" lang="zh-CN" altLang="en-US" sz="20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sp>
        <p:nvSpPr>
          <p:cNvPr id="34" name="Text Box 33"/>
          <p:cNvSpPr txBox="1">
            <a:spLocks noChangeArrowheads="1"/>
          </p:cNvSpPr>
          <p:nvPr/>
        </p:nvSpPr>
        <p:spPr bwMode="auto">
          <a:xfrm>
            <a:off x="7718425" y="3529771"/>
            <a:ext cx="15779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dirty="0">
                <a:solidFill>
                  <a:srgbClr val="CC0000"/>
                </a:solidFill>
                <a:latin typeface="黑体" panose="02010609060101010101" pitchFamily="2" charset="-122"/>
                <a:ea typeface="黑体" panose="02010609060101010101" pitchFamily="2" charset="-122"/>
              </a:rPr>
              <a:t>（下偏差）</a:t>
            </a:r>
            <a:endParaRPr kumimoji="1" lang="zh-CN" altLang="en-US" sz="2000" dirty="0">
              <a:solidFill>
                <a:srgbClr val="CC0000"/>
              </a:solidFill>
              <a:latin typeface="黑体" panose="02010609060101010101" pitchFamily="2" charset="-122"/>
              <a:ea typeface="黑体" panose="02010609060101010101" pitchFamily="2" charset="-122"/>
            </a:endParaRPr>
          </a:p>
        </p:txBody>
      </p:sp>
      <p:sp>
        <p:nvSpPr>
          <p:cNvPr id="35" name="Text Box 34"/>
          <p:cNvSpPr txBox="1">
            <a:spLocks noChangeArrowheads="1"/>
          </p:cNvSpPr>
          <p:nvPr/>
        </p:nvSpPr>
        <p:spPr bwMode="auto">
          <a:xfrm>
            <a:off x="8399463" y="4310821"/>
            <a:ext cx="156368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dirty="0">
                <a:solidFill>
                  <a:srgbClr val="CC0000"/>
                </a:solidFill>
                <a:latin typeface="黑体" panose="02010609060101010101" pitchFamily="2" charset="-122"/>
                <a:ea typeface="黑体" panose="02010609060101010101" pitchFamily="2" charset="-122"/>
              </a:rPr>
              <a:t>（上偏差）</a:t>
            </a:r>
            <a:endParaRPr kumimoji="1" lang="zh-CN" altLang="en-US" sz="2000" dirty="0">
              <a:solidFill>
                <a:srgbClr val="CC0000"/>
              </a:solidFill>
              <a:latin typeface="黑体" panose="02010609060101010101" pitchFamily="2" charset="-122"/>
              <a:ea typeface="黑体" panose="02010609060101010101" pitchFamily="2" charset="-122"/>
            </a:endParaRPr>
          </a:p>
        </p:txBody>
      </p:sp>
      <p:sp>
        <p:nvSpPr>
          <p:cNvPr id="36" name="Rectangle 35"/>
          <p:cNvSpPr>
            <a:spLocks noChangeArrowheads="1"/>
          </p:cNvSpPr>
          <p:nvPr/>
        </p:nvSpPr>
        <p:spPr bwMode="auto">
          <a:xfrm>
            <a:off x="3128963" y="5725284"/>
            <a:ext cx="690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孔、轴各 </a:t>
            </a:r>
            <a:r>
              <a:rPr kumimoji="1" lang="en-US" altLang="zh-CN" sz="2400" dirty="0">
                <a:solidFill>
                  <a:srgbClr val="000000"/>
                </a:solidFill>
                <a:latin typeface="黑体" panose="02010609060101010101" pitchFamily="2" charset="-122"/>
                <a:ea typeface="黑体" panose="02010609060101010101" pitchFamily="2" charset="-122"/>
              </a:rPr>
              <a:t>28 </a:t>
            </a:r>
            <a:r>
              <a:rPr kumimoji="1" lang="zh-CN" altLang="en-US" sz="2400" dirty="0">
                <a:solidFill>
                  <a:srgbClr val="000000"/>
                </a:solidFill>
                <a:latin typeface="黑体" panose="02010609060101010101" pitchFamily="2" charset="-122"/>
                <a:ea typeface="黑体" panose="02010609060101010101" pitchFamily="2" charset="-122"/>
              </a:rPr>
              <a:t>个基本偏差构成基本偏差系列</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38" name="Line 36"/>
          <p:cNvSpPr>
            <a:spLocks noChangeShapeType="1"/>
          </p:cNvSpPr>
          <p:nvPr/>
        </p:nvSpPr>
        <p:spPr bwMode="auto">
          <a:xfrm>
            <a:off x="2951163" y="4210809"/>
            <a:ext cx="5980112" cy="158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Line 37"/>
          <p:cNvSpPr>
            <a:spLocks noChangeShapeType="1"/>
          </p:cNvSpPr>
          <p:nvPr/>
        </p:nvSpPr>
        <p:spPr bwMode="auto">
          <a:xfrm flipV="1">
            <a:off x="3821113" y="4188584"/>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Text Box 38"/>
          <p:cNvSpPr txBox="1">
            <a:spLocks noChangeArrowheads="1"/>
          </p:cNvSpPr>
          <p:nvPr/>
        </p:nvSpPr>
        <p:spPr bwMode="auto">
          <a:xfrm rot="16200000">
            <a:off x="2670969" y="4338602"/>
            <a:ext cx="1889125"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defRPr/>
            </a:pPr>
            <a:r>
              <a:rPr kumimoji="1" lang="zh-CN" altLang="en-US" sz="2000">
                <a:solidFill>
                  <a:srgbClr val="000000"/>
                </a:solidFill>
                <a:latin typeface="黑体" panose="02010609060101010101" pitchFamily="2" charset="-122"/>
              </a:rPr>
              <a:t>基本尺寸</a:t>
            </a:r>
            <a:endParaRPr kumimoji="1" lang="zh-CN" altLang="en-US" sz="2000">
              <a:solidFill>
                <a:srgbClr val="000000"/>
              </a:solidFill>
              <a:effectLst>
                <a:outerShdw blurRad="38100" dist="38100" dir="2700000" algn="tl">
                  <a:srgbClr val="C0C0C0"/>
                </a:outerShdw>
              </a:effectLst>
              <a:latin typeface="黑体" panose="02010609060101010101" pitchFamily="2" charset="-122"/>
            </a:endParaRPr>
          </a:p>
        </p:txBody>
      </p:sp>
      <p:sp>
        <p:nvSpPr>
          <p:cNvPr id="41" name="Text Box 39"/>
          <p:cNvSpPr txBox="1">
            <a:spLocks noChangeArrowheads="1"/>
          </p:cNvSpPr>
          <p:nvPr/>
        </p:nvSpPr>
        <p:spPr bwMode="auto">
          <a:xfrm>
            <a:off x="2925763" y="3694871"/>
            <a:ext cx="363537"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defRPr/>
            </a:pPr>
            <a:r>
              <a:rPr kumimoji="1" lang="en-US" altLang="zh-CN" sz="2800">
                <a:solidFill>
                  <a:srgbClr val="000000"/>
                </a:solidFill>
                <a:latin typeface="黑体" panose="02010609060101010101" pitchFamily="2" charset="-122"/>
              </a:rPr>
              <a:t>+</a:t>
            </a:r>
            <a:endParaRPr kumimoji="1" lang="en-US" altLang="zh-CN" sz="2800">
              <a:solidFill>
                <a:srgbClr val="000000"/>
              </a:solidFill>
              <a:effectLst>
                <a:outerShdw blurRad="38100" dist="38100" dir="2700000" algn="tl">
                  <a:srgbClr val="C0C0C0"/>
                </a:outerShdw>
              </a:effectLst>
              <a:latin typeface="黑体" panose="02010609060101010101" pitchFamily="2" charset="-122"/>
            </a:endParaRPr>
          </a:p>
          <a:p>
            <a:pPr algn="ctr" fontAlgn="base">
              <a:spcBef>
                <a:spcPct val="0"/>
              </a:spcBef>
              <a:spcAft>
                <a:spcPct val="0"/>
              </a:spcAft>
              <a:defRPr/>
            </a:pPr>
            <a:r>
              <a:rPr kumimoji="1" lang="en-US" altLang="zh-CN" sz="2800">
                <a:solidFill>
                  <a:srgbClr val="000000"/>
                </a:solidFill>
                <a:latin typeface="Times New Roman" panose="02020603050405020304"/>
              </a:rPr>
              <a:t>–</a:t>
            </a:r>
            <a:endParaRPr kumimoji="1" lang="en-US" altLang="zh-CN" sz="2800">
              <a:solidFill>
                <a:srgbClr val="000000"/>
              </a:solidFill>
              <a:effectLst>
                <a:outerShdw blurRad="38100" dist="38100" dir="2700000" algn="tl">
                  <a:srgbClr val="C0C0C0"/>
                </a:outerShdw>
              </a:effectLst>
              <a:latin typeface="黑体" panose="02010609060101010101" pitchFamily="2" charset="-122"/>
            </a:endParaRPr>
          </a:p>
        </p:txBody>
      </p:sp>
      <p:sp>
        <p:nvSpPr>
          <p:cNvPr id="42" name="Rectangle 40" descr="宽上对角线"/>
          <p:cNvSpPr>
            <a:spLocks noChangeArrowheads="1"/>
          </p:cNvSpPr>
          <p:nvPr/>
        </p:nvSpPr>
        <p:spPr bwMode="auto">
          <a:xfrm>
            <a:off x="5248275" y="3299584"/>
            <a:ext cx="847725" cy="481012"/>
          </a:xfrm>
          <a:prstGeom prst="rect">
            <a:avLst/>
          </a:prstGeom>
          <a:pattFill prst="wdUpDiag">
            <a:fgClr>
              <a:srgbClr val="FF9999"/>
            </a:fgClr>
            <a:bgClr>
              <a:srgbClr val="FFFFFF"/>
            </a:bgClr>
          </a:pattFill>
          <a:ln w="28575">
            <a:solidFill>
              <a:srgbClr val="FF7C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3" name="Rectangle 41" descr="宽下对角线"/>
          <p:cNvSpPr>
            <a:spLocks noChangeArrowheads="1"/>
          </p:cNvSpPr>
          <p:nvPr/>
        </p:nvSpPr>
        <p:spPr bwMode="auto">
          <a:xfrm>
            <a:off x="5859463" y="4641021"/>
            <a:ext cx="847725" cy="481013"/>
          </a:xfrm>
          <a:prstGeom prst="rect">
            <a:avLst/>
          </a:prstGeom>
          <a:pattFill prst="wdDnDiag">
            <a:fgClr>
              <a:srgbClr val="000066"/>
            </a:fgClr>
            <a:bgClr>
              <a:srgbClr val="009999"/>
            </a:bgClr>
          </a:pattFill>
          <a:ln w="2857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Text Box 42"/>
          <p:cNvSpPr txBox="1">
            <a:spLocks noChangeArrowheads="1"/>
          </p:cNvSpPr>
          <p:nvPr/>
        </p:nvSpPr>
        <p:spPr bwMode="auto">
          <a:xfrm>
            <a:off x="2544763" y="3985384"/>
            <a:ext cx="49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defRPr/>
            </a:pPr>
            <a:r>
              <a:rPr kumimoji="1" lang="en-US" altLang="zh-CN" sz="2400" i="1">
                <a:solidFill>
                  <a:srgbClr val="000000"/>
                </a:solidFill>
                <a:latin typeface="黑体" panose="02010609060101010101" pitchFamily="2" charset="-122"/>
              </a:rPr>
              <a:t>0</a:t>
            </a:r>
            <a:r>
              <a:rPr kumimoji="1" lang="en-US" altLang="zh-CN" sz="2400" i="1">
                <a:solidFill>
                  <a:srgbClr val="000000"/>
                </a:solidFill>
                <a:effectLst>
                  <a:outerShdw blurRad="38100" dist="38100" dir="2700000" algn="tl">
                    <a:srgbClr val="C0C0C0"/>
                  </a:outerShdw>
                </a:effectLst>
                <a:latin typeface="黑体" panose="02010609060101010101" pitchFamily="2" charset="-122"/>
              </a:rPr>
              <a:t> </a:t>
            </a:r>
            <a:endParaRPr kumimoji="1" lang="en-US" altLang="zh-CN" sz="2400">
              <a:solidFill>
                <a:srgbClr val="000000"/>
              </a:solidFill>
              <a:effectLst>
                <a:outerShdw blurRad="38100" dist="38100" dir="2700000" algn="tl">
                  <a:srgbClr val="C0C0C0"/>
                </a:outerShdw>
              </a:effectLst>
              <a:latin typeface="黑体" panose="02010609060101010101" pitchFamily="2" charset="-122"/>
            </a:endParaRPr>
          </a:p>
        </p:txBody>
      </p:sp>
      <p:sp>
        <p:nvSpPr>
          <p:cNvPr id="45" name="Text Box 43"/>
          <p:cNvSpPr txBox="1">
            <a:spLocks noChangeArrowheads="1"/>
          </p:cNvSpPr>
          <p:nvPr/>
        </p:nvSpPr>
        <p:spPr bwMode="auto">
          <a:xfrm>
            <a:off x="2279650" y="1772816"/>
            <a:ext cx="7632700"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确定公差带相对零线位置的那个偏差称为基本偏差。</a:t>
            </a:r>
            <a:endParaRPr kumimoji="1" lang="en-US" altLang="zh-CN" sz="2400" dirty="0">
              <a:solidFill>
                <a:srgbClr val="000000"/>
              </a:solidFill>
              <a:latin typeface="Times New Roman" panose="02020603050405020304" pitchFamily="18" charset="0"/>
              <a:ea typeface="黑体" panose="02010609060101010101" pitchFamily="2" charset="-122"/>
            </a:endParaRPr>
          </a:p>
          <a:p>
            <a:pPr fontAlgn="base">
              <a:lnSpc>
                <a:spcPct val="120000"/>
              </a:lnSpc>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一般以靠近零线的那个偏差来确定。</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46" name="Text Box 36"/>
          <p:cNvSpPr txBox="1">
            <a:spLocks noChangeArrowheads="1"/>
          </p:cNvSpPr>
          <p:nvPr/>
        </p:nvSpPr>
        <p:spPr bwMode="auto">
          <a:xfrm>
            <a:off x="4356100" y="3590096"/>
            <a:ext cx="998538"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000000"/>
                </a:solidFill>
                <a:latin typeface="黑体" panose="02010609060101010101" pitchFamily="2" charset="-122"/>
                <a:ea typeface="黑体" panose="02010609060101010101" pitchFamily="2" charset="-122"/>
              </a:rPr>
              <a:t>下偏差 </a:t>
            </a:r>
            <a:endParaRPr kumimoji="1" lang="zh-CN" altLang="en-US" sz="1800">
              <a:solidFill>
                <a:srgbClr val="000000"/>
              </a:solidFill>
              <a:latin typeface="黑体" panose="02010609060101010101" pitchFamily="2" charset="-122"/>
              <a:ea typeface="黑体" panose="02010609060101010101" pitchFamily="2" charset="-122"/>
            </a:endParaRPr>
          </a:p>
        </p:txBody>
      </p:sp>
      <p:sp>
        <p:nvSpPr>
          <p:cNvPr id="47" name="Text Box 37"/>
          <p:cNvSpPr txBox="1">
            <a:spLocks noChangeArrowheads="1"/>
          </p:cNvSpPr>
          <p:nvPr/>
        </p:nvSpPr>
        <p:spPr bwMode="auto">
          <a:xfrm>
            <a:off x="4338638" y="3051934"/>
            <a:ext cx="998537"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000000"/>
                </a:solidFill>
                <a:latin typeface="黑体" panose="02010609060101010101" pitchFamily="2" charset="-122"/>
                <a:ea typeface="黑体" panose="02010609060101010101" pitchFamily="2" charset="-122"/>
              </a:rPr>
              <a:t>上偏差 </a:t>
            </a:r>
            <a:endParaRPr kumimoji="1" lang="zh-CN" altLang="en-US" sz="1800">
              <a:solidFill>
                <a:srgbClr val="000000"/>
              </a:solidFill>
              <a:latin typeface="黑体" panose="02010609060101010101" pitchFamily="2" charset="-122"/>
              <a:ea typeface="黑体" panose="02010609060101010101" pitchFamily="2" charset="-122"/>
            </a:endParaRPr>
          </a:p>
        </p:txBody>
      </p:sp>
      <p:sp>
        <p:nvSpPr>
          <p:cNvPr id="48" name="Text Box 38"/>
          <p:cNvSpPr txBox="1">
            <a:spLocks noChangeArrowheads="1"/>
          </p:cNvSpPr>
          <p:nvPr/>
        </p:nvSpPr>
        <p:spPr bwMode="auto">
          <a:xfrm>
            <a:off x="4965700" y="4399721"/>
            <a:ext cx="998538"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000000"/>
                </a:solidFill>
                <a:latin typeface="黑体" panose="02010609060101010101" pitchFamily="2" charset="-122"/>
                <a:ea typeface="黑体" panose="02010609060101010101" pitchFamily="2" charset="-122"/>
              </a:rPr>
              <a:t>上偏差 </a:t>
            </a:r>
            <a:endParaRPr kumimoji="1" lang="zh-CN" altLang="en-US" sz="1800">
              <a:solidFill>
                <a:srgbClr val="000000"/>
              </a:solidFill>
              <a:latin typeface="黑体" panose="02010609060101010101" pitchFamily="2" charset="-122"/>
              <a:ea typeface="黑体" panose="02010609060101010101" pitchFamily="2" charset="-122"/>
            </a:endParaRPr>
          </a:p>
        </p:txBody>
      </p:sp>
      <p:sp>
        <p:nvSpPr>
          <p:cNvPr id="49" name="Text Box 39"/>
          <p:cNvSpPr txBox="1">
            <a:spLocks noChangeArrowheads="1"/>
          </p:cNvSpPr>
          <p:nvPr/>
        </p:nvSpPr>
        <p:spPr bwMode="auto">
          <a:xfrm>
            <a:off x="4946650" y="4933121"/>
            <a:ext cx="998538"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a:solidFill>
                  <a:srgbClr val="000000"/>
                </a:solidFill>
                <a:latin typeface="黑体" panose="02010609060101010101" pitchFamily="2" charset="-122"/>
                <a:ea typeface="黑体" panose="02010609060101010101" pitchFamily="2" charset="-122"/>
              </a:rPr>
              <a:t>下偏差 </a:t>
            </a:r>
            <a:endParaRPr kumimoji="1" lang="zh-CN" altLang="en-US" sz="180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up)">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wipe(left)">
                                      <p:cBhvr>
                                        <p:cTn id="45" dur="5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34" grpId="0" autoUpdateAnimBg="0"/>
      <p:bldP spid="35" grpId="0" autoUpdateAnimBg="0"/>
      <p:bldP spid="36" grpId="0"/>
      <p:bldP spid="4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矩形 211"/>
          <p:cNvSpPr/>
          <p:nvPr/>
        </p:nvSpPr>
        <p:spPr>
          <a:xfrm>
            <a:off x="3359696" y="44624"/>
            <a:ext cx="8832304" cy="68133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4698568" y="3698876"/>
            <a:ext cx="52117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kumimoji="1" lang="zh-CN" altLang="zh-CN" sz="2000" dirty="0">
                <a:latin typeface="黑体" panose="02010609060101010101" pitchFamily="2" charset="-122"/>
                <a:ea typeface="黑体" panose="02010609060101010101" pitchFamily="2" charset="-122"/>
              </a:rPr>
              <a:t>用拉丁字母表示，孔为大写，轴为小写。  </a:t>
            </a:r>
            <a:endParaRPr kumimoji="1" lang="zh-CN" altLang="en-US" sz="2000" dirty="0">
              <a:latin typeface="黑体" panose="02010609060101010101" pitchFamily="2" charset="-122"/>
              <a:ea typeface="黑体" panose="02010609060101010101" pitchFamily="2" charset="-122"/>
            </a:endParaRPr>
          </a:p>
        </p:txBody>
      </p:sp>
      <p:sp>
        <p:nvSpPr>
          <p:cNvPr id="3" name="Rectangle 3"/>
          <p:cNvSpPr>
            <a:spLocks noChangeArrowheads="1"/>
          </p:cNvSpPr>
          <p:nvPr/>
        </p:nvSpPr>
        <p:spPr bwMode="auto">
          <a:xfrm>
            <a:off x="239785" y="973324"/>
            <a:ext cx="4203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kumimoji="1" lang="zh-CN" altLang="en-US" sz="2400">
                <a:latin typeface="黑体" panose="02010609060101010101" pitchFamily="2" charset="-122"/>
                <a:ea typeface="黑体" panose="02010609060101010101" pitchFamily="2" charset="-122"/>
              </a:rPr>
              <a:t>基本偏差系列示意图</a:t>
            </a:r>
            <a:endParaRPr kumimoji="1" lang="zh-CN" altLang="en-US" sz="2400">
              <a:latin typeface="黑体" panose="02010609060101010101" pitchFamily="2" charset="-122"/>
              <a:ea typeface="黑体" panose="02010609060101010101" pitchFamily="2" charset="-122"/>
            </a:endParaRPr>
          </a:p>
        </p:txBody>
      </p:sp>
      <p:sp>
        <p:nvSpPr>
          <p:cNvPr id="4" name="Text Box 8"/>
          <p:cNvSpPr txBox="1">
            <a:spLocks noChangeArrowheads="1"/>
          </p:cNvSpPr>
          <p:nvPr/>
        </p:nvSpPr>
        <p:spPr bwMode="auto">
          <a:xfrm>
            <a:off x="8836533" y="152320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lang="en-US" altLang="zh-CN" sz="2000" dirty="0">
                <a:latin typeface="黑体" panose="02010609060101010101" pitchFamily="2" charset="-122"/>
                <a:ea typeface="黑体" panose="02010609060101010101" pitchFamily="2" charset="-122"/>
              </a:rPr>
              <a:t>A</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H</a:t>
            </a:r>
            <a:r>
              <a:rPr lang="zh-CN" altLang="en-US" sz="2000" dirty="0">
                <a:latin typeface="黑体" panose="02010609060101010101" pitchFamily="2" charset="-122"/>
                <a:ea typeface="黑体" panose="02010609060101010101" pitchFamily="2" charset="-122"/>
              </a:rPr>
              <a:t>为下偏差</a:t>
            </a:r>
            <a:endParaRPr lang="zh-CN" altLang="en-US" sz="2000" dirty="0">
              <a:latin typeface="黑体" panose="02010609060101010101" pitchFamily="2" charset="-122"/>
              <a:ea typeface="黑体" panose="02010609060101010101" pitchFamily="2" charset="-122"/>
            </a:endParaRPr>
          </a:p>
        </p:txBody>
      </p:sp>
      <p:sp>
        <p:nvSpPr>
          <p:cNvPr id="5" name="Text Box 9"/>
          <p:cNvSpPr txBox="1">
            <a:spLocks noChangeArrowheads="1"/>
          </p:cNvSpPr>
          <p:nvPr/>
        </p:nvSpPr>
        <p:spPr bwMode="auto">
          <a:xfrm>
            <a:off x="8874291" y="592375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lang="en-US" altLang="zh-CN" sz="2000" dirty="0">
                <a:latin typeface="黑体" panose="02010609060101010101" pitchFamily="2" charset="-122"/>
                <a:ea typeface="黑体" panose="02010609060101010101" pitchFamily="2" charset="-122"/>
              </a:rPr>
              <a:t>a</a:t>
            </a:r>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h</a:t>
            </a:r>
            <a:r>
              <a:rPr lang="zh-CN" altLang="en-US" sz="2000" dirty="0">
                <a:latin typeface="黑体" panose="02010609060101010101" pitchFamily="2" charset="-122"/>
                <a:ea typeface="黑体" panose="02010609060101010101" pitchFamily="2" charset="-122"/>
              </a:rPr>
              <a:t>为上偏差</a:t>
            </a:r>
            <a:endParaRPr lang="zh-CN" altLang="en-US" sz="2000" dirty="0">
              <a:latin typeface="黑体" panose="02010609060101010101" pitchFamily="2" charset="-122"/>
              <a:ea typeface="黑体" panose="02010609060101010101" pitchFamily="2" charset="-122"/>
            </a:endParaRPr>
          </a:p>
        </p:txBody>
      </p:sp>
      <p:grpSp>
        <p:nvGrpSpPr>
          <p:cNvPr id="6" name="组合 5"/>
          <p:cNvGrpSpPr/>
          <p:nvPr/>
        </p:nvGrpSpPr>
        <p:grpSpPr bwMode="auto">
          <a:xfrm>
            <a:off x="3574109" y="714376"/>
            <a:ext cx="7869237" cy="3046412"/>
            <a:chOff x="468311" y="188640"/>
            <a:chExt cx="7869235" cy="3046412"/>
          </a:xfrm>
        </p:grpSpPr>
        <p:grpSp>
          <p:nvGrpSpPr>
            <p:cNvPr id="7" name="Group 105"/>
            <p:cNvGrpSpPr/>
            <p:nvPr/>
          </p:nvGrpSpPr>
          <p:grpSpPr bwMode="auto">
            <a:xfrm>
              <a:off x="468311" y="188640"/>
              <a:ext cx="7869235" cy="3046412"/>
              <a:chOff x="295" y="321"/>
              <a:chExt cx="4957" cy="1919"/>
            </a:xfrm>
          </p:grpSpPr>
          <p:sp>
            <p:nvSpPr>
              <p:cNvPr id="11" name="Line 106"/>
              <p:cNvSpPr>
                <a:spLocks noChangeShapeType="1"/>
              </p:cNvSpPr>
              <p:nvPr/>
            </p:nvSpPr>
            <p:spPr bwMode="auto">
              <a:xfrm>
                <a:off x="531" y="1360"/>
                <a:ext cx="4721" cy="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107" descr="宽上对角线"/>
              <p:cNvSpPr>
                <a:spLocks noChangeShapeType="1"/>
              </p:cNvSpPr>
              <p:nvPr/>
            </p:nvSpPr>
            <p:spPr bwMode="auto">
              <a:xfrm>
                <a:off x="951" y="399"/>
                <a:ext cx="123" cy="0"/>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Rectangle 108" descr="宽下对角线"/>
              <p:cNvSpPr>
                <a:spLocks noChangeArrowheads="1"/>
              </p:cNvSpPr>
              <p:nvPr/>
            </p:nvSpPr>
            <p:spPr bwMode="auto">
              <a:xfrm>
                <a:off x="1106" y="661"/>
                <a:ext cx="109"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 name="Rectangle 109" descr="宽下对角线"/>
              <p:cNvSpPr>
                <a:spLocks noChangeArrowheads="1"/>
              </p:cNvSpPr>
              <p:nvPr/>
            </p:nvSpPr>
            <p:spPr bwMode="auto">
              <a:xfrm>
                <a:off x="1258" y="817"/>
                <a:ext cx="112"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5" name="Rectangle 110" descr="宽下对角线"/>
              <p:cNvSpPr>
                <a:spLocks noChangeArrowheads="1"/>
              </p:cNvSpPr>
              <p:nvPr/>
            </p:nvSpPr>
            <p:spPr bwMode="auto">
              <a:xfrm>
                <a:off x="1414" y="884"/>
                <a:ext cx="111"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 name="Rectangle 111" descr="宽下对角线"/>
              <p:cNvSpPr>
                <a:spLocks noChangeArrowheads="1"/>
              </p:cNvSpPr>
              <p:nvPr/>
            </p:nvSpPr>
            <p:spPr bwMode="auto">
              <a:xfrm>
                <a:off x="1572" y="919"/>
                <a:ext cx="11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 name="Rectangle 112" descr="宽下对角线"/>
              <p:cNvSpPr>
                <a:spLocks noChangeArrowheads="1"/>
              </p:cNvSpPr>
              <p:nvPr/>
            </p:nvSpPr>
            <p:spPr bwMode="auto">
              <a:xfrm>
                <a:off x="2221" y="1102"/>
                <a:ext cx="103"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 name="Rectangle 113" descr="宽下对角线"/>
              <p:cNvSpPr>
                <a:spLocks noChangeArrowheads="1"/>
              </p:cNvSpPr>
              <p:nvPr/>
            </p:nvSpPr>
            <p:spPr bwMode="auto">
              <a:xfrm>
                <a:off x="2383" y="1130"/>
                <a:ext cx="100"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 name="Rectangle 114" descr="宽下对角线"/>
              <p:cNvSpPr>
                <a:spLocks noChangeArrowheads="1"/>
              </p:cNvSpPr>
              <p:nvPr/>
            </p:nvSpPr>
            <p:spPr bwMode="auto">
              <a:xfrm>
                <a:off x="2536" y="1159"/>
                <a:ext cx="106" cy="204"/>
              </a:xfrm>
              <a:prstGeom prst="rect">
                <a:avLst/>
              </a:prstGeom>
              <a:pattFill prst="wdDnDiag">
                <a:fgClr>
                  <a:srgbClr val="CC0000"/>
                </a:fgClr>
                <a:bgClr>
                  <a:srgbClr val="FFFFFF"/>
                </a:bgClr>
              </a:patt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Rectangle 115" descr="宽下对角线"/>
              <p:cNvSpPr>
                <a:spLocks noChangeArrowheads="1"/>
              </p:cNvSpPr>
              <p:nvPr/>
            </p:nvSpPr>
            <p:spPr bwMode="auto">
              <a:xfrm>
                <a:off x="1742" y="989"/>
                <a:ext cx="109"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Rectangle 116" descr="宽下对角线"/>
              <p:cNvSpPr>
                <a:spLocks noChangeArrowheads="1"/>
              </p:cNvSpPr>
              <p:nvPr/>
            </p:nvSpPr>
            <p:spPr bwMode="auto">
              <a:xfrm>
                <a:off x="1897" y="1039"/>
                <a:ext cx="114"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Rectangle 117" descr="宽下对角线"/>
              <p:cNvSpPr>
                <a:spLocks noChangeArrowheads="1"/>
              </p:cNvSpPr>
              <p:nvPr/>
            </p:nvSpPr>
            <p:spPr bwMode="auto">
              <a:xfrm>
                <a:off x="2054" y="1077"/>
                <a:ext cx="109"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24" name="Group 118"/>
              <p:cNvGrpSpPr/>
              <p:nvPr/>
            </p:nvGrpSpPr>
            <p:grpSpPr bwMode="auto">
              <a:xfrm flipH="1">
                <a:off x="2996" y="1360"/>
                <a:ext cx="107" cy="205"/>
                <a:chOff x="2765" y="1244"/>
                <a:chExt cx="99" cy="205"/>
              </a:xfrm>
            </p:grpSpPr>
            <p:sp>
              <p:nvSpPr>
                <p:cNvPr id="109" name="Rectangle 119" descr="宽下对角线"/>
                <p:cNvSpPr>
                  <a:spLocks noChangeArrowheads="1"/>
                </p:cNvSpPr>
                <p:nvPr/>
              </p:nvSpPr>
              <p:spPr bwMode="auto">
                <a:xfrm rot="10800000">
                  <a:off x="2809" y="1244"/>
                  <a:ext cx="55"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0" name="Rectangle 120" descr="宽下对角线"/>
                <p:cNvSpPr>
                  <a:spLocks noChangeArrowheads="1"/>
                </p:cNvSpPr>
                <p:nvPr/>
              </p:nvSpPr>
              <p:spPr bwMode="auto">
                <a:xfrm rot="10800000">
                  <a:off x="2765" y="1276"/>
                  <a:ext cx="44" cy="173"/>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25" name="Rectangle 121" descr="宽下对角线"/>
              <p:cNvSpPr>
                <a:spLocks noChangeArrowheads="1"/>
              </p:cNvSpPr>
              <p:nvPr/>
            </p:nvSpPr>
            <p:spPr bwMode="auto">
              <a:xfrm rot="10800000">
                <a:off x="3646" y="1470"/>
                <a:ext cx="100"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Rectangle 122" descr="宽下对角线"/>
              <p:cNvSpPr>
                <a:spLocks noChangeArrowheads="1"/>
              </p:cNvSpPr>
              <p:nvPr/>
            </p:nvSpPr>
            <p:spPr bwMode="auto">
              <a:xfrm>
                <a:off x="2693" y="1258"/>
                <a:ext cx="108"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7" name="Rectangle 123" descr="宽下对角线"/>
              <p:cNvSpPr>
                <a:spLocks noChangeArrowheads="1"/>
              </p:cNvSpPr>
              <p:nvPr/>
            </p:nvSpPr>
            <p:spPr bwMode="auto">
              <a:xfrm rot="10800000">
                <a:off x="3811" y="1484"/>
                <a:ext cx="100"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Rectangle 124" descr="宽下对角线"/>
              <p:cNvSpPr>
                <a:spLocks noChangeArrowheads="1"/>
              </p:cNvSpPr>
              <p:nvPr/>
            </p:nvSpPr>
            <p:spPr bwMode="auto">
              <a:xfrm rot="10800000">
                <a:off x="3976" y="1501"/>
                <a:ext cx="9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9" name="Rectangle 125" descr="宽下对角线"/>
              <p:cNvSpPr>
                <a:spLocks noChangeArrowheads="1"/>
              </p:cNvSpPr>
              <p:nvPr/>
            </p:nvSpPr>
            <p:spPr bwMode="auto">
              <a:xfrm rot="10800000">
                <a:off x="4136" y="1541"/>
                <a:ext cx="102" cy="202"/>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0" name="Rectangle 126" descr="宽下对角线"/>
              <p:cNvSpPr>
                <a:spLocks noChangeArrowheads="1"/>
              </p:cNvSpPr>
              <p:nvPr/>
            </p:nvSpPr>
            <p:spPr bwMode="auto">
              <a:xfrm rot="10800000">
                <a:off x="4297" y="1561"/>
                <a:ext cx="101"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Rectangle 127" descr="宽下对角线"/>
              <p:cNvSpPr>
                <a:spLocks noChangeArrowheads="1"/>
              </p:cNvSpPr>
              <p:nvPr/>
            </p:nvSpPr>
            <p:spPr bwMode="auto">
              <a:xfrm rot="10800000">
                <a:off x="4452" y="1590"/>
                <a:ext cx="99"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Rectangle 128" descr="宽下对角线"/>
              <p:cNvSpPr>
                <a:spLocks noChangeArrowheads="1"/>
              </p:cNvSpPr>
              <p:nvPr/>
            </p:nvSpPr>
            <p:spPr bwMode="auto">
              <a:xfrm rot="10800000">
                <a:off x="4610" y="1613"/>
                <a:ext cx="100"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3" name="Rectangle 129" descr="宽下对角线"/>
              <p:cNvSpPr>
                <a:spLocks noChangeArrowheads="1"/>
              </p:cNvSpPr>
              <p:nvPr/>
            </p:nvSpPr>
            <p:spPr bwMode="auto">
              <a:xfrm rot="10800000">
                <a:off x="4769" y="1678"/>
                <a:ext cx="9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4" name="Rectangle 130" descr="宽下对角线"/>
              <p:cNvSpPr>
                <a:spLocks noChangeArrowheads="1"/>
              </p:cNvSpPr>
              <p:nvPr/>
            </p:nvSpPr>
            <p:spPr bwMode="auto">
              <a:xfrm rot="10800000">
                <a:off x="4921" y="1809"/>
                <a:ext cx="94"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5" name="Rectangle 131" descr="宽下对角线"/>
              <p:cNvSpPr>
                <a:spLocks noChangeArrowheads="1"/>
              </p:cNvSpPr>
              <p:nvPr/>
            </p:nvSpPr>
            <p:spPr bwMode="auto">
              <a:xfrm rot="10800000">
                <a:off x="5070" y="2002"/>
                <a:ext cx="101"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36" name="Group 132"/>
              <p:cNvGrpSpPr/>
              <p:nvPr/>
            </p:nvGrpSpPr>
            <p:grpSpPr bwMode="auto">
              <a:xfrm>
                <a:off x="2847" y="1349"/>
                <a:ext cx="104" cy="205"/>
                <a:chOff x="2628" y="1230"/>
                <a:chExt cx="96" cy="205"/>
              </a:xfrm>
            </p:grpSpPr>
            <p:sp>
              <p:nvSpPr>
                <p:cNvPr id="107" name="Rectangle 133" descr="宽下对角线"/>
                <p:cNvSpPr>
                  <a:spLocks noChangeArrowheads="1"/>
                </p:cNvSpPr>
                <p:nvPr/>
              </p:nvSpPr>
              <p:spPr bwMode="auto">
                <a:xfrm rot="10800000">
                  <a:off x="2669" y="1230"/>
                  <a:ext cx="55"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8" name="Rectangle 134" descr="宽下对角线"/>
                <p:cNvSpPr>
                  <a:spLocks noChangeArrowheads="1"/>
                </p:cNvSpPr>
                <p:nvPr/>
              </p:nvSpPr>
              <p:spPr bwMode="auto">
                <a:xfrm rot="10800000">
                  <a:off x="2628" y="1249"/>
                  <a:ext cx="44" cy="18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38" name="Group 135"/>
              <p:cNvGrpSpPr/>
              <p:nvPr/>
            </p:nvGrpSpPr>
            <p:grpSpPr bwMode="auto">
              <a:xfrm>
                <a:off x="3169" y="1373"/>
                <a:ext cx="107" cy="200"/>
                <a:chOff x="2925" y="1272"/>
                <a:chExt cx="99" cy="200"/>
              </a:xfrm>
            </p:grpSpPr>
            <p:sp>
              <p:nvSpPr>
                <p:cNvPr id="105" name="Rectangle 136" descr="宽下对角线"/>
                <p:cNvSpPr>
                  <a:spLocks noChangeArrowheads="1"/>
                </p:cNvSpPr>
                <p:nvPr/>
              </p:nvSpPr>
              <p:spPr bwMode="auto">
                <a:xfrm rot="10800000">
                  <a:off x="2969" y="1272"/>
                  <a:ext cx="55" cy="20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6" name="Rectangle 137" descr="宽下对角线"/>
                <p:cNvSpPr>
                  <a:spLocks noChangeArrowheads="1"/>
                </p:cNvSpPr>
                <p:nvPr/>
              </p:nvSpPr>
              <p:spPr bwMode="auto">
                <a:xfrm rot="10800000">
                  <a:off x="2925" y="1320"/>
                  <a:ext cx="44" cy="152"/>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39" name="Rectangle 138" descr="宽下对角线"/>
              <p:cNvSpPr>
                <a:spLocks noChangeArrowheads="1"/>
              </p:cNvSpPr>
              <p:nvPr/>
            </p:nvSpPr>
            <p:spPr bwMode="auto">
              <a:xfrm rot="10800000">
                <a:off x="3491" y="1453"/>
                <a:ext cx="100"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0" name="Rectangle 139" descr="宽下对角线"/>
              <p:cNvSpPr>
                <a:spLocks noChangeArrowheads="1"/>
              </p:cNvSpPr>
              <p:nvPr/>
            </p:nvSpPr>
            <p:spPr bwMode="auto">
              <a:xfrm rot="10800000">
                <a:off x="3336" y="1438"/>
                <a:ext cx="101"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1" name="Text Box 140"/>
              <p:cNvSpPr txBox="1">
                <a:spLocks noChangeArrowheads="1"/>
              </p:cNvSpPr>
              <p:nvPr/>
            </p:nvSpPr>
            <p:spPr bwMode="auto">
              <a:xfrm>
                <a:off x="919" y="49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2" name="Text Box 141"/>
              <p:cNvSpPr txBox="1">
                <a:spLocks noChangeArrowheads="1"/>
              </p:cNvSpPr>
              <p:nvPr/>
            </p:nvSpPr>
            <p:spPr bwMode="auto">
              <a:xfrm>
                <a:off x="1074" y="82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3" name="Text Box 142"/>
              <p:cNvSpPr txBox="1">
                <a:spLocks noChangeArrowheads="1"/>
              </p:cNvSpPr>
              <p:nvPr/>
            </p:nvSpPr>
            <p:spPr bwMode="auto">
              <a:xfrm>
                <a:off x="1225" y="981"/>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4" name="Text Box 143"/>
              <p:cNvSpPr txBox="1">
                <a:spLocks noChangeArrowheads="1"/>
              </p:cNvSpPr>
              <p:nvPr/>
            </p:nvSpPr>
            <p:spPr bwMode="auto">
              <a:xfrm>
                <a:off x="1349" y="1045"/>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5" name="Text Box 144"/>
              <p:cNvSpPr txBox="1">
                <a:spLocks noChangeArrowheads="1"/>
              </p:cNvSpPr>
              <p:nvPr/>
            </p:nvSpPr>
            <p:spPr bwMode="auto">
              <a:xfrm>
                <a:off x="1701" y="115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6" name="Text Box 145"/>
              <p:cNvSpPr txBox="1">
                <a:spLocks noChangeArrowheads="1"/>
              </p:cNvSpPr>
              <p:nvPr/>
            </p:nvSpPr>
            <p:spPr bwMode="auto">
              <a:xfrm>
                <a:off x="1837" y="1209"/>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7" name="Text Box 146"/>
              <p:cNvSpPr txBox="1">
                <a:spLocks noChangeArrowheads="1"/>
              </p:cNvSpPr>
              <p:nvPr/>
            </p:nvSpPr>
            <p:spPr bwMode="auto">
              <a:xfrm>
                <a:off x="1541" y="1083"/>
                <a:ext cx="17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8" name="Text Box 147"/>
              <p:cNvSpPr txBox="1">
                <a:spLocks noChangeArrowheads="1"/>
              </p:cNvSpPr>
              <p:nvPr/>
            </p:nvSpPr>
            <p:spPr bwMode="auto">
              <a:xfrm>
                <a:off x="2494" y="132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A50021"/>
                    </a:solidFill>
                    <a:effectLst/>
                    <a:uLnTx/>
                    <a:uFillTx/>
                    <a:latin typeface="黑体" panose="02010609060101010101" pitchFamily="2" charset="-122"/>
                    <a:ea typeface="黑体" panose="02010609060101010101" pitchFamily="2" charset="-122"/>
                  </a:rPr>
                  <a:t>H</a:t>
                </a:r>
                <a:endParaRPr kumimoji="1" lang="en-US" altLang="zh-CN" sz="1400" b="1" i="0" u="none" strike="noStrike" kern="0" cap="none" spc="0" normalizeH="0" baseline="0" noProof="0">
                  <a:ln>
                    <a:noFill/>
                  </a:ln>
                  <a:solidFill>
                    <a:srgbClr val="A50021"/>
                  </a:solidFill>
                  <a:effectLst/>
                  <a:uLnTx/>
                  <a:uFillTx/>
                  <a:latin typeface="黑体" panose="02010609060101010101" pitchFamily="2" charset="-122"/>
                  <a:ea typeface="黑体" panose="02010609060101010101" pitchFamily="2" charset="-122"/>
                </a:endParaRPr>
              </a:p>
            </p:txBody>
          </p:sp>
          <p:sp>
            <p:nvSpPr>
              <p:cNvPr id="49" name="Text Box 148"/>
              <p:cNvSpPr txBox="1">
                <a:spLocks noChangeArrowheads="1"/>
              </p:cNvSpPr>
              <p:nvPr/>
            </p:nvSpPr>
            <p:spPr bwMode="auto">
              <a:xfrm>
                <a:off x="2825" y="116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K</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0" name="Text Box 149"/>
              <p:cNvSpPr txBox="1">
                <a:spLocks noChangeArrowheads="1"/>
              </p:cNvSpPr>
              <p:nvPr/>
            </p:nvSpPr>
            <p:spPr bwMode="auto">
              <a:xfrm>
                <a:off x="2958" y="1186"/>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M</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1" name="Text Box 150"/>
              <p:cNvSpPr txBox="1">
                <a:spLocks noChangeArrowheads="1"/>
              </p:cNvSpPr>
              <p:nvPr/>
            </p:nvSpPr>
            <p:spPr bwMode="auto">
              <a:xfrm>
                <a:off x="3139" y="121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N</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2" name="Text Box 151"/>
              <p:cNvSpPr txBox="1">
                <a:spLocks noChangeArrowheads="1"/>
              </p:cNvSpPr>
              <p:nvPr/>
            </p:nvSpPr>
            <p:spPr bwMode="auto">
              <a:xfrm>
                <a:off x="3778" y="1306"/>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T</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3" name="Text Box 152"/>
              <p:cNvSpPr txBox="1">
                <a:spLocks noChangeArrowheads="1"/>
              </p:cNvSpPr>
              <p:nvPr/>
            </p:nvSpPr>
            <p:spPr bwMode="auto">
              <a:xfrm>
                <a:off x="3939" y="1325"/>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U</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4" name="Text Box 153"/>
              <p:cNvSpPr txBox="1">
                <a:spLocks noChangeArrowheads="1"/>
              </p:cNvSpPr>
              <p:nvPr/>
            </p:nvSpPr>
            <p:spPr bwMode="auto">
              <a:xfrm>
                <a:off x="4103" y="1367"/>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V</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5" name="Text Box 154"/>
              <p:cNvSpPr txBox="1">
                <a:spLocks noChangeArrowheads="1"/>
              </p:cNvSpPr>
              <p:nvPr/>
            </p:nvSpPr>
            <p:spPr bwMode="auto">
              <a:xfrm>
                <a:off x="4260" y="1386"/>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X</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6" name="Text Box 155"/>
              <p:cNvSpPr txBox="1">
                <a:spLocks noChangeArrowheads="1"/>
              </p:cNvSpPr>
              <p:nvPr/>
            </p:nvSpPr>
            <p:spPr bwMode="auto">
              <a:xfrm>
                <a:off x="4414" y="141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Y</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7" name="Text Box 156"/>
              <p:cNvSpPr txBox="1">
                <a:spLocks noChangeArrowheads="1"/>
              </p:cNvSpPr>
              <p:nvPr/>
            </p:nvSpPr>
            <p:spPr bwMode="auto">
              <a:xfrm>
                <a:off x="4572" y="1440"/>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8" name="Text Box 157"/>
              <p:cNvSpPr txBox="1">
                <a:spLocks noChangeArrowheads="1"/>
              </p:cNvSpPr>
              <p:nvPr/>
            </p:nvSpPr>
            <p:spPr bwMode="auto">
              <a:xfrm>
                <a:off x="4707" y="1503"/>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9" name="Text Box 158"/>
              <p:cNvSpPr txBox="1">
                <a:spLocks noChangeArrowheads="1"/>
              </p:cNvSpPr>
              <p:nvPr/>
            </p:nvSpPr>
            <p:spPr bwMode="auto">
              <a:xfrm>
                <a:off x="4856" y="1628"/>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0" name="Text Box 159"/>
              <p:cNvSpPr txBox="1">
                <a:spLocks noChangeArrowheads="1"/>
              </p:cNvSpPr>
              <p:nvPr/>
            </p:nvSpPr>
            <p:spPr bwMode="auto">
              <a:xfrm>
                <a:off x="5008" y="1823"/>
                <a:ext cx="22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1" name="Text Box 160"/>
              <p:cNvSpPr txBox="1">
                <a:spLocks noChangeArrowheads="1"/>
              </p:cNvSpPr>
              <p:nvPr/>
            </p:nvSpPr>
            <p:spPr bwMode="auto">
              <a:xfrm>
                <a:off x="295" y="1199"/>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0 </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2" name="Text Box 161"/>
              <p:cNvSpPr txBox="1">
                <a:spLocks noChangeArrowheads="1"/>
              </p:cNvSpPr>
              <p:nvPr/>
            </p:nvSpPr>
            <p:spPr bwMode="auto">
              <a:xfrm>
                <a:off x="425" y="963"/>
                <a:ext cx="213" cy="7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3" name="Text Box 162"/>
              <p:cNvSpPr txBox="1">
                <a:spLocks noChangeArrowheads="1"/>
              </p:cNvSpPr>
              <p:nvPr/>
            </p:nvSpPr>
            <p:spPr bwMode="auto">
              <a:xfrm>
                <a:off x="3252" y="711"/>
                <a:ext cx="309" cy="288"/>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孔</a:t>
                </a:r>
                <a:endPar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64" name="Rectangle 163" descr="宽下对角线"/>
              <p:cNvSpPr>
                <a:spLocks noChangeArrowheads="1"/>
              </p:cNvSpPr>
              <p:nvPr/>
            </p:nvSpPr>
            <p:spPr bwMode="auto">
              <a:xfrm flipH="1">
                <a:off x="959" y="338"/>
                <a:ext cx="10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5" name="Rectangle 164"/>
              <p:cNvSpPr>
                <a:spLocks noChangeArrowheads="1"/>
              </p:cNvSpPr>
              <p:nvPr/>
            </p:nvSpPr>
            <p:spPr bwMode="auto">
              <a:xfrm>
                <a:off x="926" y="321"/>
                <a:ext cx="16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6" name="Rectangle 165"/>
              <p:cNvSpPr>
                <a:spLocks noChangeArrowheads="1"/>
              </p:cNvSpPr>
              <p:nvPr/>
            </p:nvSpPr>
            <p:spPr bwMode="auto">
              <a:xfrm>
                <a:off x="1079" y="645"/>
                <a:ext cx="166" cy="47"/>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7" name="Rectangle 166"/>
              <p:cNvSpPr>
                <a:spLocks noChangeArrowheads="1"/>
              </p:cNvSpPr>
              <p:nvPr/>
            </p:nvSpPr>
            <p:spPr bwMode="auto">
              <a:xfrm>
                <a:off x="1235" y="801"/>
                <a:ext cx="166" cy="47"/>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8" name="Rectangle 167"/>
              <p:cNvSpPr>
                <a:spLocks noChangeArrowheads="1"/>
              </p:cNvSpPr>
              <p:nvPr/>
            </p:nvSpPr>
            <p:spPr bwMode="auto">
              <a:xfrm>
                <a:off x="1388" y="849"/>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9" name="Rectangle 168"/>
              <p:cNvSpPr>
                <a:spLocks noChangeArrowheads="1"/>
              </p:cNvSpPr>
              <p:nvPr/>
            </p:nvSpPr>
            <p:spPr bwMode="auto">
              <a:xfrm>
                <a:off x="1550" y="882"/>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0" name="Rectangle 169"/>
              <p:cNvSpPr>
                <a:spLocks noChangeArrowheads="1"/>
              </p:cNvSpPr>
              <p:nvPr/>
            </p:nvSpPr>
            <p:spPr bwMode="auto">
              <a:xfrm>
                <a:off x="1713" y="948"/>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1" name="Rectangle 170"/>
              <p:cNvSpPr>
                <a:spLocks noChangeArrowheads="1"/>
              </p:cNvSpPr>
              <p:nvPr/>
            </p:nvSpPr>
            <p:spPr bwMode="auto">
              <a:xfrm>
                <a:off x="1872" y="999"/>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2" name="Rectangle 171"/>
              <p:cNvSpPr>
                <a:spLocks noChangeArrowheads="1"/>
              </p:cNvSpPr>
              <p:nvPr/>
            </p:nvSpPr>
            <p:spPr bwMode="auto">
              <a:xfrm>
                <a:off x="2025" y="1038"/>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3" name="Rectangle 172"/>
              <p:cNvSpPr>
                <a:spLocks noChangeArrowheads="1"/>
              </p:cNvSpPr>
              <p:nvPr/>
            </p:nvSpPr>
            <p:spPr bwMode="auto">
              <a:xfrm>
                <a:off x="2178" y="1068"/>
                <a:ext cx="165"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4" name="Rectangle 173"/>
              <p:cNvSpPr>
                <a:spLocks noChangeArrowheads="1"/>
              </p:cNvSpPr>
              <p:nvPr/>
            </p:nvSpPr>
            <p:spPr bwMode="auto">
              <a:xfrm>
                <a:off x="2350" y="1092"/>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5" name="Rectangle 174"/>
              <p:cNvSpPr>
                <a:spLocks noChangeArrowheads="1"/>
              </p:cNvSpPr>
              <p:nvPr/>
            </p:nvSpPr>
            <p:spPr bwMode="auto">
              <a:xfrm>
                <a:off x="2506" y="1128"/>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6" name="Rectangle 175"/>
              <p:cNvSpPr>
                <a:spLocks noChangeArrowheads="1"/>
              </p:cNvSpPr>
              <p:nvPr/>
            </p:nvSpPr>
            <p:spPr bwMode="auto">
              <a:xfrm>
                <a:off x="2665" y="1209"/>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7" name="Rectangle 176"/>
              <p:cNvSpPr>
                <a:spLocks noChangeArrowheads="1"/>
              </p:cNvSpPr>
              <p:nvPr/>
            </p:nvSpPr>
            <p:spPr bwMode="auto">
              <a:xfrm>
                <a:off x="3299" y="1620"/>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8" name="Rectangle 177"/>
              <p:cNvSpPr>
                <a:spLocks noChangeArrowheads="1"/>
              </p:cNvSpPr>
              <p:nvPr/>
            </p:nvSpPr>
            <p:spPr bwMode="auto">
              <a:xfrm>
                <a:off x="3458" y="1638"/>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9" name="Rectangle 178"/>
              <p:cNvSpPr>
                <a:spLocks noChangeArrowheads="1"/>
              </p:cNvSpPr>
              <p:nvPr/>
            </p:nvSpPr>
            <p:spPr bwMode="auto">
              <a:xfrm>
                <a:off x="2652" y="1458"/>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0" name="Text Box 179"/>
              <p:cNvSpPr txBox="1">
                <a:spLocks noChangeArrowheads="1"/>
              </p:cNvSpPr>
              <p:nvPr/>
            </p:nvSpPr>
            <p:spPr bwMode="auto">
              <a:xfrm>
                <a:off x="2612" y="1420"/>
                <a:ext cx="22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81" name="Rectangle 180"/>
              <p:cNvSpPr>
                <a:spLocks noChangeArrowheads="1"/>
              </p:cNvSpPr>
              <p:nvPr/>
            </p:nvSpPr>
            <p:spPr bwMode="auto">
              <a:xfrm>
                <a:off x="2808" y="1530"/>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2" name="Rectangle 181"/>
              <p:cNvSpPr>
                <a:spLocks noChangeArrowheads="1"/>
              </p:cNvSpPr>
              <p:nvPr/>
            </p:nvSpPr>
            <p:spPr bwMode="auto">
              <a:xfrm>
                <a:off x="2964" y="1548"/>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3" name="Rectangle 182"/>
              <p:cNvSpPr>
                <a:spLocks noChangeArrowheads="1"/>
              </p:cNvSpPr>
              <p:nvPr/>
            </p:nvSpPr>
            <p:spPr bwMode="auto">
              <a:xfrm>
                <a:off x="3133" y="1569"/>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4" name="Rectangle 183"/>
              <p:cNvSpPr>
                <a:spLocks noChangeArrowheads="1"/>
              </p:cNvSpPr>
              <p:nvPr/>
            </p:nvSpPr>
            <p:spPr bwMode="auto">
              <a:xfrm>
                <a:off x="3611" y="1659"/>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5" name="Rectangle 184"/>
              <p:cNvSpPr>
                <a:spLocks noChangeArrowheads="1"/>
              </p:cNvSpPr>
              <p:nvPr/>
            </p:nvSpPr>
            <p:spPr bwMode="auto">
              <a:xfrm>
                <a:off x="3773" y="1677"/>
                <a:ext cx="166"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6" name="Rectangle 185"/>
              <p:cNvSpPr>
                <a:spLocks noChangeArrowheads="1"/>
              </p:cNvSpPr>
              <p:nvPr/>
            </p:nvSpPr>
            <p:spPr bwMode="auto">
              <a:xfrm>
                <a:off x="3930" y="1695"/>
                <a:ext cx="165" cy="56"/>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7" name="Rectangle 186"/>
              <p:cNvSpPr>
                <a:spLocks noChangeArrowheads="1"/>
              </p:cNvSpPr>
              <p:nvPr/>
            </p:nvSpPr>
            <p:spPr bwMode="auto">
              <a:xfrm>
                <a:off x="4099" y="1731"/>
                <a:ext cx="165"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8" name="Rectangle 187"/>
              <p:cNvSpPr>
                <a:spLocks noChangeArrowheads="1"/>
              </p:cNvSpPr>
              <p:nvPr/>
            </p:nvSpPr>
            <p:spPr bwMode="auto">
              <a:xfrm>
                <a:off x="4261" y="1755"/>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9" name="Rectangle 188"/>
              <p:cNvSpPr>
                <a:spLocks noChangeArrowheads="1"/>
              </p:cNvSpPr>
              <p:nvPr/>
            </p:nvSpPr>
            <p:spPr bwMode="auto">
              <a:xfrm>
                <a:off x="4420" y="1779"/>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0" name="Rectangle 189"/>
              <p:cNvSpPr>
                <a:spLocks noChangeArrowheads="1"/>
              </p:cNvSpPr>
              <p:nvPr/>
            </p:nvSpPr>
            <p:spPr bwMode="auto">
              <a:xfrm>
                <a:off x="4573" y="1800"/>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1" name="Rectangle 190"/>
              <p:cNvSpPr>
                <a:spLocks noChangeArrowheads="1"/>
              </p:cNvSpPr>
              <p:nvPr/>
            </p:nvSpPr>
            <p:spPr bwMode="auto">
              <a:xfrm>
                <a:off x="4732" y="1863"/>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2" name="Rectangle 191"/>
              <p:cNvSpPr>
                <a:spLocks noChangeArrowheads="1"/>
              </p:cNvSpPr>
              <p:nvPr/>
            </p:nvSpPr>
            <p:spPr bwMode="auto">
              <a:xfrm>
                <a:off x="4885" y="1998"/>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3" name="Rectangle 192"/>
              <p:cNvSpPr>
                <a:spLocks noChangeArrowheads="1"/>
              </p:cNvSpPr>
              <p:nvPr/>
            </p:nvSpPr>
            <p:spPr bwMode="auto">
              <a:xfrm>
                <a:off x="5038" y="2184"/>
                <a:ext cx="166" cy="56"/>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4" name="Rectangle 193"/>
              <p:cNvSpPr>
                <a:spLocks noChangeArrowheads="1"/>
              </p:cNvSpPr>
              <p:nvPr/>
            </p:nvSpPr>
            <p:spPr bwMode="auto">
              <a:xfrm>
                <a:off x="3647" y="1331"/>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5" name="Text Box 194"/>
              <p:cNvSpPr txBox="1">
                <a:spLocks noChangeArrowheads="1"/>
              </p:cNvSpPr>
              <p:nvPr/>
            </p:nvSpPr>
            <p:spPr bwMode="auto">
              <a:xfrm>
                <a:off x="3613" y="129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6" name="Rectangle 195"/>
              <p:cNvSpPr>
                <a:spLocks noChangeArrowheads="1"/>
              </p:cNvSpPr>
              <p:nvPr/>
            </p:nvSpPr>
            <p:spPr bwMode="auto">
              <a:xfrm>
                <a:off x="3494" y="1301"/>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7" name="Text Box 196"/>
              <p:cNvSpPr txBox="1">
                <a:spLocks noChangeArrowheads="1"/>
              </p:cNvSpPr>
              <p:nvPr/>
            </p:nvSpPr>
            <p:spPr bwMode="auto">
              <a:xfrm>
                <a:off x="3453" y="1279"/>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R</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8" name="Rectangle 197"/>
              <p:cNvSpPr>
                <a:spLocks noChangeArrowheads="1"/>
              </p:cNvSpPr>
              <p:nvPr/>
            </p:nvSpPr>
            <p:spPr bwMode="auto">
              <a:xfrm>
                <a:off x="3344" y="1295"/>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9" name="Text Box 198"/>
              <p:cNvSpPr txBox="1">
                <a:spLocks noChangeArrowheads="1"/>
              </p:cNvSpPr>
              <p:nvPr/>
            </p:nvSpPr>
            <p:spPr bwMode="auto">
              <a:xfrm>
                <a:off x="3305" y="1267"/>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P</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0" name="Rectangle 199"/>
              <p:cNvSpPr>
                <a:spLocks noChangeArrowheads="1"/>
              </p:cNvSpPr>
              <p:nvPr/>
            </p:nvSpPr>
            <p:spPr bwMode="auto">
              <a:xfrm>
                <a:off x="2187" y="1328"/>
                <a:ext cx="153" cy="9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1" name="Rectangle 200"/>
              <p:cNvSpPr>
                <a:spLocks noChangeArrowheads="1"/>
              </p:cNvSpPr>
              <p:nvPr/>
            </p:nvSpPr>
            <p:spPr bwMode="auto">
              <a:xfrm>
                <a:off x="2061" y="1301"/>
                <a:ext cx="91" cy="9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2" name="Text Box 201"/>
              <p:cNvSpPr txBox="1">
                <a:spLocks noChangeArrowheads="1"/>
              </p:cNvSpPr>
              <p:nvPr/>
            </p:nvSpPr>
            <p:spPr bwMode="auto">
              <a:xfrm>
                <a:off x="2040" y="124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3" name="Text Box 202"/>
              <p:cNvSpPr txBox="1">
                <a:spLocks noChangeArrowheads="1"/>
              </p:cNvSpPr>
              <p:nvPr/>
            </p:nvSpPr>
            <p:spPr bwMode="auto">
              <a:xfrm>
                <a:off x="2160" y="1290"/>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4" name="Text Box 203"/>
              <p:cNvSpPr txBox="1">
                <a:spLocks noChangeArrowheads="1"/>
              </p:cNvSpPr>
              <p:nvPr/>
            </p:nvSpPr>
            <p:spPr bwMode="auto">
              <a:xfrm>
                <a:off x="2335" y="1311"/>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grpSp>
          <p:nvGrpSpPr>
            <p:cNvPr id="8" name="组合 1"/>
            <p:cNvGrpSpPr/>
            <p:nvPr/>
          </p:nvGrpSpPr>
          <p:grpSpPr bwMode="auto">
            <a:xfrm>
              <a:off x="971600" y="1257821"/>
              <a:ext cx="404812" cy="1905645"/>
              <a:chOff x="1244602" y="1257821"/>
              <a:chExt cx="404812" cy="1905645"/>
            </a:xfrm>
          </p:grpSpPr>
          <p:sp>
            <p:nvSpPr>
              <p:cNvPr id="9" name="Line 37"/>
              <p:cNvSpPr>
                <a:spLocks noChangeShapeType="1"/>
              </p:cNvSpPr>
              <p:nvPr/>
            </p:nvSpPr>
            <p:spPr bwMode="auto">
              <a:xfrm flipV="1">
                <a:off x="1649414" y="1839491"/>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 name="Text Box 38"/>
              <p:cNvSpPr txBox="1">
                <a:spLocks noChangeArrowheads="1"/>
              </p:cNvSpPr>
              <p:nvPr/>
            </p:nvSpPr>
            <p:spPr bwMode="auto">
              <a:xfrm rot="16200000">
                <a:off x="492075" y="1996802"/>
                <a:ext cx="1903413"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rPr>
                  <a:t>基本尺寸</a:t>
                </a:r>
                <a:endParaRPr kumimoji="1" lang="zh-CN" altLang="en-US" sz="2000" b="1" i="0" u="none" strike="noStrike" kern="0" cap="none" spc="0" normalizeH="0" baseline="0" noProof="0">
                  <a:ln>
                    <a:noFill/>
                  </a:ln>
                  <a:solidFill>
                    <a:srgbClr val="000000"/>
                  </a:solidFill>
                  <a:effectLst>
                    <a:outerShdw blurRad="38100" dist="38100" dir="2700000" algn="tl">
                      <a:srgbClr val="C0C0C0"/>
                    </a:outerShdw>
                  </a:effectLst>
                  <a:uLnTx/>
                  <a:uFillTx/>
                  <a:latin typeface="黑体" panose="02010609060101010101" pitchFamily="2" charset="-122"/>
                </a:endParaRPr>
              </a:p>
            </p:txBody>
          </p:sp>
        </p:grpSp>
      </p:grpSp>
      <p:grpSp>
        <p:nvGrpSpPr>
          <p:cNvPr id="111" name="组合 110"/>
          <p:cNvGrpSpPr/>
          <p:nvPr/>
        </p:nvGrpSpPr>
        <p:grpSpPr bwMode="auto">
          <a:xfrm>
            <a:off x="3645546" y="3716339"/>
            <a:ext cx="7821613" cy="3022600"/>
            <a:chOff x="539752" y="3489325"/>
            <a:chExt cx="7821614" cy="3022601"/>
          </a:xfrm>
        </p:grpSpPr>
        <p:sp>
          <p:nvSpPr>
            <p:cNvPr id="112" name="Line 6"/>
            <p:cNvSpPr>
              <a:spLocks noChangeShapeType="1"/>
            </p:cNvSpPr>
            <p:nvPr/>
          </p:nvSpPr>
          <p:spPr bwMode="auto">
            <a:xfrm flipV="1">
              <a:off x="901702" y="4919663"/>
              <a:ext cx="7459664" cy="47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3" name="Rectangle 7" descr="深色上对角线"/>
            <p:cNvSpPr>
              <a:spLocks noChangeArrowheads="1"/>
            </p:cNvSpPr>
            <p:nvPr/>
          </p:nvSpPr>
          <p:spPr bwMode="auto">
            <a:xfrm>
              <a:off x="5313365" y="4514850"/>
              <a:ext cx="158750"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4" name="Rectangle 8" descr="深色上对角线"/>
            <p:cNvSpPr>
              <a:spLocks noChangeArrowheads="1"/>
            </p:cNvSpPr>
            <p:nvPr/>
          </p:nvSpPr>
          <p:spPr bwMode="auto">
            <a:xfrm>
              <a:off x="5576890" y="4498975"/>
              <a:ext cx="160338"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5" name="Rectangle 9" descr="深色上对角线"/>
            <p:cNvSpPr>
              <a:spLocks noChangeArrowheads="1"/>
            </p:cNvSpPr>
            <p:nvPr/>
          </p:nvSpPr>
          <p:spPr bwMode="auto">
            <a:xfrm>
              <a:off x="6092828" y="4438650"/>
              <a:ext cx="160338"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6" name="Rectangle 10" descr="深色上对角线"/>
            <p:cNvSpPr>
              <a:spLocks noChangeArrowheads="1"/>
            </p:cNvSpPr>
            <p:nvPr/>
          </p:nvSpPr>
          <p:spPr bwMode="auto">
            <a:xfrm>
              <a:off x="6604003" y="4365625"/>
              <a:ext cx="160338"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7" name="Rectangle 11" descr="深色上对角线"/>
            <p:cNvSpPr>
              <a:spLocks noChangeArrowheads="1"/>
            </p:cNvSpPr>
            <p:nvPr/>
          </p:nvSpPr>
          <p:spPr bwMode="auto">
            <a:xfrm>
              <a:off x="6850066" y="4321175"/>
              <a:ext cx="160338"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8" name="Rectangle 12" descr="深色上对角线"/>
            <p:cNvSpPr>
              <a:spLocks noChangeArrowheads="1"/>
            </p:cNvSpPr>
            <p:nvPr/>
          </p:nvSpPr>
          <p:spPr bwMode="auto">
            <a:xfrm>
              <a:off x="7104066" y="4257675"/>
              <a:ext cx="158750"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9" name="Rectangle 13" descr="深色上对角线"/>
            <p:cNvSpPr>
              <a:spLocks noChangeArrowheads="1"/>
            </p:cNvSpPr>
            <p:nvPr/>
          </p:nvSpPr>
          <p:spPr bwMode="auto">
            <a:xfrm>
              <a:off x="7588253" y="4057650"/>
              <a:ext cx="158750"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0" name="Rectangle 14" descr="深色上对角线"/>
            <p:cNvSpPr>
              <a:spLocks noChangeArrowheads="1"/>
            </p:cNvSpPr>
            <p:nvPr/>
          </p:nvSpPr>
          <p:spPr bwMode="auto">
            <a:xfrm>
              <a:off x="7829553" y="3903663"/>
              <a:ext cx="158750"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1" name="Rectangle 15" descr="深色上对角线"/>
            <p:cNvSpPr>
              <a:spLocks noChangeArrowheads="1"/>
            </p:cNvSpPr>
            <p:nvPr/>
          </p:nvSpPr>
          <p:spPr bwMode="auto">
            <a:xfrm>
              <a:off x="8048628" y="3538538"/>
              <a:ext cx="160338"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2" name="Rectangle 16" descr="深色上对角线"/>
            <p:cNvSpPr>
              <a:spLocks noChangeArrowheads="1"/>
            </p:cNvSpPr>
            <p:nvPr/>
          </p:nvSpPr>
          <p:spPr bwMode="auto">
            <a:xfrm>
              <a:off x="5057778" y="4521200"/>
              <a:ext cx="158750"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3" name="Rectangle 17" descr="深色上对角线"/>
            <p:cNvSpPr>
              <a:spLocks noChangeArrowheads="1"/>
            </p:cNvSpPr>
            <p:nvPr/>
          </p:nvSpPr>
          <p:spPr bwMode="auto">
            <a:xfrm>
              <a:off x="4789490" y="4540250"/>
              <a:ext cx="158750"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4" name="Rectangle 18" descr="深色上对角线"/>
            <p:cNvSpPr>
              <a:spLocks noChangeArrowheads="1"/>
            </p:cNvSpPr>
            <p:nvPr/>
          </p:nvSpPr>
          <p:spPr bwMode="auto">
            <a:xfrm>
              <a:off x="7348541" y="4173538"/>
              <a:ext cx="160338"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5" name="Rectangle 19" descr="深色上对角线"/>
            <p:cNvSpPr>
              <a:spLocks noChangeArrowheads="1"/>
            </p:cNvSpPr>
            <p:nvPr/>
          </p:nvSpPr>
          <p:spPr bwMode="auto">
            <a:xfrm>
              <a:off x="6348416" y="4408488"/>
              <a:ext cx="157163"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6" name="Rectangle 20" descr="深色上对角线"/>
            <p:cNvSpPr>
              <a:spLocks noChangeArrowheads="1"/>
            </p:cNvSpPr>
            <p:nvPr/>
          </p:nvSpPr>
          <p:spPr bwMode="auto">
            <a:xfrm>
              <a:off x="5830891" y="4476750"/>
              <a:ext cx="158750"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7" name="Rectangle 21" descr="深色上对角线"/>
            <p:cNvSpPr>
              <a:spLocks noChangeArrowheads="1"/>
            </p:cNvSpPr>
            <p:nvPr/>
          </p:nvSpPr>
          <p:spPr bwMode="auto">
            <a:xfrm rot="10800000">
              <a:off x="2027240" y="5402263"/>
              <a:ext cx="153988"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8" name="Rectangle 22" descr="深色上对角线"/>
            <p:cNvSpPr>
              <a:spLocks noChangeArrowheads="1"/>
            </p:cNvSpPr>
            <p:nvPr/>
          </p:nvSpPr>
          <p:spPr bwMode="auto">
            <a:xfrm rot="10800000">
              <a:off x="3016252" y="5060950"/>
              <a:ext cx="155575"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9" name="Rectangle 23" descr="深色上对角线"/>
            <p:cNvSpPr>
              <a:spLocks noChangeArrowheads="1"/>
            </p:cNvSpPr>
            <p:nvPr/>
          </p:nvSpPr>
          <p:spPr bwMode="auto">
            <a:xfrm rot="10800000">
              <a:off x="2770190" y="5114925"/>
              <a:ext cx="155575"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0" name="Rectangle 24" descr="深色上对角线"/>
            <p:cNvSpPr>
              <a:spLocks noChangeArrowheads="1"/>
            </p:cNvSpPr>
            <p:nvPr/>
          </p:nvSpPr>
          <p:spPr bwMode="auto">
            <a:xfrm rot="10800000">
              <a:off x="2524127" y="5194300"/>
              <a:ext cx="155575"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1" name="Rectangle 25" descr="深色上对角线"/>
            <p:cNvSpPr>
              <a:spLocks noChangeArrowheads="1"/>
            </p:cNvSpPr>
            <p:nvPr/>
          </p:nvSpPr>
          <p:spPr bwMode="auto">
            <a:xfrm rot="10800000">
              <a:off x="4021140" y="4916488"/>
              <a:ext cx="153988" cy="323850"/>
            </a:xfrm>
            <a:prstGeom prst="rect">
              <a:avLst/>
            </a:prstGeom>
            <a:pattFill prst="dkUpDiag">
              <a:fgClr>
                <a:srgbClr val="CC0000"/>
              </a:fgClr>
              <a:bgClr>
                <a:srgbClr val="FFFFFF"/>
              </a:bgClr>
            </a:patt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2" name="Rectangle 26" descr="深色上对角线"/>
            <p:cNvSpPr>
              <a:spLocks noChangeArrowheads="1"/>
            </p:cNvSpPr>
            <p:nvPr/>
          </p:nvSpPr>
          <p:spPr bwMode="auto">
            <a:xfrm rot="10800000">
              <a:off x="1779590" y="5592763"/>
              <a:ext cx="144463"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3" name="Rectangle 27" descr="深色上对角线"/>
            <p:cNvSpPr>
              <a:spLocks noChangeArrowheads="1"/>
            </p:cNvSpPr>
            <p:nvPr/>
          </p:nvSpPr>
          <p:spPr bwMode="auto">
            <a:xfrm rot="10800000">
              <a:off x="1535115" y="6121400"/>
              <a:ext cx="152400" cy="323850"/>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4" name="Rectangle 28" descr="深色上对角线"/>
            <p:cNvSpPr>
              <a:spLocks noChangeArrowheads="1"/>
            </p:cNvSpPr>
            <p:nvPr/>
          </p:nvSpPr>
          <p:spPr bwMode="auto">
            <a:xfrm rot="10800000">
              <a:off x="2281240" y="5280025"/>
              <a:ext cx="147638"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5" name="Rectangle 29" descr="深色上对角线"/>
            <p:cNvSpPr>
              <a:spLocks noChangeArrowheads="1"/>
            </p:cNvSpPr>
            <p:nvPr/>
          </p:nvSpPr>
          <p:spPr bwMode="auto">
            <a:xfrm rot="10800000">
              <a:off x="3255965" y="5016500"/>
              <a:ext cx="153988"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6" name="Rectangle 30" descr="深色上对角线"/>
            <p:cNvSpPr>
              <a:spLocks noChangeArrowheads="1"/>
            </p:cNvSpPr>
            <p:nvPr/>
          </p:nvSpPr>
          <p:spPr bwMode="auto">
            <a:xfrm rot="10800000">
              <a:off x="3508378" y="4984750"/>
              <a:ext cx="161925"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7" name="Rectangle 31" descr="深色上对角线"/>
            <p:cNvSpPr>
              <a:spLocks noChangeArrowheads="1"/>
            </p:cNvSpPr>
            <p:nvPr/>
          </p:nvSpPr>
          <p:spPr bwMode="auto">
            <a:xfrm rot="10800000">
              <a:off x="3767140" y="4949825"/>
              <a:ext cx="153988"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8" name="Rectangle 32" descr="深色上对角线"/>
            <p:cNvSpPr>
              <a:spLocks noChangeArrowheads="1"/>
            </p:cNvSpPr>
            <p:nvPr/>
          </p:nvSpPr>
          <p:spPr bwMode="auto">
            <a:xfrm>
              <a:off x="4287840" y="4748213"/>
              <a:ext cx="169863" cy="325438"/>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39" name="Group 33"/>
            <p:cNvGrpSpPr/>
            <p:nvPr/>
          </p:nvGrpSpPr>
          <p:grpSpPr bwMode="auto">
            <a:xfrm flipH="1">
              <a:off x="4538665" y="4583113"/>
              <a:ext cx="152400" cy="327025"/>
              <a:chOff x="2635" y="2805"/>
              <a:chExt cx="89" cy="206"/>
            </a:xfrm>
          </p:grpSpPr>
          <p:sp>
            <p:nvSpPr>
              <p:cNvPr id="210" name="Rectangle 34" descr="深色上对角线"/>
              <p:cNvSpPr>
                <a:spLocks noChangeArrowheads="1"/>
              </p:cNvSpPr>
              <p:nvPr/>
            </p:nvSpPr>
            <p:spPr bwMode="auto">
              <a:xfrm>
                <a:off x="2674" y="2806"/>
                <a:ext cx="5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1" name="Rectangle 35" descr="深色上对角线"/>
              <p:cNvSpPr>
                <a:spLocks noChangeArrowheads="1"/>
              </p:cNvSpPr>
              <p:nvPr/>
            </p:nvSpPr>
            <p:spPr bwMode="auto">
              <a:xfrm>
                <a:off x="2635" y="2805"/>
                <a:ext cx="39" cy="172"/>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40" name="Text Box 36"/>
            <p:cNvSpPr txBox="1">
              <a:spLocks noChangeArrowheads="1"/>
            </p:cNvSpPr>
            <p:nvPr/>
          </p:nvSpPr>
          <p:spPr bwMode="auto">
            <a:xfrm>
              <a:off x="7961316" y="3775075"/>
              <a:ext cx="3603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dirty="0" err="1">
                  <a:ln>
                    <a:noFill/>
                  </a:ln>
                  <a:solidFill>
                    <a:srgbClr val="000000"/>
                  </a:solidFill>
                  <a:effectLst/>
                  <a:uLnTx/>
                  <a:uFillTx/>
                  <a:latin typeface="黑体" panose="02010609060101010101" pitchFamily="2" charset="-122"/>
                  <a:ea typeface="黑体" panose="02010609060101010101" pitchFamily="2" charset="-122"/>
                </a:rPr>
                <a:t>zc</a:t>
              </a:r>
              <a:endParaRPr kumimoji="1" lang="en-US" altLang="zh-CN" sz="1400" b="1" i="0" u="none" strike="noStrike" kern="0" cap="none" spc="0" normalizeH="0" baseline="0" noProof="0" dirty="0">
                <a:ln>
                  <a:noFill/>
                </a:ln>
                <a:solidFill>
                  <a:srgbClr val="000000"/>
                </a:solidFill>
                <a:effectLst/>
                <a:uLnTx/>
                <a:uFillTx/>
                <a:latin typeface="黑体" panose="02010609060101010101" pitchFamily="2" charset="-122"/>
                <a:ea typeface="黑体" panose="02010609060101010101" pitchFamily="2" charset="-122"/>
              </a:endParaRPr>
            </a:p>
          </p:txBody>
        </p:sp>
        <p:sp>
          <p:nvSpPr>
            <p:cNvPr id="141" name="Text Box 37"/>
            <p:cNvSpPr txBox="1">
              <a:spLocks noChangeArrowheads="1"/>
            </p:cNvSpPr>
            <p:nvPr/>
          </p:nvSpPr>
          <p:spPr bwMode="auto">
            <a:xfrm>
              <a:off x="7732716" y="4159250"/>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2" name="Text Box 38"/>
            <p:cNvSpPr txBox="1">
              <a:spLocks noChangeArrowheads="1"/>
            </p:cNvSpPr>
            <p:nvPr/>
          </p:nvSpPr>
          <p:spPr bwMode="auto">
            <a:xfrm>
              <a:off x="7488241" y="4279900"/>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3" name="Text Box 39"/>
            <p:cNvSpPr txBox="1">
              <a:spLocks noChangeArrowheads="1"/>
            </p:cNvSpPr>
            <p:nvPr/>
          </p:nvSpPr>
          <p:spPr bwMode="auto">
            <a:xfrm>
              <a:off x="7281866" y="4387850"/>
              <a:ext cx="28098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4" name="Text Box 40"/>
            <p:cNvSpPr txBox="1">
              <a:spLocks noChangeArrowheads="1"/>
            </p:cNvSpPr>
            <p:nvPr/>
          </p:nvSpPr>
          <p:spPr bwMode="auto">
            <a:xfrm>
              <a:off x="7042153" y="449897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y</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5" name="Text Box 41"/>
            <p:cNvSpPr txBox="1">
              <a:spLocks noChangeArrowheads="1"/>
            </p:cNvSpPr>
            <p:nvPr/>
          </p:nvSpPr>
          <p:spPr bwMode="auto">
            <a:xfrm>
              <a:off x="6811966" y="4546600"/>
              <a:ext cx="27463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x</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6" name="Text Box 42"/>
            <p:cNvSpPr txBox="1">
              <a:spLocks noChangeArrowheads="1"/>
            </p:cNvSpPr>
            <p:nvPr/>
          </p:nvSpPr>
          <p:spPr bwMode="auto">
            <a:xfrm>
              <a:off x="6524628" y="460057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v</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7" name="Text Box 43"/>
            <p:cNvSpPr txBox="1">
              <a:spLocks noChangeArrowheads="1"/>
            </p:cNvSpPr>
            <p:nvPr/>
          </p:nvSpPr>
          <p:spPr bwMode="auto">
            <a:xfrm>
              <a:off x="6278566" y="463232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u</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8" name="Text Box 44"/>
            <p:cNvSpPr txBox="1">
              <a:spLocks noChangeArrowheads="1"/>
            </p:cNvSpPr>
            <p:nvPr/>
          </p:nvSpPr>
          <p:spPr bwMode="auto">
            <a:xfrm>
              <a:off x="4487865" y="48466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k</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9" name="Text Box 45"/>
            <p:cNvSpPr txBox="1">
              <a:spLocks noChangeArrowheads="1"/>
            </p:cNvSpPr>
            <p:nvPr/>
          </p:nvSpPr>
          <p:spPr bwMode="auto">
            <a:xfrm>
              <a:off x="4732340" y="478790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m</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0" name="Text Box 46"/>
            <p:cNvSpPr txBox="1">
              <a:spLocks noChangeArrowheads="1"/>
            </p:cNvSpPr>
            <p:nvPr/>
          </p:nvSpPr>
          <p:spPr bwMode="auto">
            <a:xfrm>
              <a:off x="3959228" y="46434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A50021"/>
                  </a:solidFill>
                  <a:effectLst/>
                  <a:uLnTx/>
                  <a:uFillTx/>
                  <a:latin typeface="黑体" panose="02010609060101010101" pitchFamily="2" charset="-122"/>
                  <a:ea typeface="黑体" panose="02010609060101010101" pitchFamily="2" charset="-122"/>
                </a:rPr>
                <a:t>h</a:t>
              </a:r>
              <a:endParaRPr kumimoji="1" lang="en-US" altLang="zh-CN" sz="1400" b="1" i="0" u="none" strike="noStrike" kern="0" cap="none" spc="0" normalizeH="0" baseline="0" noProof="0">
                <a:ln>
                  <a:noFill/>
                </a:ln>
                <a:solidFill>
                  <a:srgbClr val="A50021"/>
                </a:solidFill>
                <a:effectLst/>
                <a:uLnTx/>
                <a:uFillTx/>
                <a:latin typeface="黑体" panose="02010609060101010101" pitchFamily="2" charset="-122"/>
                <a:ea typeface="黑体" panose="02010609060101010101" pitchFamily="2" charset="-122"/>
              </a:endParaRPr>
            </a:p>
          </p:txBody>
        </p:sp>
        <p:sp>
          <p:nvSpPr>
            <p:cNvPr id="151" name="Text Box 47"/>
            <p:cNvSpPr txBox="1">
              <a:spLocks noChangeArrowheads="1"/>
            </p:cNvSpPr>
            <p:nvPr/>
          </p:nvSpPr>
          <p:spPr bwMode="auto">
            <a:xfrm>
              <a:off x="1481140" y="58372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2" name="Text Box 48"/>
            <p:cNvSpPr txBox="1">
              <a:spLocks noChangeArrowheads="1"/>
            </p:cNvSpPr>
            <p:nvPr/>
          </p:nvSpPr>
          <p:spPr bwMode="auto">
            <a:xfrm>
              <a:off x="1724027" y="5321300"/>
              <a:ext cx="2714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3" name="Text Box 49"/>
            <p:cNvSpPr txBox="1">
              <a:spLocks noChangeArrowheads="1"/>
            </p:cNvSpPr>
            <p:nvPr/>
          </p:nvSpPr>
          <p:spPr bwMode="auto">
            <a:xfrm>
              <a:off x="1963740" y="512921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4" name="Text Box 50"/>
            <p:cNvSpPr txBox="1">
              <a:spLocks noChangeArrowheads="1"/>
            </p:cNvSpPr>
            <p:nvPr/>
          </p:nvSpPr>
          <p:spPr bwMode="auto">
            <a:xfrm>
              <a:off x="2178052" y="5000625"/>
              <a:ext cx="3603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5" name="Text Box 51"/>
            <p:cNvSpPr txBox="1">
              <a:spLocks noChangeArrowheads="1"/>
            </p:cNvSpPr>
            <p:nvPr/>
          </p:nvSpPr>
          <p:spPr bwMode="auto">
            <a:xfrm>
              <a:off x="2449515" y="491807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6" name="Text Box 52"/>
            <p:cNvSpPr txBox="1">
              <a:spLocks noChangeArrowheads="1"/>
            </p:cNvSpPr>
            <p:nvPr/>
          </p:nvSpPr>
          <p:spPr bwMode="auto">
            <a:xfrm>
              <a:off x="2711452" y="4846638"/>
              <a:ext cx="27463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7" name="Text Box 54"/>
            <p:cNvSpPr txBox="1">
              <a:spLocks noChangeArrowheads="1"/>
            </p:cNvSpPr>
            <p:nvPr/>
          </p:nvSpPr>
          <p:spPr bwMode="auto">
            <a:xfrm>
              <a:off x="539752" y="4668838"/>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0</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8" name="Text Box 55"/>
            <p:cNvSpPr txBox="1">
              <a:spLocks noChangeArrowheads="1"/>
            </p:cNvSpPr>
            <p:nvPr/>
          </p:nvSpPr>
          <p:spPr bwMode="auto">
            <a:xfrm>
              <a:off x="731840" y="4276725"/>
              <a:ext cx="338138"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9" name="Text Box 56"/>
            <p:cNvSpPr txBox="1">
              <a:spLocks noChangeArrowheads="1"/>
            </p:cNvSpPr>
            <p:nvPr/>
          </p:nvSpPr>
          <p:spPr bwMode="auto">
            <a:xfrm>
              <a:off x="5202240" y="5517232"/>
              <a:ext cx="493713" cy="461963"/>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轴</a:t>
              </a:r>
              <a:endPar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160" name="Rectangle 57"/>
            <p:cNvSpPr>
              <a:spLocks noChangeArrowheads="1"/>
            </p:cNvSpPr>
            <p:nvPr/>
          </p:nvSpPr>
          <p:spPr bwMode="auto">
            <a:xfrm>
              <a:off x="3494090" y="4797425"/>
              <a:ext cx="200025" cy="152400"/>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1" name="Rectangle 58"/>
            <p:cNvSpPr>
              <a:spLocks noChangeArrowheads="1"/>
            </p:cNvSpPr>
            <p:nvPr/>
          </p:nvSpPr>
          <p:spPr bwMode="auto">
            <a:xfrm>
              <a:off x="2978152" y="4848225"/>
              <a:ext cx="220663" cy="152400"/>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2" name="Rectangle 59"/>
            <p:cNvSpPr>
              <a:spLocks noChangeArrowheads="1"/>
            </p:cNvSpPr>
            <p:nvPr/>
          </p:nvSpPr>
          <p:spPr bwMode="auto">
            <a:xfrm>
              <a:off x="7994653" y="3489325"/>
              <a:ext cx="247650" cy="82550"/>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3" name="Rectangle 60"/>
            <p:cNvSpPr>
              <a:spLocks noChangeArrowheads="1"/>
            </p:cNvSpPr>
            <p:nvPr/>
          </p:nvSpPr>
          <p:spPr bwMode="auto">
            <a:xfrm>
              <a:off x="7773991" y="3832225"/>
              <a:ext cx="247650" cy="82550"/>
            </a:xfrm>
            <a:prstGeom prst="rect">
              <a:avLst/>
            </a:prstGeom>
            <a:solidFill>
              <a:srgbClr val="FFFFFF"/>
            </a:solidFill>
            <a:ln w="9525" algn="ctr">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4" name="Rectangle 61"/>
            <p:cNvSpPr>
              <a:spLocks noChangeArrowheads="1"/>
            </p:cNvSpPr>
            <p:nvPr/>
          </p:nvSpPr>
          <p:spPr bwMode="auto">
            <a:xfrm>
              <a:off x="7532691" y="3997325"/>
              <a:ext cx="247650" cy="8255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5" name="Rectangle 62"/>
            <p:cNvSpPr>
              <a:spLocks noChangeArrowheads="1"/>
            </p:cNvSpPr>
            <p:nvPr/>
          </p:nvSpPr>
          <p:spPr bwMode="auto">
            <a:xfrm>
              <a:off x="7292978" y="41132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6" name="Rectangle 63"/>
            <p:cNvSpPr>
              <a:spLocks noChangeArrowheads="1"/>
            </p:cNvSpPr>
            <p:nvPr/>
          </p:nvSpPr>
          <p:spPr bwMode="auto">
            <a:xfrm>
              <a:off x="7058028" y="42084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7" name="Rectangle 64"/>
            <p:cNvSpPr>
              <a:spLocks noChangeArrowheads="1"/>
            </p:cNvSpPr>
            <p:nvPr/>
          </p:nvSpPr>
          <p:spPr bwMode="auto">
            <a:xfrm>
              <a:off x="6804028" y="42783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8" name="Rectangle 65"/>
            <p:cNvSpPr>
              <a:spLocks noChangeArrowheads="1"/>
            </p:cNvSpPr>
            <p:nvPr/>
          </p:nvSpPr>
          <p:spPr bwMode="auto">
            <a:xfrm>
              <a:off x="6550028" y="43227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9" name="Rectangle 66"/>
            <p:cNvSpPr>
              <a:spLocks noChangeArrowheads="1"/>
            </p:cNvSpPr>
            <p:nvPr/>
          </p:nvSpPr>
          <p:spPr bwMode="auto">
            <a:xfrm>
              <a:off x="6294441" y="43735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0" name="Rectangle 67"/>
            <p:cNvSpPr>
              <a:spLocks noChangeArrowheads="1"/>
            </p:cNvSpPr>
            <p:nvPr/>
          </p:nvSpPr>
          <p:spPr bwMode="auto">
            <a:xfrm>
              <a:off x="6032503" y="4392613"/>
              <a:ext cx="249238"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1" name="Rectangle 68"/>
            <p:cNvSpPr>
              <a:spLocks noChangeArrowheads="1"/>
            </p:cNvSpPr>
            <p:nvPr/>
          </p:nvSpPr>
          <p:spPr bwMode="auto">
            <a:xfrm>
              <a:off x="5784853" y="44370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2" name="Rectangle 69"/>
            <p:cNvSpPr>
              <a:spLocks noChangeArrowheads="1"/>
            </p:cNvSpPr>
            <p:nvPr/>
          </p:nvSpPr>
          <p:spPr bwMode="auto">
            <a:xfrm>
              <a:off x="5524503" y="4456113"/>
              <a:ext cx="247650" cy="74613"/>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3" name="Rectangle 70"/>
            <p:cNvSpPr>
              <a:spLocks noChangeArrowheads="1"/>
            </p:cNvSpPr>
            <p:nvPr/>
          </p:nvSpPr>
          <p:spPr bwMode="auto">
            <a:xfrm>
              <a:off x="5262565" y="4468813"/>
              <a:ext cx="247650" cy="74613"/>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4" name="Rectangle 71"/>
            <p:cNvSpPr>
              <a:spLocks noChangeArrowheads="1"/>
            </p:cNvSpPr>
            <p:nvPr/>
          </p:nvSpPr>
          <p:spPr bwMode="auto">
            <a:xfrm>
              <a:off x="5029203" y="4481513"/>
              <a:ext cx="247650" cy="74613"/>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5" name="Rectangle 72"/>
            <p:cNvSpPr>
              <a:spLocks noChangeArrowheads="1"/>
            </p:cNvSpPr>
            <p:nvPr/>
          </p:nvSpPr>
          <p:spPr bwMode="auto">
            <a:xfrm>
              <a:off x="4746628" y="4500563"/>
              <a:ext cx="247650" cy="74613"/>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6" name="Rectangle 73"/>
            <p:cNvSpPr>
              <a:spLocks noChangeArrowheads="1"/>
            </p:cNvSpPr>
            <p:nvPr/>
          </p:nvSpPr>
          <p:spPr bwMode="auto">
            <a:xfrm>
              <a:off x="4471990" y="4519613"/>
              <a:ext cx="247650" cy="74613"/>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7" name="Rectangle 74"/>
            <p:cNvSpPr>
              <a:spLocks noChangeArrowheads="1"/>
            </p:cNvSpPr>
            <p:nvPr/>
          </p:nvSpPr>
          <p:spPr bwMode="auto">
            <a:xfrm>
              <a:off x="4244978" y="4678363"/>
              <a:ext cx="247650" cy="74613"/>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8" name="Rectangle 75"/>
            <p:cNvSpPr>
              <a:spLocks noChangeArrowheads="1"/>
            </p:cNvSpPr>
            <p:nvPr/>
          </p:nvSpPr>
          <p:spPr bwMode="auto">
            <a:xfrm>
              <a:off x="4251328" y="50657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9" name="Text Box 76"/>
            <p:cNvSpPr txBox="1">
              <a:spLocks noChangeArrowheads="1"/>
            </p:cNvSpPr>
            <p:nvPr/>
          </p:nvSpPr>
          <p:spPr bwMode="auto">
            <a:xfrm>
              <a:off x="4181478" y="5003800"/>
              <a:ext cx="360363"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80" name="Rectangle 77"/>
            <p:cNvSpPr>
              <a:spLocks noChangeArrowheads="1"/>
            </p:cNvSpPr>
            <p:nvPr/>
          </p:nvSpPr>
          <p:spPr bwMode="auto">
            <a:xfrm>
              <a:off x="3714753" y="52562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1" name="Rectangle 78"/>
            <p:cNvSpPr>
              <a:spLocks noChangeArrowheads="1"/>
            </p:cNvSpPr>
            <p:nvPr/>
          </p:nvSpPr>
          <p:spPr bwMode="auto">
            <a:xfrm>
              <a:off x="3467103" y="53006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2" name="Rectangle 79"/>
            <p:cNvSpPr>
              <a:spLocks noChangeArrowheads="1"/>
            </p:cNvSpPr>
            <p:nvPr/>
          </p:nvSpPr>
          <p:spPr bwMode="auto">
            <a:xfrm>
              <a:off x="3976690" y="5230813"/>
              <a:ext cx="247650" cy="8096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3" name="Rectangle 80"/>
            <p:cNvSpPr>
              <a:spLocks noChangeArrowheads="1"/>
            </p:cNvSpPr>
            <p:nvPr/>
          </p:nvSpPr>
          <p:spPr bwMode="auto">
            <a:xfrm>
              <a:off x="3219453" y="53260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4" name="Rectangle 81"/>
            <p:cNvSpPr>
              <a:spLocks noChangeArrowheads="1"/>
            </p:cNvSpPr>
            <p:nvPr/>
          </p:nvSpPr>
          <p:spPr bwMode="auto">
            <a:xfrm>
              <a:off x="2971802" y="53705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5" name="Rectangle 82"/>
            <p:cNvSpPr>
              <a:spLocks noChangeArrowheads="1"/>
            </p:cNvSpPr>
            <p:nvPr/>
          </p:nvSpPr>
          <p:spPr bwMode="auto">
            <a:xfrm>
              <a:off x="2730502" y="54276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6" name="Rectangle 83"/>
            <p:cNvSpPr>
              <a:spLocks noChangeArrowheads="1"/>
            </p:cNvSpPr>
            <p:nvPr/>
          </p:nvSpPr>
          <p:spPr bwMode="auto">
            <a:xfrm>
              <a:off x="2476502" y="55165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7" name="Rectangle 84"/>
            <p:cNvSpPr>
              <a:spLocks noChangeArrowheads="1"/>
            </p:cNvSpPr>
            <p:nvPr/>
          </p:nvSpPr>
          <p:spPr bwMode="auto">
            <a:xfrm>
              <a:off x="2235202" y="55927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8" name="Rectangle 85"/>
            <p:cNvSpPr>
              <a:spLocks noChangeArrowheads="1"/>
            </p:cNvSpPr>
            <p:nvPr/>
          </p:nvSpPr>
          <p:spPr bwMode="auto">
            <a:xfrm>
              <a:off x="1987552" y="57134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9" name="Rectangle 86"/>
            <p:cNvSpPr>
              <a:spLocks noChangeArrowheads="1"/>
            </p:cNvSpPr>
            <p:nvPr/>
          </p:nvSpPr>
          <p:spPr bwMode="auto">
            <a:xfrm>
              <a:off x="1712915" y="591026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0" name="Rectangle 87"/>
            <p:cNvSpPr>
              <a:spLocks noChangeArrowheads="1"/>
            </p:cNvSpPr>
            <p:nvPr/>
          </p:nvSpPr>
          <p:spPr bwMode="auto">
            <a:xfrm>
              <a:off x="1471615" y="6437313"/>
              <a:ext cx="247650" cy="74613"/>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1" name="Text Box 88"/>
            <p:cNvSpPr txBox="1">
              <a:spLocks noChangeArrowheads="1"/>
            </p:cNvSpPr>
            <p:nvPr/>
          </p:nvSpPr>
          <p:spPr bwMode="auto">
            <a:xfrm>
              <a:off x="2905127" y="4779963"/>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2" name="Rectangle 89"/>
            <p:cNvSpPr>
              <a:spLocks noChangeArrowheads="1"/>
            </p:cNvSpPr>
            <p:nvPr/>
          </p:nvSpPr>
          <p:spPr bwMode="auto">
            <a:xfrm>
              <a:off x="3776665" y="4772025"/>
              <a:ext cx="144463" cy="152400"/>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3" name="Text Box 90"/>
            <p:cNvSpPr txBox="1">
              <a:spLocks noChangeArrowheads="1"/>
            </p:cNvSpPr>
            <p:nvPr/>
          </p:nvSpPr>
          <p:spPr bwMode="auto">
            <a:xfrm>
              <a:off x="3400428" y="4676775"/>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4" name="Text Box 91"/>
            <p:cNvSpPr txBox="1">
              <a:spLocks noChangeArrowheads="1"/>
            </p:cNvSpPr>
            <p:nvPr/>
          </p:nvSpPr>
          <p:spPr bwMode="auto">
            <a:xfrm>
              <a:off x="3708403" y="4635500"/>
              <a:ext cx="2714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5" name="Rectangle 92"/>
            <p:cNvSpPr>
              <a:spLocks noChangeArrowheads="1"/>
            </p:cNvSpPr>
            <p:nvPr/>
          </p:nvSpPr>
          <p:spPr bwMode="auto">
            <a:xfrm>
              <a:off x="5049840" y="4886325"/>
              <a:ext cx="165100" cy="152400"/>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6" name="Rectangle 93"/>
            <p:cNvSpPr>
              <a:spLocks noChangeArrowheads="1"/>
            </p:cNvSpPr>
            <p:nvPr/>
          </p:nvSpPr>
          <p:spPr bwMode="auto">
            <a:xfrm>
              <a:off x="5318128" y="4873625"/>
              <a:ext cx="165100" cy="152400"/>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7" name="Rectangle 94"/>
            <p:cNvSpPr>
              <a:spLocks noChangeArrowheads="1"/>
            </p:cNvSpPr>
            <p:nvPr/>
          </p:nvSpPr>
          <p:spPr bwMode="auto">
            <a:xfrm>
              <a:off x="5586415" y="4841875"/>
              <a:ext cx="165100" cy="152400"/>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8" name="Rectangle 95"/>
            <p:cNvSpPr>
              <a:spLocks noChangeArrowheads="1"/>
            </p:cNvSpPr>
            <p:nvPr/>
          </p:nvSpPr>
          <p:spPr bwMode="auto">
            <a:xfrm>
              <a:off x="5834066" y="4835525"/>
              <a:ext cx="165100" cy="152400"/>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9" name="Rectangle 96"/>
            <p:cNvSpPr>
              <a:spLocks noChangeArrowheads="1"/>
            </p:cNvSpPr>
            <p:nvPr/>
          </p:nvSpPr>
          <p:spPr bwMode="auto">
            <a:xfrm>
              <a:off x="6102353" y="4829175"/>
              <a:ext cx="165100" cy="152400"/>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0" name="Text Box 97"/>
            <p:cNvSpPr txBox="1">
              <a:spLocks noChangeArrowheads="1"/>
            </p:cNvSpPr>
            <p:nvPr/>
          </p:nvSpPr>
          <p:spPr bwMode="auto">
            <a:xfrm>
              <a:off x="6038853" y="469265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t</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1" name="Text Box 98"/>
            <p:cNvSpPr txBox="1">
              <a:spLocks noChangeArrowheads="1"/>
            </p:cNvSpPr>
            <p:nvPr/>
          </p:nvSpPr>
          <p:spPr bwMode="auto">
            <a:xfrm>
              <a:off x="5770566" y="47069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2" name="Text Box 99"/>
            <p:cNvSpPr txBox="1">
              <a:spLocks noChangeArrowheads="1"/>
            </p:cNvSpPr>
            <p:nvPr/>
          </p:nvSpPr>
          <p:spPr bwMode="auto">
            <a:xfrm>
              <a:off x="5526090" y="473551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r</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3" name="Text Box 100"/>
            <p:cNvSpPr txBox="1">
              <a:spLocks noChangeArrowheads="1"/>
            </p:cNvSpPr>
            <p:nvPr/>
          </p:nvSpPr>
          <p:spPr bwMode="auto">
            <a:xfrm>
              <a:off x="5000628" y="477520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n</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4" name="Text Box 101"/>
            <p:cNvSpPr txBox="1">
              <a:spLocks noChangeArrowheads="1"/>
            </p:cNvSpPr>
            <p:nvPr/>
          </p:nvSpPr>
          <p:spPr bwMode="auto">
            <a:xfrm>
              <a:off x="5262565" y="474821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p</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nvGrpSpPr>
            <p:cNvPr id="205" name="组合 209"/>
            <p:cNvGrpSpPr/>
            <p:nvPr/>
          </p:nvGrpSpPr>
          <p:grpSpPr bwMode="auto">
            <a:xfrm>
              <a:off x="971600" y="4333875"/>
              <a:ext cx="404812" cy="1905645"/>
              <a:chOff x="1244602" y="1257821"/>
              <a:chExt cx="404812" cy="1905645"/>
            </a:xfrm>
          </p:grpSpPr>
          <p:sp>
            <p:nvSpPr>
              <p:cNvPr id="208" name="Line 37"/>
              <p:cNvSpPr>
                <a:spLocks noChangeShapeType="1"/>
              </p:cNvSpPr>
              <p:nvPr/>
            </p:nvSpPr>
            <p:spPr bwMode="auto">
              <a:xfrm flipV="1">
                <a:off x="1649414" y="1839491"/>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09" name="Text Box 38"/>
              <p:cNvSpPr txBox="1">
                <a:spLocks noChangeArrowheads="1"/>
              </p:cNvSpPr>
              <p:nvPr/>
            </p:nvSpPr>
            <p:spPr bwMode="auto">
              <a:xfrm rot="16200000">
                <a:off x="499223" y="2003152"/>
                <a:ext cx="1889126"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黑体" panose="02010609060101010101" pitchFamily="2" charset="-122"/>
                  </a:rPr>
                  <a:t>基本尺寸</a:t>
                </a:r>
                <a:endParaRPr kumimoji="1"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黑体" panose="02010609060101010101" pitchFamily="2" charset="-122"/>
                </a:endParaRPr>
              </a:p>
            </p:txBody>
          </p:sp>
        </p:grpSp>
        <p:sp>
          <p:nvSpPr>
            <p:cNvPr id="206" name="Rectangle 57"/>
            <p:cNvSpPr>
              <a:spLocks noChangeArrowheads="1"/>
            </p:cNvSpPr>
            <p:nvPr/>
          </p:nvSpPr>
          <p:spPr bwMode="auto">
            <a:xfrm>
              <a:off x="3232423" y="4860776"/>
              <a:ext cx="200025" cy="152400"/>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7" name="Text Box 53"/>
            <p:cNvSpPr txBox="1">
              <a:spLocks noChangeArrowheads="1"/>
            </p:cNvSpPr>
            <p:nvPr/>
          </p:nvSpPr>
          <p:spPr bwMode="auto">
            <a:xfrm>
              <a:off x="3194053" y="477996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animEffect transition="in" filter="wipe(left)">
                                      <p:cBhvr>
                                        <p:cTn id="12" dur="1000"/>
                                        <p:tgtEl>
                                          <p:spTgt spid="1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4"/>
          <p:cNvSpPr txBox="1">
            <a:spLocks noChangeArrowheads="1"/>
          </p:cNvSpPr>
          <p:nvPr/>
        </p:nvSpPr>
        <p:spPr bwMode="auto">
          <a:xfrm>
            <a:off x="407368" y="1340768"/>
            <a:ext cx="3263900" cy="4638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defPPr>
              <a:defRPr lang="zh-CN"/>
            </a:defPPr>
            <a:lvl1pPr fontAlgn="base">
              <a:spcBef>
                <a:spcPct val="0"/>
              </a:spcBef>
              <a:spcAft>
                <a:spcPct val="0"/>
              </a:spcAft>
              <a:buFontTx/>
              <a:buNone/>
              <a:defRPr kumimoji="1" sz="2400">
                <a:solidFill>
                  <a:srgbClr val="000000"/>
                </a:solidFill>
                <a:latin typeface="黑体" panose="02010609060101010101" pitchFamily="2" charset="-122"/>
                <a:ea typeface="黑体" panose="02010609060101010101" pitchFamily="2"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b="1" dirty="0"/>
              <a:t>（</a:t>
            </a:r>
            <a:r>
              <a:rPr lang="en-US" altLang="zh-CN" b="1" dirty="0"/>
              <a:t>3</a:t>
            </a:r>
            <a:r>
              <a:rPr lang="zh-CN" altLang="en-US" b="1" dirty="0"/>
              <a:t>）公差带代号</a:t>
            </a:r>
            <a:endParaRPr lang="zh-CN" altLang="en-US" b="1" dirty="0"/>
          </a:p>
        </p:txBody>
      </p:sp>
      <p:sp>
        <p:nvSpPr>
          <p:cNvPr id="3" name="Text Box 5"/>
          <p:cNvSpPr txBox="1">
            <a:spLocks noChangeArrowheads="1"/>
          </p:cNvSpPr>
          <p:nvPr/>
        </p:nvSpPr>
        <p:spPr bwMode="auto">
          <a:xfrm>
            <a:off x="2801896" y="2594156"/>
            <a:ext cx="3765774"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dirty="0">
                <a:solidFill>
                  <a:srgbClr val="000000"/>
                </a:solidFill>
                <a:latin typeface="黑体" panose="02010609060101010101" pitchFamily="2" charset="-122"/>
                <a:ea typeface="黑体" panose="02010609060101010101" pitchFamily="2" charset="-122"/>
              </a:rPr>
              <a:t>孔的基本尺寸： </a:t>
            </a:r>
            <a:r>
              <a:rPr kumimoji="1" lang="en-US" altLang="zh-CN" dirty="0">
                <a:solidFill>
                  <a:srgbClr val="000000"/>
                </a:solidFill>
                <a:latin typeface="ISOCPEUR" panose="020B0604020202020204" pitchFamily="34" charset="0"/>
                <a:ea typeface="黑体" panose="02010609060101010101" pitchFamily="2" charset="-122"/>
              </a:rPr>
              <a:t>Ø</a:t>
            </a:r>
            <a:r>
              <a:rPr kumimoji="1" lang="en-US" altLang="zh-CN" dirty="0">
                <a:solidFill>
                  <a:srgbClr val="000000"/>
                </a:solidFill>
                <a:latin typeface="黑体" panose="02010609060101010101" pitchFamily="2" charset="-122"/>
                <a:ea typeface="黑体" panose="02010609060101010101" pitchFamily="2" charset="-122"/>
                <a:sym typeface="UniversalMath1 BT" panose="05050102010205020602" pitchFamily="18" charset="2"/>
              </a:rPr>
              <a:t>50</a:t>
            </a:r>
            <a:r>
              <a:rPr kumimoji="1" lang="en-US" altLang="zh-CN" i="1" dirty="0">
                <a:solidFill>
                  <a:srgbClr val="000000"/>
                </a:solidFill>
                <a:latin typeface="黑体" panose="02010609060101010101" pitchFamily="2" charset="-122"/>
                <a:ea typeface="黑体" panose="02010609060101010101" pitchFamily="2" charset="-122"/>
                <a:sym typeface="UniversalMath1 BT" panose="05050102010205020602" pitchFamily="18" charset="2"/>
              </a:rPr>
              <a:t> </a:t>
            </a:r>
            <a:endParaRPr kumimoji="1" lang="en-US" altLang="zh-CN" i="1" dirty="0">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a:p>
            <a:pPr fontAlgn="base">
              <a:spcBef>
                <a:spcPct val="0"/>
              </a:spcBef>
              <a:spcAft>
                <a:spcPct val="0"/>
              </a:spcAft>
              <a:buFontTx/>
              <a:buNone/>
            </a:pPr>
            <a:r>
              <a:rPr kumimoji="1" lang="zh-CN" altLang="en-US" sz="2800" dirty="0">
                <a:solidFill>
                  <a:srgbClr val="000000"/>
                </a:solidFill>
                <a:latin typeface="黑体" panose="02010609060101010101" pitchFamily="2" charset="-122"/>
                <a:ea typeface="黑体" panose="02010609060101010101" pitchFamily="2" charset="-122"/>
              </a:rPr>
              <a:t>基本偏差：       </a:t>
            </a:r>
            <a:r>
              <a:rPr kumimoji="1" lang="en-US" altLang="zh-CN" sz="2800" dirty="0">
                <a:solidFill>
                  <a:srgbClr val="000000"/>
                </a:solidFill>
                <a:latin typeface="黑体" panose="02010609060101010101" pitchFamily="2" charset="-122"/>
                <a:ea typeface="黑体" panose="02010609060101010101" pitchFamily="2" charset="-122"/>
              </a:rPr>
              <a:t>H</a:t>
            </a:r>
            <a:endParaRPr kumimoji="1" lang="en-US" altLang="zh-CN" sz="2800" dirty="0">
              <a:solidFill>
                <a:srgbClr val="A50021"/>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zh-CN" altLang="en-US" sz="2800" dirty="0">
                <a:solidFill>
                  <a:srgbClr val="000000"/>
                </a:solidFill>
                <a:latin typeface="黑体" panose="02010609060101010101" pitchFamily="2" charset="-122"/>
                <a:ea typeface="黑体" panose="02010609060101010101" pitchFamily="2" charset="-122"/>
              </a:rPr>
              <a:t>标准公差：      </a:t>
            </a:r>
            <a:r>
              <a:rPr kumimoji="1" lang="en-US" altLang="zh-CN" sz="2800" dirty="0">
                <a:solidFill>
                  <a:srgbClr val="000000"/>
                </a:solidFill>
                <a:latin typeface="黑体" panose="02010609060101010101" pitchFamily="2" charset="-122"/>
                <a:ea typeface="黑体" panose="02010609060101010101" pitchFamily="2" charset="-122"/>
              </a:rPr>
              <a:t>IT9</a:t>
            </a:r>
            <a:endParaRPr kumimoji="1" lang="en-US" altLang="zh-CN" sz="2800" dirty="0">
              <a:solidFill>
                <a:srgbClr val="000000"/>
              </a:solidFill>
              <a:latin typeface="黑体" panose="02010609060101010101" pitchFamily="2" charset="-122"/>
              <a:ea typeface="黑体" panose="02010609060101010101" pitchFamily="2" charset="-122"/>
            </a:endParaRPr>
          </a:p>
        </p:txBody>
      </p:sp>
      <p:sp>
        <p:nvSpPr>
          <p:cNvPr id="4" name="Text Box 6"/>
          <p:cNvSpPr txBox="1">
            <a:spLocks noChangeArrowheads="1"/>
          </p:cNvSpPr>
          <p:nvPr/>
        </p:nvSpPr>
        <p:spPr bwMode="auto">
          <a:xfrm>
            <a:off x="5162067" y="4208292"/>
            <a:ext cx="1734770"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a:solidFill>
                  <a:srgbClr val="000000"/>
                </a:solidFill>
                <a:latin typeface="ISOCPEUR" panose="020B0604020202020204" pitchFamily="34" charset="0"/>
                <a:ea typeface="黑体" panose="02010609060101010101" pitchFamily="2" charset="-122"/>
              </a:rPr>
              <a:t>Ø</a:t>
            </a:r>
            <a:r>
              <a:rPr kumimoji="1" lang="en-US" altLang="zh-CN">
                <a:solidFill>
                  <a:srgbClr val="000000"/>
                </a:solidFill>
                <a:latin typeface="黑体" panose="02010609060101010101" pitchFamily="2" charset="-122"/>
                <a:ea typeface="黑体" panose="02010609060101010101" pitchFamily="2" charset="-122"/>
                <a:sym typeface="UniversalMath1 BT" panose="05050102010205020602" pitchFamily="18" charset="2"/>
              </a:rPr>
              <a:t>50 H9 </a:t>
            </a:r>
            <a:endParaRPr kumimoji="1" lang="en-US" altLang="zh-CN">
              <a:solidFill>
                <a:srgbClr val="000000"/>
              </a:solidFill>
              <a:latin typeface="黑体" panose="02010609060101010101" pitchFamily="2" charset="-122"/>
              <a:ea typeface="黑体" panose="02010609060101010101" pitchFamily="2" charset="-122"/>
              <a:sym typeface="UniversalMath1 BT" panose="05050102010205020602" pitchFamily="18" charset="2"/>
            </a:endParaRPr>
          </a:p>
        </p:txBody>
      </p:sp>
      <p:sp>
        <p:nvSpPr>
          <p:cNvPr id="5" name="Text Box 9"/>
          <p:cNvSpPr txBox="1">
            <a:spLocks noChangeArrowheads="1"/>
          </p:cNvSpPr>
          <p:nvPr/>
        </p:nvSpPr>
        <p:spPr bwMode="auto">
          <a:xfrm>
            <a:off x="2801896" y="5335406"/>
            <a:ext cx="34163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a:solidFill>
                  <a:srgbClr val="000000"/>
                </a:solidFill>
                <a:latin typeface="黑体" panose="02010609060101010101" pitchFamily="2" charset="-122"/>
                <a:ea typeface="黑体" panose="02010609060101010101" pitchFamily="2" charset="-122"/>
              </a:rPr>
              <a:t>查表即可得到公差带</a:t>
            </a:r>
            <a:endParaRPr kumimoji="1" lang="zh-CN" altLang="en-US" sz="2800">
              <a:solidFill>
                <a:srgbClr val="000000"/>
              </a:solidFill>
              <a:latin typeface="黑体" panose="02010609060101010101" pitchFamily="2" charset="-122"/>
              <a:ea typeface="黑体" panose="02010609060101010101" pitchFamily="2" charset="-122"/>
            </a:endParaRPr>
          </a:p>
        </p:txBody>
      </p:sp>
      <p:sp>
        <p:nvSpPr>
          <p:cNvPr id="6" name="Text Box 10"/>
          <p:cNvSpPr txBox="1">
            <a:spLocks noChangeArrowheads="1"/>
          </p:cNvSpPr>
          <p:nvPr/>
        </p:nvSpPr>
        <p:spPr bwMode="auto">
          <a:xfrm>
            <a:off x="6322346" y="5335406"/>
            <a:ext cx="32940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上偏差：＋</a:t>
            </a:r>
            <a:r>
              <a:rPr kumimoji="1" lang="en-US" altLang="zh-CN" sz="2400" dirty="0">
                <a:solidFill>
                  <a:srgbClr val="000000"/>
                </a:solidFill>
                <a:latin typeface="黑体" panose="02010609060101010101" pitchFamily="2" charset="-122"/>
                <a:ea typeface="黑体" panose="02010609060101010101" pitchFamily="2" charset="-122"/>
              </a:rPr>
              <a:t>0.062</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下偏差：  </a:t>
            </a:r>
            <a:r>
              <a:rPr kumimoji="1" lang="en-US" altLang="zh-CN" sz="2400" dirty="0">
                <a:solidFill>
                  <a:srgbClr val="000000"/>
                </a:solidFill>
                <a:latin typeface="黑体" panose="02010609060101010101" pitchFamily="2" charset="-122"/>
                <a:ea typeface="黑体" panose="02010609060101010101" pitchFamily="2" charset="-122"/>
              </a:rPr>
              <a:t>0</a:t>
            </a:r>
            <a:endParaRPr kumimoji="1" lang="en-US" altLang="zh-CN" sz="2400" dirty="0">
              <a:solidFill>
                <a:srgbClr val="000000"/>
              </a:solidFill>
              <a:latin typeface="黑体" panose="02010609060101010101" pitchFamily="2" charset="-122"/>
              <a:ea typeface="黑体" panose="02010609060101010101" pitchFamily="2" charset="-122"/>
            </a:endParaRPr>
          </a:p>
        </p:txBody>
      </p:sp>
      <p:sp>
        <p:nvSpPr>
          <p:cNvPr id="7" name="Text Box 12"/>
          <p:cNvSpPr txBox="1">
            <a:spLocks noChangeArrowheads="1"/>
          </p:cNvSpPr>
          <p:nvPr/>
        </p:nvSpPr>
        <p:spPr bwMode="auto">
          <a:xfrm>
            <a:off x="1823996" y="2594156"/>
            <a:ext cx="11303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800" dirty="0">
                <a:solidFill>
                  <a:srgbClr val="CC0000"/>
                </a:solidFill>
                <a:latin typeface="Times New Roman" panose="02020603050405020304" pitchFamily="18" charset="0"/>
                <a:ea typeface="黑体" panose="02010609060101010101" pitchFamily="2" charset="-122"/>
              </a:rPr>
              <a:t>例：</a:t>
            </a:r>
            <a:endParaRPr kumimoji="1" lang="zh-CN" altLang="en-US" sz="2800" dirty="0">
              <a:solidFill>
                <a:srgbClr val="CC0000"/>
              </a:solidFill>
              <a:latin typeface="Times New Roman" panose="02020603050405020304" pitchFamily="18" charset="0"/>
              <a:ea typeface="黑体" panose="02010609060101010101" pitchFamily="2" charset="-122"/>
            </a:endParaRPr>
          </a:p>
        </p:txBody>
      </p:sp>
      <p:sp>
        <p:nvSpPr>
          <p:cNvPr id="8" name="Rectangle 14"/>
          <p:cNvSpPr>
            <a:spLocks noChangeArrowheads="1"/>
          </p:cNvSpPr>
          <p:nvPr/>
        </p:nvSpPr>
        <p:spPr bwMode="auto">
          <a:xfrm>
            <a:off x="6075489" y="4225248"/>
            <a:ext cx="574675" cy="476250"/>
          </a:xfrm>
          <a:prstGeom prst="rect">
            <a:avLst/>
          </a:prstGeom>
          <a:noFill/>
          <a:ln w="9525">
            <a:solidFill>
              <a:srgbClr val="FF0000"/>
            </a:solidFill>
            <a:miter lim="800000"/>
          </a:ln>
          <a:effectLst/>
          <a:extLst>
            <a:ext uri="{909E8E84-426E-40DD-AFC4-6F175D3DCCD1}">
              <a14:hiddenFill xmlns:a14="http://schemas.microsoft.com/office/drawing/2010/main">
                <a:solidFill>
                  <a:srgbClr val="FF000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0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Text Box 15"/>
          <p:cNvSpPr txBox="1">
            <a:spLocks noChangeArrowheads="1"/>
          </p:cNvSpPr>
          <p:nvPr/>
        </p:nvSpPr>
        <p:spPr bwMode="auto">
          <a:xfrm>
            <a:off x="1208912" y="1891191"/>
            <a:ext cx="63401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由基本偏差的字母和标准公差等级的数字组成</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grpSp>
        <p:nvGrpSpPr>
          <p:cNvPr id="10" name="Group 16"/>
          <p:cNvGrpSpPr/>
          <p:nvPr/>
        </p:nvGrpSpPr>
        <p:grpSpPr bwMode="auto">
          <a:xfrm>
            <a:off x="6678739" y="3804560"/>
            <a:ext cx="2581275" cy="530225"/>
            <a:chOff x="3335" y="2650"/>
            <a:chExt cx="1626" cy="334"/>
          </a:xfrm>
        </p:grpSpPr>
        <p:sp>
          <p:nvSpPr>
            <p:cNvPr id="11" name="Line 17"/>
            <p:cNvSpPr>
              <a:spLocks noChangeShapeType="1"/>
            </p:cNvSpPr>
            <p:nvPr/>
          </p:nvSpPr>
          <p:spPr bwMode="auto">
            <a:xfrm flipH="1">
              <a:off x="3335" y="2835"/>
              <a:ext cx="270" cy="149"/>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sz="2000">
                <a:solidFill>
                  <a:srgbClr val="000000"/>
                </a:solidFill>
                <a:ea typeface="宋体" panose="02010600030101010101" pitchFamily="2" charset="-122"/>
              </a:endParaRPr>
            </a:p>
          </p:txBody>
        </p:sp>
        <p:sp>
          <p:nvSpPr>
            <p:cNvPr id="12" name="Text Box 18"/>
            <p:cNvSpPr txBox="1">
              <a:spLocks noChangeArrowheads="1"/>
            </p:cNvSpPr>
            <p:nvPr/>
          </p:nvSpPr>
          <p:spPr bwMode="auto">
            <a:xfrm>
              <a:off x="3574" y="2650"/>
              <a:ext cx="138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Times New Roman" panose="02020603050405020304" pitchFamily="18" charset="0"/>
                  <a:ea typeface="黑体" panose="02010609060101010101" pitchFamily="2" charset="-122"/>
                </a:rPr>
                <a:t>公差带代号</a:t>
              </a:r>
              <a:endParaRPr kumimoji="1" lang="zh-CN" altLang="en-US" sz="2400">
                <a:solidFill>
                  <a:srgbClr val="000000"/>
                </a:solidFill>
                <a:latin typeface="Times New Roman" panose="02020603050405020304" pitchFamily="18" charset="0"/>
                <a:ea typeface="黑体" panose="0201060906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wipe(left)">
                                      <p:cBhvr>
                                        <p:cTn id="21" dur="500"/>
                                        <p:tgtEl>
                                          <p:spTgt spid="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strips(downRight)">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utoUpdateAnimBg="0" build="p"/>
      <p:bldP spid="5" grpId="0"/>
      <p:bldP spid="6" grpId="0"/>
      <p:bldP spid="7" grpId="0" autoUpdateAnimBg="0"/>
      <p:bldP spid="8" grpId="0" animBg="1"/>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3"/>
          <p:cNvSpPr txBox="1">
            <a:spLocks noChangeArrowheads="1"/>
          </p:cNvSpPr>
          <p:nvPr/>
        </p:nvSpPr>
        <p:spPr bwMode="auto">
          <a:xfrm>
            <a:off x="263352" y="1145478"/>
            <a:ext cx="45528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极限与公差在零件图中的标注</a:t>
            </a:r>
            <a:endParaRPr lang="zh-CN" altLang="en-US" dirty="0"/>
          </a:p>
        </p:txBody>
      </p:sp>
      <p:sp>
        <p:nvSpPr>
          <p:cNvPr id="3" name="Text Box 14"/>
          <p:cNvSpPr txBox="1">
            <a:spLocks noChangeArrowheads="1"/>
          </p:cNvSpPr>
          <p:nvPr/>
        </p:nvSpPr>
        <p:spPr bwMode="auto">
          <a:xfrm>
            <a:off x="1309778" y="3359231"/>
            <a:ext cx="45902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Times New Roman" panose="02020603050405020304" pitchFamily="18" charset="0"/>
                <a:ea typeface="黑体" panose="02010609060101010101" pitchFamily="2" charset="-122"/>
              </a:rPr>
              <a:t>标注基本尺寸和公差带代号：</a:t>
            </a:r>
            <a:r>
              <a:rPr kumimoji="1" lang="zh-CN" altLang="en-US" sz="2000" dirty="0">
                <a:solidFill>
                  <a:srgbClr val="000000"/>
                </a:solidFill>
                <a:latin typeface="黑体" panose="02010609060101010101" pitchFamily="2" charset="-122"/>
                <a:ea typeface="黑体" panose="02010609060101010101" pitchFamily="2" charset="-122"/>
              </a:rPr>
              <a:t>配合精度明确，标注简单，但偏差数值不直观</a:t>
            </a:r>
            <a:endParaRPr kumimoji="1" lang="zh-CN" altLang="en-US" sz="2000" dirty="0">
              <a:solidFill>
                <a:srgbClr val="000000"/>
              </a:solidFill>
              <a:latin typeface="Times New Roman" panose="02020603050405020304" pitchFamily="18" charset="0"/>
              <a:ea typeface="黑体" panose="02010609060101010101" pitchFamily="2" charset="-122"/>
            </a:endParaRPr>
          </a:p>
        </p:txBody>
      </p:sp>
      <p:grpSp>
        <p:nvGrpSpPr>
          <p:cNvPr id="4" name="组合 3"/>
          <p:cNvGrpSpPr/>
          <p:nvPr/>
        </p:nvGrpSpPr>
        <p:grpSpPr bwMode="auto">
          <a:xfrm>
            <a:off x="1538318" y="1617848"/>
            <a:ext cx="4378325" cy="1687513"/>
            <a:chOff x="-165571" y="1549525"/>
            <a:chExt cx="4377531" cy="1687512"/>
          </a:xfrm>
        </p:grpSpPr>
        <p:grpSp>
          <p:nvGrpSpPr>
            <p:cNvPr id="5" name="Group 4"/>
            <p:cNvGrpSpPr/>
            <p:nvPr/>
          </p:nvGrpSpPr>
          <p:grpSpPr bwMode="auto">
            <a:xfrm>
              <a:off x="-165571" y="1806700"/>
              <a:ext cx="896938" cy="1120776"/>
              <a:chOff x="1758" y="793"/>
              <a:chExt cx="565" cy="706"/>
            </a:xfrm>
          </p:grpSpPr>
          <p:sp>
            <p:nvSpPr>
              <p:cNvPr id="42" name="Line 5"/>
              <p:cNvSpPr>
                <a:spLocks noChangeShapeType="1"/>
              </p:cNvSpPr>
              <p:nvPr/>
            </p:nvSpPr>
            <p:spPr bwMode="auto">
              <a:xfrm flipH="1">
                <a:off x="1974" y="886"/>
                <a:ext cx="34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3" name="Line 6"/>
              <p:cNvSpPr>
                <a:spLocks noChangeShapeType="1"/>
              </p:cNvSpPr>
              <p:nvPr/>
            </p:nvSpPr>
            <p:spPr bwMode="auto">
              <a:xfrm flipH="1">
                <a:off x="1989" y="1433"/>
                <a:ext cx="33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Line 7"/>
              <p:cNvSpPr>
                <a:spLocks noChangeShapeType="1"/>
              </p:cNvSpPr>
              <p:nvPr/>
            </p:nvSpPr>
            <p:spPr bwMode="auto">
              <a:xfrm>
                <a:off x="2047" y="883"/>
                <a:ext cx="0" cy="55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Text Box 8"/>
              <p:cNvSpPr txBox="1">
                <a:spLocks noChangeArrowheads="1"/>
              </p:cNvSpPr>
              <p:nvPr/>
            </p:nvSpPr>
            <p:spPr bwMode="auto">
              <a:xfrm rot="16200000">
                <a:off x="1551" y="1000"/>
                <a:ext cx="70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sym typeface="CommercialPi BT" panose="05020102010206080802" pitchFamily="18" charset="2"/>
                  </a:rPr>
                  <a:t> </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sym typeface="CommercialPi BT" panose="05020102010206080802" pitchFamily="18" charset="2"/>
                  </a:rPr>
                  <a:t>30f7</a:t>
                </a:r>
                <a:r>
                  <a:rPr kumimoji="1" lang="en-US" altLang="zh-CN" sz="24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sym typeface="CommercialPi BT" panose="05020102010206080802" pitchFamily="18" charset="2"/>
                  </a:rPr>
                  <a:t> </a:t>
                </a:r>
                <a:endParaRPr kumimoji="1" lang="en-US" altLang="zh-CN" sz="2400"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sym typeface="CommercialPi BT" panose="05020102010206080802" pitchFamily="18" charset="2"/>
                </a:endParaRPr>
              </a:p>
            </p:txBody>
          </p:sp>
        </p:grpSp>
        <p:grpSp>
          <p:nvGrpSpPr>
            <p:cNvPr id="6" name="组合 2"/>
            <p:cNvGrpSpPr/>
            <p:nvPr/>
          </p:nvGrpSpPr>
          <p:grpSpPr bwMode="auto">
            <a:xfrm>
              <a:off x="2122810" y="1549525"/>
              <a:ext cx="2089150" cy="1687512"/>
              <a:chOff x="5751513" y="1916113"/>
              <a:chExt cx="2089150" cy="1687512"/>
            </a:xfrm>
          </p:grpSpPr>
          <p:grpSp>
            <p:nvGrpSpPr>
              <p:cNvPr id="15" name="Group 9"/>
              <p:cNvGrpSpPr/>
              <p:nvPr/>
            </p:nvGrpSpPr>
            <p:grpSpPr bwMode="auto">
              <a:xfrm>
                <a:off x="5751513" y="2200275"/>
                <a:ext cx="755650" cy="1152525"/>
                <a:chOff x="3571" y="1161"/>
                <a:chExt cx="448" cy="763"/>
              </a:xfrm>
            </p:grpSpPr>
            <p:sp>
              <p:nvSpPr>
                <p:cNvPr id="38" name="Line 10"/>
                <p:cNvSpPr>
                  <a:spLocks noChangeShapeType="1"/>
                </p:cNvSpPr>
                <p:nvPr/>
              </p:nvSpPr>
              <p:spPr bwMode="auto">
                <a:xfrm flipH="1">
                  <a:off x="3710" y="1249"/>
                  <a:ext cx="309"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Line 11"/>
                <p:cNvSpPr>
                  <a:spLocks noChangeShapeType="1"/>
                </p:cNvSpPr>
                <p:nvPr/>
              </p:nvSpPr>
              <p:spPr bwMode="auto">
                <a:xfrm flipH="1">
                  <a:off x="3716" y="1823"/>
                  <a:ext cx="29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Line 12"/>
                <p:cNvSpPr>
                  <a:spLocks noChangeShapeType="1"/>
                </p:cNvSpPr>
                <p:nvPr/>
              </p:nvSpPr>
              <p:spPr bwMode="auto">
                <a:xfrm>
                  <a:off x="3792" y="1238"/>
                  <a:ext cx="0" cy="595"/>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1" name="Text Box 13"/>
                <p:cNvSpPr txBox="1">
                  <a:spLocks noChangeArrowheads="1"/>
                </p:cNvSpPr>
                <p:nvPr/>
              </p:nvSpPr>
              <p:spPr bwMode="auto">
                <a:xfrm rot="-5400000">
                  <a:off x="3298" y="1434"/>
                  <a:ext cx="763"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30H8</a:t>
                  </a:r>
                  <a:endPar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grpSp>
          <p:grpSp>
            <p:nvGrpSpPr>
              <p:cNvPr id="17" name="Group 17"/>
              <p:cNvGrpSpPr/>
              <p:nvPr/>
            </p:nvGrpSpPr>
            <p:grpSpPr bwMode="auto">
              <a:xfrm>
                <a:off x="6305550" y="1916113"/>
                <a:ext cx="1535113" cy="1687512"/>
                <a:chOff x="3968" y="631"/>
                <a:chExt cx="967" cy="1063"/>
              </a:xfrm>
            </p:grpSpPr>
            <p:sp>
              <p:nvSpPr>
                <p:cNvPr id="18" name="Rectangle 18"/>
                <p:cNvSpPr>
                  <a:spLocks noChangeArrowheads="1"/>
                </p:cNvSpPr>
                <p:nvPr/>
              </p:nvSpPr>
              <p:spPr bwMode="auto">
                <a:xfrm>
                  <a:off x="4052" y="772"/>
                  <a:ext cx="796" cy="792"/>
                </a:xfrm>
                <a:prstGeom prst="rect">
                  <a:avLst/>
                </a:prstGeom>
                <a:noFill/>
                <a:ln w="571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 name="Rectangle 19"/>
                <p:cNvSpPr>
                  <a:spLocks noChangeArrowheads="1"/>
                </p:cNvSpPr>
                <p:nvPr/>
              </p:nvSpPr>
              <p:spPr bwMode="auto">
                <a:xfrm>
                  <a:off x="4613" y="639"/>
                  <a:ext cx="245" cy="1055"/>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 name="Line 20"/>
                <p:cNvSpPr>
                  <a:spLocks noChangeShapeType="1"/>
                </p:cNvSpPr>
                <p:nvPr/>
              </p:nvSpPr>
              <p:spPr bwMode="auto">
                <a:xfrm>
                  <a:off x="4612" y="790"/>
                  <a:ext cx="0" cy="757"/>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1" name="Rectangle 21"/>
                <p:cNvSpPr>
                  <a:spLocks noChangeArrowheads="1"/>
                </p:cNvSpPr>
                <p:nvPr/>
              </p:nvSpPr>
              <p:spPr bwMode="auto">
                <a:xfrm>
                  <a:off x="4052" y="897"/>
                  <a:ext cx="806" cy="546"/>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Line 22"/>
                <p:cNvSpPr>
                  <a:spLocks noChangeShapeType="1"/>
                </p:cNvSpPr>
                <p:nvPr/>
              </p:nvSpPr>
              <p:spPr bwMode="auto">
                <a:xfrm>
                  <a:off x="3968" y="1168"/>
                  <a:ext cx="376"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Line 23"/>
                <p:cNvSpPr>
                  <a:spLocks noChangeShapeType="1"/>
                </p:cNvSpPr>
                <p:nvPr/>
              </p:nvSpPr>
              <p:spPr bwMode="auto">
                <a:xfrm flipV="1">
                  <a:off x="4056" y="772"/>
                  <a:ext cx="118"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4" name="Line 24"/>
                <p:cNvSpPr>
                  <a:spLocks noChangeShapeType="1"/>
                </p:cNvSpPr>
                <p:nvPr/>
              </p:nvSpPr>
              <p:spPr bwMode="auto">
                <a:xfrm flipV="1">
                  <a:off x="4207" y="768"/>
                  <a:ext cx="128" cy="1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5" name="Line 25"/>
                <p:cNvSpPr>
                  <a:spLocks noChangeShapeType="1"/>
                </p:cNvSpPr>
                <p:nvPr/>
              </p:nvSpPr>
              <p:spPr bwMode="auto">
                <a:xfrm flipV="1">
                  <a:off x="4373" y="768"/>
                  <a:ext cx="128" cy="1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6" name="Line 26"/>
                <p:cNvSpPr>
                  <a:spLocks noChangeShapeType="1"/>
                </p:cNvSpPr>
                <p:nvPr/>
              </p:nvSpPr>
              <p:spPr bwMode="auto">
                <a:xfrm flipV="1">
                  <a:off x="4544" y="638"/>
                  <a:ext cx="262" cy="26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Line 27"/>
                <p:cNvSpPr>
                  <a:spLocks noChangeShapeType="1"/>
                </p:cNvSpPr>
                <p:nvPr/>
              </p:nvSpPr>
              <p:spPr bwMode="auto">
                <a:xfrm flipV="1">
                  <a:off x="4736" y="772"/>
                  <a:ext cx="120"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8" name="Line 28"/>
                <p:cNvSpPr>
                  <a:spLocks noChangeShapeType="1"/>
                </p:cNvSpPr>
                <p:nvPr/>
              </p:nvSpPr>
              <p:spPr bwMode="auto">
                <a:xfrm flipV="1">
                  <a:off x="4605" y="631"/>
                  <a:ext cx="54" cy="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9" name="Line 29"/>
                <p:cNvSpPr>
                  <a:spLocks noChangeShapeType="1"/>
                </p:cNvSpPr>
                <p:nvPr/>
              </p:nvSpPr>
              <p:spPr bwMode="auto">
                <a:xfrm flipV="1">
                  <a:off x="4046" y="1442"/>
                  <a:ext cx="109" cy="10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0" name="Line 30"/>
                <p:cNvSpPr>
                  <a:spLocks noChangeShapeType="1"/>
                </p:cNvSpPr>
                <p:nvPr/>
              </p:nvSpPr>
              <p:spPr bwMode="auto">
                <a:xfrm flipV="1">
                  <a:off x="4197" y="1441"/>
                  <a:ext cx="126" cy="12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Line 31"/>
                <p:cNvSpPr>
                  <a:spLocks noChangeShapeType="1"/>
                </p:cNvSpPr>
                <p:nvPr/>
              </p:nvSpPr>
              <p:spPr bwMode="auto">
                <a:xfrm flipV="1">
                  <a:off x="4372" y="1438"/>
                  <a:ext cx="122" cy="121"/>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Line 32"/>
                <p:cNvSpPr>
                  <a:spLocks noChangeShapeType="1"/>
                </p:cNvSpPr>
                <p:nvPr/>
              </p:nvSpPr>
              <p:spPr bwMode="auto">
                <a:xfrm flipV="1">
                  <a:off x="4541" y="1441"/>
                  <a:ext cx="118"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Line 33"/>
                <p:cNvSpPr>
                  <a:spLocks noChangeShapeType="1"/>
                </p:cNvSpPr>
                <p:nvPr/>
              </p:nvSpPr>
              <p:spPr bwMode="auto">
                <a:xfrm flipV="1">
                  <a:off x="4615" y="1441"/>
                  <a:ext cx="213" cy="21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4" name="Line 34"/>
                <p:cNvSpPr>
                  <a:spLocks noChangeShapeType="1"/>
                </p:cNvSpPr>
                <p:nvPr/>
              </p:nvSpPr>
              <p:spPr bwMode="auto">
                <a:xfrm flipV="1">
                  <a:off x="4765" y="1593"/>
                  <a:ext cx="92" cy="9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5" name="Line 35"/>
                <p:cNvSpPr>
                  <a:spLocks noChangeShapeType="1"/>
                </p:cNvSpPr>
                <p:nvPr/>
              </p:nvSpPr>
              <p:spPr bwMode="auto">
                <a:xfrm>
                  <a:off x="4517" y="1168"/>
                  <a:ext cx="41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Line 36"/>
                <p:cNvSpPr>
                  <a:spLocks noChangeShapeType="1"/>
                </p:cNvSpPr>
                <p:nvPr/>
              </p:nvSpPr>
              <p:spPr bwMode="auto">
                <a:xfrm>
                  <a:off x="4399" y="1169"/>
                  <a:ext cx="62"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7" name="Group 37"/>
            <p:cNvGrpSpPr/>
            <p:nvPr/>
          </p:nvGrpSpPr>
          <p:grpSpPr bwMode="auto">
            <a:xfrm>
              <a:off x="486890" y="1951162"/>
              <a:ext cx="1644650" cy="868362"/>
              <a:chOff x="2196" y="884"/>
              <a:chExt cx="1036" cy="547"/>
            </a:xfrm>
          </p:grpSpPr>
          <p:sp>
            <p:nvSpPr>
              <p:cNvPr id="8" name="Rectangle 38"/>
              <p:cNvSpPr>
                <a:spLocks noChangeArrowheads="1"/>
              </p:cNvSpPr>
              <p:nvPr/>
            </p:nvSpPr>
            <p:spPr bwMode="auto">
              <a:xfrm>
                <a:off x="2307" y="884"/>
                <a:ext cx="860" cy="546"/>
              </a:xfrm>
              <a:prstGeom prst="rect">
                <a:avLst/>
              </a:prstGeom>
              <a:noFill/>
              <a:ln w="57150">
                <a:solidFill>
                  <a:srgbClr val="000000"/>
                </a:solidFill>
                <a:miter lim="800000"/>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Line 39"/>
              <p:cNvSpPr>
                <a:spLocks noChangeShapeType="1"/>
              </p:cNvSpPr>
              <p:nvPr/>
            </p:nvSpPr>
            <p:spPr bwMode="auto">
              <a:xfrm flipH="1">
                <a:off x="2261" y="885"/>
                <a:ext cx="42" cy="42"/>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 name="Line 40"/>
              <p:cNvSpPr>
                <a:spLocks noChangeShapeType="1"/>
              </p:cNvSpPr>
              <p:nvPr/>
            </p:nvSpPr>
            <p:spPr bwMode="auto">
              <a:xfrm>
                <a:off x="2265" y="916"/>
                <a:ext cx="0" cy="481"/>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 name="Line 41"/>
              <p:cNvSpPr>
                <a:spLocks noChangeShapeType="1"/>
              </p:cNvSpPr>
              <p:nvPr/>
            </p:nvSpPr>
            <p:spPr bwMode="auto">
              <a:xfrm flipH="1" flipV="1">
                <a:off x="2257" y="1383"/>
                <a:ext cx="47" cy="48"/>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42"/>
              <p:cNvSpPr>
                <a:spLocks noChangeShapeType="1"/>
              </p:cNvSpPr>
              <p:nvPr/>
            </p:nvSpPr>
            <p:spPr bwMode="auto">
              <a:xfrm>
                <a:off x="2196" y="1159"/>
                <a:ext cx="44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Line 43"/>
              <p:cNvSpPr>
                <a:spLocks noChangeShapeType="1"/>
              </p:cNvSpPr>
              <p:nvPr/>
            </p:nvSpPr>
            <p:spPr bwMode="auto">
              <a:xfrm>
                <a:off x="2792" y="1159"/>
                <a:ext cx="44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 name="Line 44"/>
              <p:cNvSpPr>
                <a:spLocks noChangeShapeType="1"/>
              </p:cNvSpPr>
              <p:nvPr/>
            </p:nvSpPr>
            <p:spPr bwMode="auto">
              <a:xfrm>
                <a:off x="2696" y="1160"/>
                <a:ext cx="51"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46" name="Group 3"/>
          <p:cNvGrpSpPr/>
          <p:nvPr/>
        </p:nvGrpSpPr>
        <p:grpSpPr bwMode="auto">
          <a:xfrm>
            <a:off x="6451413" y="1123251"/>
            <a:ext cx="1450975" cy="969963"/>
            <a:chOff x="2060" y="-316"/>
            <a:chExt cx="914" cy="611"/>
          </a:xfrm>
        </p:grpSpPr>
        <p:sp>
          <p:nvSpPr>
            <p:cNvPr id="47" name="Line 4"/>
            <p:cNvSpPr>
              <a:spLocks noChangeShapeType="1"/>
            </p:cNvSpPr>
            <p:nvPr/>
          </p:nvSpPr>
          <p:spPr bwMode="auto">
            <a:xfrm flipH="1">
              <a:off x="2158" y="82"/>
              <a:ext cx="215" cy="213"/>
            </a:xfrm>
            <a:prstGeom prst="line">
              <a:avLst/>
            </a:prstGeom>
            <a:noFill/>
            <a:ln w="28575">
              <a:solidFill>
                <a:srgbClr val="CC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8" name="Text Box 5"/>
            <p:cNvSpPr txBox="1">
              <a:spLocks noChangeArrowheads="1"/>
            </p:cNvSpPr>
            <p:nvPr/>
          </p:nvSpPr>
          <p:spPr bwMode="auto">
            <a:xfrm>
              <a:off x="2060" y="-316"/>
              <a:ext cx="91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dirty="0">
                  <a:solidFill>
                    <a:srgbClr val="CC0000"/>
                  </a:solidFill>
                  <a:latin typeface="黑体" panose="02010609060101010101" pitchFamily="2" charset="-122"/>
                  <a:ea typeface="黑体" panose="02010609060101010101" pitchFamily="2" charset="-122"/>
                </a:rPr>
                <a:t>位数不同用“</a:t>
              </a:r>
              <a:r>
                <a:rPr kumimoji="1" lang="en-US" altLang="zh-CN" sz="1800" dirty="0">
                  <a:solidFill>
                    <a:srgbClr val="CC0000"/>
                  </a:solidFill>
                  <a:latin typeface="黑体" panose="02010609060101010101" pitchFamily="2" charset="-122"/>
                  <a:ea typeface="黑体" panose="02010609060101010101" pitchFamily="2" charset="-122"/>
                </a:rPr>
                <a:t>0”</a:t>
              </a:r>
              <a:r>
                <a:rPr kumimoji="1" lang="zh-CN" altLang="en-US" sz="1800" dirty="0">
                  <a:solidFill>
                    <a:srgbClr val="CC0000"/>
                  </a:solidFill>
                  <a:latin typeface="黑体" panose="02010609060101010101" pitchFamily="2" charset="-122"/>
                  <a:ea typeface="黑体" panose="02010609060101010101" pitchFamily="2" charset="-122"/>
                </a:rPr>
                <a:t>补齐</a:t>
              </a:r>
              <a:endParaRPr kumimoji="1" lang="zh-CN" altLang="en-US" sz="1800" dirty="0">
                <a:solidFill>
                  <a:srgbClr val="CC0000"/>
                </a:solidFill>
                <a:latin typeface="黑体" panose="02010609060101010101" pitchFamily="2" charset="-122"/>
                <a:ea typeface="黑体" panose="02010609060101010101" pitchFamily="2" charset="-122"/>
              </a:endParaRPr>
            </a:p>
          </p:txBody>
        </p:sp>
      </p:grpSp>
      <p:grpSp>
        <p:nvGrpSpPr>
          <p:cNvPr id="49" name="组合 48"/>
          <p:cNvGrpSpPr/>
          <p:nvPr/>
        </p:nvGrpSpPr>
        <p:grpSpPr bwMode="auto">
          <a:xfrm>
            <a:off x="6427599" y="1755076"/>
            <a:ext cx="4613275" cy="1687513"/>
            <a:chOff x="4405361" y="1540792"/>
            <a:chExt cx="4612879" cy="1687513"/>
          </a:xfrm>
        </p:grpSpPr>
        <p:grpSp>
          <p:nvGrpSpPr>
            <p:cNvPr id="50" name="Group 7"/>
            <p:cNvGrpSpPr/>
            <p:nvPr/>
          </p:nvGrpSpPr>
          <p:grpSpPr bwMode="auto">
            <a:xfrm>
              <a:off x="7483127" y="1540792"/>
              <a:ext cx="1535113" cy="1687513"/>
              <a:chOff x="3970" y="1752"/>
              <a:chExt cx="967" cy="1063"/>
            </a:xfrm>
          </p:grpSpPr>
          <p:sp>
            <p:nvSpPr>
              <p:cNvPr id="75" name="Rectangle 8"/>
              <p:cNvSpPr>
                <a:spLocks noChangeArrowheads="1"/>
              </p:cNvSpPr>
              <p:nvPr/>
            </p:nvSpPr>
            <p:spPr bwMode="auto">
              <a:xfrm>
                <a:off x="4054" y="1893"/>
                <a:ext cx="796" cy="792"/>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6" name="Rectangle 9"/>
              <p:cNvSpPr>
                <a:spLocks noChangeArrowheads="1"/>
              </p:cNvSpPr>
              <p:nvPr/>
            </p:nvSpPr>
            <p:spPr bwMode="auto">
              <a:xfrm>
                <a:off x="4615" y="1760"/>
                <a:ext cx="245" cy="1055"/>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7" name="Line 10"/>
              <p:cNvSpPr>
                <a:spLocks noChangeShapeType="1"/>
              </p:cNvSpPr>
              <p:nvPr/>
            </p:nvSpPr>
            <p:spPr bwMode="auto">
              <a:xfrm>
                <a:off x="4614" y="1911"/>
                <a:ext cx="0" cy="757"/>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8" name="Rectangle 11"/>
              <p:cNvSpPr>
                <a:spLocks noChangeArrowheads="1"/>
              </p:cNvSpPr>
              <p:nvPr/>
            </p:nvSpPr>
            <p:spPr bwMode="auto">
              <a:xfrm>
                <a:off x="4054" y="2018"/>
                <a:ext cx="806" cy="546"/>
              </a:xfrm>
              <a:prstGeom prst="rect">
                <a:avLst/>
              </a:prstGeom>
              <a:noFill/>
              <a:ln w="571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9" name="Line 12"/>
              <p:cNvSpPr>
                <a:spLocks noChangeShapeType="1"/>
              </p:cNvSpPr>
              <p:nvPr/>
            </p:nvSpPr>
            <p:spPr bwMode="auto">
              <a:xfrm>
                <a:off x="3970" y="2289"/>
                <a:ext cx="376"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0" name="Line 13"/>
              <p:cNvSpPr>
                <a:spLocks noChangeShapeType="1"/>
              </p:cNvSpPr>
              <p:nvPr/>
            </p:nvSpPr>
            <p:spPr bwMode="auto">
              <a:xfrm flipV="1">
                <a:off x="4058" y="1893"/>
                <a:ext cx="118"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1" name="Line 14"/>
              <p:cNvSpPr>
                <a:spLocks noChangeShapeType="1"/>
              </p:cNvSpPr>
              <p:nvPr/>
            </p:nvSpPr>
            <p:spPr bwMode="auto">
              <a:xfrm flipV="1">
                <a:off x="4209" y="1889"/>
                <a:ext cx="128" cy="1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2" name="Line 15"/>
              <p:cNvSpPr>
                <a:spLocks noChangeShapeType="1"/>
              </p:cNvSpPr>
              <p:nvPr/>
            </p:nvSpPr>
            <p:spPr bwMode="auto">
              <a:xfrm flipV="1">
                <a:off x="4375" y="1889"/>
                <a:ext cx="128" cy="1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3" name="Line 16"/>
              <p:cNvSpPr>
                <a:spLocks noChangeShapeType="1"/>
              </p:cNvSpPr>
              <p:nvPr/>
            </p:nvSpPr>
            <p:spPr bwMode="auto">
              <a:xfrm flipV="1">
                <a:off x="4546" y="1759"/>
                <a:ext cx="262" cy="26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4" name="Line 17"/>
              <p:cNvSpPr>
                <a:spLocks noChangeShapeType="1"/>
              </p:cNvSpPr>
              <p:nvPr/>
            </p:nvSpPr>
            <p:spPr bwMode="auto">
              <a:xfrm flipV="1">
                <a:off x="4738" y="1893"/>
                <a:ext cx="120"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5" name="Line 18"/>
              <p:cNvSpPr>
                <a:spLocks noChangeShapeType="1"/>
              </p:cNvSpPr>
              <p:nvPr/>
            </p:nvSpPr>
            <p:spPr bwMode="auto">
              <a:xfrm flipV="1">
                <a:off x="4607" y="1752"/>
                <a:ext cx="54" cy="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6" name="Line 19"/>
              <p:cNvSpPr>
                <a:spLocks noChangeShapeType="1"/>
              </p:cNvSpPr>
              <p:nvPr/>
            </p:nvSpPr>
            <p:spPr bwMode="auto">
              <a:xfrm flipV="1">
                <a:off x="4048" y="2563"/>
                <a:ext cx="109" cy="10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7" name="Line 20"/>
              <p:cNvSpPr>
                <a:spLocks noChangeShapeType="1"/>
              </p:cNvSpPr>
              <p:nvPr/>
            </p:nvSpPr>
            <p:spPr bwMode="auto">
              <a:xfrm flipV="1">
                <a:off x="4199" y="2562"/>
                <a:ext cx="126" cy="12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8" name="Line 21"/>
              <p:cNvSpPr>
                <a:spLocks noChangeShapeType="1"/>
              </p:cNvSpPr>
              <p:nvPr/>
            </p:nvSpPr>
            <p:spPr bwMode="auto">
              <a:xfrm flipV="1">
                <a:off x="4374" y="2559"/>
                <a:ext cx="122" cy="121"/>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9" name="Line 22"/>
              <p:cNvSpPr>
                <a:spLocks noChangeShapeType="1"/>
              </p:cNvSpPr>
              <p:nvPr/>
            </p:nvSpPr>
            <p:spPr bwMode="auto">
              <a:xfrm flipV="1">
                <a:off x="4543" y="2562"/>
                <a:ext cx="118"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0" name="Line 23"/>
              <p:cNvSpPr>
                <a:spLocks noChangeShapeType="1"/>
              </p:cNvSpPr>
              <p:nvPr/>
            </p:nvSpPr>
            <p:spPr bwMode="auto">
              <a:xfrm flipV="1">
                <a:off x="4617" y="2562"/>
                <a:ext cx="213" cy="21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1" name="Line 24"/>
              <p:cNvSpPr>
                <a:spLocks noChangeShapeType="1"/>
              </p:cNvSpPr>
              <p:nvPr/>
            </p:nvSpPr>
            <p:spPr bwMode="auto">
              <a:xfrm flipV="1">
                <a:off x="4767" y="2714"/>
                <a:ext cx="92" cy="9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2" name="Line 25"/>
              <p:cNvSpPr>
                <a:spLocks noChangeShapeType="1"/>
              </p:cNvSpPr>
              <p:nvPr/>
            </p:nvSpPr>
            <p:spPr bwMode="auto">
              <a:xfrm>
                <a:off x="4519" y="2289"/>
                <a:ext cx="41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3" name="Line 26"/>
              <p:cNvSpPr>
                <a:spLocks noChangeShapeType="1"/>
              </p:cNvSpPr>
              <p:nvPr/>
            </p:nvSpPr>
            <p:spPr bwMode="auto">
              <a:xfrm>
                <a:off x="4401" y="2290"/>
                <a:ext cx="62"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51" name="Group 27"/>
            <p:cNvGrpSpPr/>
            <p:nvPr/>
          </p:nvGrpSpPr>
          <p:grpSpPr bwMode="auto">
            <a:xfrm>
              <a:off x="5107036" y="1954113"/>
              <a:ext cx="1644650" cy="868363"/>
              <a:chOff x="2196" y="1231"/>
              <a:chExt cx="1099" cy="580"/>
            </a:xfrm>
          </p:grpSpPr>
          <p:sp>
            <p:nvSpPr>
              <p:cNvPr id="68" name="Rectangle 28"/>
              <p:cNvSpPr>
                <a:spLocks noChangeArrowheads="1"/>
              </p:cNvSpPr>
              <p:nvPr/>
            </p:nvSpPr>
            <p:spPr bwMode="auto">
              <a:xfrm>
                <a:off x="2314" y="1231"/>
                <a:ext cx="912" cy="579"/>
              </a:xfrm>
              <a:prstGeom prst="rect">
                <a:avLst/>
              </a:prstGeom>
              <a:noFill/>
              <a:ln w="57150">
                <a:solidFill>
                  <a:srgbClr val="000000"/>
                </a:solidFill>
                <a:miter lim="800000"/>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9" name="Line 29"/>
              <p:cNvSpPr>
                <a:spLocks noChangeShapeType="1"/>
              </p:cNvSpPr>
              <p:nvPr/>
            </p:nvSpPr>
            <p:spPr bwMode="auto">
              <a:xfrm flipH="1">
                <a:off x="2265" y="1232"/>
                <a:ext cx="44" cy="4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0" name="Line 30"/>
              <p:cNvSpPr>
                <a:spLocks noChangeShapeType="1"/>
              </p:cNvSpPr>
              <p:nvPr/>
            </p:nvSpPr>
            <p:spPr bwMode="auto">
              <a:xfrm>
                <a:off x="2269" y="1265"/>
                <a:ext cx="0" cy="510"/>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1" name="Line 31"/>
              <p:cNvSpPr>
                <a:spLocks noChangeShapeType="1"/>
              </p:cNvSpPr>
              <p:nvPr/>
            </p:nvSpPr>
            <p:spPr bwMode="auto">
              <a:xfrm flipH="1" flipV="1">
                <a:off x="2261" y="1760"/>
                <a:ext cx="50" cy="51"/>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2" name="Line 32"/>
              <p:cNvSpPr>
                <a:spLocks noChangeShapeType="1"/>
              </p:cNvSpPr>
              <p:nvPr/>
            </p:nvSpPr>
            <p:spPr bwMode="auto">
              <a:xfrm>
                <a:off x="2196" y="1523"/>
                <a:ext cx="4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3" name="Line 33"/>
              <p:cNvSpPr>
                <a:spLocks noChangeShapeType="1"/>
              </p:cNvSpPr>
              <p:nvPr/>
            </p:nvSpPr>
            <p:spPr bwMode="auto">
              <a:xfrm>
                <a:off x="2828" y="1523"/>
                <a:ext cx="46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4" name="Line 34"/>
              <p:cNvSpPr>
                <a:spLocks noChangeShapeType="1"/>
              </p:cNvSpPr>
              <p:nvPr/>
            </p:nvSpPr>
            <p:spPr bwMode="auto">
              <a:xfrm>
                <a:off x="2726" y="1524"/>
                <a:ext cx="5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52" name="Group 35"/>
            <p:cNvGrpSpPr/>
            <p:nvPr/>
          </p:nvGrpSpPr>
          <p:grpSpPr bwMode="auto">
            <a:xfrm>
              <a:off x="4405361" y="1773137"/>
              <a:ext cx="947738" cy="1165224"/>
              <a:chOff x="1711" y="1972"/>
              <a:chExt cx="597" cy="734"/>
            </a:xfrm>
          </p:grpSpPr>
          <p:grpSp>
            <p:nvGrpSpPr>
              <p:cNvPr id="61" name="Group 36"/>
              <p:cNvGrpSpPr/>
              <p:nvPr/>
            </p:nvGrpSpPr>
            <p:grpSpPr bwMode="auto">
              <a:xfrm>
                <a:off x="1711" y="1972"/>
                <a:ext cx="330" cy="734"/>
                <a:chOff x="1756" y="1990"/>
                <a:chExt cx="330" cy="734"/>
              </a:xfrm>
            </p:grpSpPr>
            <p:sp>
              <p:nvSpPr>
                <p:cNvPr id="66" name="Text Box 37"/>
                <p:cNvSpPr txBox="1">
                  <a:spLocks noChangeArrowheads="1"/>
                </p:cNvSpPr>
                <p:nvPr/>
              </p:nvSpPr>
              <p:spPr bwMode="auto">
                <a:xfrm rot="16200000">
                  <a:off x="1737" y="2392"/>
                  <a:ext cx="43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 </a:t>
                  </a:r>
                  <a:endPar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7" name="Text Box 38"/>
                <p:cNvSpPr txBox="1">
                  <a:spLocks noChangeArrowheads="1"/>
                </p:cNvSpPr>
                <p:nvPr/>
              </p:nvSpPr>
              <p:spPr bwMode="auto">
                <a:xfrm rot="16200000">
                  <a:off x="1675" y="2071"/>
                  <a:ext cx="49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–0.020 </a:t>
                  </a:r>
                  <a:endPar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–0.041 </a:t>
                  </a:r>
                  <a:endPar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grpSp>
          <p:grpSp>
            <p:nvGrpSpPr>
              <p:cNvPr id="62" name="Group 39"/>
              <p:cNvGrpSpPr/>
              <p:nvPr/>
            </p:nvGrpSpPr>
            <p:grpSpPr bwMode="auto">
              <a:xfrm>
                <a:off x="1959" y="2074"/>
                <a:ext cx="349" cy="554"/>
                <a:chOff x="2479" y="1646"/>
                <a:chExt cx="349" cy="554"/>
              </a:xfrm>
            </p:grpSpPr>
            <p:sp>
              <p:nvSpPr>
                <p:cNvPr id="63" name="Line 40"/>
                <p:cNvSpPr>
                  <a:spLocks noChangeShapeType="1"/>
                </p:cNvSpPr>
                <p:nvPr/>
              </p:nvSpPr>
              <p:spPr bwMode="auto">
                <a:xfrm flipH="1">
                  <a:off x="2479" y="1649"/>
                  <a:ext cx="34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4" name="Line 41"/>
                <p:cNvSpPr>
                  <a:spLocks noChangeShapeType="1"/>
                </p:cNvSpPr>
                <p:nvPr/>
              </p:nvSpPr>
              <p:spPr bwMode="auto">
                <a:xfrm flipH="1">
                  <a:off x="2494" y="2196"/>
                  <a:ext cx="33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5" name="Line 42"/>
                <p:cNvSpPr>
                  <a:spLocks noChangeShapeType="1"/>
                </p:cNvSpPr>
                <p:nvPr/>
              </p:nvSpPr>
              <p:spPr bwMode="auto">
                <a:xfrm>
                  <a:off x="2552" y="1646"/>
                  <a:ext cx="0" cy="554"/>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53" name="Group 43"/>
            <p:cNvGrpSpPr/>
            <p:nvPr/>
          </p:nvGrpSpPr>
          <p:grpSpPr bwMode="auto">
            <a:xfrm>
              <a:off x="6729065" y="1594767"/>
              <a:ext cx="1011237" cy="1385888"/>
              <a:chOff x="3297" y="1786"/>
              <a:chExt cx="637" cy="873"/>
            </a:xfrm>
          </p:grpSpPr>
          <p:grpSp>
            <p:nvGrpSpPr>
              <p:cNvPr id="54" name="Group 44"/>
              <p:cNvGrpSpPr/>
              <p:nvPr/>
            </p:nvGrpSpPr>
            <p:grpSpPr bwMode="auto">
              <a:xfrm>
                <a:off x="3297" y="1786"/>
                <a:ext cx="347" cy="873"/>
                <a:chOff x="3411" y="1867"/>
                <a:chExt cx="347" cy="873"/>
              </a:xfrm>
            </p:grpSpPr>
            <p:sp>
              <p:nvSpPr>
                <p:cNvPr id="59" name="Text Box 45"/>
                <p:cNvSpPr txBox="1">
                  <a:spLocks noChangeArrowheads="1"/>
                </p:cNvSpPr>
                <p:nvPr/>
              </p:nvSpPr>
              <p:spPr bwMode="auto">
                <a:xfrm rot="-5400000">
                  <a:off x="3411" y="2392"/>
                  <a:ext cx="4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 </a:t>
                  </a:r>
                  <a:endPar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0" name="Text Box 46"/>
                <p:cNvSpPr txBox="1">
                  <a:spLocks noChangeArrowheads="1"/>
                </p:cNvSpPr>
                <p:nvPr/>
              </p:nvSpPr>
              <p:spPr bwMode="auto">
                <a:xfrm rot="16200000">
                  <a:off x="3294" y="1984"/>
                  <a:ext cx="56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+0.033</a:t>
                  </a:r>
                  <a:endPar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12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a:t>
                  </a: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a:t>
                  </a:r>
                  <a:endPar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grpSp>
          <p:grpSp>
            <p:nvGrpSpPr>
              <p:cNvPr id="55" name="Group 47"/>
              <p:cNvGrpSpPr/>
              <p:nvPr/>
            </p:nvGrpSpPr>
            <p:grpSpPr bwMode="auto">
              <a:xfrm>
                <a:off x="3585" y="2012"/>
                <a:ext cx="349" cy="554"/>
                <a:chOff x="2479" y="1646"/>
                <a:chExt cx="349" cy="554"/>
              </a:xfrm>
            </p:grpSpPr>
            <p:sp>
              <p:nvSpPr>
                <p:cNvPr id="56" name="Line 48"/>
                <p:cNvSpPr>
                  <a:spLocks noChangeShapeType="1"/>
                </p:cNvSpPr>
                <p:nvPr/>
              </p:nvSpPr>
              <p:spPr bwMode="auto">
                <a:xfrm flipH="1">
                  <a:off x="2479" y="1649"/>
                  <a:ext cx="34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7" name="Line 49"/>
                <p:cNvSpPr>
                  <a:spLocks noChangeShapeType="1"/>
                </p:cNvSpPr>
                <p:nvPr/>
              </p:nvSpPr>
              <p:spPr bwMode="auto">
                <a:xfrm flipH="1">
                  <a:off x="2494" y="2196"/>
                  <a:ext cx="33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8" name="Line 50"/>
                <p:cNvSpPr>
                  <a:spLocks noChangeShapeType="1"/>
                </p:cNvSpPr>
                <p:nvPr/>
              </p:nvSpPr>
              <p:spPr bwMode="auto">
                <a:xfrm>
                  <a:off x="2552" y="1646"/>
                  <a:ext cx="0" cy="554"/>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grpSp>
        <p:nvGrpSpPr>
          <p:cNvPr id="94" name="Group 51"/>
          <p:cNvGrpSpPr/>
          <p:nvPr/>
        </p:nvGrpSpPr>
        <p:grpSpPr bwMode="auto">
          <a:xfrm>
            <a:off x="8616763" y="1158176"/>
            <a:ext cx="1573212" cy="1220788"/>
            <a:chOff x="2728" y="1677"/>
            <a:chExt cx="991" cy="769"/>
          </a:xfrm>
        </p:grpSpPr>
        <p:sp>
          <p:nvSpPr>
            <p:cNvPr id="95" name="Text Box 52"/>
            <p:cNvSpPr txBox="1">
              <a:spLocks noChangeArrowheads="1"/>
            </p:cNvSpPr>
            <p:nvPr/>
          </p:nvSpPr>
          <p:spPr bwMode="auto">
            <a:xfrm>
              <a:off x="2728" y="1677"/>
              <a:ext cx="99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800" dirty="0">
                  <a:solidFill>
                    <a:srgbClr val="CC0000"/>
                  </a:solidFill>
                  <a:latin typeface="黑体" panose="02010609060101010101" pitchFamily="2" charset="-122"/>
                  <a:ea typeface="黑体" panose="02010609060101010101" pitchFamily="2" charset="-122"/>
                </a:rPr>
                <a:t>偏差为“</a:t>
              </a:r>
              <a:r>
                <a:rPr kumimoji="1" lang="en-US" altLang="zh-CN" sz="1800" dirty="0">
                  <a:solidFill>
                    <a:srgbClr val="CC0000"/>
                  </a:solidFill>
                  <a:latin typeface="黑体" panose="02010609060101010101" pitchFamily="2" charset="-122"/>
                  <a:ea typeface="黑体" panose="02010609060101010101" pitchFamily="2" charset="-122"/>
                </a:rPr>
                <a:t>0”</a:t>
              </a:r>
              <a:r>
                <a:rPr kumimoji="1" lang="zh-CN" altLang="en-US" sz="1800" dirty="0">
                  <a:solidFill>
                    <a:srgbClr val="CC0000"/>
                  </a:solidFill>
                  <a:latin typeface="黑体" panose="02010609060101010101" pitchFamily="2" charset="-122"/>
                  <a:ea typeface="黑体" panose="02010609060101010101" pitchFamily="2" charset="-122"/>
                </a:rPr>
                <a:t>个位对齐</a:t>
              </a:r>
              <a:endParaRPr kumimoji="1" lang="zh-CN" altLang="en-US" sz="1800" dirty="0">
                <a:solidFill>
                  <a:srgbClr val="CC0000"/>
                </a:solidFill>
                <a:latin typeface="黑体" panose="02010609060101010101" pitchFamily="2" charset="-122"/>
                <a:ea typeface="黑体" panose="02010609060101010101" pitchFamily="2" charset="-122"/>
              </a:endParaRPr>
            </a:p>
          </p:txBody>
        </p:sp>
        <p:sp>
          <p:nvSpPr>
            <p:cNvPr id="96" name="Line 53"/>
            <p:cNvSpPr>
              <a:spLocks noChangeShapeType="1"/>
            </p:cNvSpPr>
            <p:nvPr/>
          </p:nvSpPr>
          <p:spPr bwMode="auto">
            <a:xfrm flipH="1">
              <a:off x="3101" y="2109"/>
              <a:ext cx="73" cy="337"/>
            </a:xfrm>
            <a:prstGeom prst="line">
              <a:avLst/>
            </a:prstGeom>
            <a:noFill/>
            <a:ln w="28575">
              <a:solidFill>
                <a:srgbClr val="CC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97" name="Text Box 14"/>
          <p:cNvSpPr txBox="1">
            <a:spLocks noChangeArrowheads="1"/>
          </p:cNvSpPr>
          <p:nvPr/>
        </p:nvSpPr>
        <p:spPr bwMode="auto">
          <a:xfrm>
            <a:off x="7095102" y="3355850"/>
            <a:ext cx="3406696"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Times New Roman" panose="02020603050405020304" pitchFamily="18" charset="0"/>
                <a:ea typeface="黑体" panose="02010609060101010101" pitchFamily="2" charset="-122"/>
              </a:rPr>
              <a:t>标注基本尺寸和极限偏差值：数值</a:t>
            </a:r>
            <a:r>
              <a:rPr kumimoji="1" lang="zh-CN" altLang="en-US" sz="2000" dirty="0">
                <a:solidFill>
                  <a:srgbClr val="000000"/>
                </a:solidFill>
                <a:latin typeface="黑体" panose="02010609060101010101" pitchFamily="2" charset="-122"/>
                <a:ea typeface="黑体" panose="02010609060101010101" pitchFamily="2" charset="-122"/>
              </a:rPr>
              <a:t>直观，常用</a:t>
            </a:r>
            <a:endParaRPr kumimoji="1" lang="zh-CN" altLang="en-US" sz="2000" dirty="0">
              <a:solidFill>
                <a:srgbClr val="000000"/>
              </a:solidFill>
              <a:latin typeface="Times New Roman" panose="02020603050405020304" pitchFamily="18" charset="0"/>
              <a:ea typeface="黑体" panose="02010609060101010101" pitchFamily="2" charset="-122"/>
            </a:endParaRPr>
          </a:p>
        </p:txBody>
      </p:sp>
      <p:grpSp>
        <p:nvGrpSpPr>
          <p:cNvPr id="98" name="组合 97"/>
          <p:cNvGrpSpPr/>
          <p:nvPr/>
        </p:nvGrpSpPr>
        <p:grpSpPr bwMode="auto">
          <a:xfrm>
            <a:off x="2567608" y="4166160"/>
            <a:ext cx="5141913" cy="2028825"/>
            <a:chOff x="1068182" y="4575720"/>
            <a:chExt cx="5141913" cy="2028825"/>
          </a:xfrm>
        </p:grpSpPr>
        <p:grpSp>
          <p:nvGrpSpPr>
            <p:cNvPr id="99" name="Group 56"/>
            <p:cNvGrpSpPr/>
            <p:nvPr/>
          </p:nvGrpSpPr>
          <p:grpSpPr bwMode="auto">
            <a:xfrm>
              <a:off x="1861932" y="4917033"/>
              <a:ext cx="4348163" cy="1687512"/>
              <a:chOff x="2190" y="2984"/>
              <a:chExt cx="2739" cy="1063"/>
            </a:xfrm>
          </p:grpSpPr>
          <p:grpSp>
            <p:nvGrpSpPr>
              <p:cNvPr id="122" name="Group 57"/>
              <p:cNvGrpSpPr/>
              <p:nvPr/>
            </p:nvGrpSpPr>
            <p:grpSpPr bwMode="auto">
              <a:xfrm>
                <a:off x="3962" y="2984"/>
                <a:ext cx="967" cy="1063"/>
                <a:chOff x="3962" y="2984"/>
                <a:chExt cx="967" cy="1063"/>
              </a:xfrm>
            </p:grpSpPr>
            <p:sp>
              <p:nvSpPr>
                <p:cNvPr id="131" name="Rectangle 58"/>
                <p:cNvSpPr>
                  <a:spLocks noChangeArrowheads="1"/>
                </p:cNvSpPr>
                <p:nvPr/>
              </p:nvSpPr>
              <p:spPr bwMode="auto">
                <a:xfrm>
                  <a:off x="4046" y="3125"/>
                  <a:ext cx="796" cy="792"/>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2" name="Rectangle 59"/>
                <p:cNvSpPr>
                  <a:spLocks noChangeArrowheads="1"/>
                </p:cNvSpPr>
                <p:nvPr/>
              </p:nvSpPr>
              <p:spPr bwMode="auto">
                <a:xfrm>
                  <a:off x="4607" y="2992"/>
                  <a:ext cx="245" cy="1055"/>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3" name="Line 60"/>
                <p:cNvSpPr>
                  <a:spLocks noChangeShapeType="1"/>
                </p:cNvSpPr>
                <p:nvPr/>
              </p:nvSpPr>
              <p:spPr bwMode="auto">
                <a:xfrm>
                  <a:off x="4606" y="3143"/>
                  <a:ext cx="0" cy="757"/>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4" name="Rectangle 61"/>
                <p:cNvSpPr>
                  <a:spLocks noChangeArrowheads="1"/>
                </p:cNvSpPr>
                <p:nvPr/>
              </p:nvSpPr>
              <p:spPr bwMode="auto">
                <a:xfrm>
                  <a:off x="4046" y="3250"/>
                  <a:ext cx="806" cy="546"/>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5" name="Line 62"/>
                <p:cNvSpPr>
                  <a:spLocks noChangeShapeType="1"/>
                </p:cNvSpPr>
                <p:nvPr/>
              </p:nvSpPr>
              <p:spPr bwMode="auto">
                <a:xfrm>
                  <a:off x="3962" y="3521"/>
                  <a:ext cx="376"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6" name="Line 63"/>
                <p:cNvSpPr>
                  <a:spLocks noChangeShapeType="1"/>
                </p:cNvSpPr>
                <p:nvPr/>
              </p:nvSpPr>
              <p:spPr bwMode="auto">
                <a:xfrm flipV="1">
                  <a:off x="4050" y="3125"/>
                  <a:ext cx="118"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7" name="Line 64"/>
                <p:cNvSpPr>
                  <a:spLocks noChangeShapeType="1"/>
                </p:cNvSpPr>
                <p:nvPr/>
              </p:nvSpPr>
              <p:spPr bwMode="auto">
                <a:xfrm flipV="1">
                  <a:off x="4201" y="3121"/>
                  <a:ext cx="128" cy="1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8" name="Line 65"/>
                <p:cNvSpPr>
                  <a:spLocks noChangeShapeType="1"/>
                </p:cNvSpPr>
                <p:nvPr/>
              </p:nvSpPr>
              <p:spPr bwMode="auto">
                <a:xfrm flipV="1">
                  <a:off x="4367" y="3121"/>
                  <a:ext cx="128" cy="12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9" name="Line 66"/>
                <p:cNvSpPr>
                  <a:spLocks noChangeShapeType="1"/>
                </p:cNvSpPr>
                <p:nvPr/>
              </p:nvSpPr>
              <p:spPr bwMode="auto">
                <a:xfrm flipV="1">
                  <a:off x="4538" y="2991"/>
                  <a:ext cx="262" cy="26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0" name="Line 67"/>
                <p:cNvSpPr>
                  <a:spLocks noChangeShapeType="1"/>
                </p:cNvSpPr>
                <p:nvPr/>
              </p:nvSpPr>
              <p:spPr bwMode="auto">
                <a:xfrm flipV="1">
                  <a:off x="4730" y="3125"/>
                  <a:ext cx="120"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1" name="Line 68"/>
                <p:cNvSpPr>
                  <a:spLocks noChangeShapeType="1"/>
                </p:cNvSpPr>
                <p:nvPr/>
              </p:nvSpPr>
              <p:spPr bwMode="auto">
                <a:xfrm flipV="1">
                  <a:off x="4599" y="2984"/>
                  <a:ext cx="54" cy="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2" name="Line 69"/>
                <p:cNvSpPr>
                  <a:spLocks noChangeShapeType="1"/>
                </p:cNvSpPr>
                <p:nvPr/>
              </p:nvSpPr>
              <p:spPr bwMode="auto">
                <a:xfrm flipV="1">
                  <a:off x="4040" y="3795"/>
                  <a:ext cx="109" cy="10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3" name="Line 70"/>
                <p:cNvSpPr>
                  <a:spLocks noChangeShapeType="1"/>
                </p:cNvSpPr>
                <p:nvPr/>
              </p:nvSpPr>
              <p:spPr bwMode="auto">
                <a:xfrm flipV="1">
                  <a:off x="4191" y="3794"/>
                  <a:ext cx="126" cy="12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4" name="Line 71"/>
                <p:cNvSpPr>
                  <a:spLocks noChangeShapeType="1"/>
                </p:cNvSpPr>
                <p:nvPr/>
              </p:nvSpPr>
              <p:spPr bwMode="auto">
                <a:xfrm flipV="1">
                  <a:off x="4366" y="3791"/>
                  <a:ext cx="122" cy="121"/>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5" name="Line 72"/>
                <p:cNvSpPr>
                  <a:spLocks noChangeShapeType="1"/>
                </p:cNvSpPr>
                <p:nvPr/>
              </p:nvSpPr>
              <p:spPr bwMode="auto">
                <a:xfrm flipV="1">
                  <a:off x="4535" y="3794"/>
                  <a:ext cx="118" cy="11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6" name="Line 73"/>
                <p:cNvSpPr>
                  <a:spLocks noChangeShapeType="1"/>
                </p:cNvSpPr>
                <p:nvPr/>
              </p:nvSpPr>
              <p:spPr bwMode="auto">
                <a:xfrm flipV="1">
                  <a:off x="4609" y="3794"/>
                  <a:ext cx="213" cy="21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7" name="Line 74"/>
                <p:cNvSpPr>
                  <a:spLocks noChangeShapeType="1"/>
                </p:cNvSpPr>
                <p:nvPr/>
              </p:nvSpPr>
              <p:spPr bwMode="auto">
                <a:xfrm flipV="1">
                  <a:off x="4759" y="3946"/>
                  <a:ext cx="92" cy="9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8" name="Line 75"/>
                <p:cNvSpPr>
                  <a:spLocks noChangeShapeType="1"/>
                </p:cNvSpPr>
                <p:nvPr/>
              </p:nvSpPr>
              <p:spPr bwMode="auto">
                <a:xfrm>
                  <a:off x="4511" y="3521"/>
                  <a:ext cx="41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9" name="Line 76"/>
                <p:cNvSpPr>
                  <a:spLocks noChangeShapeType="1"/>
                </p:cNvSpPr>
                <p:nvPr/>
              </p:nvSpPr>
              <p:spPr bwMode="auto">
                <a:xfrm>
                  <a:off x="4393" y="3522"/>
                  <a:ext cx="62"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23" name="Group 77"/>
              <p:cNvGrpSpPr/>
              <p:nvPr/>
            </p:nvGrpSpPr>
            <p:grpSpPr bwMode="auto">
              <a:xfrm>
                <a:off x="2190" y="3237"/>
                <a:ext cx="1036" cy="547"/>
                <a:chOff x="2196" y="1231"/>
                <a:chExt cx="1099" cy="580"/>
              </a:xfrm>
            </p:grpSpPr>
            <p:sp>
              <p:nvSpPr>
                <p:cNvPr id="124" name="Rectangle 78"/>
                <p:cNvSpPr>
                  <a:spLocks noChangeArrowheads="1"/>
                </p:cNvSpPr>
                <p:nvPr/>
              </p:nvSpPr>
              <p:spPr bwMode="auto">
                <a:xfrm>
                  <a:off x="2314" y="1231"/>
                  <a:ext cx="912" cy="579"/>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5" name="Line 79"/>
                <p:cNvSpPr>
                  <a:spLocks noChangeShapeType="1"/>
                </p:cNvSpPr>
                <p:nvPr/>
              </p:nvSpPr>
              <p:spPr bwMode="auto">
                <a:xfrm flipH="1">
                  <a:off x="2265" y="1232"/>
                  <a:ext cx="44" cy="4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6" name="Line 80"/>
                <p:cNvSpPr>
                  <a:spLocks noChangeShapeType="1"/>
                </p:cNvSpPr>
                <p:nvPr/>
              </p:nvSpPr>
              <p:spPr bwMode="auto">
                <a:xfrm>
                  <a:off x="2269" y="1265"/>
                  <a:ext cx="0" cy="510"/>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7" name="Line 81"/>
                <p:cNvSpPr>
                  <a:spLocks noChangeShapeType="1"/>
                </p:cNvSpPr>
                <p:nvPr/>
              </p:nvSpPr>
              <p:spPr bwMode="auto">
                <a:xfrm flipH="1" flipV="1">
                  <a:off x="2261" y="1760"/>
                  <a:ext cx="50" cy="51"/>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8" name="Line 82"/>
                <p:cNvSpPr>
                  <a:spLocks noChangeShapeType="1"/>
                </p:cNvSpPr>
                <p:nvPr/>
              </p:nvSpPr>
              <p:spPr bwMode="auto">
                <a:xfrm>
                  <a:off x="2196" y="1523"/>
                  <a:ext cx="4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9" name="Line 83"/>
                <p:cNvSpPr>
                  <a:spLocks noChangeShapeType="1"/>
                </p:cNvSpPr>
                <p:nvPr/>
              </p:nvSpPr>
              <p:spPr bwMode="auto">
                <a:xfrm>
                  <a:off x="2828" y="1523"/>
                  <a:ext cx="46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0" name="Line 84"/>
                <p:cNvSpPr>
                  <a:spLocks noChangeShapeType="1"/>
                </p:cNvSpPr>
                <p:nvPr/>
              </p:nvSpPr>
              <p:spPr bwMode="auto">
                <a:xfrm>
                  <a:off x="2726" y="1524"/>
                  <a:ext cx="5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100" name="Group 85"/>
            <p:cNvGrpSpPr/>
            <p:nvPr/>
          </p:nvGrpSpPr>
          <p:grpSpPr bwMode="auto">
            <a:xfrm>
              <a:off x="1068182" y="4575720"/>
              <a:ext cx="1971675" cy="1600200"/>
              <a:chOff x="1690" y="2769"/>
              <a:chExt cx="1242" cy="1008"/>
            </a:xfrm>
          </p:grpSpPr>
          <p:grpSp>
            <p:nvGrpSpPr>
              <p:cNvPr id="112" name="Group 86"/>
              <p:cNvGrpSpPr/>
              <p:nvPr/>
            </p:nvGrpSpPr>
            <p:grpSpPr bwMode="auto">
              <a:xfrm>
                <a:off x="1690" y="2769"/>
                <a:ext cx="1242" cy="330"/>
                <a:chOff x="1690" y="2769"/>
                <a:chExt cx="1242" cy="330"/>
              </a:xfrm>
            </p:grpSpPr>
            <p:sp>
              <p:nvSpPr>
                <p:cNvPr id="120" name="Text Box 87"/>
                <p:cNvSpPr txBox="1">
                  <a:spLocks noChangeArrowheads="1"/>
                </p:cNvSpPr>
                <p:nvPr/>
              </p:nvSpPr>
              <p:spPr bwMode="auto">
                <a:xfrm>
                  <a:off x="1690" y="2820"/>
                  <a:ext cx="124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30f7(        )</a:t>
                  </a:r>
                  <a:endPar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21" name="Text Box 88"/>
                <p:cNvSpPr txBox="1">
                  <a:spLocks noChangeArrowheads="1"/>
                </p:cNvSpPr>
                <p:nvPr/>
              </p:nvSpPr>
              <p:spPr bwMode="auto">
                <a:xfrm>
                  <a:off x="2179" y="2769"/>
                  <a:ext cx="56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–0.020 </a:t>
                  </a:r>
                  <a:endParaRPr kumimoji="1" lang="en-US" altLang="zh-CN" sz="1400"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–0.041  </a:t>
                  </a:r>
                  <a:endParaRPr kumimoji="1" lang="en-US" altLang="zh-CN" sz="1400"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grpSp>
          <p:grpSp>
            <p:nvGrpSpPr>
              <p:cNvPr id="113" name="Group 89"/>
              <p:cNvGrpSpPr/>
              <p:nvPr/>
            </p:nvGrpSpPr>
            <p:grpSpPr bwMode="auto">
              <a:xfrm>
                <a:off x="1829" y="3055"/>
                <a:ext cx="895" cy="722"/>
                <a:chOff x="1802" y="3055"/>
                <a:chExt cx="895" cy="722"/>
              </a:xfrm>
            </p:grpSpPr>
            <p:grpSp>
              <p:nvGrpSpPr>
                <p:cNvPr id="114" name="Group 90"/>
                <p:cNvGrpSpPr/>
                <p:nvPr/>
              </p:nvGrpSpPr>
              <p:grpSpPr bwMode="auto">
                <a:xfrm>
                  <a:off x="1983" y="3223"/>
                  <a:ext cx="349" cy="554"/>
                  <a:chOff x="1983" y="3223"/>
                  <a:chExt cx="349" cy="554"/>
                </a:xfrm>
              </p:grpSpPr>
              <p:sp>
                <p:nvSpPr>
                  <p:cNvPr id="117" name="Line 91"/>
                  <p:cNvSpPr>
                    <a:spLocks noChangeShapeType="1"/>
                  </p:cNvSpPr>
                  <p:nvPr/>
                </p:nvSpPr>
                <p:spPr bwMode="auto">
                  <a:xfrm flipH="1">
                    <a:off x="1983" y="3226"/>
                    <a:ext cx="34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8" name="Line 92"/>
                  <p:cNvSpPr>
                    <a:spLocks noChangeShapeType="1"/>
                  </p:cNvSpPr>
                  <p:nvPr/>
                </p:nvSpPr>
                <p:spPr bwMode="auto">
                  <a:xfrm flipH="1">
                    <a:off x="1998" y="3773"/>
                    <a:ext cx="33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9" name="Line 93"/>
                  <p:cNvSpPr>
                    <a:spLocks noChangeShapeType="1"/>
                  </p:cNvSpPr>
                  <p:nvPr/>
                </p:nvSpPr>
                <p:spPr bwMode="auto">
                  <a:xfrm>
                    <a:off x="2056" y="3223"/>
                    <a:ext cx="0" cy="554"/>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15" name="Line 94"/>
                <p:cNvSpPr>
                  <a:spLocks noChangeShapeType="1"/>
                </p:cNvSpPr>
                <p:nvPr/>
              </p:nvSpPr>
              <p:spPr bwMode="auto">
                <a:xfrm flipH="1" flipV="1">
                  <a:off x="1803" y="3055"/>
                  <a:ext cx="255" cy="449"/>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6" name="Line 95"/>
                <p:cNvSpPr>
                  <a:spLocks noChangeShapeType="1"/>
                </p:cNvSpPr>
                <p:nvPr/>
              </p:nvSpPr>
              <p:spPr bwMode="auto">
                <a:xfrm>
                  <a:off x="1802" y="3056"/>
                  <a:ext cx="89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101" name="Group 96"/>
            <p:cNvGrpSpPr/>
            <p:nvPr/>
          </p:nvGrpSpPr>
          <p:grpSpPr bwMode="auto">
            <a:xfrm>
              <a:off x="3787570" y="4582070"/>
              <a:ext cx="1520825" cy="1627188"/>
              <a:chOff x="3403" y="2773"/>
              <a:chExt cx="958" cy="1025"/>
            </a:xfrm>
          </p:grpSpPr>
          <p:grpSp>
            <p:nvGrpSpPr>
              <p:cNvPr id="102" name="Group 97"/>
              <p:cNvGrpSpPr/>
              <p:nvPr/>
            </p:nvGrpSpPr>
            <p:grpSpPr bwMode="auto">
              <a:xfrm>
                <a:off x="3403" y="2773"/>
                <a:ext cx="958" cy="330"/>
                <a:chOff x="3403" y="2773"/>
                <a:chExt cx="958" cy="330"/>
              </a:xfrm>
            </p:grpSpPr>
            <p:sp>
              <p:nvSpPr>
                <p:cNvPr id="110" name="Text Box 98"/>
                <p:cNvSpPr txBox="1">
                  <a:spLocks noChangeArrowheads="1"/>
                </p:cNvSpPr>
                <p:nvPr/>
              </p:nvSpPr>
              <p:spPr bwMode="auto">
                <a:xfrm>
                  <a:off x="3866" y="2773"/>
                  <a:ext cx="49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+0.033 </a:t>
                  </a:r>
                  <a:endParaRPr kumimoji="1" lang="en-US" altLang="zh-CN" sz="1400"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a:p>
                  <a:pPr marL="0" marR="0" lvl="0" indent="0" defTabSz="914400" eaLnBrk="1" fontAlgn="base" latinLnBrk="0" hangingPunct="1">
                    <a:lnSpc>
                      <a:spcPct val="100000"/>
                    </a:lnSpc>
                    <a:spcBef>
                      <a:spcPct val="0"/>
                    </a:spcBef>
                    <a:spcAft>
                      <a:spcPct val="0"/>
                    </a:spcAft>
                    <a:buClrTx/>
                    <a:buSzTx/>
                    <a:buFontTx/>
                    <a:buNone/>
                    <a:defRPr/>
                  </a:pPr>
                  <a:r>
                    <a:rPr kumimoji="1" lang="en-US" altLang="zh-CN" sz="1400"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a:t>
                  </a:r>
                  <a:r>
                    <a:rPr kumimoji="1" lang="en-US" altLang="zh-CN" sz="14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 </a:t>
                  </a:r>
                  <a:endParaRPr kumimoji="1" lang="en-US" altLang="zh-CN" sz="1400"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11" name="Text Box 99"/>
                <p:cNvSpPr txBox="1">
                  <a:spLocks noChangeArrowheads="1"/>
                </p:cNvSpPr>
                <p:nvPr/>
              </p:nvSpPr>
              <p:spPr bwMode="auto">
                <a:xfrm>
                  <a:off x="3403" y="2847"/>
                  <a:ext cx="91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rPr>
                    <a:t>Ø</a:t>
                  </a:r>
                  <a:r>
                    <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30H8(      )</a:t>
                  </a:r>
                  <a:endParaRPr kumimoji="1" lang="en-US" altLang="zh-CN" sz="1800"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grpSp>
          <p:grpSp>
            <p:nvGrpSpPr>
              <p:cNvPr id="103" name="Group 100"/>
              <p:cNvGrpSpPr/>
              <p:nvPr/>
            </p:nvGrpSpPr>
            <p:grpSpPr bwMode="auto">
              <a:xfrm>
                <a:off x="3425" y="3052"/>
                <a:ext cx="844" cy="746"/>
                <a:chOff x="3425" y="3052"/>
                <a:chExt cx="844" cy="746"/>
              </a:xfrm>
            </p:grpSpPr>
            <p:grpSp>
              <p:nvGrpSpPr>
                <p:cNvPr id="104" name="Group 101"/>
                <p:cNvGrpSpPr/>
                <p:nvPr/>
              </p:nvGrpSpPr>
              <p:grpSpPr bwMode="auto">
                <a:xfrm>
                  <a:off x="3784" y="3244"/>
                  <a:ext cx="355" cy="554"/>
                  <a:chOff x="2479" y="1646"/>
                  <a:chExt cx="349" cy="554"/>
                </a:xfrm>
              </p:grpSpPr>
              <p:sp>
                <p:nvSpPr>
                  <p:cNvPr id="107" name="Line 102"/>
                  <p:cNvSpPr>
                    <a:spLocks noChangeShapeType="1"/>
                  </p:cNvSpPr>
                  <p:nvPr/>
                </p:nvSpPr>
                <p:spPr bwMode="auto">
                  <a:xfrm flipH="1">
                    <a:off x="2479" y="1649"/>
                    <a:ext cx="34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8" name="Line 103"/>
                  <p:cNvSpPr>
                    <a:spLocks noChangeShapeType="1"/>
                  </p:cNvSpPr>
                  <p:nvPr/>
                </p:nvSpPr>
                <p:spPr bwMode="auto">
                  <a:xfrm flipH="1">
                    <a:off x="2494" y="2196"/>
                    <a:ext cx="33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9" name="Line 104"/>
                  <p:cNvSpPr>
                    <a:spLocks noChangeShapeType="1"/>
                  </p:cNvSpPr>
                  <p:nvPr/>
                </p:nvSpPr>
                <p:spPr bwMode="auto">
                  <a:xfrm>
                    <a:off x="2552" y="1646"/>
                    <a:ext cx="0" cy="554"/>
                  </a:xfrm>
                  <a:prstGeom prst="line">
                    <a:avLst/>
                  </a:prstGeom>
                  <a:noFill/>
                  <a:ln w="12700">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05" name="Line 105"/>
                <p:cNvSpPr>
                  <a:spLocks noChangeShapeType="1"/>
                </p:cNvSpPr>
                <p:nvPr/>
              </p:nvSpPr>
              <p:spPr bwMode="auto">
                <a:xfrm flipH="1" flipV="1">
                  <a:off x="3425" y="3052"/>
                  <a:ext cx="437" cy="47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6" name="Line 106"/>
                <p:cNvSpPr>
                  <a:spLocks noChangeShapeType="1"/>
                </p:cNvSpPr>
                <p:nvPr/>
              </p:nvSpPr>
              <p:spPr bwMode="auto">
                <a:xfrm>
                  <a:off x="3426" y="3056"/>
                  <a:ext cx="843"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sp>
        <p:nvSpPr>
          <p:cNvPr id="150" name="Text Box 14"/>
          <p:cNvSpPr txBox="1">
            <a:spLocks noChangeArrowheads="1"/>
          </p:cNvSpPr>
          <p:nvPr/>
        </p:nvSpPr>
        <p:spPr bwMode="auto">
          <a:xfrm>
            <a:off x="7949233" y="4772922"/>
            <a:ext cx="343481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00"/>
                </a:solidFill>
                <a:latin typeface="Times New Roman" panose="02020603050405020304" pitchFamily="18" charset="0"/>
                <a:ea typeface="黑体" panose="02010609060101010101" pitchFamily="2" charset="-122"/>
              </a:rPr>
              <a:t>标注基本尺寸、公差带代号和极限偏差值：</a:t>
            </a:r>
            <a:r>
              <a:rPr kumimoji="1" lang="zh-CN" altLang="en-US" sz="2000" dirty="0">
                <a:solidFill>
                  <a:srgbClr val="000000"/>
                </a:solidFill>
                <a:latin typeface="黑体" panose="02010609060101010101" pitchFamily="2" charset="-122"/>
                <a:ea typeface="黑体" panose="02010609060101010101" pitchFamily="2" charset="-122"/>
              </a:rPr>
              <a:t>既明确配合精度又有公差数值</a:t>
            </a:r>
            <a:endParaRPr kumimoji="1" lang="zh-CN" altLang="en-US" sz="2000" dirty="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down)">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4"/>
                                        </p:tgtEl>
                                        <p:attrNameLst>
                                          <p:attrName>style.visibility</p:attrName>
                                        </p:attrNameLst>
                                      </p:cBhvr>
                                      <p:to>
                                        <p:strVal val="visible"/>
                                      </p:to>
                                    </p:set>
                                    <p:animEffect transition="in" filter="wipe(down)">
                                      <p:cBhvr>
                                        <p:cTn id="27" dur="500"/>
                                        <p:tgtEl>
                                          <p:spTgt spid="9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7"/>
                                        </p:tgtEl>
                                        <p:attrNameLst>
                                          <p:attrName>style.visibility</p:attrName>
                                        </p:attrNameLst>
                                      </p:cBhvr>
                                      <p:to>
                                        <p:strVal val="visible"/>
                                      </p:to>
                                    </p:set>
                                    <p:animEffect transition="in" filter="wipe(left)">
                                      <p:cBhvr>
                                        <p:cTn id="32" dur="500"/>
                                        <p:tgtEl>
                                          <p:spTgt spid="9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8"/>
                                        </p:tgtEl>
                                        <p:attrNameLst>
                                          <p:attrName>style.visibility</p:attrName>
                                        </p:attrNameLst>
                                      </p:cBhvr>
                                      <p:to>
                                        <p:strVal val="visible"/>
                                      </p:to>
                                    </p:set>
                                    <p:animEffect transition="in" filter="wipe(left)">
                                      <p:cBhvr>
                                        <p:cTn id="37" dur="500"/>
                                        <p:tgtEl>
                                          <p:spTgt spid="9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0"/>
                                        </p:tgtEl>
                                        <p:attrNameLst>
                                          <p:attrName>style.visibility</p:attrName>
                                        </p:attrNameLst>
                                      </p:cBhvr>
                                      <p:to>
                                        <p:strVal val="visible"/>
                                      </p:to>
                                    </p:set>
                                    <p:animEffect transition="in" filter="wipe(left)">
                                      <p:cBhvr>
                                        <p:cTn id="42"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7" grpId="0"/>
      <p:bldP spid="15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3" name="Rectangle 2"/>
          <p:cNvSpPr>
            <a:spLocks noChangeArrowheads="1"/>
          </p:cNvSpPr>
          <p:nvPr/>
        </p:nvSpPr>
        <p:spPr bwMode="auto">
          <a:xfrm>
            <a:off x="477780" y="2077899"/>
            <a:ext cx="2077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eaLnBrk="0" hangingPunct="0">
              <a:spcBef>
                <a:spcPts val="600"/>
              </a:spcBef>
              <a:buFont typeface="Wingdings" panose="05000000000000000000" pitchFamily="2" charset="2"/>
              <a:buChar char="l"/>
            </a:pPr>
            <a:r>
              <a:rPr lang="zh-CN" altLang="en-US" sz="2400" dirty="0">
                <a:solidFill>
                  <a:schemeClr val="accent6">
                    <a:lumMod val="75000"/>
                  </a:schemeClr>
                </a:solidFill>
                <a:latin typeface="微软雅黑" panose="020B0503020204020204" pitchFamily="34" charset="-122"/>
                <a:ea typeface="微软雅黑" panose="020B0503020204020204" pitchFamily="34" charset="-122"/>
                <a:sym typeface="Marlett" pitchFamily="2" charset="2"/>
              </a:rPr>
              <a:t>配合的</a:t>
            </a:r>
            <a:r>
              <a:rPr lang="zh-CN" altLang="en-US" sz="2400" dirty="0">
                <a:solidFill>
                  <a:schemeClr val="accent6">
                    <a:lumMod val="75000"/>
                  </a:schemeClr>
                </a:solidFill>
                <a:latin typeface="微软雅黑" panose="020B0503020204020204" pitchFamily="34" charset="-122"/>
                <a:ea typeface="微软雅黑" panose="020B0503020204020204" pitchFamily="34" charset="-122"/>
              </a:rPr>
              <a:t>种类</a:t>
            </a:r>
            <a:endParaRPr lang="zh-CN" altLang="en-US" sz="2400"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Text Box 3"/>
          <p:cNvSpPr txBox="1">
            <a:spLocks noChangeArrowheads="1"/>
          </p:cNvSpPr>
          <p:nvPr/>
        </p:nvSpPr>
        <p:spPr bwMode="auto">
          <a:xfrm>
            <a:off x="3882826" y="2549251"/>
            <a:ext cx="13081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dirty="0">
                <a:solidFill>
                  <a:srgbClr val="000066"/>
                </a:solidFill>
                <a:latin typeface="黑体" panose="02010609060101010101" pitchFamily="2" charset="-122"/>
                <a:ea typeface="黑体" panose="02010609060101010101" pitchFamily="2" charset="-122"/>
              </a:rPr>
              <a:t>间隙配合</a:t>
            </a:r>
            <a:endParaRPr kumimoji="1" lang="zh-CN" altLang="en-US" sz="2000" dirty="0">
              <a:solidFill>
                <a:srgbClr val="000066"/>
              </a:solidFill>
              <a:latin typeface="黑体" panose="02010609060101010101" pitchFamily="2" charset="-122"/>
              <a:ea typeface="黑体" panose="02010609060101010101" pitchFamily="2" charset="-122"/>
            </a:endParaRPr>
          </a:p>
        </p:txBody>
      </p:sp>
      <p:sp>
        <p:nvSpPr>
          <p:cNvPr id="5" name="Text Box 4"/>
          <p:cNvSpPr txBox="1">
            <a:spLocks noChangeArrowheads="1"/>
          </p:cNvSpPr>
          <p:nvPr/>
        </p:nvSpPr>
        <p:spPr bwMode="auto">
          <a:xfrm>
            <a:off x="649598" y="3387518"/>
            <a:ext cx="14430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66"/>
                </a:solidFill>
                <a:latin typeface="黑体" panose="02010609060101010101" pitchFamily="2" charset="-122"/>
                <a:ea typeface="黑体" panose="02010609060101010101" pitchFamily="2" charset="-122"/>
              </a:rPr>
              <a:t>过盈配合</a:t>
            </a:r>
            <a:endParaRPr kumimoji="1" lang="zh-CN" altLang="en-US" sz="2000" dirty="0">
              <a:solidFill>
                <a:srgbClr val="000066"/>
              </a:solidFill>
              <a:latin typeface="黑体" panose="02010609060101010101" pitchFamily="2" charset="-122"/>
              <a:ea typeface="黑体" panose="02010609060101010101" pitchFamily="2" charset="-122"/>
            </a:endParaRPr>
          </a:p>
        </p:txBody>
      </p:sp>
      <p:sp>
        <p:nvSpPr>
          <p:cNvPr id="6" name="Text Box 5"/>
          <p:cNvSpPr txBox="1">
            <a:spLocks noChangeArrowheads="1"/>
          </p:cNvSpPr>
          <p:nvPr/>
        </p:nvSpPr>
        <p:spPr bwMode="auto">
          <a:xfrm>
            <a:off x="6207086" y="3971526"/>
            <a:ext cx="14382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dirty="0">
                <a:solidFill>
                  <a:srgbClr val="000066"/>
                </a:solidFill>
                <a:latin typeface="黑体" panose="02010609060101010101" pitchFamily="2" charset="-122"/>
                <a:ea typeface="黑体" panose="02010609060101010101" pitchFamily="2" charset="-122"/>
              </a:rPr>
              <a:t>过渡配合</a:t>
            </a:r>
            <a:endParaRPr kumimoji="1" lang="zh-CN" altLang="en-US" sz="2000" dirty="0">
              <a:solidFill>
                <a:srgbClr val="000066"/>
              </a:solidFill>
              <a:latin typeface="黑体" panose="02010609060101010101" pitchFamily="2" charset="-122"/>
              <a:ea typeface="黑体" panose="02010609060101010101" pitchFamily="2" charset="-122"/>
            </a:endParaRPr>
          </a:p>
        </p:txBody>
      </p:sp>
      <p:grpSp>
        <p:nvGrpSpPr>
          <p:cNvPr id="7" name="Group 6"/>
          <p:cNvGrpSpPr/>
          <p:nvPr/>
        </p:nvGrpSpPr>
        <p:grpSpPr bwMode="auto">
          <a:xfrm>
            <a:off x="5605264" y="2228576"/>
            <a:ext cx="5203825" cy="1343025"/>
            <a:chOff x="1863" y="1055"/>
            <a:chExt cx="3278" cy="846"/>
          </a:xfrm>
        </p:grpSpPr>
        <p:sp>
          <p:nvSpPr>
            <p:cNvPr id="8" name="Rectangle 7"/>
            <p:cNvSpPr>
              <a:spLocks noChangeArrowheads="1"/>
            </p:cNvSpPr>
            <p:nvPr/>
          </p:nvSpPr>
          <p:spPr bwMode="auto">
            <a:xfrm>
              <a:off x="2032" y="1055"/>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孔公差带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9" name="Rectangle 8"/>
            <p:cNvSpPr>
              <a:spLocks noChangeArrowheads="1"/>
            </p:cNvSpPr>
            <p:nvPr/>
          </p:nvSpPr>
          <p:spPr bwMode="auto">
            <a:xfrm>
              <a:off x="2035" y="1709"/>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0" name="Line 9"/>
            <p:cNvSpPr>
              <a:spLocks noChangeShapeType="1"/>
            </p:cNvSpPr>
            <p:nvPr/>
          </p:nvSpPr>
          <p:spPr bwMode="auto">
            <a:xfrm>
              <a:off x="1863" y="1438"/>
              <a:ext cx="251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 name="Text Box 10"/>
            <p:cNvSpPr txBox="1">
              <a:spLocks noChangeArrowheads="1"/>
            </p:cNvSpPr>
            <p:nvPr/>
          </p:nvSpPr>
          <p:spPr bwMode="auto">
            <a:xfrm>
              <a:off x="4352" y="1331"/>
              <a:ext cx="7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6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零线</a:t>
              </a:r>
              <a:endParaRPr kumimoji="1" lang="zh-CN" altLang="en-US" sz="16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2" name="Rectangle 11" descr="深色下对角线"/>
            <p:cNvSpPr>
              <a:spLocks noChangeArrowheads="1"/>
            </p:cNvSpPr>
            <p:nvPr/>
          </p:nvSpPr>
          <p:spPr bwMode="auto">
            <a:xfrm>
              <a:off x="2080" y="1545"/>
              <a:ext cx="533" cy="19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13" name="Rectangle 12" descr="深色下对角线"/>
            <p:cNvSpPr>
              <a:spLocks noChangeArrowheads="1"/>
            </p:cNvSpPr>
            <p:nvPr/>
          </p:nvSpPr>
          <p:spPr bwMode="auto">
            <a:xfrm>
              <a:off x="3249" y="1444"/>
              <a:ext cx="532" cy="19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14" name="Rectangle 13" descr="深色上对角线"/>
            <p:cNvSpPr>
              <a:spLocks noChangeArrowheads="1"/>
            </p:cNvSpPr>
            <p:nvPr/>
          </p:nvSpPr>
          <p:spPr bwMode="auto">
            <a:xfrm>
              <a:off x="2080" y="1237"/>
              <a:ext cx="533" cy="199"/>
            </a:xfrm>
            <a:prstGeom prst="rect">
              <a:avLst/>
            </a:prstGeom>
            <a:pattFill prst="dkUpDiag">
              <a:fgClr>
                <a:srgbClr val="808080"/>
              </a:fgClr>
              <a:bgClr>
                <a:srgbClr val="FFFFFF"/>
              </a:bgClr>
            </a:pattFill>
            <a:ln w="19050">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15" name="Rectangle 14" descr="深色上对角线"/>
            <p:cNvSpPr>
              <a:spLocks noChangeArrowheads="1"/>
            </p:cNvSpPr>
            <p:nvPr/>
          </p:nvSpPr>
          <p:spPr bwMode="auto">
            <a:xfrm>
              <a:off x="3248" y="1240"/>
              <a:ext cx="532" cy="199"/>
            </a:xfrm>
            <a:prstGeom prst="rect">
              <a:avLst/>
            </a:prstGeom>
            <a:pattFill prst="dkUpDiag">
              <a:fgClr>
                <a:srgbClr val="808080"/>
              </a:fgClr>
              <a:bgClr>
                <a:srgbClr val="FFFFFF"/>
              </a:bgClr>
            </a:pattFill>
            <a:ln w="19050">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17" name="Rectangle 15"/>
            <p:cNvSpPr>
              <a:spLocks noChangeArrowheads="1"/>
            </p:cNvSpPr>
            <p:nvPr/>
          </p:nvSpPr>
          <p:spPr bwMode="auto">
            <a:xfrm>
              <a:off x="3192" y="1065"/>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孔公差带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8" name="Rectangle 16"/>
            <p:cNvSpPr>
              <a:spLocks noChangeArrowheads="1"/>
            </p:cNvSpPr>
            <p:nvPr/>
          </p:nvSpPr>
          <p:spPr bwMode="auto">
            <a:xfrm>
              <a:off x="3207" y="1608"/>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grpSp>
      <p:grpSp>
        <p:nvGrpSpPr>
          <p:cNvPr id="19" name="Group 28"/>
          <p:cNvGrpSpPr/>
          <p:nvPr/>
        </p:nvGrpSpPr>
        <p:grpSpPr bwMode="auto">
          <a:xfrm>
            <a:off x="6645236" y="4977332"/>
            <a:ext cx="4449762" cy="1095375"/>
            <a:chOff x="1972" y="3356"/>
            <a:chExt cx="2803" cy="690"/>
          </a:xfrm>
        </p:grpSpPr>
        <p:sp>
          <p:nvSpPr>
            <p:cNvPr id="20" name="Rectangle 29"/>
            <p:cNvSpPr>
              <a:spLocks noChangeArrowheads="1"/>
            </p:cNvSpPr>
            <p:nvPr/>
          </p:nvSpPr>
          <p:spPr bwMode="auto">
            <a:xfrm>
              <a:off x="2038" y="3434"/>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孔公差带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21" name="Rectangle 30"/>
            <p:cNvSpPr>
              <a:spLocks noChangeArrowheads="1"/>
            </p:cNvSpPr>
            <p:nvPr/>
          </p:nvSpPr>
          <p:spPr bwMode="auto">
            <a:xfrm>
              <a:off x="2106" y="3854"/>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22" name="Line 31"/>
            <p:cNvSpPr>
              <a:spLocks noChangeShapeType="1"/>
            </p:cNvSpPr>
            <p:nvPr/>
          </p:nvSpPr>
          <p:spPr bwMode="auto">
            <a:xfrm flipV="1">
              <a:off x="1972" y="3814"/>
              <a:ext cx="2420" cy="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Rectangle 32" descr="深色上对角线"/>
            <p:cNvSpPr>
              <a:spLocks noChangeArrowheads="1"/>
            </p:cNvSpPr>
            <p:nvPr/>
          </p:nvSpPr>
          <p:spPr bwMode="auto">
            <a:xfrm>
              <a:off x="2093" y="3617"/>
              <a:ext cx="1925" cy="199"/>
            </a:xfrm>
            <a:prstGeom prst="rect">
              <a:avLst/>
            </a:prstGeom>
            <a:pattFill prst="dkUpDiag">
              <a:fgClr>
                <a:srgbClr val="808080"/>
              </a:fgClr>
              <a:bgClr>
                <a:srgbClr val="FFFFFF"/>
              </a:bgClr>
            </a:pattFill>
            <a:ln w="19050">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24" name="Text Box 33"/>
            <p:cNvSpPr txBox="1">
              <a:spLocks noChangeArrowheads="1"/>
            </p:cNvSpPr>
            <p:nvPr/>
          </p:nvSpPr>
          <p:spPr bwMode="auto">
            <a:xfrm>
              <a:off x="4331" y="3703"/>
              <a:ext cx="44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6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零线</a:t>
              </a:r>
              <a:endParaRPr kumimoji="1" lang="zh-CN" altLang="en-US" sz="16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5" name="Rectangle 34" descr="深色下对角线"/>
            <p:cNvSpPr>
              <a:spLocks noChangeArrowheads="1"/>
            </p:cNvSpPr>
            <p:nvPr/>
          </p:nvSpPr>
          <p:spPr bwMode="auto">
            <a:xfrm>
              <a:off x="2171" y="3762"/>
              <a:ext cx="494" cy="12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26" name="Rectangle 35" descr="深色下对角线"/>
            <p:cNvSpPr>
              <a:spLocks noChangeArrowheads="1"/>
            </p:cNvSpPr>
            <p:nvPr/>
          </p:nvSpPr>
          <p:spPr bwMode="auto">
            <a:xfrm>
              <a:off x="2813" y="3654"/>
              <a:ext cx="494" cy="12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27" name="Rectangle 36" descr="深色下对角线"/>
            <p:cNvSpPr>
              <a:spLocks noChangeArrowheads="1"/>
            </p:cNvSpPr>
            <p:nvPr/>
          </p:nvSpPr>
          <p:spPr bwMode="auto">
            <a:xfrm>
              <a:off x="3461" y="3552"/>
              <a:ext cx="494" cy="12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28" name="Rectangle 37"/>
            <p:cNvSpPr>
              <a:spLocks noChangeArrowheads="1"/>
            </p:cNvSpPr>
            <p:nvPr/>
          </p:nvSpPr>
          <p:spPr bwMode="auto">
            <a:xfrm>
              <a:off x="2748" y="3770"/>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29" name="Rectangle 38"/>
            <p:cNvSpPr>
              <a:spLocks noChangeArrowheads="1"/>
            </p:cNvSpPr>
            <p:nvPr/>
          </p:nvSpPr>
          <p:spPr bwMode="auto">
            <a:xfrm>
              <a:off x="3390" y="3356"/>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grpSp>
      <p:grpSp>
        <p:nvGrpSpPr>
          <p:cNvPr id="30" name="Group 39"/>
          <p:cNvGrpSpPr/>
          <p:nvPr/>
        </p:nvGrpSpPr>
        <p:grpSpPr bwMode="auto">
          <a:xfrm>
            <a:off x="5338564" y="2479401"/>
            <a:ext cx="615950" cy="895350"/>
            <a:chOff x="1695" y="1213"/>
            <a:chExt cx="388" cy="564"/>
          </a:xfrm>
        </p:grpSpPr>
        <p:grpSp>
          <p:nvGrpSpPr>
            <p:cNvPr id="31" name="Group 40"/>
            <p:cNvGrpSpPr/>
            <p:nvPr/>
          </p:nvGrpSpPr>
          <p:grpSpPr bwMode="auto">
            <a:xfrm>
              <a:off x="1867" y="1233"/>
              <a:ext cx="216" cy="511"/>
              <a:chOff x="1774" y="1341"/>
              <a:chExt cx="353" cy="511"/>
            </a:xfrm>
          </p:grpSpPr>
          <p:sp>
            <p:nvSpPr>
              <p:cNvPr id="33" name="Line 41"/>
              <p:cNvSpPr>
                <a:spLocks noChangeShapeType="1"/>
              </p:cNvSpPr>
              <p:nvPr/>
            </p:nvSpPr>
            <p:spPr bwMode="auto">
              <a:xfrm flipH="1">
                <a:off x="1774" y="1347"/>
                <a:ext cx="353"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34" name="Line 42"/>
              <p:cNvSpPr>
                <a:spLocks noChangeShapeType="1"/>
              </p:cNvSpPr>
              <p:nvPr/>
            </p:nvSpPr>
            <p:spPr bwMode="auto">
              <a:xfrm flipH="1">
                <a:off x="1777" y="1852"/>
                <a:ext cx="35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35" name="Line 43"/>
              <p:cNvSpPr>
                <a:spLocks noChangeShapeType="1"/>
              </p:cNvSpPr>
              <p:nvPr/>
            </p:nvSpPr>
            <p:spPr bwMode="auto">
              <a:xfrm>
                <a:off x="1824" y="1341"/>
                <a:ext cx="0" cy="511"/>
              </a:xfrm>
              <a:prstGeom prst="line">
                <a:avLst/>
              </a:prstGeom>
              <a:noFill/>
              <a:ln w="952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32" name="Text Box 44"/>
            <p:cNvSpPr txBox="1">
              <a:spLocks noChangeArrowheads="1"/>
            </p:cNvSpPr>
            <p:nvPr/>
          </p:nvSpPr>
          <p:spPr bwMode="auto">
            <a:xfrm rot="-5400000">
              <a:off x="1509" y="1399"/>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最大间隙</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grpSp>
        <p:nvGrpSpPr>
          <p:cNvPr id="36" name="Group 45"/>
          <p:cNvGrpSpPr/>
          <p:nvPr/>
        </p:nvGrpSpPr>
        <p:grpSpPr bwMode="auto">
          <a:xfrm>
            <a:off x="6784776" y="1876151"/>
            <a:ext cx="431800" cy="1443037"/>
            <a:chOff x="2606" y="833"/>
            <a:chExt cx="272" cy="909"/>
          </a:xfrm>
        </p:grpSpPr>
        <p:sp>
          <p:nvSpPr>
            <p:cNvPr id="38" name="Text Box 46"/>
            <p:cNvSpPr txBox="1">
              <a:spLocks noChangeArrowheads="1"/>
            </p:cNvSpPr>
            <p:nvPr/>
          </p:nvSpPr>
          <p:spPr bwMode="auto">
            <a:xfrm rot="-5400000">
              <a:off x="2440" y="1019"/>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最小间隙</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nvGrpSpPr>
            <p:cNvPr id="39" name="Group 47"/>
            <p:cNvGrpSpPr/>
            <p:nvPr/>
          </p:nvGrpSpPr>
          <p:grpSpPr bwMode="auto">
            <a:xfrm>
              <a:off x="2606" y="909"/>
              <a:ext cx="272" cy="833"/>
              <a:chOff x="2606" y="909"/>
              <a:chExt cx="272" cy="833"/>
            </a:xfrm>
          </p:grpSpPr>
          <p:sp>
            <p:nvSpPr>
              <p:cNvPr id="40" name="Line 48"/>
              <p:cNvSpPr>
                <a:spLocks noChangeShapeType="1"/>
              </p:cNvSpPr>
              <p:nvPr/>
            </p:nvSpPr>
            <p:spPr bwMode="auto">
              <a:xfrm flipH="1">
                <a:off x="2609" y="1436"/>
                <a:ext cx="269"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1" name="Line 49"/>
              <p:cNvSpPr>
                <a:spLocks noChangeShapeType="1"/>
              </p:cNvSpPr>
              <p:nvPr/>
            </p:nvSpPr>
            <p:spPr bwMode="auto">
              <a:xfrm flipH="1">
                <a:off x="2606" y="1541"/>
                <a:ext cx="27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2" name="Line 50"/>
              <p:cNvSpPr>
                <a:spLocks noChangeShapeType="1"/>
              </p:cNvSpPr>
              <p:nvPr/>
            </p:nvSpPr>
            <p:spPr bwMode="auto">
              <a:xfrm>
                <a:off x="2813" y="909"/>
                <a:ext cx="0" cy="524"/>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3" name="Line 51"/>
              <p:cNvSpPr>
                <a:spLocks noChangeShapeType="1"/>
              </p:cNvSpPr>
              <p:nvPr/>
            </p:nvSpPr>
            <p:spPr bwMode="auto">
              <a:xfrm flipV="1">
                <a:off x="2814" y="1537"/>
                <a:ext cx="0" cy="205"/>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44" name="Line 52"/>
              <p:cNvSpPr>
                <a:spLocks noChangeShapeType="1"/>
              </p:cNvSpPr>
              <p:nvPr/>
            </p:nvSpPr>
            <p:spPr bwMode="auto">
              <a:xfrm>
                <a:off x="2815" y="1435"/>
                <a:ext cx="0" cy="11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grpSp>
        <p:nvGrpSpPr>
          <p:cNvPr id="45" name="Group 53"/>
          <p:cNvGrpSpPr/>
          <p:nvPr/>
        </p:nvGrpSpPr>
        <p:grpSpPr bwMode="auto">
          <a:xfrm>
            <a:off x="7238801" y="1703113"/>
            <a:ext cx="579438" cy="1457325"/>
            <a:chOff x="2892" y="724"/>
            <a:chExt cx="365" cy="918"/>
          </a:xfrm>
        </p:grpSpPr>
        <p:grpSp>
          <p:nvGrpSpPr>
            <p:cNvPr id="46" name="Group 54"/>
            <p:cNvGrpSpPr/>
            <p:nvPr/>
          </p:nvGrpSpPr>
          <p:grpSpPr bwMode="auto">
            <a:xfrm>
              <a:off x="3041" y="1236"/>
              <a:ext cx="216" cy="406"/>
              <a:chOff x="1774" y="1341"/>
              <a:chExt cx="353" cy="511"/>
            </a:xfrm>
          </p:grpSpPr>
          <p:sp>
            <p:nvSpPr>
              <p:cNvPr id="49" name="Line 55"/>
              <p:cNvSpPr>
                <a:spLocks noChangeShapeType="1"/>
              </p:cNvSpPr>
              <p:nvPr/>
            </p:nvSpPr>
            <p:spPr bwMode="auto">
              <a:xfrm flipH="1">
                <a:off x="1774" y="1347"/>
                <a:ext cx="353"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0" name="Line 56"/>
              <p:cNvSpPr>
                <a:spLocks noChangeShapeType="1"/>
              </p:cNvSpPr>
              <p:nvPr/>
            </p:nvSpPr>
            <p:spPr bwMode="auto">
              <a:xfrm flipH="1">
                <a:off x="1777" y="1852"/>
                <a:ext cx="35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1" name="Line 57"/>
              <p:cNvSpPr>
                <a:spLocks noChangeShapeType="1"/>
              </p:cNvSpPr>
              <p:nvPr/>
            </p:nvSpPr>
            <p:spPr bwMode="auto">
              <a:xfrm>
                <a:off x="1824" y="1341"/>
                <a:ext cx="0" cy="511"/>
              </a:xfrm>
              <a:prstGeom prst="line">
                <a:avLst/>
              </a:prstGeom>
              <a:noFill/>
              <a:ln w="952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47" name="Text Box 58"/>
            <p:cNvSpPr txBox="1">
              <a:spLocks noChangeArrowheads="1"/>
            </p:cNvSpPr>
            <p:nvPr/>
          </p:nvSpPr>
          <p:spPr bwMode="auto">
            <a:xfrm rot="-5400000">
              <a:off x="2706" y="910"/>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最大间隙</a:t>
              </a:r>
              <a:endParaRPr kumimoji="1" lang="zh-CN" altLang="en-US" sz="1400">
                <a:solidFill>
                  <a:srgbClr val="CC0000"/>
                </a:solidFill>
                <a:latin typeface="Times New Roman" panose="02020603050405020304" pitchFamily="18" charset="0"/>
                <a:ea typeface="黑体" panose="02010609060101010101" pitchFamily="2" charset="-122"/>
              </a:endParaRPr>
            </a:p>
          </p:txBody>
        </p:sp>
        <p:sp>
          <p:nvSpPr>
            <p:cNvPr id="48" name="Line 59"/>
            <p:cNvSpPr>
              <a:spLocks noChangeShapeType="1"/>
            </p:cNvSpPr>
            <p:nvPr/>
          </p:nvSpPr>
          <p:spPr bwMode="auto">
            <a:xfrm flipV="1">
              <a:off x="3074" y="782"/>
              <a:ext cx="0" cy="457"/>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52" name="Group 60"/>
          <p:cNvGrpSpPr/>
          <p:nvPr/>
        </p:nvGrpSpPr>
        <p:grpSpPr bwMode="auto">
          <a:xfrm>
            <a:off x="8650089" y="2846113"/>
            <a:ext cx="1557337" cy="561975"/>
            <a:chOff x="3781" y="1561"/>
            <a:chExt cx="981" cy="354"/>
          </a:xfrm>
        </p:grpSpPr>
        <p:sp>
          <p:nvSpPr>
            <p:cNvPr id="53" name="Line 61"/>
            <p:cNvSpPr>
              <a:spLocks noChangeShapeType="1"/>
            </p:cNvSpPr>
            <p:nvPr/>
          </p:nvSpPr>
          <p:spPr bwMode="auto">
            <a:xfrm flipH="1" flipV="1">
              <a:off x="3781" y="1561"/>
              <a:ext cx="233" cy="223"/>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4" name="Text Box 62"/>
            <p:cNvSpPr txBox="1">
              <a:spLocks noChangeArrowheads="1"/>
            </p:cNvSpPr>
            <p:nvPr/>
          </p:nvSpPr>
          <p:spPr bwMode="auto">
            <a:xfrm>
              <a:off x="3974" y="1723"/>
              <a:ext cx="7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dirty="0">
                  <a:solidFill>
                    <a:srgbClr val="CC0000"/>
                  </a:solidFill>
                  <a:latin typeface="Times New Roman" panose="02020603050405020304" pitchFamily="18" charset="0"/>
                  <a:ea typeface="黑体" panose="02010609060101010101" pitchFamily="2" charset="-122"/>
                </a:rPr>
                <a:t>最小间隙为零</a:t>
              </a:r>
              <a:endParaRPr kumimoji="1" lang="zh-CN" altLang="en-US" sz="1400" dirty="0">
                <a:solidFill>
                  <a:srgbClr val="CC0000"/>
                </a:solidFill>
                <a:latin typeface="Times New Roman" panose="02020603050405020304" pitchFamily="18" charset="0"/>
                <a:ea typeface="黑体" panose="02010609060101010101" pitchFamily="2" charset="-122"/>
              </a:endParaRPr>
            </a:p>
          </p:txBody>
        </p:sp>
      </p:grpSp>
      <p:grpSp>
        <p:nvGrpSpPr>
          <p:cNvPr id="55" name="Group 88"/>
          <p:cNvGrpSpPr/>
          <p:nvPr/>
        </p:nvGrpSpPr>
        <p:grpSpPr bwMode="auto">
          <a:xfrm>
            <a:off x="9793248" y="4351857"/>
            <a:ext cx="428625" cy="1560512"/>
            <a:chOff x="3805" y="2860"/>
            <a:chExt cx="270" cy="983"/>
          </a:xfrm>
        </p:grpSpPr>
        <p:sp>
          <p:nvSpPr>
            <p:cNvPr id="56" name="Text Box 89"/>
            <p:cNvSpPr txBox="1">
              <a:spLocks noChangeArrowheads="1"/>
            </p:cNvSpPr>
            <p:nvPr/>
          </p:nvSpPr>
          <p:spPr bwMode="auto">
            <a:xfrm rot="-5400000">
              <a:off x="3610" y="3080"/>
              <a:ext cx="6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最大间隙</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nvGrpSpPr>
            <p:cNvPr id="57" name="Group 90"/>
            <p:cNvGrpSpPr/>
            <p:nvPr/>
          </p:nvGrpSpPr>
          <p:grpSpPr bwMode="auto">
            <a:xfrm>
              <a:off x="3805" y="2993"/>
              <a:ext cx="270" cy="850"/>
              <a:chOff x="3805" y="2993"/>
              <a:chExt cx="270" cy="850"/>
            </a:xfrm>
          </p:grpSpPr>
          <p:sp>
            <p:nvSpPr>
              <p:cNvPr id="58" name="Line 91"/>
              <p:cNvSpPr>
                <a:spLocks noChangeShapeType="1"/>
              </p:cNvSpPr>
              <p:nvPr/>
            </p:nvSpPr>
            <p:spPr bwMode="auto">
              <a:xfrm flipH="1">
                <a:off x="3853" y="3517"/>
                <a:ext cx="221"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9" name="Line 92"/>
              <p:cNvSpPr>
                <a:spLocks noChangeShapeType="1"/>
              </p:cNvSpPr>
              <p:nvPr/>
            </p:nvSpPr>
            <p:spPr bwMode="auto">
              <a:xfrm flipH="1">
                <a:off x="3805" y="3577"/>
                <a:ext cx="27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0" name="Line 93"/>
              <p:cNvSpPr>
                <a:spLocks noChangeShapeType="1"/>
              </p:cNvSpPr>
              <p:nvPr/>
            </p:nvSpPr>
            <p:spPr bwMode="auto">
              <a:xfrm>
                <a:off x="4012" y="2993"/>
                <a:ext cx="0" cy="521"/>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1" name="Line 94"/>
              <p:cNvSpPr>
                <a:spLocks noChangeShapeType="1"/>
              </p:cNvSpPr>
              <p:nvPr/>
            </p:nvSpPr>
            <p:spPr bwMode="auto">
              <a:xfrm flipV="1">
                <a:off x="4013" y="3574"/>
                <a:ext cx="0" cy="269"/>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2" name="Line 95"/>
              <p:cNvSpPr>
                <a:spLocks noChangeShapeType="1"/>
              </p:cNvSpPr>
              <p:nvPr/>
            </p:nvSpPr>
            <p:spPr bwMode="auto">
              <a:xfrm>
                <a:off x="4014" y="3511"/>
                <a:ext cx="0" cy="72"/>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grpSp>
        <p:nvGrpSpPr>
          <p:cNvPr id="63" name="Group 96"/>
          <p:cNvGrpSpPr/>
          <p:nvPr/>
        </p:nvGrpSpPr>
        <p:grpSpPr bwMode="auto">
          <a:xfrm>
            <a:off x="9783723" y="4378844"/>
            <a:ext cx="701675" cy="1628775"/>
            <a:chOff x="3799" y="2877"/>
            <a:chExt cx="442" cy="1026"/>
          </a:xfrm>
        </p:grpSpPr>
        <p:sp>
          <p:nvSpPr>
            <p:cNvPr id="64" name="Text Box 97"/>
            <p:cNvSpPr txBox="1">
              <a:spLocks noChangeArrowheads="1"/>
            </p:cNvSpPr>
            <p:nvPr/>
          </p:nvSpPr>
          <p:spPr bwMode="auto">
            <a:xfrm rot="-5400000">
              <a:off x="3814" y="3063"/>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最大过盈</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nvGrpSpPr>
            <p:cNvPr id="65" name="Group 98"/>
            <p:cNvGrpSpPr/>
            <p:nvPr/>
          </p:nvGrpSpPr>
          <p:grpSpPr bwMode="auto">
            <a:xfrm>
              <a:off x="3799" y="2929"/>
              <a:ext cx="442" cy="974"/>
              <a:chOff x="3799" y="2929"/>
              <a:chExt cx="442" cy="974"/>
            </a:xfrm>
          </p:grpSpPr>
          <p:sp>
            <p:nvSpPr>
              <p:cNvPr id="66" name="Line 99"/>
              <p:cNvSpPr>
                <a:spLocks noChangeShapeType="1"/>
              </p:cNvSpPr>
              <p:nvPr/>
            </p:nvSpPr>
            <p:spPr bwMode="auto">
              <a:xfrm flipH="1">
                <a:off x="3799" y="3450"/>
                <a:ext cx="442" cy="1"/>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7" name="Line 100"/>
              <p:cNvSpPr>
                <a:spLocks noChangeShapeType="1"/>
              </p:cNvSpPr>
              <p:nvPr/>
            </p:nvSpPr>
            <p:spPr bwMode="auto">
              <a:xfrm flipH="1" flipV="1">
                <a:off x="3865" y="3715"/>
                <a:ext cx="376" cy="1"/>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8" name="Line 101"/>
              <p:cNvSpPr>
                <a:spLocks noChangeShapeType="1"/>
              </p:cNvSpPr>
              <p:nvPr/>
            </p:nvSpPr>
            <p:spPr bwMode="auto">
              <a:xfrm>
                <a:off x="4176" y="2929"/>
                <a:ext cx="0" cy="521"/>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69" name="Line 102"/>
              <p:cNvSpPr>
                <a:spLocks noChangeShapeType="1"/>
              </p:cNvSpPr>
              <p:nvPr/>
            </p:nvSpPr>
            <p:spPr bwMode="auto">
              <a:xfrm flipV="1">
                <a:off x="4181" y="3712"/>
                <a:ext cx="0" cy="191"/>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70" name="Line 103"/>
              <p:cNvSpPr>
                <a:spLocks noChangeShapeType="1"/>
              </p:cNvSpPr>
              <p:nvPr/>
            </p:nvSpPr>
            <p:spPr bwMode="auto">
              <a:xfrm>
                <a:off x="4179" y="3451"/>
                <a:ext cx="0" cy="264"/>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sp>
        <p:nvSpPr>
          <p:cNvPr id="71" name="AutoShape 104"/>
          <p:cNvSpPr>
            <a:spLocks noChangeArrowheads="1"/>
          </p:cNvSpPr>
          <p:nvPr/>
        </p:nvSpPr>
        <p:spPr bwMode="auto">
          <a:xfrm>
            <a:off x="8905362" y="1776139"/>
            <a:ext cx="1927225" cy="647701"/>
          </a:xfrm>
          <a:prstGeom prst="wedgeRoundRectCallout">
            <a:avLst>
              <a:gd name="adj1" fmla="val -60885"/>
              <a:gd name="adj2" fmla="val 98411"/>
              <a:gd name="adj3" fmla="val 16667"/>
            </a:avLst>
          </a:prstGeom>
          <a:solidFill>
            <a:schemeClr val="accent5">
              <a:lumMod val="40000"/>
              <a:lumOff val="60000"/>
            </a:schemeClr>
          </a:solidFill>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180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2" charset="-122"/>
              </a:rPr>
              <a:t>孔的公差带在</a:t>
            </a:r>
            <a:endParaRPr kumimoji="1" lang="zh-CN" altLang="en-US" sz="180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180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2" charset="-122"/>
              </a:rPr>
              <a:t>轴的公差带之上</a:t>
            </a:r>
            <a:endParaRPr kumimoji="1" lang="zh-CN" altLang="en-US" sz="180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2" charset="-122"/>
            </a:endParaRPr>
          </a:p>
        </p:txBody>
      </p:sp>
      <p:sp>
        <p:nvSpPr>
          <p:cNvPr id="72" name="AutoShape 106"/>
          <p:cNvSpPr>
            <a:spLocks noChangeArrowheads="1"/>
          </p:cNvSpPr>
          <p:nvPr/>
        </p:nvSpPr>
        <p:spPr bwMode="auto">
          <a:xfrm>
            <a:off x="7604086" y="3881957"/>
            <a:ext cx="2112962" cy="811212"/>
          </a:xfrm>
          <a:prstGeom prst="wedgeRoundRectCallout">
            <a:avLst>
              <a:gd name="adj1" fmla="val -41898"/>
              <a:gd name="adj2" fmla="val 134435"/>
              <a:gd name="adj3" fmla="val 16667"/>
            </a:avLst>
          </a:prstGeom>
          <a:solidFill>
            <a:schemeClr val="accent5">
              <a:lumMod val="40000"/>
              <a:lumOff val="60000"/>
            </a:schemeClr>
          </a:solidFill>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rPr>
              <a:t>孔的公差带与</a:t>
            </a:r>
            <a:endPar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rPr>
              <a:t>轴的公差带相互交叠</a:t>
            </a:r>
            <a:endPar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endParaRPr>
          </a:p>
        </p:txBody>
      </p:sp>
      <p:sp>
        <p:nvSpPr>
          <p:cNvPr id="73" name="Text Box 18"/>
          <p:cNvSpPr txBox="1">
            <a:spLocks noChangeArrowheads="1"/>
          </p:cNvSpPr>
          <p:nvPr/>
        </p:nvSpPr>
        <p:spPr bwMode="auto">
          <a:xfrm>
            <a:off x="2495600" y="1120875"/>
            <a:ext cx="7263527" cy="4766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基本尺寸相同、相互结合的孔与轴公差带之间的关系</a:t>
            </a:r>
            <a:endParaRPr kumimoji="1" lang="zh-CN" altLang="en-US" sz="2400" dirty="0">
              <a:solidFill>
                <a:srgbClr val="000000"/>
              </a:solidFill>
              <a:latin typeface="黑体" panose="02010609060101010101" pitchFamily="2" charset="-122"/>
              <a:ea typeface="黑体" panose="02010609060101010101" pitchFamily="2" charset="-122"/>
            </a:endParaRPr>
          </a:p>
        </p:txBody>
      </p:sp>
      <p:grpSp>
        <p:nvGrpSpPr>
          <p:cNvPr id="74" name="Group 17"/>
          <p:cNvGrpSpPr/>
          <p:nvPr/>
        </p:nvGrpSpPr>
        <p:grpSpPr bwMode="auto">
          <a:xfrm>
            <a:off x="1969636" y="4652756"/>
            <a:ext cx="3948112" cy="1384300"/>
            <a:chOff x="2014" y="2181"/>
            <a:chExt cx="2487" cy="872"/>
          </a:xfrm>
        </p:grpSpPr>
        <p:sp>
          <p:nvSpPr>
            <p:cNvPr id="75" name="Rectangle 18"/>
            <p:cNvSpPr>
              <a:spLocks noChangeArrowheads="1"/>
            </p:cNvSpPr>
            <p:nvPr/>
          </p:nvSpPr>
          <p:spPr bwMode="auto">
            <a:xfrm>
              <a:off x="2098" y="2861"/>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孔公差带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76" name="Rectangle 19"/>
            <p:cNvSpPr>
              <a:spLocks noChangeArrowheads="1"/>
            </p:cNvSpPr>
            <p:nvPr/>
          </p:nvSpPr>
          <p:spPr bwMode="auto">
            <a:xfrm>
              <a:off x="2084" y="2271"/>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77" name="Line 20"/>
            <p:cNvSpPr>
              <a:spLocks noChangeShapeType="1"/>
            </p:cNvSpPr>
            <p:nvPr/>
          </p:nvSpPr>
          <p:spPr bwMode="auto">
            <a:xfrm>
              <a:off x="2014" y="2879"/>
              <a:ext cx="2153"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8" name="Rectangle 21" descr="深色下对角线"/>
            <p:cNvSpPr>
              <a:spLocks noChangeArrowheads="1"/>
            </p:cNvSpPr>
            <p:nvPr/>
          </p:nvSpPr>
          <p:spPr bwMode="auto">
            <a:xfrm>
              <a:off x="2137" y="2471"/>
              <a:ext cx="533" cy="19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79" name="Rectangle 22" descr="深色下对角线"/>
            <p:cNvSpPr>
              <a:spLocks noChangeArrowheads="1"/>
            </p:cNvSpPr>
            <p:nvPr/>
          </p:nvSpPr>
          <p:spPr bwMode="auto">
            <a:xfrm>
              <a:off x="3288" y="2379"/>
              <a:ext cx="532" cy="199"/>
            </a:xfrm>
            <a:prstGeom prst="rect">
              <a:avLst/>
            </a:prstGeom>
            <a:pattFill prst="dkDnDiag">
              <a:fgClr>
                <a:srgbClr val="333399"/>
              </a:fgClr>
              <a:bgClr>
                <a:srgbClr val="FFFFFF"/>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80" name="Rectangle 23" descr="深色上对角线"/>
            <p:cNvSpPr>
              <a:spLocks noChangeArrowheads="1"/>
            </p:cNvSpPr>
            <p:nvPr/>
          </p:nvSpPr>
          <p:spPr bwMode="auto">
            <a:xfrm>
              <a:off x="2137" y="2676"/>
              <a:ext cx="533" cy="199"/>
            </a:xfrm>
            <a:prstGeom prst="rect">
              <a:avLst/>
            </a:prstGeom>
            <a:pattFill prst="dkUpDiag">
              <a:fgClr>
                <a:srgbClr val="808080"/>
              </a:fgClr>
              <a:bgClr>
                <a:srgbClr val="FFFFFF"/>
              </a:bgClr>
            </a:pattFill>
            <a:ln w="19050">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81" name="Rectangle 24" descr="深色上对角线"/>
            <p:cNvSpPr>
              <a:spLocks noChangeArrowheads="1"/>
            </p:cNvSpPr>
            <p:nvPr/>
          </p:nvSpPr>
          <p:spPr bwMode="auto">
            <a:xfrm>
              <a:off x="3287" y="2679"/>
              <a:ext cx="532" cy="199"/>
            </a:xfrm>
            <a:prstGeom prst="rect">
              <a:avLst/>
            </a:prstGeom>
            <a:pattFill prst="dkUpDiag">
              <a:fgClr>
                <a:srgbClr val="808080"/>
              </a:fgClr>
              <a:bgClr>
                <a:srgbClr val="FFFFFF"/>
              </a:bgClr>
            </a:pattFill>
            <a:ln w="19050">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000" i="0" u="none" strike="noStrike" kern="0" cap="none" spc="0" normalizeH="0" baseline="0" noProof="0">
                <a:ln>
                  <a:noFill/>
                </a:ln>
                <a:solidFill>
                  <a:srgbClr val="FF0000"/>
                </a:solidFill>
                <a:effectLst/>
                <a:uLnTx/>
                <a:uFillTx/>
                <a:latin typeface="黑体" panose="02010609060101010101" pitchFamily="2" charset="-122"/>
                <a:ea typeface="黑体" panose="02010609060101010101" pitchFamily="2" charset="-122"/>
              </a:endParaRPr>
            </a:p>
          </p:txBody>
        </p:sp>
        <p:sp>
          <p:nvSpPr>
            <p:cNvPr id="82" name="Text Box 25"/>
            <p:cNvSpPr txBox="1">
              <a:spLocks noChangeArrowheads="1"/>
            </p:cNvSpPr>
            <p:nvPr/>
          </p:nvSpPr>
          <p:spPr bwMode="auto">
            <a:xfrm>
              <a:off x="4106" y="2778"/>
              <a:ext cx="39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6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零线</a:t>
              </a:r>
              <a:endParaRPr kumimoji="1" lang="zh-CN" altLang="en-US" sz="1600"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83" name="Rectangle 26"/>
            <p:cNvSpPr>
              <a:spLocks noChangeArrowheads="1"/>
            </p:cNvSpPr>
            <p:nvPr/>
          </p:nvSpPr>
          <p:spPr bwMode="auto">
            <a:xfrm>
              <a:off x="3241" y="2861"/>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孔公差带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84" name="Rectangle 27"/>
            <p:cNvSpPr>
              <a:spLocks noChangeArrowheads="1"/>
            </p:cNvSpPr>
            <p:nvPr/>
          </p:nvSpPr>
          <p:spPr bwMode="auto">
            <a:xfrm>
              <a:off x="3227" y="2181"/>
              <a:ext cx="9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轴公差带</a:t>
              </a:r>
              <a:endParaRPr kumimoji="1" lang="zh-CN" altLang="en-US" sz="1400"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grpSp>
      <p:grpSp>
        <p:nvGrpSpPr>
          <p:cNvPr id="85" name="Group 63"/>
          <p:cNvGrpSpPr/>
          <p:nvPr/>
        </p:nvGrpSpPr>
        <p:grpSpPr bwMode="auto">
          <a:xfrm>
            <a:off x="3004686" y="4306681"/>
            <a:ext cx="342900" cy="1449388"/>
            <a:chOff x="2666" y="1965"/>
            <a:chExt cx="216" cy="913"/>
          </a:xfrm>
        </p:grpSpPr>
        <p:grpSp>
          <p:nvGrpSpPr>
            <p:cNvPr id="86" name="Group 64"/>
            <p:cNvGrpSpPr/>
            <p:nvPr/>
          </p:nvGrpSpPr>
          <p:grpSpPr bwMode="auto">
            <a:xfrm flipH="1">
              <a:off x="2666" y="2469"/>
              <a:ext cx="216" cy="409"/>
              <a:chOff x="1774" y="1341"/>
              <a:chExt cx="353" cy="511"/>
            </a:xfrm>
          </p:grpSpPr>
          <p:sp>
            <p:nvSpPr>
              <p:cNvPr id="89" name="Line 65"/>
              <p:cNvSpPr>
                <a:spLocks noChangeShapeType="1"/>
              </p:cNvSpPr>
              <p:nvPr/>
            </p:nvSpPr>
            <p:spPr bwMode="auto">
              <a:xfrm flipH="1">
                <a:off x="1774" y="1347"/>
                <a:ext cx="353"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90" name="Line 66"/>
              <p:cNvSpPr>
                <a:spLocks noChangeShapeType="1"/>
              </p:cNvSpPr>
              <p:nvPr/>
            </p:nvSpPr>
            <p:spPr bwMode="auto">
              <a:xfrm flipH="1">
                <a:off x="1777" y="1852"/>
                <a:ext cx="35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91" name="Line 67"/>
              <p:cNvSpPr>
                <a:spLocks noChangeShapeType="1"/>
              </p:cNvSpPr>
              <p:nvPr/>
            </p:nvSpPr>
            <p:spPr bwMode="auto">
              <a:xfrm>
                <a:off x="1824" y="1341"/>
                <a:ext cx="0" cy="511"/>
              </a:xfrm>
              <a:prstGeom prst="line">
                <a:avLst/>
              </a:prstGeom>
              <a:noFill/>
              <a:ln w="952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87" name="Line 68"/>
            <p:cNvSpPr>
              <a:spLocks noChangeShapeType="1"/>
            </p:cNvSpPr>
            <p:nvPr/>
          </p:nvSpPr>
          <p:spPr bwMode="auto">
            <a:xfrm flipV="1">
              <a:off x="2857" y="2022"/>
              <a:ext cx="0" cy="45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88" name="Text Box 69"/>
            <p:cNvSpPr txBox="1">
              <a:spLocks noChangeArrowheads="1"/>
            </p:cNvSpPr>
            <p:nvPr/>
          </p:nvSpPr>
          <p:spPr bwMode="auto">
            <a:xfrm rot="-5400000">
              <a:off x="2499" y="2151"/>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dirty="0">
                  <a:solidFill>
                    <a:srgbClr val="CC0000"/>
                  </a:solidFill>
                  <a:latin typeface="Times New Roman" panose="02020603050405020304" pitchFamily="18" charset="0"/>
                  <a:ea typeface="黑体" panose="02010609060101010101" pitchFamily="2" charset="-122"/>
                </a:rPr>
                <a:t>最大过盈</a:t>
              </a:r>
              <a:endParaRPr kumimoji="1" lang="zh-CN" altLang="en-US" sz="1400" dirty="0">
                <a:solidFill>
                  <a:srgbClr val="CC0000"/>
                </a:solidFill>
                <a:latin typeface="Times New Roman" panose="02020603050405020304" pitchFamily="18" charset="0"/>
                <a:ea typeface="黑体" panose="02010609060101010101" pitchFamily="2" charset="-122"/>
              </a:endParaRPr>
            </a:p>
          </p:txBody>
        </p:sp>
      </p:grpSp>
      <p:grpSp>
        <p:nvGrpSpPr>
          <p:cNvPr id="92" name="Group 70"/>
          <p:cNvGrpSpPr/>
          <p:nvPr/>
        </p:nvGrpSpPr>
        <p:grpSpPr bwMode="auto">
          <a:xfrm>
            <a:off x="1617211" y="3814556"/>
            <a:ext cx="536575" cy="1627188"/>
            <a:chOff x="1792" y="1590"/>
            <a:chExt cx="338" cy="1025"/>
          </a:xfrm>
        </p:grpSpPr>
        <p:sp>
          <p:nvSpPr>
            <p:cNvPr id="93" name="Line 71"/>
            <p:cNvSpPr>
              <a:spLocks noChangeShapeType="1"/>
            </p:cNvSpPr>
            <p:nvPr/>
          </p:nvSpPr>
          <p:spPr bwMode="auto">
            <a:xfrm>
              <a:off x="1899" y="2438"/>
              <a:ext cx="231" cy="177"/>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94" name="Text Box 72"/>
            <p:cNvSpPr txBox="1">
              <a:spLocks noChangeArrowheads="1"/>
            </p:cNvSpPr>
            <p:nvPr/>
          </p:nvSpPr>
          <p:spPr bwMode="auto">
            <a:xfrm>
              <a:off x="1792" y="1590"/>
              <a:ext cx="242"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最小过盈为零</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grpSp>
        <p:nvGrpSpPr>
          <p:cNvPr id="95" name="Group 73"/>
          <p:cNvGrpSpPr/>
          <p:nvPr/>
        </p:nvGrpSpPr>
        <p:grpSpPr bwMode="auto">
          <a:xfrm>
            <a:off x="3436486" y="4151106"/>
            <a:ext cx="565150" cy="1608138"/>
            <a:chOff x="2938" y="1865"/>
            <a:chExt cx="356" cy="1013"/>
          </a:xfrm>
        </p:grpSpPr>
        <p:grpSp>
          <p:nvGrpSpPr>
            <p:cNvPr id="96" name="Group 74"/>
            <p:cNvGrpSpPr/>
            <p:nvPr/>
          </p:nvGrpSpPr>
          <p:grpSpPr bwMode="auto">
            <a:xfrm>
              <a:off x="3078" y="2373"/>
              <a:ext cx="216" cy="505"/>
              <a:chOff x="1774" y="1341"/>
              <a:chExt cx="353" cy="511"/>
            </a:xfrm>
          </p:grpSpPr>
          <p:sp>
            <p:nvSpPr>
              <p:cNvPr id="99" name="Line 75"/>
              <p:cNvSpPr>
                <a:spLocks noChangeShapeType="1"/>
              </p:cNvSpPr>
              <p:nvPr/>
            </p:nvSpPr>
            <p:spPr bwMode="auto">
              <a:xfrm flipH="1">
                <a:off x="1774" y="1347"/>
                <a:ext cx="353"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00" name="Line 76"/>
              <p:cNvSpPr>
                <a:spLocks noChangeShapeType="1"/>
              </p:cNvSpPr>
              <p:nvPr/>
            </p:nvSpPr>
            <p:spPr bwMode="auto">
              <a:xfrm flipH="1">
                <a:off x="1777" y="1852"/>
                <a:ext cx="35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01" name="Line 77"/>
              <p:cNvSpPr>
                <a:spLocks noChangeShapeType="1"/>
              </p:cNvSpPr>
              <p:nvPr/>
            </p:nvSpPr>
            <p:spPr bwMode="auto">
              <a:xfrm>
                <a:off x="1824" y="1341"/>
                <a:ext cx="0" cy="511"/>
              </a:xfrm>
              <a:prstGeom prst="line">
                <a:avLst/>
              </a:prstGeom>
              <a:noFill/>
              <a:ln w="9525">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97" name="Line 78"/>
            <p:cNvSpPr>
              <a:spLocks noChangeShapeType="1"/>
            </p:cNvSpPr>
            <p:nvPr/>
          </p:nvSpPr>
          <p:spPr bwMode="auto">
            <a:xfrm flipV="1">
              <a:off x="3112" y="1910"/>
              <a:ext cx="0" cy="466"/>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98" name="Text Box 79"/>
            <p:cNvSpPr txBox="1">
              <a:spLocks noChangeArrowheads="1"/>
            </p:cNvSpPr>
            <p:nvPr/>
          </p:nvSpPr>
          <p:spPr bwMode="auto">
            <a:xfrm rot="-5400000">
              <a:off x="2752" y="2051"/>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最大过盈</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grpSp>
        <p:nvGrpSpPr>
          <p:cNvPr id="102" name="Group 80"/>
          <p:cNvGrpSpPr/>
          <p:nvPr/>
        </p:nvGrpSpPr>
        <p:grpSpPr bwMode="auto">
          <a:xfrm>
            <a:off x="4800148" y="4316206"/>
            <a:ext cx="431800" cy="1444625"/>
            <a:chOff x="3797" y="1969"/>
            <a:chExt cx="272" cy="910"/>
          </a:xfrm>
        </p:grpSpPr>
        <p:sp>
          <p:nvSpPr>
            <p:cNvPr id="103" name="Text Box 81"/>
            <p:cNvSpPr txBox="1">
              <a:spLocks noChangeArrowheads="1"/>
            </p:cNvSpPr>
            <p:nvPr/>
          </p:nvSpPr>
          <p:spPr bwMode="auto">
            <a:xfrm rot="-5400000">
              <a:off x="3646" y="2155"/>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1400">
                  <a:solidFill>
                    <a:srgbClr val="CC0000"/>
                  </a:solidFill>
                  <a:latin typeface="Times New Roman" panose="02020603050405020304" pitchFamily="18" charset="0"/>
                  <a:ea typeface="黑体" panose="02010609060101010101" pitchFamily="2" charset="-122"/>
                </a:rPr>
                <a:t>最小过盈</a:t>
              </a:r>
              <a:endParaRPr kumimoji="1" lang="zh-CN" altLang="en-US" sz="1400">
                <a:solidFill>
                  <a:srgbClr val="CC0000"/>
                </a:solidFill>
                <a:latin typeface="Times New Roman" panose="02020603050405020304" pitchFamily="18" charset="0"/>
                <a:ea typeface="黑体" panose="02010609060101010101" pitchFamily="2" charset="-122"/>
              </a:endParaRPr>
            </a:p>
          </p:txBody>
        </p:sp>
        <p:grpSp>
          <p:nvGrpSpPr>
            <p:cNvPr id="104" name="Group 82"/>
            <p:cNvGrpSpPr/>
            <p:nvPr/>
          </p:nvGrpSpPr>
          <p:grpSpPr bwMode="auto">
            <a:xfrm>
              <a:off x="3797" y="2030"/>
              <a:ext cx="272" cy="849"/>
              <a:chOff x="3797" y="2030"/>
              <a:chExt cx="272" cy="849"/>
            </a:xfrm>
          </p:grpSpPr>
          <p:sp>
            <p:nvSpPr>
              <p:cNvPr id="105" name="Line 83"/>
              <p:cNvSpPr>
                <a:spLocks noChangeShapeType="1"/>
              </p:cNvSpPr>
              <p:nvPr/>
            </p:nvSpPr>
            <p:spPr bwMode="auto">
              <a:xfrm flipH="1">
                <a:off x="3800" y="2573"/>
                <a:ext cx="269"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06" name="Line 84"/>
              <p:cNvSpPr>
                <a:spLocks noChangeShapeType="1"/>
              </p:cNvSpPr>
              <p:nvPr/>
            </p:nvSpPr>
            <p:spPr bwMode="auto">
              <a:xfrm flipH="1">
                <a:off x="3797" y="2678"/>
                <a:ext cx="27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07" name="Line 85"/>
              <p:cNvSpPr>
                <a:spLocks noChangeShapeType="1"/>
              </p:cNvSpPr>
              <p:nvPr/>
            </p:nvSpPr>
            <p:spPr bwMode="auto">
              <a:xfrm>
                <a:off x="4004" y="2030"/>
                <a:ext cx="0" cy="540"/>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08" name="Line 86"/>
              <p:cNvSpPr>
                <a:spLocks noChangeShapeType="1"/>
              </p:cNvSpPr>
              <p:nvPr/>
            </p:nvSpPr>
            <p:spPr bwMode="auto">
              <a:xfrm flipV="1">
                <a:off x="4005" y="2674"/>
                <a:ext cx="0" cy="205"/>
              </a:xfrm>
              <a:prstGeom prst="line">
                <a:avLst/>
              </a:prstGeom>
              <a:noFill/>
              <a:ln w="95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109" name="Line 87"/>
              <p:cNvSpPr>
                <a:spLocks noChangeShapeType="1"/>
              </p:cNvSpPr>
              <p:nvPr/>
            </p:nvSpPr>
            <p:spPr bwMode="auto">
              <a:xfrm>
                <a:off x="4009" y="2572"/>
                <a:ext cx="0" cy="11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sp>
        <p:nvSpPr>
          <p:cNvPr id="110" name="AutoShape 105"/>
          <p:cNvSpPr>
            <a:spLocks noChangeArrowheads="1"/>
          </p:cNvSpPr>
          <p:nvPr/>
        </p:nvSpPr>
        <p:spPr bwMode="auto">
          <a:xfrm>
            <a:off x="1964873" y="3504681"/>
            <a:ext cx="1657350" cy="717863"/>
          </a:xfrm>
          <a:prstGeom prst="wedgeRoundRectCallout">
            <a:avLst>
              <a:gd name="adj1" fmla="val -8588"/>
              <a:gd name="adj2" fmla="val 124167"/>
              <a:gd name="adj3" fmla="val 16667"/>
            </a:avLst>
          </a:prstGeom>
          <a:solidFill>
            <a:schemeClr val="accent5">
              <a:lumMod val="40000"/>
              <a:lumOff val="60000"/>
            </a:schemeClr>
          </a:solidFill>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rPr>
              <a:t>轴的公差带在</a:t>
            </a:r>
            <a:endPar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rPr>
              <a:t>孔的公差带之上</a:t>
            </a:r>
            <a:endPar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endParaRPr>
          </a:p>
        </p:txBody>
      </p:sp>
      <p:sp>
        <p:nvSpPr>
          <p:cNvPr id="111" name="Text Box 4"/>
          <p:cNvSpPr txBox="1">
            <a:spLocks noChangeArrowheads="1"/>
          </p:cNvSpPr>
          <p:nvPr/>
        </p:nvSpPr>
        <p:spPr bwMode="auto">
          <a:xfrm>
            <a:off x="306971" y="1245139"/>
            <a:ext cx="13644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配合</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down)">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28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strVal val="4/3*#ppt_w"/>
                                          </p:val>
                                        </p:tav>
                                        <p:tav tm="100000">
                                          <p:val>
                                            <p:strVal val="#ppt_w"/>
                                          </p:val>
                                        </p:tav>
                                      </p:tavLst>
                                    </p:anim>
                                    <p:anim calcmode="lin" valueType="num">
                                      <p:cBhvr>
                                        <p:cTn id="28" dur="500" fill="hold"/>
                                        <p:tgtEl>
                                          <p:spTgt spid="4"/>
                                        </p:tgtEl>
                                        <p:attrNameLst>
                                          <p:attrName>ppt_h</p:attrName>
                                        </p:attrNameLst>
                                      </p:cBhvr>
                                      <p:tavLst>
                                        <p:tav tm="0">
                                          <p:val>
                                            <p:strVal val="4/3*#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down)">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wipe(down)">
                                      <p:cBhvr>
                                        <p:cTn id="38" dur="500"/>
                                        <p:tgtEl>
                                          <p:spTgt spid="3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down)">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wipe(up)">
                                      <p:cBhvr>
                                        <p:cTn id="48" dur="500"/>
                                        <p:tgtEl>
                                          <p:spTgt spid="5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wipe(left)">
                                      <p:cBhvr>
                                        <p:cTn id="53" dur="500"/>
                                        <p:tgtEl>
                                          <p:spTgt spid="7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10"/>
                                        </p:tgtEl>
                                        <p:attrNameLst>
                                          <p:attrName>style.visibility</p:attrName>
                                        </p:attrNameLst>
                                      </p:cBhvr>
                                      <p:to>
                                        <p:strVal val="visible"/>
                                      </p:to>
                                    </p:set>
                                    <p:animEffect transition="in" filter="wipe(down)">
                                      <p:cBhvr>
                                        <p:cTn id="58" dur="500"/>
                                        <p:tgtEl>
                                          <p:spTgt spid="110"/>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288"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500" fill="hold"/>
                                        <p:tgtEl>
                                          <p:spTgt spid="5"/>
                                        </p:tgtEl>
                                        <p:attrNameLst>
                                          <p:attrName>ppt_w</p:attrName>
                                        </p:attrNameLst>
                                      </p:cBhvr>
                                      <p:tavLst>
                                        <p:tav tm="0">
                                          <p:val>
                                            <p:strVal val="4/3*#ppt_w"/>
                                          </p:val>
                                        </p:tav>
                                        <p:tav tm="100000">
                                          <p:val>
                                            <p:strVal val="#ppt_w"/>
                                          </p:val>
                                        </p:tav>
                                      </p:tavLst>
                                    </p:anim>
                                    <p:anim calcmode="lin" valueType="num">
                                      <p:cBhvr>
                                        <p:cTn id="64" dur="500" fill="hold"/>
                                        <p:tgtEl>
                                          <p:spTgt spid="5"/>
                                        </p:tgtEl>
                                        <p:attrNameLst>
                                          <p:attrName>ppt_h</p:attrName>
                                        </p:attrNameLst>
                                      </p:cBhvr>
                                      <p:tavLst>
                                        <p:tav tm="0">
                                          <p:val>
                                            <p:strVal val="4/3*#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85"/>
                                        </p:tgtEl>
                                        <p:attrNameLst>
                                          <p:attrName>style.visibility</p:attrName>
                                        </p:attrNameLst>
                                      </p:cBhvr>
                                      <p:to>
                                        <p:strVal val="visible"/>
                                      </p:to>
                                    </p:set>
                                    <p:animEffect transition="in" filter="wipe(down)">
                                      <p:cBhvr>
                                        <p:cTn id="69" dur="500"/>
                                        <p:tgtEl>
                                          <p:spTgt spid="8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92"/>
                                        </p:tgtEl>
                                        <p:attrNameLst>
                                          <p:attrName>style.visibility</p:attrName>
                                        </p:attrNameLst>
                                      </p:cBhvr>
                                      <p:to>
                                        <p:strVal val="visible"/>
                                      </p:to>
                                    </p:set>
                                    <p:animEffect transition="in" filter="wipe(down)">
                                      <p:cBhvr>
                                        <p:cTn id="74" dur="500"/>
                                        <p:tgtEl>
                                          <p:spTgt spid="9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95"/>
                                        </p:tgtEl>
                                        <p:attrNameLst>
                                          <p:attrName>style.visibility</p:attrName>
                                        </p:attrNameLst>
                                      </p:cBhvr>
                                      <p:to>
                                        <p:strVal val="visible"/>
                                      </p:to>
                                    </p:set>
                                    <p:animEffect transition="in" filter="wipe(down)">
                                      <p:cBhvr>
                                        <p:cTn id="79" dur="500"/>
                                        <p:tgtEl>
                                          <p:spTgt spid="9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02"/>
                                        </p:tgtEl>
                                        <p:attrNameLst>
                                          <p:attrName>style.visibility</p:attrName>
                                        </p:attrNameLst>
                                      </p:cBhvr>
                                      <p:to>
                                        <p:strVal val="visible"/>
                                      </p:to>
                                    </p:set>
                                    <p:animEffect transition="in" filter="wipe(down)">
                                      <p:cBhvr>
                                        <p:cTn id="84" dur="500"/>
                                        <p:tgtEl>
                                          <p:spTgt spid="102"/>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wipe(left)">
                                      <p:cBhvr>
                                        <p:cTn id="89" dur="500"/>
                                        <p:tgtEl>
                                          <p:spTgt spid="1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wipe(down)">
                                      <p:cBhvr>
                                        <p:cTn id="94" dur="500"/>
                                        <p:tgtEl>
                                          <p:spTgt spid="72"/>
                                        </p:tgtEl>
                                      </p:cBhvr>
                                    </p:animEffect>
                                  </p:childTnLst>
                                </p:cTn>
                              </p:par>
                            </p:childTnLst>
                          </p:cTn>
                        </p:par>
                      </p:childTnLst>
                    </p:cTn>
                  </p:par>
                  <p:par>
                    <p:cTn id="95" fill="hold">
                      <p:stCondLst>
                        <p:cond delay="indefinite"/>
                      </p:stCondLst>
                      <p:childTnLst>
                        <p:par>
                          <p:cTn id="96" fill="hold">
                            <p:stCondLst>
                              <p:cond delay="0"/>
                            </p:stCondLst>
                            <p:childTnLst>
                              <p:par>
                                <p:cTn id="97" presetID="23" presetClass="entr" presetSubtype="288" fill="hold" grpId="0" nodeType="clickEffect">
                                  <p:stCondLst>
                                    <p:cond delay="0"/>
                                  </p:stCondLst>
                                  <p:childTnLst>
                                    <p:set>
                                      <p:cBhvr>
                                        <p:cTn id="98" dur="1" fill="hold">
                                          <p:stCondLst>
                                            <p:cond delay="0"/>
                                          </p:stCondLst>
                                        </p:cTn>
                                        <p:tgtEl>
                                          <p:spTgt spid="6"/>
                                        </p:tgtEl>
                                        <p:attrNameLst>
                                          <p:attrName>style.visibility</p:attrName>
                                        </p:attrNameLst>
                                      </p:cBhvr>
                                      <p:to>
                                        <p:strVal val="visible"/>
                                      </p:to>
                                    </p:set>
                                    <p:anim calcmode="lin" valueType="num">
                                      <p:cBhvr>
                                        <p:cTn id="99" dur="500" fill="hold"/>
                                        <p:tgtEl>
                                          <p:spTgt spid="6"/>
                                        </p:tgtEl>
                                        <p:attrNameLst>
                                          <p:attrName>ppt_w</p:attrName>
                                        </p:attrNameLst>
                                      </p:cBhvr>
                                      <p:tavLst>
                                        <p:tav tm="0">
                                          <p:val>
                                            <p:strVal val="4/3*#ppt_w"/>
                                          </p:val>
                                        </p:tav>
                                        <p:tav tm="100000">
                                          <p:val>
                                            <p:strVal val="#ppt_w"/>
                                          </p:val>
                                        </p:tav>
                                      </p:tavLst>
                                    </p:anim>
                                    <p:anim calcmode="lin" valueType="num">
                                      <p:cBhvr>
                                        <p:cTn id="100" dur="500" fill="hold"/>
                                        <p:tgtEl>
                                          <p:spTgt spid="6"/>
                                        </p:tgtEl>
                                        <p:attrNameLst>
                                          <p:attrName>ppt_h</p:attrName>
                                        </p:attrNameLst>
                                      </p:cBhvr>
                                      <p:tavLst>
                                        <p:tav tm="0">
                                          <p:val>
                                            <p:strVal val="4/3*#ppt_h"/>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55"/>
                                        </p:tgtEl>
                                        <p:attrNameLst>
                                          <p:attrName>style.visibility</p:attrName>
                                        </p:attrNameLst>
                                      </p:cBhvr>
                                      <p:to>
                                        <p:strVal val="visible"/>
                                      </p:to>
                                    </p:set>
                                    <p:animEffect transition="in" filter="wipe(down)">
                                      <p:cBhvr>
                                        <p:cTn id="105" dur="500"/>
                                        <p:tgtEl>
                                          <p:spTgt spid="5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wipe(down)">
                                      <p:cBhvr>
                                        <p:cTn id="1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utoUpdateAnimBg="0"/>
      <p:bldP spid="5" grpId="0" autoUpdateAnimBg="0"/>
      <p:bldP spid="6" grpId="0" autoUpdateAnimBg="0"/>
      <p:bldP spid="71" grpId="0" animBg="1"/>
      <p:bldP spid="72" grpId="0" animBg="1"/>
      <p:bldP spid="73" grpId="0" autoUpdateAnimBg="0"/>
      <p:bldP spid="1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Rectangle 2"/>
          <p:cNvSpPr>
            <a:spLocks noChangeArrowheads="1"/>
          </p:cNvSpPr>
          <p:nvPr/>
        </p:nvSpPr>
        <p:spPr bwMode="auto">
          <a:xfrm>
            <a:off x="4511824" y="3645024"/>
            <a:ext cx="844550" cy="495300"/>
          </a:xfrm>
          <a:prstGeom prst="rect">
            <a:avLst/>
          </a:prstGeom>
          <a:pattFill prst="wdUpDiag">
            <a:fgClr>
              <a:srgbClr val="808080">
                <a:alpha val="56078"/>
              </a:srgbClr>
            </a:fgClr>
            <a:bgClr>
              <a:srgbClr val="FFFFFF">
                <a:alpha val="56078"/>
              </a:srgbClr>
            </a:bgClr>
          </a:pattFill>
          <a:ln w="19050">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孔</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 name="Rectangle 3"/>
          <p:cNvSpPr>
            <a:spLocks noChangeArrowheads="1"/>
          </p:cNvSpPr>
          <p:nvPr/>
        </p:nvSpPr>
        <p:spPr bwMode="auto">
          <a:xfrm>
            <a:off x="5523061" y="4286374"/>
            <a:ext cx="844550" cy="487363"/>
          </a:xfrm>
          <a:prstGeom prst="rect">
            <a:avLst/>
          </a:prstGeom>
          <a:pattFill prst="wdDnDiag">
            <a:fgClr>
              <a:srgbClr val="333399">
                <a:alpha val="38039"/>
              </a:srgbClr>
            </a:fgClr>
            <a:bgClr>
              <a:srgbClr val="FFFFFF">
                <a:alpha val="38039"/>
              </a:srgbClr>
            </a:bgClr>
          </a:pattFill>
          <a:ln w="1905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轴</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 name="Rectangle 4"/>
          <p:cNvSpPr>
            <a:spLocks noChangeArrowheads="1"/>
          </p:cNvSpPr>
          <p:nvPr/>
        </p:nvSpPr>
        <p:spPr bwMode="auto">
          <a:xfrm>
            <a:off x="6489849" y="3059237"/>
            <a:ext cx="846137" cy="488950"/>
          </a:xfrm>
          <a:prstGeom prst="rect">
            <a:avLst/>
          </a:prstGeom>
          <a:pattFill prst="wdDnDiag">
            <a:fgClr>
              <a:srgbClr val="333399">
                <a:alpha val="38039"/>
              </a:srgbClr>
            </a:fgClr>
            <a:bgClr>
              <a:srgbClr val="FFFFFF">
                <a:alpha val="38039"/>
              </a:srgbClr>
            </a:bgClr>
          </a:pattFill>
          <a:ln w="19050"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轴</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 name="Text Box 5"/>
          <p:cNvSpPr txBox="1">
            <a:spLocks noChangeArrowheads="1"/>
          </p:cNvSpPr>
          <p:nvPr/>
        </p:nvSpPr>
        <p:spPr bwMode="auto">
          <a:xfrm>
            <a:off x="5178574" y="4737224"/>
            <a:ext cx="15351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b="1">
                <a:solidFill>
                  <a:srgbClr val="000000"/>
                </a:solidFill>
                <a:latin typeface="黑体" panose="02010609060101010101" pitchFamily="2" charset="-122"/>
                <a:ea typeface="黑体" panose="02010609060101010101" pitchFamily="2" charset="-122"/>
              </a:rPr>
              <a:t>间隙配合</a:t>
            </a:r>
            <a:endParaRPr kumimoji="1" lang="zh-CN" altLang="en-US" sz="2000" b="1">
              <a:solidFill>
                <a:srgbClr val="000000"/>
              </a:solidFill>
              <a:latin typeface="黑体" panose="02010609060101010101" pitchFamily="2" charset="-122"/>
              <a:ea typeface="黑体" panose="02010609060101010101" pitchFamily="2" charset="-122"/>
            </a:endParaRPr>
          </a:p>
        </p:txBody>
      </p:sp>
      <p:sp>
        <p:nvSpPr>
          <p:cNvPr id="6" name="Text Box 6"/>
          <p:cNvSpPr txBox="1">
            <a:spLocks noChangeArrowheads="1"/>
          </p:cNvSpPr>
          <p:nvPr/>
        </p:nvSpPr>
        <p:spPr bwMode="auto">
          <a:xfrm>
            <a:off x="6312049" y="2673474"/>
            <a:ext cx="13700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66"/>
                </a:solidFill>
                <a:latin typeface="黑体" panose="02010609060101010101" pitchFamily="2" charset="-122"/>
                <a:ea typeface="黑体" panose="02010609060101010101" pitchFamily="2" charset="-122"/>
              </a:rPr>
              <a:t>过盈配合</a:t>
            </a:r>
            <a:endParaRPr kumimoji="1" lang="zh-CN" altLang="en-US" sz="2000" b="1">
              <a:solidFill>
                <a:srgbClr val="000066"/>
              </a:solidFill>
              <a:latin typeface="黑体" panose="02010609060101010101" pitchFamily="2" charset="-122"/>
              <a:ea typeface="黑体" panose="02010609060101010101" pitchFamily="2" charset="-122"/>
            </a:endParaRPr>
          </a:p>
        </p:txBody>
      </p:sp>
      <p:sp>
        <p:nvSpPr>
          <p:cNvPr id="7" name="Text Box 7"/>
          <p:cNvSpPr txBox="1">
            <a:spLocks noChangeArrowheads="1"/>
          </p:cNvSpPr>
          <p:nvPr/>
        </p:nvSpPr>
        <p:spPr bwMode="auto">
          <a:xfrm>
            <a:off x="7328049" y="3497387"/>
            <a:ext cx="13668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66"/>
                </a:solidFill>
                <a:latin typeface="黑体" panose="02010609060101010101" pitchFamily="2" charset="-122"/>
                <a:ea typeface="黑体" panose="02010609060101010101" pitchFamily="2" charset="-122"/>
              </a:rPr>
              <a:t>过渡配合</a:t>
            </a:r>
            <a:endParaRPr kumimoji="1" lang="zh-CN" altLang="en-US" sz="2000" b="1">
              <a:solidFill>
                <a:srgbClr val="000066"/>
              </a:solidFill>
              <a:latin typeface="黑体" panose="02010609060101010101" pitchFamily="2" charset="-122"/>
              <a:ea typeface="黑体" panose="02010609060101010101" pitchFamily="2" charset="-122"/>
            </a:endParaRPr>
          </a:p>
        </p:txBody>
      </p:sp>
      <p:sp>
        <p:nvSpPr>
          <p:cNvPr id="8" name="Text Box 8"/>
          <p:cNvSpPr txBox="1">
            <a:spLocks noChangeArrowheads="1"/>
          </p:cNvSpPr>
          <p:nvPr/>
        </p:nvSpPr>
        <p:spPr bwMode="auto">
          <a:xfrm>
            <a:off x="4376886" y="3260849"/>
            <a:ext cx="10985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b="1">
                <a:solidFill>
                  <a:srgbClr val="CC0000"/>
                </a:solidFill>
                <a:latin typeface="黑体" panose="02010609060101010101" pitchFamily="2" charset="-122"/>
                <a:ea typeface="黑体" panose="02010609060101010101" pitchFamily="2" charset="-122"/>
              </a:rPr>
              <a:t>基准孔</a:t>
            </a:r>
            <a:endParaRPr kumimoji="1" lang="zh-CN" altLang="en-US" sz="2000" b="1">
              <a:solidFill>
                <a:srgbClr val="CC0000"/>
              </a:solidFill>
              <a:latin typeface="黑体" panose="02010609060101010101" pitchFamily="2" charset="-122"/>
              <a:ea typeface="黑体" panose="02010609060101010101" pitchFamily="2" charset="-122"/>
            </a:endParaRPr>
          </a:p>
        </p:txBody>
      </p:sp>
      <p:sp>
        <p:nvSpPr>
          <p:cNvPr id="9" name="Text Box 9"/>
          <p:cNvSpPr txBox="1">
            <a:spLocks noChangeArrowheads="1"/>
          </p:cNvSpPr>
          <p:nvPr/>
        </p:nvSpPr>
        <p:spPr bwMode="auto">
          <a:xfrm>
            <a:off x="5043636" y="3660899"/>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b="1">
                <a:solidFill>
                  <a:srgbClr val="CC0000"/>
                </a:solidFill>
                <a:latin typeface="黑体" panose="02010609060101010101" pitchFamily="2" charset="-122"/>
                <a:ea typeface="黑体" panose="02010609060101010101" pitchFamily="2" charset="-122"/>
              </a:rPr>
              <a:t>H</a:t>
            </a:r>
            <a:endParaRPr kumimoji="1" lang="en-US" altLang="zh-CN" sz="2400" b="1">
              <a:solidFill>
                <a:srgbClr val="CC0000"/>
              </a:solidFill>
              <a:latin typeface="黑体" panose="02010609060101010101" pitchFamily="2" charset="-122"/>
              <a:ea typeface="黑体" panose="02010609060101010101" pitchFamily="2" charset="-122"/>
            </a:endParaRPr>
          </a:p>
        </p:txBody>
      </p:sp>
      <p:grpSp>
        <p:nvGrpSpPr>
          <p:cNvPr id="10" name="Group 11"/>
          <p:cNvGrpSpPr/>
          <p:nvPr/>
        </p:nvGrpSpPr>
        <p:grpSpPr bwMode="auto">
          <a:xfrm>
            <a:off x="3240236" y="3648199"/>
            <a:ext cx="5454650" cy="1871663"/>
            <a:chOff x="700" y="2304"/>
            <a:chExt cx="3436" cy="1169"/>
          </a:xfrm>
        </p:grpSpPr>
        <p:sp>
          <p:nvSpPr>
            <p:cNvPr id="11" name="Line 12"/>
            <p:cNvSpPr>
              <a:spLocks noChangeShapeType="1"/>
            </p:cNvSpPr>
            <p:nvPr/>
          </p:nvSpPr>
          <p:spPr bwMode="auto">
            <a:xfrm>
              <a:off x="960" y="2604"/>
              <a:ext cx="3176"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13"/>
            <p:cNvSpPr>
              <a:spLocks noChangeShapeType="1"/>
            </p:cNvSpPr>
            <p:nvPr/>
          </p:nvSpPr>
          <p:spPr bwMode="auto">
            <a:xfrm flipV="1">
              <a:off x="1274" y="2592"/>
              <a:ext cx="0" cy="881"/>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Text Box 14"/>
            <p:cNvSpPr txBox="1">
              <a:spLocks noChangeArrowheads="1"/>
            </p:cNvSpPr>
            <p:nvPr/>
          </p:nvSpPr>
          <p:spPr bwMode="auto">
            <a:xfrm rot="-5400000">
              <a:off x="770" y="2939"/>
              <a:ext cx="75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基本尺寸</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 name="Text Box 15"/>
            <p:cNvSpPr txBox="1">
              <a:spLocks noChangeArrowheads="1"/>
            </p:cNvSpPr>
            <p:nvPr/>
          </p:nvSpPr>
          <p:spPr bwMode="auto">
            <a:xfrm>
              <a:off x="700" y="2445"/>
              <a:ext cx="32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a:t>
              </a:r>
              <a:endParaRPr kumimoji="1" lang="en-US" altLang="zh-CN" sz="24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5" name="Text Box 16"/>
            <p:cNvSpPr txBox="1">
              <a:spLocks noChangeArrowheads="1"/>
            </p:cNvSpPr>
            <p:nvPr/>
          </p:nvSpPr>
          <p:spPr bwMode="auto">
            <a:xfrm>
              <a:off x="869" y="2304"/>
              <a:ext cx="21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endParaRPr>
            </a:p>
          </p:txBody>
        </p:sp>
        <p:sp>
          <p:nvSpPr>
            <p:cNvPr id="17" name="Text Box 17"/>
            <p:cNvSpPr txBox="1">
              <a:spLocks noChangeArrowheads="1"/>
            </p:cNvSpPr>
            <p:nvPr/>
          </p:nvSpPr>
          <p:spPr bwMode="auto">
            <a:xfrm>
              <a:off x="868" y="2577"/>
              <a:ext cx="21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sp>
        <p:nvSpPr>
          <p:cNvPr id="18" name="Rectangle 18"/>
          <p:cNvSpPr>
            <a:spLocks noChangeArrowheads="1"/>
          </p:cNvSpPr>
          <p:nvPr/>
        </p:nvSpPr>
        <p:spPr bwMode="auto">
          <a:xfrm>
            <a:off x="7516961" y="3868862"/>
            <a:ext cx="841375" cy="498475"/>
          </a:xfrm>
          <a:prstGeom prst="rect">
            <a:avLst/>
          </a:prstGeom>
          <a:pattFill prst="wdDnDiag">
            <a:fgClr>
              <a:srgbClr val="333399">
                <a:alpha val="38039"/>
              </a:srgbClr>
            </a:fgClr>
            <a:bgClr>
              <a:srgbClr val="FFFFFF">
                <a:alpha val="38039"/>
              </a:srgbClr>
            </a:bgClr>
          </a:pattFill>
          <a:ln w="19050"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轴</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 name="Rectangle 19"/>
          <p:cNvSpPr>
            <a:spLocks noChangeArrowheads="1"/>
          </p:cNvSpPr>
          <p:nvPr/>
        </p:nvSpPr>
        <p:spPr bwMode="auto">
          <a:xfrm>
            <a:off x="191344" y="1255548"/>
            <a:ext cx="2077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eaLnBrk="0" hangingPunct="0">
              <a:spcBef>
                <a:spcPts val="600"/>
              </a:spcBef>
              <a:buFont typeface="Wingdings" panose="05000000000000000000" pitchFamily="2" charset="2"/>
              <a:buChar char="l"/>
            </a:pPr>
            <a:r>
              <a:rPr lang="zh-CN" altLang="en-US" sz="2400" dirty="0">
                <a:solidFill>
                  <a:schemeClr val="accent6">
                    <a:lumMod val="75000"/>
                  </a:schemeClr>
                </a:solidFill>
                <a:latin typeface="微软雅黑" panose="020B0503020204020204" pitchFamily="34" charset="-122"/>
                <a:ea typeface="微软雅黑" panose="020B0503020204020204" pitchFamily="34" charset="-122"/>
                <a:sym typeface="Marlett" pitchFamily="2" charset="2"/>
              </a:rPr>
              <a:t>配合基准制</a:t>
            </a:r>
            <a:endParaRPr lang="zh-CN" altLang="en-US" sz="2400" dirty="0">
              <a:solidFill>
                <a:schemeClr val="accent6">
                  <a:lumMod val="75000"/>
                </a:schemeClr>
              </a:solidFill>
              <a:latin typeface="微软雅黑" panose="020B0503020204020204" pitchFamily="34" charset="-122"/>
              <a:ea typeface="微软雅黑" panose="020B0503020204020204" pitchFamily="34" charset="-122"/>
              <a:sym typeface="Marlett" pitchFamily="2" charset="2"/>
            </a:endParaRPr>
          </a:p>
        </p:txBody>
      </p:sp>
      <p:sp>
        <p:nvSpPr>
          <p:cNvPr id="20" name="Text Box 20"/>
          <p:cNvSpPr txBox="1">
            <a:spLocks noChangeArrowheads="1"/>
          </p:cNvSpPr>
          <p:nvPr/>
        </p:nvSpPr>
        <p:spPr bwMode="auto">
          <a:xfrm>
            <a:off x="2203309" y="1879066"/>
            <a:ext cx="79140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400" dirty="0">
                <a:solidFill>
                  <a:srgbClr val="CC0000"/>
                </a:solidFill>
                <a:latin typeface="Times New Roman" panose="02020603050405020304" pitchFamily="18" charset="0"/>
                <a:ea typeface="黑体" panose="02010609060101010101" pitchFamily="2" charset="-122"/>
              </a:rPr>
              <a:t>基孔制</a:t>
            </a:r>
            <a:r>
              <a:rPr kumimoji="1" lang="zh-CN" altLang="en-US" sz="2400" dirty="0">
                <a:solidFill>
                  <a:srgbClr val="000000"/>
                </a:solidFill>
                <a:latin typeface="Times New Roman" panose="02020603050405020304" pitchFamily="18" charset="0"/>
                <a:ea typeface="黑体" panose="02010609060101010101" pitchFamily="2" charset="-122"/>
              </a:rPr>
              <a:t>配合：基本偏差为一定的孔的公差带，与不同基本偏差的轴的公差带形成各种配合的一种制度。</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21" name="Text Box 21"/>
          <p:cNvSpPr txBox="1">
            <a:spLocks noChangeArrowheads="1"/>
          </p:cNvSpPr>
          <p:nvPr/>
        </p:nvSpPr>
        <p:spPr bwMode="auto">
          <a:xfrm>
            <a:off x="380800" y="5623529"/>
            <a:ext cx="12218097"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基孔制配合中的孔称为基准孔，国家标准选下偏差为零的孔作基准孔，</a:t>
            </a:r>
            <a:r>
              <a:rPr kumimoji="1" lang="en-US" altLang="zh-CN" sz="2400" dirty="0">
                <a:solidFill>
                  <a:srgbClr val="CC0000"/>
                </a:solidFill>
                <a:latin typeface="黑体" panose="02010609060101010101" pitchFamily="2" charset="-122"/>
                <a:ea typeface="黑体" panose="02010609060101010101" pitchFamily="2" charset="-122"/>
              </a:rPr>
              <a:t>H</a:t>
            </a:r>
            <a:r>
              <a:rPr kumimoji="1" lang="en-US" altLang="zh-CN" sz="2400" dirty="0">
                <a:solidFill>
                  <a:srgbClr val="000000"/>
                </a:solidFill>
                <a:latin typeface="黑体" panose="02010609060101010101" pitchFamily="2" charset="-122"/>
                <a:ea typeface="黑体" panose="02010609060101010101" pitchFamily="2" charset="-122"/>
              </a:rPr>
              <a:t> </a:t>
            </a:r>
            <a:r>
              <a:rPr kumimoji="1" lang="zh-CN" altLang="en-US" sz="2400" dirty="0">
                <a:solidFill>
                  <a:srgbClr val="000000"/>
                </a:solidFill>
                <a:latin typeface="黑体" panose="02010609060101010101" pitchFamily="2" charset="-122"/>
                <a:ea typeface="黑体" panose="02010609060101010101" pitchFamily="2" charset="-122"/>
              </a:rPr>
              <a:t>代表基准孔。</a:t>
            </a:r>
            <a:endParaRPr kumimoji="1" lang="zh-CN" altLang="en-US" sz="2400" dirty="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strVal val="4/3*#ppt_w"/>
                                          </p:val>
                                        </p:tav>
                                        <p:tav tm="100000">
                                          <p:val>
                                            <p:strVal val="#ppt_w"/>
                                          </p:val>
                                        </p:tav>
                                      </p:tavLst>
                                    </p:anim>
                                    <p:anim calcmode="lin" valueType="num">
                                      <p:cBhvr>
                                        <p:cTn id="23" dur="500" fill="hold"/>
                                        <p:tgtEl>
                                          <p:spTgt spid="5"/>
                                        </p:tgtEl>
                                        <p:attrNameLst>
                                          <p:attrName>ppt_h</p:attrName>
                                        </p:attrNameLst>
                                      </p:cBhvr>
                                      <p:tavLst>
                                        <p:tav tm="0">
                                          <p:val>
                                            <p:strVal val="4/3*#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28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strVal val="4/3*#ppt_w"/>
                                          </p:val>
                                        </p:tav>
                                        <p:tav tm="100000">
                                          <p:val>
                                            <p:strVal val="#ppt_w"/>
                                          </p:val>
                                        </p:tav>
                                      </p:tavLst>
                                    </p:anim>
                                    <p:anim calcmode="lin" valueType="num">
                                      <p:cBhvr>
                                        <p:cTn id="34" dur="500" fill="hold"/>
                                        <p:tgtEl>
                                          <p:spTgt spid="6"/>
                                        </p:tgtEl>
                                        <p:attrNameLst>
                                          <p:attrName>ppt_h</p:attrName>
                                        </p:attrNameLst>
                                      </p:cBhvr>
                                      <p:tavLst>
                                        <p:tav tm="0">
                                          <p:val>
                                            <p:strVal val="4/3*#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dissolve">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288"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strVal val="4/3*#ppt_w"/>
                                          </p:val>
                                        </p:tav>
                                        <p:tav tm="100000">
                                          <p:val>
                                            <p:strVal val="#ppt_w"/>
                                          </p:val>
                                        </p:tav>
                                      </p:tavLst>
                                    </p:anim>
                                    <p:anim calcmode="lin" valueType="num">
                                      <p:cBhvr>
                                        <p:cTn id="45" dur="500" fill="hold"/>
                                        <p:tgtEl>
                                          <p:spTgt spid="7"/>
                                        </p:tgtEl>
                                        <p:attrNameLst>
                                          <p:attrName>ppt_h</p:attrName>
                                        </p:attrNameLst>
                                      </p:cBhvr>
                                      <p:tavLst>
                                        <p:tav tm="0">
                                          <p:val>
                                            <p:strVal val="4/3*#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272"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500" fill="hold"/>
                                        <p:tgtEl>
                                          <p:spTgt spid="8"/>
                                        </p:tgtEl>
                                        <p:attrNameLst>
                                          <p:attrName>ppt_w</p:attrName>
                                        </p:attrNameLst>
                                      </p:cBhvr>
                                      <p:tavLst>
                                        <p:tav tm="0">
                                          <p:val>
                                            <p:strVal val="2/3*#ppt_w"/>
                                          </p:val>
                                        </p:tav>
                                        <p:tav tm="100000">
                                          <p:val>
                                            <p:strVal val="#ppt_w"/>
                                          </p:val>
                                        </p:tav>
                                      </p:tavLst>
                                    </p:anim>
                                    <p:anim calcmode="lin" valueType="num">
                                      <p:cBhvr>
                                        <p:cTn id="56" dur="500" fill="hold"/>
                                        <p:tgtEl>
                                          <p:spTgt spid="8"/>
                                        </p:tgtEl>
                                        <p:attrNameLst>
                                          <p:attrName>ppt_h</p:attrName>
                                        </p:attrNameLst>
                                      </p:cBhvr>
                                      <p:tavLst>
                                        <p:tav tm="0">
                                          <p:val>
                                            <p:strVal val="2/3*#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272"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500" fill="hold"/>
                                        <p:tgtEl>
                                          <p:spTgt spid="9"/>
                                        </p:tgtEl>
                                        <p:attrNameLst>
                                          <p:attrName>ppt_w</p:attrName>
                                        </p:attrNameLst>
                                      </p:cBhvr>
                                      <p:tavLst>
                                        <p:tav tm="0">
                                          <p:val>
                                            <p:strVal val="2/3*#ppt_w"/>
                                          </p:val>
                                        </p:tav>
                                        <p:tav tm="100000">
                                          <p:val>
                                            <p:strVal val="#ppt_w"/>
                                          </p:val>
                                        </p:tav>
                                      </p:tavLst>
                                    </p:anim>
                                    <p:anim calcmode="lin" valueType="num">
                                      <p:cBhvr>
                                        <p:cTn id="62" dur="500" fill="hold"/>
                                        <p:tgtEl>
                                          <p:spTgt spid="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 grpId="0" animBg="1" autoUpdateAnimBg="0"/>
      <p:bldP spid="5" grpId="0" autoUpdateAnimBg="0"/>
      <p:bldP spid="6" grpId="0" autoUpdateAnimBg="0"/>
      <p:bldP spid="7" grpId="0" autoUpdateAnimBg="0"/>
      <p:bldP spid="8" grpId="0" autoUpdateAnimBg="0"/>
      <p:bldP spid="9" grpId="0" autoUpdateAnimBg="0"/>
      <p:bldP spid="18" grpId="0" animBg="1" autoUpdateAnimBg="0"/>
      <p:bldP spid="20" grpId="0" autoUpdateAnimBg="0"/>
      <p:bldP spid="21"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矩形 215"/>
          <p:cNvSpPr/>
          <p:nvPr/>
        </p:nvSpPr>
        <p:spPr>
          <a:xfrm>
            <a:off x="3359696" y="44624"/>
            <a:ext cx="8832304" cy="68133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05"/>
          <p:cNvSpPr txBox="1">
            <a:spLocks noChangeArrowheads="1"/>
          </p:cNvSpPr>
          <p:nvPr/>
        </p:nvSpPr>
        <p:spPr bwMode="auto">
          <a:xfrm>
            <a:off x="983432" y="1265364"/>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0"/>
              </a:spcBef>
              <a:buFontTx/>
              <a:buNone/>
            </a:pPr>
            <a:r>
              <a:rPr kumimoji="1" lang="zh-CN" altLang="en-US" sz="2400" dirty="0">
                <a:latin typeface="Times New Roman" panose="02020603050405020304" pitchFamily="18" charset="0"/>
                <a:ea typeface="黑体" panose="02010609060101010101" pitchFamily="2" charset="-122"/>
              </a:rPr>
              <a:t>基孔制配合</a:t>
            </a:r>
            <a:endParaRPr kumimoji="1" lang="zh-CN" altLang="en-US" sz="2400" dirty="0">
              <a:latin typeface="Times New Roman" panose="02020603050405020304" pitchFamily="18" charset="0"/>
              <a:ea typeface="黑体" panose="02010609060101010101" pitchFamily="2" charset="-122"/>
            </a:endParaRPr>
          </a:p>
        </p:txBody>
      </p:sp>
      <p:grpSp>
        <p:nvGrpSpPr>
          <p:cNvPr id="3" name="组合 1"/>
          <p:cNvGrpSpPr/>
          <p:nvPr/>
        </p:nvGrpSpPr>
        <p:grpSpPr bwMode="auto">
          <a:xfrm>
            <a:off x="3772470" y="529185"/>
            <a:ext cx="7893050" cy="6002338"/>
            <a:chOff x="468315" y="409575"/>
            <a:chExt cx="7893052" cy="6002338"/>
          </a:xfrm>
        </p:grpSpPr>
        <p:grpSp>
          <p:nvGrpSpPr>
            <p:cNvPr id="4" name="Group 2"/>
            <p:cNvGrpSpPr/>
            <p:nvPr/>
          </p:nvGrpSpPr>
          <p:grpSpPr bwMode="auto">
            <a:xfrm>
              <a:off x="468315" y="409575"/>
              <a:ext cx="7893052" cy="6002338"/>
              <a:chOff x="295" y="258"/>
              <a:chExt cx="4972" cy="3781"/>
            </a:xfrm>
          </p:grpSpPr>
          <p:grpSp>
            <p:nvGrpSpPr>
              <p:cNvPr id="19" name="Group 4"/>
              <p:cNvGrpSpPr/>
              <p:nvPr/>
            </p:nvGrpSpPr>
            <p:grpSpPr bwMode="auto">
              <a:xfrm>
                <a:off x="295" y="258"/>
                <a:ext cx="4957" cy="1919"/>
                <a:chOff x="295" y="321"/>
                <a:chExt cx="4957" cy="1919"/>
              </a:xfrm>
            </p:grpSpPr>
            <p:sp>
              <p:nvSpPr>
                <p:cNvPr id="118" name="Line 5"/>
                <p:cNvSpPr>
                  <a:spLocks noChangeShapeType="1"/>
                </p:cNvSpPr>
                <p:nvPr/>
              </p:nvSpPr>
              <p:spPr bwMode="auto">
                <a:xfrm flipV="1">
                  <a:off x="603" y="1373"/>
                  <a:ext cx="4649"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9" name="Line 6" descr="宽上对角线"/>
                <p:cNvSpPr>
                  <a:spLocks noChangeShapeType="1"/>
                </p:cNvSpPr>
                <p:nvPr/>
              </p:nvSpPr>
              <p:spPr bwMode="auto">
                <a:xfrm>
                  <a:off x="951" y="399"/>
                  <a:ext cx="123" cy="0"/>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0" name="Rectangle 7" descr="宽下对角线"/>
                <p:cNvSpPr>
                  <a:spLocks noChangeArrowheads="1"/>
                </p:cNvSpPr>
                <p:nvPr/>
              </p:nvSpPr>
              <p:spPr bwMode="auto">
                <a:xfrm>
                  <a:off x="1106" y="661"/>
                  <a:ext cx="109"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1" name="Rectangle 8" descr="宽下对角线"/>
                <p:cNvSpPr>
                  <a:spLocks noChangeArrowheads="1"/>
                </p:cNvSpPr>
                <p:nvPr/>
              </p:nvSpPr>
              <p:spPr bwMode="auto">
                <a:xfrm>
                  <a:off x="1258" y="817"/>
                  <a:ext cx="112"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2" name="Rectangle 9" descr="宽下对角线"/>
                <p:cNvSpPr>
                  <a:spLocks noChangeArrowheads="1"/>
                </p:cNvSpPr>
                <p:nvPr/>
              </p:nvSpPr>
              <p:spPr bwMode="auto">
                <a:xfrm>
                  <a:off x="1414" y="884"/>
                  <a:ext cx="111"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3" name="Rectangle 10" descr="宽下对角线"/>
                <p:cNvSpPr>
                  <a:spLocks noChangeArrowheads="1"/>
                </p:cNvSpPr>
                <p:nvPr/>
              </p:nvSpPr>
              <p:spPr bwMode="auto">
                <a:xfrm>
                  <a:off x="1572" y="919"/>
                  <a:ext cx="11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4" name="Rectangle 11" descr="宽下对角线"/>
                <p:cNvSpPr>
                  <a:spLocks noChangeArrowheads="1"/>
                </p:cNvSpPr>
                <p:nvPr/>
              </p:nvSpPr>
              <p:spPr bwMode="auto">
                <a:xfrm>
                  <a:off x="2221" y="1102"/>
                  <a:ext cx="103"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5" name="Rectangle 12" descr="宽下对角线"/>
                <p:cNvSpPr>
                  <a:spLocks noChangeArrowheads="1"/>
                </p:cNvSpPr>
                <p:nvPr/>
              </p:nvSpPr>
              <p:spPr bwMode="auto">
                <a:xfrm>
                  <a:off x="2383" y="1130"/>
                  <a:ext cx="100"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6" name="Rectangle 13" descr="宽下对角线"/>
                <p:cNvSpPr>
                  <a:spLocks noChangeArrowheads="1"/>
                </p:cNvSpPr>
                <p:nvPr/>
              </p:nvSpPr>
              <p:spPr bwMode="auto">
                <a:xfrm>
                  <a:off x="2536" y="1159"/>
                  <a:ext cx="106" cy="204"/>
                </a:xfrm>
                <a:prstGeom prst="rect">
                  <a:avLst/>
                </a:prstGeom>
                <a:pattFill prst="wdDnDiag">
                  <a:fgClr>
                    <a:srgbClr val="CC0000"/>
                  </a:fgClr>
                  <a:bgClr>
                    <a:srgbClr val="FFFFFF"/>
                  </a:bgClr>
                </a:patt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7" name="Rectangle 14" descr="宽下对角线"/>
                <p:cNvSpPr>
                  <a:spLocks noChangeArrowheads="1"/>
                </p:cNvSpPr>
                <p:nvPr/>
              </p:nvSpPr>
              <p:spPr bwMode="auto">
                <a:xfrm>
                  <a:off x="1742" y="989"/>
                  <a:ext cx="109"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8" name="Rectangle 15" descr="宽下对角线"/>
                <p:cNvSpPr>
                  <a:spLocks noChangeArrowheads="1"/>
                </p:cNvSpPr>
                <p:nvPr/>
              </p:nvSpPr>
              <p:spPr bwMode="auto">
                <a:xfrm>
                  <a:off x="1897" y="1039"/>
                  <a:ext cx="114"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9" name="Rectangle 16" descr="宽下对角线"/>
                <p:cNvSpPr>
                  <a:spLocks noChangeArrowheads="1"/>
                </p:cNvSpPr>
                <p:nvPr/>
              </p:nvSpPr>
              <p:spPr bwMode="auto">
                <a:xfrm>
                  <a:off x="2054" y="1077"/>
                  <a:ext cx="109"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30" name="Group 17"/>
                <p:cNvGrpSpPr/>
                <p:nvPr/>
              </p:nvGrpSpPr>
              <p:grpSpPr bwMode="auto">
                <a:xfrm flipH="1">
                  <a:off x="2996" y="1360"/>
                  <a:ext cx="107" cy="205"/>
                  <a:chOff x="2765" y="1244"/>
                  <a:chExt cx="99" cy="205"/>
                </a:xfrm>
              </p:grpSpPr>
              <p:sp>
                <p:nvSpPr>
                  <p:cNvPr id="214" name="Rectangle 18" descr="宽下对角线"/>
                  <p:cNvSpPr>
                    <a:spLocks noChangeArrowheads="1"/>
                  </p:cNvSpPr>
                  <p:nvPr/>
                </p:nvSpPr>
                <p:spPr bwMode="auto">
                  <a:xfrm rot="10800000">
                    <a:off x="2809" y="1244"/>
                    <a:ext cx="55"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5" name="Rectangle 19" descr="宽下对角线"/>
                  <p:cNvSpPr>
                    <a:spLocks noChangeArrowheads="1"/>
                  </p:cNvSpPr>
                  <p:nvPr/>
                </p:nvSpPr>
                <p:spPr bwMode="auto">
                  <a:xfrm rot="10800000">
                    <a:off x="2765" y="1276"/>
                    <a:ext cx="44" cy="173"/>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31" name="Rectangle 20" descr="宽下对角线"/>
                <p:cNvSpPr>
                  <a:spLocks noChangeArrowheads="1"/>
                </p:cNvSpPr>
                <p:nvPr/>
              </p:nvSpPr>
              <p:spPr bwMode="auto">
                <a:xfrm rot="10800000">
                  <a:off x="3646" y="1470"/>
                  <a:ext cx="100"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2" name="Rectangle 21" descr="宽下对角线"/>
                <p:cNvSpPr>
                  <a:spLocks noChangeArrowheads="1"/>
                </p:cNvSpPr>
                <p:nvPr/>
              </p:nvSpPr>
              <p:spPr bwMode="auto">
                <a:xfrm>
                  <a:off x="2693" y="1258"/>
                  <a:ext cx="108"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3" name="Rectangle 22" descr="宽下对角线"/>
                <p:cNvSpPr>
                  <a:spLocks noChangeArrowheads="1"/>
                </p:cNvSpPr>
                <p:nvPr/>
              </p:nvSpPr>
              <p:spPr bwMode="auto">
                <a:xfrm rot="10800000">
                  <a:off x="3811" y="1484"/>
                  <a:ext cx="100"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4" name="Rectangle 23" descr="宽下对角线"/>
                <p:cNvSpPr>
                  <a:spLocks noChangeArrowheads="1"/>
                </p:cNvSpPr>
                <p:nvPr/>
              </p:nvSpPr>
              <p:spPr bwMode="auto">
                <a:xfrm rot="10800000">
                  <a:off x="3976" y="1501"/>
                  <a:ext cx="9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5" name="Rectangle 24" descr="宽下对角线"/>
                <p:cNvSpPr>
                  <a:spLocks noChangeArrowheads="1"/>
                </p:cNvSpPr>
                <p:nvPr/>
              </p:nvSpPr>
              <p:spPr bwMode="auto">
                <a:xfrm rot="10800000">
                  <a:off x="4136" y="1541"/>
                  <a:ext cx="102" cy="202"/>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6" name="Rectangle 25" descr="宽下对角线"/>
                <p:cNvSpPr>
                  <a:spLocks noChangeArrowheads="1"/>
                </p:cNvSpPr>
                <p:nvPr/>
              </p:nvSpPr>
              <p:spPr bwMode="auto">
                <a:xfrm rot="10800000">
                  <a:off x="4297" y="1561"/>
                  <a:ext cx="101"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7" name="Rectangle 26" descr="宽下对角线"/>
                <p:cNvSpPr>
                  <a:spLocks noChangeArrowheads="1"/>
                </p:cNvSpPr>
                <p:nvPr/>
              </p:nvSpPr>
              <p:spPr bwMode="auto">
                <a:xfrm rot="10800000">
                  <a:off x="4452" y="1590"/>
                  <a:ext cx="99"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8" name="Rectangle 27" descr="宽下对角线"/>
                <p:cNvSpPr>
                  <a:spLocks noChangeArrowheads="1"/>
                </p:cNvSpPr>
                <p:nvPr/>
              </p:nvSpPr>
              <p:spPr bwMode="auto">
                <a:xfrm rot="10800000">
                  <a:off x="4610" y="1613"/>
                  <a:ext cx="100"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9" name="Rectangle 28" descr="宽下对角线"/>
                <p:cNvSpPr>
                  <a:spLocks noChangeArrowheads="1"/>
                </p:cNvSpPr>
                <p:nvPr/>
              </p:nvSpPr>
              <p:spPr bwMode="auto">
                <a:xfrm rot="10800000">
                  <a:off x="4769" y="1678"/>
                  <a:ext cx="9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0" name="Rectangle 29" descr="宽下对角线"/>
                <p:cNvSpPr>
                  <a:spLocks noChangeArrowheads="1"/>
                </p:cNvSpPr>
                <p:nvPr/>
              </p:nvSpPr>
              <p:spPr bwMode="auto">
                <a:xfrm rot="10800000">
                  <a:off x="4921" y="1809"/>
                  <a:ext cx="94"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1" name="Rectangle 30" descr="宽下对角线"/>
                <p:cNvSpPr>
                  <a:spLocks noChangeArrowheads="1"/>
                </p:cNvSpPr>
                <p:nvPr/>
              </p:nvSpPr>
              <p:spPr bwMode="auto">
                <a:xfrm rot="10800000">
                  <a:off x="5070" y="2002"/>
                  <a:ext cx="101"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42" name="Group 31"/>
                <p:cNvGrpSpPr/>
                <p:nvPr/>
              </p:nvGrpSpPr>
              <p:grpSpPr bwMode="auto">
                <a:xfrm>
                  <a:off x="2847" y="1349"/>
                  <a:ext cx="104" cy="205"/>
                  <a:chOff x="2628" y="1230"/>
                  <a:chExt cx="96" cy="205"/>
                </a:xfrm>
              </p:grpSpPr>
              <p:sp>
                <p:nvSpPr>
                  <p:cNvPr id="212" name="Rectangle 32" descr="宽下对角线"/>
                  <p:cNvSpPr>
                    <a:spLocks noChangeArrowheads="1"/>
                  </p:cNvSpPr>
                  <p:nvPr/>
                </p:nvSpPr>
                <p:spPr bwMode="auto">
                  <a:xfrm rot="10800000">
                    <a:off x="2669" y="1230"/>
                    <a:ext cx="55"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3" name="Rectangle 33" descr="宽下对角线"/>
                  <p:cNvSpPr>
                    <a:spLocks noChangeArrowheads="1"/>
                  </p:cNvSpPr>
                  <p:nvPr/>
                </p:nvSpPr>
                <p:spPr bwMode="auto">
                  <a:xfrm rot="10800000">
                    <a:off x="2628" y="1249"/>
                    <a:ext cx="44" cy="18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43" name="Group 34"/>
                <p:cNvGrpSpPr/>
                <p:nvPr/>
              </p:nvGrpSpPr>
              <p:grpSpPr bwMode="auto">
                <a:xfrm>
                  <a:off x="3169" y="1373"/>
                  <a:ext cx="107" cy="200"/>
                  <a:chOff x="2925" y="1272"/>
                  <a:chExt cx="99" cy="200"/>
                </a:xfrm>
              </p:grpSpPr>
              <p:sp>
                <p:nvSpPr>
                  <p:cNvPr id="210" name="Rectangle 35" descr="宽下对角线"/>
                  <p:cNvSpPr>
                    <a:spLocks noChangeArrowheads="1"/>
                  </p:cNvSpPr>
                  <p:nvPr/>
                </p:nvSpPr>
                <p:spPr bwMode="auto">
                  <a:xfrm rot="10800000">
                    <a:off x="2969" y="1272"/>
                    <a:ext cx="55" cy="20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1" name="Rectangle 36" descr="宽下对角线"/>
                  <p:cNvSpPr>
                    <a:spLocks noChangeArrowheads="1"/>
                  </p:cNvSpPr>
                  <p:nvPr/>
                </p:nvSpPr>
                <p:spPr bwMode="auto">
                  <a:xfrm rot="10800000">
                    <a:off x="2925" y="1320"/>
                    <a:ext cx="44" cy="152"/>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44" name="Rectangle 37" descr="宽下对角线"/>
                <p:cNvSpPr>
                  <a:spLocks noChangeArrowheads="1"/>
                </p:cNvSpPr>
                <p:nvPr/>
              </p:nvSpPr>
              <p:spPr bwMode="auto">
                <a:xfrm rot="10800000">
                  <a:off x="3491" y="1453"/>
                  <a:ext cx="100"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5" name="Rectangle 38" descr="宽下对角线"/>
                <p:cNvSpPr>
                  <a:spLocks noChangeArrowheads="1"/>
                </p:cNvSpPr>
                <p:nvPr/>
              </p:nvSpPr>
              <p:spPr bwMode="auto">
                <a:xfrm rot="10800000">
                  <a:off x="3336" y="1438"/>
                  <a:ext cx="101"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6" name="Text Box 39"/>
                <p:cNvSpPr txBox="1">
                  <a:spLocks noChangeArrowheads="1"/>
                </p:cNvSpPr>
                <p:nvPr/>
              </p:nvSpPr>
              <p:spPr bwMode="auto">
                <a:xfrm>
                  <a:off x="919" y="49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7" name="Text Box 40"/>
                <p:cNvSpPr txBox="1">
                  <a:spLocks noChangeArrowheads="1"/>
                </p:cNvSpPr>
                <p:nvPr/>
              </p:nvSpPr>
              <p:spPr bwMode="auto">
                <a:xfrm>
                  <a:off x="1074" y="82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8" name="Text Box 41"/>
                <p:cNvSpPr txBox="1">
                  <a:spLocks noChangeArrowheads="1"/>
                </p:cNvSpPr>
                <p:nvPr/>
              </p:nvSpPr>
              <p:spPr bwMode="auto">
                <a:xfrm>
                  <a:off x="1225" y="981"/>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9" name="Text Box 42"/>
                <p:cNvSpPr txBox="1">
                  <a:spLocks noChangeArrowheads="1"/>
                </p:cNvSpPr>
                <p:nvPr/>
              </p:nvSpPr>
              <p:spPr bwMode="auto">
                <a:xfrm>
                  <a:off x="1349" y="1045"/>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0" name="Text Box 43"/>
                <p:cNvSpPr txBox="1">
                  <a:spLocks noChangeArrowheads="1"/>
                </p:cNvSpPr>
                <p:nvPr/>
              </p:nvSpPr>
              <p:spPr bwMode="auto">
                <a:xfrm>
                  <a:off x="1701" y="115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1" name="Text Box 44"/>
                <p:cNvSpPr txBox="1">
                  <a:spLocks noChangeArrowheads="1"/>
                </p:cNvSpPr>
                <p:nvPr/>
              </p:nvSpPr>
              <p:spPr bwMode="auto">
                <a:xfrm>
                  <a:off x="1837" y="1209"/>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2" name="Text Box 45"/>
                <p:cNvSpPr txBox="1">
                  <a:spLocks noChangeArrowheads="1"/>
                </p:cNvSpPr>
                <p:nvPr/>
              </p:nvSpPr>
              <p:spPr bwMode="auto">
                <a:xfrm>
                  <a:off x="1541" y="1083"/>
                  <a:ext cx="17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3" name="Text Box 46"/>
                <p:cNvSpPr txBox="1">
                  <a:spLocks noChangeArrowheads="1"/>
                </p:cNvSpPr>
                <p:nvPr/>
              </p:nvSpPr>
              <p:spPr bwMode="auto">
                <a:xfrm>
                  <a:off x="2494" y="132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H</a:t>
                  </a:r>
                  <a:endPar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154" name="Text Box 47"/>
                <p:cNvSpPr txBox="1">
                  <a:spLocks noChangeArrowheads="1"/>
                </p:cNvSpPr>
                <p:nvPr/>
              </p:nvSpPr>
              <p:spPr bwMode="auto">
                <a:xfrm>
                  <a:off x="2825" y="116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K</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5" name="Text Box 48"/>
                <p:cNvSpPr txBox="1">
                  <a:spLocks noChangeArrowheads="1"/>
                </p:cNvSpPr>
                <p:nvPr/>
              </p:nvSpPr>
              <p:spPr bwMode="auto">
                <a:xfrm>
                  <a:off x="2958" y="1186"/>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M</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6" name="Text Box 49"/>
                <p:cNvSpPr txBox="1">
                  <a:spLocks noChangeArrowheads="1"/>
                </p:cNvSpPr>
                <p:nvPr/>
              </p:nvSpPr>
              <p:spPr bwMode="auto">
                <a:xfrm>
                  <a:off x="3139" y="121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N</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7" name="Text Box 50"/>
                <p:cNvSpPr txBox="1">
                  <a:spLocks noChangeArrowheads="1"/>
                </p:cNvSpPr>
                <p:nvPr/>
              </p:nvSpPr>
              <p:spPr bwMode="auto">
                <a:xfrm>
                  <a:off x="3778" y="1306"/>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T</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8" name="Text Box 51"/>
                <p:cNvSpPr txBox="1">
                  <a:spLocks noChangeArrowheads="1"/>
                </p:cNvSpPr>
                <p:nvPr/>
              </p:nvSpPr>
              <p:spPr bwMode="auto">
                <a:xfrm>
                  <a:off x="3939" y="1325"/>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U</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9" name="Text Box 52"/>
                <p:cNvSpPr txBox="1">
                  <a:spLocks noChangeArrowheads="1"/>
                </p:cNvSpPr>
                <p:nvPr/>
              </p:nvSpPr>
              <p:spPr bwMode="auto">
                <a:xfrm>
                  <a:off x="4103" y="1367"/>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V</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0" name="Text Box 53"/>
                <p:cNvSpPr txBox="1">
                  <a:spLocks noChangeArrowheads="1"/>
                </p:cNvSpPr>
                <p:nvPr/>
              </p:nvSpPr>
              <p:spPr bwMode="auto">
                <a:xfrm>
                  <a:off x="4260" y="1386"/>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X</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1" name="Text Box 54"/>
                <p:cNvSpPr txBox="1">
                  <a:spLocks noChangeArrowheads="1"/>
                </p:cNvSpPr>
                <p:nvPr/>
              </p:nvSpPr>
              <p:spPr bwMode="auto">
                <a:xfrm>
                  <a:off x="4414" y="141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Y</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2" name="Text Box 55"/>
                <p:cNvSpPr txBox="1">
                  <a:spLocks noChangeArrowheads="1"/>
                </p:cNvSpPr>
                <p:nvPr/>
              </p:nvSpPr>
              <p:spPr bwMode="auto">
                <a:xfrm>
                  <a:off x="4572" y="1440"/>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3" name="Text Box 56"/>
                <p:cNvSpPr txBox="1">
                  <a:spLocks noChangeArrowheads="1"/>
                </p:cNvSpPr>
                <p:nvPr/>
              </p:nvSpPr>
              <p:spPr bwMode="auto">
                <a:xfrm>
                  <a:off x="4707" y="1503"/>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4" name="Text Box 57"/>
                <p:cNvSpPr txBox="1">
                  <a:spLocks noChangeArrowheads="1"/>
                </p:cNvSpPr>
                <p:nvPr/>
              </p:nvSpPr>
              <p:spPr bwMode="auto">
                <a:xfrm>
                  <a:off x="4856" y="1628"/>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5" name="Text Box 58"/>
                <p:cNvSpPr txBox="1">
                  <a:spLocks noChangeArrowheads="1"/>
                </p:cNvSpPr>
                <p:nvPr/>
              </p:nvSpPr>
              <p:spPr bwMode="auto">
                <a:xfrm>
                  <a:off x="5008" y="1823"/>
                  <a:ext cx="22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6" name="Text Box 59"/>
                <p:cNvSpPr txBox="1">
                  <a:spLocks noChangeArrowheads="1"/>
                </p:cNvSpPr>
                <p:nvPr/>
              </p:nvSpPr>
              <p:spPr bwMode="auto">
                <a:xfrm>
                  <a:off x="295" y="1199"/>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0 </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7" name="Text Box 60"/>
                <p:cNvSpPr txBox="1">
                  <a:spLocks noChangeArrowheads="1"/>
                </p:cNvSpPr>
                <p:nvPr/>
              </p:nvSpPr>
              <p:spPr bwMode="auto">
                <a:xfrm>
                  <a:off x="425" y="963"/>
                  <a:ext cx="213" cy="7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8" name="Text Box 61"/>
                <p:cNvSpPr txBox="1">
                  <a:spLocks noChangeArrowheads="1"/>
                </p:cNvSpPr>
                <p:nvPr/>
              </p:nvSpPr>
              <p:spPr bwMode="auto">
                <a:xfrm>
                  <a:off x="3252" y="711"/>
                  <a:ext cx="309" cy="288"/>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孔</a:t>
                  </a:r>
                  <a:endPar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169" name="Rectangle 62" descr="宽下对角线"/>
                <p:cNvSpPr>
                  <a:spLocks noChangeArrowheads="1"/>
                </p:cNvSpPr>
                <p:nvPr/>
              </p:nvSpPr>
              <p:spPr bwMode="auto">
                <a:xfrm flipH="1">
                  <a:off x="959" y="338"/>
                  <a:ext cx="107" cy="204"/>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0" name="Rectangle 63"/>
                <p:cNvSpPr>
                  <a:spLocks noChangeArrowheads="1"/>
                </p:cNvSpPr>
                <p:nvPr/>
              </p:nvSpPr>
              <p:spPr bwMode="auto">
                <a:xfrm>
                  <a:off x="926" y="321"/>
                  <a:ext cx="166" cy="47"/>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1" name="Rectangle 64"/>
                <p:cNvSpPr>
                  <a:spLocks noChangeArrowheads="1"/>
                </p:cNvSpPr>
                <p:nvPr/>
              </p:nvSpPr>
              <p:spPr bwMode="auto">
                <a:xfrm>
                  <a:off x="1079" y="645"/>
                  <a:ext cx="166" cy="47"/>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2" name="Rectangle 65"/>
                <p:cNvSpPr>
                  <a:spLocks noChangeArrowheads="1"/>
                </p:cNvSpPr>
                <p:nvPr/>
              </p:nvSpPr>
              <p:spPr bwMode="auto">
                <a:xfrm>
                  <a:off x="1235" y="801"/>
                  <a:ext cx="166" cy="47"/>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3" name="Rectangle 66"/>
                <p:cNvSpPr>
                  <a:spLocks noChangeArrowheads="1"/>
                </p:cNvSpPr>
                <p:nvPr/>
              </p:nvSpPr>
              <p:spPr bwMode="auto">
                <a:xfrm>
                  <a:off x="1388" y="849"/>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4" name="Rectangle 67"/>
                <p:cNvSpPr>
                  <a:spLocks noChangeArrowheads="1"/>
                </p:cNvSpPr>
                <p:nvPr/>
              </p:nvSpPr>
              <p:spPr bwMode="auto">
                <a:xfrm>
                  <a:off x="1550" y="882"/>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5" name="Rectangle 68"/>
                <p:cNvSpPr>
                  <a:spLocks noChangeArrowheads="1"/>
                </p:cNvSpPr>
                <p:nvPr/>
              </p:nvSpPr>
              <p:spPr bwMode="auto">
                <a:xfrm>
                  <a:off x="1713" y="948"/>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6" name="Rectangle 69"/>
                <p:cNvSpPr>
                  <a:spLocks noChangeArrowheads="1"/>
                </p:cNvSpPr>
                <p:nvPr/>
              </p:nvSpPr>
              <p:spPr bwMode="auto">
                <a:xfrm>
                  <a:off x="1872" y="999"/>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7" name="Rectangle 70"/>
                <p:cNvSpPr>
                  <a:spLocks noChangeArrowheads="1"/>
                </p:cNvSpPr>
                <p:nvPr/>
              </p:nvSpPr>
              <p:spPr bwMode="auto">
                <a:xfrm>
                  <a:off x="2025" y="1038"/>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8" name="Rectangle 71"/>
                <p:cNvSpPr>
                  <a:spLocks noChangeArrowheads="1"/>
                </p:cNvSpPr>
                <p:nvPr/>
              </p:nvSpPr>
              <p:spPr bwMode="auto">
                <a:xfrm>
                  <a:off x="2178" y="1068"/>
                  <a:ext cx="165"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9" name="Rectangle 72"/>
                <p:cNvSpPr>
                  <a:spLocks noChangeArrowheads="1"/>
                </p:cNvSpPr>
                <p:nvPr/>
              </p:nvSpPr>
              <p:spPr bwMode="auto">
                <a:xfrm>
                  <a:off x="2350" y="1092"/>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0" name="Rectangle 73"/>
                <p:cNvSpPr>
                  <a:spLocks noChangeArrowheads="1"/>
                </p:cNvSpPr>
                <p:nvPr/>
              </p:nvSpPr>
              <p:spPr bwMode="auto">
                <a:xfrm>
                  <a:off x="2506" y="1128"/>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1" name="Rectangle 74"/>
                <p:cNvSpPr>
                  <a:spLocks noChangeArrowheads="1"/>
                </p:cNvSpPr>
                <p:nvPr/>
              </p:nvSpPr>
              <p:spPr bwMode="auto">
                <a:xfrm>
                  <a:off x="2665" y="1209"/>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2" name="Rectangle 75"/>
                <p:cNvSpPr>
                  <a:spLocks noChangeArrowheads="1"/>
                </p:cNvSpPr>
                <p:nvPr/>
              </p:nvSpPr>
              <p:spPr bwMode="auto">
                <a:xfrm>
                  <a:off x="3299" y="1620"/>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3" name="Rectangle 76"/>
                <p:cNvSpPr>
                  <a:spLocks noChangeArrowheads="1"/>
                </p:cNvSpPr>
                <p:nvPr/>
              </p:nvSpPr>
              <p:spPr bwMode="auto">
                <a:xfrm>
                  <a:off x="3458" y="1638"/>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4" name="Rectangle 77"/>
                <p:cNvSpPr>
                  <a:spLocks noChangeArrowheads="1"/>
                </p:cNvSpPr>
                <p:nvPr/>
              </p:nvSpPr>
              <p:spPr bwMode="auto">
                <a:xfrm>
                  <a:off x="2652" y="1458"/>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5" name="Text Box 78"/>
                <p:cNvSpPr txBox="1">
                  <a:spLocks noChangeArrowheads="1"/>
                </p:cNvSpPr>
                <p:nvPr/>
              </p:nvSpPr>
              <p:spPr bwMode="auto">
                <a:xfrm>
                  <a:off x="2612" y="1420"/>
                  <a:ext cx="228"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86" name="Rectangle 79"/>
                <p:cNvSpPr>
                  <a:spLocks noChangeArrowheads="1"/>
                </p:cNvSpPr>
                <p:nvPr/>
              </p:nvSpPr>
              <p:spPr bwMode="auto">
                <a:xfrm>
                  <a:off x="2808" y="1530"/>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7" name="Rectangle 80"/>
                <p:cNvSpPr>
                  <a:spLocks noChangeArrowheads="1"/>
                </p:cNvSpPr>
                <p:nvPr/>
              </p:nvSpPr>
              <p:spPr bwMode="auto">
                <a:xfrm>
                  <a:off x="2964" y="1548"/>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8" name="Rectangle 81"/>
                <p:cNvSpPr>
                  <a:spLocks noChangeArrowheads="1"/>
                </p:cNvSpPr>
                <p:nvPr/>
              </p:nvSpPr>
              <p:spPr bwMode="auto">
                <a:xfrm>
                  <a:off x="3133" y="1569"/>
                  <a:ext cx="166" cy="5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9" name="Rectangle 82"/>
                <p:cNvSpPr>
                  <a:spLocks noChangeArrowheads="1"/>
                </p:cNvSpPr>
                <p:nvPr/>
              </p:nvSpPr>
              <p:spPr bwMode="auto">
                <a:xfrm>
                  <a:off x="3611" y="1659"/>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0" name="Rectangle 83"/>
                <p:cNvSpPr>
                  <a:spLocks noChangeArrowheads="1"/>
                </p:cNvSpPr>
                <p:nvPr/>
              </p:nvSpPr>
              <p:spPr bwMode="auto">
                <a:xfrm>
                  <a:off x="3773" y="1677"/>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1" name="Rectangle 84"/>
                <p:cNvSpPr>
                  <a:spLocks noChangeArrowheads="1"/>
                </p:cNvSpPr>
                <p:nvPr/>
              </p:nvSpPr>
              <p:spPr bwMode="auto">
                <a:xfrm>
                  <a:off x="3930" y="1695"/>
                  <a:ext cx="165"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2" name="Rectangle 85"/>
                <p:cNvSpPr>
                  <a:spLocks noChangeArrowheads="1"/>
                </p:cNvSpPr>
                <p:nvPr/>
              </p:nvSpPr>
              <p:spPr bwMode="auto">
                <a:xfrm>
                  <a:off x="4099" y="1731"/>
                  <a:ext cx="165"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3" name="Rectangle 86"/>
                <p:cNvSpPr>
                  <a:spLocks noChangeArrowheads="1"/>
                </p:cNvSpPr>
                <p:nvPr/>
              </p:nvSpPr>
              <p:spPr bwMode="auto">
                <a:xfrm>
                  <a:off x="4261" y="1755"/>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4" name="Rectangle 87"/>
                <p:cNvSpPr>
                  <a:spLocks noChangeArrowheads="1"/>
                </p:cNvSpPr>
                <p:nvPr/>
              </p:nvSpPr>
              <p:spPr bwMode="auto">
                <a:xfrm>
                  <a:off x="4420" y="1779"/>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5" name="Rectangle 88"/>
                <p:cNvSpPr>
                  <a:spLocks noChangeArrowheads="1"/>
                </p:cNvSpPr>
                <p:nvPr/>
              </p:nvSpPr>
              <p:spPr bwMode="auto">
                <a:xfrm>
                  <a:off x="4573" y="1800"/>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6" name="Rectangle 89"/>
                <p:cNvSpPr>
                  <a:spLocks noChangeArrowheads="1"/>
                </p:cNvSpPr>
                <p:nvPr/>
              </p:nvSpPr>
              <p:spPr bwMode="auto">
                <a:xfrm>
                  <a:off x="4732" y="1863"/>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7" name="Rectangle 90"/>
                <p:cNvSpPr>
                  <a:spLocks noChangeArrowheads="1"/>
                </p:cNvSpPr>
                <p:nvPr/>
              </p:nvSpPr>
              <p:spPr bwMode="auto">
                <a:xfrm>
                  <a:off x="4885" y="1998"/>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8" name="Rectangle 91"/>
                <p:cNvSpPr>
                  <a:spLocks noChangeArrowheads="1"/>
                </p:cNvSpPr>
                <p:nvPr/>
              </p:nvSpPr>
              <p:spPr bwMode="auto">
                <a:xfrm>
                  <a:off x="5038" y="2184"/>
                  <a:ext cx="166" cy="5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9" name="Rectangle 92"/>
                <p:cNvSpPr>
                  <a:spLocks noChangeArrowheads="1"/>
                </p:cNvSpPr>
                <p:nvPr/>
              </p:nvSpPr>
              <p:spPr bwMode="auto">
                <a:xfrm>
                  <a:off x="3647" y="1331"/>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0" name="Text Box 93"/>
                <p:cNvSpPr txBox="1">
                  <a:spLocks noChangeArrowheads="1"/>
                </p:cNvSpPr>
                <p:nvPr/>
              </p:nvSpPr>
              <p:spPr bwMode="auto">
                <a:xfrm>
                  <a:off x="3613" y="129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1" name="Rectangle 94"/>
                <p:cNvSpPr>
                  <a:spLocks noChangeArrowheads="1"/>
                </p:cNvSpPr>
                <p:nvPr/>
              </p:nvSpPr>
              <p:spPr bwMode="auto">
                <a:xfrm>
                  <a:off x="3494" y="1301"/>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2" name="Text Box 95"/>
                <p:cNvSpPr txBox="1">
                  <a:spLocks noChangeArrowheads="1"/>
                </p:cNvSpPr>
                <p:nvPr/>
              </p:nvSpPr>
              <p:spPr bwMode="auto">
                <a:xfrm>
                  <a:off x="3453" y="1279"/>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R</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3" name="Rectangle 96"/>
                <p:cNvSpPr>
                  <a:spLocks noChangeArrowheads="1"/>
                </p:cNvSpPr>
                <p:nvPr/>
              </p:nvSpPr>
              <p:spPr bwMode="auto">
                <a:xfrm>
                  <a:off x="3344" y="1295"/>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4" name="Text Box 97"/>
                <p:cNvSpPr txBox="1">
                  <a:spLocks noChangeArrowheads="1"/>
                </p:cNvSpPr>
                <p:nvPr/>
              </p:nvSpPr>
              <p:spPr bwMode="auto">
                <a:xfrm>
                  <a:off x="3305" y="1267"/>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P</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5" name="Rectangle 98"/>
                <p:cNvSpPr>
                  <a:spLocks noChangeArrowheads="1"/>
                </p:cNvSpPr>
                <p:nvPr/>
              </p:nvSpPr>
              <p:spPr bwMode="auto">
                <a:xfrm>
                  <a:off x="2187" y="1328"/>
                  <a:ext cx="153" cy="9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6" name="Rectangle 99"/>
                <p:cNvSpPr>
                  <a:spLocks noChangeArrowheads="1"/>
                </p:cNvSpPr>
                <p:nvPr/>
              </p:nvSpPr>
              <p:spPr bwMode="auto">
                <a:xfrm>
                  <a:off x="2061" y="1301"/>
                  <a:ext cx="91" cy="96"/>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7" name="Text Box 100"/>
                <p:cNvSpPr txBox="1">
                  <a:spLocks noChangeArrowheads="1"/>
                </p:cNvSpPr>
                <p:nvPr/>
              </p:nvSpPr>
              <p:spPr bwMode="auto">
                <a:xfrm>
                  <a:off x="2040" y="124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8" name="Text Box 101"/>
                <p:cNvSpPr txBox="1">
                  <a:spLocks noChangeArrowheads="1"/>
                </p:cNvSpPr>
                <p:nvPr/>
              </p:nvSpPr>
              <p:spPr bwMode="auto">
                <a:xfrm>
                  <a:off x="2160" y="1290"/>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9" name="Text Box 102"/>
                <p:cNvSpPr txBox="1">
                  <a:spLocks noChangeArrowheads="1"/>
                </p:cNvSpPr>
                <p:nvPr/>
              </p:nvSpPr>
              <p:spPr bwMode="auto">
                <a:xfrm>
                  <a:off x="2335" y="1311"/>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grpSp>
            <p:nvGrpSpPr>
              <p:cNvPr id="20" name="Group 106"/>
              <p:cNvGrpSpPr/>
              <p:nvPr/>
            </p:nvGrpSpPr>
            <p:grpSpPr bwMode="auto">
              <a:xfrm>
                <a:off x="301" y="2135"/>
                <a:ext cx="4966" cy="1904"/>
                <a:chOff x="301" y="2135"/>
                <a:chExt cx="4966" cy="1904"/>
              </a:xfrm>
            </p:grpSpPr>
            <p:sp>
              <p:nvSpPr>
                <p:cNvPr id="21" name="Line 107"/>
                <p:cNvSpPr>
                  <a:spLocks noChangeShapeType="1"/>
                </p:cNvSpPr>
                <p:nvPr/>
              </p:nvSpPr>
              <p:spPr bwMode="auto">
                <a:xfrm>
                  <a:off x="603" y="3036"/>
                  <a:ext cx="4664"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2" name="Rectangle 108" descr="深色上对角线"/>
                <p:cNvSpPr>
                  <a:spLocks noChangeArrowheads="1"/>
                </p:cNvSpPr>
                <p:nvPr/>
              </p:nvSpPr>
              <p:spPr bwMode="auto">
                <a:xfrm>
                  <a:off x="3347" y="2781"/>
                  <a:ext cx="100"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Rectangle 109" descr="深色上对角线"/>
                <p:cNvSpPr>
                  <a:spLocks noChangeArrowheads="1"/>
                </p:cNvSpPr>
                <p:nvPr/>
              </p:nvSpPr>
              <p:spPr bwMode="auto">
                <a:xfrm>
                  <a:off x="3513" y="2771"/>
                  <a:ext cx="10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Rectangle 110" descr="深色上对角线"/>
                <p:cNvSpPr>
                  <a:spLocks noChangeArrowheads="1"/>
                </p:cNvSpPr>
                <p:nvPr/>
              </p:nvSpPr>
              <p:spPr bwMode="auto">
                <a:xfrm>
                  <a:off x="3838" y="2733"/>
                  <a:ext cx="101"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Rectangle 111" descr="深色上对角线"/>
                <p:cNvSpPr>
                  <a:spLocks noChangeArrowheads="1"/>
                </p:cNvSpPr>
                <p:nvPr/>
              </p:nvSpPr>
              <p:spPr bwMode="auto">
                <a:xfrm>
                  <a:off x="4160" y="2687"/>
                  <a:ext cx="10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Rectangle 112" descr="深色上对角线"/>
                <p:cNvSpPr>
                  <a:spLocks noChangeArrowheads="1"/>
                </p:cNvSpPr>
                <p:nvPr/>
              </p:nvSpPr>
              <p:spPr bwMode="auto">
                <a:xfrm>
                  <a:off x="4315" y="2659"/>
                  <a:ext cx="101"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7" name="Rectangle 113" descr="深色上对角线"/>
                <p:cNvSpPr>
                  <a:spLocks noChangeArrowheads="1"/>
                </p:cNvSpPr>
                <p:nvPr/>
              </p:nvSpPr>
              <p:spPr bwMode="auto">
                <a:xfrm>
                  <a:off x="4475" y="2619"/>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Rectangle 114" descr="深色上对角线"/>
                <p:cNvSpPr>
                  <a:spLocks noChangeArrowheads="1"/>
                </p:cNvSpPr>
                <p:nvPr/>
              </p:nvSpPr>
              <p:spPr bwMode="auto">
                <a:xfrm>
                  <a:off x="4780" y="2493"/>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9" name="Rectangle 115" descr="深色上对角线"/>
                <p:cNvSpPr>
                  <a:spLocks noChangeArrowheads="1"/>
                </p:cNvSpPr>
                <p:nvPr/>
              </p:nvSpPr>
              <p:spPr bwMode="auto">
                <a:xfrm>
                  <a:off x="4932" y="2396"/>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0" name="Rectangle 116" descr="深色上对角线"/>
                <p:cNvSpPr>
                  <a:spLocks noChangeArrowheads="1"/>
                </p:cNvSpPr>
                <p:nvPr/>
              </p:nvSpPr>
              <p:spPr bwMode="auto">
                <a:xfrm>
                  <a:off x="5070" y="2166"/>
                  <a:ext cx="10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Rectangle 117" descr="深色上对角线"/>
                <p:cNvSpPr>
                  <a:spLocks noChangeArrowheads="1"/>
                </p:cNvSpPr>
                <p:nvPr/>
              </p:nvSpPr>
              <p:spPr bwMode="auto">
                <a:xfrm>
                  <a:off x="3186" y="2785"/>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Rectangle 118" descr="深色上对角线"/>
                <p:cNvSpPr>
                  <a:spLocks noChangeArrowheads="1"/>
                </p:cNvSpPr>
                <p:nvPr/>
              </p:nvSpPr>
              <p:spPr bwMode="auto">
                <a:xfrm>
                  <a:off x="3017" y="2797"/>
                  <a:ext cx="100"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3" name="Rectangle 119" descr="深色上对角线"/>
                <p:cNvSpPr>
                  <a:spLocks noChangeArrowheads="1"/>
                </p:cNvSpPr>
                <p:nvPr/>
              </p:nvSpPr>
              <p:spPr bwMode="auto">
                <a:xfrm>
                  <a:off x="4629" y="2566"/>
                  <a:ext cx="101"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4" name="Rectangle 120" descr="深色上对角线"/>
                <p:cNvSpPr>
                  <a:spLocks noChangeArrowheads="1"/>
                </p:cNvSpPr>
                <p:nvPr/>
              </p:nvSpPr>
              <p:spPr bwMode="auto">
                <a:xfrm>
                  <a:off x="3999" y="2714"/>
                  <a:ext cx="99"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5" name="Rectangle 121" descr="深色上对角线"/>
                <p:cNvSpPr>
                  <a:spLocks noChangeArrowheads="1"/>
                </p:cNvSpPr>
                <p:nvPr/>
              </p:nvSpPr>
              <p:spPr bwMode="auto">
                <a:xfrm>
                  <a:off x="3673" y="2757"/>
                  <a:ext cx="100"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6" name="Rectangle 122" descr="深色上对角线"/>
                <p:cNvSpPr>
                  <a:spLocks noChangeArrowheads="1"/>
                </p:cNvSpPr>
                <p:nvPr/>
              </p:nvSpPr>
              <p:spPr bwMode="auto">
                <a:xfrm rot="10800000">
                  <a:off x="1277" y="3340"/>
                  <a:ext cx="97"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8" name="Rectangle 123" descr="深色上对角线"/>
                <p:cNvSpPr>
                  <a:spLocks noChangeArrowheads="1"/>
                </p:cNvSpPr>
                <p:nvPr/>
              </p:nvSpPr>
              <p:spPr bwMode="auto">
                <a:xfrm rot="10800000">
                  <a:off x="1900" y="3125"/>
                  <a:ext cx="98"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9" name="Rectangle 124" descr="深色上对角线"/>
                <p:cNvSpPr>
                  <a:spLocks noChangeArrowheads="1"/>
                </p:cNvSpPr>
                <p:nvPr/>
              </p:nvSpPr>
              <p:spPr bwMode="auto">
                <a:xfrm rot="10800000">
                  <a:off x="1745" y="3159"/>
                  <a:ext cx="98"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0" name="Rectangle 125" descr="深色上对角线"/>
                <p:cNvSpPr>
                  <a:spLocks noChangeArrowheads="1"/>
                </p:cNvSpPr>
                <p:nvPr/>
              </p:nvSpPr>
              <p:spPr bwMode="auto">
                <a:xfrm rot="10800000">
                  <a:off x="1590" y="3209"/>
                  <a:ext cx="98"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1" name="Rectangle 126" descr="深色上对角线"/>
                <p:cNvSpPr>
                  <a:spLocks noChangeArrowheads="1"/>
                </p:cNvSpPr>
                <p:nvPr/>
              </p:nvSpPr>
              <p:spPr bwMode="auto">
                <a:xfrm rot="10800000">
                  <a:off x="2533" y="3034"/>
                  <a:ext cx="97" cy="204"/>
                </a:xfrm>
                <a:prstGeom prst="rect">
                  <a:avLst/>
                </a:prstGeom>
                <a:pattFill prst="dkUpDiag">
                  <a:fgClr>
                    <a:srgbClr val="CC0000"/>
                  </a:fgClr>
                  <a:bgClr>
                    <a:srgbClr val="FFFFFF"/>
                  </a:bgClr>
                </a:patt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2" name="Rectangle 127" descr="深色上对角线"/>
                <p:cNvSpPr>
                  <a:spLocks noChangeArrowheads="1"/>
                </p:cNvSpPr>
                <p:nvPr/>
              </p:nvSpPr>
              <p:spPr bwMode="auto">
                <a:xfrm rot="10800000">
                  <a:off x="1121" y="3460"/>
                  <a:ext cx="9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3" name="Rectangle 128" descr="深色上对角线"/>
                <p:cNvSpPr>
                  <a:spLocks noChangeArrowheads="1"/>
                </p:cNvSpPr>
                <p:nvPr/>
              </p:nvSpPr>
              <p:spPr bwMode="auto">
                <a:xfrm rot="10800000">
                  <a:off x="967" y="3793"/>
                  <a:ext cx="96"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Rectangle 129" descr="深色上对角线"/>
                <p:cNvSpPr>
                  <a:spLocks noChangeArrowheads="1"/>
                </p:cNvSpPr>
                <p:nvPr/>
              </p:nvSpPr>
              <p:spPr bwMode="auto">
                <a:xfrm rot="10800000">
                  <a:off x="1437" y="3263"/>
                  <a:ext cx="93"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Rectangle 130" descr="深色上对角线"/>
                <p:cNvSpPr>
                  <a:spLocks noChangeArrowheads="1"/>
                </p:cNvSpPr>
                <p:nvPr/>
              </p:nvSpPr>
              <p:spPr bwMode="auto">
                <a:xfrm rot="10800000">
                  <a:off x="2051" y="3097"/>
                  <a:ext cx="97"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Rectangle 131" descr="深色上对角线"/>
                <p:cNvSpPr>
                  <a:spLocks noChangeArrowheads="1"/>
                </p:cNvSpPr>
                <p:nvPr/>
              </p:nvSpPr>
              <p:spPr bwMode="auto">
                <a:xfrm rot="10800000">
                  <a:off x="2210" y="3077"/>
                  <a:ext cx="102"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Rectangle 132" descr="深色上对角线"/>
                <p:cNvSpPr>
                  <a:spLocks noChangeArrowheads="1"/>
                </p:cNvSpPr>
                <p:nvPr/>
              </p:nvSpPr>
              <p:spPr bwMode="auto">
                <a:xfrm rot="10800000">
                  <a:off x="2373" y="3055"/>
                  <a:ext cx="97"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Rectangle 133" descr="深色上对角线"/>
                <p:cNvSpPr>
                  <a:spLocks noChangeArrowheads="1"/>
                </p:cNvSpPr>
                <p:nvPr/>
              </p:nvSpPr>
              <p:spPr bwMode="auto">
                <a:xfrm>
                  <a:off x="2701" y="2928"/>
                  <a:ext cx="107"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49" name="Group 134"/>
                <p:cNvGrpSpPr/>
                <p:nvPr/>
              </p:nvGrpSpPr>
              <p:grpSpPr bwMode="auto">
                <a:xfrm flipH="1">
                  <a:off x="2859" y="2824"/>
                  <a:ext cx="96" cy="206"/>
                  <a:chOff x="2635" y="2805"/>
                  <a:chExt cx="89" cy="206"/>
                </a:xfrm>
              </p:grpSpPr>
              <p:sp>
                <p:nvSpPr>
                  <p:cNvPr id="116" name="Rectangle 135" descr="深色上对角线"/>
                  <p:cNvSpPr>
                    <a:spLocks noChangeArrowheads="1"/>
                  </p:cNvSpPr>
                  <p:nvPr/>
                </p:nvSpPr>
                <p:spPr bwMode="auto">
                  <a:xfrm>
                    <a:off x="2674" y="2806"/>
                    <a:ext cx="5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7" name="Rectangle 136" descr="深色上对角线"/>
                  <p:cNvSpPr>
                    <a:spLocks noChangeArrowheads="1"/>
                  </p:cNvSpPr>
                  <p:nvPr/>
                </p:nvSpPr>
                <p:spPr bwMode="auto">
                  <a:xfrm>
                    <a:off x="2635" y="2805"/>
                    <a:ext cx="39" cy="172"/>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50" name="Text Box 137"/>
                <p:cNvSpPr txBox="1">
                  <a:spLocks noChangeArrowheads="1"/>
                </p:cNvSpPr>
                <p:nvPr/>
              </p:nvSpPr>
              <p:spPr bwMode="auto">
                <a:xfrm>
                  <a:off x="5015" y="2315"/>
                  <a:ext cx="22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1" name="Text Box 138"/>
                <p:cNvSpPr txBox="1">
                  <a:spLocks noChangeArrowheads="1"/>
                </p:cNvSpPr>
                <p:nvPr/>
              </p:nvSpPr>
              <p:spPr bwMode="auto">
                <a:xfrm>
                  <a:off x="4871" y="2557"/>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2" name="Text Box 139"/>
                <p:cNvSpPr txBox="1">
                  <a:spLocks noChangeArrowheads="1"/>
                </p:cNvSpPr>
                <p:nvPr/>
              </p:nvSpPr>
              <p:spPr bwMode="auto">
                <a:xfrm>
                  <a:off x="4717" y="2633"/>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3" name="Text Box 140"/>
                <p:cNvSpPr txBox="1">
                  <a:spLocks noChangeArrowheads="1"/>
                </p:cNvSpPr>
                <p:nvPr/>
              </p:nvSpPr>
              <p:spPr bwMode="auto">
                <a:xfrm>
                  <a:off x="4587" y="2701"/>
                  <a:ext cx="17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4" name="Text Box 141"/>
                <p:cNvSpPr txBox="1">
                  <a:spLocks noChangeArrowheads="1"/>
                </p:cNvSpPr>
                <p:nvPr/>
              </p:nvSpPr>
              <p:spPr bwMode="auto">
                <a:xfrm>
                  <a:off x="4436" y="2771"/>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y</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5" name="Text Box 142"/>
                <p:cNvSpPr txBox="1">
                  <a:spLocks noChangeArrowheads="1"/>
                </p:cNvSpPr>
                <p:nvPr/>
              </p:nvSpPr>
              <p:spPr bwMode="auto">
                <a:xfrm>
                  <a:off x="4291" y="2801"/>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x</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6" name="Text Box 143"/>
                <p:cNvSpPr txBox="1">
                  <a:spLocks noChangeArrowheads="1"/>
                </p:cNvSpPr>
                <p:nvPr/>
              </p:nvSpPr>
              <p:spPr bwMode="auto">
                <a:xfrm>
                  <a:off x="4110" y="283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v</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7" name="Text Box 144"/>
                <p:cNvSpPr txBox="1">
                  <a:spLocks noChangeArrowheads="1"/>
                </p:cNvSpPr>
                <p:nvPr/>
              </p:nvSpPr>
              <p:spPr bwMode="auto">
                <a:xfrm>
                  <a:off x="3955" y="285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u</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8" name="Text Box 145"/>
                <p:cNvSpPr txBox="1">
                  <a:spLocks noChangeArrowheads="1"/>
                </p:cNvSpPr>
                <p:nvPr/>
              </p:nvSpPr>
              <p:spPr bwMode="auto">
                <a:xfrm>
                  <a:off x="2827" y="2990"/>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k</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9" name="Text Box 146"/>
                <p:cNvSpPr txBox="1">
                  <a:spLocks noChangeArrowheads="1"/>
                </p:cNvSpPr>
                <p:nvPr/>
              </p:nvSpPr>
              <p:spPr bwMode="auto">
                <a:xfrm>
                  <a:off x="2981" y="295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m</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0" name="Text Box 147"/>
                <p:cNvSpPr txBox="1">
                  <a:spLocks noChangeArrowheads="1"/>
                </p:cNvSpPr>
                <p:nvPr/>
              </p:nvSpPr>
              <p:spPr bwMode="auto">
                <a:xfrm>
                  <a:off x="2494" y="286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h</a:t>
                  </a:r>
                  <a:endPar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61" name="Text Box 148"/>
                <p:cNvSpPr txBox="1">
                  <a:spLocks noChangeArrowheads="1"/>
                </p:cNvSpPr>
                <p:nvPr/>
              </p:nvSpPr>
              <p:spPr bwMode="auto">
                <a:xfrm>
                  <a:off x="933" y="361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2" name="Text Box 149"/>
                <p:cNvSpPr txBox="1">
                  <a:spLocks noChangeArrowheads="1"/>
                </p:cNvSpPr>
                <p:nvPr/>
              </p:nvSpPr>
              <p:spPr bwMode="auto">
                <a:xfrm>
                  <a:off x="1086" y="3289"/>
                  <a:ext cx="17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3" name="Text Box 150"/>
                <p:cNvSpPr txBox="1">
                  <a:spLocks noChangeArrowheads="1"/>
                </p:cNvSpPr>
                <p:nvPr/>
              </p:nvSpPr>
              <p:spPr bwMode="auto">
                <a:xfrm>
                  <a:off x="1237" y="316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4" name="Text Box 151"/>
                <p:cNvSpPr txBox="1">
                  <a:spLocks noChangeArrowheads="1"/>
                </p:cNvSpPr>
                <p:nvPr/>
              </p:nvSpPr>
              <p:spPr bwMode="auto">
                <a:xfrm>
                  <a:off x="1372" y="3087"/>
                  <a:ext cx="22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5" name="Text Box 152"/>
                <p:cNvSpPr txBox="1">
                  <a:spLocks noChangeArrowheads="1"/>
                </p:cNvSpPr>
                <p:nvPr/>
              </p:nvSpPr>
              <p:spPr bwMode="auto">
                <a:xfrm>
                  <a:off x="1543" y="303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6" name="Text Box 153"/>
                <p:cNvSpPr txBox="1">
                  <a:spLocks noChangeArrowheads="1"/>
                </p:cNvSpPr>
                <p:nvPr/>
              </p:nvSpPr>
              <p:spPr bwMode="auto">
                <a:xfrm>
                  <a:off x="1708" y="2990"/>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7" name="Text Box 154"/>
                <p:cNvSpPr txBox="1">
                  <a:spLocks noChangeArrowheads="1"/>
                </p:cNvSpPr>
                <p:nvPr/>
              </p:nvSpPr>
              <p:spPr bwMode="auto">
                <a:xfrm>
                  <a:off x="2012" y="292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8" name="Text Box 155"/>
                <p:cNvSpPr txBox="1">
                  <a:spLocks noChangeArrowheads="1"/>
                </p:cNvSpPr>
                <p:nvPr/>
              </p:nvSpPr>
              <p:spPr bwMode="auto">
                <a:xfrm>
                  <a:off x="301" y="287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0</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9" name="Text Box 156"/>
                <p:cNvSpPr txBox="1">
                  <a:spLocks noChangeArrowheads="1"/>
                </p:cNvSpPr>
                <p:nvPr/>
              </p:nvSpPr>
              <p:spPr bwMode="auto">
                <a:xfrm>
                  <a:off x="422" y="2631"/>
                  <a:ext cx="213" cy="7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70" name="Text Box 157"/>
                <p:cNvSpPr txBox="1">
                  <a:spLocks noChangeArrowheads="1"/>
                </p:cNvSpPr>
                <p:nvPr/>
              </p:nvSpPr>
              <p:spPr bwMode="auto">
                <a:xfrm>
                  <a:off x="3278" y="3675"/>
                  <a:ext cx="309" cy="288"/>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轴</a:t>
                  </a:r>
                  <a:endPar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71" name="Rectangle 158"/>
                <p:cNvSpPr>
                  <a:spLocks noChangeArrowheads="1"/>
                </p:cNvSpPr>
                <p:nvPr/>
              </p:nvSpPr>
              <p:spPr bwMode="auto">
                <a:xfrm>
                  <a:off x="2201" y="2959"/>
                  <a:ext cx="126"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2" name="Rectangle 159"/>
                <p:cNvSpPr>
                  <a:spLocks noChangeArrowheads="1"/>
                </p:cNvSpPr>
                <p:nvPr/>
              </p:nvSpPr>
              <p:spPr bwMode="auto">
                <a:xfrm>
                  <a:off x="1876" y="2991"/>
                  <a:ext cx="139"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3" name="Rectangle 160"/>
                <p:cNvSpPr>
                  <a:spLocks noChangeArrowheads="1"/>
                </p:cNvSpPr>
                <p:nvPr/>
              </p:nvSpPr>
              <p:spPr bwMode="auto">
                <a:xfrm>
                  <a:off x="5036" y="2135"/>
                  <a:ext cx="156" cy="52"/>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4" name="Rectangle 161"/>
                <p:cNvSpPr>
                  <a:spLocks noChangeArrowheads="1"/>
                </p:cNvSpPr>
                <p:nvPr/>
              </p:nvSpPr>
              <p:spPr bwMode="auto">
                <a:xfrm>
                  <a:off x="4897" y="2351"/>
                  <a:ext cx="156" cy="52"/>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5" name="Rectangle 162"/>
                <p:cNvSpPr>
                  <a:spLocks noChangeArrowheads="1"/>
                </p:cNvSpPr>
                <p:nvPr/>
              </p:nvSpPr>
              <p:spPr bwMode="auto">
                <a:xfrm>
                  <a:off x="4745" y="2455"/>
                  <a:ext cx="156" cy="52"/>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6" name="Rectangle 163"/>
                <p:cNvSpPr>
                  <a:spLocks noChangeArrowheads="1"/>
                </p:cNvSpPr>
                <p:nvPr/>
              </p:nvSpPr>
              <p:spPr bwMode="auto">
                <a:xfrm>
                  <a:off x="4594" y="252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7" name="Rectangle 164"/>
                <p:cNvSpPr>
                  <a:spLocks noChangeArrowheads="1"/>
                </p:cNvSpPr>
                <p:nvPr/>
              </p:nvSpPr>
              <p:spPr bwMode="auto">
                <a:xfrm>
                  <a:off x="4446" y="258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8" name="Rectangle 165"/>
                <p:cNvSpPr>
                  <a:spLocks noChangeArrowheads="1"/>
                </p:cNvSpPr>
                <p:nvPr/>
              </p:nvSpPr>
              <p:spPr bwMode="auto">
                <a:xfrm>
                  <a:off x="4286" y="263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9" name="Rectangle 166"/>
                <p:cNvSpPr>
                  <a:spLocks noChangeArrowheads="1"/>
                </p:cNvSpPr>
                <p:nvPr/>
              </p:nvSpPr>
              <p:spPr bwMode="auto">
                <a:xfrm>
                  <a:off x="4126" y="2660"/>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0" name="Rectangle 167"/>
                <p:cNvSpPr>
                  <a:spLocks noChangeArrowheads="1"/>
                </p:cNvSpPr>
                <p:nvPr/>
              </p:nvSpPr>
              <p:spPr bwMode="auto">
                <a:xfrm>
                  <a:off x="3965" y="269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1" name="Rectangle 168"/>
                <p:cNvSpPr>
                  <a:spLocks noChangeArrowheads="1"/>
                </p:cNvSpPr>
                <p:nvPr/>
              </p:nvSpPr>
              <p:spPr bwMode="auto">
                <a:xfrm>
                  <a:off x="3800" y="2704"/>
                  <a:ext cx="157"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2" name="Rectangle 169"/>
                <p:cNvSpPr>
                  <a:spLocks noChangeArrowheads="1"/>
                </p:cNvSpPr>
                <p:nvPr/>
              </p:nvSpPr>
              <p:spPr bwMode="auto">
                <a:xfrm>
                  <a:off x="3644" y="273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3" name="Rectangle 170"/>
                <p:cNvSpPr>
                  <a:spLocks noChangeArrowheads="1"/>
                </p:cNvSpPr>
                <p:nvPr/>
              </p:nvSpPr>
              <p:spPr bwMode="auto">
                <a:xfrm>
                  <a:off x="3480" y="2744"/>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4" name="Rectangle 171"/>
                <p:cNvSpPr>
                  <a:spLocks noChangeArrowheads="1"/>
                </p:cNvSpPr>
                <p:nvPr/>
              </p:nvSpPr>
              <p:spPr bwMode="auto">
                <a:xfrm>
                  <a:off x="3315" y="275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5" name="Rectangle 172"/>
                <p:cNvSpPr>
                  <a:spLocks noChangeArrowheads="1"/>
                </p:cNvSpPr>
                <p:nvPr/>
              </p:nvSpPr>
              <p:spPr bwMode="auto">
                <a:xfrm>
                  <a:off x="3168" y="2760"/>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6" name="Rectangle 173"/>
                <p:cNvSpPr>
                  <a:spLocks noChangeArrowheads="1"/>
                </p:cNvSpPr>
                <p:nvPr/>
              </p:nvSpPr>
              <p:spPr bwMode="auto">
                <a:xfrm>
                  <a:off x="2990" y="277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7" name="Rectangle 174"/>
                <p:cNvSpPr>
                  <a:spLocks noChangeArrowheads="1"/>
                </p:cNvSpPr>
                <p:nvPr/>
              </p:nvSpPr>
              <p:spPr bwMode="auto">
                <a:xfrm>
                  <a:off x="2817" y="2784"/>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8" name="Rectangle 175"/>
                <p:cNvSpPr>
                  <a:spLocks noChangeArrowheads="1"/>
                </p:cNvSpPr>
                <p:nvPr/>
              </p:nvSpPr>
              <p:spPr bwMode="auto">
                <a:xfrm>
                  <a:off x="2674" y="2884"/>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9" name="Rectangle 176"/>
                <p:cNvSpPr>
                  <a:spLocks noChangeArrowheads="1"/>
                </p:cNvSpPr>
                <p:nvPr/>
              </p:nvSpPr>
              <p:spPr bwMode="auto">
                <a:xfrm>
                  <a:off x="2678" y="312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0" name="Text Box 177"/>
                <p:cNvSpPr txBox="1">
                  <a:spLocks noChangeArrowheads="1"/>
                </p:cNvSpPr>
                <p:nvPr/>
              </p:nvSpPr>
              <p:spPr bwMode="auto">
                <a:xfrm>
                  <a:off x="2634" y="3089"/>
                  <a:ext cx="227"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1" name="Rectangle 178"/>
                <p:cNvSpPr>
                  <a:spLocks noChangeArrowheads="1"/>
                </p:cNvSpPr>
                <p:nvPr/>
              </p:nvSpPr>
              <p:spPr bwMode="auto">
                <a:xfrm>
                  <a:off x="2340" y="324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2" name="Rectangle 179"/>
                <p:cNvSpPr>
                  <a:spLocks noChangeArrowheads="1"/>
                </p:cNvSpPr>
                <p:nvPr/>
              </p:nvSpPr>
              <p:spPr bwMode="auto">
                <a:xfrm>
                  <a:off x="2184" y="3276"/>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3" name="Rectangle 180"/>
                <p:cNvSpPr>
                  <a:spLocks noChangeArrowheads="1"/>
                </p:cNvSpPr>
                <p:nvPr/>
              </p:nvSpPr>
              <p:spPr bwMode="auto">
                <a:xfrm>
                  <a:off x="2505" y="3232"/>
                  <a:ext cx="156" cy="51"/>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4" name="Rectangle 181"/>
                <p:cNvSpPr>
                  <a:spLocks noChangeArrowheads="1"/>
                </p:cNvSpPr>
                <p:nvPr/>
              </p:nvSpPr>
              <p:spPr bwMode="auto">
                <a:xfrm>
                  <a:off x="2028" y="329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5" name="Rectangle 182"/>
                <p:cNvSpPr>
                  <a:spLocks noChangeArrowheads="1"/>
                </p:cNvSpPr>
                <p:nvPr/>
              </p:nvSpPr>
              <p:spPr bwMode="auto">
                <a:xfrm>
                  <a:off x="1872" y="3320"/>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6" name="Rectangle 183"/>
                <p:cNvSpPr>
                  <a:spLocks noChangeArrowheads="1"/>
                </p:cNvSpPr>
                <p:nvPr/>
              </p:nvSpPr>
              <p:spPr bwMode="auto">
                <a:xfrm>
                  <a:off x="1720" y="3356"/>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7" name="Rectangle 184"/>
                <p:cNvSpPr>
                  <a:spLocks noChangeArrowheads="1"/>
                </p:cNvSpPr>
                <p:nvPr/>
              </p:nvSpPr>
              <p:spPr bwMode="auto">
                <a:xfrm>
                  <a:off x="1560" y="3412"/>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8" name="Rectangle 185"/>
                <p:cNvSpPr>
                  <a:spLocks noChangeArrowheads="1"/>
                </p:cNvSpPr>
                <p:nvPr/>
              </p:nvSpPr>
              <p:spPr bwMode="auto">
                <a:xfrm>
                  <a:off x="1408" y="3460"/>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9" name="Rectangle 186"/>
                <p:cNvSpPr>
                  <a:spLocks noChangeArrowheads="1"/>
                </p:cNvSpPr>
                <p:nvPr/>
              </p:nvSpPr>
              <p:spPr bwMode="auto">
                <a:xfrm>
                  <a:off x="1252" y="3536"/>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0" name="Rectangle 187"/>
                <p:cNvSpPr>
                  <a:spLocks noChangeArrowheads="1"/>
                </p:cNvSpPr>
                <p:nvPr/>
              </p:nvSpPr>
              <p:spPr bwMode="auto">
                <a:xfrm>
                  <a:off x="1079" y="3660"/>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1" name="Rectangle 188"/>
                <p:cNvSpPr>
                  <a:spLocks noChangeArrowheads="1"/>
                </p:cNvSpPr>
                <p:nvPr/>
              </p:nvSpPr>
              <p:spPr bwMode="auto">
                <a:xfrm>
                  <a:off x="927" y="3992"/>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2" name="Text Box 189"/>
                <p:cNvSpPr txBox="1">
                  <a:spLocks noChangeArrowheads="1"/>
                </p:cNvSpPr>
                <p:nvPr/>
              </p:nvSpPr>
              <p:spPr bwMode="auto">
                <a:xfrm>
                  <a:off x="1830" y="2946"/>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3" name="Rectangle 190"/>
                <p:cNvSpPr>
                  <a:spLocks noChangeArrowheads="1"/>
                </p:cNvSpPr>
                <p:nvPr/>
              </p:nvSpPr>
              <p:spPr bwMode="auto">
                <a:xfrm>
                  <a:off x="2379" y="2943"/>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4" name="Text Box 191"/>
                <p:cNvSpPr txBox="1">
                  <a:spLocks noChangeArrowheads="1"/>
                </p:cNvSpPr>
                <p:nvPr/>
              </p:nvSpPr>
              <p:spPr bwMode="auto">
                <a:xfrm>
                  <a:off x="2142" y="2897"/>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5" name="Text Box 192"/>
                <p:cNvSpPr txBox="1">
                  <a:spLocks noChangeArrowheads="1"/>
                </p:cNvSpPr>
                <p:nvPr/>
              </p:nvSpPr>
              <p:spPr bwMode="auto">
                <a:xfrm>
                  <a:off x="2336" y="2871"/>
                  <a:ext cx="17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6" name="Rectangle 193"/>
                <p:cNvSpPr>
                  <a:spLocks noChangeArrowheads="1"/>
                </p:cNvSpPr>
                <p:nvPr/>
              </p:nvSpPr>
              <p:spPr bwMode="auto">
                <a:xfrm>
                  <a:off x="3181" y="3015"/>
                  <a:ext cx="104"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7" name="Rectangle 194"/>
                <p:cNvSpPr>
                  <a:spLocks noChangeArrowheads="1"/>
                </p:cNvSpPr>
                <p:nvPr/>
              </p:nvSpPr>
              <p:spPr bwMode="auto">
                <a:xfrm>
                  <a:off x="3350" y="3007"/>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8" name="Rectangle 195"/>
                <p:cNvSpPr>
                  <a:spLocks noChangeArrowheads="1"/>
                </p:cNvSpPr>
                <p:nvPr/>
              </p:nvSpPr>
              <p:spPr bwMode="auto">
                <a:xfrm>
                  <a:off x="3519" y="2987"/>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9" name="Rectangle 196"/>
                <p:cNvSpPr>
                  <a:spLocks noChangeArrowheads="1"/>
                </p:cNvSpPr>
                <p:nvPr/>
              </p:nvSpPr>
              <p:spPr bwMode="auto">
                <a:xfrm>
                  <a:off x="3675" y="2983"/>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0" name="Rectangle 197"/>
                <p:cNvSpPr>
                  <a:spLocks noChangeArrowheads="1"/>
                </p:cNvSpPr>
                <p:nvPr/>
              </p:nvSpPr>
              <p:spPr bwMode="auto">
                <a:xfrm>
                  <a:off x="3844" y="2979"/>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1" name="Text Box 198"/>
                <p:cNvSpPr txBox="1">
                  <a:spLocks noChangeArrowheads="1"/>
                </p:cNvSpPr>
                <p:nvPr/>
              </p:nvSpPr>
              <p:spPr bwMode="auto">
                <a:xfrm>
                  <a:off x="3804" y="289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t</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12" name="Text Box 199"/>
                <p:cNvSpPr txBox="1">
                  <a:spLocks noChangeArrowheads="1"/>
                </p:cNvSpPr>
                <p:nvPr/>
              </p:nvSpPr>
              <p:spPr bwMode="auto">
                <a:xfrm>
                  <a:off x="3635" y="290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13" name="Text Box 200"/>
                <p:cNvSpPr txBox="1">
                  <a:spLocks noChangeArrowheads="1"/>
                </p:cNvSpPr>
                <p:nvPr/>
              </p:nvSpPr>
              <p:spPr bwMode="auto">
                <a:xfrm>
                  <a:off x="3481" y="2920"/>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r</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14" name="Text Box 201"/>
                <p:cNvSpPr txBox="1">
                  <a:spLocks noChangeArrowheads="1"/>
                </p:cNvSpPr>
                <p:nvPr/>
              </p:nvSpPr>
              <p:spPr bwMode="auto">
                <a:xfrm>
                  <a:off x="3150" y="294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n</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15" name="Text Box 202"/>
                <p:cNvSpPr txBox="1">
                  <a:spLocks noChangeArrowheads="1"/>
                </p:cNvSpPr>
                <p:nvPr/>
              </p:nvSpPr>
              <p:spPr bwMode="auto">
                <a:xfrm>
                  <a:off x="3315" y="292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p</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grpSp>
        <p:sp>
          <p:nvSpPr>
            <p:cNvPr id="5" name="AutoShape 206"/>
            <p:cNvSpPr/>
            <p:nvPr/>
          </p:nvSpPr>
          <p:spPr bwMode="auto">
            <a:xfrm rot="5400000">
              <a:off x="2763837" y="3133726"/>
              <a:ext cx="149225" cy="2457450"/>
            </a:xfrm>
            <a:prstGeom prst="leftBrace">
              <a:avLst>
                <a:gd name="adj1" fmla="val 137234"/>
                <a:gd name="adj2" fmla="val 50000"/>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6" name="Text Box 207"/>
            <p:cNvSpPr txBox="1">
              <a:spLocks noChangeArrowheads="1"/>
            </p:cNvSpPr>
            <p:nvPr/>
          </p:nvSpPr>
          <p:spPr bwMode="auto">
            <a:xfrm>
              <a:off x="1649413" y="3916363"/>
              <a:ext cx="1787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a→h </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间隙配合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7" name="AutoShape 208"/>
            <p:cNvSpPr/>
            <p:nvPr/>
          </p:nvSpPr>
          <p:spPr bwMode="auto">
            <a:xfrm rot="5400000">
              <a:off x="4492625" y="4129088"/>
              <a:ext cx="130175" cy="466725"/>
            </a:xfrm>
            <a:prstGeom prst="leftBrace">
              <a:avLst>
                <a:gd name="adj1" fmla="val 29878"/>
                <a:gd name="adj2" fmla="val 50000"/>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8" name="Text Box 209"/>
            <p:cNvSpPr txBox="1">
              <a:spLocks noChangeArrowheads="1"/>
            </p:cNvSpPr>
            <p:nvPr/>
          </p:nvSpPr>
          <p:spPr bwMode="auto">
            <a:xfrm>
              <a:off x="4029075" y="3900488"/>
              <a:ext cx="18145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j→m </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过渡配合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9" name="AutoShape 210"/>
            <p:cNvSpPr/>
            <p:nvPr/>
          </p:nvSpPr>
          <p:spPr bwMode="auto">
            <a:xfrm rot="16200000" flipV="1">
              <a:off x="6862763" y="3832225"/>
              <a:ext cx="157162" cy="2401888"/>
            </a:xfrm>
            <a:prstGeom prst="leftBrace">
              <a:avLst>
                <a:gd name="adj1" fmla="val 127357"/>
                <a:gd name="adj2" fmla="val 50000"/>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 name="Text Box 211"/>
            <p:cNvSpPr txBox="1">
              <a:spLocks noChangeArrowheads="1"/>
            </p:cNvSpPr>
            <p:nvPr/>
          </p:nvSpPr>
          <p:spPr bwMode="auto">
            <a:xfrm>
              <a:off x="6045200" y="5070475"/>
              <a:ext cx="18557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r→zc </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过盈配合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1" name="Text Box 212"/>
            <p:cNvSpPr txBox="1">
              <a:spLocks noChangeArrowheads="1"/>
            </p:cNvSpPr>
            <p:nvPr/>
          </p:nvSpPr>
          <p:spPr bwMode="auto">
            <a:xfrm>
              <a:off x="4565650" y="5060950"/>
              <a:ext cx="14319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n</a:t>
              </a:r>
              <a:r>
                <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a:t>
              </a: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p</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可能</a:t>
              </a:r>
              <a:r>
                <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为</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过渡配合或过盈配合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2" name="AutoShape 213"/>
            <p:cNvSpPr/>
            <p:nvPr/>
          </p:nvSpPr>
          <p:spPr bwMode="auto">
            <a:xfrm rot="-5400000">
              <a:off x="5194300" y="4905375"/>
              <a:ext cx="133350" cy="266700"/>
            </a:xfrm>
            <a:prstGeom prst="leftBrace">
              <a:avLst>
                <a:gd name="adj1" fmla="val 16667"/>
                <a:gd name="adj2" fmla="val 49403"/>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 name="AutoShape 215"/>
            <p:cNvSpPr/>
            <p:nvPr/>
          </p:nvSpPr>
          <p:spPr bwMode="auto">
            <a:xfrm>
              <a:off x="2789238" y="722313"/>
              <a:ext cx="914400" cy="403225"/>
            </a:xfrm>
            <a:prstGeom prst="borderCallout2">
              <a:avLst>
                <a:gd name="adj1" fmla="val 28347"/>
                <a:gd name="adj2" fmla="val 108333"/>
                <a:gd name="adj3" fmla="val 28347"/>
                <a:gd name="adj4" fmla="val 125694"/>
                <a:gd name="adj5" fmla="val 268898"/>
                <a:gd name="adj6" fmla="val 143926"/>
              </a:avLst>
            </a:prstGeom>
            <a:solidFill>
              <a:srgbClr val="D7CEE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rPr>
                <a:t>基准孔</a:t>
              </a:r>
              <a:endParaRPr kumimoji="1" lang="zh-CN" altLang="en-US" sz="1800"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2" charset="-122"/>
              </a:endParaRPr>
            </a:p>
          </p:txBody>
        </p:sp>
        <p:sp>
          <p:nvSpPr>
            <p:cNvPr id="14" name="Line 37"/>
            <p:cNvSpPr>
              <a:spLocks noChangeShapeType="1"/>
            </p:cNvSpPr>
            <p:nvPr/>
          </p:nvSpPr>
          <p:spPr bwMode="auto">
            <a:xfrm flipV="1">
              <a:off x="1376412" y="4821808"/>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5" name="Text Box 38"/>
            <p:cNvSpPr txBox="1">
              <a:spLocks noChangeArrowheads="1"/>
            </p:cNvSpPr>
            <p:nvPr/>
          </p:nvSpPr>
          <p:spPr bwMode="auto">
            <a:xfrm rot="16200000">
              <a:off x="226221" y="4985544"/>
              <a:ext cx="1889125"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黑体" panose="02010609060101010101" pitchFamily="2" charset="-122"/>
                </a:rPr>
                <a:t>基本尺寸</a:t>
              </a:r>
              <a:endParaRPr kumimoji="1"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黑体" panose="02010609060101010101" pitchFamily="2" charset="-122"/>
              </a:endParaRPr>
            </a:p>
          </p:txBody>
        </p:sp>
        <p:sp>
          <p:nvSpPr>
            <p:cNvPr id="17" name="Line 37"/>
            <p:cNvSpPr>
              <a:spLocks noChangeShapeType="1"/>
            </p:cNvSpPr>
            <p:nvPr/>
          </p:nvSpPr>
          <p:spPr bwMode="auto">
            <a:xfrm flipV="1">
              <a:off x="1382763" y="2062262"/>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8" name="Text Box 38"/>
            <p:cNvSpPr txBox="1">
              <a:spLocks noChangeArrowheads="1"/>
            </p:cNvSpPr>
            <p:nvPr/>
          </p:nvSpPr>
          <p:spPr bwMode="auto">
            <a:xfrm rot="16200000">
              <a:off x="232571" y="2235994"/>
              <a:ext cx="1889125"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黑体" panose="02010609060101010101" pitchFamily="2" charset="-122"/>
                </a:rPr>
                <a:t>基本尺寸</a:t>
              </a:r>
              <a:endParaRPr kumimoji="1"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黑体" panose="0201060906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Rectangle 2"/>
          <p:cNvSpPr>
            <a:spLocks noChangeArrowheads="1"/>
          </p:cNvSpPr>
          <p:nvPr/>
        </p:nvSpPr>
        <p:spPr bwMode="auto">
          <a:xfrm>
            <a:off x="4357539" y="3537272"/>
            <a:ext cx="844550" cy="495300"/>
          </a:xfrm>
          <a:prstGeom prst="rect">
            <a:avLst/>
          </a:prstGeom>
          <a:pattFill prst="wdDnDiag">
            <a:fgClr>
              <a:srgbClr val="333399">
                <a:alpha val="38039"/>
              </a:srgbClr>
            </a:fgClr>
            <a:bgClr>
              <a:srgbClr val="FFFFFF">
                <a:alpha val="38039"/>
              </a:srgbClr>
            </a:bgClr>
          </a:pattFill>
          <a:ln w="19050"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轴</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 name="Rectangle 3"/>
          <p:cNvSpPr>
            <a:spLocks noChangeArrowheads="1"/>
          </p:cNvSpPr>
          <p:nvPr/>
        </p:nvSpPr>
        <p:spPr bwMode="auto">
          <a:xfrm>
            <a:off x="5368776" y="2907035"/>
            <a:ext cx="844550" cy="487362"/>
          </a:xfrm>
          <a:prstGeom prst="rect">
            <a:avLst/>
          </a:prstGeom>
          <a:pattFill prst="wdUpDiag">
            <a:fgClr>
              <a:srgbClr val="808080">
                <a:alpha val="56078"/>
              </a:srgbClr>
            </a:fgClr>
            <a:bgClr>
              <a:srgbClr val="FFFFFF">
                <a:alpha val="56078"/>
              </a:srgbClr>
            </a:bgClr>
          </a:pattFill>
          <a:ln w="19050" algn="ctr">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孔</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 name="Rectangle 4"/>
          <p:cNvSpPr>
            <a:spLocks noChangeArrowheads="1"/>
          </p:cNvSpPr>
          <p:nvPr/>
        </p:nvSpPr>
        <p:spPr bwMode="auto">
          <a:xfrm>
            <a:off x="6335564" y="4094485"/>
            <a:ext cx="846137" cy="488950"/>
          </a:xfrm>
          <a:prstGeom prst="rect">
            <a:avLst/>
          </a:prstGeom>
          <a:pattFill prst="wdUpDiag">
            <a:fgClr>
              <a:srgbClr val="808080">
                <a:alpha val="56078"/>
              </a:srgbClr>
            </a:fgClr>
            <a:bgClr>
              <a:srgbClr val="FFFFFF">
                <a:alpha val="56078"/>
              </a:srgbClr>
            </a:bgClr>
          </a:pattFill>
          <a:ln w="19050" algn="ctr">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孔</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 name="Text Box 5"/>
          <p:cNvSpPr txBox="1">
            <a:spLocks noChangeArrowheads="1"/>
          </p:cNvSpPr>
          <p:nvPr/>
        </p:nvSpPr>
        <p:spPr bwMode="auto">
          <a:xfrm>
            <a:off x="5024289" y="2543497"/>
            <a:ext cx="15351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b="1">
                <a:solidFill>
                  <a:srgbClr val="000066"/>
                </a:solidFill>
                <a:latin typeface="黑体" panose="02010609060101010101" pitchFamily="2" charset="-122"/>
                <a:ea typeface="黑体" panose="02010609060101010101" pitchFamily="2" charset="-122"/>
              </a:rPr>
              <a:t>间隙配合</a:t>
            </a:r>
            <a:endParaRPr kumimoji="1" lang="zh-CN" altLang="en-US" sz="2000" b="1">
              <a:solidFill>
                <a:srgbClr val="000066"/>
              </a:solidFill>
              <a:latin typeface="黑体" panose="02010609060101010101" pitchFamily="2" charset="-122"/>
              <a:ea typeface="黑体" panose="02010609060101010101" pitchFamily="2" charset="-122"/>
            </a:endParaRPr>
          </a:p>
        </p:txBody>
      </p:sp>
      <p:sp>
        <p:nvSpPr>
          <p:cNvPr id="6" name="Text Box 6"/>
          <p:cNvSpPr txBox="1">
            <a:spLocks noChangeArrowheads="1"/>
          </p:cNvSpPr>
          <p:nvPr/>
        </p:nvSpPr>
        <p:spPr bwMode="auto">
          <a:xfrm>
            <a:off x="6157764" y="4523110"/>
            <a:ext cx="13700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66"/>
                </a:solidFill>
                <a:latin typeface="黑体" panose="02010609060101010101" pitchFamily="2" charset="-122"/>
                <a:ea typeface="黑体" panose="02010609060101010101" pitchFamily="2" charset="-122"/>
              </a:rPr>
              <a:t>过盈配合</a:t>
            </a:r>
            <a:endParaRPr kumimoji="1" lang="zh-CN" altLang="en-US" sz="2000" b="1">
              <a:solidFill>
                <a:srgbClr val="000066"/>
              </a:solidFill>
              <a:latin typeface="黑体" panose="02010609060101010101" pitchFamily="2" charset="-122"/>
              <a:ea typeface="黑体" panose="02010609060101010101" pitchFamily="2" charset="-122"/>
            </a:endParaRPr>
          </a:p>
        </p:txBody>
      </p:sp>
      <p:sp>
        <p:nvSpPr>
          <p:cNvPr id="7" name="Text Box 7"/>
          <p:cNvSpPr txBox="1">
            <a:spLocks noChangeArrowheads="1"/>
          </p:cNvSpPr>
          <p:nvPr/>
        </p:nvSpPr>
        <p:spPr bwMode="auto">
          <a:xfrm>
            <a:off x="7173764" y="2889572"/>
            <a:ext cx="13668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66"/>
                </a:solidFill>
                <a:latin typeface="黑体" panose="02010609060101010101" pitchFamily="2" charset="-122"/>
                <a:ea typeface="黑体" panose="02010609060101010101" pitchFamily="2" charset="-122"/>
              </a:rPr>
              <a:t>过渡配合</a:t>
            </a:r>
            <a:endParaRPr kumimoji="1" lang="zh-CN" altLang="en-US" sz="2000" b="1">
              <a:solidFill>
                <a:srgbClr val="000066"/>
              </a:solidFill>
              <a:latin typeface="黑体" panose="02010609060101010101" pitchFamily="2" charset="-122"/>
              <a:ea typeface="黑体" panose="02010609060101010101" pitchFamily="2" charset="-122"/>
            </a:endParaRPr>
          </a:p>
        </p:txBody>
      </p:sp>
      <p:sp>
        <p:nvSpPr>
          <p:cNvPr id="8" name="Text Box 8"/>
          <p:cNvSpPr txBox="1">
            <a:spLocks noChangeArrowheads="1"/>
          </p:cNvSpPr>
          <p:nvPr/>
        </p:nvSpPr>
        <p:spPr bwMode="auto">
          <a:xfrm>
            <a:off x="4222601" y="3981772"/>
            <a:ext cx="10985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zh-CN" altLang="en-US" sz="2000" b="1">
                <a:solidFill>
                  <a:srgbClr val="CC0000"/>
                </a:solidFill>
                <a:latin typeface="黑体" panose="02010609060101010101" pitchFamily="2" charset="-122"/>
                <a:ea typeface="黑体" panose="02010609060101010101" pitchFamily="2" charset="-122"/>
              </a:rPr>
              <a:t>基准轴</a:t>
            </a:r>
            <a:endParaRPr kumimoji="1" lang="zh-CN" altLang="en-US" sz="2000" b="1">
              <a:solidFill>
                <a:srgbClr val="CC0000"/>
              </a:solidFill>
              <a:latin typeface="黑体" panose="02010609060101010101" pitchFamily="2" charset="-122"/>
              <a:ea typeface="黑体" panose="02010609060101010101" pitchFamily="2" charset="-122"/>
            </a:endParaRPr>
          </a:p>
        </p:txBody>
      </p:sp>
      <p:sp>
        <p:nvSpPr>
          <p:cNvPr id="9" name="Text Box 9"/>
          <p:cNvSpPr txBox="1">
            <a:spLocks noChangeArrowheads="1"/>
          </p:cNvSpPr>
          <p:nvPr/>
        </p:nvSpPr>
        <p:spPr bwMode="auto">
          <a:xfrm>
            <a:off x="4889351" y="3524572"/>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b="1">
                <a:solidFill>
                  <a:srgbClr val="CC0000"/>
                </a:solidFill>
                <a:latin typeface="黑体" panose="02010609060101010101" pitchFamily="2" charset="-122"/>
                <a:ea typeface="黑体" panose="02010609060101010101" pitchFamily="2" charset="-122"/>
              </a:rPr>
              <a:t>h</a:t>
            </a:r>
            <a:endParaRPr kumimoji="1" lang="en-US" altLang="zh-CN" sz="2400" b="1">
              <a:solidFill>
                <a:srgbClr val="CC0000"/>
              </a:solidFill>
              <a:latin typeface="黑体" panose="02010609060101010101" pitchFamily="2" charset="-122"/>
              <a:ea typeface="黑体" panose="02010609060101010101" pitchFamily="2" charset="-122"/>
            </a:endParaRPr>
          </a:p>
        </p:txBody>
      </p:sp>
      <p:grpSp>
        <p:nvGrpSpPr>
          <p:cNvPr id="10" name="Group 11"/>
          <p:cNvGrpSpPr/>
          <p:nvPr/>
        </p:nvGrpSpPr>
        <p:grpSpPr bwMode="auto">
          <a:xfrm>
            <a:off x="3071664" y="3068960"/>
            <a:ext cx="5454650" cy="1871662"/>
            <a:chOff x="700" y="2304"/>
            <a:chExt cx="3436" cy="1169"/>
          </a:xfrm>
        </p:grpSpPr>
        <p:sp>
          <p:nvSpPr>
            <p:cNvPr id="11" name="Line 12"/>
            <p:cNvSpPr>
              <a:spLocks noChangeShapeType="1"/>
            </p:cNvSpPr>
            <p:nvPr/>
          </p:nvSpPr>
          <p:spPr bwMode="auto">
            <a:xfrm>
              <a:off x="960" y="2604"/>
              <a:ext cx="3176"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13"/>
            <p:cNvSpPr>
              <a:spLocks noChangeShapeType="1"/>
            </p:cNvSpPr>
            <p:nvPr/>
          </p:nvSpPr>
          <p:spPr bwMode="auto">
            <a:xfrm flipV="1">
              <a:off x="1274" y="2592"/>
              <a:ext cx="0" cy="881"/>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 name="Text Box 14"/>
            <p:cNvSpPr txBox="1">
              <a:spLocks noChangeArrowheads="1"/>
            </p:cNvSpPr>
            <p:nvPr/>
          </p:nvSpPr>
          <p:spPr bwMode="auto">
            <a:xfrm rot="-5400000">
              <a:off x="770" y="2939"/>
              <a:ext cx="75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基本尺寸</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 name="Text Box 15"/>
            <p:cNvSpPr txBox="1">
              <a:spLocks noChangeArrowheads="1"/>
            </p:cNvSpPr>
            <p:nvPr/>
          </p:nvSpPr>
          <p:spPr bwMode="auto">
            <a:xfrm>
              <a:off x="700" y="2445"/>
              <a:ext cx="32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0</a:t>
              </a:r>
              <a:endParaRPr kumimoji="1" lang="en-US" altLang="zh-CN" sz="24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5" name="Text Box 16"/>
            <p:cNvSpPr txBox="1">
              <a:spLocks noChangeArrowheads="1"/>
            </p:cNvSpPr>
            <p:nvPr/>
          </p:nvSpPr>
          <p:spPr bwMode="auto">
            <a:xfrm>
              <a:off x="869" y="2304"/>
              <a:ext cx="21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2" charset="-122"/>
              </a:endParaRPr>
            </a:p>
          </p:txBody>
        </p:sp>
        <p:sp>
          <p:nvSpPr>
            <p:cNvPr id="17" name="Text Box 17"/>
            <p:cNvSpPr txBox="1">
              <a:spLocks noChangeArrowheads="1"/>
            </p:cNvSpPr>
            <p:nvPr/>
          </p:nvSpPr>
          <p:spPr bwMode="auto">
            <a:xfrm>
              <a:off x="868" y="2577"/>
              <a:ext cx="21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sp>
        <p:nvSpPr>
          <p:cNvPr id="18" name="Rectangle 18"/>
          <p:cNvSpPr>
            <a:spLocks noChangeArrowheads="1"/>
          </p:cNvSpPr>
          <p:nvPr/>
        </p:nvSpPr>
        <p:spPr bwMode="auto">
          <a:xfrm>
            <a:off x="7362676" y="3261047"/>
            <a:ext cx="841375" cy="498475"/>
          </a:xfrm>
          <a:prstGeom prst="rect">
            <a:avLst/>
          </a:prstGeom>
          <a:pattFill prst="wdUpDiag">
            <a:fgClr>
              <a:srgbClr val="808080">
                <a:alpha val="56078"/>
              </a:srgbClr>
            </a:fgClr>
            <a:bgClr>
              <a:srgbClr val="FFFFFF">
                <a:alpha val="56078"/>
              </a:srgbClr>
            </a:bgClr>
          </a:pattFill>
          <a:ln w="19050" algn="ctr">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孔</a:t>
            </a:r>
            <a:endParaRPr kumimoji="1" lang="zh-CN" altLang="en-US" sz="20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 name="Text Box 19"/>
          <p:cNvSpPr txBox="1">
            <a:spLocks noChangeArrowheads="1"/>
          </p:cNvSpPr>
          <p:nvPr/>
        </p:nvSpPr>
        <p:spPr bwMode="auto">
          <a:xfrm>
            <a:off x="1847528" y="1360489"/>
            <a:ext cx="78513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CC0000"/>
                </a:solidFill>
                <a:latin typeface="Times New Roman" panose="02020603050405020304" pitchFamily="18" charset="0"/>
                <a:ea typeface="黑体" panose="02010609060101010101" pitchFamily="2" charset="-122"/>
              </a:rPr>
              <a:t>基轴制</a:t>
            </a:r>
            <a:r>
              <a:rPr kumimoji="1" lang="zh-CN" altLang="en-US" sz="2400" dirty="0">
                <a:solidFill>
                  <a:srgbClr val="000000"/>
                </a:solidFill>
                <a:latin typeface="Times New Roman" panose="02020603050405020304" pitchFamily="18" charset="0"/>
                <a:ea typeface="黑体" panose="02010609060101010101" pitchFamily="2" charset="-122"/>
              </a:rPr>
              <a:t>配合：基本偏差为一定的轴的公差带，与不同基本 </a:t>
            </a:r>
            <a:endParaRPr kumimoji="1" lang="en-US" altLang="zh-CN" sz="2400" dirty="0">
              <a:solidFill>
                <a:srgbClr val="000000"/>
              </a:solidFill>
              <a:latin typeface="Times New Roman" panose="02020603050405020304" pitchFamily="18" charset="0"/>
              <a:ea typeface="黑体" panose="02010609060101010101" pitchFamily="2" charset="-122"/>
            </a:endParaRPr>
          </a:p>
          <a:p>
            <a:pPr fontAlgn="base">
              <a:spcBef>
                <a:spcPct val="0"/>
              </a:spcBef>
              <a:spcAft>
                <a:spcPct val="0"/>
              </a:spcAft>
              <a:buFontTx/>
              <a:buNone/>
            </a:pPr>
            <a:r>
              <a:rPr kumimoji="1" lang="en-US" altLang="zh-CN" sz="2400" dirty="0">
                <a:solidFill>
                  <a:srgbClr val="000000"/>
                </a:solidFill>
                <a:latin typeface="Times New Roman" panose="02020603050405020304" pitchFamily="18" charset="0"/>
                <a:ea typeface="黑体" panose="02010609060101010101" pitchFamily="2" charset="-122"/>
              </a:rPr>
              <a:t>                        </a:t>
            </a:r>
            <a:r>
              <a:rPr kumimoji="1" lang="zh-CN" altLang="en-US" sz="2400" dirty="0">
                <a:solidFill>
                  <a:srgbClr val="000000"/>
                </a:solidFill>
                <a:latin typeface="Times New Roman" panose="02020603050405020304" pitchFamily="18" charset="0"/>
                <a:ea typeface="黑体" panose="02010609060101010101" pitchFamily="2" charset="-122"/>
              </a:rPr>
              <a:t>偏差的孔的公差带形成各种配合的一种制度。</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sp>
        <p:nvSpPr>
          <p:cNvPr id="20" name="Text Box 20"/>
          <p:cNvSpPr txBox="1">
            <a:spLocks noChangeArrowheads="1"/>
          </p:cNvSpPr>
          <p:nvPr/>
        </p:nvSpPr>
        <p:spPr bwMode="auto">
          <a:xfrm>
            <a:off x="479376" y="5369247"/>
            <a:ext cx="11880175"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基轴制配合中的轴称为基准轴，国家标准选上偏差为零的轴作基准轴，</a:t>
            </a:r>
            <a:r>
              <a:rPr kumimoji="1" lang="en-US" altLang="zh-CN" sz="2400" dirty="0">
                <a:solidFill>
                  <a:srgbClr val="CC0000"/>
                </a:solidFill>
                <a:latin typeface="黑体" panose="02010609060101010101" pitchFamily="2" charset="-122"/>
                <a:ea typeface="黑体" panose="02010609060101010101" pitchFamily="2" charset="-122"/>
              </a:rPr>
              <a:t>h </a:t>
            </a:r>
            <a:r>
              <a:rPr kumimoji="1" lang="zh-CN" altLang="en-US" sz="2400" dirty="0">
                <a:solidFill>
                  <a:srgbClr val="000000"/>
                </a:solidFill>
                <a:latin typeface="黑体" panose="02010609060101010101" pitchFamily="2" charset="-122"/>
                <a:ea typeface="黑体" panose="02010609060101010101" pitchFamily="2" charset="-122"/>
              </a:rPr>
              <a:t>代表基准轴。</a:t>
            </a:r>
            <a:endParaRPr kumimoji="1" lang="zh-CN" altLang="en-US" sz="2400" dirty="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strVal val="4/3*#ppt_w"/>
                                          </p:val>
                                        </p:tav>
                                        <p:tav tm="100000">
                                          <p:val>
                                            <p:strVal val="#ppt_w"/>
                                          </p:val>
                                        </p:tav>
                                      </p:tavLst>
                                    </p:anim>
                                    <p:anim calcmode="lin" valueType="num">
                                      <p:cBhvr>
                                        <p:cTn id="23" dur="500" fill="hold"/>
                                        <p:tgtEl>
                                          <p:spTgt spid="5"/>
                                        </p:tgtEl>
                                        <p:attrNameLst>
                                          <p:attrName>ppt_h</p:attrName>
                                        </p:attrNameLst>
                                      </p:cBhvr>
                                      <p:tavLst>
                                        <p:tav tm="0">
                                          <p:val>
                                            <p:strVal val="4/3*#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28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strVal val="4/3*#ppt_w"/>
                                          </p:val>
                                        </p:tav>
                                        <p:tav tm="100000">
                                          <p:val>
                                            <p:strVal val="#ppt_w"/>
                                          </p:val>
                                        </p:tav>
                                      </p:tavLst>
                                    </p:anim>
                                    <p:anim calcmode="lin" valueType="num">
                                      <p:cBhvr>
                                        <p:cTn id="34" dur="500" fill="hold"/>
                                        <p:tgtEl>
                                          <p:spTgt spid="6"/>
                                        </p:tgtEl>
                                        <p:attrNameLst>
                                          <p:attrName>ppt_h</p:attrName>
                                        </p:attrNameLst>
                                      </p:cBhvr>
                                      <p:tavLst>
                                        <p:tav tm="0">
                                          <p:val>
                                            <p:strVal val="4/3*#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dissolve">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288"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strVal val="4/3*#ppt_w"/>
                                          </p:val>
                                        </p:tav>
                                        <p:tav tm="100000">
                                          <p:val>
                                            <p:strVal val="#ppt_w"/>
                                          </p:val>
                                        </p:tav>
                                      </p:tavLst>
                                    </p:anim>
                                    <p:anim calcmode="lin" valueType="num">
                                      <p:cBhvr>
                                        <p:cTn id="45" dur="500" fill="hold"/>
                                        <p:tgtEl>
                                          <p:spTgt spid="7"/>
                                        </p:tgtEl>
                                        <p:attrNameLst>
                                          <p:attrName>ppt_h</p:attrName>
                                        </p:attrNameLst>
                                      </p:cBhvr>
                                      <p:tavLst>
                                        <p:tav tm="0">
                                          <p:val>
                                            <p:strVal val="4/3*#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272"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500" fill="hold"/>
                                        <p:tgtEl>
                                          <p:spTgt spid="8"/>
                                        </p:tgtEl>
                                        <p:attrNameLst>
                                          <p:attrName>ppt_w</p:attrName>
                                        </p:attrNameLst>
                                      </p:cBhvr>
                                      <p:tavLst>
                                        <p:tav tm="0">
                                          <p:val>
                                            <p:strVal val="2/3*#ppt_w"/>
                                          </p:val>
                                        </p:tav>
                                        <p:tav tm="100000">
                                          <p:val>
                                            <p:strVal val="#ppt_w"/>
                                          </p:val>
                                        </p:tav>
                                      </p:tavLst>
                                    </p:anim>
                                    <p:anim calcmode="lin" valueType="num">
                                      <p:cBhvr>
                                        <p:cTn id="56" dur="500" fill="hold"/>
                                        <p:tgtEl>
                                          <p:spTgt spid="8"/>
                                        </p:tgtEl>
                                        <p:attrNameLst>
                                          <p:attrName>ppt_h</p:attrName>
                                        </p:attrNameLst>
                                      </p:cBhvr>
                                      <p:tavLst>
                                        <p:tav tm="0">
                                          <p:val>
                                            <p:strVal val="2/3*#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272"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500" fill="hold"/>
                                        <p:tgtEl>
                                          <p:spTgt spid="9"/>
                                        </p:tgtEl>
                                        <p:attrNameLst>
                                          <p:attrName>ppt_w</p:attrName>
                                        </p:attrNameLst>
                                      </p:cBhvr>
                                      <p:tavLst>
                                        <p:tav tm="0">
                                          <p:val>
                                            <p:strVal val="2/3*#ppt_w"/>
                                          </p:val>
                                        </p:tav>
                                        <p:tav tm="100000">
                                          <p:val>
                                            <p:strVal val="#ppt_w"/>
                                          </p:val>
                                        </p:tav>
                                      </p:tavLst>
                                    </p:anim>
                                    <p:anim calcmode="lin" valueType="num">
                                      <p:cBhvr>
                                        <p:cTn id="62" dur="500" fill="hold"/>
                                        <p:tgtEl>
                                          <p:spTgt spid="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 grpId="0" animBg="1" autoUpdateAnimBg="0"/>
      <p:bldP spid="5" grpId="0" autoUpdateAnimBg="0"/>
      <p:bldP spid="6" grpId="0" autoUpdateAnimBg="0"/>
      <p:bldP spid="7" grpId="0" autoUpdateAnimBg="0"/>
      <p:bldP spid="8" grpId="0" autoUpdateAnimBg="0"/>
      <p:bldP spid="9" grpId="0" autoUpdateAnimBg="0"/>
      <p:bldP spid="18" grpId="0" animBg="1" autoUpdateAnimBg="0"/>
      <p:bldP spid="19" grpId="0" autoUpdateAnimBg="0"/>
      <p:bldP spid="20"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矩形 214"/>
          <p:cNvSpPr/>
          <p:nvPr/>
        </p:nvSpPr>
        <p:spPr>
          <a:xfrm>
            <a:off x="3359696" y="44624"/>
            <a:ext cx="8832304" cy="68133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02"/>
          <p:cNvSpPr txBox="1">
            <a:spLocks noChangeArrowheads="1"/>
          </p:cNvSpPr>
          <p:nvPr/>
        </p:nvSpPr>
        <p:spPr bwMode="auto">
          <a:xfrm>
            <a:off x="839416" y="1340768"/>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dirty="0">
                <a:solidFill>
                  <a:srgbClr val="000000"/>
                </a:solidFill>
                <a:latin typeface="Times New Roman" panose="02020603050405020304" pitchFamily="18" charset="0"/>
                <a:ea typeface="黑体" panose="02010609060101010101" pitchFamily="2" charset="-122"/>
              </a:rPr>
              <a:t>基轴制配合</a:t>
            </a:r>
            <a:endParaRPr kumimoji="1" lang="zh-CN" altLang="en-US" sz="2400" dirty="0">
              <a:solidFill>
                <a:srgbClr val="000000"/>
              </a:solidFill>
              <a:latin typeface="Times New Roman" panose="02020603050405020304" pitchFamily="18" charset="0"/>
              <a:ea typeface="黑体" panose="02010609060101010101" pitchFamily="2" charset="-122"/>
            </a:endParaRPr>
          </a:p>
        </p:txBody>
      </p:sp>
      <p:grpSp>
        <p:nvGrpSpPr>
          <p:cNvPr id="3" name="组合 2"/>
          <p:cNvGrpSpPr/>
          <p:nvPr/>
        </p:nvGrpSpPr>
        <p:grpSpPr>
          <a:xfrm>
            <a:off x="3730897" y="528194"/>
            <a:ext cx="7883525" cy="6002337"/>
            <a:chOff x="468313" y="404813"/>
            <a:chExt cx="7883525" cy="6002337"/>
          </a:xfrm>
        </p:grpSpPr>
        <p:sp>
          <p:nvSpPr>
            <p:cNvPr id="4" name="Line 2"/>
            <p:cNvSpPr>
              <a:spLocks noChangeShapeType="1"/>
            </p:cNvSpPr>
            <p:nvPr/>
          </p:nvSpPr>
          <p:spPr bwMode="auto">
            <a:xfrm>
              <a:off x="977900" y="2058988"/>
              <a:ext cx="735012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 name="Line 3" descr="宽上对角线"/>
            <p:cNvSpPr>
              <a:spLocks noChangeShapeType="1"/>
            </p:cNvSpPr>
            <p:nvPr/>
          </p:nvSpPr>
          <p:spPr bwMode="auto">
            <a:xfrm>
              <a:off x="1500188" y="528638"/>
              <a:ext cx="195262" cy="0"/>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 name="Rectangle 4" descr="宽下对角线"/>
            <p:cNvSpPr>
              <a:spLocks noChangeArrowheads="1"/>
            </p:cNvSpPr>
            <p:nvPr/>
          </p:nvSpPr>
          <p:spPr bwMode="auto">
            <a:xfrm>
              <a:off x="1746250" y="944563"/>
              <a:ext cx="173038"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 name="Rectangle 5" descr="宽下对角线"/>
            <p:cNvSpPr>
              <a:spLocks noChangeArrowheads="1"/>
            </p:cNvSpPr>
            <p:nvPr/>
          </p:nvSpPr>
          <p:spPr bwMode="auto">
            <a:xfrm>
              <a:off x="1987550" y="1192213"/>
              <a:ext cx="177800"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 name="Rectangle 6" descr="宽下对角线"/>
            <p:cNvSpPr>
              <a:spLocks noChangeArrowheads="1"/>
            </p:cNvSpPr>
            <p:nvPr/>
          </p:nvSpPr>
          <p:spPr bwMode="auto">
            <a:xfrm>
              <a:off x="2235200" y="1298575"/>
              <a:ext cx="176213"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Rectangle 7" descr="宽下对角线"/>
            <p:cNvSpPr>
              <a:spLocks noChangeArrowheads="1"/>
            </p:cNvSpPr>
            <p:nvPr/>
          </p:nvSpPr>
          <p:spPr bwMode="auto">
            <a:xfrm>
              <a:off x="2486025" y="1354138"/>
              <a:ext cx="185738"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 name="Rectangle 8" descr="宽下对角线"/>
            <p:cNvSpPr>
              <a:spLocks noChangeArrowheads="1"/>
            </p:cNvSpPr>
            <p:nvPr/>
          </p:nvSpPr>
          <p:spPr bwMode="auto">
            <a:xfrm>
              <a:off x="3516313" y="1644650"/>
              <a:ext cx="163512"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 name="Rectangle 9" descr="宽下对角线"/>
            <p:cNvSpPr>
              <a:spLocks noChangeArrowheads="1"/>
            </p:cNvSpPr>
            <p:nvPr/>
          </p:nvSpPr>
          <p:spPr bwMode="auto">
            <a:xfrm>
              <a:off x="3773488" y="1689100"/>
              <a:ext cx="158750"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 name="Rectangle 10" descr="宽下对角线"/>
            <p:cNvSpPr>
              <a:spLocks noChangeArrowheads="1"/>
            </p:cNvSpPr>
            <p:nvPr/>
          </p:nvSpPr>
          <p:spPr bwMode="auto">
            <a:xfrm>
              <a:off x="4016375" y="1735138"/>
              <a:ext cx="168275" cy="323850"/>
            </a:xfrm>
            <a:prstGeom prst="rect">
              <a:avLst/>
            </a:prstGeom>
            <a:pattFill prst="wdDnDiag">
              <a:fgClr>
                <a:srgbClr val="CC0000"/>
              </a:fgClr>
              <a:bgClr>
                <a:srgbClr val="FFFFFF"/>
              </a:bgClr>
            </a:patt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 name="Rectangle 11" descr="宽下对角线"/>
            <p:cNvSpPr>
              <a:spLocks noChangeArrowheads="1"/>
            </p:cNvSpPr>
            <p:nvPr/>
          </p:nvSpPr>
          <p:spPr bwMode="auto">
            <a:xfrm>
              <a:off x="2755900" y="1465263"/>
              <a:ext cx="173038"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 name="Rectangle 12" descr="宽下对角线"/>
            <p:cNvSpPr>
              <a:spLocks noChangeArrowheads="1"/>
            </p:cNvSpPr>
            <p:nvPr/>
          </p:nvSpPr>
          <p:spPr bwMode="auto">
            <a:xfrm>
              <a:off x="3001963" y="1544638"/>
              <a:ext cx="180975"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5" name="Rectangle 13" descr="宽下对角线"/>
            <p:cNvSpPr>
              <a:spLocks noChangeArrowheads="1"/>
            </p:cNvSpPr>
            <p:nvPr/>
          </p:nvSpPr>
          <p:spPr bwMode="auto">
            <a:xfrm>
              <a:off x="3251200" y="1604963"/>
              <a:ext cx="173038" cy="325437"/>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7" name="Group 14"/>
            <p:cNvGrpSpPr/>
            <p:nvPr/>
          </p:nvGrpSpPr>
          <p:grpSpPr bwMode="auto">
            <a:xfrm flipH="1">
              <a:off x="4746625" y="2054225"/>
              <a:ext cx="169863" cy="325438"/>
              <a:chOff x="2765" y="1244"/>
              <a:chExt cx="99" cy="205"/>
            </a:xfrm>
          </p:grpSpPr>
          <p:sp>
            <p:nvSpPr>
              <p:cNvPr id="213" name="Rectangle 15" descr="宽下对角线"/>
              <p:cNvSpPr>
                <a:spLocks noChangeArrowheads="1"/>
              </p:cNvSpPr>
              <p:nvPr/>
            </p:nvSpPr>
            <p:spPr bwMode="auto">
              <a:xfrm rot="10800000">
                <a:off x="2809" y="1244"/>
                <a:ext cx="55"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4" name="Rectangle 16" descr="宽下对角线"/>
              <p:cNvSpPr>
                <a:spLocks noChangeArrowheads="1"/>
              </p:cNvSpPr>
              <p:nvPr/>
            </p:nvSpPr>
            <p:spPr bwMode="auto">
              <a:xfrm rot="10800000">
                <a:off x="2765" y="1276"/>
                <a:ext cx="44" cy="173"/>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8" name="Rectangle 17" descr="宽下对角线"/>
            <p:cNvSpPr>
              <a:spLocks noChangeArrowheads="1"/>
            </p:cNvSpPr>
            <p:nvPr/>
          </p:nvSpPr>
          <p:spPr bwMode="auto">
            <a:xfrm rot="10800000">
              <a:off x="5778500" y="2228850"/>
              <a:ext cx="158750"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 name="Rectangle 18" descr="宽下对角线"/>
            <p:cNvSpPr>
              <a:spLocks noChangeArrowheads="1"/>
            </p:cNvSpPr>
            <p:nvPr/>
          </p:nvSpPr>
          <p:spPr bwMode="auto">
            <a:xfrm>
              <a:off x="4265613" y="1892300"/>
              <a:ext cx="171450" cy="325438"/>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 name="Rectangle 19" descr="宽下对角线"/>
            <p:cNvSpPr>
              <a:spLocks noChangeArrowheads="1"/>
            </p:cNvSpPr>
            <p:nvPr/>
          </p:nvSpPr>
          <p:spPr bwMode="auto">
            <a:xfrm rot="10800000">
              <a:off x="6040438" y="2251075"/>
              <a:ext cx="158750" cy="325438"/>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Rectangle 20" descr="宽下对角线"/>
            <p:cNvSpPr>
              <a:spLocks noChangeArrowheads="1"/>
            </p:cNvSpPr>
            <p:nvPr/>
          </p:nvSpPr>
          <p:spPr bwMode="auto">
            <a:xfrm rot="10800000">
              <a:off x="6302375" y="2278063"/>
              <a:ext cx="153988"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Rectangle 21" descr="宽下对角线"/>
            <p:cNvSpPr>
              <a:spLocks noChangeArrowheads="1"/>
            </p:cNvSpPr>
            <p:nvPr/>
          </p:nvSpPr>
          <p:spPr bwMode="auto">
            <a:xfrm rot="10800000">
              <a:off x="6556375" y="2341563"/>
              <a:ext cx="161925" cy="32067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Rectangle 22" descr="宽下对角线"/>
            <p:cNvSpPr>
              <a:spLocks noChangeArrowheads="1"/>
            </p:cNvSpPr>
            <p:nvPr/>
          </p:nvSpPr>
          <p:spPr bwMode="auto">
            <a:xfrm rot="10800000">
              <a:off x="6811963" y="2373313"/>
              <a:ext cx="160337"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Rectangle 23" descr="宽下对角线"/>
            <p:cNvSpPr>
              <a:spLocks noChangeArrowheads="1"/>
            </p:cNvSpPr>
            <p:nvPr/>
          </p:nvSpPr>
          <p:spPr bwMode="auto">
            <a:xfrm rot="10800000">
              <a:off x="7058025" y="2419350"/>
              <a:ext cx="157163" cy="325438"/>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Rectangle 24" descr="宽下对角线"/>
            <p:cNvSpPr>
              <a:spLocks noChangeArrowheads="1"/>
            </p:cNvSpPr>
            <p:nvPr/>
          </p:nvSpPr>
          <p:spPr bwMode="auto">
            <a:xfrm rot="10800000">
              <a:off x="7308850" y="2455863"/>
              <a:ext cx="158750"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Rectangle 25" descr="宽下对角线"/>
            <p:cNvSpPr>
              <a:spLocks noChangeArrowheads="1"/>
            </p:cNvSpPr>
            <p:nvPr/>
          </p:nvSpPr>
          <p:spPr bwMode="auto">
            <a:xfrm rot="10800000">
              <a:off x="7561263" y="2559050"/>
              <a:ext cx="153987"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7" name="Rectangle 26" descr="宽下对角线"/>
            <p:cNvSpPr>
              <a:spLocks noChangeArrowheads="1"/>
            </p:cNvSpPr>
            <p:nvPr/>
          </p:nvSpPr>
          <p:spPr bwMode="auto">
            <a:xfrm rot="10800000">
              <a:off x="7802563" y="2767013"/>
              <a:ext cx="149225"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Rectangle 27" descr="宽下对角线"/>
            <p:cNvSpPr>
              <a:spLocks noChangeArrowheads="1"/>
            </p:cNvSpPr>
            <p:nvPr/>
          </p:nvSpPr>
          <p:spPr bwMode="auto">
            <a:xfrm rot="10800000">
              <a:off x="8039100" y="3073400"/>
              <a:ext cx="160338" cy="325438"/>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29" name="Group 28"/>
            <p:cNvGrpSpPr/>
            <p:nvPr/>
          </p:nvGrpSpPr>
          <p:grpSpPr bwMode="auto">
            <a:xfrm>
              <a:off x="4510088" y="2036763"/>
              <a:ext cx="165100" cy="325437"/>
              <a:chOff x="2628" y="1230"/>
              <a:chExt cx="96" cy="205"/>
            </a:xfrm>
          </p:grpSpPr>
          <p:sp>
            <p:nvSpPr>
              <p:cNvPr id="211" name="Rectangle 29" descr="宽下对角线"/>
              <p:cNvSpPr>
                <a:spLocks noChangeArrowheads="1"/>
              </p:cNvSpPr>
              <p:nvPr/>
            </p:nvSpPr>
            <p:spPr bwMode="auto">
              <a:xfrm rot="10800000">
                <a:off x="2669" y="1230"/>
                <a:ext cx="55" cy="20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2" name="Rectangle 30" descr="宽下对角线"/>
              <p:cNvSpPr>
                <a:spLocks noChangeArrowheads="1"/>
              </p:cNvSpPr>
              <p:nvPr/>
            </p:nvSpPr>
            <p:spPr bwMode="auto">
              <a:xfrm rot="10800000">
                <a:off x="2628" y="1249"/>
                <a:ext cx="44" cy="185"/>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30" name="Group 31"/>
            <p:cNvGrpSpPr/>
            <p:nvPr/>
          </p:nvGrpSpPr>
          <p:grpSpPr bwMode="auto">
            <a:xfrm>
              <a:off x="5021263" y="2074863"/>
              <a:ext cx="169862" cy="317500"/>
              <a:chOff x="2925" y="1272"/>
              <a:chExt cx="99" cy="200"/>
            </a:xfrm>
          </p:grpSpPr>
          <p:sp>
            <p:nvSpPr>
              <p:cNvPr id="209" name="Rectangle 32" descr="宽下对角线"/>
              <p:cNvSpPr>
                <a:spLocks noChangeArrowheads="1"/>
              </p:cNvSpPr>
              <p:nvPr/>
            </p:nvSpPr>
            <p:spPr bwMode="auto">
              <a:xfrm rot="10800000">
                <a:off x="2969" y="1272"/>
                <a:ext cx="55" cy="20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0" name="Rectangle 33" descr="宽下对角线"/>
              <p:cNvSpPr>
                <a:spLocks noChangeArrowheads="1"/>
              </p:cNvSpPr>
              <p:nvPr/>
            </p:nvSpPr>
            <p:spPr bwMode="auto">
              <a:xfrm rot="10800000">
                <a:off x="2925" y="1320"/>
                <a:ext cx="44" cy="152"/>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31" name="Rectangle 34" descr="宽下对角线"/>
            <p:cNvSpPr>
              <a:spLocks noChangeArrowheads="1"/>
            </p:cNvSpPr>
            <p:nvPr/>
          </p:nvSpPr>
          <p:spPr bwMode="auto">
            <a:xfrm rot="10800000">
              <a:off x="5532438" y="2201863"/>
              <a:ext cx="158750" cy="325437"/>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Rectangle 35" descr="宽下对角线"/>
            <p:cNvSpPr>
              <a:spLocks noChangeArrowheads="1"/>
            </p:cNvSpPr>
            <p:nvPr/>
          </p:nvSpPr>
          <p:spPr bwMode="auto">
            <a:xfrm rot="10800000">
              <a:off x="5286375" y="2178050"/>
              <a:ext cx="160338"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3" name="Text Box 36"/>
            <p:cNvSpPr txBox="1">
              <a:spLocks noChangeArrowheads="1"/>
            </p:cNvSpPr>
            <p:nvPr/>
          </p:nvSpPr>
          <p:spPr bwMode="auto">
            <a:xfrm>
              <a:off x="1449388" y="67786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4" name="Text Box 37"/>
            <p:cNvSpPr txBox="1">
              <a:spLocks noChangeArrowheads="1"/>
            </p:cNvSpPr>
            <p:nvPr/>
          </p:nvSpPr>
          <p:spPr bwMode="auto">
            <a:xfrm>
              <a:off x="1695450" y="120015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5" name="Text Box 38"/>
            <p:cNvSpPr txBox="1">
              <a:spLocks noChangeArrowheads="1"/>
            </p:cNvSpPr>
            <p:nvPr/>
          </p:nvSpPr>
          <p:spPr bwMode="auto">
            <a:xfrm>
              <a:off x="1935163" y="145256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6" name="Text Box 39"/>
            <p:cNvSpPr txBox="1">
              <a:spLocks noChangeArrowheads="1"/>
            </p:cNvSpPr>
            <p:nvPr/>
          </p:nvSpPr>
          <p:spPr bwMode="auto">
            <a:xfrm>
              <a:off x="2132013" y="1554163"/>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8" name="Text Box 40"/>
            <p:cNvSpPr txBox="1">
              <a:spLocks noChangeArrowheads="1"/>
            </p:cNvSpPr>
            <p:nvPr/>
          </p:nvSpPr>
          <p:spPr bwMode="auto">
            <a:xfrm>
              <a:off x="2690813" y="172402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39" name="Text Box 41"/>
            <p:cNvSpPr txBox="1">
              <a:spLocks noChangeArrowheads="1"/>
            </p:cNvSpPr>
            <p:nvPr/>
          </p:nvSpPr>
          <p:spPr bwMode="auto">
            <a:xfrm>
              <a:off x="2906713" y="1814513"/>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0" name="Text Box 42"/>
            <p:cNvSpPr txBox="1">
              <a:spLocks noChangeArrowheads="1"/>
            </p:cNvSpPr>
            <p:nvPr/>
          </p:nvSpPr>
          <p:spPr bwMode="auto">
            <a:xfrm>
              <a:off x="2436813" y="1614488"/>
              <a:ext cx="2714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1" name="Text Box 43"/>
            <p:cNvSpPr txBox="1">
              <a:spLocks noChangeArrowheads="1"/>
            </p:cNvSpPr>
            <p:nvPr/>
          </p:nvSpPr>
          <p:spPr bwMode="auto">
            <a:xfrm>
              <a:off x="3949700" y="199707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H</a:t>
              </a:r>
              <a:endPar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42" name="Text Box 44"/>
            <p:cNvSpPr txBox="1">
              <a:spLocks noChangeArrowheads="1"/>
            </p:cNvSpPr>
            <p:nvPr/>
          </p:nvSpPr>
          <p:spPr bwMode="auto">
            <a:xfrm>
              <a:off x="4475163" y="174466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K</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3" name="Text Box 45"/>
            <p:cNvSpPr txBox="1">
              <a:spLocks noChangeArrowheads="1"/>
            </p:cNvSpPr>
            <p:nvPr/>
          </p:nvSpPr>
          <p:spPr bwMode="auto">
            <a:xfrm>
              <a:off x="4686300" y="177800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M</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4" name="Text Box 46"/>
            <p:cNvSpPr txBox="1">
              <a:spLocks noChangeArrowheads="1"/>
            </p:cNvSpPr>
            <p:nvPr/>
          </p:nvSpPr>
          <p:spPr bwMode="auto">
            <a:xfrm>
              <a:off x="4973638" y="181927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N</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5" name="Text Box 47"/>
            <p:cNvSpPr txBox="1">
              <a:spLocks noChangeArrowheads="1"/>
            </p:cNvSpPr>
            <p:nvPr/>
          </p:nvSpPr>
          <p:spPr bwMode="auto">
            <a:xfrm>
              <a:off x="5988050" y="196850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T</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6" name="Text Box 48"/>
            <p:cNvSpPr txBox="1">
              <a:spLocks noChangeArrowheads="1"/>
            </p:cNvSpPr>
            <p:nvPr/>
          </p:nvSpPr>
          <p:spPr bwMode="auto">
            <a:xfrm>
              <a:off x="6243638" y="1998663"/>
              <a:ext cx="274637"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U</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7" name="Text Box 49"/>
            <p:cNvSpPr txBox="1">
              <a:spLocks noChangeArrowheads="1"/>
            </p:cNvSpPr>
            <p:nvPr/>
          </p:nvSpPr>
          <p:spPr bwMode="auto">
            <a:xfrm>
              <a:off x="6503988" y="20653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V</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8" name="Text Box 50"/>
            <p:cNvSpPr txBox="1">
              <a:spLocks noChangeArrowheads="1"/>
            </p:cNvSpPr>
            <p:nvPr/>
          </p:nvSpPr>
          <p:spPr bwMode="auto">
            <a:xfrm>
              <a:off x="6753225" y="2095500"/>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X</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49" name="Text Box 51"/>
            <p:cNvSpPr txBox="1">
              <a:spLocks noChangeArrowheads="1"/>
            </p:cNvSpPr>
            <p:nvPr/>
          </p:nvSpPr>
          <p:spPr bwMode="auto">
            <a:xfrm>
              <a:off x="6997700" y="2138363"/>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Y</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0" name="Text Box 52"/>
            <p:cNvSpPr txBox="1">
              <a:spLocks noChangeArrowheads="1"/>
            </p:cNvSpPr>
            <p:nvPr/>
          </p:nvSpPr>
          <p:spPr bwMode="auto">
            <a:xfrm>
              <a:off x="7248525" y="218122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1" name="Text Box 53"/>
            <p:cNvSpPr txBox="1">
              <a:spLocks noChangeArrowheads="1"/>
            </p:cNvSpPr>
            <p:nvPr/>
          </p:nvSpPr>
          <p:spPr bwMode="auto">
            <a:xfrm>
              <a:off x="7462838" y="2281238"/>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2" name="Text Box 54"/>
            <p:cNvSpPr txBox="1">
              <a:spLocks noChangeArrowheads="1"/>
            </p:cNvSpPr>
            <p:nvPr/>
          </p:nvSpPr>
          <p:spPr bwMode="auto">
            <a:xfrm>
              <a:off x="7699375" y="2479675"/>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3" name="Text Box 55"/>
            <p:cNvSpPr txBox="1">
              <a:spLocks noChangeArrowheads="1"/>
            </p:cNvSpPr>
            <p:nvPr/>
          </p:nvSpPr>
          <p:spPr bwMode="auto">
            <a:xfrm>
              <a:off x="7940675" y="2789238"/>
              <a:ext cx="3603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54" name="Text Box 58"/>
            <p:cNvSpPr txBox="1">
              <a:spLocks noChangeArrowheads="1"/>
            </p:cNvSpPr>
            <p:nvPr/>
          </p:nvSpPr>
          <p:spPr bwMode="auto">
            <a:xfrm>
              <a:off x="3563938" y="981075"/>
              <a:ext cx="490537" cy="457200"/>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孔</a:t>
              </a:r>
              <a:endPar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55" name="Rectangle 59" descr="宽下对角线"/>
            <p:cNvSpPr>
              <a:spLocks noChangeArrowheads="1"/>
            </p:cNvSpPr>
            <p:nvPr/>
          </p:nvSpPr>
          <p:spPr bwMode="auto">
            <a:xfrm flipH="1">
              <a:off x="1512888" y="431800"/>
              <a:ext cx="169862" cy="323850"/>
            </a:xfrm>
            <a:prstGeom prst="rect">
              <a:avLst/>
            </a:prstGeom>
            <a:pattFill prst="wdDn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6" name="Rectangle 60"/>
            <p:cNvSpPr>
              <a:spLocks noChangeArrowheads="1"/>
            </p:cNvSpPr>
            <p:nvPr/>
          </p:nvSpPr>
          <p:spPr bwMode="auto">
            <a:xfrm>
              <a:off x="1460500" y="404813"/>
              <a:ext cx="263525" cy="74612"/>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7" name="Rectangle 61"/>
            <p:cNvSpPr>
              <a:spLocks noChangeArrowheads="1"/>
            </p:cNvSpPr>
            <p:nvPr/>
          </p:nvSpPr>
          <p:spPr bwMode="auto">
            <a:xfrm>
              <a:off x="1703388" y="919163"/>
              <a:ext cx="263525" cy="74612"/>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8" name="Rectangle 62"/>
            <p:cNvSpPr>
              <a:spLocks noChangeArrowheads="1"/>
            </p:cNvSpPr>
            <p:nvPr/>
          </p:nvSpPr>
          <p:spPr bwMode="auto">
            <a:xfrm>
              <a:off x="1951038" y="1166813"/>
              <a:ext cx="263525" cy="74612"/>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9" name="Rectangle 63"/>
            <p:cNvSpPr>
              <a:spLocks noChangeArrowheads="1"/>
            </p:cNvSpPr>
            <p:nvPr/>
          </p:nvSpPr>
          <p:spPr bwMode="auto">
            <a:xfrm>
              <a:off x="2193925" y="1243013"/>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0" name="Rectangle 64"/>
            <p:cNvSpPr>
              <a:spLocks noChangeArrowheads="1"/>
            </p:cNvSpPr>
            <p:nvPr/>
          </p:nvSpPr>
          <p:spPr bwMode="auto">
            <a:xfrm>
              <a:off x="2451100" y="1295400"/>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1" name="Rectangle 65"/>
            <p:cNvSpPr>
              <a:spLocks noChangeArrowheads="1"/>
            </p:cNvSpPr>
            <p:nvPr/>
          </p:nvSpPr>
          <p:spPr bwMode="auto">
            <a:xfrm>
              <a:off x="2709863" y="1400175"/>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2" name="Rectangle 66"/>
            <p:cNvSpPr>
              <a:spLocks noChangeArrowheads="1"/>
            </p:cNvSpPr>
            <p:nvPr/>
          </p:nvSpPr>
          <p:spPr bwMode="auto">
            <a:xfrm>
              <a:off x="2962275" y="1481138"/>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3" name="Rectangle 67"/>
            <p:cNvSpPr>
              <a:spLocks noChangeArrowheads="1"/>
            </p:cNvSpPr>
            <p:nvPr/>
          </p:nvSpPr>
          <p:spPr bwMode="auto">
            <a:xfrm>
              <a:off x="3205163" y="1543050"/>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4" name="Rectangle 68"/>
            <p:cNvSpPr>
              <a:spLocks noChangeArrowheads="1"/>
            </p:cNvSpPr>
            <p:nvPr/>
          </p:nvSpPr>
          <p:spPr bwMode="auto">
            <a:xfrm>
              <a:off x="3448050" y="1590675"/>
              <a:ext cx="261938"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5" name="Rectangle 69"/>
            <p:cNvSpPr>
              <a:spLocks noChangeArrowheads="1"/>
            </p:cNvSpPr>
            <p:nvPr/>
          </p:nvSpPr>
          <p:spPr bwMode="auto">
            <a:xfrm>
              <a:off x="3721100" y="1628775"/>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6" name="Rectangle 70"/>
            <p:cNvSpPr>
              <a:spLocks noChangeArrowheads="1"/>
            </p:cNvSpPr>
            <p:nvPr/>
          </p:nvSpPr>
          <p:spPr bwMode="auto">
            <a:xfrm>
              <a:off x="3968750" y="1685925"/>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7" name="Rectangle 71"/>
            <p:cNvSpPr>
              <a:spLocks noChangeArrowheads="1"/>
            </p:cNvSpPr>
            <p:nvPr/>
          </p:nvSpPr>
          <p:spPr bwMode="auto">
            <a:xfrm>
              <a:off x="4221163" y="1814513"/>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8" name="Rectangle 72"/>
            <p:cNvSpPr>
              <a:spLocks noChangeArrowheads="1"/>
            </p:cNvSpPr>
            <p:nvPr/>
          </p:nvSpPr>
          <p:spPr bwMode="auto">
            <a:xfrm>
              <a:off x="5227638" y="2466975"/>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9" name="Rectangle 73"/>
            <p:cNvSpPr>
              <a:spLocks noChangeArrowheads="1"/>
            </p:cNvSpPr>
            <p:nvPr/>
          </p:nvSpPr>
          <p:spPr bwMode="auto">
            <a:xfrm>
              <a:off x="5480050" y="2495550"/>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0" name="Rectangle 74"/>
            <p:cNvSpPr>
              <a:spLocks noChangeArrowheads="1"/>
            </p:cNvSpPr>
            <p:nvPr/>
          </p:nvSpPr>
          <p:spPr bwMode="auto">
            <a:xfrm>
              <a:off x="4200525" y="2209800"/>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1" name="Text Box 75"/>
            <p:cNvSpPr txBox="1">
              <a:spLocks noChangeArrowheads="1"/>
            </p:cNvSpPr>
            <p:nvPr/>
          </p:nvSpPr>
          <p:spPr bwMode="auto">
            <a:xfrm>
              <a:off x="4137025" y="2149475"/>
              <a:ext cx="36195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72" name="Rectangle 76"/>
            <p:cNvSpPr>
              <a:spLocks noChangeArrowheads="1"/>
            </p:cNvSpPr>
            <p:nvPr/>
          </p:nvSpPr>
          <p:spPr bwMode="auto">
            <a:xfrm>
              <a:off x="4448175" y="2324100"/>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3" name="Rectangle 77"/>
            <p:cNvSpPr>
              <a:spLocks noChangeArrowheads="1"/>
            </p:cNvSpPr>
            <p:nvPr/>
          </p:nvSpPr>
          <p:spPr bwMode="auto">
            <a:xfrm>
              <a:off x="4695825" y="2352675"/>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4" name="Rectangle 78"/>
            <p:cNvSpPr>
              <a:spLocks noChangeArrowheads="1"/>
            </p:cNvSpPr>
            <p:nvPr/>
          </p:nvSpPr>
          <p:spPr bwMode="auto">
            <a:xfrm>
              <a:off x="4964113" y="2386013"/>
              <a:ext cx="263525" cy="889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5" name="Rectangle 79"/>
            <p:cNvSpPr>
              <a:spLocks noChangeArrowheads="1"/>
            </p:cNvSpPr>
            <p:nvPr/>
          </p:nvSpPr>
          <p:spPr bwMode="auto">
            <a:xfrm>
              <a:off x="5722938" y="2528888"/>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6" name="Rectangle 80"/>
            <p:cNvSpPr>
              <a:spLocks noChangeArrowheads="1"/>
            </p:cNvSpPr>
            <p:nvPr/>
          </p:nvSpPr>
          <p:spPr bwMode="auto">
            <a:xfrm>
              <a:off x="5980113" y="2557463"/>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7" name="Rectangle 81"/>
            <p:cNvSpPr>
              <a:spLocks noChangeArrowheads="1"/>
            </p:cNvSpPr>
            <p:nvPr/>
          </p:nvSpPr>
          <p:spPr bwMode="auto">
            <a:xfrm>
              <a:off x="6229350" y="2586038"/>
              <a:ext cx="261938"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8" name="Rectangle 82"/>
            <p:cNvSpPr>
              <a:spLocks noChangeArrowheads="1"/>
            </p:cNvSpPr>
            <p:nvPr/>
          </p:nvSpPr>
          <p:spPr bwMode="auto">
            <a:xfrm>
              <a:off x="6497638" y="2643188"/>
              <a:ext cx="261937"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9" name="Rectangle 83"/>
            <p:cNvSpPr>
              <a:spLocks noChangeArrowheads="1"/>
            </p:cNvSpPr>
            <p:nvPr/>
          </p:nvSpPr>
          <p:spPr bwMode="auto">
            <a:xfrm>
              <a:off x="6754813" y="2681288"/>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0" name="Rectangle 84"/>
            <p:cNvSpPr>
              <a:spLocks noChangeArrowheads="1"/>
            </p:cNvSpPr>
            <p:nvPr/>
          </p:nvSpPr>
          <p:spPr bwMode="auto">
            <a:xfrm>
              <a:off x="7007225" y="2719388"/>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1" name="Rectangle 85"/>
            <p:cNvSpPr>
              <a:spLocks noChangeArrowheads="1"/>
            </p:cNvSpPr>
            <p:nvPr/>
          </p:nvSpPr>
          <p:spPr bwMode="auto">
            <a:xfrm>
              <a:off x="7250113" y="2752725"/>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2" name="Rectangle 86"/>
            <p:cNvSpPr>
              <a:spLocks noChangeArrowheads="1"/>
            </p:cNvSpPr>
            <p:nvPr/>
          </p:nvSpPr>
          <p:spPr bwMode="auto">
            <a:xfrm>
              <a:off x="7502525" y="2852738"/>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3" name="Rectangle 87"/>
            <p:cNvSpPr>
              <a:spLocks noChangeArrowheads="1"/>
            </p:cNvSpPr>
            <p:nvPr/>
          </p:nvSpPr>
          <p:spPr bwMode="auto">
            <a:xfrm>
              <a:off x="7745413" y="3067050"/>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4" name="Rectangle 88"/>
            <p:cNvSpPr>
              <a:spLocks noChangeArrowheads="1"/>
            </p:cNvSpPr>
            <p:nvPr/>
          </p:nvSpPr>
          <p:spPr bwMode="auto">
            <a:xfrm>
              <a:off x="7988300" y="3362325"/>
              <a:ext cx="263525" cy="889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5" name="Rectangle 89"/>
            <p:cNvSpPr>
              <a:spLocks noChangeArrowheads="1"/>
            </p:cNvSpPr>
            <p:nvPr/>
          </p:nvSpPr>
          <p:spPr bwMode="auto">
            <a:xfrm>
              <a:off x="5780088" y="2008188"/>
              <a:ext cx="144462" cy="1524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6" name="Text Box 90"/>
            <p:cNvSpPr txBox="1">
              <a:spLocks noChangeArrowheads="1"/>
            </p:cNvSpPr>
            <p:nvPr/>
          </p:nvSpPr>
          <p:spPr bwMode="auto">
            <a:xfrm>
              <a:off x="5726113" y="194627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87" name="Rectangle 91"/>
            <p:cNvSpPr>
              <a:spLocks noChangeArrowheads="1"/>
            </p:cNvSpPr>
            <p:nvPr/>
          </p:nvSpPr>
          <p:spPr bwMode="auto">
            <a:xfrm>
              <a:off x="5537200" y="1960563"/>
              <a:ext cx="144463" cy="1524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8" name="Text Box 92"/>
            <p:cNvSpPr txBox="1">
              <a:spLocks noChangeArrowheads="1"/>
            </p:cNvSpPr>
            <p:nvPr/>
          </p:nvSpPr>
          <p:spPr bwMode="auto">
            <a:xfrm>
              <a:off x="5472113" y="19256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R</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89" name="Rectangle 93"/>
            <p:cNvSpPr>
              <a:spLocks noChangeArrowheads="1"/>
            </p:cNvSpPr>
            <p:nvPr/>
          </p:nvSpPr>
          <p:spPr bwMode="auto">
            <a:xfrm>
              <a:off x="5299075" y="1951038"/>
              <a:ext cx="144463" cy="152400"/>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0" name="Text Box 94"/>
            <p:cNvSpPr txBox="1">
              <a:spLocks noChangeArrowheads="1"/>
            </p:cNvSpPr>
            <p:nvPr/>
          </p:nvSpPr>
          <p:spPr bwMode="auto">
            <a:xfrm>
              <a:off x="5237163" y="190658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P</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1" name="Rectangle 95"/>
            <p:cNvSpPr>
              <a:spLocks noChangeArrowheads="1"/>
            </p:cNvSpPr>
            <p:nvPr/>
          </p:nvSpPr>
          <p:spPr bwMode="auto">
            <a:xfrm>
              <a:off x="3462338" y="2003425"/>
              <a:ext cx="242887" cy="1524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2" name="Rectangle 96"/>
            <p:cNvSpPr>
              <a:spLocks noChangeArrowheads="1"/>
            </p:cNvSpPr>
            <p:nvPr/>
          </p:nvSpPr>
          <p:spPr bwMode="auto">
            <a:xfrm>
              <a:off x="3262313" y="1960563"/>
              <a:ext cx="144462" cy="152400"/>
            </a:xfrm>
            <a:prstGeom prst="rect">
              <a:avLst/>
            </a:prstGeom>
            <a:solidFill>
              <a:srgbClr val="FFFFFF"/>
            </a:solidFill>
            <a:ln>
              <a:noFill/>
            </a:ln>
            <a:effectLst/>
            <a:extLst>
              <a:ext uri="{91240B29-F687-4F45-9708-019B960494DF}">
                <a14:hiddenLine xmlns:a14="http://schemas.microsoft.com/office/drawing/2010/main" w="9525">
                  <a:solidFill>
                    <a:srgbClr val="CEED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3" name="Text Box 97"/>
            <p:cNvSpPr txBox="1">
              <a:spLocks noChangeArrowheads="1"/>
            </p:cNvSpPr>
            <p:nvPr/>
          </p:nvSpPr>
          <p:spPr bwMode="auto">
            <a:xfrm>
              <a:off x="3228975" y="1876425"/>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4" name="Text Box 98"/>
            <p:cNvSpPr txBox="1">
              <a:spLocks noChangeArrowheads="1"/>
            </p:cNvSpPr>
            <p:nvPr/>
          </p:nvSpPr>
          <p:spPr bwMode="auto">
            <a:xfrm>
              <a:off x="3419475" y="1943100"/>
              <a:ext cx="3619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5" name="Text Box 99"/>
            <p:cNvSpPr txBox="1">
              <a:spLocks noChangeArrowheads="1"/>
            </p:cNvSpPr>
            <p:nvPr/>
          </p:nvSpPr>
          <p:spPr bwMode="auto">
            <a:xfrm>
              <a:off x="3697288" y="1976438"/>
              <a:ext cx="273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nvGrpSpPr>
            <p:cNvPr id="96" name="Group 103"/>
            <p:cNvGrpSpPr/>
            <p:nvPr/>
          </p:nvGrpSpPr>
          <p:grpSpPr bwMode="auto">
            <a:xfrm>
              <a:off x="957263" y="3384550"/>
              <a:ext cx="7394575" cy="3022600"/>
              <a:chOff x="609" y="2135"/>
              <a:chExt cx="4658" cy="1904"/>
            </a:xfrm>
          </p:grpSpPr>
          <p:sp>
            <p:nvSpPr>
              <p:cNvPr id="115" name="Line 104"/>
              <p:cNvSpPr>
                <a:spLocks noChangeShapeType="1"/>
              </p:cNvSpPr>
              <p:nvPr/>
            </p:nvSpPr>
            <p:spPr bwMode="auto">
              <a:xfrm flipV="1">
                <a:off x="609" y="3036"/>
                <a:ext cx="4658" cy="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6" name="Rectangle 105" descr="深色上对角线"/>
              <p:cNvSpPr>
                <a:spLocks noChangeArrowheads="1"/>
              </p:cNvSpPr>
              <p:nvPr/>
            </p:nvSpPr>
            <p:spPr bwMode="auto">
              <a:xfrm>
                <a:off x="3347" y="2781"/>
                <a:ext cx="100"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7" name="Rectangle 106" descr="深色上对角线"/>
              <p:cNvSpPr>
                <a:spLocks noChangeArrowheads="1"/>
              </p:cNvSpPr>
              <p:nvPr/>
            </p:nvSpPr>
            <p:spPr bwMode="auto">
              <a:xfrm>
                <a:off x="3513" y="2771"/>
                <a:ext cx="10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8" name="Rectangle 107" descr="深色上对角线"/>
              <p:cNvSpPr>
                <a:spLocks noChangeArrowheads="1"/>
              </p:cNvSpPr>
              <p:nvPr/>
            </p:nvSpPr>
            <p:spPr bwMode="auto">
              <a:xfrm>
                <a:off x="3838" y="2733"/>
                <a:ext cx="101"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9" name="Rectangle 108" descr="深色上对角线"/>
              <p:cNvSpPr>
                <a:spLocks noChangeArrowheads="1"/>
              </p:cNvSpPr>
              <p:nvPr/>
            </p:nvSpPr>
            <p:spPr bwMode="auto">
              <a:xfrm>
                <a:off x="4160" y="2687"/>
                <a:ext cx="10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0" name="Rectangle 109" descr="深色上对角线"/>
              <p:cNvSpPr>
                <a:spLocks noChangeArrowheads="1"/>
              </p:cNvSpPr>
              <p:nvPr/>
            </p:nvSpPr>
            <p:spPr bwMode="auto">
              <a:xfrm>
                <a:off x="4315" y="2659"/>
                <a:ext cx="101"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1" name="Rectangle 110" descr="深色上对角线"/>
              <p:cNvSpPr>
                <a:spLocks noChangeArrowheads="1"/>
              </p:cNvSpPr>
              <p:nvPr/>
            </p:nvSpPr>
            <p:spPr bwMode="auto">
              <a:xfrm>
                <a:off x="4475" y="2619"/>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2" name="Rectangle 111" descr="深色上对角线"/>
              <p:cNvSpPr>
                <a:spLocks noChangeArrowheads="1"/>
              </p:cNvSpPr>
              <p:nvPr/>
            </p:nvSpPr>
            <p:spPr bwMode="auto">
              <a:xfrm>
                <a:off x="4780" y="2493"/>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3" name="Rectangle 112" descr="深色上对角线"/>
              <p:cNvSpPr>
                <a:spLocks noChangeArrowheads="1"/>
              </p:cNvSpPr>
              <p:nvPr/>
            </p:nvSpPr>
            <p:spPr bwMode="auto">
              <a:xfrm>
                <a:off x="4932" y="2396"/>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4" name="Rectangle 113" descr="深色上对角线"/>
              <p:cNvSpPr>
                <a:spLocks noChangeArrowheads="1"/>
              </p:cNvSpPr>
              <p:nvPr/>
            </p:nvSpPr>
            <p:spPr bwMode="auto">
              <a:xfrm>
                <a:off x="5070" y="2166"/>
                <a:ext cx="10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5" name="Rectangle 114" descr="深色上对角线"/>
              <p:cNvSpPr>
                <a:spLocks noChangeArrowheads="1"/>
              </p:cNvSpPr>
              <p:nvPr/>
            </p:nvSpPr>
            <p:spPr bwMode="auto">
              <a:xfrm>
                <a:off x="3186" y="2785"/>
                <a:ext cx="10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6" name="Rectangle 115" descr="深色上对角线"/>
              <p:cNvSpPr>
                <a:spLocks noChangeArrowheads="1"/>
              </p:cNvSpPr>
              <p:nvPr/>
            </p:nvSpPr>
            <p:spPr bwMode="auto">
              <a:xfrm>
                <a:off x="3017" y="2797"/>
                <a:ext cx="100"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7" name="Rectangle 116" descr="深色上对角线"/>
              <p:cNvSpPr>
                <a:spLocks noChangeArrowheads="1"/>
              </p:cNvSpPr>
              <p:nvPr/>
            </p:nvSpPr>
            <p:spPr bwMode="auto">
              <a:xfrm>
                <a:off x="4629" y="2566"/>
                <a:ext cx="101"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8" name="Rectangle 117" descr="深色上对角线"/>
              <p:cNvSpPr>
                <a:spLocks noChangeArrowheads="1"/>
              </p:cNvSpPr>
              <p:nvPr/>
            </p:nvSpPr>
            <p:spPr bwMode="auto">
              <a:xfrm>
                <a:off x="3999" y="2714"/>
                <a:ext cx="99"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9" name="Rectangle 118" descr="深色上对角线"/>
              <p:cNvSpPr>
                <a:spLocks noChangeArrowheads="1"/>
              </p:cNvSpPr>
              <p:nvPr/>
            </p:nvSpPr>
            <p:spPr bwMode="auto">
              <a:xfrm>
                <a:off x="3673" y="2757"/>
                <a:ext cx="100"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0" name="Rectangle 119" descr="深色上对角线"/>
              <p:cNvSpPr>
                <a:spLocks noChangeArrowheads="1"/>
              </p:cNvSpPr>
              <p:nvPr/>
            </p:nvSpPr>
            <p:spPr bwMode="auto">
              <a:xfrm rot="10800000">
                <a:off x="1277" y="3340"/>
                <a:ext cx="97"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1" name="Rectangle 120" descr="深色上对角线"/>
              <p:cNvSpPr>
                <a:spLocks noChangeArrowheads="1"/>
              </p:cNvSpPr>
              <p:nvPr/>
            </p:nvSpPr>
            <p:spPr bwMode="auto">
              <a:xfrm rot="10800000">
                <a:off x="1900" y="3125"/>
                <a:ext cx="98"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2" name="Rectangle 121" descr="深色上对角线"/>
              <p:cNvSpPr>
                <a:spLocks noChangeArrowheads="1"/>
              </p:cNvSpPr>
              <p:nvPr/>
            </p:nvSpPr>
            <p:spPr bwMode="auto">
              <a:xfrm rot="10800000">
                <a:off x="1745" y="3159"/>
                <a:ext cx="98"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3" name="Rectangle 122" descr="深色上对角线"/>
              <p:cNvSpPr>
                <a:spLocks noChangeArrowheads="1"/>
              </p:cNvSpPr>
              <p:nvPr/>
            </p:nvSpPr>
            <p:spPr bwMode="auto">
              <a:xfrm rot="10800000">
                <a:off x="1590" y="3209"/>
                <a:ext cx="98"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4" name="Rectangle 123" descr="深色上对角线"/>
              <p:cNvSpPr>
                <a:spLocks noChangeArrowheads="1"/>
              </p:cNvSpPr>
              <p:nvPr/>
            </p:nvSpPr>
            <p:spPr bwMode="auto">
              <a:xfrm rot="10800000">
                <a:off x="2533" y="3034"/>
                <a:ext cx="97" cy="204"/>
              </a:xfrm>
              <a:prstGeom prst="rect">
                <a:avLst/>
              </a:prstGeom>
              <a:pattFill prst="dkUpDiag">
                <a:fgClr>
                  <a:srgbClr val="CC0000"/>
                </a:fgClr>
                <a:bgClr>
                  <a:srgbClr val="FFFFFF"/>
                </a:bgClr>
              </a:patt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5" name="Rectangle 124" descr="深色上对角线"/>
              <p:cNvSpPr>
                <a:spLocks noChangeArrowheads="1"/>
              </p:cNvSpPr>
              <p:nvPr/>
            </p:nvSpPr>
            <p:spPr bwMode="auto">
              <a:xfrm rot="10800000">
                <a:off x="1121" y="3460"/>
                <a:ext cx="91"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6" name="Rectangle 125" descr="深色上对角线"/>
              <p:cNvSpPr>
                <a:spLocks noChangeArrowheads="1"/>
              </p:cNvSpPr>
              <p:nvPr/>
            </p:nvSpPr>
            <p:spPr bwMode="auto">
              <a:xfrm rot="10800000">
                <a:off x="967" y="3793"/>
                <a:ext cx="96" cy="204"/>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7" name="Rectangle 126" descr="深色上对角线"/>
              <p:cNvSpPr>
                <a:spLocks noChangeArrowheads="1"/>
              </p:cNvSpPr>
              <p:nvPr/>
            </p:nvSpPr>
            <p:spPr bwMode="auto">
              <a:xfrm rot="10800000">
                <a:off x="1437" y="3263"/>
                <a:ext cx="93"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8" name="Rectangle 127" descr="深色上对角线"/>
              <p:cNvSpPr>
                <a:spLocks noChangeArrowheads="1"/>
              </p:cNvSpPr>
              <p:nvPr/>
            </p:nvSpPr>
            <p:spPr bwMode="auto">
              <a:xfrm rot="10800000">
                <a:off x="2051" y="3097"/>
                <a:ext cx="97"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9" name="Rectangle 128" descr="深色上对角线"/>
              <p:cNvSpPr>
                <a:spLocks noChangeArrowheads="1"/>
              </p:cNvSpPr>
              <p:nvPr/>
            </p:nvSpPr>
            <p:spPr bwMode="auto">
              <a:xfrm rot="10800000">
                <a:off x="2210" y="3077"/>
                <a:ext cx="102"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0" name="Rectangle 129" descr="深色上对角线"/>
              <p:cNvSpPr>
                <a:spLocks noChangeArrowheads="1"/>
              </p:cNvSpPr>
              <p:nvPr/>
            </p:nvSpPr>
            <p:spPr bwMode="auto">
              <a:xfrm rot="10800000">
                <a:off x="2373" y="3055"/>
                <a:ext cx="97"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1" name="Rectangle 130" descr="深色上对角线"/>
              <p:cNvSpPr>
                <a:spLocks noChangeArrowheads="1"/>
              </p:cNvSpPr>
              <p:nvPr/>
            </p:nvSpPr>
            <p:spPr bwMode="auto">
              <a:xfrm>
                <a:off x="2701" y="2928"/>
                <a:ext cx="107"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42" name="Group 131"/>
              <p:cNvGrpSpPr/>
              <p:nvPr/>
            </p:nvGrpSpPr>
            <p:grpSpPr bwMode="auto">
              <a:xfrm flipH="1">
                <a:off x="2859" y="2824"/>
                <a:ext cx="96" cy="206"/>
                <a:chOff x="2635" y="2805"/>
                <a:chExt cx="89" cy="206"/>
              </a:xfrm>
            </p:grpSpPr>
            <p:sp>
              <p:nvSpPr>
                <p:cNvPr id="207" name="Rectangle 132" descr="深色上对角线"/>
                <p:cNvSpPr>
                  <a:spLocks noChangeArrowheads="1"/>
                </p:cNvSpPr>
                <p:nvPr/>
              </p:nvSpPr>
              <p:spPr bwMode="auto">
                <a:xfrm>
                  <a:off x="2674" y="2806"/>
                  <a:ext cx="50" cy="205"/>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8" name="Rectangle 133" descr="深色上对角线"/>
                <p:cNvSpPr>
                  <a:spLocks noChangeArrowheads="1"/>
                </p:cNvSpPr>
                <p:nvPr/>
              </p:nvSpPr>
              <p:spPr bwMode="auto">
                <a:xfrm>
                  <a:off x="2635" y="2805"/>
                  <a:ext cx="39" cy="172"/>
                </a:xfrm>
                <a:prstGeom prst="rect">
                  <a:avLst/>
                </a:prstGeom>
                <a:pattFill prst="dkUpDiag">
                  <a:fgClr>
                    <a:srgbClr val="000066"/>
                  </a:fgClr>
                  <a:bgClr>
                    <a:srgbClr val="009999"/>
                  </a:bgClr>
                </a:pattFill>
                <a:ln w="19050">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43" name="Text Box 134"/>
              <p:cNvSpPr txBox="1">
                <a:spLocks noChangeArrowheads="1"/>
              </p:cNvSpPr>
              <p:nvPr/>
            </p:nvSpPr>
            <p:spPr bwMode="auto">
              <a:xfrm>
                <a:off x="5015" y="2315"/>
                <a:ext cx="22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4" name="Text Box 135"/>
              <p:cNvSpPr txBox="1">
                <a:spLocks noChangeArrowheads="1"/>
              </p:cNvSpPr>
              <p:nvPr/>
            </p:nvSpPr>
            <p:spPr bwMode="auto">
              <a:xfrm>
                <a:off x="4871" y="2557"/>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5" name="Text Box 136"/>
              <p:cNvSpPr txBox="1">
                <a:spLocks noChangeArrowheads="1"/>
              </p:cNvSpPr>
              <p:nvPr/>
            </p:nvSpPr>
            <p:spPr bwMode="auto">
              <a:xfrm>
                <a:off x="4717" y="2633"/>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6" name="Text Box 137"/>
              <p:cNvSpPr txBox="1">
                <a:spLocks noChangeArrowheads="1"/>
              </p:cNvSpPr>
              <p:nvPr/>
            </p:nvSpPr>
            <p:spPr bwMode="auto">
              <a:xfrm>
                <a:off x="4587" y="2701"/>
                <a:ext cx="17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z</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7" name="Text Box 138"/>
              <p:cNvSpPr txBox="1">
                <a:spLocks noChangeArrowheads="1"/>
              </p:cNvSpPr>
              <p:nvPr/>
            </p:nvSpPr>
            <p:spPr bwMode="auto">
              <a:xfrm>
                <a:off x="4436" y="2771"/>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y</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8" name="Text Box 139"/>
              <p:cNvSpPr txBox="1">
                <a:spLocks noChangeArrowheads="1"/>
              </p:cNvSpPr>
              <p:nvPr/>
            </p:nvSpPr>
            <p:spPr bwMode="auto">
              <a:xfrm>
                <a:off x="4291" y="2801"/>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x</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49" name="Text Box 140"/>
              <p:cNvSpPr txBox="1">
                <a:spLocks noChangeArrowheads="1"/>
              </p:cNvSpPr>
              <p:nvPr/>
            </p:nvSpPr>
            <p:spPr bwMode="auto">
              <a:xfrm>
                <a:off x="4110" y="283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v</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0" name="Text Box 141"/>
              <p:cNvSpPr txBox="1">
                <a:spLocks noChangeArrowheads="1"/>
              </p:cNvSpPr>
              <p:nvPr/>
            </p:nvSpPr>
            <p:spPr bwMode="auto">
              <a:xfrm>
                <a:off x="3955" y="285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u</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1" name="Text Box 142"/>
              <p:cNvSpPr txBox="1">
                <a:spLocks noChangeArrowheads="1"/>
              </p:cNvSpPr>
              <p:nvPr/>
            </p:nvSpPr>
            <p:spPr bwMode="auto">
              <a:xfrm>
                <a:off x="2827" y="2990"/>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k</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2" name="Text Box 143"/>
              <p:cNvSpPr txBox="1">
                <a:spLocks noChangeArrowheads="1"/>
              </p:cNvSpPr>
              <p:nvPr/>
            </p:nvSpPr>
            <p:spPr bwMode="auto">
              <a:xfrm>
                <a:off x="2981" y="295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m</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3" name="Text Box 144"/>
              <p:cNvSpPr txBox="1">
                <a:spLocks noChangeArrowheads="1"/>
              </p:cNvSpPr>
              <p:nvPr/>
            </p:nvSpPr>
            <p:spPr bwMode="auto">
              <a:xfrm>
                <a:off x="2494" y="286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h</a:t>
                </a:r>
                <a:endParaRPr kumimoji="1" lang="en-US" altLang="zh-CN" sz="1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154" name="Text Box 145"/>
              <p:cNvSpPr txBox="1">
                <a:spLocks noChangeArrowheads="1"/>
              </p:cNvSpPr>
              <p:nvPr/>
            </p:nvSpPr>
            <p:spPr bwMode="auto">
              <a:xfrm>
                <a:off x="933" y="361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5" name="Text Box 146"/>
              <p:cNvSpPr txBox="1">
                <a:spLocks noChangeArrowheads="1"/>
              </p:cNvSpPr>
              <p:nvPr/>
            </p:nvSpPr>
            <p:spPr bwMode="auto">
              <a:xfrm>
                <a:off x="1086" y="3289"/>
                <a:ext cx="17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b</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6" name="Text Box 147"/>
              <p:cNvSpPr txBox="1">
                <a:spLocks noChangeArrowheads="1"/>
              </p:cNvSpPr>
              <p:nvPr/>
            </p:nvSpPr>
            <p:spPr bwMode="auto">
              <a:xfrm>
                <a:off x="1237" y="316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7" name="Text Box 148"/>
              <p:cNvSpPr txBox="1">
                <a:spLocks noChangeArrowheads="1"/>
              </p:cNvSpPr>
              <p:nvPr/>
            </p:nvSpPr>
            <p:spPr bwMode="auto">
              <a:xfrm>
                <a:off x="1372" y="3087"/>
                <a:ext cx="22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cd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8" name="Text Box 149"/>
              <p:cNvSpPr txBox="1">
                <a:spLocks noChangeArrowheads="1"/>
              </p:cNvSpPr>
              <p:nvPr/>
            </p:nvSpPr>
            <p:spPr bwMode="auto">
              <a:xfrm>
                <a:off x="1543" y="303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d</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59" name="Text Box 150"/>
              <p:cNvSpPr txBox="1">
                <a:spLocks noChangeArrowheads="1"/>
              </p:cNvSpPr>
              <p:nvPr/>
            </p:nvSpPr>
            <p:spPr bwMode="auto">
              <a:xfrm>
                <a:off x="1708" y="2990"/>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0" name="Text Box 151"/>
              <p:cNvSpPr txBox="1">
                <a:spLocks noChangeArrowheads="1"/>
              </p:cNvSpPr>
              <p:nvPr/>
            </p:nvSpPr>
            <p:spPr bwMode="auto">
              <a:xfrm>
                <a:off x="2012" y="292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61" name="Text Box 154"/>
              <p:cNvSpPr txBox="1">
                <a:spLocks noChangeArrowheads="1"/>
              </p:cNvSpPr>
              <p:nvPr/>
            </p:nvSpPr>
            <p:spPr bwMode="auto">
              <a:xfrm>
                <a:off x="3278" y="3675"/>
                <a:ext cx="309" cy="288"/>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rPr>
                  <a:t>轴</a:t>
                </a:r>
                <a:endParaRPr kumimoji="1" lang="zh-CN" altLang="en-US" sz="2400" b="1" i="0" u="none" strike="noStrike" kern="0" cap="none" spc="0" normalizeH="0" baseline="0" noProof="0">
                  <a:ln>
                    <a:noFill/>
                  </a:ln>
                  <a:solidFill>
                    <a:srgbClr val="CC0000"/>
                  </a:solidFill>
                  <a:effectLst/>
                  <a:uLnTx/>
                  <a:uFillTx/>
                  <a:latin typeface="黑体" panose="02010609060101010101" pitchFamily="2" charset="-122"/>
                  <a:ea typeface="黑体" panose="02010609060101010101" pitchFamily="2" charset="-122"/>
                </a:endParaRPr>
              </a:p>
            </p:txBody>
          </p:sp>
          <p:sp>
            <p:nvSpPr>
              <p:cNvPr id="162" name="Rectangle 155"/>
              <p:cNvSpPr>
                <a:spLocks noChangeArrowheads="1"/>
              </p:cNvSpPr>
              <p:nvPr/>
            </p:nvSpPr>
            <p:spPr bwMode="auto">
              <a:xfrm>
                <a:off x="2201" y="2959"/>
                <a:ext cx="126"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3" name="Rectangle 156"/>
              <p:cNvSpPr>
                <a:spLocks noChangeArrowheads="1"/>
              </p:cNvSpPr>
              <p:nvPr/>
            </p:nvSpPr>
            <p:spPr bwMode="auto">
              <a:xfrm>
                <a:off x="1876" y="2991"/>
                <a:ext cx="139"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4" name="Rectangle 157"/>
              <p:cNvSpPr>
                <a:spLocks noChangeArrowheads="1"/>
              </p:cNvSpPr>
              <p:nvPr/>
            </p:nvSpPr>
            <p:spPr bwMode="auto">
              <a:xfrm>
                <a:off x="5036" y="2135"/>
                <a:ext cx="156" cy="52"/>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5" name="Rectangle 158"/>
              <p:cNvSpPr>
                <a:spLocks noChangeArrowheads="1"/>
              </p:cNvSpPr>
              <p:nvPr/>
            </p:nvSpPr>
            <p:spPr bwMode="auto">
              <a:xfrm>
                <a:off x="4897" y="2351"/>
                <a:ext cx="156" cy="52"/>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6" name="Rectangle 159"/>
              <p:cNvSpPr>
                <a:spLocks noChangeArrowheads="1"/>
              </p:cNvSpPr>
              <p:nvPr/>
            </p:nvSpPr>
            <p:spPr bwMode="auto">
              <a:xfrm>
                <a:off x="4745" y="2455"/>
                <a:ext cx="156" cy="52"/>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7" name="Rectangle 160"/>
              <p:cNvSpPr>
                <a:spLocks noChangeArrowheads="1"/>
              </p:cNvSpPr>
              <p:nvPr/>
            </p:nvSpPr>
            <p:spPr bwMode="auto">
              <a:xfrm>
                <a:off x="4594" y="252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8" name="Rectangle 161"/>
              <p:cNvSpPr>
                <a:spLocks noChangeArrowheads="1"/>
              </p:cNvSpPr>
              <p:nvPr/>
            </p:nvSpPr>
            <p:spPr bwMode="auto">
              <a:xfrm>
                <a:off x="4446" y="258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69" name="Rectangle 162"/>
              <p:cNvSpPr>
                <a:spLocks noChangeArrowheads="1"/>
              </p:cNvSpPr>
              <p:nvPr/>
            </p:nvSpPr>
            <p:spPr bwMode="auto">
              <a:xfrm>
                <a:off x="4286" y="263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0" name="Rectangle 163"/>
              <p:cNvSpPr>
                <a:spLocks noChangeArrowheads="1"/>
              </p:cNvSpPr>
              <p:nvPr/>
            </p:nvSpPr>
            <p:spPr bwMode="auto">
              <a:xfrm>
                <a:off x="4126" y="2660"/>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1" name="Rectangle 164"/>
              <p:cNvSpPr>
                <a:spLocks noChangeArrowheads="1"/>
              </p:cNvSpPr>
              <p:nvPr/>
            </p:nvSpPr>
            <p:spPr bwMode="auto">
              <a:xfrm>
                <a:off x="3965" y="269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2" name="Rectangle 165"/>
              <p:cNvSpPr>
                <a:spLocks noChangeArrowheads="1"/>
              </p:cNvSpPr>
              <p:nvPr/>
            </p:nvSpPr>
            <p:spPr bwMode="auto">
              <a:xfrm>
                <a:off x="3800" y="2704"/>
                <a:ext cx="157"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3" name="Rectangle 166"/>
              <p:cNvSpPr>
                <a:spLocks noChangeArrowheads="1"/>
              </p:cNvSpPr>
              <p:nvPr/>
            </p:nvSpPr>
            <p:spPr bwMode="auto">
              <a:xfrm>
                <a:off x="3644" y="273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4" name="Rectangle 167"/>
              <p:cNvSpPr>
                <a:spLocks noChangeArrowheads="1"/>
              </p:cNvSpPr>
              <p:nvPr/>
            </p:nvSpPr>
            <p:spPr bwMode="auto">
              <a:xfrm>
                <a:off x="3480" y="2744"/>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5" name="Rectangle 168"/>
              <p:cNvSpPr>
                <a:spLocks noChangeArrowheads="1"/>
              </p:cNvSpPr>
              <p:nvPr/>
            </p:nvSpPr>
            <p:spPr bwMode="auto">
              <a:xfrm>
                <a:off x="3315" y="275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6" name="Rectangle 169"/>
              <p:cNvSpPr>
                <a:spLocks noChangeArrowheads="1"/>
              </p:cNvSpPr>
              <p:nvPr/>
            </p:nvSpPr>
            <p:spPr bwMode="auto">
              <a:xfrm>
                <a:off x="3168" y="2760"/>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7" name="Rectangle 170"/>
              <p:cNvSpPr>
                <a:spLocks noChangeArrowheads="1"/>
              </p:cNvSpPr>
              <p:nvPr/>
            </p:nvSpPr>
            <p:spPr bwMode="auto">
              <a:xfrm>
                <a:off x="2990" y="277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8" name="Rectangle 171"/>
              <p:cNvSpPr>
                <a:spLocks noChangeArrowheads="1"/>
              </p:cNvSpPr>
              <p:nvPr/>
            </p:nvSpPr>
            <p:spPr bwMode="auto">
              <a:xfrm>
                <a:off x="2817" y="2784"/>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9" name="Rectangle 172"/>
              <p:cNvSpPr>
                <a:spLocks noChangeArrowheads="1"/>
              </p:cNvSpPr>
              <p:nvPr/>
            </p:nvSpPr>
            <p:spPr bwMode="auto">
              <a:xfrm>
                <a:off x="2674" y="2884"/>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0" name="Rectangle 173"/>
              <p:cNvSpPr>
                <a:spLocks noChangeArrowheads="1"/>
              </p:cNvSpPr>
              <p:nvPr/>
            </p:nvSpPr>
            <p:spPr bwMode="auto">
              <a:xfrm>
                <a:off x="2678" y="312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1" name="Text Box 174"/>
              <p:cNvSpPr txBox="1">
                <a:spLocks noChangeArrowheads="1"/>
              </p:cNvSpPr>
              <p:nvPr/>
            </p:nvSpPr>
            <p:spPr bwMode="auto">
              <a:xfrm>
                <a:off x="2634" y="3089"/>
                <a:ext cx="227"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js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82" name="Rectangle 175"/>
              <p:cNvSpPr>
                <a:spLocks noChangeArrowheads="1"/>
              </p:cNvSpPr>
              <p:nvPr/>
            </p:nvSpPr>
            <p:spPr bwMode="auto">
              <a:xfrm>
                <a:off x="2340" y="3248"/>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3" name="Rectangle 176"/>
              <p:cNvSpPr>
                <a:spLocks noChangeArrowheads="1"/>
              </p:cNvSpPr>
              <p:nvPr/>
            </p:nvSpPr>
            <p:spPr bwMode="auto">
              <a:xfrm>
                <a:off x="2184" y="3276"/>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4" name="Rectangle 177"/>
              <p:cNvSpPr>
                <a:spLocks noChangeArrowheads="1"/>
              </p:cNvSpPr>
              <p:nvPr/>
            </p:nvSpPr>
            <p:spPr bwMode="auto">
              <a:xfrm>
                <a:off x="2505" y="3232"/>
                <a:ext cx="156" cy="51"/>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5" name="Rectangle 178"/>
              <p:cNvSpPr>
                <a:spLocks noChangeArrowheads="1"/>
              </p:cNvSpPr>
              <p:nvPr/>
            </p:nvSpPr>
            <p:spPr bwMode="auto">
              <a:xfrm>
                <a:off x="2028" y="3292"/>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6" name="Rectangle 179"/>
              <p:cNvSpPr>
                <a:spLocks noChangeArrowheads="1"/>
              </p:cNvSpPr>
              <p:nvPr/>
            </p:nvSpPr>
            <p:spPr bwMode="auto">
              <a:xfrm>
                <a:off x="1872" y="3320"/>
                <a:ext cx="156" cy="47"/>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7" name="Rectangle 180"/>
              <p:cNvSpPr>
                <a:spLocks noChangeArrowheads="1"/>
              </p:cNvSpPr>
              <p:nvPr/>
            </p:nvSpPr>
            <p:spPr bwMode="auto">
              <a:xfrm>
                <a:off x="1720" y="3356"/>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8" name="Rectangle 181"/>
              <p:cNvSpPr>
                <a:spLocks noChangeArrowheads="1"/>
              </p:cNvSpPr>
              <p:nvPr/>
            </p:nvSpPr>
            <p:spPr bwMode="auto">
              <a:xfrm>
                <a:off x="1560" y="3412"/>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89" name="Rectangle 182"/>
              <p:cNvSpPr>
                <a:spLocks noChangeArrowheads="1"/>
              </p:cNvSpPr>
              <p:nvPr/>
            </p:nvSpPr>
            <p:spPr bwMode="auto">
              <a:xfrm>
                <a:off x="1408" y="3460"/>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0" name="Rectangle 183"/>
              <p:cNvSpPr>
                <a:spLocks noChangeArrowheads="1"/>
              </p:cNvSpPr>
              <p:nvPr/>
            </p:nvSpPr>
            <p:spPr bwMode="auto">
              <a:xfrm>
                <a:off x="1252" y="3536"/>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1" name="Rectangle 184"/>
              <p:cNvSpPr>
                <a:spLocks noChangeArrowheads="1"/>
              </p:cNvSpPr>
              <p:nvPr/>
            </p:nvSpPr>
            <p:spPr bwMode="auto">
              <a:xfrm>
                <a:off x="1079" y="3660"/>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2" name="Rectangle 185"/>
              <p:cNvSpPr>
                <a:spLocks noChangeArrowheads="1"/>
              </p:cNvSpPr>
              <p:nvPr/>
            </p:nvSpPr>
            <p:spPr bwMode="auto">
              <a:xfrm>
                <a:off x="927" y="3992"/>
                <a:ext cx="156" cy="47"/>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3" name="Text Box 186"/>
              <p:cNvSpPr txBox="1">
                <a:spLocks noChangeArrowheads="1"/>
              </p:cNvSpPr>
              <p:nvPr/>
            </p:nvSpPr>
            <p:spPr bwMode="auto">
              <a:xfrm>
                <a:off x="1830" y="2946"/>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ef</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4" name="Rectangle 187"/>
              <p:cNvSpPr>
                <a:spLocks noChangeArrowheads="1"/>
              </p:cNvSpPr>
              <p:nvPr/>
            </p:nvSpPr>
            <p:spPr bwMode="auto">
              <a:xfrm>
                <a:off x="2379" y="2943"/>
                <a:ext cx="91"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5" name="Text Box 188"/>
              <p:cNvSpPr txBox="1">
                <a:spLocks noChangeArrowheads="1"/>
              </p:cNvSpPr>
              <p:nvPr/>
            </p:nvSpPr>
            <p:spPr bwMode="auto">
              <a:xfrm>
                <a:off x="2142" y="2897"/>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fg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6" name="Text Box 189"/>
              <p:cNvSpPr txBox="1">
                <a:spLocks noChangeArrowheads="1"/>
              </p:cNvSpPr>
              <p:nvPr/>
            </p:nvSpPr>
            <p:spPr bwMode="auto">
              <a:xfrm>
                <a:off x="2336" y="2871"/>
                <a:ext cx="17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g</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97" name="Rectangle 190"/>
              <p:cNvSpPr>
                <a:spLocks noChangeArrowheads="1"/>
              </p:cNvSpPr>
              <p:nvPr/>
            </p:nvSpPr>
            <p:spPr bwMode="auto">
              <a:xfrm>
                <a:off x="3181" y="3015"/>
                <a:ext cx="104" cy="96"/>
              </a:xfrm>
              <a:prstGeom prst="rect">
                <a:avLst/>
              </a:prstGeom>
              <a:solidFill>
                <a:srgbClr val="FFFFFF"/>
              </a:solidFill>
              <a:ln>
                <a:noFill/>
              </a:ln>
              <a:effectLst/>
              <a:extLst>
                <a:ext uri="{91240B29-F687-4F45-9708-019B960494DF}">
                  <a14:hiddenLine xmlns:a14="http://schemas.microsoft.com/office/drawing/2010/main" w="9525">
                    <a:solidFill>
                      <a:srgbClr val="E6F4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8" name="Rectangle 191"/>
              <p:cNvSpPr>
                <a:spLocks noChangeArrowheads="1"/>
              </p:cNvSpPr>
              <p:nvPr/>
            </p:nvSpPr>
            <p:spPr bwMode="auto">
              <a:xfrm>
                <a:off x="3350" y="3007"/>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9" name="Rectangle 192"/>
              <p:cNvSpPr>
                <a:spLocks noChangeArrowheads="1"/>
              </p:cNvSpPr>
              <p:nvPr/>
            </p:nvSpPr>
            <p:spPr bwMode="auto">
              <a:xfrm>
                <a:off x="3519" y="2987"/>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0" name="Rectangle 193"/>
              <p:cNvSpPr>
                <a:spLocks noChangeArrowheads="1"/>
              </p:cNvSpPr>
              <p:nvPr/>
            </p:nvSpPr>
            <p:spPr bwMode="auto">
              <a:xfrm>
                <a:off x="3675" y="2983"/>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1" name="Rectangle 194"/>
              <p:cNvSpPr>
                <a:spLocks noChangeArrowheads="1"/>
              </p:cNvSpPr>
              <p:nvPr/>
            </p:nvSpPr>
            <p:spPr bwMode="auto">
              <a:xfrm>
                <a:off x="3844" y="2979"/>
                <a:ext cx="104" cy="96"/>
              </a:xfrm>
              <a:prstGeom prst="rect">
                <a:avLst/>
              </a:prstGeom>
              <a:solidFill>
                <a:srgbClr val="FFFFFF"/>
              </a:solidFill>
              <a:ln>
                <a:noFill/>
              </a:ln>
              <a:effectLst/>
              <a:extLst>
                <a:ext uri="{91240B29-F687-4F45-9708-019B960494DF}">
                  <a14:hiddenLine xmlns:a14="http://schemas.microsoft.com/office/drawing/2010/main" w="9525">
                    <a:solidFill>
                      <a:srgbClr val="F0F8F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2" name="Text Box 195"/>
              <p:cNvSpPr txBox="1">
                <a:spLocks noChangeArrowheads="1"/>
              </p:cNvSpPr>
              <p:nvPr/>
            </p:nvSpPr>
            <p:spPr bwMode="auto">
              <a:xfrm>
                <a:off x="3804" y="2893"/>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t</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3" name="Text Box 196"/>
              <p:cNvSpPr txBox="1">
                <a:spLocks noChangeArrowheads="1"/>
              </p:cNvSpPr>
              <p:nvPr/>
            </p:nvSpPr>
            <p:spPr bwMode="auto">
              <a:xfrm>
                <a:off x="3635" y="2902"/>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s</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4" name="Text Box 197"/>
              <p:cNvSpPr txBox="1">
                <a:spLocks noChangeArrowheads="1"/>
              </p:cNvSpPr>
              <p:nvPr/>
            </p:nvSpPr>
            <p:spPr bwMode="auto">
              <a:xfrm>
                <a:off x="3481" y="2920"/>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r</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5" name="Text Box 198"/>
              <p:cNvSpPr txBox="1">
                <a:spLocks noChangeArrowheads="1"/>
              </p:cNvSpPr>
              <p:nvPr/>
            </p:nvSpPr>
            <p:spPr bwMode="auto">
              <a:xfrm>
                <a:off x="3150" y="2945"/>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n</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206" name="Text Box 199"/>
              <p:cNvSpPr txBox="1">
                <a:spLocks noChangeArrowheads="1"/>
              </p:cNvSpPr>
              <p:nvPr/>
            </p:nvSpPr>
            <p:spPr bwMode="auto">
              <a:xfrm>
                <a:off x="3315" y="2928"/>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p</a:t>
                </a:r>
                <a:endParaRPr kumimoji="1" lang="en-US" altLang="zh-CN" sz="1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grpSp>
        <p:sp>
          <p:nvSpPr>
            <p:cNvPr id="97" name="AutoShape 203"/>
            <p:cNvSpPr/>
            <p:nvPr/>
          </p:nvSpPr>
          <p:spPr bwMode="auto">
            <a:xfrm rot="16200000" flipV="1">
              <a:off x="2771775" y="1512888"/>
              <a:ext cx="168275" cy="2397125"/>
            </a:xfrm>
            <a:prstGeom prst="leftBrace">
              <a:avLst>
                <a:gd name="adj1" fmla="val 118711"/>
                <a:gd name="adj2" fmla="val 50000"/>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98" name="Text Box 204"/>
            <p:cNvSpPr txBox="1">
              <a:spLocks noChangeArrowheads="1"/>
            </p:cNvSpPr>
            <p:nvPr/>
          </p:nvSpPr>
          <p:spPr bwMode="auto">
            <a:xfrm>
              <a:off x="1935163" y="2790825"/>
              <a:ext cx="17430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A→H </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间隙配合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99" name="AutoShape 205"/>
            <p:cNvSpPr/>
            <p:nvPr/>
          </p:nvSpPr>
          <p:spPr bwMode="auto">
            <a:xfrm rot="16200000" flipV="1">
              <a:off x="4510088" y="2478088"/>
              <a:ext cx="130175" cy="466725"/>
            </a:xfrm>
            <a:prstGeom prst="leftBrace">
              <a:avLst>
                <a:gd name="adj1" fmla="val 29878"/>
                <a:gd name="adj2" fmla="val 50000"/>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0" name="Text Box 206"/>
            <p:cNvSpPr txBox="1">
              <a:spLocks noChangeArrowheads="1"/>
            </p:cNvSpPr>
            <p:nvPr/>
          </p:nvSpPr>
          <p:spPr bwMode="auto">
            <a:xfrm>
              <a:off x="4140200" y="2781300"/>
              <a:ext cx="17859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J→M </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过渡配合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01" name="AutoShape 207"/>
            <p:cNvSpPr/>
            <p:nvPr/>
          </p:nvSpPr>
          <p:spPr bwMode="auto">
            <a:xfrm rot="5400000">
              <a:off x="6821488" y="603250"/>
              <a:ext cx="157162" cy="2401888"/>
            </a:xfrm>
            <a:prstGeom prst="leftBrace">
              <a:avLst>
                <a:gd name="adj1" fmla="val 127357"/>
                <a:gd name="adj2" fmla="val 50000"/>
              </a:avLst>
            </a:prstGeom>
            <a:noFill/>
            <a:ln w="9525">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2" name="Text Box 208"/>
            <p:cNvSpPr txBox="1">
              <a:spLocks noChangeArrowheads="1"/>
            </p:cNvSpPr>
            <p:nvPr/>
          </p:nvSpPr>
          <p:spPr bwMode="auto">
            <a:xfrm>
              <a:off x="6053138" y="1365250"/>
              <a:ext cx="1930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R→ZC </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过盈配合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03" name="Text Box 209"/>
            <p:cNvSpPr txBox="1">
              <a:spLocks noChangeArrowheads="1"/>
            </p:cNvSpPr>
            <p:nvPr/>
          </p:nvSpPr>
          <p:spPr bwMode="auto">
            <a:xfrm>
              <a:off x="4645025" y="882650"/>
              <a:ext cx="136048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N</a:t>
              </a:r>
              <a:r>
                <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a:t>
              </a:r>
              <a:r>
                <a:rPr kumimoji="1" lang="en-US"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P</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可能</a:t>
              </a:r>
              <a:r>
                <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为</a:t>
              </a:r>
              <a:r>
                <a:rPr kumimoji="1" lang="zh-CN" altLang="zh-CN"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rPr>
                <a:t>过渡配合或过盈配合</a:t>
              </a:r>
              <a:endParaRPr kumimoji="1" lang="zh-CN" altLang="en-US" sz="1800" b="1" i="0" u="none" strike="noStrike" kern="0" cap="none" spc="0" normalizeH="0" baseline="0" noProof="0">
                <a:ln>
                  <a:noFill/>
                </a:ln>
                <a:solidFill>
                  <a:srgbClr val="000066"/>
                </a:solidFill>
                <a:effectLst/>
                <a:uLnTx/>
                <a:uFillTx/>
                <a:latin typeface="黑体" panose="02010609060101010101" pitchFamily="2" charset="-122"/>
                <a:ea typeface="黑体" panose="02010609060101010101" pitchFamily="2" charset="-122"/>
              </a:endParaRPr>
            </a:p>
          </p:txBody>
        </p:sp>
        <p:sp>
          <p:nvSpPr>
            <p:cNvPr id="104" name="AutoShape 210"/>
            <p:cNvSpPr/>
            <p:nvPr/>
          </p:nvSpPr>
          <p:spPr bwMode="auto">
            <a:xfrm>
              <a:off x="2555875" y="5805488"/>
              <a:ext cx="914400" cy="403225"/>
            </a:xfrm>
            <a:prstGeom prst="borderCallout2">
              <a:avLst>
                <a:gd name="adj1" fmla="val 28347"/>
                <a:gd name="adj2" fmla="val 108333"/>
                <a:gd name="adj3" fmla="val 28347"/>
                <a:gd name="adj4" fmla="val 136981"/>
                <a:gd name="adj5" fmla="val -192912"/>
                <a:gd name="adj6" fmla="val 167014"/>
              </a:avLst>
            </a:prstGeom>
            <a:solidFill>
              <a:srgbClr val="D7CEE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180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2" charset="-122"/>
                </a:rPr>
                <a:t>基准轴</a:t>
              </a:r>
              <a:endParaRPr kumimoji="1" lang="zh-CN" altLang="en-US" sz="180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2" charset="-122"/>
              </a:endParaRPr>
            </a:p>
          </p:txBody>
        </p:sp>
        <p:grpSp>
          <p:nvGrpSpPr>
            <p:cNvPr id="105" name="组合 1"/>
            <p:cNvGrpSpPr/>
            <p:nvPr/>
          </p:nvGrpSpPr>
          <p:grpSpPr bwMode="auto">
            <a:xfrm>
              <a:off x="468313" y="1428750"/>
              <a:ext cx="914400" cy="1957388"/>
              <a:chOff x="468315" y="1428750"/>
              <a:chExt cx="914448" cy="1957487"/>
            </a:xfrm>
          </p:grpSpPr>
          <p:sp>
            <p:nvSpPr>
              <p:cNvPr id="111" name="Text Box 59"/>
              <p:cNvSpPr txBox="1">
                <a:spLocks noChangeArrowheads="1"/>
              </p:cNvSpPr>
              <p:nvPr/>
            </p:nvSpPr>
            <p:spPr bwMode="auto">
              <a:xfrm>
                <a:off x="468315" y="180340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0 </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12" name="Text Box 60"/>
              <p:cNvSpPr txBox="1">
                <a:spLocks noChangeArrowheads="1"/>
              </p:cNvSpPr>
              <p:nvPr/>
            </p:nvSpPr>
            <p:spPr bwMode="auto">
              <a:xfrm>
                <a:off x="674690" y="1428750"/>
                <a:ext cx="338138"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13" name="Line 37"/>
              <p:cNvSpPr>
                <a:spLocks noChangeShapeType="1"/>
              </p:cNvSpPr>
              <p:nvPr/>
            </p:nvSpPr>
            <p:spPr bwMode="auto">
              <a:xfrm flipV="1">
                <a:off x="1382763" y="2062262"/>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4" name="Text Box 38"/>
              <p:cNvSpPr txBox="1">
                <a:spLocks noChangeArrowheads="1"/>
              </p:cNvSpPr>
              <p:nvPr/>
            </p:nvSpPr>
            <p:spPr bwMode="auto">
              <a:xfrm rot="16200000">
                <a:off x="232560" y="2236034"/>
                <a:ext cx="1889221" cy="3984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黑体" panose="02010609060101010101" pitchFamily="2" charset="-122"/>
                  </a:rPr>
                  <a:t>基本尺寸</a:t>
                </a:r>
                <a:endParaRPr kumimoji="1"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黑体" panose="02010609060101010101" pitchFamily="2" charset="-122"/>
                </a:endParaRPr>
              </a:p>
            </p:txBody>
          </p:sp>
        </p:grpSp>
        <p:grpSp>
          <p:nvGrpSpPr>
            <p:cNvPr id="106" name="组合 215"/>
            <p:cNvGrpSpPr/>
            <p:nvPr/>
          </p:nvGrpSpPr>
          <p:grpSpPr bwMode="auto">
            <a:xfrm>
              <a:off x="468313" y="4173538"/>
              <a:ext cx="914400" cy="1957387"/>
              <a:chOff x="468315" y="1428750"/>
              <a:chExt cx="914448" cy="1957487"/>
            </a:xfrm>
          </p:grpSpPr>
          <p:sp>
            <p:nvSpPr>
              <p:cNvPr id="107" name="Text Box 59"/>
              <p:cNvSpPr txBox="1">
                <a:spLocks noChangeArrowheads="1"/>
              </p:cNvSpPr>
              <p:nvPr/>
            </p:nvSpPr>
            <p:spPr bwMode="auto">
              <a:xfrm>
                <a:off x="468315" y="180340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0 </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8" name="Text Box 60"/>
              <p:cNvSpPr txBox="1">
                <a:spLocks noChangeArrowheads="1"/>
              </p:cNvSpPr>
              <p:nvPr/>
            </p:nvSpPr>
            <p:spPr bwMode="auto">
              <a:xfrm>
                <a:off x="674690" y="1428750"/>
                <a:ext cx="338138"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rPr>
                  <a:t>-</a:t>
                </a:r>
                <a:endParaRPr kumimoji="1" lang="en-US" altLang="zh-CN" sz="2400" b="1" i="0" u="none" strike="noStrike" kern="0" cap="none" spc="0" normalizeH="0" baseline="0" noProof="0">
                  <a:ln>
                    <a:noFill/>
                  </a:ln>
                  <a:solidFill>
                    <a:srgbClr val="000000"/>
                  </a:solidFill>
                  <a:effectLst/>
                  <a:uLnTx/>
                  <a:uFillTx/>
                  <a:latin typeface="黑体" panose="02010609060101010101" pitchFamily="2" charset="-122"/>
                  <a:ea typeface="黑体" panose="02010609060101010101" pitchFamily="2" charset="-122"/>
                </a:endParaRPr>
              </a:p>
            </p:txBody>
          </p:sp>
          <p:sp>
            <p:nvSpPr>
              <p:cNvPr id="109" name="Line 37"/>
              <p:cNvSpPr>
                <a:spLocks noChangeShapeType="1"/>
              </p:cNvSpPr>
              <p:nvPr/>
            </p:nvSpPr>
            <p:spPr bwMode="auto">
              <a:xfrm flipV="1">
                <a:off x="1382763" y="2062262"/>
                <a:ext cx="0" cy="1323975"/>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0" name="Text Box 38"/>
              <p:cNvSpPr txBox="1">
                <a:spLocks noChangeArrowheads="1"/>
              </p:cNvSpPr>
              <p:nvPr/>
            </p:nvSpPr>
            <p:spPr bwMode="auto">
              <a:xfrm rot="16200000">
                <a:off x="232560" y="2236034"/>
                <a:ext cx="1889222" cy="3984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黑体" panose="02010609060101010101" pitchFamily="2" charset="-122"/>
                  </a:rPr>
                  <a:t>基本尺寸</a:t>
                </a:r>
                <a:endParaRPr kumimoji="1"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黑体" panose="0201060906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grpSp>
        <p:nvGrpSpPr>
          <p:cNvPr id="2" name="Group 3"/>
          <p:cNvGrpSpPr/>
          <p:nvPr/>
        </p:nvGrpSpPr>
        <p:grpSpPr bwMode="auto">
          <a:xfrm>
            <a:off x="2630463" y="4565897"/>
            <a:ext cx="4295775" cy="838200"/>
            <a:chOff x="625" y="2783"/>
            <a:chExt cx="2706" cy="528"/>
          </a:xfrm>
        </p:grpSpPr>
        <p:sp>
          <p:nvSpPr>
            <p:cNvPr id="3" name="Text Box 4"/>
            <p:cNvSpPr txBox="1">
              <a:spLocks noChangeArrowheads="1"/>
            </p:cNvSpPr>
            <p:nvPr/>
          </p:nvSpPr>
          <p:spPr bwMode="auto">
            <a:xfrm>
              <a:off x="625" y="2898"/>
              <a:ext cx="11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Times New Roman" panose="02020603050405020304" pitchFamily="18" charset="0"/>
                  <a:ea typeface="黑体" panose="02010609060101010101" pitchFamily="2" charset="-122"/>
                </a:rPr>
                <a:t>基本尺寸</a:t>
              </a:r>
              <a:endParaRPr kumimoji="1" lang="zh-CN" altLang="en-US" sz="2400">
                <a:solidFill>
                  <a:srgbClr val="000000"/>
                </a:solidFill>
                <a:latin typeface="Times New Roman" panose="02020603050405020304" pitchFamily="18" charset="0"/>
                <a:ea typeface="黑体" panose="02010609060101010101" pitchFamily="2" charset="-122"/>
              </a:endParaRPr>
            </a:p>
          </p:txBody>
        </p:sp>
        <p:sp>
          <p:nvSpPr>
            <p:cNvPr id="4" name="Line 5"/>
            <p:cNvSpPr>
              <a:spLocks noChangeShapeType="1"/>
            </p:cNvSpPr>
            <p:nvPr/>
          </p:nvSpPr>
          <p:spPr bwMode="auto">
            <a:xfrm>
              <a:off x="1529" y="3058"/>
              <a:ext cx="146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 name="Text Box 6"/>
            <p:cNvSpPr txBox="1">
              <a:spLocks noChangeArrowheads="1"/>
            </p:cNvSpPr>
            <p:nvPr/>
          </p:nvSpPr>
          <p:spPr bwMode="auto">
            <a:xfrm>
              <a:off x="1524" y="2783"/>
              <a:ext cx="18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Times New Roman" panose="02020603050405020304" pitchFamily="18" charset="0"/>
                  <a:ea typeface="黑体" panose="02010609060101010101" pitchFamily="2" charset="-122"/>
                </a:rPr>
                <a:t>孔的公差带代号</a:t>
              </a:r>
              <a:endParaRPr kumimoji="1" lang="zh-CN" altLang="en-US" sz="2400">
                <a:solidFill>
                  <a:srgbClr val="000000"/>
                </a:solidFill>
                <a:latin typeface="Times New Roman" panose="02020603050405020304" pitchFamily="18" charset="0"/>
                <a:ea typeface="黑体" panose="02010609060101010101" pitchFamily="2" charset="-122"/>
              </a:endParaRPr>
            </a:p>
          </p:txBody>
        </p:sp>
        <p:sp>
          <p:nvSpPr>
            <p:cNvPr id="6" name="Text Box 7"/>
            <p:cNvSpPr txBox="1">
              <a:spLocks noChangeArrowheads="1"/>
            </p:cNvSpPr>
            <p:nvPr/>
          </p:nvSpPr>
          <p:spPr bwMode="auto">
            <a:xfrm>
              <a:off x="1533" y="3023"/>
              <a:ext cx="17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Times New Roman" panose="02020603050405020304" pitchFamily="18" charset="0"/>
                  <a:ea typeface="黑体" panose="02010609060101010101" pitchFamily="2" charset="-122"/>
                </a:rPr>
                <a:t>轴的公差带代号</a:t>
              </a:r>
              <a:endParaRPr kumimoji="1" lang="zh-CN" altLang="en-US" sz="2400">
                <a:solidFill>
                  <a:srgbClr val="000000"/>
                </a:solidFill>
                <a:latin typeface="Times New Roman" panose="02020603050405020304" pitchFamily="18" charset="0"/>
                <a:ea typeface="黑体" panose="02010609060101010101" pitchFamily="2" charset="-122"/>
              </a:endParaRPr>
            </a:p>
          </p:txBody>
        </p:sp>
      </p:grpSp>
      <p:grpSp>
        <p:nvGrpSpPr>
          <p:cNvPr id="7" name="组合 6"/>
          <p:cNvGrpSpPr/>
          <p:nvPr/>
        </p:nvGrpSpPr>
        <p:grpSpPr>
          <a:xfrm>
            <a:off x="6384900" y="5111997"/>
            <a:ext cx="4064864" cy="1107996"/>
            <a:chOff x="6395317" y="4950258"/>
            <a:chExt cx="4064864" cy="1107996"/>
          </a:xfrm>
        </p:grpSpPr>
        <p:sp>
          <p:nvSpPr>
            <p:cNvPr id="8" name="Text Box 9"/>
            <p:cNvSpPr txBox="1">
              <a:spLocks noChangeArrowheads="1"/>
            </p:cNvSpPr>
            <p:nvPr/>
          </p:nvSpPr>
          <p:spPr bwMode="auto">
            <a:xfrm>
              <a:off x="7325592" y="4950258"/>
              <a:ext cx="313458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200" dirty="0">
                  <a:solidFill>
                    <a:srgbClr val="000000"/>
                  </a:solidFill>
                  <a:latin typeface="黑体" panose="02010609060101010101" pitchFamily="2" charset="-122"/>
                  <a:ea typeface="黑体" panose="02010609060101010101" pitchFamily="2" charset="-122"/>
                </a:rPr>
                <a:t>采用基轴制时：</a:t>
              </a:r>
              <a:endParaRPr kumimoji="1" lang="zh-CN" altLang="en-US" sz="22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zh-CN" altLang="en-US" sz="2200" dirty="0">
                  <a:solidFill>
                    <a:srgbClr val="000000"/>
                  </a:solidFill>
                  <a:latin typeface="黑体" panose="02010609060101010101" pitchFamily="2" charset="-122"/>
                  <a:ea typeface="黑体" panose="02010609060101010101" pitchFamily="2" charset="-122"/>
                </a:rPr>
                <a:t>分母为基准轴的代号</a:t>
              </a:r>
              <a:r>
                <a:rPr kumimoji="1" lang="en-US" altLang="zh-CN" sz="2200" dirty="0">
                  <a:solidFill>
                    <a:srgbClr val="000000"/>
                  </a:solidFill>
                  <a:latin typeface="黑体" panose="02010609060101010101" pitchFamily="2" charset="-122"/>
                  <a:ea typeface="黑体" panose="02010609060101010101" pitchFamily="2" charset="-122"/>
                </a:rPr>
                <a:t>(</a:t>
              </a:r>
              <a:r>
                <a:rPr kumimoji="1" lang="en-US" altLang="zh-CN" sz="2200" dirty="0">
                  <a:solidFill>
                    <a:srgbClr val="CC0000"/>
                  </a:solidFill>
                  <a:latin typeface="黑体" panose="02010609060101010101" pitchFamily="2" charset="-122"/>
                  <a:ea typeface="黑体" panose="02010609060101010101" pitchFamily="2" charset="-122"/>
                </a:rPr>
                <a:t>h</a:t>
              </a:r>
              <a:r>
                <a:rPr kumimoji="1" lang="en-US" altLang="zh-CN" sz="2200" dirty="0">
                  <a:solidFill>
                    <a:srgbClr val="000000"/>
                  </a:solidFill>
                  <a:latin typeface="黑体" panose="02010609060101010101" pitchFamily="2" charset="-122"/>
                  <a:ea typeface="黑体" panose="02010609060101010101" pitchFamily="2" charset="-122"/>
                </a:rPr>
                <a:t>)</a:t>
              </a:r>
              <a:r>
                <a:rPr kumimoji="1" lang="zh-CN" altLang="en-US" sz="2200" dirty="0">
                  <a:solidFill>
                    <a:srgbClr val="000000"/>
                  </a:solidFill>
                  <a:latin typeface="黑体" panose="02010609060101010101" pitchFamily="2" charset="-122"/>
                  <a:ea typeface="黑体" panose="02010609060101010101" pitchFamily="2" charset="-122"/>
                </a:rPr>
                <a:t>及公差等级</a:t>
              </a:r>
              <a:endParaRPr kumimoji="1" lang="zh-CN" altLang="en-US" sz="2200" dirty="0">
                <a:solidFill>
                  <a:srgbClr val="000000"/>
                </a:solidFill>
                <a:latin typeface="黑体" panose="02010609060101010101" pitchFamily="2" charset="-122"/>
                <a:ea typeface="黑体" panose="02010609060101010101" pitchFamily="2" charset="-122"/>
              </a:endParaRPr>
            </a:p>
          </p:txBody>
        </p:sp>
        <p:sp>
          <p:nvSpPr>
            <p:cNvPr id="9" name="Line 10"/>
            <p:cNvSpPr>
              <a:spLocks noChangeShapeType="1"/>
            </p:cNvSpPr>
            <p:nvPr/>
          </p:nvSpPr>
          <p:spPr bwMode="auto">
            <a:xfrm>
              <a:off x="6395317" y="5077258"/>
              <a:ext cx="946150" cy="257175"/>
            </a:xfrm>
            <a:prstGeom prst="line">
              <a:avLst/>
            </a:prstGeom>
            <a:noFill/>
            <a:ln w="19050">
              <a:solidFill>
                <a:srgbClr val="FF00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grpSp>
        <p:nvGrpSpPr>
          <p:cNvPr id="10" name="Group 11"/>
          <p:cNvGrpSpPr/>
          <p:nvPr/>
        </p:nvGrpSpPr>
        <p:grpSpPr bwMode="auto">
          <a:xfrm>
            <a:off x="4511824" y="1653983"/>
            <a:ext cx="2717800" cy="2317750"/>
            <a:chOff x="1852" y="845"/>
            <a:chExt cx="1712" cy="1460"/>
          </a:xfrm>
        </p:grpSpPr>
        <p:grpSp>
          <p:nvGrpSpPr>
            <p:cNvPr id="11" name="Group 12"/>
            <p:cNvGrpSpPr/>
            <p:nvPr/>
          </p:nvGrpSpPr>
          <p:grpSpPr bwMode="auto">
            <a:xfrm>
              <a:off x="1980" y="845"/>
              <a:ext cx="1122" cy="1460"/>
              <a:chOff x="1980" y="845"/>
              <a:chExt cx="1122" cy="1460"/>
            </a:xfrm>
          </p:grpSpPr>
          <p:sp>
            <p:nvSpPr>
              <p:cNvPr id="24" name="Rectangle 13"/>
              <p:cNvSpPr>
                <a:spLocks noChangeArrowheads="1"/>
              </p:cNvSpPr>
              <p:nvPr/>
            </p:nvSpPr>
            <p:spPr bwMode="auto">
              <a:xfrm>
                <a:off x="1989" y="1035"/>
                <a:ext cx="1096" cy="1091"/>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Rectangle 14"/>
              <p:cNvSpPr>
                <a:spLocks noChangeArrowheads="1"/>
              </p:cNvSpPr>
              <p:nvPr/>
            </p:nvSpPr>
            <p:spPr bwMode="auto">
              <a:xfrm>
                <a:off x="2760" y="852"/>
                <a:ext cx="338" cy="1453"/>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Line 15"/>
              <p:cNvSpPr>
                <a:spLocks noChangeShapeType="1"/>
              </p:cNvSpPr>
              <p:nvPr/>
            </p:nvSpPr>
            <p:spPr bwMode="auto">
              <a:xfrm>
                <a:off x="2759" y="1056"/>
                <a:ext cx="0" cy="1054"/>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Rectangle 16"/>
              <p:cNvSpPr>
                <a:spLocks noChangeArrowheads="1"/>
              </p:cNvSpPr>
              <p:nvPr/>
            </p:nvSpPr>
            <p:spPr bwMode="auto">
              <a:xfrm>
                <a:off x="1989" y="1206"/>
                <a:ext cx="1109" cy="753"/>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Line 17"/>
              <p:cNvSpPr>
                <a:spLocks noChangeShapeType="1"/>
              </p:cNvSpPr>
              <p:nvPr/>
            </p:nvSpPr>
            <p:spPr bwMode="auto">
              <a:xfrm flipV="1">
                <a:off x="1994" y="1031"/>
                <a:ext cx="168" cy="16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9" name="Line 18"/>
              <p:cNvSpPr>
                <a:spLocks noChangeShapeType="1"/>
              </p:cNvSpPr>
              <p:nvPr/>
            </p:nvSpPr>
            <p:spPr bwMode="auto">
              <a:xfrm flipV="1">
                <a:off x="2202" y="1027"/>
                <a:ext cx="174" cy="17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0" name="Line 19"/>
              <p:cNvSpPr>
                <a:spLocks noChangeShapeType="1"/>
              </p:cNvSpPr>
              <p:nvPr/>
            </p:nvSpPr>
            <p:spPr bwMode="auto">
              <a:xfrm flipV="1">
                <a:off x="2431" y="1031"/>
                <a:ext cx="172" cy="17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Line 20"/>
              <p:cNvSpPr>
                <a:spLocks noChangeShapeType="1"/>
              </p:cNvSpPr>
              <p:nvPr/>
            </p:nvSpPr>
            <p:spPr bwMode="auto">
              <a:xfrm flipV="1">
                <a:off x="2666" y="851"/>
                <a:ext cx="356" cy="359"/>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2" name="Line 21"/>
              <p:cNvSpPr>
                <a:spLocks noChangeShapeType="1"/>
              </p:cNvSpPr>
              <p:nvPr/>
            </p:nvSpPr>
            <p:spPr bwMode="auto">
              <a:xfrm flipV="1">
                <a:off x="2930" y="1026"/>
                <a:ext cx="169" cy="171"/>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3" name="Line 22"/>
              <p:cNvSpPr>
                <a:spLocks noChangeShapeType="1"/>
              </p:cNvSpPr>
              <p:nvPr/>
            </p:nvSpPr>
            <p:spPr bwMode="auto">
              <a:xfrm flipV="1">
                <a:off x="2751" y="845"/>
                <a:ext cx="63" cy="6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4" name="Line 23"/>
              <p:cNvSpPr>
                <a:spLocks noChangeShapeType="1"/>
              </p:cNvSpPr>
              <p:nvPr/>
            </p:nvSpPr>
            <p:spPr bwMode="auto">
              <a:xfrm flipV="1">
                <a:off x="1980" y="1959"/>
                <a:ext cx="151" cy="14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5" name="Line 24"/>
              <p:cNvSpPr>
                <a:spLocks noChangeShapeType="1"/>
              </p:cNvSpPr>
              <p:nvPr/>
            </p:nvSpPr>
            <p:spPr bwMode="auto">
              <a:xfrm flipV="1">
                <a:off x="2188" y="1953"/>
                <a:ext cx="182" cy="179"/>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Line 25"/>
              <p:cNvSpPr>
                <a:spLocks noChangeShapeType="1"/>
              </p:cNvSpPr>
              <p:nvPr/>
            </p:nvSpPr>
            <p:spPr bwMode="auto">
              <a:xfrm flipV="1">
                <a:off x="2430" y="1953"/>
                <a:ext cx="162" cy="16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8" name="Line 26"/>
              <p:cNvSpPr>
                <a:spLocks noChangeShapeType="1"/>
              </p:cNvSpPr>
              <p:nvPr/>
            </p:nvSpPr>
            <p:spPr bwMode="auto">
              <a:xfrm flipV="1">
                <a:off x="2662" y="1952"/>
                <a:ext cx="166" cy="16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Line 27"/>
              <p:cNvSpPr>
                <a:spLocks noChangeShapeType="1"/>
              </p:cNvSpPr>
              <p:nvPr/>
            </p:nvSpPr>
            <p:spPr bwMode="auto">
              <a:xfrm flipV="1">
                <a:off x="2764" y="1957"/>
                <a:ext cx="298" cy="29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Line 28"/>
              <p:cNvSpPr>
                <a:spLocks noChangeShapeType="1"/>
              </p:cNvSpPr>
              <p:nvPr/>
            </p:nvSpPr>
            <p:spPr bwMode="auto">
              <a:xfrm flipV="1">
                <a:off x="2970" y="2158"/>
                <a:ext cx="132" cy="134"/>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2" name="Group 29"/>
            <p:cNvGrpSpPr/>
            <p:nvPr/>
          </p:nvGrpSpPr>
          <p:grpSpPr bwMode="auto">
            <a:xfrm>
              <a:off x="2207" y="1206"/>
              <a:ext cx="1256" cy="754"/>
              <a:chOff x="2207" y="1206"/>
              <a:chExt cx="1256" cy="754"/>
            </a:xfrm>
          </p:grpSpPr>
          <p:sp>
            <p:nvSpPr>
              <p:cNvPr id="20" name="Rectangle 30"/>
              <p:cNvSpPr>
                <a:spLocks noChangeArrowheads="1"/>
              </p:cNvSpPr>
              <p:nvPr/>
            </p:nvSpPr>
            <p:spPr bwMode="auto">
              <a:xfrm>
                <a:off x="2278" y="1206"/>
                <a:ext cx="1185" cy="753"/>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Line 31"/>
              <p:cNvSpPr>
                <a:spLocks noChangeShapeType="1"/>
              </p:cNvSpPr>
              <p:nvPr/>
            </p:nvSpPr>
            <p:spPr bwMode="auto">
              <a:xfrm flipH="1">
                <a:off x="2220" y="1212"/>
                <a:ext cx="52" cy="49"/>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2" name="Line 32"/>
              <p:cNvSpPr>
                <a:spLocks noChangeShapeType="1"/>
              </p:cNvSpPr>
              <p:nvPr/>
            </p:nvSpPr>
            <p:spPr bwMode="auto">
              <a:xfrm>
                <a:off x="2220" y="1255"/>
                <a:ext cx="0" cy="658"/>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23" name="Line 33"/>
              <p:cNvSpPr>
                <a:spLocks noChangeShapeType="1"/>
              </p:cNvSpPr>
              <p:nvPr/>
            </p:nvSpPr>
            <p:spPr bwMode="auto">
              <a:xfrm flipH="1" flipV="1">
                <a:off x="2207" y="1902"/>
                <a:ext cx="68" cy="58"/>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3" name="Group 34"/>
            <p:cNvGrpSpPr/>
            <p:nvPr/>
          </p:nvGrpSpPr>
          <p:grpSpPr bwMode="auto">
            <a:xfrm>
              <a:off x="1852" y="1584"/>
              <a:ext cx="1712" cy="2"/>
              <a:chOff x="1852" y="1584"/>
              <a:chExt cx="1712" cy="2"/>
            </a:xfrm>
          </p:grpSpPr>
          <p:sp>
            <p:nvSpPr>
              <p:cNvPr id="14" name="Line 35"/>
              <p:cNvSpPr>
                <a:spLocks noChangeShapeType="1"/>
              </p:cNvSpPr>
              <p:nvPr/>
            </p:nvSpPr>
            <p:spPr bwMode="auto">
              <a:xfrm flipV="1">
                <a:off x="2500" y="1585"/>
                <a:ext cx="53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5" name="Line 36"/>
              <p:cNvSpPr>
                <a:spLocks noChangeShapeType="1"/>
              </p:cNvSpPr>
              <p:nvPr/>
            </p:nvSpPr>
            <p:spPr bwMode="auto">
              <a:xfrm>
                <a:off x="1852" y="1584"/>
                <a:ext cx="50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7" name="Line 37"/>
              <p:cNvSpPr>
                <a:spLocks noChangeShapeType="1"/>
              </p:cNvSpPr>
              <p:nvPr/>
            </p:nvSpPr>
            <p:spPr bwMode="auto">
              <a:xfrm>
                <a:off x="2397" y="1584"/>
                <a:ext cx="5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8" name="Line 38"/>
              <p:cNvSpPr>
                <a:spLocks noChangeShapeType="1"/>
              </p:cNvSpPr>
              <p:nvPr/>
            </p:nvSpPr>
            <p:spPr bwMode="auto">
              <a:xfrm>
                <a:off x="3072" y="1586"/>
                <a:ext cx="4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9" name="Line 39"/>
              <p:cNvSpPr>
                <a:spLocks noChangeShapeType="1"/>
              </p:cNvSpPr>
              <p:nvPr/>
            </p:nvSpPr>
            <p:spPr bwMode="auto">
              <a:xfrm>
                <a:off x="3168" y="1586"/>
                <a:ext cx="396"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41" name="Group 40"/>
          <p:cNvGrpSpPr/>
          <p:nvPr/>
        </p:nvGrpSpPr>
        <p:grpSpPr bwMode="auto">
          <a:xfrm>
            <a:off x="5276999" y="2236596"/>
            <a:ext cx="712788" cy="1177925"/>
            <a:chOff x="2334" y="1113"/>
            <a:chExt cx="449" cy="742"/>
          </a:xfrm>
        </p:grpSpPr>
        <p:sp>
          <p:nvSpPr>
            <p:cNvPr id="42" name="Rectangle 41"/>
            <p:cNvSpPr>
              <a:spLocks noChangeArrowheads="1"/>
            </p:cNvSpPr>
            <p:nvPr/>
          </p:nvSpPr>
          <p:spPr bwMode="auto">
            <a:xfrm>
              <a:off x="2443" y="1424"/>
              <a:ext cx="260" cy="99"/>
            </a:xfrm>
            <a:prstGeom prst="rect">
              <a:avLst/>
            </a:prstGeom>
            <a:solidFill>
              <a:srgbClr val="FFFFFF"/>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43" name="Group 42"/>
            <p:cNvGrpSpPr/>
            <p:nvPr/>
          </p:nvGrpSpPr>
          <p:grpSpPr bwMode="auto">
            <a:xfrm>
              <a:off x="2334" y="1113"/>
              <a:ext cx="449" cy="742"/>
              <a:chOff x="2334" y="1113"/>
              <a:chExt cx="449" cy="742"/>
            </a:xfrm>
          </p:grpSpPr>
          <p:sp>
            <p:nvSpPr>
              <p:cNvPr id="44" name="Line 43"/>
              <p:cNvSpPr>
                <a:spLocks noChangeShapeType="1"/>
              </p:cNvSpPr>
              <p:nvPr/>
            </p:nvSpPr>
            <p:spPr bwMode="auto">
              <a:xfrm>
                <a:off x="2767" y="1113"/>
                <a:ext cx="0" cy="742"/>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Text Box 44"/>
              <p:cNvSpPr txBox="1">
                <a:spLocks noChangeArrowheads="1"/>
              </p:cNvSpPr>
              <p:nvPr/>
            </p:nvSpPr>
            <p:spPr bwMode="auto">
              <a:xfrm rot="-5400000">
                <a:off x="2266" y="1410"/>
                <a:ext cx="5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Ø</a:t>
                </a:r>
                <a:r>
                  <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a:t>
                </a:r>
                <a:r>
                  <a:rPr kumimoji="1" lang="en-US" altLang="zh-CN" sz="2000" b="1" i="1" u="none" strike="noStrike" kern="0" cap="none" spc="0" normalizeH="0" baseline="0" noProof="0">
                    <a:ln>
                      <a:noFill/>
                    </a:ln>
                    <a:solidFill>
                      <a:srgbClr val="000000"/>
                    </a:solidFill>
                    <a:effectLst/>
                    <a:uLnTx/>
                    <a:uFillTx/>
                    <a:latin typeface="ISOCP" panose="00000400000000000000" pitchFamily="2" charset="0"/>
                    <a:ea typeface="黑体" panose="02010609060101010101" pitchFamily="2" charset="-122"/>
                  </a:rPr>
                  <a:t> </a:t>
                </a:r>
                <a:endParaRPr kumimoji="1" lang="en-US" altLang="zh-CN" sz="2000" b="1" i="1" u="none" strike="noStrike" kern="0" cap="none" spc="0" normalizeH="0" baseline="0" noProof="0">
                  <a:ln>
                    <a:noFill/>
                  </a:ln>
                  <a:solidFill>
                    <a:srgbClr val="000000"/>
                  </a:solidFill>
                  <a:effectLst/>
                  <a:uLnTx/>
                  <a:uFillTx/>
                  <a:latin typeface="ISOCP" panose="00000400000000000000" pitchFamily="2" charset="0"/>
                  <a:ea typeface="黑体" panose="02010609060101010101" pitchFamily="2" charset="-122"/>
                </a:endParaRPr>
              </a:p>
            </p:txBody>
          </p:sp>
          <p:sp>
            <p:nvSpPr>
              <p:cNvPr id="46" name="Text Box 45"/>
              <p:cNvSpPr txBox="1">
                <a:spLocks noChangeArrowheads="1"/>
              </p:cNvSpPr>
              <p:nvPr/>
            </p:nvSpPr>
            <p:spPr bwMode="auto">
              <a:xfrm rot="-5400000">
                <a:off x="2289" y="1202"/>
                <a:ext cx="34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H8 </a:t>
                </a:r>
                <a:endPar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47" name="Rectangle 46"/>
              <p:cNvSpPr>
                <a:spLocks noChangeArrowheads="1"/>
              </p:cNvSpPr>
              <p:nvPr/>
            </p:nvSpPr>
            <p:spPr bwMode="auto">
              <a:xfrm rot="-5400000">
                <a:off x="2498" y="1218"/>
                <a:ext cx="31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000" b="1" i="1" u="none" strike="noStrike" kern="0" cap="none" spc="0" normalizeH="0" baseline="0" noProof="0" dirty="0">
                    <a:ln>
                      <a:noFill/>
                    </a:ln>
                    <a:solidFill>
                      <a:srgbClr val="000000"/>
                    </a:solidFill>
                    <a:effectLst/>
                    <a:uLnTx/>
                    <a:uFillTx/>
                    <a:latin typeface="ISOCPEUR" panose="020B0604020202020204" pitchFamily="34" charset="0"/>
                    <a:ea typeface="黑体" panose="02010609060101010101" pitchFamily="2" charset="-122"/>
                  </a:rPr>
                  <a:t>f7 </a:t>
                </a:r>
                <a:endParaRPr kumimoji="1" lang="en-US" altLang="zh-CN" sz="2000" b="1" i="1" u="none" strike="noStrike" kern="0" cap="none" spc="0" normalizeH="0" baseline="0" noProof="0" dirty="0">
                  <a:ln>
                    <a:noFill/>
                  </a:ln>
                  <a:solidFill>
                    <a:srgbClr val="000000"/>
                  </a:solidFill>
                  <a:effectLst/>
                  <a:uLnTx/>
                  <a:uFillTx/>
                  <a:latin typeface="ISOCPEUR" panose="020B0604020202020204" pitchFamily="34" charset="0"/>
                  <a:ea typeface="黑体" panose="02010609060101010101" pitchFamily="2" charset="-122"/>
                </a:endParaRPr>
              </a:p>
            </p:txBody>
          </p:sp>
          <p:sp>
            <p:nvSpPr>
              <p:cNvPr id="48" name="Line 47"/>
              <p:cNvSpPr>
                <a:spLocks noChangeShapeType="1"/>
              </p:cNvSpPr>
              <p:nvPr/>
            </p:nvSpPr>
            <p:spPr bwMode="auto">
              <a:xfrm>
                <a:off x="2559" y="1217"/>
                <a:ext cx="0" cy="27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sp>
        <p:nvSpPr>
          <p:cNvPr id="49" name="Text Box 48"/>
          <p:cNvSpPr txBox="1">
            <a:spLocks noChangeArrowheads="1"/>
          </p:cNvSpPr>
          <p:nvPr/>
        </p:nvSpPr>
        <p:spPr bwMode="auto">
          <a:xfrm>
            <a:off x="2343125" y="3856284"/>
            <a:ext cx="193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a:solidFill>
                  <a:srgbClr val="000000"/>
                </a:solidFill>
                <a:latin typeface="Times New Roman" panose="02020603050405020304" pitchFamily="18" charset="0"/>
                <a:ea typeface="黑体" panose="02010609060101010101" pitchFamily="2" charset="-122"/>
              </a:rPr>
              <a:t>标注形式：</a:t>
            </a:r>
            <a:endParaRPr kumimoji="1" lang="zh-CN" altLang="en-US" sz="2400">
              <a:solidFill>
                <a:srgbClr val="000000"/>
              </a:solidFill>
              <a:latin typeface="Times New Roman" panose="02020603050405020304" pitchFamily="18" charset="0"/>
              <a:ea typeface="黑体" panose="02010609060101010101" pitchFamily="2" charset="-122"/>
            </a:endParaRPr>
          </a:p>
        </p:txBody>
      </p:sp>
      <p:grpSp>
        <p:nvGrpSpPr>
          <p:cNvPr id="50" name="组合 49"/>
          <p:cNvGrpSpPr/>
          <p:nvPr/>
        </p:nvGrpSpPr>
        <p:grpSpPr>
          <a:xfrm>
            <a:off x="6308700" y="3587997"/>
            <a:ext cx="4125190" cy="1120775"/>
            <a:chOff x="6319117" y="3426258"/>
            <a:chExt cx="4125190" cy="1120775"/>
          </a:xfrm>
        </p:grpSpPr>
        <p:sp>
          <p:nvSpPr>
            <p:cNvPr id="51" name="Line 8"/>
            <p:cNvSpPr>
              <a:spLocks noChangeShapeType="1"/>
            </p:cNvSpPr>
            <p:nvPr/>
          </p:nvSpPr>
          <p:spPr bwMode="auto">
            <a:xfrm flipH="1">
              <a:off x="6319117" y="4186670"/>
              <a:ext cx="1098550" cy="360363"/>
            </a:xfrm>
            <a:prstGeom prst="line">
              <a:avLst/>
            </a:prstGeom>
            <a:noFill/>
            <a:ln w="190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sp>
          <p:nvSpPr>
            <p:cNvPr id="52" name="Text Box 49"/>
            <p:cNvSpPr txBox="1">
              <a:spLocks noChangeArrowheads="1"/>
            </p:cNvSpPr>
            <p:nvPr/>
          </p:nvSpPr>
          <p:spPr bwMode="auto">
            <a:xfrm>
              <a:off x="7325592" y="3426258"/>
              <a:ext cx="311871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200" dirty="0">
                  <a:solidFill>
                    <a:srgbClr val="000000"/>
                  </a:solidFill>
                  <a:latin typeface="黑体" panose="02010609060101010101" pitchFamily="2" charset="-122"/>
                  <a:ea typeface="黑体" panose="02010609060101010101" pitchFamily="2" charset="-122"/>
                </a:rPr>
                <a:t>采用基孔制时：</a:t>
              </a:r>
              <a:endParaRPr kumimoji="1" lang="zh-CN" altLang="en-US" sz="2200" dirty="0">
                <a:solidFill>
                  <a:srgbClr val="000000"/>
                </a:solidFill>
                <a:latin typeface="黑体" panose="02010609060101010101" pitchFamily="2" charset="-122"/>
                <a:ea typeface="黑体" panose="02010609060101010101" pitchFamily="2" charset="-122"/>
              </a:endParaRPr>
            </a:p>
            <a:p>
              <a:pPr fontAlgn="base">
                <a:spcBef>
                  <a:spcPct val="0"/>
                </a:spcBef>
                <a:spcAft>
                  <a:spcPct val="0"/>
                </a:spcAft>
                <a:buFontTx/>
                <a:buNone/>
              </a:pPr>
              <a:r>
                <a:rPr kumimoji="1" lang="zh-CN" altLang="en-US" sz="2200" dirty="0">
                  <a:solidFill>
                    <a:srgbClr val="000000"/>
                  </a:solidFill>
                  <a:latin typeface="黑体" panose="02010609060101010101" pitchFamily="2" charset="-122"/>
                  <a:ea typeface="黑体" panose="02010609060101010101" pitchFamily="2" charset="-122"/>
                </a:rPr>
                <a:t>分子为基准孔的代号（</a:t>
              </a:r>
              <a:r>
                <a:rPr kumimoji="1" lang="en-US" altLang="zh-CN" sz="2200" dirty="0">
                  <a:solidFill>
                    <a:srgbClr val="CC0000"/>
                  </a:solidFill>
                  <a:latin typeface="黑体" panose="02010609060101010101" pitchFamily="2" charset="-122"/>
                  <a:ea typeface="黑体" panose="02010609060101010101" pitchFamily="2" charset="-122"/>
                </a:rPr>
                <a:t>H</a:t>
              </a:r>
              <a:r>
                <a:rPr kumimoji="1" lang="zh-CN" altLang="en-US" sz="2200" dirty="0">
                  <a:solidFill>
                    <a:srgbClr val="000000"/>
                  </a:solidFill>
                  <a:latin typeface="黑体" panose="02010609060101010101" pitchFamily="2" charset="-122"/>
                  <a:ea typeface="黑体" panose="02010609060101010101" pitchFamily="2" charset="-122"/>
                </a:rPr>
                <a:t>）及公差等级</a:t>
              </a:r>
              <a:endParaRPr kumimoji="1" lang="zh-CN" altLang="en-US" sz="2200" dirty="0">
                <a:solidFill>
                  <a:srgbClr val="000000"/>
                </a:solidFill>
                <a:latin typeface="黑体" panose="02010609060101010101" pitchFamily="2" charset="-122"/>
                <a:ea typeface="黑体" panose="02010609060101010101" pitchFamily="2" charset="-122"/>
              </a:endParaRPr>
            </a:p>
          </p:txBody>
        </p:sp>
      </p:grpSp>
      <p:grpSp>
        <p:nvGrpSpPr>
          <p:cNvPr id="53" name="Group 51"/>
          <p:cNvGrpSpPr/>
          <p:nvPr/>
        </p:nvGrpSpPr>
        <p:grpSpPr bwMode="auto">
          <a:xfrm>
            <a:off x="3221187" y="1919096"/>
            <a:ext cx="2095500" cy="625475"/>
            <a:chOff x="1048" y="913"/>
            <a:chExt cx="1302" cy="394"/>
          </a:xfrm>
        </p:grpSpPr>
        <p:sp>
          <p:nvSpPr>
            <p:cNvPr id="54" name="Text Box 52"/>
            <p:cNvSpPr txBox="1">
              <a:spLocks noChangeArrowheads="1"/>
            </p:cNvSpPr>
            <p:nvPr/>
          </p:nvSpPr>
          <p:spPr bwMode="auto">
            <a:xfrm>
              <a:off x="1048" y="913"/>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CC0000"/>
                  </a:solidFill>
                  <a:latin typeface="Times New Roman" panose="02020603050405020304" pitchFamily="18" charset="0"/>
                  <a:ea typeface="黑体" panose="02010609060101010101" pitchFamily="2" charset="-122"/>
                </a:rPr>
                <a:t>配合代号</a:t>
              </a:r>
              <a:endParaRPr kumimoji="1" lang="zh-CN" altLang="en-US" sz="2000" b="1">
                <a:solidFill>
                  <a:srgbClr val="CC0000"/>
                </a:solidFill>
                <a:latin typeface="Times New Roman" panose="02020603050405020304" pitchFamily="18" charset="0"/>
                <a:ea typeface="黑体" panose="02010609060101010101" pitchFamily="2" charset="-122"/>
              </a:endParaRPr>
            </a:p>
          </p:txBody>
        </p:sp>
        <p:sp>
          <p:nvSpPr>
            <p:cNvPr id="55" name="Line 53"/>
            <p:cNvSpPr>
              <a:spLocks noChangeShapeType="1"/>
            </p:cNvSpPr>
            <p:nvPr/>
          </p:nvSpPr>
          <p:spPr bwMode="auto">
            <a:xfrm>
              <a:off x="1783" y="1079"/>
              <a:ext cx="567" cy="228"/>
            </a:xfrm>
            <a:prstGeom prst="line">
              <a:avLst/>
            </a:prstGeom>
            <a:noFill/>
            <a:ln w="952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sp>
        <p:nvSpPr>
          <p:cNvPr id="56" name="Text Box 3"/>
          <p:cNvSpPr txBox="1">
            <a:spLocks noChangeArrowheads="1"/>
          </p:cNvSpPr>
          <p:nvPr/>
        </p:nvSpPr>
        <p:spPr bwMode="auto">
          <a:xfrm>
            <a:off x="257679" y="1228831"/>
            <a:ext cx="36086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配合在装配图中的标注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right)">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2"/>
          <p:cNvSpPr txBox="1">
            <a:spLocks noChangeArrowheads="1"/>
          </p:cNvSpPr>
          <p:nvPr/>
        </p:nvSpPr>
        <p:spPr bwMode="auto">
          <a:xfrm>
            <a:off x="8291869" y="1704489"/>
            <a:ext cx="1408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C00000"/>
                </a:solidFill>
                <a:latin typeface="黑体" panose="02010609060101010101" pitchFamily="2" charset="-122"/>
                <a:ea typeface="黑体" panose="02010609060101010101" pitchFamily="2" charset="-122"/>
              </a:rPr>
              <a:t>基孔制</a:t>
            </a:r>
            <a:endParaRPr kumimoji="1" lang="zh-CN" altLang="en-US" sz="2000" b="1">
              <a:solidFill>
                <a:srgbClr val="C00000"/>
              </a:solidFill>
              <a:latin typeface="黑体" panose="02010609060101010101" pitchFamily="2" charset="-122"/>
              <a:ea typeface="黑体" panose="02010609060101010101" pitchFamily="2" charset="-122"/>
            </a:endParaRPr>
          </a:p>
        </p:txBody>
      </p:sp>
      <p:grpSp>
        <p:nvGrpSpPr>
          <p:cNvPr id="3" name="Group 3"/>
          <p:cNvGrpSpPr/>
          <p:nvPr/>
        </p:nvGrpSpPr>
        <p:grpSpPr bwMode="auto">
          <a:xfrm>
            <a:off x="6366232" y="1706077"/>
            <a:ext cx="2133600" cy="793750"/>
            <a:chOff x="2986" y="843"/>
            <a:chExt cx="1344" cy="500"/>
          </a:xfrm>
        </p:grpSpPr>
        <p:sp>
          <p:nvSpPr>
            <p:cNvPr id="4" name="Text Box 4"/>
            <p:cNvSpPr txBox="1">
              <a:spLocks noChangeArrowheads="1"/>
            </p:cNvSpPr>
            <p:nvPr/>
          </p:nvSpPr>
          <p:spPr bwMode="auto">
            <a:xfrm>
              <a:off x="2986" y="941"/>
              <a:ext cx="13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Ø30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5" name="Text Box 5"/>
            <p:cNvSpPr txBox="1">
              <a:spLocks noChangeArrowheads="1"/>
            </p:cNvSpPr>
            <p:nvPr/>
          </p:nvSpPr>
          <p:spPr bwMode="auto">
            <a:xfrm>
              <a:off x="3689" y="843"/>
              <a:ext cx="3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H8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6" name="Text Box 6"/>
            <p:cNvSpPr txBox="1">
              <a:spLocks noChangeArrowheads="1"/>
            </p:cNvSpPr>
            <p:nvPr/>
          </p:nvSpPr>
          <p:spPr bwMode="auto">
            <a:xfrm>
              <a:off x="3695" y="1055"/>
              <a:ext cx="3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f7</a:t>
              </a:r>
              <a:endParaRPr kumimoji="1" lang="en-US" altLang="zh-CN" sz="2400" b="1" i="1">
                <a:solidFill>
                  <a:srgbClr val="000000"/>
                </a:solidFill>
                <a:latin typeface="ISOCPEUR" panose="020B0604020202020204" pitchFamily="34" charset="0"/>
                <a:ea typeface="黑体" panose="02010609060101010101" pitchFamily="2" charset="-122"/>
              </a:endParaRPr>
            </a:p>
          </p:txBody>
        </p:sp>
      </p:grpSp>
      <p:grpSp>
        <p:nvGrpSpPr>
          <p:cNvPr id="7" name="Group 7"/>
          <p:cNvGrpSpPr/>
          <p:nvPr/>
        </p:nvGrpSpPr>
        <p:grpSpPr bwMode="auto">
          <a:xfrm>
            <a:off x="6926619" y="2647464"/>
            <a:ext cx="1176338" cy="774700"/>
            <a:chOff x="3385" y="1499"/>
            <a:chExt cx="741" cy="488"/>
          </a:xfrm>
        </p:grpSpPr>
        <p:sp>
          <p:nvSpPr>
            <p:cNvPr id="8" name="Text Box 8"/>
            <p:cNvSpPr txBox="1">
              <a:spLocks noChangeArrowheads="1"/>
            </p:cNvSpPr>
            <p:nvPr/>
          </p:nvSpPr>
          <p:spPr bwMode="auto">
            <a:xfrm>
              <a:off x="3385" y="1594"/>
              <a:ext cx="64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Ø40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9" name="Text Box 9"/>
            <p:cNvSpPr txBox="1">
              <a:spLocks noChangeArrowheads="1"/>
            </p:cNvSpPr>
            <p:nvPr/>
          </p:nvSpPr>
          <p:spPr bwMode="auto">
            <a:xfrm>
              <a:off x="3740" y="1499"/>
              <a:ext cx="3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H8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10" name="Text Box 10"/>
            <p:cNvSpPr txBox="1">
              <a:spLocks noChangeArrowheads="1"/>
            </p:cNvSpPr>
            <p:nvPr/>
          </p:nvSpPr>
          <p:spPr bwMode="auto">
            <a:xfrm>
              <a:off x="3726" y="1699"/>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n6</a:t>
              </a:r>
              <a:endParaRPr kumimoji="1" lang="en-US" altLang="zh-CN" sz="2400" b="1" i="1">
                <a:solidFill>
                  <a:srgbClr val="000000"/>
                </a:solidFill>
                <a:latin typeface="ISOCPEUR" panose="020B0604020202020204" pitchFamily="34" charset="0"/>
                <a:ea typeface="黑体" panose="02010609060101010101" pitchFamily="2" charset="-122"/>
              </a:endParaRPr>
            </a:p>
          </p:txBody>
        </p:sp>
      </p:grpSp>
      <p:sp>
        <p:nvSpPr>
          <p:cNvPr id="11" name="Text Box 11"/>
          <p:cNvSpPr txBox="1">
            <a:spLocks noChangeArrowheads="1"/>
          </p:cNvSpPr>
          <p:nvPr/>
        </p:nvSpPr>
        <p:spPr bwMode="auto">
          <a:xfrm>
            <a:off x="8287107" y="2034689"/>
            <a:ext cx="1612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00"/>
                </a:solidFill>
                <a:latin typeface="黑体" panose="02010609060101010101" pitchFamily="2" charset="-122"/>
                <a:ea typeface="黑体" panose="02010609060101010101" pitchFamily="2" charset="-122"/>
              </a:rPr>
              <a:t>间隙配合</a:t>
            </a:r>
            <a:endParaRPr kumimoji="1" lang="zh-CN" altLang="en-US" sz="2000" b="1">
              <a:solidFill>
                <a:srgbClr val="000000"/>
              </a:solidFill>
              <a:latin typeface="黑体" panose="02010609060101010101" pitchFamily="2" charset="-122"/>
              <a:ea typeface="黑体" panose="02010609060101010101" pitchFamily="2" charset="-122"/>
            </a:endParaRPr>
          </a:p>
        </p:txBody>
      </p:sp>
      <p:sp>
        <p:nvSpPr>
          <p:cNvPr id="12" name="Text Box 12"/>
          <p:cNvSpPr txBox="1">
            <a:spLocks noChangeArrowheads="1"/>
          </p:cNvSpPr>
          <p:nvPr/>
        </p:nvSpPr>
        <p:spPr bwMode="auto">
          <a:xfrm>
            <a:off x="8285519" y="3025289"/>
            <a:ext cx="1773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00"/>
                </a:solidFill>
                <a:latin typeface="黑体" panose="02010609060101010101" pitchFamily="2" charset="-122"/>
                <a:ea typeface="黑体" panose="02010609060101010101" pitchFamily="2" charset="-122"/>
              </a:rPr>
              <a:t>过渡配合</a:t>
            </a:r>
            <a:endParaRPr kumimoji="1" lang="zh-CN" altLang="en-US" sz="2000" b="1">
              <a:solidFill>
                <a:srgbClr val="000000"/>
              </a:solidFill>
              <a:latin typeface="黑体" panose="02010609060101010101" pitchFamily="2" charset="-122"/>
              <a:ea typeface="黑体" panose="02010609060101010101" pitchFamily="2" charset="-122"/>
            </a:endParaRPr>
          </a:p>
        </p:txBody>
      </p:sp>
      <p:sp>
        <p:nvSpPr>
          <p:cNvPr id="13" name="Text Box 13"/>
          <p:cNvSpPr txBox="1">
            <a:spLocks noChangeArrowheads="1"/>
          </p:cNvSpPr>
          <p:nvPr/>
        </p:nvSpPr>
        <p:spPr bwMode="auto">
          <a:xfrm>
            <a:off x="704416" y="1704489"/>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400" b="1" dirty="0">
                <a:solidFill>
                  <a:srgbClr val="000000"/>
                </a:solidFill>
                <a:latin typeface="Times New Roman" panose="02020603050405020304" pitchFamily="18" charset="0"/>
                <a:ea typeface="黑体" panose="02010609060101010101" pitchFamily="2" charset="-122"/>
              </a:rPr>
              <a:t>例：</a:t>
            </a:r>
            <a:endParaRPr kumimoji="1" lang="zh-CN" altLang="en-US" sz="2400" b="1" dirty="0">
              <a:solidFill>
                <a:srgbClr val="000000"/>
              </a:solidFill>
              <a:latin typeface="Times New Roman" panose="02020603050405020304" pitchFamily="18" charset="0"/>
              <a:ea typeface="黑体" panose="02010609060101010101" pitchFamily="2" charset="-122"/>
            </a:endParaRPr>
          </a:p>
        </p:txBody>
      </p:sp>
      <p:sp>
        <p:nvSpPr>
          <p:cNvPr id="14" name="Text Box 14"/>
          <p:cNvSpPr txBox="1">
            <a:spLocks noChangeArrowheads="1"/>
          </p:cNvSpPr>
          <p:nvPr/>
        </p:nvSpPr>
        <p:spPr bwMode="auto">
          <a:xfrm>
            <a:off x="8299807" y="2655402"/>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C00000"/>
                </a:solidFill>
                <a:latin typeface="黑体" panose="02010609060101010101" pitchFamily="2" charset="-122"/>
                <a:ea typeface="黑体" panose="02010609060101010101" pitchFamily="2" charset="-122"/>
              </a:rPr>
              <a:t>基孔制</a:t>
            </a:r>
            <a:endParaRPr kumimoji="1" lang="zh-CN" altLang="en-US" sz="2000" b="1">
              <a:solidFill>
                <a:srgbClr val="C00000"/>
              </a:solidFill>
              <a:latin typeface="黑体" panose="02010609060101010101" pitchFamily="2" charset="-122"/>
              <a:ea typeface="黑体" panose="02010609060101010101" pitchFamily="2" charset="-122"/>
            </a:endParaRPr>
          </a:p>
        </p:txBody>
      </p:sp>
      <p:grpSp>
        <p:nvGrpSpPr>
          <p:cNvPr id="15" name="Group 15"/>
          <p:cNvGrpSpPr/>
          <p:nvPr/>
        </p:nvGrpSpPr>
        <p:grpSpPr bwMode="auto">
          <a:xfrm>
            <a:off x="6740882" y="4296877"/>
            <a:ext cx="1397000" cy="804863"/>
            <a:chOff x="3281" y="2510"/>
            <a:chExt cx="880" cy="507"/>
          </a:xfrm>
        </p:grpSpPr>
        <p:sp>
          <p:nvSpPr>
            <p:cNvPr id="17" name="Text Box 16"/>
            <p:cNvSpPr txBox="1">
              <a:spLocks noChangeArrowheads="1"/>
            </p:cNvSpPr>
            <p:nvPr/>
          </p:nvSpPr>
          <p:spPr bwMode="auto">
            <a:xfrm>
              <a:off x="3281" y="2606"/>
              <a:ext cx="8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b="1" i="1">
                  <a:solidFill>
                    <a:srgbClr val="000000"/>
                  </a:solidFill>
                  <a:latin typeface="ISOCPEUR" panose="020B0604020202020204" pitchFamily="34" charset="0"/>
                </a:rPr>
                <a:t>Ø</a:t>
              </a:r>
              <a:r>
                <a:rPr kumimoji="1" lang="en-US" altLang="zh-CN" sz="2400" b="1" i="1">
                  <a:solidFill>
                    <a:srgbClr val="000000"/>
                  </a:solidFill>
                  <a:latin typeface="ISOCPEUR" panose="020B0604020202020204" pitchFamily="34" charset="0"/>
                  <a:ea typeface="黑体" panose="02010609060101010101" pitchFamily="2" charset="-122"/>
                </a:rPr>
                <a:t>12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18" name="Text Box 17"/>
            <p:cNvSpPr txBox="1">
              <a:spLocks noChangeArrowheads="1"/>
            </p:cNvSpPr>
            <p:nvPr/>
          </p:nvSpPr>
          <p:spPr bwMode="auto">
            <a:xfrm>
              <a:off x="3759" y="2729"/>
              <a:ext cx="3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h7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19" name="Text Box 18"/>
            <p:cNvSpPr txBox="1">
              <a:spLocks noChangeArrowheads="1"/>
            </p:cNvSpPr>
            <p:nvPr/>
          </p:nvSpPr>
          <p:spPr bwMode="auto">
            <a:xfrm>
              <a:off x="3772" y="2510"/>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F9</a:t>
              </a:r>
              <a:endParaRPr kumimoji="1" lang="en-US" altLang="zh-CN" sz="2400" b="1" i="1">
                <a:solidFill>
                  <a:srgbClr val="000000"/>
                </a:solidFill>
                <a:latin typeface="ISOCPEUR" panose="020B0604020202020204" pitchFamily="34" charset="0"/>
                <a:ea typeface="黑体" panose="02010609060101010101" pitchFamily="2" charset="-122"/>
              </a:endParaRPr>
            </a:p>
          </p:txBody>
        </p:sp>
      </p:grpSp>
      <p:grpSp>
        <p:nvGrpSpPr>
          <p:cNvPr id="20" name="Group 19"/>
          <p:cNvGrpSpPr/>
          <p:nvPr/>
        </p:nvGrpSpPr>
        <p:grpSpPr bwMode="auto">
          <a:xfrm>
            <a:off x="6721832" y="5195402"/>
            <a:ext cx="1412875" cy="787400"/>
            <a:chOff x="3261" y="3265"/>
            <a:chExt cx="890" cy="496"/>
          </a:xfrm>
        </p:grpSpPr>
        <p:sp>
          <p:nvSpPr>
            <p:cNvPr id="21" name="Text Box 20"/>
            <p:cNvSpPr txBox="1">
              <a:spLocks noChangeArrowheads="1"/>
            </p:cNvSpPr>
            <p:nvPr/>
          </p:nvSpPr>
          <p:spPr bwMode="auto">
            <a:xfrm>
              <a:off x="3261" y="3359"/>
              <a:ext cx="89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kumimoji="1" lang="en-US" altLang="zh-CN" sz="2400" b="1" i="1">
                  <a:solidFill>
                    <a:srgbClr val="000000"/>
                  </a:solidFill>
                  <a:latin typeface="ISOCPEUR" panose="020B0604020202020204" pitchFamily="34" charset="0"/>
                </a:rPr>
                <a:t>Ø</a:t>
              </a:r>
              <a:r>
                <a:rPr kumimoji="1" lang="en-US" altLang="zh-CN" sz="2400" b="1" i="1">
                  <a:solidFill>
                    <a:srgbClr val="000000"/>
                  </a:solidFill>
                  <a:latin typeface="ISOCPEUR" panose="020B0604020202020204" pitchFamily="34" charset="0"/>
                  <a:ea typeface="黑体" panose="02010609060101010101" pitchFamily="2" charset="-122"/>
                </a:rPr>
                <a:t>12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22" name="Text Box 21"/>
            <p:cNvSpPr txBox="1">
              <a:spLocks noChangeArrowheads="1"/>
            </p:cNvSpPr>
            <p:nvPr/>
          </p:nvSpPr>
          <p:spPr bwMode="auto">
            <a:xfrm>
              <a:off x="3758" y="3473"/>
              <a:ext cx="3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h7 </a:t>
              </a:r>
              <a:endParaRPr kumimoji="1" lang="en-US" altLang="zh-CN" sz="2400" b="1" i="1">
                <a:solidFill>
                  <a:srgbClr val="000000"/>
                </a:solidFill>
                <a:latin typeface="ISOCPEUR" panose="020B0604020202020204" pitchFamily="34" charset="0"/>
                <a:ea typeface="黑体" panose="02010609060101010101" pitchFamily="2" charset="-122"/>
              </a:endParaRPr>
            </a:p>
          </p:txBody>
        </p:sp>
        <p:sp>
          <p:nvSpPr>
            <p:cNvPr id="23" name="Text Box 22"/>
            <p:cNvSpPr txBox="1">
              <a:spLocks noChangeArrowheads="1"/>
            </p:cNvSpPr>
            <p:nvPr/>
          </p:nvSpPr>
          <p:spPr bwMode="auto">
            <a:xfrm>
              <a:off x="3772" y="3265"/>
              <a:ext cx="2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000000"/>
                  </a:solidFill>
                  <a:latin typeface="ISOCPEUR" panose="020B0604020202020204" pitchFamily="34" charset="0"/>
                  <a:ea typeface="黑体" panose="02010609060101010101" pitchFamily="2" charset="-122"/>
                </a:rPr>
                <a:t>J8</a:t>
              </a:r>
              <a:endParaRPr kumimoji="1" lang="en-US" altLang="zh-CN" sz="2400" b="1" i="1">
                <a:solidFill>
                  <a:srgbClr val="000000"/>
                </a:solidFill>
                <a:latin typeface="ISOCPEUR" panose="020B0604020202020204" pitchFamily="34" charset="0"/>
                <a:ea typeface="黑体" panose="02010609060101010101" pitchFamily="2" charset="-122"/>
              </a:endParaRPr>
            </a:p>
          </p:txBody>
        </p:sp>
      </p:grpSp>
      <p:sp>
        <p:nvSpPr>
          <p:cNvPr id="24" name="Text Box 23"/>
          <p:cNvSpPr txBox="1">
            <a:spLocks noChangeArrowheads="1"/>
          </p:cNvSpPr>
          <p:nvPr/>
        </p:nvSpPr>
        <p:spPr bwMode="auto">
          <a:xfrm>
            <a:off x="8287107" y="4660415"/>
            <a:ext cx="1539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00"/>
                </a:solidFill>
                <a:latin typeface="黑体" panose="02010609060101010101" pitchFamily="2" charset="-122"/>
                <a:ea typeface="黑体" panose="02010609060101010101" pitchFamily="2" charset="-122"/>
              </a:rPr>
              <a:t>间隙配合</a:t>
            </a:r>
            <a:endParaRPr kumimoji="1" lang="zh-CN" altLang="en-US" sz="2000" b="1">
              <a:solidFill>
                <a:srgbClr val="000000"/>
              </a:solidFill>
              <a:latin typeface="黑体" panose="02010609060101010101" pitchFamily="2" charset="-122"/>
              <a:ea typeface="黑体" panose="02010609060101010101" pitchFamily="2" charset="-122"/>
            </a:endParaRPr>
          </a:p>
        </p:txBody>
      </p:sp>
      <p:sp>
        <p:nvSpPr>
          <p:cNvPr id="25" name="Text Box 24"/>
          <p:cNvSpPr txBox="1">
            <a:spLocks noChangeArrowheads="1"/>
          </p:cNvSpPr>
          <p:nvPr/>
        </p:nvSpPr>
        <p:spPr bwMode="auto">
          <a:xfrm>
            <a:off x="8288694" y="5555765"/>
            <a:ext cx="1627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000000"/>
                </a:solidFill>
                <a:latin typeface="黑体" panose="02010609060101010101" pitchFamily="2" charset="-122"/>
                <a:ea typeface="黑体" panose="02010609060101010101" pitchFamily="2" charset="-122"/>
              </a:rPr>
              <a:t>过渡配合</a:t>
            </a:r>
            <a:endParaRPr kumimoji="1" lang="zh-CN" altLang="en-US" sz="2000" b="1">
              <a:solidFill>
                <a:srgbClr val="000000"/>
              </a:solidFill>
              <a:latin typeface="黑体" panose="02010609060101010101" pitchFamily="2" charset="-122"/>
              <a:ea typeface="黑体" panose="02010609060101010101" pitchFamily="2" charset="-122"/>
            </a:endParaRPr>
          </a:p>
        </p:txBody>
      </p:sp>
      <p:sp>
        <p:nvSpPr>
          <p:cNvPr id="26" name="Text Box 25"/>
          <p:cNvSpPr txBox="1">
            <a:spLocks noChangeArrowheads="1"/>
          </p:cNvSpPr>
          <p:nvPr/>
        </p:nvSpPr>
        <p:spPr bwMode="auto">
          <a:xfrm>
            <a:off x="8301394" y="4300052"/>
            <a:ext cx="1387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C00000"/>
                </a:solidFill>
                <a:latin typeface="黑体" panose="02010609060101010101" pitchFamily="2" charset="-122"/>
                <a:ea typeface="黑体" panose="02010609060101010101" pitchFamily="2" charset="-122"/>
              </a:rPr>
              <a:t>基轴制</a:t>
            </a:r>
            <a:endParaRPr kumimoji="1" lang="zh-CN" altLang="en-US" sz="2000" b="1">
              <a:solidFill>
                <a:srgbClr val="C00000"/>
              </a:solidFill>
              <a:latin typeface="黑体" panose="02010609060101010101" pitchFamily="2" charset="-122"/>
              <a:ea typeface="黑体" panose="02010609060101010101" pitchFamily="2" charset="-122"/>
            </a:endParaRPr>
          </a:p>
        </p:txBody>
      </p:sp>
      <p:sp>
        <p:nvSpPr>
          <p:cNvPr id="27" name="Text Box 26"/>
          <p:cNvSpPr txBox="1">
            <a:spLocks noChangeArrowheads="1"/>
          </p:cNvSpPr>
          <p:nvPr/>
        </p:nvSpPr>
        <p:spPr bwMode="auto">
          <a:xfrm>
            <a:off x="8296632" y="5217627"/>
            <a:ext cx="1474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zh-CN" altLang="en-US" sz="2000" b="1">
                <a:solidFill>
                  <a:srgbClr val="C00000"/>
                </a:solidFill>
                <a:latin typeface="黑体" panose="02010609060101010101" pitchFamily="2" charset="-122"/>
                <a:ea typeface="黑体" panose="02010609060101010101" pitchFamily="2" charset="-122"/>
              </a:rPr>
              <a:t>基轴制</a:t>
            </a:r>
            <a:endParaRPr kumimoji="1" lang="zh-CN" altLang="en-US" sz="2000" b="1">
              <a:solidFill>
                <a:srgbClr val="C00000"/>
              </a:solidFill>
              <a:latin typeface="黑体" panose="02010609060101010101" pitchFamily="2" charset="-122"/>
              <a:ea typeface="黑体" panose="02010609060101010101" pitchFamily="2" charset="-122"/>
            </a:endParaRPr>
          </a:p>
        </p:txBody>
      </p:sp>
      <p:grpSp>
        <p:nvGrpSpPr>
          <p:cNvPr id="28" name="Group 27"/>
          <p:cNvGrpSpPr/>
          <p:nvPr/>
        </p:nvGrpSpPr>
        <p:grpSpPr bwMode="auto">
          <a:xfrm>
            <a:off x="2355413" y="1215539"/>
            <a:ext cx="2852738" cy="2432050"/>
            <a:chOff x="718" y="521"/>
            <a:chExt cx="1797" cy="1532"/>
          </a:xfrm>
        </p:grpSpPr>
        <p:sp>
          <p:nvSpPr>
            <p:cNvPr id="29" name="Rectangle 28"/>
            <p:cNvSpPr>
              <a:spLocks noChangeArrowheads="1"/>
            </p:cNvSpPr>
            <p:nvPr/>
          </p:nvSpPr>
          <p:spPr bwMode="auto">
            <a:xfrm>
              <a:off x="1167" y="528"/>
              <a:ext cx="839" cy="1525"/>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0" name="Rectangle 29"/>
            <p:cNvSpPr>
              <a:spLocks noChangeArrowheads="1"/>
            </p:cNvSpPr>
            <p:nvPr/>
          </p:nvSpPr>
          <p:spPr bwMode="auto">
            <a:xfrm>
              <a:off x="1171" y="879"/>
              <a:ext cx="724" cy="823"/>
            </a:xfrm>
            <a:prstGeom prst="rect">
              <a:avLst/>
            </a:prstGeom>
            <a:solidFill>
              <a:srgbClr val="FFFFFF"/>
            </a:solidFill>
            <a:ln w="5715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Rectangle 30"/>
            <p:cNvSpPr>
              <a:spLocks noChangeArrowheads="1"/>
            </p:cNvSpPr>
            <p:nvPr/>
          </p:nvSpPr>
          <p:spPr bwMode="auto">
            <a:xfrm>
              <a:off x="1888" y="719"/>
              <a:ext cx="120" cy="1138"/>
            </a:xfrm>
            <a:prstGeom prst="rect">
              <a:avLst/>
            </a:prstGeom>
            <a:solidFill>
              <a:srgbClr val="E2F2FE"/>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Rectangle 31"/>
            <p:cNvSpPr>
              <a:spLocks noChangeArrowheads="1"/>
            </p:cNvSpPr>
            <p:nvPr/>
          </p:nvSpPr>
          <p:spPr bwMode="auto">
            <a:xfrm>
              <a:off x="1889" y="765"/>
              <a:ext cx="118" cy="1052"/>
            </a:xfrm>
            <a:prstGeom prst="rect">
              <a:avLst/>
            </a:prstGeom>
            <a:solidFill>
              <a:srgbClr val="FFFFFF"/>
            </a:solidFill>
            <a:ln w="5715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3" name="Line 32"/>
            <p:cNvSpPr>
              <a:spLocks noChangeShapeType="1"/>
            </p:cNvSpPr>
            <p:nvPr/>
          </p:nvSpPr>
          <p:spPr bwMode="auto">
            <a:xfrm>
              <a:off x="1887" y="893"/>
              <a:ext cx="0" cy="793"/>
            </a:xfrm>
            <a:prstGeom prst="line">
              <a:avLst/>
            </a:prstGeom>
            <a:noFill/>
            <a:ln w="762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34" name="Group 33"/>
            <p:cNvGrpSpPr/>
            <p:nvPr/>
          </p:nvGrpSpPr>
          <p:grpSpPr bwMode="auto">
            <a:xfrm>
              <a:off x="900" y="833"/>
              <a:ext cx="1495" cy="916"/>
              <a:chOff x="900" y="833"/>
              <a:chExt cx="1495" cy="916"/>
            </a:xfrm>
          </p:grpSpPr>
          <p:sp>
            <p:nvSpPr>
              <p:cNvPr id="72" name="Rectangle 34"/>
              <p:cNvSpPr>
                <a:spLocks noChangeArrowheads="1"/>
              </p:cNvSpPr>
              <p:nvPr/>
            </p:nvSpPr>
            <p:spPr bwMode="auto">
              <a:xfrm>
                <a:off x="981" y="970"/>
                <a:ext cx="1042" cy="642"/>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3" name="Rectangle 35"/>
              <p:cNvSpPr>
                <a:spLocks noChangeArrowheads="1"/>
              </p:cNvSpPr>
              <p:nvPr/>
            </p:nvSpPr>
            <p:spPr bwMode="auto">
              <a:xfrm>
                <a:off x="2010" y="833"/>
                <a:ext cx="385" cy="916"/>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4" name="Freeform 36"/>
              <p:cNvSpPr/>
              <p:nvPr/>
            </p:nvSpPr>
            <p:spPr bwMode="auto">
              <a:xfrm>
                <a:off x="900" y="976"/>
                <a:ext cx="81" cy="636"/>
              </a:xfrm>
              <a:custGeom>
                <a:avLst/>
                <a:gdLst>
                  <a:gd name="T0" fmla="*/ 137 w 78"/>
                  <a:gd name="T1" fmla="*/ 0 h 666"/>
                  <a:gd name="T2" fmla="*/ 0 w 78"/>
                  <a:gd name="T3" fmla="*/ 39 h 666"/>
                  <a:gd name="T4" fmla="*/ 0 w 78"/>
                  <a:gd name="T5" fmla="*/ 37 h 666"/>
                  <a:gd name="T6" fmla="*/ 0 w 78"/>
                  <a:gd name="T7" fmla="*/ 296 h 666"/>
                  <a:gd name="T8" fmla="*/ 137 w 78"/>
                  <a:gd name="T9" fmla="*/ 333 h 666"/>
                  <a:gd name="T10" fmla="*/ 137 w 78"/>
                  <a:gd name="T11" fmla="*/ 0 h 6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 h="666">
                    <a:moveTo>
                      <a:pt x="78" y="0"/>
                    </a:moveTo>
                    <a:lnTo>
                      <a:pt x="0" y="78"/>
                    </a:lnTo>
                    <a:lnTo>
                      <a:pt x="0" y="74"/>
                    </a:lnTo>
                    <a:lnTo>
                      <a:pt x="0" y="590"/>
                    </a:lnTo>
                    <a:lnTo>
                      <a:pt x="78" y="666"/>
                    </a:lnTo>
                    <a:lnTo>
                      <a:pt x="78" y="0"/>
                    </a:lnTo>
                    <a:close/>
                  </a:path>
                </a:pathLst>
              </a:custGeom>
              <a:solidFill>
                <a:srgbClr val="FFFFFF"/>
              </a:solidFill>
              <a:ln w="57150" cmpd="sng">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35" name="Line 37"/>
            <p:cNvSpPr>
              <a:spLocks noChangeShapeType="1"/>
            </p:cNvSpPr>
            <p:nvPr/>
          </p:nvSpPr>
          <p:spPr bwMode="auto">
            <a:xfrm flipH="1">
              <a:off x="1162" y="521"/>
              <a:ext cx="231" cy="23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Line 38"/>
            <p:cNvSpPr>
              <a:spLocks noChangeShapeType="1"/>
            </p:cNvSpPr>
            <p:nvPr/>
          </p:nvSpPr>
          <p:spPr bwMode="auto">
            <a:xfrm flipH="1">
              <a:off x="1231" y="527"/>
              <a:ext cx="344" cy="34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8" name="Line 39"/>
            <p:cNvSpPr>
              <a:spLocks noChangeShapeType="1"/>
            </p:cNvSpPr>
            <p:nvPr/>
          </p:nvSpPr>
          <p:spPr bwMode="auto">
            <a:xfrm flipH="1">
              <a:off x="1419" y="526"/>
              <a:ext cx="358" cy="35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Line 40"/>
            <p:cNvSpPr>
              <a:spLocks noChangeShapeType="1"/>
            </p:cNvSpPr>
            <p:nvPr/>
          </p:nvSpPr>
          <p:spPr bwMode="auto">
            <a:xfrm flipH="1">
              <a:off x="1616" y="532"/>
              <a:ext cx="354" cy="35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0" name="Line 41"/>
            <p:cNvSpPr>
              <a:spLocks noChangeShapeType="1"/>
            </p:cNvSpPr>
            <p:nvPr/>
          </p:nvSpPr>
          <p:spPr bwMode="auto">
            <a:xfrm flipH="1">
              <a:off x="1814" y="810"/>
              <a:ext cx="77" cy="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1" name="Line 42"/>
            <p:cNvSpPr>
              <a:spLocks noChangeShapeType="1"/>
            </p:cNvSpPr>
            <p:nvPr/>
          </p:nvSpPr>
          <p:spPr bwMode="auto">
            <a:xfrm flipH="1">
              <a:off x="1157" y="1697"/>
              <a:ext cx="223" cy="22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2" name="Line 43"/>
            <p:cNvSpPr>
              <a:spLocks noChangeShapeType="1"/>
            </p:cNvSpPr>
            <p:nvPr/>
          </p:nvSpPr>
          <p:spPr bwMode="auto">
            <a:xfrm flipH="1">
              <a:off x="1219" y="1697"/>
              <a:ext cx="347" cy="34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3" name="Line 44"/>
            <p:cNvSpPr>
              <a:spLocks noChangeShapeType="1"/>
            </p:cNvSpPr>
            <p:nvPr/>
          </p:nvSpPr>
          <p:spPr bwMode="auto">
            <a:xfrm flipH="1">
              <a:off x="1417" y="1702"/>
              <a:ext cx="345" cy="34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4" name="Line 45"/>
            <p:cNvSpPr>
              <a:spLocks noChangeShapeType="1"/>
            </p:cNvSpPr>
            <p:nvPr/>
          </p:nvSpPr>
          <p:spPr bwMode="auto">
            <a:xfrm flipH="1">
              <a:off x="1616" y="1777"/>
              <a:ext cx="272" cy="26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Line 46"/>
            <p:cNvSpPr>
              <a:spLocks noChangeShapeType="1"/>
            </p:cNvSpPr>
            <p:nvPr/>
          </p:nvSpPr>
          <p:spPr bwMode="auto">
            <a:xfrm flipH="1">
              <a:off x="1814" y="1856"/>
              <a:ext cx="189" cy="19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6" name="Line 47"/>
            <p:cNvSpPr>
              <a:spLocks noChangeShapeType="1"/>
            </p:cNvSpPr>
            <p:nvPr/>
          </p:nvSpPr>
          <p:spPr bwMode="auto">
            <a:xfrm>
              <a:off x="1181" y="873"/>
              <a:ext cx="109" cy="103"/>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7" name="Line 48"/>
            <p:cNvSpPr>
              <a:spLocks noChangeShapeType="1"/>
            </p:cNvSpPr>
            <p:nvPr/>
          </p:nvSpPr>
          <p:spPr bwMode="auto">
            <a:xfrm>
              <a:off x="1343" y="879"/>
              <a:ext cx="96" cy="97"/>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8" name="Line 49"/>
            <p:cNvSpPr>
              <a:spLocks noChangeShapeType="1"/>
            </p:cNvSpPr>
            <p:nvPr/>
          </p:nvSpPr>
          <p:spPr bwMode="auto">
            <a:xfrm>
              <a:off x="1504" y="879"/>
              <a:ext cx="88" cy="91"/>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49" name="Line 50"/>
            <p:cNvSpPr>
              <a:spLocks noChangeShapeType="1"/>
            </p:cNvSpPr>
            <p:nvPr/>
          </p:nvSpPr>
          <p:spPr bwMode="auto">
            <a:xfrm>
              <a:off x="1671" y="879"/>
              <a:ext cx="93" cy="94"/>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0" name="Line 51"/>
            <p:cNvSpPr>
              <a:spLocks noChangeShapeType="1"/>
            </p:cNvSpPr>
            <p:nvPr/>
          </p:nvSpPr>
          <p:spPr bwMode="auto">
            <a:xfrm>
              <a:off x="1832" y="879"/>
              <a:ext cx="92" cy="91"/>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1" name="Line 52"/>
            <p:cNvSpPr>
              <a:spLocks noChangeShapeType="1"/>
            </p:cNvSpPr>
            <p:nvPr/>
          </p:nvSpPr>
          <p:spPr bwMode="auto">
            <a:xfrm>
              <a:off x="1888" y="767"/>
              <a:ext cx="116" cy="118"/>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2" name="Line 53"/>
            <p:cNvSpPr>
              <a:spLocks noChangeShapeType="1"/>
            </p:cNvSpPr>
            <p:nvPr/>
          </p:nvSpPr>
          <p:spPr bwMode="auto">
            <a:xfrm>
              <a:off x="1219" y="1606"/>
              <a:ext cx="111" cy="103"/>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3" name="Line 54"/>
            <p:cNvSpPr>
              <a:spLocks noChangeShapeType="1"/>
            </p:cNvSpPr>
            <p:nvPr/>
          </p:nvSpPr>
          <p:spPr bwMode="auto">
            <a:xfrm>
              <a:off x="1401" y="1608"/>
              <a:ext cx="100" cy="10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4" name="Line 55"/>
            <p:cNvSpPr>
              <a:spLocks noChangeShapeType="1"/>
            </p:cNvSpPr>
            <p:nvPr/>
          </p:nvSpPr>
          <p:spPr bwMode="auto">
            <a:xfrm>
              <a:off x="1566" y="1606"/>
              <a:ext cx="94" cy="91"/>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5" name="Line 56"/>
            <p:cNvSpPr>
              <a:spLocks noChangeShapeType="1"/>
            </p:cNvSpPr>
            <p:nvPr/>
          </p:nvSpPr>
          <p:spPr bwMode="auto">
            <a:xfrm>
              <a:off x="1745" y="1611"/>
              <a:ext cx="94" cy="94"/>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6" name="Line 57"/>
            <p:cNvSpPr>
              <a:spLocks noChangeShapeType="1"/>
            </p:cNvSpPr>
            <p:nvPr/>
          </p:nvSpPr>
          <p:spPr bwMode="auto">
            <a:xfrm>
              <a:off x="1907" y="1617"/>
              <a:ext cx="97" cy="97"/>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7" name="Line 58"/>
            <p:cNvSpPr>
              <a:spLocks noChangeShapeType="1"/>
            </p:cNvSpPr>
            <p:nvPr/>
          </p:nvSpPr>
          <p:spPr bwMode="auto">
            <a:xfrm>
              <a:off x="1892" y="1754"/>
              <a:ext cx="77" cy="69"/>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8" name="Line 59"/>
            <p:cNvSpPr>
              <a:spLocks noChangeShapeType="1"/>
            </p:cNvSpPr>
            <p:nvPr/>
          </p:nvSpPr>
          <p:spPr bwMode="auto">
            <a:xfrm flipH="1">
              <a:off x="1932" y="908"/>
              <a:ext cx="68" cy="63"/>
            </a:xfrm>
            <a:prstGeom prst="line">
              <a:avLst/>
            </a:prstGeom>
            <a:noFill/>
            <a:ln w="571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59" name="Line 60"/>
            <p:cNvSpPr>
              <a:spLocks noChangeShapeType="1"/>
            </p:cNvSpPr>
            <p:nvPr/>
          </p:nvSpPr>
          <p:spPr bwMode="auto">
            <a:xfrm>
              <a:off x="1932" y="1611"/>
              <a:ext cx="68" cy="63"/>
            </a:xfrm>
            <a:prstGeom prst="line">
              <a:avLst/>
            </a:prstGeom>
            <a:noFill/>
            <a:ln w="571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0" name="Text Box 61"/>
            <p:cNvSpPr txBox="1">
              <a:spLocks noChangeArrowheads="1"/>
            </p:cNvSpPr>
            <p:nvPr/>
          </p:nvSpPr>
          <p:spPr bwMode="auto">
            <a:xfrm rot="-5400000">
              <a:off x="1328" y="1188"/>
              <a:ext cx="664" cy="2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Ø</a:t>
              </a: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30</a:t>
              </a:r>
              <a:r>
                <a:rPr kumimoji="1" lang="en-US" altLang="zh-CN" sz="1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a:t>
              </a: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a:t>
              </a:r>
              <a:endPar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1" name="Text Box 62"/>
            <p:cNvSpPr txBox="1">
              <a:spLocks noChangeArrowheads="1"/>
            </p:cNvSpPr>
            <p:nvPr/>
          </p:nvSpPr>
          <p:spPr bwMode="auto">
            <a:xfrm rot="-5400000">
              <a:off x="1420" y="1019"/>
              <a:ext cx="318" cy="2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H8 </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2" name="Text Box 63"/>
            <p:cNvSpPr txBox="1">
              <a:spLocks noChangeArrowheads="1"/>
            </p:cNvSpPr>
            <p:nvPr/>
          </p:nvSpPr>
          <p:spPr bwMode="auto">
            <a:xfrm rot="-5400000">
              <a:off x="1590" y="1040"/>
              <a:ext cx="299" cy="2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f7 </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3" name="Line 64"/>
            <p:cNvSpPr>
              <a:spLocks noChangeShapeType="1"/>
            </p:cNvSpPr>
            <p:nvPr/>
          </p:nvSpPr>
          <p:spPr bwMode="auto">
            <a:xfrm>
              <a:off x="1915" y="1294"/>
              <a:ext cx="21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4" name="Line 65"/>
            <p:cNvSpPr>
              <a:spLocks noChangeShapeType="1"/>
            </p:cNvSpPr>
            <p:nvPr/>
          </p:nvSpPr>
          <p:spPr bwMode="auto">
            <a:xfrm>
              <a:off x="718" y="1299"/>
              <a:ext cx="31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5" name="Line 66"/>
            <p:cNvSpPr>
              <a:spLocks noChangeShapeType="1"/>
            </p:cNvSpPr>
            <p:nvPr/>
          </p:nvSpPr>
          <p:spPr bwMode="auto">
            <a:xfrm>
              <a:off x="1368" y="873"/>
              <a:ext cx="0" cy="841"/>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6" name="Line 67"/>
            <p:cNvSpPr>
              <a:spLocks noChangeShapeType="1"/>
            </p:cNvSpPr>
            <p:nvPr/>
          </p:nvSpPr>
          <p:spPr bwMode="auto">
            <a:xfrm>
              <a:off x="1823" y="976"/>
              <a:ext cx="0" cy="635"/>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67" name="Text Box 68"/>
            <p:cNvSpPr txBox="1">
              <a:spLocks noChangeArrowheads="1"/>
            </p:cNvSpPr>
            <p:nvPr/>
          </p:nvSpPr>
          <p:spPr bwMode="auto">
            <a:xfrm rot="-5400000">
              <a:off x="859" y="1189"/>
              <a:ext cx="697" cy="2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Ø</a:t>
              </a: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40</a:t>
              </a:r>
              <a:r>
                <a:rPr kumimoji="1" lang="en-US" altLang="zh-CN" sz="1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a:t>
              </a: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a:t>
              </a:r>
              <a:endPar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8" name="Text Box 69"/>
            <p:cNvSpPr txBox="1">
              <a:spLocks noChangeArrowheads="1"/>
            </p:cNvSpPr>
            <p:nvPr/>
          </p:nvSpPr>
          <p:spPr bwMode="auto">
            <a:xfrm rot="-5400000">
              <a:off x="967" y="1012"/>
              <a:ext cx="318" cy="2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H8 </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69" name="Text Box 70"/>
            <p:cNvSpPr txBox="1">
              <a:spLocks noChangeArrowheads="1"/>
            </p:cNvSpPr>
            <p:nvPr/>
          </p:nvSpPr>
          <p:spPr bwMode="auto">
            <a:xfrm rot="-5400000">
              <a:off x="1124" y="1027"/>
              <a:ext cx="308" cy="2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n6 </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70" name="Line 71"/>
            <p:cNvSpPr>
              <a:spLocks noChangeShapeType="1"/>
            </p:cNvSpPr>
            <p:nvPr/>
          </p:nvSpPr>
          <p:spPr bwMode="auto">
            <a:xfrm>
              <a:off x="2264" y="1294"/>
              <a:ext cx="25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1" name="Line 72"/>
            <p:cNvSpPr>
              <a:spLocks noChangeShapeType="1"/>
            </p:cNvSpPr>
            <p:nvPr/>
          </p:nvSpPr>
          <p:spPr bwMode="auto">
            <a:xfrm>
              <a:off x="2175" y="1294"/>
              <a:ext cx="4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75" name="Group 73"/>
          <p:cNvGrpSpPr/>
          <p:nvPr/>
        </p:nvGrpSpPr>
        <p:grpSpPr bwMode="auto">
          <a:xfrm>
            <a:off x="1720413" y="3973027"/>
            <a:ext cx="4418013" cy="2227262"/>
            <a:chOff x="318" y="2428"/>
            <a:chExt cx="2783" cy="1403"/>
          </a:xfrm>
        </p:grpSpPr>
        <p:grpSp>
          <p:nvGrpSpPr>
            <p:cNvPr id="76" name="Group 74"/>
            <p:cNvGrpSpPr/>
            <p:nvPr/>
          </p:nvGrpSpPr>
          <p:grpSpPr bwMode="auto">
            <a:xfrm>
              <a:off x="892" y="2546"/>
              <a:ext cx="1541" cy="1274"/>
              <a:chOff x="1019" y="2698"/>
              <a:chExt cx="1532" cy="1372"/>
            </a:xfrm>
          </p:grpSpPr>
          <p:sp>
            <p:nvSpPr>
              <p:cNvPr id="123" name="Freeform 75"/>
              <p:cNvSpPr/>
              <p:nvPr/>
            </p:nvSpPr>
            <p:spPr bwMode="auto">
              <a:xfrm>
                <a:off x="1019" y="2770"/>
                <a:ext cx="1532" cy="1300"/>
              </a:xfrm>
              <a:custGeom>
                <a:avLst/>
                <a:gdLst>
                  <a:gd name="T0" fmla="*/ 224 w 1532"/>
                  <a:gd name="T1" fmla="*/ 0 h 1300"/>
                  <a:gd name="T2" fmla="*/ 544 w 1532"/>
                  <a:gd name="T3" fmla="*/ 0 h 1300"/>
                  <a:gd name="T4" fmla="*/ 544 w 1532"/>
                  <a:gd name="T5" fmla="*/ 1020 h 1300"/>
                  <a:gd name="T6" fmla="*/ 972 w 1532"/>
                  <a:gd name="T7" fmla="*/ 1020 h 1300"/>
                  <a:gd name="T8" fmla="*/ 972 w 1532"/>
                  <a:gd name="T9" fmla="*/ 4 h 1300"/>
                  <a:gd name="T10" fmla="*/ 1304 w 1532"/>
                  <a:gd name="T11" fmla="*/ 4 h 1300"/>
                  <a:gd name="T12" fmla="*/ 1304 w 1532"/>
                  <a:gd name="T13" fmla="*/ 880 h 1300"/>
                  <a:gd name="T14" fmla="*/ 1532 w 1532"/>
                  <a:gd name="T15" fmla="*/ 1108 h 1300"/>
                  <a:gd name="T16" fmla="*/ 1532 w 1532"/>
                  <a:gd name="T17" fmla="*/ 1300 h 1300"/>
                  <a:gd name="T18" fmla="*/ 0 w 1532"/>
                  <a:gd name="T19" fmla="*/ 1300 h 1300"/>
                  <a:gd name="T20" fmla="*/ 0 w 1532"/>
                  <a:gd name="T21" fmla="*/ 1108 h 1300"/>
                  <a:gd name="T22" fmla="*/ 224 w 1532"/>
                  <a:gd name="T23" fmla="*/ 880 h 1300"/>
                  <a:gd name="T24" fmla="*/ 224 w 1532"/>
                  <a:gd name="T25" fmla="*/ 0 h 13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32" h="1300">
                    <a:moveTo>
                      <a:pt x="224" y="0"/>
                    </a:moveTo>
                    <a:lnTo>
                      <a:pt x="544" y="0"/>
                    </a:lnTo>
                    <a:lnTo>
                      <a:pt x="544" y="1020"/>
                    </a:lnTo>
                    <a:lnTo>
                      <a:pt x="972" y="1020"/>
                    </a:lnTo>
                    <a:lnTo>
                      <a:pt x="972" y="4"/>
                    </a:lnTo>
                    <a:lnTo>
                      <a:pt x="1304" y="4"/>
                    </a:lnTo>
                    <a:lnTo>
                      <a:pt x="1304" y="880"/>
                    </a:lnTo>
                    <a:lnTo>
                      <a:pt x="1532" y="1108"/>
                    </a:lnTo>
                    <a:lnTo>
                      <a:pt x="1532" y="1300"/>
                    </a:lnTo>
                    <a:lnTo>
                      <a:pt x="0" y="1300"/>
                    </a:lnTo>
                    <a:lnTo>
                      <a:pt x="0" y="1108"/>
                    </a:lnTo>
                    <a:lnTo>
                      <a:pt x="224" y="880"/>
                    </a:lnTo>
                    <a:lnTo>
                      <a:pt x="224" y="0"/>
                    </a:lnTo>
                    <a:close/>
                  </a:path>
                </a:pathLst>
              </a:custGeom>
              <a:noFill/>
              <a:ln w="57150" cmpd="sng">
                <a:solidFill>
                  <a:srgbClr val="000000"/>
                </a:solidFill>
                <a:round/>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4" name="Rectangle 76"/>
              <p:cNvSpPr>
                <a:spLocks noChangeArrowheads="1"/>
              </p:cNvSpPr>
              <p:nvPr/>
            </p:nvSpPr>
            <p:spPr bwMode="auto">
              <a:xfrm>
                <a:off x="1628" y="2698"/>
                <a:ext cx="300" cy="1033"/>
              </a:xfrm>
              <a:prstGeom prst="rect">
                <a:avLst/>
              </a:prstGeom>
              <a:noFill/>
              <a:ln w="57150">
                <a:solidFill>
                  <a:srgbClr val="000000"/>
                </a:solidFill>
                <a:miter lim="800000"/>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77" name="Group 77"/>
            <p:cNvGrpSpPr/>
            <p:nvPr/>
          </p:nvGrpSpPr>
          <p:grpSpPr bwMode="auto">
            <a:xfrm>
              <a:off x="891" y="2800"/>
              <a:ext cx="1528" cy="453"/>
              <a:chOff x="1015" y="2972"/>
              <a:chExt cx="1520" cy="487"/>
            </a:xfrm>
          </p:grpSpPr>
          <p:sp>
            <p:nvSpPr>
              <p:cNvPr id="118" name="Freeform 78"/>
              <p:cNvSpPr/>
              <p:nvPr/>
            </p:nvSpPr>
            <p:spPr bwMode="auto">
              <a:xfrm>
                <a:off x="1015" y="3067"/>
                <a:ext cx="47" cy="290"/>
              </a:xfrm>
              <a:custGeom>
                <a:avLst/>
                <a:gdLst>
                  <a:gd name="T0" fmla="*/ 1343 w 37"/>
                  <a:gd name="T1" fmla="*/ 0 h 282"/>
                  <a:gd name="T2" fmla="*/ 0 w 37"/>
                  <a:gd name="T3" fmla="*/ 61 h 282"/>
                  <a:gd name="T4" fmla="*/ 0 w 37"/>
                  <a:gd name="T5" fmla="*/ 373 h 282"/>
                  <a:gd name="T6" fmla="*/ 1302 w 37"/>
                  <a:gd name="T7" fmla="*/ 428 h 282"/>
                  <a:gd name="T8" fmla="*/ 1343 w 37"/>
                  <a:gd name="T9" fmla="*/ 0 h 2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82">
                    <a:moveTo>
                      <a:pt x="37" y="0"/>
                    </a:moveTo>
                    <a:lnTo>
                      <a:pt x="0" y="42"/>
                    </a:lnTo>
                    <a:lnTo>
                      <a:pt x="0" y="246"/>
                    </a:lnTo>
                    <a:lnTo>
                      <a:pt x="36" y="282"/>
                    </a:lnTo>
                    <a:lnTo>
                      <a:pt x="37" y="0"/>
                    </a:lnTo>
                    <a:close/>
                  </a:path>
                </a:pathLst>
              </a:custGeom>
              <a:solidFill>
                <a:srgbClr val="FFFFFF"/>
              </a:solidFill>
              <a:ln w="57150" cmpd="sng">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9" name="Rectangle 79"/>
              <p:cNvSpPr>
                <a:spLocks noChangeArrowheads="1"/>
              </p:cNvSpPr>
              <p:nvPr/>
            </p:nvSpPr>
            <p:spPr bwMode="auto">
              <a:xfrm>
                <a:off x="1063" y="3070"/>
                <a:ext cx="1260" cy="284"/>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0" name="Rectangle 80"/>
              <p:cNvSpPr>
                <a:spLocks noChangeArrowheads="1"/>
              </p:cNvSpPr>
              <p:nvPr/>
            </p:nvSpPr>
            <p:spPr bwMode="auto">
              <a:xfrm>
                <a:off x="2323" y="2974"/>
                <a:ext cx="168" cy="480"/>
              </a:xfrm>
              <a:prstGeom prst="rect">
                <a:avLst/>
              </a:prstGeom>
              <a:solidFill>
                <a:srgbClr val="FFFFFF"/>
              </a:solidFill>
              <a:ln w="571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1" name="Oval 81"/>
              <p:cNvSpPr>
                <a:spLocks noChangeArrowheads="1"/>
              </p:cNvSpPr>
              <p:nvPr/>
            </p:nvSpPr>
            <p:spPr bwMode="auto">
              <a:xfrm>
                <a:off x="1123" y="3174"/>
                <a:ext cx="47" cy="76"/>
              </a:xfrm>
              <a:prstGeom prst="ellipse">
                <a:avLst/>
              </a:prstGeom>
              <a:solidFill>
                <a:srgbClr val="E2F2FE"/>
              </a:solidFill>
              <a:ln w="57150">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2" name="Freeform 82"/>
              <p:cNvSpPr/>
              <p:nvPr/>
            </p:nvSpPr>
            <p:spPr bwMode="auto">
              <a:xfrm>
                <a:off x="2488" y="2972"/>
                <a:ext cx="47" cy="487"/>
              </a:xfrm>
              <a:custGeom>
                <a:avLst/>
                <a:gdLst>
                  <a:gd name="T0" fmla="*/ 0 w 45"/>
                  <a:gd name="T1" fmla="*/ 0 h 498"/>
                  <a:gd name="T2" fmla="*/ 85 w 45"/>
                  <a:gd name="T3" fmla="*/ 30 h 498"/>
                  <a:gd name="T4" fmla="*/ 85 w 45"/>
                  <a:gd name="T5" fmla="*/ 314 h 498"/>
                  <a:gd name="T6" fmla="*/ 0 w 45"/>
                  <a:gd name="T7" fmla="*/ 356 h 498"/>
                  <a:gd name="T8" fmla="*/ 0 w 45"/>
                  <a:gd name="T9" fmla="*/ 0 h 4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498">
                    <a:moveTo>
                      <a:pt x="0" y="0"/>
                    </a:moveTo>
                    <a:lnTo>
                      <a:pt x="45" y="45"/>
                    </a:lnTo>
                    <a:lnTo>
                      <a:pt x="45" y="438"/>
                    </a:lnTo>
                    <a:lnTo>
                      <a:pt x="0" y="498"/>
                    </a:lnTo>
                    <a:lnTo>
                      <a:pt x="0" y="0"/>
                    </a:lnTo>
                    <a:close/>
                  </a:path>
                </a:pathLst>
              </a:custGeom>
              <a:solidFill>
                <a:srgbClr val="FFFFFF"/>
              </a:solidFill>
              <a:ln w="57150" cmpd="sng">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78" name="Line 83"/>
            <p:cNvSpPr>
              <a:spLocks noChangeShapeType="1"/>
            </p:cNvSpPr>
            <p:nvPr/>
          </p:nvSpPr>
          <p:spPr bwMode="auto">
            <a:xfrm>
              <a:off x="807" y="3025"/>
              <a:ext cx="36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79" name="Line 84"/>
            <p:cNvSpPr>
              <a:spLocks noChangeShapeType="1"/>
            </p:cNvSpPr>
            <p:nvPr/>
          </p:nvSpPr>
          <p:spPr bwMode="auto">
            <a:xfrm flipH="1">
              <a:off x="1114" y="2611"/>
              <a:ext cx="172" cy="17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0" name="Line 85"/>
            <p:cNvSpPr>
              <a:spLocks noChangeShapeType="1"/>
            </p:cNvSpPr>
            <p:nvPr/>
          </p:nvSpPr>
          <p:spPr bwMode="auto">
            <a:xfrm flipH="1">
              <a:off x="1190" y="2634"/>
              <a:ext cx="250" cy="25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1" name="Line 86"/>
            <p:cNvSpPr>
              <a:spLocks noChangeShapeType="1"/>
            </p:cNvSpPr>
            <p:nvPr/>
          </p:nvSpPr>
          <p:spPr bwMode="auto">
            <a:xfrm flipH="1">
              <a:off x="1371" y="2834"/>
              <a:ext cx="66" cy="6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2" name="Line 87"/>
            <p:cNvSpPr>
              <a:spLocks noChangeShapeType="1"/>
            </p:cNvSpPr>
            <p:nvPr/>
          </p:nvSpPr>
          <p:spPr bwMode="auto">
            <a:xfrm flipH="1">
              <a:off x="1117" y="3157"/>
              <a:ext cx="148" cy="15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3" name="Line 88"/>
            <p:cNvSpPr>
              <a:spLocks noChangeShapeType="1"/>
            </p:cNvSpPr>
            <p:nvPr/>
          </p:nvSpPr>
          <p:spPr bwMode="auto">
            <a:xfrm flipH="1">
              <a:off x="893" y="3175"/>
              <a:ext cx="541" cy="53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4" name="Line 89"/>
            <p:cNvSpPr>
              <a:spLocks noChangeShapeType="1"/>
            </p:cNvSpPr>
            <p:nvPr/>
          </p:nvSpPr>
          <p:spPr bwMode="auto">
            <a:xfrm flipH="1">
              <a:off x="975" y="3357"/>
              <a:ext cx="465" cy="46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5" name="Line 90"/>
            <p:cNvSpPr>
              <a:spLocks noChangeShapeType="1"/>
            </p:cNvSpPr>
            <p:nvPr/>
          </p:nvSpPr>
          <p:spPr bwMode="auto">
            <a:xfrm flipH="1">
              <a:off x="1159" y="3538"/>
              <a:ext cx="278" cy="27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6" name="Line 91"/>
            <p:cNvSpPr>
              <a:spLocks noChangeShapeType="1"/>
            </p:cNvSpPr>
            <p:nvPr/>
          </p:nvSpPr>
          <p:spPr bwMode="auto">
            <a:xfrm flipH="1">
              <a:off x="1346" y="3564"/>
              <a:ext cx="254" cy="25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7" name="Line 92"/>
            <p:cNvSpPr>
              <a:spLocks noChangeShapeType="1"/>
            </p:cNvSpPr>
            <p:nvPr/>
          </p:nvSpPr>
          <p:spPr bwMode="auto">
            <a:xfrm flipH="1">
              <a:off x="1549" y="3561"/>
              <a:ext cx="250" cy="25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8" name="Line 93"/>
            <p:cNvSpPr>
              <a:spLocks noChangeShapeType="1"/>
            </p:cNvSpPr>
            <p:nvPr/>
          </p:nvSpPr>
          <p:spPr bwMode="auto">
            <a:xfrm flipH="1">
              <a:off x="1730" y="3344"/>
              <a:ext cx="476" cy="47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89" name="Line 94"/>
            <p:cNvSpPr>
              <a:spLocks noChangeShapeType="1"/>
            </p:cNvSpPr>
            <p:nvPr/>
          </p:nvSpPr>
          <p:spPr bwMode="auto">
            <a:xfrm flipH="1">
              <a:off x="1914" y="3476"/>
              <a:ext cx="341" cy="34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0" name="Line 95"/>
            <p:cNvSpPr>
              <a:spLocks noChangeShapeType="1"/>
            </p:cNvSpPr>
            <p:nvPr/>
          </p:nvSpPr>
          <p:spPr bwMode="auto">
            <a:xfrm flipH="1">
              <a:off x="2101" y="3570"/>
              <a:ext cx="253" cy="25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1" name="Line 96"/>
            <p:cNvSpPr>
              <a:spLocks noChangeShapeType="1"/>
            </p:cNvSpPr>
            <p:nvPr/>
          </p:nvSpPr>
          <p:spPr bwMode="auto">
            <a:xfrm flipH="1">
              <a:off x="2288" y="3686"/>
              <a:ext cx="145" cy="14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2" name="Line 97"/>
            <p:cNvSpPr>
              <a:spLocks noChangeShapeType="1"/>
            </p:cNvSpPr>
            <p:nvPr/>
          </p:nvSpPr>
          <p:spPr bwMode="auto">
            <a:xfrm flipH="1">
              <a:off x="1859" y="3168"/>
              <a:ext cx="347" cy="34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3" name="Line 98"/>
            <p:cNvSpPr>
              <a:spLocks noChangeShapeType="1"/>
            </p:cNvSpPr>
            <p:nvPr/>
          </p:nvSpPr>
          <p:spPr bwMode="auto">
            <a:xfrm flipH="1">
              <a:off x="1866" y="2616"/>
              <a:ext cx="141" cy="14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4" name="Line 99"/>
            <p:cNvSpPr>
              <a:spLocks noChangeShapeType="1"/>
            </p:cNvSpPr>
            <p:nvPr/>
          </p:nvSpPr>
          <p:spPr bwMode="auto">
            <a:xfrm flipH="1">
              <a:off x="1919" y="2616"/>
              <a:ext cx="267" cy="2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5" name="Line 100"/>
            <p:cNvSpPr>
              <a:spLocks noChangeShapeType="1"/>
            </p:cNvSpPr>
            <p:nvPr/>
          </p:nvSpPr>
          <p:spPr bwMode="auto">
            <a:xfrm flipH="1">
              <a:off x="2107" y="2791"/>
              <a:ext cx="99" cy="9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6" name="Line 101"/>
            <p:cNvSpPr>
              <a:spLocks noChangeShapeType="1"/>
            </p:cNvSpPr>
            <p:nvPr/>
          </p:nvSpPr>
          <p:spPr bwMode="auto">
            <a:xfrm flipH="1">
              <a:off x="1865" y="3151"/>
              <a:ext cx="182" cy="17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7" name="Line 102"/>
            <p:cNvSpPr>
              <a:spLocks noChangeShapeType="1"/>
            </p:cNvSpPr>
            <p:nvPr/>
          </p:nvSpPr>
          <p:spPr bwMode="auto">
            <a:xfrm>
              <a:off x="1672" y="2544"/>
              <a:ext cx="133" cy="13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8" name="Line 103"/>
            <p:cNvSpPr>
              <a:spLocks noChangeShapeType="1"/>
            </p:cNvSpPr>
            <p:nvPr/>
          </p:nvSpPr>
          <p:spPr bwMode="auto">
            <a:xfrm>
              <a:off x="1503" y="2545"/>
              <a:ext cx="305" cy="30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99" name="Line 104"/>
            <p:cNvSpPr>
              <a:spLocks noChangeShapeType="1"/>
            </p:cNvSpPr>
            <p:nvPr/>
          </p:nvSpPr>
          <p:spPr bwMode="auto">
            <a:xfrm>
              <a:off x="1503" y="2722"/>
              <a:ext cx="163" cy="16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0" name="Line 105"/>
            <p:cNvSpPr>
              <a:spLocks noChangeShapeType="1"/>
            </p:cNvSpPr>
            <p:nvPr/>
          </p:nvSpPr>
          <p:spPr bwMode="auto">
            <a:xfrm>
              <a:off x="1660" y="3154"/>
              <a:ext cx="151" cy="15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1" name="Line 106"/>
            <p:cNvSpPr>
              <a:spLocks noChangeShapeType="1"/>
            </p:cNvSpPr>
            <p:nvPr/>
          </p:nvSpPr>
          <p:spPr bwMode="auto">
            <a:xfrm>
              <a:off x="1503" y="3177"/>
              <a:ext cx="296" cy="29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2" name="Line 107"/>
            <p:cNvSpPr>
              <a:spLocks noChangeShapeType="1"/>
            </p:cNvSpPr>
            <p:nvPr/>
          </p:nvSpPr>
          <p:spPr bwMode="auto">
            <a:xfrm>
              <a:off x="1503" y="3376"/>
              <a:ext cx="127" cy="12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3" name="Line 108"/>
            <p:cNvSpPr>
              <a:spLocks noChangeShapeType="1"/>
            </p:cNvSpPr>
            <p:nvPr/>
          </p:nvSpPr>
          <p:spPr bwMode="auto">
            <a:xfrm>
              <a:off x="1660" y="2890"/>
              <a:ext cx="0" cy="273"/>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4" name="Line 109"/>
            <p:cNvSpPr>
              <a:spLocks noChangeShapeType="1"/>
            </p:cNvSpPr>
            <p:nvPr/>
          </p:nvSpPr>
          <p:spPr bwMode="auto">
            <a:xfrm>
              <a:off x="2076" y="2884"/>
              <a:ext cx="0" cy="273"/>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5" name="Line 110"/>
            <p:cNvSpPr>
              <a:spLocks noChangeShapeType="1"/>
            </p:cNvSpPr>
            <p:nvPr/>
          </p:nvSpPr>
          <p:spPr bwMode="auto">
            <a:xfrm flipH="1" flipV="1">
              <a:off x="906" y="2702"/>
              <a:ext cx="754" cy="32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6" name="Line 111"/>
            <p:cNvSpPr>
              <a:spLocks noChangeShapeType="1"/>
            </p:cNvSpPr>
            <p:nvPr/>
          </p:nvSpPr>
          <p:spPr bwMode="auto">
            <a:xfrm flipV="1">
              <a:off x="2076" y="2718"/>
              <a:ext cx="532" cy="3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7" name="Text Box 112"/>
            <p:cNvSpPr txBox="1">
              <a:spLocks noChangeArrowheads="1"/>
            </p:cNvSpPr>
            <p:nvPr/>
          </p:nvSpPr>
          <p:spPr bwMode="auto">
            <a:xfrm>
              <a:off x="318" y="2488"/>
              <a:ext cx="65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Ø</a:t>
              </a: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12</a:t>
              </a:r>
              <a:r>
                <a:rPr kumimoji="1" lang="en-US" altLang="zh-CN" sz="1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a:t>
              </a:r>
              <a:r>
                <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a:t>
              </a:r>
              <a:endPar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08" name="Text Box 113"/>
            <p:cNvSpPr txBox="1">
              <a:spLocks noChangeArrowheads="1"/>
            </p:cNvSpPr>
            <p:nvPr/>
          </p:nvSpPr>
          <p:spPr bwMode="auto">
            <a:xfrm>
              <a:off x="643" y="2594"/>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h7 </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09" name="Text Box 114"/>
            <p:cNvSpPr txBox="1">
              <a:spLocks noChangeArrowheads="1"/>
            </p:cNvSpPr>
            <p:nvPr/>
          </p:nvSpPr>
          <p:spPr bwMode="auto">
            <a:xfrm>
              <a:off x="672" y="2428"/>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F9 </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10" name="Text Box 115"/>
            <p:cNvSpPr txBox="1">
              <a:spLocks noChangeArrowheads="1"/>
            </p:cNvSpPr>
            <p:nvPr/>
          </p:nvSpPr>
          <p:spPr bwMode="auto">
            <a:xfrm>
              <a:off x="2296" y="2501"/>
              <a:ext cx="80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Ø</a:t>
              </a: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12</a:t>
              </a:r>
              <a:r>
                <a:rPr kumimoji="1" lang="en-US" altLang="zh-CN" sz="1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 </a:t>
              </a:r>
              <a:r>
                <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a:t>
              </a:r>
              <a:endParaRPr kumimoji="1" lang="en-US" altLang="zh-CN" sz="20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11" name="Text Box 116"/>
            <p:cNvSpPr txBox="1">
              <a:spLocks noChangeArrowheads="1"/>
            </p:cNvSpPr>
            <p:nvPr/>
          </p:nvSpPr>
          <p:spPr bwMode="auto">
            <a:xfrm>
              <a:off x="2703" y="2615"/>
              <a:ext cx="25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h7</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12" name="Text Box 117"/>
            <p:cNvSpPr txBox="1">
              <a:spLocks noChangeArrowheads="1"/>
            </p:cNvSpPr>
            <p:nvPr/>
          </p:nvSpPr>
          <p:spPr bwMode="auto">
            <a:xfrm>
              <a:off x="2724" y="2441"/>
              <a:ext cx="24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800" b="1" i="1"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rPr>
                <a:t>J8</a:t>
              </a:r>
              <a:endParaRPr kumimoji="1" lang="en-US" altLang="zh-CN" sz="1800" b="1" i="0" u="none" strike="noStrike" kern="0" cap="none" spc="0" normalizeH="0" baseline="0" noProof="0">
                <a:ln>
                  <a:noFill/>
                </a:ln>
                <a:solidFill>
                  <a:srgbClr val="000000"/>
                </a:solidFill>
                <a:effectLst/>
                <a:uLnTx/>
                <a:uFillTx/>
                <a:latin typeface="ISOCPEUR" panose="020B0604020202020204" pitchFamily="34" charset="0"/>
                <a:ea typeface="黑体" panose="02010609060101010101" pitchFamily="2" charset="-122"/>
              </a:endParaRPr>
            </a:p>
          </p:txBody>
        </p:sp>
        <p:sp>
          <p:nvSpPr>
            <p:cNvPr id="113" name="Line 118"/>
            <p:cNvSpPr>
              <a:spLocks noChangeShapeType="1"/>
            </p:cNvSpPr>
            <p:nvPr/>
          </p:nvSpPr>
          <p:spPr bwMode="auto">
            <a:xfrm>
              <a:off x="1362" y="3025"/>
              <a:ext cx="1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4" name="Line 119"/>
            <p:cNvSpPr>
              <a:spLocks noChangeShapeType="1"/>
            </p:cNvSpPr>
            <p:nvPr/>
          </p:nvSpPr>
          <p:spPr bwMode="auto">
            <a:xfrm>
              <a:off x="1242" y="3024"/>
              <a:ext cx="6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5" name="Line 120"/>
            <p:cNvSpPr>
              <a:spLocks noChangeShapeType="1"/>
            </p:cNvSpPr>
            <p:nvPr/>
          </p:nvSpPr>
          <p:spPr bwMode="auto">
            <a:xfrm>
              <a:off x="1710" y="3025"/>
              <a:ext cx="28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6" name="Line 121"/>
            <p:cNvSpPr>
              <a:spLocks noChangeShapeType="1"/>
            </p:cNvSpPr>
            <p:nvPr/>
          </p:nvSpPr>
          <p:spPr bwMode="auto">
            <a:xfrm>
              <a:off x="2265" y="3025"/>
              <a:ext cx="1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7" name="Line 122"/>
            <p:cNvSpPr>
              <a:spLocks noChangeShapeType="1"/>
            </p:cNvSpPr>
            <p:nvPr/>
          </p:nvSpPr>
          <p:spPr bwMode="auto">
            <a:xfrm>
              <a:off x="2145" y="3024"/>
              <a:ext cx="6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25" name="Text Box 123"/>
          <p:cNvSpPr txBox="1">
            <a:spLocks noChangeArrowheads="1"/>
          </p:cNvSpPr>
          <p:nvPr/>
        </p:nvSpPr>
        <p:spPr bwMode="auto">
          <a:xfrm>
            <a:off x="7483832" y="1706077"/>
            <a:ext cx="612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dirty="0">
                <a:solidFill>
                  <a:srgbClr val="C00000"/>
                </a:solidFill>
                <a:latin typeface="ISOCPEUR" panose="020B0604020202020204" pitchFamily="34" charset="0"/>
                <a:ea typeface="黑体" panose="02010609060101010101" pitchFamily="2" charset="-122"/>
              </a:rPr>
              <a:t>H8 </a:t>
            </a:r>
            <a:endParaRPr kumimoji="1" lang="en-US" altLang="zh-CN" sz="2400" b="1" i="1" dirty="0">
              <a:solidFill>
                <a:srgbClr val="C00000"/>
              </a:solidFill>
              <a:latin typeface="ISOCPEUR" panose="020B0604020202020204" pitchFamily="34" charset="0"/>
              <a:ea typeface="黑体" panose="02010609060101010101" pitchFamily="2" charset="-122"/>
            </a:endParaRPr>
          </a:p>
        </p:txBody>
      </p:sp>
      <p:sp>
        <p:nvSpPr>
          <p:cNvPr id="126" name="Text Box 124"/>
          <p:cNvSpPr txBox="1">
            <a:spLocks noChangeArrowheads="1"/>
          </p:cNvSpPr>
          <p:nvPr/>
        </p:nvSpPr>
        <p:spPr bwMode="auto">
          <a:xfrm>
            <a:off x="7499707" y="4642952"/>
            <a:ext cx="59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C00000"/>
                </a:solidFill>
                <a:latin typeface="ISOCPEUR" panose="020B0604020202020204" pitchFamily="34" charset="0"/>
                <a:ea typeface="黑体" panose="02010609060101010101" pitchFamily="2" charset="-122"/>
              </a:rPr>
              <a:t>h7 </a:t>
            </a:r>
            <a:endParaRPr kumimoji="1" lang="en-US" altLang="zh-CN" sz="2400" b="1" i="1">
              <a:solidFill>
                <a:srgbClr val="C00000"/>
              </a:solidFill>
              <a:latin typeface="ISOCPEUR" panose="020B0604020202020204" pitchFamily="34" charset="0"/>
              <a:ea typeface="黑体" panose="02010609060101010101" pitchFamily="2" charset="-122"/>
            </a:endParaRPr>
          </a:p>
        </p:txBody>
      </p:sp>
      <p:sp>
        <p:nvSpPr>
          <p:cNvPr id="127" name="Text Box 125"/>
          <p:cNvSpPr txBox="1">
            <a:spLocks noChangeArrowheads="1"/>
          </p:cNvSpPr>
          <p:nvPr/>
        </p:nvSpPr>
        <p:spPr bwMode="auto">
          <a:xfrm>
            <a:off x="7509232" y="5525602"/>
            <a:ext cx="59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C00000"/>
                </a:solidFill>
                <a:latin typeface="ISOCPEUR" panose="020B0604020202020204" pitchFamily="34" charset="0"/>
                <a:ea typeface="黑体" panose="02010609060101010101" pitchFamily="2" charset="-122"/>
              </a:rPr>
              <a:t>h7 </a:t>
            </a:r>
            <a:endParaRPr kumimoji="1" lang="en-US" altLang="zh-CN" sz="2400" b="1" i="1">
              <a:solidFill>
                <a:srgbClr val="C00000"/>
              </a:solidFill>
              <a:latin typeface="ISOCPEUR" panose="020B0604020202020204" pitchFamily="34" charset="0"/>
              <a:ea typeface="黑体" panose="02010609060101010101" pitchFamily="2" charset="-122"/>
            </a:endParaRPr>
          </a:p>
        </p:txBody>
      </p:sp>
      <p:sp>
        <p:nvSpPr>
          <p:cNvPr id="128" name="Text Box 126"/>
          <p:cNvSpPr txBox="1">
            <a:spLocks noChangeArrowheads="1"/>
          </p:cNvSpPr>
          <p:nvPr/>
        </p:nvSpPr>
        <p:spPr bwMode="auto">
          <a:xfrm>
            <a:off x="7490182" y="2650639"/>
            <a:ext cx="612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kumimoji="1" lang="en-US" altLang="zh-CN" sz="2400" b="1" i="1">
                <a:solidFill>
                  <a:srgbClr val="C00000"/>
                </a:solidFill>
                <a:latin typeface="ISOCPEUR" panose="020B0604020202020204" pitchFamily="34" charset="0"/>
                <a:ea typeface="黑体" panose="02010609060101010101" pitchFamily="2" charset="-122"/>
              </a:rPr>
              <a:t>H8 </a:t>
            </a:r>
            <a:endParaRPr kumimoji="1" lang="en-US" altLang="zh-CN" sz="2400" b="1" i="1">
              <a:solidFill>
                <a:srgbClr val="C00000"/>
              </a:solidFill>
              <a:latin typeface="ISOCPEUR" panose="020B0604020202020204" pitchFamily="34" charset="0"/>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wipe(down)">
                                      <p:cBhvr>
                                        <p:cTn id="12" dur="5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28"/>
                                        </p:tgtEl>
                                        <p:attrNameLst>
                                          <p:attrName>style.visibility</p:attrName>
                                        </p:attrNameLst>
                                      </p:cBhvr>
                                      <p:to>
                                        <p:strVal val="visible"/>
                                      </p:to>
                                    </p:set>
                                    <p:animEffect transition="in" filter="wipe(down)">
                                      <p:cBhvr>
                                        <p:cTn id="33" dur="500"/>
                                        <p:tgtEl>
                                          <p:spTgt spid="128"/>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26"/>
                                        </p:tgtEl>
                                        <p:attrNameLst>
                                          <p:attrName>style.visibility</p:attrName>
                                        </p:attrNameLst>
                                      </p:cBhvr>
                                      <p:to>
                                        <p:strVal val="visible"/>
                                      </p:to>
                                    </p:set>
                                    <p:animEffect transition="in" filter="wipe(down)">
                                      <p:cBhvr>
                                        <p:cTn id="54" dur="500"/>
                                        <p:tgtEl>
                                          <p:spTgt spid="126"/>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p:cTn id="59" dur="500" fill="hold"/>
                                        <p:tgtEl>
                                          <p:spTgt spid="26"/>
                                        </p:tgtEl>
                                        <p:attrNameLst>
                                          <p:attrName>ppt_w</p:attrName>
                                        </p:attrNameLst>
                                      </p:cBhvr>
                                      <p:tavLst>
                                        <p:tav tm="0">
                                          <p:val>
                                            <p:fltVal val="0"/>
                                          </p:val>
                                        </p:tav>
                                        <p:tav tm="100000">
                                          <p:val>
                                            <p:strVal val="#ppt_w"/>
                                          </p:val>
                                        </p:tav>
                                      </p:tavLst>
                                    </p:anim>
                                    <p:anim calcmode="lin" valueType="num">
                                      <p:cBhvr>
                                        <p:cTn id="60" dur="500" fill="hold"/>
                                        <p:tgtEl>
                                          <p:spTgt spid="26"/>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27"/>
                                        </p:tgtEl>
                                        <p:attrNameLst>
                                          <p:attrName>style.visibility</p:attrName>
                                        </p:attrNameLst>
                                      </p:cBhvr>
                                      <p:to>
                                        <p:strVal val="visible"/>
                                      </p:to>
                                    </p:set>
                                    <p:animEffect transition="in" filter="wipe(down)">
                                      <p:cBhvr>
                                        <p:cTn id="75" dur="500"/>
                                        <p:tgtEl>
                                          <p:spTgt spid="127"/>
                                        </p:tgtEl>
                                      </p:cBhvr>
                                    </p:animEffect>
                                  </p:childTnLst>
                                </p:cTn>
                              </p:par>
                            </p:childTnLst>
                          </p:cTn>
                        </p:par>
                      </p:childTnLst>
                    </p:cTn>
                  </p:par>
                  <p:par>
                    <p:cTn id="76" fill="hold">
                      <p:stCondLst>
                        <p:cond delay="indefinite"/>
                      </p:stCondLst>
                      <p:childTnLst>
                        <p:par>
                          <p:cTn id="77" fill="hold">
                            <p:stCondLst>
                              <p:cond delay="0"/>
                            </p:stCondLst>
                            <p:childTnLst>
                              <p:par>
                                <p:cTn id="78" presetID="23" presetClass="entr" presetSubtype="16"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anim calcmode="lin" valueType="num">
                                      <p:cBhvr>
                                        <p:cTn id="80" dur="500" fill="hold"/>
                                        <p:tgtEl>
                                          <p:spTgt spid="27"/>
                                        </p:tgtEl>
                                        <p:attrNameLst>
                                          <p:attrName>ppt_w</p:attrName>
                                        </p:attrNameLst>
                                      </p:cBhvr>
                                      <p:tavLst>
                                        <p:tav tm="0">
                                          <p:val>
                                            <p:fltVal val="0"/>
                                          </p:val>
                                        </p:tav>
                                        <p:tav tm="100000">
                                          <p:val>
                                            <p:strVal val="#ppt_w"/>
                                          </p:val>
                                        </p:tav>
                                      </p:tavLst>
                                    </p:anim>
                                    <p:anim calcmode="lin" valueType="num">
                                      <p:cBhvr>
                                        <p:cTn id="81"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left)">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utoUpdateAnimBg="0"/>
      <p:bldP spid="12" grpId="0"/>
      <p:bldP spid="14" grpId="0"/>
      <p:bldP spid="24" grpId="0" autoUpdateAnimBg="0"/>
      <p:bldP spid="25" grpId="0"/>
      <p:bldP spid="26" grpId="0"/>
      <p:bldP spid="27" grpId="0"/>
      <p:bldP spid="125" grpId="0"/>
      <p:bldP spid="126" grpId="0"/>
      <p:bldP spid="127" grpId="0"/>
      <p:bldP spid="12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56" name="Text Box 5"/>
          <p:cNvSpPr txBox="1">
            <a:spLocks noChangeArrowheads="1"/>
          </p:cNvSpPr>
          <p:nvPr/>
        </p:nvSpPr>
        <p:spPr bwMode="auto">
          <a:xfrm>
            <a:off x="526838" y="1865113"/>
            <a:ext cx="26965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几何公差的概念</a:t>
            </a:r>
            <a:endParaRPr lang="zh-CN" altLang="en-US" dirty="0"/>
          </a:p>
        </p:txBody>
      </p:sp>
      <p:sp>
        <p:nvSpPr>
          <p:cNvPr id="57" name="Text Box 6"/>
          <p:cNvSpPr txBox="1">
            <a:spLocks noChangeArrowheads="1"/>
          </p:cNvSpPr>
          <p:nvPr/>
        </p:nvSpPr>
        <p:spPr bwMode="auto">
          <a:xfrm>
            <a:off x="1622157" y="2344414"/>
            <a:ext cx="6924675" cy="5355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要素：零件上的特定部位，如点、线或面。</a:t>
            </a:r>
            <a:endParaRPr kumimoji="1" lang="zh-CN" altLang="en-US" sz="2400" dirty="0">
              <a:solidFill>
                <a:srgbClr val="000000"/>
              </a:solidFill>
              <a:latin typeface="黑体" panose="02010609060101010101" pitchFamily="2" charset="-122"/>
              <a:ea typeface="黑体" panose="02010609060101010101" pitchFamily="2" charset="-122"/>
            </a:endParaRPr>
          </a:p>
        </p:txBody>
      </p:sp>
      <p:grpSp>
        <p:nvGrpSpPr>
          <p:cNvPr id="58" name="Group 55"/>
          <p:cNvGrpSpPr/>
          <p:nvPr/>
        </p:nvGrpSpPr>
        <p:grpSpPr bwMode="auto">
          <a:xfrm>
            <a:off x="1812759" y="2879945"/>
            <a:ext cx="2622550" cy="3997325"/>
            <a:chOff x="882" y="322"/>
            <a:chExt cx="1652" cy="2518"/>
          </a:xfrm>
        </p:grpSpPr>
        <p:grpSp>
          <p:nvGrpSpPr>
            <p:cNvPr id="59" name="Group 39"/>
            <p:cNvGrpSpPr/>
            <p:nvPr/>
          </p:nvGrpSpPr>
          <p:grpSpPr bwMode="auto">
            <a:xfrm>
              <a:off x="882" y="1395"/>
              <a:ext cx="716" cy="372"/>
              <a:chOff x="882" y="1615"/>
              <a:chExt cx="716" cy="372"/>
            </a:xfrm>
          </p:grpSpPr>
          <p:sp>
            <p:nvSpPr>
              <p:cNvPr id="68" name="Line 8"/>
              <p:cNvSpPr>
                <a:spLocks noChangeShapeType="1"/>
              </p:cNvSpPr>
              <p:nvPr/>
            </p:nvSpPr>
            <p:spPr bwMode="auto">
              <a:xfrm>
                <a:off x="882" y="1800"/>
                <a:ext cx="71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9" name="Line 9"/>
              <p:cNvSpPr>
                <a:spLocks noChangeShapeType="1"/>
              </p:cNvSpPr>
              <p:nvPr/>
            </p:nvSpPr>
            <p:spPr bwMode="auto">
              <a:xfrm>
                <a:off x="934" y="1648"/>
                <a:ext cx="0" cy="30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0" name="Line 10"/>
              <p:cNvSpPr>
                <a:spLocks noChangeShapeType="1"/>
              </p:cNvSpPr>
              <p:nvPr/>
            </p:nvSpPr>
            <p:spPr bwMode="auto">
              <a:xfrm>
                <a:off x="930" y="1941"/>
                <a:ext cx="629" cy="3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1" name="Line 11"/>
              <p:cNvSpPr>
                <a:spLocks noChangeShapeType="1"/>
              </p:cNvSpPr>
              <p:nvPr/>
            </p:nvSpPr>
            <p:spPr bwMode="auto">
              <a:xfrm flipV="1">
                <a:off x="1557" y="1615"/>
                <a:ext cx="0" cy="37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2" name="Line 34"/>
              <p:cNvSpPr>
                <a:spLocks noChangeShapeType="1"/>
              </p:cNvSpPr>
              <p:nvPr/>
            </p:nvSpPr>
            <p:spPr bwMode="auto">
              <a:xfrm rot="10800000" flipH="1">
                <a:off x="933" y="1624"/>
                <a:ext cx="635" cy="3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3" name="Line 35"/>
              <p:cNvSpPr>
                <a:spLocks noChangeShapeType="1"/>
              </p:cNvSpPr>
              <p:nvPr/>
            </p:nvSpPr>
            <p:spPr bwMode="auto">
              <a:xfrm>
                <a:off x="1200" y="1774"/>
                <a:ext cx="0" cy="52"/>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4" name="Line 36"/>
              <p:cNvSpPr>
                <a:spLocks noChangeShapeType="1"/>
              </p:cNvSpPr>
              <p:nvPr/>
            </p:nvSpPr>
            <p:spPr bwMode="auto">
              <a:xfrm>
                <a:off x="1257" y="1779"/>
                <a:ext cx="0" cy="52"/>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60" name="Group 40"/>
            <p:cNvGrpSpPr/>
            <p:nvPr/>
          </p:nvGrpSpPr>
          <p:grpSpPr bwMode="auto">
            <a:xfrm>
              <a:off x="1822" y="322"/>
              <a:ext cx="712" cy="2518"/>
              <a:chOff x="1774" y="542"/>
              <a:chExt cx="712" cy="2518"/>
            </a:xfrm>
          </p:grpSpPr>
          <p:sp>
            <p:nvSpPr>
              <p:cNvPr id="61" name="Line 12"/>
              <p:cNvSpPr>
                <a:spLocks noChangeShapeType="1"/>
              </p:cNvSpPr>
              <p:nvPr/>
            </p:nvSpPr>
            <p:spPr bwMode="auto">
              <a:xfrm>
                <a:off x="1774" y="1801"/>
                <a:ext cx="7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2" name="Line 13"/>
              <p:cNvSpPr>
                <a:spLocks noChangeShapeType="1"/>
              </p:cNvSpPr>
              <p:nvPr/>
            </p:nvSpPr>
            <p:spPr bwMode="auto">
              <a:xfrm>
                <a:off x="1816" y="1652"/>
                <a:ext cx="0" cy="29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3" name="Line 14"/>
              <p:cNvSpPr>
                <a:spLocks noChangeShapeType="1"/>
              </p:cNvSpPr>
              <p:nvPr/>
            </p:nvSpPr>
            <p:spPr bwMode="auto">
              <a:xfrm>
                <a:off x="2445" y="1655"/>
                <a:ext cx="0" cy="29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4" name="Arc 31"/>
              <p:cNvSpPr/>
              <p:nvPr/>
            </p:nvSpPr>
            <p:spPr bwMode="auto">
              <a:xfrm flipH="1" flipV="1">
                <a:off x="1806" y="542"/>
                <a:ext cx="647" cy="1431"/>
              </a:xfrm>
              <a:custGeom>
                <a:avLst/>
                <a:gdLst>
                  <a:gd name="T0" fmla="*/ 0 w 9751"/>
                  <a:gd name="T1" fmla="*/ 0 h 21600"/>
                  <a:gd name="T2" fmla="*/ 0 w 9751"/>
                  <a:gd name="T3" fmla="*/ 0 h 21600"/>
                  <a:gd name="T4" fmla="*/ 0 w 9751"/>
                  <a:gd name="T5" fmla="*/ 0 h 21600"/>
                  <a:gd name="T6" fmla="*/ 0 60000 65536"/>
                  <a:gd name="T7" fmla="*/ 0 60000 65536"/>
                  <a:gd name="T8" fmla="*/ 0 60000 65536"/>
                </a:gdLst>
                <a:ahLst/>
                <a:cxnLst>
                  <a:cxn ang="T6">
                    <a:pos x="T0" y="T1"/>
                  </a:cxn>
                  <a:cxn ang="T7">
                    <a:pos x="T2" y="T3"/>
                  </a:cxn>
                  <a:cxn ang="T8">
                    <a:pos x="T4" y="T5"/>
                  </a:cxn>
                </a:cxnLst>
                <a:rect l="0" t="0" r="r" b="b"/>
                <a:pathLst>
                  <a:path w="9751" h="21600" fill="none" extrusionOk="0">
                    <a:moveTo>
                      <a:pt x="-1" y="522"/>
                    </a:moveTo>
                    <a:cubicBezTo>
                      <a:pt x="1550" y="175"/>
                      <a:pt x="3134" y="-1"/>
                      <a:pt x="4724" y="0"/>
                    </a:cubicBezTo>
                    <a:cubicBezTo>
                      <a:pt x="6417" y="0"/>
                      <a:pt x="8104" y="199"/>
                      <a:pt x="9750" y="593"/>
                    </a:cubicBezTo>
                  </a:path>
                  <a:path w="9751" h="21600" stroke="0" extrusionOk="0">
                    <a:moveTo>
                      <a:pt x="-1" y="522"/>
                    </a:moveTo>
                    <a:cubicBezTo>
                      <a:pt x="1550" y="175"/>
                      <a:pt x="3134" y="-1"/>
                      <a:pt x="4724" y="0"/>
                    </a:cubicBezTo>
                    <a:cubicBezTo>
                      <a:pt x="6417" y="0"/>
                      <a:pt x="8104" y="199"/>
                      <a:pt x="9750" y="593"/>
                    </a:cubicBezTo>
                    <a:lnTo>
                      <a:pt x="4724" y="21600"/>
                    </a:lnTo>
                    <a:lnTo>
                      <a:pt x="-1" y="522"/>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5" name="Arc 32"/>
              <p:cNvSpPr/>
              <p:nvPr/>
            </p:nvSpPr>
            <p:spPr bwMode="auto">
              <a:xfrm rot="10800000" flipH="1" flipV="1">
                <a:off x="1806" y="1629"/>
                <a:ext cx="647" cy="1431"/>
              </a:xfrm>
              <a:custGeom>
                <a:avLst/>
                <a:gdLst>
                  <a:gd name="T0" fmla="*/ 0 w 9751"/>
                  <a:gd name="T1" fmla="*/ 0 h 21600"/>
                  <a:gd name="T2" fmla="*/ 0 w 9751"/>
                  <a:gd name="T3" fmla="*/ 0 h 21600"/>
                  <a:gd name="T4" fmla="*/ 0 w 9751"/>
                  <a:gd name="T5" fmla="*/ 0 h 21600"/>
                  <a:gd name="T6" fmla="*/ 0 60000 65536"/>
                  <a:gd name="T7" fmla="*/ 0 60000 65536"/>
                  <a:gd name="T8" fmla="*/ 0 60000 65536"/>
                </a:gdLst>
                <a:ahLst/>
                <a:cxnLst>
                  <a:cxn ang="T6">
                    <a:pos x="T0" y="T1"/>
                  </a:cxn>
                  <a:cxn ang="T7">
                    <a:pos x="T2" y="T3"/>
                  </a:cxn>
                  <a:cxn ang="T8">
                    <a:pos x="T4" y="T5"/>
                  </a:cxn>
                </a:cxnLst>
                <a:rect l="0" t="0" r="r" b="b"/>
                <a:pathLst>
                  <a:path w="9751" h="21600" fill="none" extrusionOk="0">
                    <a:moveTo>
                      <a:pt x="-1" y="522"/>
                    </a:moveTo>
                    <a:cubicBezTo>
                      <a:pt x="1550" y="175"/>
                      <a:pt x="3134" y="-1"/>
                      <a:pt x="4724" y="0"/>
                    </a:cubicBezTo>
                    <a:cubicBezTo>
                      <a:pt x="6417" y="0"/>
                      <a:pt x="8104" y="199"/>
                      <a:pt x="9750" y="593"/>
                    </a:cubicBezTo>
                  </a:path>
                  <a:path w="9751" h="21600" stroke="0" extrusionOk="0">
                    <a:moveTo>
                      <a:pt x="-1" y="522"/>
                    </a:moveTo>
                    <a:cubicBezTo>
                      <a:pt x="1550" y="175"/>
                      <a:pt x="3134" y="-1"/>
                      <a:pt x="4724" y="0"/>
                    </a:cubicBezTo>
                    <a:cubicBezTo>
                      <a:pt x="6417" y="0"/>
                      <a:pt x="8104" y="199"/>
                      <a:pt x="9750" y="593"/>
                    </a:cubicBezTo>
                    <a:lnTo>
                      <a:pt x="4724" y="21600"/>
                    </a:lnTo>
                    <a:lnTo>
                      <a:pt x="-1" y="522"/>
                    </a:lnTo>
                    <a:close/>
                  </a:path>
                </a:pathLst>
              </a:cu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6" name="Line 37"/>
              <p:cNvSpPr>
                <a:spLocks noChangeShapeType="1"/>
              </p:cNvSpPr>
              <p:nvPr/>
            </p:nvSpPr>
            <p:spPr bwMode="auto">
              <a:xfrm>
                <a:off x="2087" y="1775"/>
                <a:ext cx="0" cy="52"/>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67" name="Line 38"/>
              <p:cNvSpPr>
                <a:spLocks noChangeShapeType="1"/>
              </p:cNvSpPr>
              <p:nvPr/>
            </p:nvSpPr>
            <p:spPr bwMode="auto">
              <a:xfrm>
                <a:off x="2144" y="1780"/>
                <a:ext cx="0" cy="52"/>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75" name="Group 47"/>
          <p:cNvGrpSpPr/>
          <p:nvPr/>
        </p:nvGrpSpPr>
        <p:grpSpPr bwMode="auto">
          <a:xfrm>
            <a:off x="5290077" y="4826602"/>
            <a:ext cx="1306512" cy="542925"/>
            <a:chOff x="2972" y="1628"/>
            <a:chExt cx="823" cy="342"/>
          </a:xfrm>
        </p:grpSpPr>
        <p:sp>
          <p:nvSpPr>
            <p:cNvPr id="76" name="Line 15"/>
            <p:cNvSpPr>
              <a:spLocks noChangeShapeType="1"/>
            </p:cNvSpPr>
            <p:nvPr/>
          </p:nvSpPr>
          <p:spPr bwMode="auto">
            <a:xfrm>
              <a:off x="2972" y="1826"/>
              <a:ext cx="35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7" name="Line 16"/>
            <p:cNvSpPr>
              <a:spLocks noChangeShapeType="1"/>
            </p:cNvSpPr>
            <p:nvPr/>
          </p:nvSpPr>
          <p:spPr bwMode="auto">
            <a:xfrm>
              <a:off x="3252" y="1800"/>
              <a:ext cx="54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8" name="Line 17"/>
            <p:cNvSpPr>
              <a:spLocks noChangeShapeType="1"/>
            </p:cNvSpPr>
            <p:nvPr/>
          </p:nvSpPr>
          <p:spPr bwMode="auto">
            <a:xfrm flipH="1">
              <a:off x="3014" y="1707"/>
              <a:ext cx="283"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9" name="Line 18"/>
            <p:cNvSpPr>
              <a:spLocks noChangeShapeType="1"/>
            </p:cNvSpPr>
            <p:nvPr/>
          </p:nvSpPr>
          <p:spPr bwMode="auto">
            <a:xfrm>
              <a:off x="3024" y="1696"/>
              <a:ext cx="0" cy="25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0" name="Line 19"/>
            <p:cNvSpPr>
              <a:spLocks noChangeShapeType="1"/>
            </p:cNvSpPr>
            <p:nvPr/>
          </p:nvSpPr>
          <p:spPr bwMode="auto">
            <a:xfrm>
              <a:off x="3017" y="1943"/>
              <a:ext cx="27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1" name="Rectangle 29"/>
            <p:cNvSpPr>
              <a:spLocks noChangeArrowheads="1"/>
            </p:cNvSpPr>
            <p:nvPr/>
          </p:nvSpPr>
          <p:spPr bwMode="auto">
            <a:xfrm>
              <a:off x="3291" y="1628"/>
              <a:ext cx="458" cy="342"/>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2" name="Line 41"/>
            <p:cNvSpPr>
              <a:spLocks noChangeShapeType="1"/>
            </p:cNvSpPr>
            <p:nvPr/>
          </p:nvSpPr>
          <p:spPr bwMode="auto">
            <a:xfrm>
              <a:off x="3116" y="1800"/>
              <a:ext cx="0" cy="5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3" name="Line 42"/>
            <p:cNvSpPr>
              <a:spLocks noChangeShapeType="1"/>
            </p:cNvSpPr>
            <p:nvPr/>
          </p:nvSpPr>
          <p:spPr bwMode="auto">
            <a:xfrm>
              <a:off x="3175" y="1801"/>
              <a:ext cx="0" cy="5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4" name="Line 43"/>
            <p:cNvSpPr>
              <a:spLocks noChangeShapeType="1"/>
            </p:cNvSpPr>
            <p:nvPr/>
          </p:nvSpPr>
          <p:spPr bwMode="auto">
            <a:xfrm>
              <a:off x="3479" y="1773"/>
              <a:ext cx="0" cy="5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5" name="Line 44"/>
            <p:cNvSpPr>
              <a:spLocks noChangeShapeType="1"/>
            </p:cNvSpPr>
            <p:nvPr/>
          </p:nvSpPr>
          <p:spPr bwMode="auto">
            <a:xfrm>
              <a:off x="3538" y="1774"/>
              <a:ext cx="0" cy="5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86" name="Text Box 52"/>
          <p:cNvSpPr txBox="1">
            <a:spLocks noChangeArrowheads="1"/>
          </p:cNvSpPr>
          <p:nvPr/>
        </p:nvSpPr>
        <p:spPr bwMode="auto">
          <a:xfrm>
            <a:off x="1951655" y="5627942"/>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000000"/>
                </a:solidFill>
                <a:latin typeface="黑体" panose="02010609060101010101" pitchFamily="2" charset="-122"/>
                <a:ea typeface="黑体" panose="02010609060101010101" pitchFamily="2" charset="-122"/>
              </a:rPr>
              <a:t>圆柱的形状误差</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87" name="Text Box 53"/>
          <p:cNvSpPr txBox="1">
            <a:spLocks noChangeArrowheads="1"/>
          </p:cNvSpPr>
          <p:nvPr/>
        </p:nvSpPr>
        <p:spPr bwMode="auto">
          <a:xfrm>
            <a:off x="4759068" y="5627942"/>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000000"/>
                </a:solidFill>
                <a:latin typeface="黑体" panose="02010609060101010101" pitchFamily="2" charset="-122"/>
                <a:ea typeface="黑体" panose="02010609060101010101" pitchFamily="2" charset="-122"/>
              </a:rPr>
              <a:t>轴线的位置误差</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88" name="Text Box 54"/>
          <p:cNvSpPr txBox="1">
            <a:spLocks noChangeArrowheads="1"/>
          </p:cNvSpPr>
          <p:nvPr/>
        </p:nvSpPr>
        <p:spPr bwMode="auto">
          <a:xfrm>
            <a:off x="7375981" y="5627942"/>
            <a:ext cx="3262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400" dirty="0">
                <a:solidFill>
                  <a:srgbClr val="000000"/>
                </a:solidFill>
                <a:latin typeface="黑体" panose="02010609060101010101" pitchFamily="2" charset="-122"/>
                <a:ea typeface="黑体" panose="02010609060101010101" pitchFamily="2" charset="-122"/>
              </a:rPr>
              <a:t>轴线与端面的方向误差</a:t>
            </a:r>
            <a:endParaRPr lang="zh-CN" altLang="en-US" sz="2400" dirty="0">
              <a:solidFill>
                <a:srgbClr val="000000"/>
              </a:solidFill>
              <a:latin typeface="黑体" panose="02010609060101010101" pitchFamily="2" charset="-122"/>
              <a:ea typeface="黑体" panose="02010609060101010101" pitchFamily="2" charset="-122"/>
            </a:endParaRPr>
          </a:p>
        </p:txBody>
      </p:sp>
      <p:sp>
        <p:nvSpPr>
          <p:cNvPr id="89" name="Text Box 56"/>
          <p:cNvSpPr txBox="1">
            <a:spLocks noChangeArrowheads="1"/>
          </p:cNvSpPr>
          <p:nvPr/>
        </p:nvSpPr>
        <p:spPr bwMode="auto">
          <a:xfrm>
            <a:off x="2537728" y="2814673"/>
            <a:ext cx="5870575" cy="9787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组成要素：如圆柱体的外表面、端面</a:t>
            </a:r>
            <a:endParaRPr kumimoji="1" lang="en-US" altLang="zh-CN" sz="2400" dirty="0">
              <a:solidFill>
                <a:srgbClr val="000000"/>
              </a:solidFill>
              <a:latin typeface="黑体" panose="02010609060101010101" pitchFamily="2" charset="-122"/>
              <a:ea typeface="黑体" panose="02010609060101010101" pitchFamily="2" charset="-122"/>
            </a:endParaRPr>
          </a:p>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导出要素：如中心线、中心面</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90" name="Text Box 57"/>
          <p:cNvSpPr txBox="1">
            <a:spLocks noChangeArrowheads="1"/>
          </p:cNvSpPr>
          <p:nvPr/>
        </p:nvSpPr>
        <p:spPr bwMode="auto">
          <a:xfrm>
            <a:off x="1333231" y="3828445"/>
            <a:ext cx="8877569" cy="5355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en-US" altLang="zh-CN" sz="2400" dirty="0">
                <a:solidFill>
                  <a:srgbClr val="000000"/>
                </a:solidFill>
                <a:latin typeface="黑体" panose="02010609060101010101" pitchFamily="2" charset="-122"/>
                <a:ea typeface="黑体" panose="02010609060101010101" pitchFamily="2" charset="-122"/>
              </a:rPr>
              <a:t>  </a:t>
            </a:r>
            <a:r>
              <a:rPr kumimoji="1" lang="zh-CN" altLang="en-US" sz="2400" dirty="0">
                <a:solidFill>
                  <a:srgbClr val="000000"/>
                </a:solidFill>
                <a:latin typeface="黑体" panose="02010609060101010101" pitchFamily="2" charset="-122"/>
                <a:ea typeface="黑体" panose="02010609060101010101" pitchFamily="2" charset="-122"/>
              </a:rPr>
              <a:t>零件加工后实际要素可能会出现形状、方向或位置的误差，如：</a:t>
            </a:r>
            <a:endParaRPr kumimoji="1" lang="zh-CN" altLang="en-US" sz="2400" dirty="0">
              <a:solidFill>
                <a:srgbClr val="000000"/>
              </a:solidFill>
              <a:latin typeface="黑体" panose="02010609060101010101" pitchFamily="2" charset="-122"/>
              <a:ea typeface="黑体" panose="02010609060101010101" pitchFamily="2" charset="-122"/>
            </a:endParaRPr>
          </a:p>
        </p:txBody>
      </p:sp>
      <p:grpSp>
        <p:nvGrpSpPr>
          <p:cNvPr id="91" name="组合 90"/>
          <p:cNvGrpSpPr/>
          <p:nvPr/>
        </p:nvGrpSpPr>
        <p:grpSpPr bwMode="auto">
          <a:xfrm>
            <a:off x="8221384" y="4798027"/>
            <a:ext cx="1289050" cy="604838"/>
            <a:chOff x="3707904" y="3285222"/>
            <a:chExt cx="1289051" cy="604348"/>
          </a:xfrm>
        </p:grpSpPr>
        <p:sp>
          <p:nvSpPr>
            <p:cNvPr id="92" name="Line 20"/>
            <p:cNvSpPr>
              <a:spLocks noChangeShapeType="1"/>
            </p:cNvSpPr>
            <p:nvPr/>
          </p:nvSpPr>
          <p:spPr bwMode="auto">
            <a:xfrm>
              <a:off x="4131767" y="3572559"/>
              <a:ext cx="86518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3" name="Line 22"/>
            <p:cNvSpPr>
              <a:spLocks noChangeShapeType="1"/>
            </p:cNvSpPr>
            <p:nvPr/>
          </p:nvSpPr>
          <p:spPr bwMode="auto">
            <a:xfrm>
              <a:off x="4187329" y="3304272"/>
              <a:ext cx="74930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4" name="Line 23"/>
            <p:cNvSpPr>
              <a:spLocks noChangeShapeType="1"/>
            </p:cNvSpPr>
            <p:nvPr/>
          </p:nvSpPr>
          <p:spPr bwMode="auto">
            <a:xfrm>
              <a:off x="4930279" y="3285222"/>
              <a:ext cx="0" cy="5778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5" name="Line 24"/>
            <p:cNvSpPr>
              <a:spLocks noChangeShapeType="1"/>
            </p:cNvSpPr>
            <p:nvPr/>
          </p:nvSpPr>
          <p:spPr bwMode="auto">
            <a:xfrm flipH="1">
              <a:off x="4245174" y="3845609"/>
              <a:ext cx="68193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96" name="组合 90"/>
            <p:cNvGrpSpPr/>
            <p:nvPr/>
          </p:nvGrpSpPr>
          <p:grpSpPr bwMode="auto">
            <a:xfrm rot="-323265">
              <a:off x="3707904" y="3310133"/>
              <a:ext cx="520701" cy="579437"/>
              <a:chOff x="3707904" y="3285222"/>
              <a:chExt cx="520701" cy="579437"/>
            </a:xfrm>
          </p:grpSpPr>
          <p:sp>
            <p:nvSpPr>
              <p:cNvPr id="101" name="Line 21"/>
              <p:cNvSpPr>
                <a:spLocks noChangeShapeType="1"/>
              </p:cNvSpPr>
              <p:nvPr/>
            </p:nvSpPr>
            <p:spPr bwMode="auto">
              <a:xfrm flipV="1">
                <a:off x="3707904" y="3575912"/>
                <a:ext cx="510602" cy="775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2" name="Line 25"/>
              <p:cNvSpPr>
                <a:spLocks noChangeShapeType="1"/>
              </p:cNvSpPr>
              <p:nvPr/>
            </p:nvSpPr>
            <p:spPr bwMode="auto">
              <a:xfrm flipH="1" flipV="1">
                <a:off x="4196854" y="3285222"/>
                <a:ext cx="22225" cy="57943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3" name="Line 26"/>
              <p:cNvSpPr>
                <a:spLocks noChangeShapeType="1"/>
              </p:cNvSpPr>
              <p:nvPr/>
            </p:nvSpPr>
            <p:spPr bwMode="auto">
              <a:xfrm>
                <a:off x="3768229" y="3380472"/>
                <a:ext cx="12700" cy="39846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4" name="Line 27"/>
              <p:cNvSpPr>
                <a:spLocks noChangeShapeType="1"/>
              </p:cNvSpPr>
              <p:nvPr/>
            </p:nvSpPr>
            <p:spPr bwMode="auto">
              <a:xfrm flipV="1">
                <a:off x="3766642" y="3759884"/>
                <a:ext cx="461963" cy="476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5" name="Line 28"/>
              <p:cNvSpPr>
                <a:spLocks noChangeShapeType="1"/>
              </p:cNvSpPr>
              <p:nvPr/>
            </p:nvSpPr>
            <p:spPr bwMode="auto">
              <a:xfrm flipV="1">
                <a:off x="3755529" y="3391584"/>
                <a:ext cx="461963" cy="476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97" name="Line 45"/>
            <p:cNvSpPr>
              <a:spLocks noChangeShapeType="1"/>
            </p:cNvSpPr>
            <p:nvPr/>
          </p:nvSpPr>
          <p:spPr bwMode="auto">
            <a:xfrm>
              <a:off x="4514354" y="3532872"/>
              <a:ext cx="0" cy="79375"/>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8" name="Line 46"/>
            <p:cNvSpPr>
              <a:spLocks noChangeShapeType="1"/>
            </p:cNvSpPr>
            <p:nvPr/>
          </p:nvSpPr>
          <p:spPr bwMode="auto">
            <a:xfrm>
              <a:off x="4608017" y="3534459"/>
              <a:ext cx="0" cy="79375"/>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9" name="Line 48"/>
            <p:cNvSpPr>
              <a:spLocks noChangeShapeType="1"/>
            </p:cNvSpPr>
            <p:nvPr/>
          </p:nvSpPr>
          <p:spPr bwMode="auto">
            <a:xfrm>
              <a:off x="3920629" y="3532872"/>
              <a:ext cx="6350" cy="8890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0" name="Line 49"/>
            <p:cNvSpPr>
              <a:spLocks noChangeShapeType="1"/>
            </p:cNvSpPr>
            <p:nvPr/>
          </p:nvSpPr>
          <p:spPr bwMode="auto">
            <a:xfrm>
              <a:off x="4011117" y="3547159"/>
              <a:ext cx="6350" cy="88900"/>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06" name="Text Box 4"/>
          <p:cNvSpPr txBox="1">
            <a:spLocks noChangeArrowheads="1"/>
          </p:cNvSpPr>
          <p:nvPr/>
        </p:nvSpPr>
        <p:spPr bwMode="auto">
          <a:xfrm>
            <a:off x="306971" y="1245139"/>
            <a:ext cx="20826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457200" indent="-457200" eaLnBrk="1" hangingPunct="1">
              <a:buFont typeface="Wingdings" panose="05000000000000000000" pitchFamily="2" charset="2"/>
              <a:buChar char="n"/>
              <a:defRPr kumimoji="1" sz="2800" b="1">
                <a:solidFill>
                  <a:srgbClr val="000000"/>
                </a:solidFill>
                <a:latin typeface="微软雅黑" panose="020B0503020204020204" pitchFamily="34" charset="-122"/>
                <a:ea typeface="微软雅黑" panose="020B0503020204020204" pitchFamily="34" charset="-122"/>
              </a:defRPr>
            </a:lvl1pPr>
            <a:lvl2pPr marL="742950" indent="-285750" eaLnBrk="0" hangingPunct="0">
              <a:defRPr kumimoji="1" sz="2400">
                <a:latin typeface="Tahoma" panose="020B0604030504040204" pitchFamily="34" charset="0"/>
                <a:ea typeface="宋体" panose="02010600030101010101" pitchFamily="2" charset="-122"/>
              </a:defRPr>
            </a:lvl2pPr>
            <a:lvl3pPr marL="1143000" indent="-228600" eaLnBrk="0" hangingPunct="0">
              <a:defRPr kumimoji="1" sz="2400">
                <a:latin typeface="Tahoma" panose="020B0604030504040204" pitchFamily="34" charset="0"/>
                <a:ea typeface="宋体" panose="02010600030101010101" pitchFamily="2" charset="-122"/>
              </a:defRPr>
            </a:lvl3pPr>
            <a:lvl4pPr marL="1600200" indent="-228600" eaLnBrk="0" hangingPunct="0">
              <a:defRPr kumimoji="1" sz="2400">
                <a:latin typeface="Tahoma" panose="020B0604030504040204" pitchFamily="34" charset="0"/>
                <a:ea typeface="宋体" panose="02010600030101010101" pitchFamily="2" charset="-122"/>
              </a:defRPr>
            </a:lvl4pPr>
            <a:lvl5pPr marL="2057400" indent="-228600" eaLnBrk="0" hangingPunct="0">
              <a:defRPr kumimoji="1" sz="2400">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latin typeface="Tahoma" panose="020B0604030504040204" pitchFamily="34" charset="0"/>
                <a:ea typeface="宋体" panose="02010600030101010101" pitchFamily="2" charset="-122"/>
              </a:defRPr>
            </a:lvl9pPr>
          </a:lstStyle>
          <a:p>
            <a:r>
              <a:rPr lang="zh-CN" altLang="en-US" dirty="0"/>
              <a:t>几何公差</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wipe(left)">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wipe(left)">
                                      <p:cBhvr>
                                        <p:cTn id="22" dur="500"/>
                                        <p:tgtEl>
                                          <p:spTgt spid="9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wipe(left)">
                                      <p:cBhvr>
                                        <p:cTn id="27" dur="500"/>
                                        <p:tgtEl>
                                          <p:spTgt spid="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wipe(left)">
                                      <p:cBhvr>
                                        <p:cTn id="32" dur="500"/>
                                        <p:tgtEl>
                                          <p:spTgt spid="8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wipe(left)">
                                      <p:cBhvr>
                                        <p:cTn id="37" dur="500"/>
                                        <p:tgtEl>
                                          <p:spTgt spid="7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7"/>
                                        </p:tgtEl>
                                        <p:attrNameLst>
                                          <p:attrName>style.visibility</p:attrName>
                                        </p:attrNameLst>
                                      </p:cBhvr>
                                      <p:to>
                                        <p:strVal val="visible"/>
                                      </p:to>
                                    </p:set>
                                    <p:animEffect transition="in" filter="wipe(left)">
                                      <p:cBhvr>
                                        <p:cTn id="42" dur="500"/>
                                        <p:tgtEl>
                                          <p:spTgt spid="8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1"/>
                                        </p:tgtEl>
                                        <p:attrNameLst>
                                          <p:attrName>style.visibility</p:attrName>
                                        </p:attrNameLst>
                                      </p:cBhvr>
                                      <p:to>
                                        <p:strVal val="visible"/>
                                      </p:to>
                                    </p:set>
                                    <p:animEffect transition="in" filter="wipe(left)">
                                      <p:cBhvr>
                                        <p:cTn id="47" dur="500"/>
                                        <p:tgtEl>
                                          <p:spTgt spid="9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8"/>
                                        </p:tgtEl>
                                        <p:attrNameLst>
                                          <p:attrName>style.visibility</p:attrName>
                                        </p:attrNameLst>
                                      </p:cBhvr>
                                      <p:to>
                                        <p:strVal val="visible"/>
                                      </p:to>
                                    </p:set>
                                    <p:animEffect transition="in" filter="wipe(left)">
                                      <p:cBhvr>
                                        <p:cTn id="52"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86" grpId="0"/>
      <p:bldP spid="87" grpId="0"/>
      <p:bldP spid="88" grpId="0"/>
      <p:bldP spid="89" grpId="0"/>
      <p:bldP spid="9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任意多边形 2"/>
          <p:cNvSpPr/>
          <p:nvPr/>
        </p:nvSpPr>
        <p:spPr>
          <a:xfrm>
            <a:off x="3863752" y="1916832"/>
            <a:ext cx="7046913" cy="4114800"/>
          </a:xfrm>
          <a:custGeom>
            <a:avLst/>
            <a:gdLst>
              <a:gd name="connsiteX0" fmla="*/ 3532094 w 7046259"/>
              <a:gd name="connsiteY0" fmla="*/ 17930 h 4114800"/>
              <a:gd name="connsiteX1" fmla="*/ 7046259 w 7046259"/>
              <a:gd name="connsiteY1" fmla="*/ 0 h 4114800"/>
              <a:gd name="connsiteX2" fmla="*/ 7037294 w 7046259"/>
              <a:gd name="connsiteY2" fmla="*/ 4096871 h 4114800"/>
              <a:gd name="connsiteX3" fmla="*/ 0 w 7046259"/>
              <a:gd name="connsiteY3" fmla="*/ 4114800 h 4114800"/>
              <a:gd name="connsiteX4" fmla="*/ 0 w 7046259"/>
              <a:gd name="connsiteY4" fmla="*/ 2259106 h 4114800"/>
              <a:gd name="connsiteX5" fmla="*/ 3532094 w 7046259"/>
              <a:gd name="connsiteY5" fmla="*/ 2250141 h 4114800"/>
              <a:gd name="connsiteX6" fmla="*/ 3532094 w 7046259"/>
              <a:gd name="connsiteY6" fmla="*/ 1793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46259" h="4114800">
                <a:moveTo>
                  <a:pt x="3532094" y="17930"/>
                </a:moveTo>
                <a:lnTo>
                  <a:pt x="7046259" y="0"/>
                </a:lnTo>
                <a:cubicBezTo>
                  <a:pt x="7043271" y="1365624"/>
                  <a:pt x="7040282" y="2731247"/>
                  <a:pt x="7037294" y="4096871"/>
                </a:cubicBezTo>
                <a:lnTo>
                  <a:pt x="0" y="4114800"/>
                </a:lnTo>
                <a:lnTo>
                  <a:pt x="0" y="2259106"/>
                </a:lnTo>
                <a:lnTo>
                  <a:pt x="3532094" y="2250141"/>
                </a:lnTo>
                <a:lnTo>
                  <a:pt x="3532094" y="17930"/>
                </a:lnTo>
                <a:close/>
              </a:path>
            </a:pathLst>
          </a:custGeom>
          <a:solidFill>
            <a:schemeClr val="accent5">
              <a:lumMod val="60000"/>
              <a:lumOff val="40000"/>
              <a:alpha val="50196"/>
            </a:schemeClr>
          </a:soli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3" name="矩形 2"/>
          <p:cNvSpPr/>
          <p:nvPr/>
        </p:nvSpPr>
        <p:spPr>
          <a:xfrm>
            <a:off x="3873277" y="1924770"/>
            <a:ext cx="3502025" cy="2235200"/>
          </a:xfrm>
          <a:prstGeom prst="rect">
            <a:avLst/>
          </a:prstGeom>
          <a:solidFill>
            <a:srgbClr val="BBE0E3">
              <a:alpha val="50196"/>
            </a:srgbClr>
          </a:soli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grpSp>
        <p:nvGrpSpPr>
          <p:cNvPr id="4" name="Group 144"/>
          <p:cNvGrpSpPr/>
          <p:nvPr/>
        </p:nvGrpSpPr>
        <p:grpSpPr bwMode="auto">
          <a:xfrm>
            <a:off x="3847877" y="1094507"/>
            <a:ext cx="7346950" cy="4951413"/>
            <a:chOff x="608" y="381"/>
            <a:chExt cx="4628" cy="3118"/>
          </a:xfrm>
        </p:grpSpPr>
        <p:sp>
          <p:nvSpPr>
            <p:cNvPr id="5" name="Text Box 4"/>
            <p:cNvSpPr txBox="1">
              <a:spLocks noChangeArrowheads="1"/>
            </p:cNvSpPr>
            <p:nvPr/>
          </p:nvSpPr>
          <p:spPr bwMode="auto">
            <a:xfrm>
              <a:off x="1751" y="381"/>
              <a:ext cx="23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00"/>
                  </a:solidFill>
                  <a:effectLst/>
                  <a:uLnTx/>
                  <a:uFillTx/>
                  <a:latin typeface="+mn-ea"/>
                  <a:ea typeface="+mn-ea"/>
                </a:rPr>
                <a:t>几何公差分类及符号</a:t>
              </a:r>
              <a:endParaRPr kumimoji="0" lang="zh-CN" altLang="en-US" sz="2400" b="1" i="0" u="none" strike="noStrike" kern="0" cap="none" spc="0" normalizeH="0" baseline="0" noProof="0" dirty="0">
                <a:ln>
                  <a:noFill/>
                </a:ln>
                <a:solidFill>
                  <a:srgbClr val="000000"/>
                </a:solidFill>
                <a:effectLst/>
                <a:uLnTx/>
                <a:uFillTx/>
                <a:latin typeface="+mn-ea"/>
                <a:ea typeface="+mn-ea"/>
              </a:endParaRPr>
            </a:p>
          </p:txBody>
        </p:sp>
        <p:sp>
          <p:nvSpPr>
            <p:cNvPr id="6" name="Line 5"/>
            <p:cNvSpPr>
              <a:spLocks noChangeShapeType="1"/>
            </p:cNvSpPr>
            <p:nvPr/>
          </p:nvSpPr>
          <p:spPr bwMode="auto">
            <a:xfrm>
              <a:off x="624" y="687"/>
              <a:ext cx="4442"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 name="Line 6"/>
            <p:cNvSpPr>
              <a:spLocks noChangeShapeType="1"/>
            </p:cNvSpPr>
            <p:nvPr/>
          </p:nvSpPr>
          <p:spPr bwMode="auto">
            <a:xfrm>
              <a:off x="630" y="904"/>
              <a:ext cx="44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 name="Line 7"/>
            <p:cNvSpPr>
              <a:spLocks noChangeShapeType="1"/>
            </p:cNvSpPr>
            <p:nvPr/>
          </p:nvSpPr>
          <p:spPr bwMode="auto">
            <a:xfrm>
              <a:off x="624" y="682"/>
              <a:ext cx="0" cy="281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 name="Line 8"/>
            <p:cNvSpPr>
              <a:spLocks noChangeShapeType="1"/>
            </p:cNvSpPr>
            <p:nvPr/>
          </p:nvSpPr>
          <p:spPr bwMode="auto">
            <a:xfrm>
              <a:off x="1214" y="695"/>
              <a:ext cx="0" cy="280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0" name="Line 9"/>
            <p:cNvSpPr>
              <a:spLocks noChangeShapeType="1"/>
            </p:cNvSpPr>
            <p:nvPr/>
          </p:nvSpPr>
          <p:spPr bwMode="auto">
            <a:xfrm>
              <a:off x="1806" y="683"/>
              <a:ext cx="0" cy="281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1" name="Line 10"/>
            <p:cNvSpPr>
              <a:spLocks noChangeShapeType="1"/>
            </p:cNvSpPr>
            <p:nvPr/>
          </p:nvSpPr>
          <p:spPr bwMode="auto">
            <a:xfrm>
              <a:off x="2841" y="692"/>
              <a:ext cx="0" cy="280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2" name="Text Box 11"/>
            <p:cNvSpPr txBox="1">
              <a:spLocks noChangeArrowheads="1"/>
            </p:cNvSpPr>
            <p:nvPr/>
          </p:nvSpPr>
          <p:spPr bwMode="auto">
            <a:xfrm>
              <a:off x="624" y="697"/>
              <a:ext cx="7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mn-ea"/>
                  <a:ea typeface="+mn-ea"/>
                </a:rPr>
                <a:t>公差类型</a:t>
              </a:r>
              <a:endParaRPr kumimoji="0" lang="zh-CN" altLang="en-US" sz="1400" b="1" i="0" u="none" strike="noStrike" kern="0" cap="none" spc="0" normalizeH="0" baseline="0" noProof="0" dirty="0">
                <a:ln>
                  <a:noFill/>
                </a:ln>
                <a:solidFill>
                  <a:srgbClr val="000000"/>
                </a:solidFill>
                <a:effectLst/>
                <a:uLnTx/>
                <a:uFillTx/>
                <a:latin typeface="+mn-ea"/>
                <a:ea typeface="+mn-ea"/>
              </a:endParaRPr>
            </a:p>
          </p:txBody>
        </p:sp>
        <p:sp>
          <p:nvSpPr>
            <p:cNvPr id="13" name="Text Box 12"/>
            <p:cNvSpPr txBox="1">
              <a:spLocks noChangeArrowheads="1"/>
            </p:cNvSpPr>
            <p:nvPr/>
          </p:nvSpPr>
          <p:spPr bwMode="auto">
            <a:xfrm>
              <a:off x="1242" y="700"/>
              <a:ext cx="71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几何特征</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4" name="Text Box 13"/>
            <p:cNvSpPr txBox="1">
              <a:spLocks noChangeArrowheads="1"/>
            </p:cNvSpPr>
            <p:nvPr/>
          </p:nvSpPr>
          <p:spPr bwMode="auto">
            <a:xfrm>
              <a:off x="1883" y="697"/>
              <a:ext cx="60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符号</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5" name="Text Box 14"/>
            <p:cNvSpPr txBox="1">
              <a:spLocks noChangeArrowheads="1"/>
            </p:cNvSpPr>
            <p:nvPr/>
          </p:nvSpPr>
          <p:spPr bwMode="auto">
            <a:xfrm>
              <a:off x="639" y="1474"/>
              <a:ext cx="93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形状公差</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7" name="Text Box 15"/>
            <p:cNvSpPr txBox="1">
              <a:spLocks noChangeArrowheads="1"/>
            </p:cNvSpPr>
            <p:nvPr/>
          </p:nvSpPr>
          <p:spPr bwMode="auto">
            <a:xfrm>
              <a:off x="1249" y="923"/>
              <a:ext cx="6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直 线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8" name="Text Box 16"/>
            <p:cNvSpPr txBox="1">
              <a:spLocks noChangeArrowheads="1"/>
            </p:cNvSpPr>
            <p:nvPr/>
          </p:nvSpPr>
          <p:spPr bwMode="auto">
            <a:xfrm>
              <a:off x="1250" y="1163"/>
              <a:ext cx="7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平 面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9" name="Text Box 17"/>
            <p:cNvSpPr txBox="1">
              <a:spLocks noChangeArrowheads="1"/>
            </p:cNvSpPr>
            <p:nvPr/>
          </p:nvSpPr>
          <p:spPr bwMode="auto">
            <a:xfrm>
              <a:off x="1253" y="1394"/>
              <a:ext cx="67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圆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0" name="Line 18"/>
            <p:cNvSpPr>
              <a:spLocks noChangeShapeType="1"/>
            </p:cNvSpPr>
            <p:nvPr/>
          </p:nvSpPr>
          <p:spPr bwMode="auto">
            <a:xfrm>
              <a:off x="1216" y="1138"/>
              <a:ext cx="106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1" name="Text Box 19"/>
            <p:cNvSpPr txBox="1">
              <a:spLocks noChangeArrowheads="1"/>
            </p:cNvSpPr>
            <p:nvPr/>
          </p:nvSpPr>
          <p:spPr bwMode="auto">
            <a:xfrm>
              <a:off x="1266" y="1625"/>
              <a:ext cx="61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圆 柱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2" name="Text Box 20"/>
            <p:cNvSpPr txBox="1">
              <a:spLocks noChangeArrowheads="1"/>
            </p:cNvSpPr>
            <p:nvPr/>
          </p:nvSpPr>
          <p:spPr bwMode="auto">
            <a:xfrm>
              <a:off x="1233" y="1853"/>
              <a:ext cx="93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线轮廓度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3" name="Text Box 21"/>
            <p:cNvSpPr txBox="1">
              <a:spLocks noChangeArrowheads="1"/>
            </p:cNvSpPr>
            <p:nvPr/>
          </p:nvSpPr>
          <p:spPr bwMode="auto">
            <a:xfrm>
              <a:off x="1233" y="2094"/>
              <a:ext cx="6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面轮廓度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4" name="Line 22"/>
            <p:cNvSpPr>
              <a:spLocks noChangeShapeType="1"/>
            </p:cNvSpPr>
            <p:nvPr/>
          </p:nvSpPr>
          <p:spPr bwMode="auto">
            <a:xfrm>
              <a:off x="625" y="2318"/>
              <a:ext cx="222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25" name="Text Box 23"/>
            <p:cNvSpPr txBox="1">
              <a:spLocks noChangeArrowheads="1"/>
            </p:cNvSpPr>
            <p:nvPr/>
          </p:nvSpPr>
          <p:spPr bwMode="auto">
            <a:xfrm>
              <a:off x="1240" y="2339"/>
              <a:ext cx="61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平 行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6" name="Text Box 24"/>
            <p:cNvSpPr txBox="1">
              <a:spLocks noChangeArrowheads="1"/>
            </p:cNvSpPr>
            <p:nvPr/>
          </p:nvSpPr>
          <p:spPr bwMode="auto">
            <a:xfrm>
              <a:off x="1238" y="2570"/>
              <a:ext cx="6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垂 直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7" name="Text Box 25"/>
            <p:cNvSpPr txBox="1">
              <a:spLocks noChangeArrowheads="1"/>
            </p:cNvSpPr>
            <p:nvPr/>
          </p:nvSpPr>
          <p:spPr bwMode="auto">
            <a:xfrm>
              <a:off x="1245" y="2808"/>
              <a:ext cx="63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倾 斜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8" name="Text Box 26"/>
            <p:cNvSpPr txBox="1">
              <a:spLocks noChangeArrowheads="1"/>
            </p:cNvSpPr>
            <p:nvPr/>
          </p:nvSpPr>
          <p:spPr bwMode="auto">
            <a:xfrm>
              <a:off x="1224" y="3038"/>
              <a:ext cx="6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线轮廓度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29" name="Text Box 27"/>
            <p:cNvSpPr txBox="1">
              <a:spLocks noChangeArrowheads="1"/>
            </p:cNvSpPr>
            <p:nvPr/>
          </p:nvSpPr>
          <p:spPr bwMode="auto">
            <a:xfrm>
              <a:off x="1227" y="3273"/>
              <a:ext cx="74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面轮廓度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30" name="Line 28"/>
            <p:cNvSpPr>
              <a:spLocks noChangeShapeType="1"/>
            </p:cNvSpPr>
            <p:nvPr/>
          </p:nvSpPr>
          <p:spPr bwMode="auto">
            <a:xfrm>
              <a:off x="2280" y="687"/>
              <a:ext cx="0" cy="281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1" name="Line 30"/>
            <p:cNvSpPr>
              <a:spLocks noChangeShapeType="1"/>
            </p:cNvSpPr>
            <p:nvPr/>
          </p:nvSpPr>
          <p:spPr bwMode="auto">
            <a:xfrm>
              <a:off x="1216" y="1373"/>
              <a:ext cx="106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2" name="Line 31"/>
            <p:cNvSpPr>
              <a:spLocks noChangeShapeType="1"/>
            </p:cNvSpPr>
            <p:nvPr/>
          </p:nvSpPr>
          <p:spPr bwMode="auto">
            <a:xfrm>
              <a:off x="1210" y="1610"/>
              <a:ext cx="107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3" name="Line 32"/>
            <p:cNvSpPr>
              <a:spLocks noChangeShapeType="1"/>
            </p:cNvSpPr>
            <p:nvPr/>
          </p:nvSpPr>
          <p:spPr bwMode="auto">
            <a:xfrm>
              <a:off x="1213" y="2081"/>
              <a:ext cx="106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4" name="Line 33"/>
            <p:cNvSpPr>
              <a:spLocks noChangeShapeType="1"/>
            </p:cNvSpPr>
            <p:nvPr/>
          </p:nvSpPr>
          <p:spPr bwMode="auto">
            <a:xfrm>
              <a:off x="1221" y="1846"/>
              <a:ext cx="1059" cy="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5" name="Line 34"/>
            <p:cNvSpPr>
              <a:spLocks noChangeShapeType="1"/>
            </p:cNvSpPr>
            <p:nvPr/>
          </p:nvSpPr>
          <p:spPr bwMode="auto">
            <a:xfrm>
              <a:off x="1214" y="2553"/>
              <a:ext cx="1066"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6" name="Line 35"/>
            <p:cNvSpPr>
              <a:spLocks noChangeShapeType="1"/>
            </p:cNvSpPr>
            <p:nvPr/>
          </p:nvSpPr>
          <p:spPr bwMode="auto">
            <a:xfrm>
              <a:off x="1215" y="2790"/>
              <a:ext cx="106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8" name="Line 36"/>
            <p:cNvSpPr>
              <a:spLocks noChangeShapeType="1"/>
            </p:cNvSpPr>
            <p:nvPr/>
          </p:nvSpPr>
          <p:spPr bwMode="auto">
            <a:xfrm>
              <a:off x="1215" y="3025"/>
              <a:ext cx="106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39" name="Line 37"/>
            <p:cNvSpPr>
              <a:spLocks noChangeShapeType="1"/>
            </p:cNvSpPr>
            <p:nvPr/>
          </p:nvSpPr>
          <p:spPr bwMode="auto">
            <a:xfrm>
              <a:off x="608" y="3498"/>
              <a:ext cx="445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0" name="Line 38"/>
            <p:cNvSpPr>
              <a:spLocks noChangeShapeType="1"/>
            </p:cNvSpPr>
            <p:nvPr/>
          </p:nvSpPr>
          <p:spPr bwMode="auto">
            <a:xfrm>
              <a:off x="1215" y="3262"/>
              <a:ext cx="106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1" name="Text Box 39"/>
            <p:cNvSpPr txBox="1">
              <a:spLocks noChangeArrowheads="1"/>
            </p:cNvSpPr>
            <p:nvPr/>
          </p:nvSpPr>
          <p:spPr bwMode="auto">
            <a:xfrm>
              <a:off x="635" y="2784"/>
              <a:ext cx="93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方向公差</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42" name="Line 41"/>
            <p:cNvSpPr>
              <a:spLocks noChangeShapeType="1"/>
            </p:cNvSpPr>
            <p:nvPr/>
          </p:nvSpPr>
          <p:spPr bwMode="auto">
            <a:xfrm>
              <a:off x="3433" y="694"/>
              <a:ext cx="0" cy="280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3" name="Line 42"/>
            <p:cNvSpPr>
              <a:spLocks noChangeShapeType="1"/>
            </p:cNvSpPr>
            <p:nvPr/>
          </p:nvSpPr>
          <p:spPr bwMode="auto">
            <a:xfrm>
              <a:off x="4025" y="682"/>
              <a:ext cx="0" cy="281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4" name="Line 43"/>
            <p:cNvSpPr>
              <a:spLocks noChangeShapeType="1"/>
            </p:cNvSpPr>
            <p:nvPr/>
          </p:nvSpPr>
          <p:spPr bwMode="auto">
            <a:xfrm>
              <a:off x="5057" y="691"/>
              <a:ext cx="0" cy="280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5" name="Line 44"/>
            <p:cNvSpPr>
              <a:spLocks noChangeShapeType="1"/>
            </p:cNvSpPr>
            <p:nvPr/>
          </p:nvSpPr>
          <p:spPr bwMode="auto">
            <a:xfrm>
              <a:off x="4499" y="686"/>
              <a:ext cx="0" cy="281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46" name="Text Box 45"/>
            <p:cNvSpPr txBox="1">
              <a:spLocks noChangeArrowheads="1"/>
            </p:cNvSpPr>
            <p:nvPr/>
          </p:nvSpPr>
          <p:spPr bwMode="auto">
            <a:xfrm>
              <a:off x="2837" y="693"/>
              <a:ext cx="75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公差类型</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47" name="Text Box 46"/>
            <p:cNvSpPr txBox="1">
              <a:spLocks noChangeArrowheads="1"/>
            </p:cNvSpPr>
            <p:nvPr/>
          </p:nvSpPr>
          <p:spPr bwMode="auto">
            <a:xfrm>
              <a:off x="3437" y="678"/>
              <a:ext cx="71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几何特征</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48" name="Text Box 47"/>
            <p:cNvSpPr txBox="1">
              <a:spLocks noChangeArrowheads="1"/>
            </p:cNvSpPr>
            <p:nvPr/>
          </p:nvSpPr>
          <p:spPr bwMode="auto">
            <a:xfrm>
              <a:off x="4075" y="690"/>
              <a:ext cx="54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符号</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49" name="Text Box 48"/>
            <p:cNvSpPr txBox="1">
              <a:spLocks noChangeArrowheads="1"/>
            </p:cNvSpPr>
            <p:nvPr/>
          </p:nvSpPr>
          <p:spPr bwMode="auto">
            <a:xfrm>
              <a:off x="2271" y="699"/>
              <a:ext cx="75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有无基准</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50" name="Line 49"/>
            <p:cNvSpPr>
              <a:spLocks noChangeShapeType="1"/>
            </p:cNvSpPr>
            <p:nvPr/>
          </p:nvSpPr>
          <p:spPr bwMode="auto">
            <a:xfrm>
              <a:off x="1962" y="1018"/>
              <a:ext cx="183"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1" name="AutoShape 50"/>
            <p:cNvSpPr>
              <a:spLocks noChangeArrowheads="1"/>
            </p:cNvSpPr>
            <p:nvPr/>
          </p:nvSpPr>
          <p:spPr bwMode="auto">
            <a:xfrm>
              <a:off x="1956" y="1193"/>
              <a:ext cx="162" cy="122"/>
            </a:xfrm>
            <a:prstGeom prst="parallelogram">
              <a:avLst>
                <a:gd name="adj" fmla="val 33197"/>
              </a:avLst>
            </a:prstGeom>
            <a:noFill/>
            <a:ln w="1905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sp>
          <p:nvSpPr>
            <p:cNvPr id="52" name="Oval 51"/>
            <p:cNvSpPr>
              <a:spLocks noChangeArrowheads="1"/>
            </p:cNvSpPr>
            <p:nvPr/>
          </p:nvSpPr>
          <p:spPr bwMode="auto">
            <a:xfrm>
              <a:off x="1974" y="1426"/>
              <a:ext cx="135" cy="135"/>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sp>
          <p:nvSpPr>
            <p:cNvPr id="53" name="Line 52"/>
            <p:cNvSpPr>
              <a:spLocks noChangeShapeType="1"/>
            </p:cNvSpPr>
            <p:nvPr/>
          </p:nvSpPr>
          <p:spPr bwMode="auto">
            <a:xfrm flipH="1">
              <a:off x="1959" y="1660"/>
              <a:ext cx="75" cy="13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4" name="Line 53"/>
            <p:cNvSpPr>
              <a:spLocks noChangeShapeType="1"/>
            </p:cNvSpPr>
            <p:nvPr/>
          </p:nvSpPr>
          <p:spPr bwMode="auto">
            <a:xfrm flipH="1">
              <a:off x="2027" y="1659"/>
              <a:ext cx="75" cy="13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5" name="Oval 54"/>
            <p:cNvSpPr>
              <a:spLocks noChangeArrowheads="1"/>
            </p:cNvSpPr>
            <p:nvPr/>
          </p:nvSpPr>
          <p:spPr bwMode="auto">
            <a:xfrm>
              <a:off x="2000" y="1695"/>
              <a:ext cx="60" cy="60"/>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sp>
          <p:nvSpPr>
            <p:cNvPr id="56" name="Arc 55"/>
            <p:cNvSpPr/>
            <p:nvPr/>
          </p:nvSpPr>
          <p:spPr bwMode="auto">
            <a:xfrm flipV="1">
              <a:off x="1965" y="1924"/>
              <a:ext cx="133" cy="69"/>
            </a:xfrm>
            <a:custGeom>
              <a:avLst/>
              <a:gdLst>
                <a:gd name="T0" fmla="*/ 0 w 43200"/>
                <a:gd name="T1" fmla="*/ 0 h 22482"/>
                <a:gd name="T2" fmla="*/ 0 w 43200"/>
                <a:gd name="T3" fmla="*/ 0 h 22482"/>
                <a:gd name="T4" fmla="*/ 0 w 43200"/>
                <a:gd name="T5" fmla="*/ 0 h 22482"/>
                <a:gd name="T6" fmla="*/ 0 60000 65536"/>
                <a:gd name="T7" fmla="*/ 0 60000 65536"/>
                <a:gd name="T8" fmla="*/ 0 60000 65536"/>
              </a:gdLst>
              <a:ahLst/>
              <a:cxnLst>
                <a:cxn ang="T6">
                  <a:pos x="T0" y="T1"/>
                </a:cxn>
                <a:cxn ang="T7">
                  <a:pos x="T2" y="T3"/>
                </a:cxn>
                <a:cxn ang="T8">
                  <a:pos x="T4" y="T5"/>
                </a:cxn>
              </a:cxnLst>
              <a:rect l="0" t="0" r="r" b="b"/>
              <a:pathLst>
                <a:path w="43200" h="22482" fill="none"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path>
                <a:path w="43200" h="22482" stroke="0"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lnTo>
                    <a:pt x="21600" y="882"/>
                  </a:lnTo>
                  <a:lnTo>
                    <a:pt x="43181" y="0"/>
                  </a:lnTo>
                  <a:close/>
                </a:path>
              </a:pathLst>
            </a:cu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7" name="Arc 56"/>
            <p:cNvSpPr/>
            <p:nvPr/>
          </p:nvSpPr>
          <p:spPr bwMode="auto">
            <a:xfrm flipV="1">
              <a:off x="1967" y="2157"/>
              <a:ext cx="133" cy="69"/>
            </a:xfrm>
            <a:custGeom>
              <a:avLst/>
              <a:gdLst>
                <a:gd name="T0" fmla="*/ 0 w 43200"/>
                <a:gd name="T1" fmla="*/ 0 h 22482"/>
                <a:gd name="T2" fmla="*/ 0 w 43200"/>
                <a:gd name="T3" fmla="*/ 0 h 22482"/>
                <a:gd name="T4" fmla="*/ 0 w 43200"/>
                <a:gd name="T5" fmla="*/ 0 h 22482"/>
                <a:gd name="T6" fmla="*/ 0 60000 65536"/>
                <a:gd name="T7" fmla="*/ 0 60000 65536"/>
                <a:gd name="T8" fmla="*/ 0 60000 65536"/>
              </a:gdLst>
              <a:ahLst/>
              <a:cxnLst>
                <a:cxn ang="T6">
                  <a:pos x="T0" y="T1"/>
                </a:cxn>
                <a:cxn ang="T7">
                  <a:pos x="T2" y="T3"/>
                </a:cxn>
                <a:cxn ang="T8">
                  <a:pos x="T4" y="T5"/>
                </a:cxn>
              </a:cxnLst>
              <a:rect l="0" t="0" r="r" b="b"/>
              <a:pathLst>
                <a:path w="43200" h="22482" fill="none"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path>
                <a:path w="43200" h="22482" stroke="0"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lnTo>
                    <a:pt x="21600" y="882"/>
                  </a:lnTo>
                  <a:lnTo>
                    <a:pt x="43181" y="0"/>
                  </a:lnTo>
                  <a:close/>
                </a:path>
              </a:pathLst>
            </a:cu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8" name="Line 57"/>
            <p:cNvSpPr>
              <a:spLocks noChangeShapeType="1"/>
            </p:cNvSpPr>
            <p:nvPr/>
          </p:nvSpPr>
          <p:spPr bwMode="auto">
            <a:xfrm>
              <a:off x="1961" y="2226"/>
              <a:ext cx="145"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59" name="Arc 58"/>
            <p:cNvSpPr/>
            <p:nvPr/>
          </p:nvSpPr>
          <p:spPr bwMode="auto">
            <a:xfrm flipV="1">
              <a:off x="1968" y="3101"/>
              <a:ext cx="133" cy="69"/>
            </a:xfrm>
            <a:custGeom>
              <a:avLst/>
              <a:gdLst>
                <a:gd name="T0" fmla="*/ 0 w 43200"/>
                <a:gd name="T1" fmla="*/ 0 h 22482"/>
                <a:gd name="T2" fmla="*/ 0 w 43200"/>
                <a:gd name="T3" fmla="*/ 0 h 22482"/>
                <a:gd name="T4" fmla="*/ 0 w 43200"/>
                <a:gd name="T5" fmla="*/ 0 h 22482"/>
                <a:gd name="T6" fmla="*/ 0 60000 65536"/>
                <a:gd name="T7" fmla="*/ 0 60000 65536"/>
                <a:gd name="T8" fmla="*/ 0 60000 65536"/>
              </a:gdLst>
              <a:ahLst/>
              <a:cxnLst>
                <a:cxn ang="T6">
                  <a:pos x="T0" y="T1"/>
                </a:cxn>
                <a:cxn ang="T7">
                  <a:pos x="T2" y="T3"/>
                </a:cxn>
                <a:cxn ang="T8">
                  <a:pos x="T4" y="T5"/>
                </a:cxn>
              </a:cxnLst>
              <a:rect l="0" t="0" r="r" b="b"/>
              <a:pathLst>
                <a:path w="43200" h="22482" fill="none"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path>
                <a:path w="43200" h="22482" stroke="0"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lnTo>
                    <a:pt x="21600" y="882"/>
                  </a:lnTo>
                  <a:lnTo>
                    <a:pt x="43181" y="0"/>
                  </a:lnTo>
                  <a:close/>
                </a:path>
              </a:pathLst>
            </a:cu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nvGrpSpPr>
            <p:cNvPr id="60" name="Group 111"/>
            <p:cNvGrpSpPr/>
            <p:nvPr/>
          </p:nvGrpSpPr>
          <p:grpSpPr bwMode="auto">
            <a:xfrm>
              <a:off x="1964" y="3334"/>
              <a:ext cx="145" cy="69"/>
              <a:chOff x="1832" y="3216"/>
              <a:chExt cx="145" cy="69"/>
            </a:xfrm>
          </p:grpSpPr>
          <p:sp>
            <p:nvSpPr>
              <p:cNvPr id="109" name="Arc 59"/>
              <p:cNvSpPr/>
              <p:nvPr/>
            </p:nvSpPr>
            <p:spPr bwMode="auto">
              <a:xfrm flipV="1">
                <a:off x="1838" y="3216"/>
                <a:ext cx="133" cy="69"/>
              </a:xfrm>
              <a:custGeom>
                <a:avLst/>
                <a:gdLst>
                  <a:gd name="T0" fmla="*/ 0 w 43200"/>
                  <a:gd name="T1" fmla="*/ 0 h 22482"/>
                  <a:gd name="T2" fmla="*/ 0 w 43200"/>
                  <a:gd name="T3" fmla="*/ 0 h 22482"/>
                  <a:gd name="T4" fmla="*/ 0 w 43200"/>
                  <a:gd name="T5" fmla="*/ 0 h 22482"/>
                  <a:gd name="T6" fmla="*/ 0 60000 65536"/>
                  <a:gd name="T7" fmla="*/ 0 60000 65536"/>
                  <a:gd name="T8" fmla="*/ 0 60000 65536"/>
                </a:gdLst>
                <a:ahLst/>
                <a:cxnLst>
                  <a:cxn ang="T6">
                    <a:pos x="T0" y="T1"/>
                  </a:cxn>
                  <a:cxn ang="T7">
                    <a:pos x="T2" y="T3"/>
                  </a:cxn>
                  <a:cxn ang="T8">
                    <a:pos x="T4" y="T5"/>
                  </a:cxn>
                </a:cxnLst>
                <a:rect l="0" t="0" r="r" b="b"/>
                <a:pathLst>
                  <a:path w="43200" h="22482" fill="none"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path>
                  <a:path w="43200" h="22482" stroke="0"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lnTo>
                      <a:pt x="21600" y="882"/>
                    </a:lnTo>
                    <a:lnTo>
                      <a:pt x="43181" y="0"/>
                    </a:lnTo>
                    <a:close/>
                  </a:path>
                </a:pathLst>
              </a:cu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10" name="Line 60"/>
              <p:cNvSpPr>
                <a:spLocks noChangeShapeType="1"/>
              </p:cNvSpPr>
              <p:nvPr/>
            </p:nvSpPr>
            <p:spPr bwMode="auto">
              <a:xfrm>
                <a:off x="1832" y="3285"/>
                <a:ext cx="145"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61" name="Line 61"/>
            <p:cNvSpPr>
              <a:spLocks noChangeShapeType="1"/>
            </p:cNvSpPr>
            <p:nvPr/>
          </p:nvSpPr>
          <p:spPr bwMode="auto">
            <a:xfrm flipH="1">
              <a:off x="1964" y="2372"/>
              <a:ext cx="75" cy="13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2" name="Line 62"/>
            <p:cNvSpPr>
              <a:spLocks noChangeShapeType="1"/>
            </p:cNvSpPr>
            <p:nvPr/>
          </p:nvSpPr>
          <p:spPr bwMode="auto">
            <a:xfrm flipH="1">
              <a:off x="2032" y="2371"/>
              <a:ext cx="75" cy="13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3" name="Line 63"/>
            <p:cNvSpPr>
              <a:spLocks noChangeShapeType="1"/>
            </p:cNvSpPr>
            <p:nvPr/>
          </p:nvSpPr>
          <p:spPr bwMode="auto">
            <a:xfrm>
              <a:off x="2022" y="2608"/>
              <a:ext cx="0" cy="12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4" name="Line 64"/>
            <p:cNvSpPr>
              <a:spLocks noChangeShapeType="1"/>
            </p:cNvSpPr>
            <p:nvPr/>
          </p:nvSpPr>
          <p:spPr bwMode="auto">
            <a:xfrm>
              <a:off x="1961" y="2731"/>
              <a:ext cx="121"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5" name="Line 65"/>
            <p:cNvSpPr>
              <a:spLocks noChangeShapeType="1"/>
            </p:cNvSpPr>
            <p:nvPr/>
          </p:nvSpPr>
          <p:spPr bwMode="auto">
            <a:xfrm flipH="1">
              <a:off x="1967" y="2865"/>
              <a:ext cx="130" cy="7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6" name="Line 66"/>
            <p:cNvSpPr>
              <a:spLocks noChangeShapeType="1"/>
            </p:cNvSpPr>
            <p:nvPr/>
          </p:nvSpPr>
          <p:spPr bwMode="auto">
            <a:xfrm>
              <a:off x="1966" y="2939"/>
              <a:ext cx="135"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67" name="Text Box 67"/>
            <p:cNvSpPr txBox="1">
              <a:spLocks noChangeArrowheads="1"/>
            </p:cNvSpPr>
            <p:nvPr/>
          </p:nvSpPr>
          <p:spPr bwMode="auto">
            <a:xfrm>
              <a:off x="4479" y="697"/>
              <a:ext cx="75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有无基准</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68" name="Oval 68"/>
            <p:cNvSpPr>
              <a:spLocks noChangeArrowheads="1"/>
            </p:cNvSpPr>
            <p:nvPr/>
          </p:nvSpPr>
          <p:spPr bwMode="auto">
            <a:xfrm>
              <a:off x="4191" y="1009"/>
              <a:ext cx="121" cy="121"/>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sp>
          <p:nvSpPr>
            <p:cNvPr id="69" name="Text Box 69"/>
            <p:cNvSpPr txBox="1">
              <a:spLocks noChangeArrowheads="1"/>
            </p:cNvSpPr>
            <p:nvPr/>
          </p:nvSpPr>
          <p:spPr bwMode="auto">
            <a:xfrm>
              <a:off x="3480" y="966"/>
              <a:ext cx="6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位 置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0" name="Text Box 70"/>
            <p:cNvSpPr txBox="1">
              <a:spLocks noChangeArrowheads="1"/>
            </p:cNvSpPr>
            <p:nvPr/>
          </p:nvSpPr>
          <p:spPr bwMode="auto">
            <a:xfrm>
              <a:off x="3319" y="1215"/>
              <a:ext cx="90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同心度</a:t>
              </a:r>
              <a:endParaRPr kumimoji="0" lang="zh-CN" altLang="en-US" sz="1400" b="1" i="0" u="none" strike="noStrike" kern="0" cap="none" spc="0" normalizeH="0" baseline="0" noProof="0">
                <a:ln>
                  <a:noFill/>
                </a:ln>
                <a:solidFill>
                  <a:srgbClr val="000000"/>
                </a:solidFill>
                <a:effectLst/>
                <a:uLnTx/>
                <a:uFillTx/>
                <a:latin typeface="+mn-ea"/>
                <a:ea typeface="+mn-ea"/>
              </a:endParaRPr>
            </a:p>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a:t>
              </a:r>
              <a:r>
                <a:rPr kumimoji="0" lang="zh-CN" altLang="en-US" sz="1200" b="1" i="0" u="none" strike="noStrike" kern="0" cap="none" spc="0" normalizeH="0" baseline="0" noProof="0">
                  <a:ln>
                    <a:noFill/>
                  </a:ln>
                  <a:solidFill>
                    <a:srgbClr val="000000"/>
                  </a:solidFill>
                  <a:effectLst/>
                  <a:uLnTx/>
                  <a:uFillTx/>
                  <a:latin typeface="+mn-ea"/>
                  <a:ea typeface="+mn-ea"/>
                </a:rPr>
                <a:t>用于中心点</a:t>
              </a:r>
              <a:r>
                <a:rPr kumimoji="0" lang="zh-CN" altLang="en-US" sz="1400" b="1" i="0" u="none" strike="noStrike" kern="0" cap="none" spc="0" normalizeH="0" baseline="0" noProof="0">
                  <a:ln>
                    <a:noFill/>
                  </a:ln>
                  <a:solidFill>
                    <a:srgbClr val="000000"/>
                  </a:solidFill>
                  <a:effectLst/>
                  <a:uLnTx/>
                  <a:uFillTx/>
                  <a:latin typeface="+mn-ea"/>
                  <a:ea typeface="+mn-ea"/>
                </a:rPr>
                <a:t>）</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1" name="Text Box 71"/>
            <p:cNvSpPr txBox="1">
              <a:spLocks noChangeArrowheads="1"/>
            </p:cNvSpPr>
            <p:nvPr/>
          </p:nvSpPr>
          <p:spPr bwMode="auto">
            <a:xfrm>
              <a:off x="3389" y="1529"/>
              <a:ext cx="76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400" b="1" i="0" u="none" strike="noStrike" kern="0" cap="none" spc="0" normalizeH="0" baseline="0" noProof="0">
                  <a:ln>
                    <a:noFill/>
                  </a:ln>
                  <a:solidFill>
                    <a:srgbClr val="000000"/>
                  </a:solidFill>
                  <a:effectLst/>
                  <a:uLnTx/>
                  <a:uFillTx/>
                  <a:latin typeface="+mn-ea"/>
                  <a:ea typeface="+mn-ea"/>
                </a:rPr>
                <a:t>   </a:t>
              </a:r>
              <a:r>
                <a:rPr kumimoji="0" lang="zh-CN" altLang="en-US" sz="1400" b="1" i="0" u="none" strike="noStrike" kern="0" cap="none" spc="0" normalizeH="0" baseline="0" noProof="0">
                  <a:ln>
                    <a:noFill/>
                  </a:ln>
                  <a:solidFill>
                    <a:srgbClr val="000000"/>
                  </a:solidFill>
                  <a:effectLst/>
                  <a:uLnTx/>
                  <a:uFillTx/>
                  <a:latin typeface="+mn-ea"/>
                  <a:ea typeface="+mn-ea"/>
                </a:rPr>
                <a:t>同轴度</a:t>
              </a:r>
              <a:endParaRPr kumimoji="0" lang="zh-CN" altLang="en-US" sz="1400" b="1" i="0" u="none" strike="noStrike" kern="0" cap="none" spc="0" normalizeH="0" baseline="0" noProof="0">
                <a:ln>
                  <a:noFill/>
                </a:ln>
                <a:solidFill>
                  <a:srgbClr val="000000"/>
                </a:solidFill>
                <a:effectLst/>
                <a:uLnTx/>
                <a:uFillTx/>
                <a:latin typeface="+mn-ea"/>
                <a:ea typeface="+mn-ea"/>
              </a:endParaRPr>
            </a:p>
            <a:p>
              <a:pPr marL="0" marR="0" lvl="0" indent="0" defTabSz="914400" eaLnBrk="1" fontAlgn="base" latinLnBrk="0" hangingPunct="1">
                <a:lnSpc>
                  <a:spcPct val="100000"/>
                </a:lnSpc>
                <a:spcBef>
                  <a:spcPct val="0"/>
                </a:spcBef>
                <a:spcAft>
                  <a:spcPct val="0"/>
                </a:spcAft>
                <a:buClrTx/>
                <a:buSzTx/>
                <a:buFontTx/>
                <a:buNone/>
                <a:defRPr/>
              </a:pPr>
              <a:r>
                <a:rPr kumimoji="0" lang="zh-CN" altLang="en-US" sz="1200" b="1" i="0" u="none" strike="noStrike" kern="0" cap="none" spc="0" normalizeH="0" baseline="0" noProof="0">
                  <a:ln>
                    <a:noFill/>
                  </a:ln>
                  <a:solidFill>
                    <a:srgbClr val="000000"/>
                  </a:solidFill>
                  <a:effectLst/>
                  <a:uLnTx/>
                  <a:uFillTx/>
                  <a:latin typeface="+mn-ea"/>
                  <a:ea typeface="+mn-ea"/>
                </a:rPr>
                <a:t>（用于轴线）</a:t>
              </a:r>
              <a:endParaRPr kumimoji="0" lang="zh-CN" altLang="en-US" sz="1200" b="1" i="0" u="none" strike="noStrike" kern="0" cap="none" spc="0" normalizeH="0" baseline="0" noProof="0">
                <a:ln>
                  <a:noFill/>
                </a:ln>
                <a:solidFill>
                  <a:srgbClr val="000000"/>
                </a:solidFill>
                <a:effectLst/>
                <a:uLnTx/>
                <a:uFillTx/>
                <a:latin typeface="+mn-ea"/>
                <a:ea typeface="+mn-ea"/>
              </a:endParaRPr>
            </a:p>
          </p:txBody>
        </p:sp>
        <p:sp>
          <p:nvSpPr>
            <p:cNvPr id="72" name="Text Box 72"/>
            <p:cNvSpPr txBox="1">
              <a:spLocks noChangeArrowheads="1"/>
            </p:cNvSpPr>
            <p:nvPr/>
          </p:nvSpPr>
          <p:spPr bwMode="auto">
            <a:xfrm>
              <a:off x="3467" y="1914"/>
              <a:ext cx="6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对 称 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3" name="Text Box 73"/>
            <p:cNvSpPr txBox="1">
              <a:spLocks noChangeArrowheads="1"/>
            </p:cNvSpPr>
            <p:nvPr/>
          </p:nvSpPr>
          <p:spPr bwMode="auto">
            <a:xfrm>
              <a:off x="3442" y="2216"/>
              <a:ext cx="70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线轮廓度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4" name="Text Box 74"/>
            <p:cNvSpPr txBox="1">
              <a:spLocks noChangeArrowheads="1"/>
            </p:cNvSpPr>
            <p:nvPr/>
          </p:nvSpPr>
          <p:spPr bwMode="auto">
            <a:xfrm>
              <a:off x="3442" y="2527"/>
              <a:ext cx="6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面轮廓度</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5" name="Text Box 75"/>
            <p:cNvSpPr txBox="1">
              <a:spLocks noChangeArrowheads="1"/>
            </p:cNvSpPr>
            <p:nvPr/>
          </p:nvSpPr>
          <p:spPr bwMode="auto">
            <a:xfrm>
              <a:off x="3472" y="2866"/>
              <a:ext cx="6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圆 跳 动</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6" name="Text Box 76"/>
            <p:cNvSpPr txBox="1">
              <a:spLocks noChangeArrowheads="1"/>
            </p:cNvSpPr>
            <p:nvPr/>
          </p:nvSpPr>
          <p:spPr bwMode="auto">
            <a:xfrm>
              <a:off x="3465" y="3217"/>
              <a:ext cx="6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全 跳 动</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7" name="Line 77"/>
            <p:cNvSpPr>
              <a:spLocks noChangeShapeType="1"/>
            </p:cNvSpPr>
            <p:nvPr/>
          </p:nvSpPr>
          <p:spPr bwMode="auto">
            <a:xfrm>
              <a:off x="2832" y="2788"/>
              <a:ext cx="2232"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78" name="Text Box 78"/>
            <p:cNvSpPr txBox="1">
              <a:spLocks noChangeArrowheads="1"/>
            </p:cNvSpPr>
            <p:nvPr/>
          </p:nvSpPr>
          <p:spPr bwMode="auto">
            <a:xfrm>
              <a:off x="2834" y="1683"/>
              <a:ext cx="93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位置公差</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79" name="Text Box 79"/>
            <p:cNvSpPr txBox="1">
              <a:spLocks noChangeArrowheads="1"/>
            </p:cNvSpPr>
            <p:nvPr/>
          </p:nvSpPr>
          <p:spPr bwMode="auto">
            <a:xfrm>
              <a:off x="2860" y="3023"/>
              <a:ext cx="93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mn-ea"/>
                  <a:ea typeface="+mn-ea"/>
                </a:rPr>
                <a:t>跳动公差</a:t>
              </a:r>
              <a:endParaRPr kumimoji="0" lang="zh-CN" altLang="en-US" sz="1400" b="1" i="0" u="none" strike="noStrike" kern="0" cap="none" spc="0" normalizeH="0" baseline="0" noProof="0" dirty="0">
                <a:ln>
                  <a:noFill/>
                </a:ln>
                <a:solidFill>
                  <a:srgbClr val="000000"/>
                </a:solidFill>
                <a:effectLst/>
                <a:uLnTx/>
                <a:uFillTx/>
                <a:latin typeface="+mn-ea"/>
                <a:ea typeface="+mn-ea"/>
              </a:endParaRPr>
            </a:p>
          </p:txBody>
        </p:sp>
        <p:sp>
          <p:nvSpPr>
            <p:cNvPr id="80" name="Line 80"/>
            <p:cNvSpPr>
              <a:spLocks noChangeShapeType="1"/>
            </p:cNvSpPr>
            <p:nvPr/>
          </p:nvSpPr>
          <p:spPr bwMode="auto">
            <a:xfrm flipV="1">
              <a:off x="3432" y="3136"/>
              <a:ext cx="1067" cy="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1" name="Line 93"/>
            <p:cNvSpPr>
              <a:spLocks noChangeShapeType="1"/>
            </p:cNvSpPr>
            <p:nvPr/>
          </p:nvSpPr>
          <p:spPr bwMode="auto">
            <a:xfrm flipV="1">
              <a:off x="3432" y="1215"/>
              <a:ext cx="1067" cy="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2" name="Line 94"/>
            <p:cNvSpPr>
              <a:spLocks noChangeShapeType="1"/>
            </p:cNvSpPr>
            <p:nvPr/>
          </p:nvSpPr>
          <p:spPr bwMode="auto">
            <a:xfrm>
              <a:off x="3434" y="1534"/>
              <a:ext cx="106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3" name="Line 95"/>
            <p:cNvSpPr>
              <a:spLocks noChangeShapeType="1"/>
            </p:cNvSpPr>
            <p:nvPr/>
          </p:nvSpPr>
          <p:spPr bwMode="auto">
            <a:xfrm>
              <a:off x="3432" y="1848"/>
              <a:ext cx="106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4" name="Line 96"/>
            <p:cNvSpPr>
              <a:spLocks noChangeShapeType="1"/>
            </p:cNvSpPr>
            <p:nvPr/>
          </p:nvSpPr>
          <p:spPr bwMode="auto">
            <a:xfrm>
              <a:off x="3430" y="2160"/>
              <a:ext cx="106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5" name="Line 97"/>
            <p:cNvSpPr>
              <a:spLocks noChangeShapeType="1"/>
            </p:cNvSpPr>
            <p:nvPr/>
          </p:nvSpPr>
          <p:spPr bwMode="auto">
            <a:xfrm>
              <a:off x="3430" y="2474"/>
              <a:ext cx="106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6" name="Line 100"/>
            <p:cNvSpPr>
              <a:spLocks noChangeShapeType="1"/>
            </p:cNvSpPr>
            <p:nvPr/>
          </p:nvSpPr>
          <p:spPr bwMode="auto">
            <a:xfrm>
              <a:off x="4166" y="1070"/>
              <a:ext cx="17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87" name="Line 101"/>
            <p:cNvSpPr>
              <a:spLocks noChangeShapeType="1"/>
            </p:cNvSpPr>
            <p:nvPr/>
          </p:nvSpPr>
          <p:spPr bwMode="auto">
            <a:xfrm>
              <a:off x="4252" y="986"/>
              <a:ext cx="0" cy="16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nvGrpSpPr>
            <p:cNvPr id="88" name="Group 104"/>
            <p:cNvGrpSpPr/>
            <p:nvPr/>
          </p:nvGrpSpPr>
          <p:grpSpPr bwMode="auto">
            <a:xfrm>
              <a:off x="4168" y="1292"/>
              <a:ext cx="171" cy="171"/>
              <a:chOff x="4030" y="1174"/>
              <a:chExt cx="171" cy="171"/>
            </a:xfrm>
          </p:grpSpPr>
          <p:sp>
            <p:nvSpPr>
              <p:cNvPr id="107" name="Oval 102"/>
              <p:cNvSpPr>
                <a:spLocks noChangeArrowheads="1"/>
              </p:cNvSpPr>
              <p:nvPr/>
            </p:nvSpPr>
            <p:spPr bwMode="auto">
              <a:xfrm>
                <a:off x="4030" y="1174"/>
                <a:ext cx="171" cy="171"/>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sp>
            <p:nvSpPr>
              <p:cNvPr id="108" name="Oval 103"/>
              <p:cNvSpPr>
                <a:spLocks noChangeArrowheads="1"/>
              </p:cNvSpPr>
              <p:nvPr/>
            </p:nvSpPr>
            <p:spPr bwMode="auto">
              <a:xfrm>
                <a:off x="4073" y="1217"/>
                <a:ext cx="85" cy="85"/>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grpSp>
        <p:grpSp>
          <p:nvGrpSpPr>
            <p:cNvPr id="89" name="Group 105"/>
            <p:cNvGrpSpPr/>
            <p:nvPr/>
          </p:nvGrpSpPr>
          <p:grpSpPr bwMode="auto">
            <a:xfrm>
              <a:off x="4175" y="1603"/>
              <a:ext cx="171" cy="171"/>
              <a:chOff x="4030" y="1174"/>
              <a:chExt cx="171" cy="171"/>
            </a:xfrm>
          </p:grpSpPr>
          <p:sp>
            <p:nvSpPr>
              <p:cNvPr id="105" name="Oval 106"/>
              <p:cNvSpPr>
                <a:spLocks noChangeArrowheads="1"/>
              </p:cNvSpPr>
              <p:nvPr/>
            </p:nvSpPr>
            <p:spPr bwMode="auto">
              <a:xfrm>
                <a:off x="4030" y="1174"/>
                <a:ext cx="171" cy="171"/>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sp>
            <p:nvSpPr>
              <p:cNvPr id="106" name="Oval 107"/>
              <p:cNvSpPr>
                <a:spLocks noChangeArrowheads="1"/>
              </p:cNvSpPr>
              <p:nvPr/>
            </p:nvSpPr>
            <p:spPr bwMode="auto">
              <a:xfrm>
                <a:off x="4073" y="1217"/>
                <a:ext cx="85" cy="85"/>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000000"/>
                  </a:solidFill>
                  <a:effectLst/>
                  <a:uLnTx/>
                  <a:uFillTx/>
                  <a:latin typeface="+mn-ea"/>
                  <a:ea typeface="+mn-ea"/>
                </a:endParaRPr>
              </a:p>
            </p:txBody>
          </p:sp>
        </p:grpSp>
        <p:sp>
          <p:nvSpPr>
            <p:cNvPr id="90" name="Line 108"/>
            <p:cNvSpPr>
              <a:spLocks noChangeShapeType="1"/>
            </p:cNvSpPr>
            <p:nvPr/>
          </p:nvSpPr>
          <p:spPr bwMode="auto">
            <a:xfrm>
              <a:off x="4160" y="1994"/>
              <a:ext cx="2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1" name="Line 109"/>
            <p:cNvSpPr>
              <a:spLocks noChangeShapeType="1"/>
            </p:cNvSpPr>
            <p:nvPr/>
          </p:nvSpPr>
          <p:spPr bwMode="auto">
            <a:xfrm>
              <a:off x="4190" y="1950"/>
              <a:ext cx="136"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2" name="Line 110"/>
            <p:cNvSpPr>
              <a:spLocks noChangeShapeType="1"/>
            </p:cNvSpPr>
            <p:nvPr/>
          </p:nvSpPr>
          <p:spPr bwMode="auto">
            <a:xfrm>
              <a:off x="4191" y="2037"/>
              <a:ext cx="136"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3" name="Arc 112"/>
            <p:cNvSpPr/>
            <p:nvPr/>
          </p:nvSpPr>
          <p:spPr bwMode="auto">
            <a:xfrm flipV="1">
              <a:off x="4191" y="2277"/>
              <a:ext cx="133" cy="69"/>
            </a:xfrm>
            <a:custGeom>
              <a:avLst/>
              <a:gdLst>
                <a:gd name="T0" fmla="*/ 0 w 43200"/>
                <a:gd name="T1" fmla="*/ 0 h 22482"/>
                <a:gd name="T2" fmla="*/ 0 w 43200"/>
                <a:gd name="T3" fmla="*/ 0 h 22482"/>
                <a:gd name="T4" fmla="*/ 0 w 43200"/>
                <a:gd name="T5" fmla="*/ 0 h 22482"/>
                <a:gd name="T6" fmla="*/ 0 60000 65536"/>
                <a:gd name="T7" fmla="*/ 0 60000 65536"/>
                <a:gd name="T8" fmla="*/ 0 60000 65536"/>
              </a:gdLst>
              <a:ahLst/>
              <a:cxnLst>
                <a:cxn ang="T6">
                  <a:pos x="T0" y="T1"/>
                </a:cxn>
                <a:cxn ang="T7">
                  <a:pos x="T2" y="T3"/>
                </a:cxn>
                <a:cxn ang="T8">
                  <a:pos x="T4" y="T5"/>
                </a:cxn>
              </a:cxnLst>
              <a:rect l="0" t="0" r="r" b="b"/>
              <a:pathLst>
                <a:path w="43200" h="22482" fill="none"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path>
                <a:path w="43200" h="22482" stroke="0"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lnTo>
                    <a:pt x="21600" y="882"/>
                  </a:lnTo>
                  <a:lnTo>
                    <a:pt x="43181" y="0"/>
                  </a:lnTo>
                  <a:close/>
                </a:path>
              </a:pathLst>
            </a:cu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nvGrpSpPr>
            <p:cNvPr id="94" name="Group 113"/>
            <p:cNvGrpSpPr/>
            <p:nvPr/>
          </p:nvGrpSpPr>
          <p:grpSpPr bwMode="auto">
            <a:xfrm>
              <a:off x="4187" y="2587"/>
              <a:ext cx="145" cy="69"/>
              <a:chOff x="1832" y="3216"/>
              <a:chExt cx="145" cy="69"/>
            </a:xfrm>
          </p:grpSpPr>
          <p:sp>
            <p:nvSpPr>
              <p:cNvPr id="103" name="Arc 114"/>
              <p:cNvSpPr/>
              <p:nvPr/>
            </p:nvSpPr>
            <p:spPr bwMode="auto">
              <a:xfrm flipV="1">
                <a:off x="1838" y="3216"/>
                <a:ext cx="133" cy="69"/>
              </a:xfrm>
              <a:custGeom>
                <a:avLst/>
                <a:gdLst>
                  <a:gd name="T0" fmla="*/ 0 w 43200"/>
                  <a:gd name="T1" fmla="*/ 0 h 22482"/>
                  <a:gd name="T2" fmla="*/ 0 w 43200"/>
                  <a:gd name="T3" fmla="*/ 0 h 22482"/>
                  <a:gd name="T4" fmla="*/ 0 w 43200"/>
                  <a:gd name="T5" fmla="*/ 0 h 22482"/>
                  <a:gd name="T6" fmla="*/ 0 60000 65536"/>
                  <a:gd name="T7" fmla="*/ 0 60000 65536"/>
                  <a:gd name="T8" fmla="*/ 0 60000 65536"/>
                </a:gdLst>
                <a:ahLst/>
                <a:cxnLst>
                  <a:cxn ang="T6">
                    <a:pos x="T0" y="T1"/>
                  </a:cxn>
                  <a:cxn ang="T7">
                    <a:pos x="T2" y="T3"/>
                  </a:cxn>
                  <a:cxn ang="T8">
                    <a:pos x="T4" y="T5"/>
                  </a:cxn>
                </a:cxnLst>
                <a:rect l="0" t="0" r="r" b="b"/>
                <a:pathLst>
                  <a:path w="43200" h="22482" fill="none"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path>
                  <a:path w="43200" h="22482" stroke="0" extrusionOk="0">
                    <a:moveTo>
                      <a:pt x="43181" y="0"/>
                    </a:moveTo>
                    <a:cubicBezTo>
                      <a:pt x="43193" y="293"/>
                      <a:pt x="43200" y="587"/>
                      <a:pt x="43200" y="882"/>
                    </a:cubicBezTo>
                    <a:cubicBezTo>
                      <a:pt x="43200" y="12811"/>
                      <a:pt x="33529" y="22482"/>
                      <a:pt x="21600" y="22482"/>
                    </a:cubicBezTo>
                    <a:cubicBezTo>
                      <a:pt x="9670" y="22482"/>
                      <a:pt x="0" y="12811"/>
                      <a:pt x="0" y="882"/>
                    </a:cubicBezTo>
                    <a:cubicBezTo>
                      <a:pt x="-1" y="810"/>
                      <a:pt x="0" y="738"/>
                      <a:pt x="1" y="667"/>
                    </a:cubicBezTo>
                    <a:lnTo>
                      <a:pt x="21600" y="882"/>
                    </a:lnTo>
                    <a:lnTo>
                      <a:pt x="43181" y="0"/>
                    </a:lnTo>
                    <a:close/>
                  </a:path>
                </a:pathLst>
              </a:cu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104" name="Line 115"/>
              <p:cNvSpPr>
                <a:spLocks noChangeShapeType="1"/>
              </p:cNvSpPr>
              <p:nvPr/>
            </p:nvSpPr>
            <p:spPr bwMode="auto">
              <a:xfrm>
                <a:off x="1832" y="3285"/>
                <a:ext cx="145"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grpSp>
        <p:sp>
          <p:nvSpPr>
            <p:cNvPr id="95" name="Line 116"/>
            <p:cNvSpPr>
              <a:spLocks noChangeShapeType="1"/>
            </p:cNvSpPr>
            <p:nvPr/>
          </p:nvSpPr>
          <p:spPr bwMode="auto">
            <a:xfrm flipV="1">
              <a:off x="4222" y="2907"/>
              <a:ext cx="68" cy="117"/>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6" name="Line 117"/>
            <p:cNvSpPr>
              <a:spLocks noChangeShapeType="1"/>
            </p:cNvSpPr>
            <p:nvPr/>
          </p:nvSpPr>
          <p:spPr bwMode="auto">
            <a:xfrm flipV="1">
              <a:off x="4161" y="3238"/>
              <a:ext cx="68" cy="117"/>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7" name="Line 118"/>
            <p:cNvSpPr>
              <a:spLocks noChangeShapeType="1"/>
            </p:cNvSpPr>
            <p:nvPr/>
          </p:nvSpPr>
          <p:spPr bwMode="auto">
            <a:xfrm flipV="1">
              <a:off x="4248" y="3239"/>
              <a:ext cx="68" cy="117"/>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8" name="Line 119"/>
            <p:cNvSpPr>
              <a:spLocks noChangeShapeType="1"/>
            </p:cNvSpPr>
            <p:nvPr/>
          </p:nvSpPr>
          <p:spPr bwMode="auto">
            <a:xfrm>
              <a:off x="4156" y="3356"/>
              <a:ext cx="9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ea"/>
              </a:endParaRPr>
            </a:p>
          </p:txBody>
        </p:sp>
        <p:sp>
          <p:nvSpPr>
            <p:cNvPr id="99" name="Text Box 124"/>
            <p:cNvSpPr txBox="1">
              <a:spLocks noChangeArrowheads="1"/>
            </p:cNvSpPr>
            <p:nvPr/>
          </p:nvSpPr>
          <p:spPr bwMode="auto">
            <a:xfrm>
              <a:off x="2434" y="1514"/>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无</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00" name="Text Box 128"/>
            <p:cNvSpPr txBox="1">
              <a:spLocks noChangeArrowheads="1"/>
            </p:cNvSpPr>
            <p:nvPr/>
          </p:nvSpPr>
          <p:spPr bwMode="auto">
            <a:xfrm>
              <a:off x="2445" y="2810"/>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有</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01" name="Text Box 133"/>
            <p:cNvSpPr txBox="1">
              <a:spLocks noChangeArrowheads="1"/>
            </p:cNvSpPr>
            <p:nvPr/>
          </p:nvSpPr>
          <p:spPr bwMode="auto">
            <a:xfrm>
              <a:off x="4675" y="1741"/>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mn-ea"/>
                  <a:ea typeface="+mn-ea"/>
                </a:rPr>
                <a:t>有</a:t>
              </a:r>
              <a:endParaRPr kumimoji="0" lang="zh-CN" altLang="en-US" sz="1400" b="1" i="0" u="none" strike="noStrike" kern="0" cap="none" spc="0" normalizeH="0" baseline="0" noProof="0">
                <a:ln>
                  <a:noFill/>
                </a:ln>
                <a:solidFill>
                  <a:srgbClr val="000000"/>
                </a:solidFill>
                <a:effectLst/>
                <a:uLnTx/>
                <a:uFillTx/>
                <a:latin typeface="+mn-ea"/>
                <a:ea typeface="+mn-ea"/>
              </a:endParaRPr>
            </a:p>
          </p:txBody>
        </p:sp>
        <p:sp>
          <p:nvSpPr>
            <p:cNvPr id="102" name="Text Box 139"/>
            <p:cNvSpPr txBox="1">
              <a:spLocks noChangeArrowheads="1"/>
            </p:cNvSpPr>
            <p:nvPr/>
          </p:nvSpPr>
          <p:spPr bwMode="auto">
            <a:xfrm>
              <a:off x="4675" y="3022"/>
              <a:ext cx="3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mn-ea"/>
                  <a:ea typeface="+mn-ea"/>
                </a:rPr>
                <a:t>有</a:t>
              </a:r>
              <a:endParaRPr kumimoji="0" lang="zh-CN" altLang="en-US" sz="1400" b="1" i="0" u="none" strike="noStrike" kern="0" cap="none" spc="0" normalizeH="0" baseline="0" noProof="0" dirty="0">
                <a:ln>
                  <a:noFill/>
                </a:ln>
                <a:solidFill>
                  <a:srgbClr val="000000"/>
                </a:solidFill>
                <a:effectLst/>
                <a:uLnTx/>
                <a:uFillTx/>
                <a:latin typeface="+mn-ea"/>
                <a:ea typeface="+mn-ea"/>
              </a:endParaRPr>
            </a:p>
          </p:txBody>
        </p:sp>
      </p:grpSp>
      <p:sp>
        <p:nvSpPr>
          <p:cNvPr id="111" name="剪去对角的矩形 109"/>
          <p:cNvSpPr/>
          <p:nvPr/>
        </p:nvSpPr>
        <p:spPr>
          <a:xfrm>
            <a:off x="983432" y="2204864"/>
            <a:ext cx="2142481" cy="970273"/>
          </a:xfrm>
          <a:prstGeom prst="snip2DiagRect">
            <a:avLst/>
          </a:prstGeom>
          <a:solidFill>
            <a:srgbClr val="BBE0E3">
              <a:alpha val="50196"/>
            </a:srgbClr>
          </a:solidFill>
          <a:ln w="12700" cap="flat" cmpd="sng" algn="ctr">
            <a:solidFill>
              <a:schemeClr val="tx1"/>
            </a:solidFill>
            <a:prstDash val="solid"/>
          </a:ln>
          <a:effectLst/>
        </p:spPr>
        <p:txBody>
          <a:bodyPr anchor="ctr"/>
          <a:lstStyle/>
          <a:p>
            <a:pPr algn="ctr" eaLnBrk="0" fontAlgn="base" hangingPunct="0">
              <a:spcBef>
                <a:spcPct val="0"/>
              </a:spcBef>
              <a:spcAft>
                <a:spcPct val="0"/>
              </a:spcAft>
            </a:pPr>
            <a:r>
              <a:rPr lang="zh-CN" altLang="en-US" sz="2000" kern="0" dirty="0">
                <a:latin typeface="+mj-ea"/>
                <a:ea typeface="+mj-ea"/>
              </a:rPr>
              <a:t>单一实际要素形状的允许变动量</a:t>
            </a:r>
            <a:endParaRPr lang="zh-CN" altLang="en-US" sz="2000" kern="0" dirty="0">
              <a:latin typeface="+mj-ea"/>
              <a:ea typeface="+mj-ea"/>
            </a:endParaRPr>
          </a:p>
        </p:txBody>
      </p:sp>
      <p:sp>
        <p:nvSpPr>
          <p:cNvPr id="112" name="剪去对角的矩形 110"/>
          <p:cNvSpPr/>
          <p:nvPr/>
        </p:nvSpPr>
        <p:spPr>
          <a:xfrm>
            <a:off x="502079" y="3778185"/>
            <a:ext cx="2992754" cy="763569"/>
          </a:xfrm>
          <a:prstGeom prst="snip2Diag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r>
              <a:rPr kumimoji="1" lang="zh-CN" altLang="en-US" sz="2000" i="0" u="none" strike="noStrike" kern="0" cap="none" spc="0" normalizeH="0" baseline="0" noProof="0" dirty="0">
                <a:ln>
                  <a:noFill/>
                </a:ln>
                <a:solidFill>
                  <a:schemeClr val="tx1"/>
                </a:solidFill>
                <a:effectLst/>
                <a:uLnTx/>
                <a:uFillTx/>
                <a:latin typeface="+mn-ea"/>
              </a:rPr>
              <a:t>关联实际要素的位置对基准的允许变动全量</a:t>
            </a:r>
            <a:endParaRPr kumimoji="0" lang="zh-CN" altLang="en-US" sz="2000" i="0" u="none" strike="noStrike" kern="0" cap="none" spc="0" normalizeH="0" baseline="0" noProof="0" dirty="0">
              <a:ln>
                <a:noFill/>
              </a:ln>
              <a:solidFill>
                <a:schemeClr val="tx1"/>
              </a:solidFill>
              <a:effectLst/>
              <a:uLnTx/>
              <a:uFillTx/>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barn(inVertical)">
                                      <p:cBhvr>
                                        <p:cTn id="10" dur="500"/>
                                        <p:tgtEl>
                                          <p:spTgt spid="1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2"/>
                                        </p:tgtEl>
                                        <p:attrNameLst>
                                          <p:attrName>style.visibility</p:attrName>
                                        </p:attrNameLst>
                                      </p:cBhvr>
                                      <p:to>
                                        <p:strVal val="visible"/>
                                      </p:to>
                                    </p:set>
                                    <p:animEffect transition="in" filter="barn(inVertical)">
                                      <p:cBhvr>
                                        <p:cTn id="18"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1" grpId="0" animBg="1"/>
      <p:bldP spid="11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18"/>
          <p:cNvSpPr txBox="1">
            <a:spLocks noChangeArrowheads="1"/>
          </p:cNvSpPr>
          <p:nvPr/>
        </p:nvSpPr>
        <p:spPr bwMode="auto">
          <a:xfrm>
            <a:off x="156619" y="412176"/>
            <a:ext cx="2768707" cy="584775"/>
          </a:xfrm>
          <a:prstGeom prst="rect">
            <a:avLst/>
          </a:prstGeom>
          <a:noFill/>
          <a:ln w="9525">
            <a:noFill/>
            <a:miter lim="800000"/>
          </a:ln>
        </p:spPr>
        <p:txBody>
          <a:bodyPr wrap="none">
            <a:spAutoFit/>
          </a:bodyPr>
          <a:lstStyle/>
          <a:p>
            <a:r>
              <a:rPr lang="en-US" altLang="zh-CN" sz="3200" dirty="0">
                <a:solidFill>
                  <a:srgbClr val="FFFFFF"/>
                </a:solidFill>
                <a:latin typeface="微软雅黑" panose="020B0503020204020204" pitchFamily="34" charset="-122"/>
                <a:ea typeface="微软雅黑" panose="020B0503020204020204" pitchFamily="34" charset="-122"/>
              </a:rPr>
              <a:t>12.3 </a:t>
            </a:r>
            <a:r>
              <a:rPr lang="zh-CN" altLang="en-US" sz="3200" dirty="0">
                <a:solidFill>
                  <a:srgbClr val="FFFFFF"/>
                </a:solidFill>
                <a:latin typeface="微软雅黑" panose="020B0503020204020204" pitchFamily="34" charset="-122"/>
                <a:ea typeface="微软雅黑" panose="020B0503020204020204" pitchFamily="34" charset="-122"/>
              </a:rPr>
              <a:t>技术要求</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16"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sp>
        <p:nvSpPr>
          <p:cNvPr id="2" name="Text Box 4"/>
          <p:cNvSpPr txBox="1">
            <a:spLocks noChangeArrowheads="1"/>
          </p:cNvSpPr>
          <p:nvPr/>
        </p:nvSpPr>
        <p:spPr bwMode="auto">
          <a:xfrm>
            <a:off x="162838" y="1273176"/>
            <a:ext cx="3315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342900" indent="-342900" eaLnBrk="0" hangingPunct="0">
              <a:spcBef>
                <a:spcPts val="600"/>
              </a:spcBef>
              <a:buFont typeface="Wingdings" panose="05000000000000000000" pitchFamily="2" charset="2"/>
              <a:buChar char="l"/>
              <a:defRPr sz="2400">
                <a:solidFill>
                  <a:schemeClr val="accent6">
                    <a:lumMod val="75000"/>
                  </a:schemeClr>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dirty="0"/>
              <a:t>几何公差的标注方法</a:t>
            </a:r>
            <a:endParaRPr lang="zh-CN" altLang="en-US" dirty="0"/>
          </a:p>
        </p:txBody>
      </p:sp>
      <p:sp>
        <p:nvSpPr>
          <p:cNvPr id="3" name="Text Box 5"/>
          <p:cNvSpPr txBox="1">
            <a:spLocks noChangeArrowheads="1"/>
          </p:cNvSpPr>
          <p:nvPr/>
        </p:nvSpPr>
        <p:spPr bwMode="auto">
          <a:xfrm>
            <a:off x="4365052" y="1154175"/>
            <a:ext cx="5109091" cy="4766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几何公差的内容在公差方格中给出。</a:t>
            </a:r>
            <a:endParaRPr kumimoji="1" lang="zh-CN" altLang="en-US" sz="2400" dirty="0">
              <a:solidFill>
                <a:srgbClr val="000000"/>
              </a:solidFill>
              <a:latin typeface="黑体" panose="02010609060101010101" pitchFamily="2" charset="-122"/>
              <a:ea typeface="黑体" panose="02010609060101010101" pitchFamily="2" charset="-122"/>
            </a:endParaRPr>
          </a:p>
        </p:txBody>
      </p:sp>
      <p:sp>
        <p:nvSpPr>
          <p:cNvPr id="4" name="Text Box 26"/>
          <p:cNvSpPr txBox="1">
            <a:spLocks noChangeArrowheads="1"/>
          </p:cNvSpPr>
          <p:nvPr/>
        </p:nvSpPr>
        <p:spPr bwMode="auto">
          <a:xfrm>
            <a:off x="2125892" y="3601258"/>
            <a:ext cx="2457450"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400" dirty="0">
                <a:solidFill>
                  <a:srgbClr val="000000"/>
                </a:solidFill>
                <a:latin typeface="黑体" panose="02010609060101010101" pitchFamily="2" charset="-122"/>
                <a:ea typeface="黑体" panose="02010609060101010101" pitchFamily="2" charset="-122"/>
              </a:rPr>
              <a:t>例：</a:t>
            </a:r>
            <a:endParaRPr kumimoji="1" lang="en-US" altLang="zh-CN" sz="2400" dirty="0">
              <a:solidFill>
                <a:srgbClr val="000000"/>
              </a:solidFill>
              <a:latin typeface="黑体" panose="02010609060101010101" pitchFamily="2" charset="-122"/>
              <a:ea typeface="黑体" panose="02010609060101010101" pitchFamily="2" charset="-122"/>
            </a:endParaRPr>
          </a:p>
        </p:txBody>
      </p:sp>
      <p:grpSp>
        <p:nvGrpSpPr>
          <p:cNvPr id="5" name="Group 49"/>
          <p:cNvGrpSpPr/>
          <p:nvPr/>
        </p:nvGrpSpPr>
        <p:grpSpPr bwMode="auto">
          <a:xfrm>
            <a:off x="2146529" y="1951846"/>
            <a:ext cx="2024063" cy="822325"/>
            <a:chOff x="154" y="766"/>
            <a:chExt cx="1275" cy="518"/>
          </a:xfrm>
        </p:grpSpPr>
        <p:sp>
          <p:nvSpPr>
            <p:cNvPr id="6" name="Line 45"/>
            <p:cNvSpPr>
              <a:spLocks noChangeShapeType="1"/>
            </p:cNvSpPr>
            <p:nvPr/>
          </p:nvSpPr>
          <p:spPr bwMode="auto">
            <a:xfrm flipV="1">
              <a:off x="646" y="1018"/>
              <a:ext cx="145" cy="266"/>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7" name="Text Box 46"/>
            <p:cNvSpPr txBox="1">
              <a:spLocks noChangeArrowheads="1"/>
            </p:cNvSpPr>
            <p:nvPr/>
          </p:nvSpPr>
          <p:spPr bwMode="auto">
            <a:xfrm>
              <a:off x="154" y="766"/>
              <a:ext cx="12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dirty="0">
                  <a:solidFill>
                    <a:schemeClr val="accent5">
                      <a:lumMod val="75000"/>
                    </a:schemeClr>
                  </a:solidFill>
                  <a:latin typeface="黑体" panose="02010609060101010101" pitchFamily="2" charset="-122"/>
                  <a:ea typeface="黑体" panose="02010609060101010101" pitchFamily="2" charset="-122"/>
                </a:rPr>
                <a:t>几何特征符号</a:t>
              </a:r>
              <a:endParaRPr lang="zh-CN" altLang="en-US" sz="1800" dirty="0">
                <a:solidFill>
                  <a:schemeClr val="accent5">
                    <a:lumMod val="75000"/>
                  </a:schemeClr>
                </a:solidFill>
                <a:latin typeface="黑体" panose="02010609060101010101" pitchFamily="2" charset="-122"/>
                <a:ea typeface="黑体" panose="02010609060101010101" pitchFamily="2" charset="-122"/>
              </a:endParaRPr>
            </a:p>
          </p:txBody>
        </p:sp>
      </p:grpSp>
      <p:grpSp>
        <p:nvGrpSpPr>
          <p:cNvPr id="8" name="Group 51"/>
          <p:cNvGrpSpPr/>
          <p:nvPr/>
        </p:nvGrpSpPr>
        <p:grpSpPr bwMode="auto">
          <a:xfrm>
            <a:off x="3473679" y="2148696"/>
            <a:ext cx="1552575" cy="600075"/>
            <a:chOff x="990" y="890"/>
            <a:chExt cx="978" cy="378"/>
          </a:xfrm>
        </p:grpSpPr>
        <p:sp>
          <p:nvSpPr>
            <p:cNvPr id="9" name="Text Box 47"/>
            <p:cNvSpPr txBox="1">
              <a:spLocks noChangeArrowheads="1"/>
            </p:cNvSpPr>
            <p:nvPr/>
          </p:nvSpPr>
          <p:spPr bwMode="auto">
            <a:xfrm>
              <a:off x="1156" y="890"/>
              <a:ext cx="8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公差值</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sp>
          <p:nvSpPr>
            <p:cNvPr id="10" name="Line 48"/>
            <p:cNvSpPr>
              <a:spLocks noChangeShapeType="1"/>
            </p:cNvSpPr>
            <p:nvPr/>
          </p:nvSpPr>
          <p:spPr bwMode="auto">
            <a:xfrm flipH="1">
              <a:off x="990" y="1142"/>
              <a:ext cx="354" cy="126"/>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grpSp>
      <p:grpSp>
        <p:nvGrpSpPr>
          <p:cNvPr id="11" name="Group 54"/>
          <p:cNvGrpSpPr/>
          <p:nvPr/>
        </p:nvGrpSpPr>
        <p:grpSpPr bwMode="auto">
          <a:xfrm>
            <a:off x="4978629" y="2151871"/>
            <a:ext cx="950913" cy="560387"/>
            <a:chOff x="2021" y="892"/>
            <a:chExt cx="599" cy="353"/>
          </a:xfrm>
        </p:grpSpPr>
        <p:sp>
          <p:nvSpPr>
            <p:cNvPr id="12" name="Line 52"/>
            <p:cNvSpPr>
              <a:spLocks noChangeShapeType="1"/>
            </p:cNvSpPr>
            <p:nvPr/>
          </p:nvSpPr>
          <p:spPr bwMode="auto">
            <a:xfrm flipH="1" flipV="1">
              <a:off x="2226" y="1086"/>
              <a:ext cx="66" cy="159"/>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3" name="Text Box 53"/>
            <p:cNvSpPr txBox="1">
              <a:spLocks noChangeArrowheads="1"/>
            </p:cNvSpPr>
            <p:nvPr/>
          </p:nvSpPr>
          <p:spPr bwMode="auto">
            <a:xfrm>
              <a:off x="2021" y="892"/>
              <a:ext cx="5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基准</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14" name="Group 88"/>
          <p:cNvGrpSpPr/>
          <p:nvPr/>
        </p:nvGrpSpPr>
        <p:grpSpPr bwMode="auto">
          <a:xfrm>
            <a:off x="6980467" y="2215371"/>
            <a:ext cx="1193800" cy="530225"/>
            <a:chOff x="3115" y="953"/>
            <a:chExt cx="752" cy="334"/>
          </a:xfrm>
        </p:grpSpPr>
        <p:sp>
          <p:nvSpPr>
            <p:cNvPr id="15" name="Line 55"/>
            <p:cNvSpPr>
              <a:spLocks noChangeShapeType="1"/>
            </p:cNvSpPr>
            <p:nvPr/>
          </p:nvSpPr>
          <p:spPr bwMode="auto">
            <a:xfrm flipV="1">
              <a:off x="3354" y="1163"/>
              <a:ext cx="135" cy="124"/>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7" name="Text Box 60"/>
            <p:cNvSpPr txBox="1">
              <a:spLocks noChangeArrowheads="1"/>
            </p:cNvSpPr>
            <p:nvPr/>
          </p:nvSpPr>
          <p:spPr bwMode="auto">
            <a:xfrm>
              <a:off x="3115" y="953"/>
              <a:ext cx="7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公共基准</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sp>
        <p:nvSpPr>
          <p:cNvPr id="18" name="Text Box 64"/>
          <p:cNvSpPr txBox="1">
            <a:spLocks noChangeArrowheads="1"/>
          </p:cNvSpPr>
          <p:nvPr/>
        </p:nvSpPr>
        <p:spPr bwMode="auto">
          <a:xfrm>
            <a:off x="2967822" y="5442758"/>
            <a:ext cx="10572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平面度</a:t>
            </a:r>
            <a:endParaRPr kumimoji="1" lang="zh-CN" altLang="en-US" sz="2000">
              <a:solidFill>
                <a:srgbClr val="000000"/>
              </a:solidFill>
              <a:latin typeface="黑体" panose="02010609060101010101" pitchFamily="2" charset="-122"/>
              <a:ea typeface="黑体" panose="02010609060101010101" pitchFamily="2" charset="-122"/>
            </a:endParaRPr>
          </a:p>
        </p:txBody>
      </p:sp>
      <p:grpSp>
        <p:nvGrpSpPr>
          <p:cNvPr id="19" name="Group 25"/>
          <p:cNvGrpSpPr/>
          <p:nvPr/>
        </p:nvGrpSpPr>
        <p:grpSpPr bwMode="auto">
          <a:xfrm>
            <a:off x="4416654" y="2656696"/>
            <a:ext cx="1485900" cy="411162"/>
            <a:chOff x="1584" y="1000"/>
            <a:chExt cx="936" cy="259"/>
          </a:xfrm>
        </p:grpSpPr>
        <p:sp>
          <p:nvSpPr>
            <p:cNvPr id="20" name="Rectangle 14"/>
            <p:cNvSpPr>
              <a:spLocks noChangeArrowheads="1"/>
            </p:cNvSpPr>
            <p:nvPr/>
          </p:nvSpPr>
          <p:spPr bwMode="auto">
            <a:xfrm>
              <a:off x="1584" y="1000"/>
              <a:ext cx="833" cy="257"/>
            </a:xfrm>
            <a:prstGeom prst="rect">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Line 15"/>
            <p:cNvSpPr>
              <a:spLocks noChangeShapeType="1"/>
            </p:cNvSpPr>
            <p:nvPr/>
          </p:nvSpPr>
          <p:spPr bwMode="auto">
            <a:xfrm>
              <a:off x="1834" y="1000"/>
              <a:ext cx="0" cy="25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22" name="Group 16"/>
            <p:cNvGrpSpPr/>
            <p:nvPr/>
          </p:nvGrpSpPr>
          <p:grpSpPr bwMode="auto">
            <a:xfrm>
              <a:off x="1641" y="1067"/>
              <a:ext cx="123" cy="115"/>
              <a:chOff x="1028" y="1066"/>
              <a:chExt cx="123" cy="115"/>
            </a:xfrm>
          </p:grpSpPr>
          <p:sp>
            <p:nvSpPr>
              <p:cNvPr id="26" name="Line 17"/>
              <p:cNvSpPr>
                <a:spLocks noChangeShapeType="1"/>
              </p:cNvSpPr>
              <p:nvPr/>
            </p:nvSpPr>
            <p:spPr bwMode="auto">
              <a:xfrm flipH="1">
                <a:off x="1028" y="1066"/>
                <a:ext cx="66" cy="11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7" name="Line 18"/>
              <p:cNvSpPr>
                <a:spLocks noChangeShapeType="1"/>
              </p:cNvSpPr>
              <p:nvPr/>
            </p:nvSpPr>
            <p:spPr bwMode="auto">
              <a:xfrm flipH="1">
                <a:off x="1085" y="1067"/>
                <a:ext cx="66" cy="11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23" name="Text Box 19"/>
            <p:cNvSpPr txBox="1">
              <a:spLocks noChangeArrowheads="1"/>
            </p:cNvSpPr>
            <p:nvPr/>
          </p:nvSpPr>
          <p:spPr bwMode="auto">
            <a:xfrm>
              <a:off x="1833" y="1012"/>
              <a:ext cx="44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0.1</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24" name="Line 20"/>
            <p:cNvSpPr>
              <a:spLocks noChangeShapeType="1"/>
            </p:cNvSpPr>
            <p:nvPr/>
          </p:nvSpPr>
          <p:spPr bwMode="auto">
            <a:xfrm>
              <a:off x="2157" y="1001"/>
              <a:ext cx="0" cy="25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25" name="Text Box 21"/>
            <p:cNvSpPr txBox="1">
              <a:spLocks noChangeArrowheads="1"/>
            </p:cNvSpPr>
            <p:nvPr/>
          </p:nvSpPr>
          <p:spPr bwMode="auto">
            <a:xfrm>
              <a:off x="2172" y="1005"/>
              <a:ext cx="3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grpSp>
        <p:nvGrpSpPr>
          <p:cNvPr id="28" name="Group 24"/>
          <p:cNvGrpSpPr/>
          <p:nvPr/>
        </p:nvGrpSpPr>
        <p:grpSpPr bwMode="auto">
          <a:xfrm>
            <a:off x="2719617" y="2655108"/>
            <a:ext cx="1014412" cy="407988"/>
            <a:chOff x="985" y="999"/>
            <a:chExt cx="639" cy="257"/>
          </a:xfrm>
        </p:grpSpPr>
        <p:sp>
          <p:nvSpPr>
            <p:cNvPr id="29" name="Rectangle 6"/>
            <p:cNvSpPr>
              <a:spLocks noChangeArrowheads="1"/>
            </p:cNvSpPr>
            <p:nvPr/>
          </p:nvSpPr>
          <p:spPr bwMode="auto">
            <a:xfrm>
              <a:off x="985" y="999"/>
              <a:ext cx="541" cy="257"/>
            </a:xfrm>
            <a:prstGeom prst="rect">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0" name="Line 7"/>
            <p:cNvSpPr>
              <a:spLocks noChangeShapeType="1"/>
            </p:cNvSpPr>
            <p:nvPr/>
          </p:nvSpPr>
          <p:spPr bwMode="auto">
            <a:xfrm>
              <a:off x="1235" y="999"/>
              <a:ext cx="0" cy="25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1" name="Text Box 11"/>
            <p:cNvSpPr txBox="1">
              <a:spLocks noChangeArrowheads="1"/>
            </p:cNvSpPr>
            <p:nvPr/>
          </p:nvSpPr>
          <p:spPr bwMode="auto">
            <a:xfrm>
              <a:off x="1234" y="1011"/>
              <a:ext cx="39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0.1</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32" name="Line 23"/>
            <p:cNvSpPr>
              <a:spLocks noChangeShapeType="1"/>
            </p:cNvSpPr>
            <p:nvPr/>
          </p:nvSpPr>
          <p:spPr bwMode="auto">
            <a:xfrm>
              <a:off x="1048" y="1126"/>
              <a:ext cx="1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33" name="Group 87"/>
          <p:cNvGrpSpPr/>
          <p:nvPr/>
        </p:nvGrpSpPr>
        <p:grpSpPr bwMode="auto">
          <a:xfrm>
            <a:off x="6107342" y="2658283"/>
            <a:ext cx="1774825" cy="407988"/>
            <a:chOff x="2565" y="1232"/>
            <a:chExt cx="1118" cy="257"/>
          </a:xfrm>
        </p:grpSpPr>
        <p:sp>
          <p:nvSpPr>
            <p:cNvPr id="34" name="Rectangle 28"/>
            <p:cNvSpPr>
              <a:spLocks noChangeArrowheads="1"/>
            </p:cNvSpPr>
            <p:nvPr/>
          </p:nvSpPr>
          <p:spPr bwMode="auto">
            <a:xfrm>
              <a:off x="2565" y="1232"/>
              <a:ext cx="1012" cy="257"/>
            </a:xfrm>
            <a:prstGeom prst="rect">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5" name="Line 29"/>
            <p:cNvSpPr>
              <a:spLocks noChangeShapeType="1"/>
            </p:cNvSpPr>
            <p:nvPr/>
          </p:nvSpPr>
          <p:spPr bwMode="auto">
            <a:xfrm>
              <a:off x="2815" y="1232"/>
              <a:ext cx="0" cy="25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6" name="Text Box 33"/>
            <p:cNvSpPr txBox="1">
              <a:spLocks noChangeArrowheads="1"/>
            </p:cNvSpPr>
            <p:nvPr/>
          </p:nvSpPr>
          <p:spPr bwMode="auto">
            <a:xfrm>
              <a:off x="2798" y="1240"/>
              <a:ext cx="5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dirty="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rPr>
                <a:t>ø0.1</a:t>
              </a:r>
              <a:endParaRPr kumimoji="0" lang="en-US" altLang="zh-CN" sz="1800" i="1" u="none" strike="noStrike" kern="0" cap="none" spc="0" normalizeH="0" baseline="0" noProof="0" dirty="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endParaRPr>
            </a:p>
          </p:txBody>
        </p:sp>
        <p:sp>
          <p:nvSpPr>
            <p:cNvPr id="38" name="Line 34"/>
            <p:cNvSpPr>
              <a:spLocks noChangeShapeType="1"/>
            </p:cNvSpPr>
            <p:nvPr/>
          </p:nvSpPr>
          <p:spPr bwMode="auto">
            <a:xfrm>
              <a:off x="3168" y="1233"/>
              <a:ext cx="0" cy="25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39" name="Text Box 35"/>
            <p:cNvSpPr txBox="1">
              <a:spLocks noChangeArrowheads="1"/>
            </p:cNvSpPr>
            <p:nvPr/>
          </p:nvSpPr>
          <p:spPr bwMode="auto">
            <a:xfrm>
              <a:off x="3171" y="1237"/>
              <a:ext cx="33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nvGrpSpPr>
            <p:cNvPr id="40" name="Group 39"/>
            <p:cNvGrpSpPr/>
            <p:nvPr/>
          </p:nvGrpSpPr>
          <p:grpSpPr bwMode="auto">
            <a:xfrm>
              <a:off x="2600" y="1273"/>
              <a:ext cx="180" cy="178"/>
              <a:chOff x="2674" y="1246"/>
              <a:chExt cx="194" cy="192"/>
            </a:xfrm>
          </p:grpSpPr>
          <p:sp>
            <p:nvSpPr>
              <p:cNvPr id="43" name="Oval 36"/>
              <p:cNvSpPr>
                <a:spLocks noChangeArrowheads="1"/>
              </p:cNvSpPr>
              <p:nvPr/>
            </p:nvSpPr>
            <p:spPr bwMode="auto">
              <a:xfrm>
                <a:off x="2702" y="1274"/>
                <a:ext cx="136" cy="136"/>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Line 37"/>
              <p:cNvSpPr>
                <a:spLocks noChangeShapeType="1"/>
              </p:cNvSpPr>
              <p:nvPr/>
            </p:nvSpPr>
            <p:spPr bwMode="auto">
              <a:xfrm>
                <a:off x="2674" y="1344"/>
                <a:ext cx="19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5" name="Line 38"/>
              <p:cNvSpPr>
                <a:spLocks noChangeShapeType="1"/>
              </p:cNvSpPr>
              <p:nvPr/>
            </p:nvSpPr>
            <p:spPr bwMode="auto">
              <a:xfrm>
                <a:off x="2770" y="1246"/>
                <a:ext cx="0" cy="19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41" name="Text Box 41"/>
            <p:cNvSpPr txBox="1">
              <a:spLocks noChangeArrowheads="1"/>
            </p:cNvSpPr>
            <p:nvPr/>
          </p:nvSpPr>
          <p:spPr bwMode="auto">
            <a:xfrm>
              <a:off x="3353" y="1242"/>
              <a:ext cx="33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B</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42" name="Line 43"/>
            <p:cNvSpPr>
              <a:spLocks noChangeShapeType="1"/>
            </p:cNvSpPr>
            <p:nvPr/>
          </p:nvSpPr>
          <p:spPr bwMode="auto">
            <a:xfrm rot="-5400000">
              <a:off x="3364" y="1327"/>
              <a:ext cx="0" cy="6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46" name="Group 66"/>
          <p:cNvGrpSpPr/>
          <p:nvPr/>
        </p:nvGrpSpPr>
        <p:grpSpPr bwMode="auto">
          <a:xfrm>
            <a:off x="8790217" y="2658283"/>
            <a:ext cx="2043112" cy="409575"/>
            <a:chOff x="2649" y="1210"/>
            <a:chExt cx="1287" cy="258"/>
          </a:xfrm>
        </p:grpSpPr>
        <p:sp>
          <p:nvSpPr>
            <p:cNvPr id="47" name="Rectangle 67"/>
            <p:cNvSpPr>
              <a:spLocks noChangeArrowheads="1"/>
            </p:cNvSpPr>
            <p:nvPr/>
          </p:nvSpPr>
          <p:spPr bwMode="auto">
            <a:xfrm>
              <a:off x="2649" y="1211"/>
              <a:ext cx="1195" cy="257"/>
            </a:xfrm>
            <a:prstGeom prst="rect">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Line 68"/>
            <p:cNvSpPr>
              <a:spLocks noChangeShapeType="1"/>
            </p:cNvSpPr>
            <p:nvPr/>
          </p:nvSpPr>
          <p:spPr bwMode="auto">
            <a:xfrm>
              <a:off x="2899" y="1211"/>
              <a:ext cx="0" cy="25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49" name="Text Box 69"/>
            <p:cNvSpPr txBox="1">
              <a:spLocks noChangeArrowheads="1"/>
            </p:cNvSpPr>
            <p:nvPr/>
          </p:nvSpPr>
          <p:spPr bwMode="auto">
            <a:xfrm>
              <a:off x="2898" y="1219"/>
              <a:ext cx="5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S</a:t>
              </a: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rPr>
                <a:t>ø</a:t>
              </a: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0.1</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50" name="Line 70"/>
            <p:cNvSpPr>
              <a:spLocks noChangeShapeType="1"/>
            </p:cNvSpPr>
            <p:nvPr/>
          </p:nvSpPr>
          <p:spPr bwMode="auto">
            <a:xfrm>
              <a:off x="3344" y="1212"/>
              <a:ext cx="0" cy="25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1" name="Text Box 71"/>
            <p:cNvSpPr txBox="1">
              <a:spLocks noChangeArrowheads="1"/>
            </p:cNvSpPr>
            <p:nvPr/>
          </p:nvSpPr>
          <p:spPr bwMode="auto">
            <a:xfrm>
              <a:off x="3347" y="1216"/>
              <a:ext cx="33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grpSp>
          <p:nvGrpSpPr>
            <p:cNvPr id="52" name="Group 72"/>
            <p:cNvGrpSpPr/>
            <p:nvPr/>
          </p:nvGrpSpPr>
          <p:grpSpPr bwMode="auto">
            <a:xfrm>
              <a:off x="2684" y="1252"/>
              <a:ext cx="180" cy="178"/>
              <a:chOff x="2674" y="1246"/>
              <a:chExt cx="194" cy="192"/>
            </a:xfrm>
          </p:grpSpPr>
          <p:sp>
            <p:nvSpPr>
              <p:cNvPr id="55" name="Oval 73"/>
              <p:cNvSpPr>
                <a:spLocks noChangeArrowheads="1"/>
              </p:cNvSpPr>
              <p:nvPr/>
            </p:nvSpPr>
            <p:spPr bwMode="auto">
              <a:xfrm>
                <a:off x="2702" y="1274"/>
                <a:ext cx="136" cy="136"/>
              </a:xfrm>
              <a:prstGeom prst="ellipse">
                <a:avLst/>
              </a:prstGeom>
              <a:noFill/>
              <a:ln w="1905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6" name="Line 74"/>
              <p:cNvSpPr>
                <a:spLocks noChangeShapeType="1"/>
              </p:cNvSpPr>
              <p:nvPr/>
            </p:nvSpPr>
            <p:spPr bwMode="auto">
              <a:xfrm>
                <a:off x="2674" y="1344"/>
                <a:ext cx="19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57" name="Line 75"/>
              <p:cNvSpPr>
                <a:spLocks noChangeShapeType="1"/>
              </p:cNvSpPr>
              <p:nvPr/>
            </p:nvSpPr>
            <p:spPr bwMode="auto">
              <a:xfrm>
                <a:off x="2770" y="1246"/>
                <a:ext cx="0" cy="19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53" name="Text Box 76"/>
            <p:cNvSpPr txBox="1">
              <a:spLocks noChangeArrowheads="1"/>
            </p:cNvSpPr>
            <p:nvPr/>
          </p:nvSpPr>
          <p:spPr bwMode="auto">
            <a:xfrm>
              <a:off x="3606" y="1215"/>
              <a:ext cx="33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rPr>
                <a:t>B</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endParaRPr>
            </a:p>
          </p:txBody>
        </p:sp>
        <p:sp>
          <p:nvSpPr>
            <p:cNvPr id="54" name="Line 77"/>
            <p:cNvSpPr>
              <a:spLocks noChangeShapeType="1"/>
            </p:cNvSpPr>
            <p:nvPr/>
          </p:nvSpPr>
          <p:spPr bwMode="auto">
            <a:xfrm>
              <a:off x="3594" y="1210"/>
              <a:ext cx="0" cy="25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58" name="Group 232"/>
          <p:cNvGrpSpPr/>
          <p:nvPr/>
        </p:nvGrpSpPr>
        <p:grpSpPr bwMode="auto">
          <a:xfrm>
            <a:off x="5662842" y="1680383"/>
            <a:ext cx="1844675" cy="1082675"/>
            <a:chOff x="2600" y="1543"/>
            <a:chExt cx="1162" cy="682"/>
          </a:xfrm>
        </p:grpSpPr>
        <p:sp>
          <p:nvSpPr>
            <p:cNvPr id="59" name="Line 63"/>
            <p:cNvSpPr>
              <a:spLocks noChangeShapeType="1"/>
            </p:cNvSpPr>
            <p:nvPr/>
          </p:nvSpPr>
          <p:spPr bwMode="auto">
            <a:xfrm>
              <a:off x="3006" y="1947"/>
              <a:ext cx="169" cy="27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60" name="Rectangle 79"/>
            <p:cNvSpPr>
              <a:spLocks noChangeArrowheads="1"/>
            </p:cNvSpPr>
            <p:nvPr/>
          </p:nvSpPr>
          <p:spPr bwMode="auto">
            <a:xfrm>
              <a:off x="2600" y="1543"/>
              <a:ext cx="1162"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公差带为圆形或圆柱形，加“</a:t>
              </a:r>
              <a:r>
                <a:rPr lang="en-US" altLang="zh-CN" sz="1800">
                  <a:solidFill>
                    <a:schemeClr val="accent5">
                      <a:lumMod val="75000"/>
                    </a:schemeClr>
                  </a:solidFill>
                  <a:latin typeface="黑体" panose="02010609060101010101" pitchFamily="2" charset="-122"/>
                  <a:ea typeface="黑体" panose="02010609060101010101" pitchFamily="2" charset="-122"/>
                </a:rPr>
                <a:t>ø”</a:t>
              </a:r>
              <a:endParaRPr lang="en-US" altLang="zh-CN"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61" name="Group 233"/>
          <p:cNvGrpSpPr/>
          <p:nvPr/>
        </p:nvGrpSpPr>
        <p:grpSpPr bwMode="auto">
          <a:xfrm>
            <a:off x="8244117" y="1783571"/>
            <a:ext cx="1565275" cy="965200"/>
            <a:chOff x="4267" y="1544"/>
            <a:chExt cx="986" cy="608"/>
          </a:xfrm>
        </p:grpSpPr>
        <p:sp>
          <p:nvSpPr>
            <p:cNvPr id="62" name="Rectangle 80"/>
            <p:cNvSpPr>
              <a:spLocks noChangeArrowheads="1"/>
            </p:cNvSpPr>
            <p:nvPr/>
          </p:nvSpPr>
          <p:spPr bwMode="auto">
            <a:xfrm>
              <a:off x="4267" y="1544"/>
              <a:ext cx="986"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公差带为圆球形，加“</a:t>
              </a:r>
              <a:r>
                <a:rPr lang="en-US" altLang="zh-CN" sz="1800">
                  <a:solidFill>
                    <a:schemeClr val="accent5">
                      <a:lumMod val="75000"/>
                    </a:schemeClr>
                  </a:solidFill>
                  <a:latin typeface="黑体" panose="02010609060101010101" pitchFamily="2" charset="-122"/>
                  <a:ea typeface="黑体" panose="02010609060101010101" pitchFamily="2" charset="-122"/>
                </a:rPr>
                <a:t>Sø”</a:t>
              </a:r>
              <a:endParaRPr lang="en-US" altLang="zh-CN" sz="1800">
                <a:solidFill>
                  <a:schemeClr val="accent5">
                    <a:lumMod val="75000"/>
                  </a:schemeClr>
                </a:solidFill>
                <a:latin typeface="黑体" panose="02010609060101010101" pitchFamily="2" charset="-122"/>
                <a:ea typeface="黑体" panose="02010609060101010101" pitchFamily="2" charset="-122"/>
              </a:endParaRPr>
            </a:p>
          </p:txBody>
        </p:sp>
        <p:sp>
          <p:nvSpPr>
            <p:cNvPr id="63" name="Line 81"/>
            <p:cNvSpPr>
              <a:spLocks noChangeShapeType="1"/>
            </p:cNvSpPr>
            <p:nvPr/>
          </p:nvSpPr>
          <p:spPr bwMode="auto">
            <a:xfrm>
              <a:off x="4769" y="1951"/>
              <a:ext cx="236" cy="201"/>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grpSp>
      <p:grpSp>
        <p:nvGrpSpPr>
          <p:cNvPr id="64" name="Group 93"/>
          <p:cNvGrpSpPr/>
          <p:nvPr/>
        </p:nvGrpSpPr>
        <p:grpSpPr bwMode="auto">
          <a:xfrm>
            <a:off x="9749067" y="1840721"/>
            <a:ext cx="1538287" cy="914400"/>
            <a:chOff x="4451" y="717"/>
            <a:chExt cx="969" cy="576"/>
          </a:xfrm>
        </p:grpSpPr>
        <p:sp>
          <p:nvSpPr>
            <p:cNvPr id="65" name="Line 90"/>
            <p:cNvSpPr>
              <a:spLocks noChangeShapeType="1"/>
            </p:cNvSpPr>
            <p:nvPr/>
          </p:nvSpPr>
          <p:spPr bwMode="auto">
            <a:xfrm flipV="1">
              <a:off x="4688" y="1121"/>
              <a:ext cx="87" cy="16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66" name="Text Box 91"/>
            <p:cNvSpPr txBox="1">
              <a:spLocks noChangeArrowheads="1"/>
            </p:cNvSpPr>
            <p:nvPr/>
          </p:nvSpPr>
          <p:spPr bwMode="auto">
            <a:xfrm>
              <a:off x="4451" y="717"/>
              <a:ext cx="969"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多基准按优先顺序排列</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sp>
          <p:nvSpPr>
            <p:cNvPr id="67" name="Line 92"/>
            <p:cNvSpPr>
              <a:spLocks noChangeShapeType="1"/>
            </p:cNvSpPr>
            <p:nvPr/>
          </p:nvSpPr>
          <p:spPr bwMode="auto">
            <a:xfrm>
              <a:off x="4779" y="1125"/>
              <a:ext cx="114" cy="16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grpSp>
      <p:sp>
        <p:nvSpPr>
          <p:cNvPr id="68" name="Rectangle 78"/>
          <p:cNvSpPr>
            <a:spLocks noChangeArrowheads="1"/>
          </p:cNvSpPr>
          <p:nvPr/>
        </p:nvSpPr>
        <p:spPr bwMode="auto">
          <a:xfrm>
            <a:off x="2897417" y="4720446"/>
            <a:ext cx="1136650" cy="446087"/>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69" name="Group 222"/>
          <p:cNvGrpSpPr/>
          <p:nvPr/>
        </p:nvGrpSpPr>
        <p:grpSpPr bwMode="auto">
          <a:xfrm>
            <a:off x="3348267" y="4202921"/>
            <a:ext cx="1298575" cy="522287"/>
            <a:chOff x="833" y="2523"/>
            <a:chExt cx="819" cy="329"/>
          </a:xfrm>
        </p:grpSpPr>
        <p:grpSp>
          <p:nvGrpSpPr>
            <p:cNvPr id="70" name="Group 221"/>
            <p:cNvGrpSpPr/>
            <p:nvPr/>
          </p:nvGrpSpPr>
          <p:grpSpPr bwMode="auto">
            <a:xfrm>
              <a:off x="980" y="2523"/>
              <a:ext cx="672" cy="231"/>
              <a:chOff x="980" y="2523"/>
              <a:chExt cx="672" cy="231"/>
            </a:xfrm>
          </p:grpSpPr>
          <p:sp>
            <p:nvSpPr>
              <p:cNvPr id="73" name="Rectangle 94"/>
              <p:cNvSpPr>
                <a:spLocks noChangeArrowheads="1"/>
              </p:cNvSpPr>
              <p:nvPr/>
            </p:nvSpPr>
            <p:spPr bwMode="auto">
              <a:xfrm>
                <a:off x="980" y="2561"/>
                <a:ext cx="485" cy="173"/>
              </a:xfrm>
              <a:prstGeom prst="rect">
                <a:avLst/>
              </a:prstGeom>
              <a:noFill/>
              <a:ln w="9525">
                <a:solidFill>
                  <a:srgbClr val="00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4" name="AutoShape 95"/>
              <p:cNvSpPr>
                <a:spLocks noChangeArrowheads="1"/>
              </p:cNvSpPr>
              <p:nvPr/>
            </p:nvSpPr>
            <p:spPr bwMode="auto">
              <a:xfrm>
                <a:off x="1016" y="2612"/>
                <a:ext cx="106" cy="74"/>
              </a:xfrm>
              <a:prstGeom prst="parallelogram">
                <a:avLst>
                  <a:gd name="adj" fmla="val 35811"/>
                </a:avLst>
              </a:prstGeom>
              <a:noFill/>
              <a:ln w="12700">
                <a:solidFill>
                  <a:srgbClr val="00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5" name="Line 96"/>
              <p:cNvSpPr>
                <a:spLocks noChangeShapeType="1"/>
              </p:cNvSpPr>
              <p:nvPr/>
            </p:nvSpPr>
            <p:spPr bwMode="auto">
              <a:xfrm>
                <a:off x="1166" y="2562"/>
                <a:ext cx="0" cy="17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6" name="Text Box 97"/>
              <p:cNvSpPr txBox="1">
                <a:spLocks noChangeArrowheads="1"/>
              </p:cNvSpPr>
              <p:nvPr/>
            </p:nvSpPr>
            <p:spPr bwMode="auto">
              <a:xfrm>
                <a:off x="1126" y="2523"/>
                <a:ext cx="5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0.01</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sp>
          <p:nvSpPr>
            <p:cNvPr id="71" name="Line 99"/>
            <p:cNvSpPr>
              <a:spLocks noChangeShapeType="1"/>
            </p:cNvSpPr>
            <p:nvPr/>
          </p:nvSpPr>
          <p:spPr bwMode="auto">
            <a:xfrm flipH="1">
              <a:off x="834" y="2646"/>
              <a:ext cx="144"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72" name="Line 100"/>
            <p:cNvSpPr>
              <a:spLocks noChangeShapeType="1"/>
            </p:cNvSpPr>
            <p:nvPr/>
          </p:nvSpPr>
          <p:spPr bwMode="auto">
            <a:xfrm>
              <a:off x="833" y="2646"/>
              <a:ext cx="0" cy="206"/>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77" name="Group 104"/>
          <p:cNvGrpSpPr/>
          <p:nvPr/>
        </p:nvGrpSpPr>
        <p:grpSpPr bwMode="auto">
          <a:xfrm>
            <a:off x="2202092" y="4182283"/>
            <a:ext cx="1114425" cy="520700"/>
            <a:chOff x="273" y="2290"/>
            <a:chExt cx="702" cy="328"/>
          </a:xfrm>
        </p:grpSpPr>
        <p:sp>
          <p:nvSpPr>
            <p:cNvPr id="78" name="Line 102"/>
            <p:cNvSpPr>
              <a:spLocks noChangeShapeType="1"/>
            </p:cNvSpPr>
            <p:nvPr/>
          </p:nvSpPr>
          <p:spPr bwMode="auto">
            <a:xfrm flipH="1" flipV="1">
              <a:off x="653" y="2481"/>
              <a:ext cx="120" cy="137"/>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79" name="Text Box 103"/>
            <p:cNvSpPr txBox="1">
              <a:spLocks noChangeArrowheads="1"/>
            </p:cNvSpPr>
            <p:nvPr/>
          </p:nvSpPr>
          <p:spPr bwMode="auto">
            <a:xfrm>
              <a:off x="273" y="2290"/>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被测要素</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80" name="Group 110"/>
          <p:cNvGrpSpPr/>
          <p:nvPr/>
        </p:nvGrpSpPr>
        <p:grpSpPr bwMode="auto">
          <a:xfrm>
            <a:off x="3805467" y="3794933"/>
            <a:ext cx="1397000" cy="463550"/>
            <a:chOff x="1130" y="2128"/>
            <a:chExt cx="880" cy="292"/>
          </a:xfrm>
        </p:grpSpPr>
        <p:sp>
          <p:nvSpPr>
            <p:cNvPr id="81" name="Line 108"/>
            <p:cNvSpPr>
              <a:spLocks noChangeShapeType="1"/>
            </p:cNvSpPr>
            <p:nvPr/>
          </p:nvSpPr>
          <p:spPr bwMode="auto">
            <a:xfrm flipV="1">
              <a:off x="1356" y="2320"/>
              <a:ext cx="66" cy="100"/>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82" name="Text Box 109"/>
            <p:cNvSpPr txBox="1">
              <a:spLocks noChangeArrowheads="1"/>
            </p:cNvSpPr>
            <p:nvPr/>
          </p:nvSpPr>
          <p:spPr bwMode="auto">
            <a:xfrm>
              <a:off x="1130" y="2128"/>
              <a:ext cx="8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公差方格</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83" name="Group 113"/>
          <p:cNvGrpSpPr/>
          <p:nvPr/>
        </p:nvGrpSpPr>
        <p:grpSpPr bwMode="auto">
          <a:xfrm>
            <a:off x="2862492" y="3810808"/>
            <a:ext cx="1241425" cy="587375"/>
            <a:chOff x="688" y="2136"/>
            <a:chExt cx="783" cy="370"/>
          </a:xfrm>
        </p:grpSpPr>
        <p:sp>
          <p:nvSpPr>
            <p:cNvPr id="84" name="Line 111"/>
            <p:cNvSpPr>
              <a:spLocks noChangeShapeType="1"/>
            </p:cNvSpPr>
            <p:nvPr/>
          </p:nvSpPr>
          <p:spPr bwMode="auto">
            <a:xfrm flipH="1" flipV="1">
              <a:off x="982" y="2328"/>
              <a:ext cx="92" cy="17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85" name="Text Box 112"/>
            <p:cNvSpPr txBox="1">
              <a:spLocks noChangeArrowheads="1"/>
            </p:cNvSpPr>
            <p:nvPr/>
          </p:nvSpPr>
          <p:spPr bwMode="auto">
            <a:xfrm>
              <a:off x="688" y="2136"/>
              <a:ext cx="78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指引线</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86" name="Group 135"/>
          <p:cNvGrpSpPr/>
          <p:nvPr/>
        </p:nvGrpSpPr>
        <p:grpSpPr bwMode="auto">
          <a:xfrm>
            <a:off x="4881792" y="4177521"/>
            <a:ext cx="1984375" cy="1147762"/>
            <a:chOff x="2045" y="2367"/>
            <a:chExt cx="1249" cy="723"/>
          </a:xfrm>
        </p:grpSpPr>
        <p:grpSp>
          <p:nvGrpSpPr>
            <p:cNvPr id="87" name="Group 134"/>
            <p:cNvGrpSpPr/>
            <p:nvPr/>
          </p:nvGrpSpPr>
          <p:grpSpPr bwMode="auto">
            <a:xfrm>
              <a:off x="2045" y="2568"/>
              <a:ext cx="1060" cy="522"/>
              <a:chOff x="2045" y="2568"/>
              <a:chExt cx="1060" cy="522"/>
            </a:xfrm>
          </p:grpSpPr>
          <p:sp>
            <p:nvSpPr>
              <p:cNvPr id="92" name="Rectangle 115"/>
              <p:cNvSpPr>
                <a:spLocks noChangeArrowheads="1"/>
              </p:cNvSpPr>
              <p:nvPr/>
            </p:nvSpPr>
            <p:spPr bwMode="auto">
              <a:xfrm>
                <a:off x="2119" y="2568"/>
                <a:ext cx="265" cy="522"/>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3" name="Line 116"/>
              <p:cNvSpPr>
                <a:spLocks noChangeShapeType="1"/>
              </p:cNvSpPr>
              <p:nvPr/>
            </p:nvSpPr>
            <p:spPr bwMode="auto">
              <a:xfrm>
                <a:off x="2045" y="2834"/>
                <a:ext cx="106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4" name="Line 117"/>
              <p:cNvSpPr>
                <a:spLocks noChangeShapeType="1"/>
              </p:cNvSpPr>
              <p:nvPr/>
            </p:nvSpPr>
            <p:spPr bwMode="auto">
              <a:xfrm>
                <a:off x="2384" y="2645"/>
                <a:ext cx="66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5" name="Line 118"/>
              <p:cNvSpPr>
                <a:spLocks noChangeShapeType="1"/>
              </p:cNvSpPr>
              <p:nvPr/>
            </p:nvSpPr>
            <p:spPr bwMode="auto">
              <a:xfrm>
                <a:off x="3044" y="2632"/>
                <a:ext cx="0" cy="39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6" name="Line 119"/>
              <p:cNvSpPr>
                <a:spLocks noChangeShapeType="1"/>
              </p:cNvSpPr>
              <p:nvPr/>
            </p:nvSpPr>
            <p:spPr bwMode="auto">
              <a:xfrm flipH="1">
                <a:off x="2384" y="3016"/>
                <a:ext cx="66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7" name="Line 121"/>
              <p:cNvSpPr>
                <a:spLocks noChangeShapeType="1"/>
              </p:cNvSpPr>
              <p:nvPr/>
            </p:nvSpPr>
            <p:spPr bwMode="auto">
              <a:xfrm>
                <a:off x="2548" y="2799"/>
                <a:ext cx="0" cy="8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8" name="Line 122"/>
              <p:cNvSpPr>
                <a:spLocks noChangeShapeType="1"/>
              </p:cNvSpPr>
              <p:nvPr/>
            </p:nvSpPr>
            <p:spPr bwMode="auto">
              <a:xfrm>
                <a:off x="2620" y="2798"/>
                <a:ext cx="0" cy="8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88" name="Line 124"/>
            <p:cNvSpPr>
              <a:spLocks noChangeShapeType="1"/>
            </p:cNvSpPr>
            <p:nvPr/>
          </p:nvSpPr>
          <p:spPr bwMode="auto">
            <a:xfrm>
              <a:off x="3045" y="2643"/>
              <a:ext cx="24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89" name="Line 125"/>
            <p:cNvSpPr>
              <a:spLocks noChangeShapeType="1"/>
            </p:cNvSpPr>
            <p:nvPr/>
          </p:nvSpPr>
          <p:spPr bwMode="auto">
            <a:xfrm>
              <a:off x="3045" y="3018"/>
              <a:ext cx="24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0" name="Line 126"/>
            <p:cNvSpPr>
              <a:spLocks noChangeShapeType="1"/>
            </p:cNvSpPr>
            <p:nvPr/>
          </p:nvSpPr>
          <p:spPr bwMode="auto">
            <a:xfrm>
              <a:off x="3246" y="2643"/>
              <a:ext cx="0" cy="378"/>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91" name="Text Box 127"/>
            <p:cNvSpPr txBox="1">
              <a:spLocks noChangeArrowheads="1"/>
            </p:cNvSpPr>
            <p:nvPr/>
          </p:nvSpPr>
          <p:spPr bwMode="auto">
            <a:xfrm rot="-5400000">
              <a:off x="2800" y="2610"/>
              <a:ext cx="7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rPr>
                <a:t>ø20h7</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endParaRPr>
            </a:p>
          </p:txBody>
        </p:sp>
      </p:grpSp>
      <p:grpSp>
        <p:nvGrpSpPr>
          <p:cNvPr id="99" name="Group 133"/>
          <p:cNvGrpSpPr/>
          <p:nvPr/>
        </p:nvGrpSpPr>
        <p:grpSpPr bwMode="auto">
          <a:xfrm>
            <a:off x="6605817" y="5217333"/>
            <a:ext cx="625475" cy="460375"/>
            <a:chOff x="3130" y="3022"/>
            <a:chExt cx="394" cy="290"/>
          </a:xfrm>
        </p:grpSpPr>
        <p:sp>
          <p:nvSpPr>
            <p:cNvPr id="100" name="AutoShape 129"/>
            <p:cNvSpPr>
              <a:spLocks noChangeArrowheads="1"/>
            </p:cNvSpPr>
            <p:nvPr/>
          </p:nvSpPr>
          <p:spPr bwMode="auto">
            <a:xfrm rot="10800000">
              <a:off x="3214" y="3022"/>
              <a:ext cx="65" cy="56"/>
            </a:xfrm>
            <a:prstGeom prst="triangle">
              <a:avLst>
                <a:gd name="adj" fmla="val 50000"/>
              </a:avLst>
            </a:prstGeom>
            <a:solidFill>
              <a:srgbClr val="000066"/>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1" name="Line 130"/>
            <p:cNvSpPr>
              <a:spLocks noChangeShapeType="1"/>
            </p:cNvSpPr>
            <p:nvPr/>
          </p:nvSpPr>
          <p:spPr bwMode="auto">
            <a:xfrm>
              <a:off x="3246" y="3078"/>
              <a:ext cx="0" cy="48"/>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2" name="Rectangle 131"/>
            <p:cNvSpPr>
              <a:spLocks noChangeArrowheads="1"/>
            </p:cNvSpPr>
            <p:nvPr/>
          </p:nvSpPr>
          <p:spPr bwMode="auto">
            <a:xfrm>
              <a:off x="3172" y="3130"/>
              <a:ext cx="142" cy="142"/>
            </a:xfrm>
            <a:prstGeom prst="rect">
              <a:avLst/>
            </a:prstGeom>
            <a:noFill/>
            <a:ln w="9525">
              <a:solidFill>
                <a:srgbClr val="00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3" name="Text Box 132"/>
            <p:cNvSpPr txBox="1">
              <a:spLocks noChangeArrowheads="1"/>
            </p:cNvSpPr>
            <p:nvPr/>
          </p:nvSpPr>
          <p:spPr bwMode="auto">
            <a:xfrm>
              <a:off x="3130" y="3081"/>
              <a:ext cx="3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sp>
        <p:nvSpPr>
          <p:cNvPr id="104" name="Line 146"/>
          <p:cNvSpPr>
            <a:spLocks noChangeShapeType="1"/>
          </p:cNvSpPr>
          <p:nvPr/>
        </p:nvSpPr>
        <p:spPr bwMode="auto">
          <a:xfrm flipV="1">
            <a:off x="5421542" y="4121958"/>
            <a:ext cx="0" cy="37465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ea typeface="宋体" panose="02010600030101010101" pitchFamily="2" charset="-122"/>
            </a:endParaRPr>
          </a:p>
        </p:txBody>
      </p:sp>
      <p:grpSp>
        <p:nvGrpSpPr>
          <p:cNvPr id="105" name="Group 148"/>
          <p:cNvGrpSpPr/>
          <p:nvPr/>
        </p:nvGrpSpPr>
        <p:grpSpPr bwMode="auto">
          <a:xfrm>
            <a:off x="5421542" y="4044171"/>
            <a:ext cx="1435100" cy="369887"/>
            <a:chOff x="2384" y="2283"/>
            <a:chExt cx="904" cy="233"/>
          </a:xfrm>
        </p:grpSpPr>
        <p:grpSp>
          <p:nvGrpSpPr>
            <p:cNvPr id="106" name="Group 145"/>
            <p:cNvGrpSpPr/>
            <p:nvPr/>
          </p:nvGrpSpPr>
          <p:grpSpPr bwMode="auto">
            <a:xfrm>
              <a:off x="2560" y="2283"/>
              <a:ext cx="728" cy="233"/>
              <a:chOff x="2560" y="2283"/>
              <a:chExt cx="728" cy="233"/>
            </a:xfrm>
          </p:grpSpPr>
          <p:sp>
            <p:nvSpPr>
              <p:cNvPr id="108" name="Rectangle 136"/>
              <p:cNvSpPr>
                <a:spLocks noChangeArrowheads="1"/>
              </p:cNvSpPr>
              <p:nvPr/>
            </p:nvSpPr>
            <p:spPr bwMode="auto">
              <a:xfrm>
                <a:off x="2560" y="2318"/>
                <a:ext cx="640" cy="172"/>
              </a:xfrm>
              <a:prstGeom prst="rect">
                <a:avLst/>
              </a:prstGeom>
              <a:noFill/>
              <a:ln w="9525">
                <a:solidFill>
                  <a:srgbClr val="00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9" name="Line 137"/>
              <p:cNvSpPr>
                <a:spLocks noChangeShapeType="1"/>
              </p:cNvSpPr>
              <p:nvPr/>
            </p:nvSpPr>
            <p:spPr bwMode="auto">
              <a:xfrm>
                <a:off x="2726" y="2318"/>
                <a:ext cx="0" cy="17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110" name="Group 140"/>
              <p:cNvGrpSpPr/>
              <p:nvPr/>
            </p:nvGrpSpPr>
            <p:grpSpPr bwMode="auto">
              <a:xfrm>
                <a:off x="2594" y="2356"/>
                <a:ext cx="82" cy="88"/>
                <a:chOff x="2594" y="2356"/>
                <a:chExt cx="82" cy="88"/>
              </a:xfrm>
            </p:grpSpPr>
            <p:sp>
              <p:nvSpPr>
                <p:cNvPr id="114" name="Line 138"/>
                <p:cNvSpPr>
                  <a:spLocks noChangeShapeType="1"/>
                </p:cNvSpPr>
                <p:nvPr/>
              </p:nvSpPr>
              <p:spPr bwMode="auto">
                <a:xfrm>
                  <a:off x="2636" y="2356"/>
                  <a:ext cx="0" cy="88"/>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5" name="Line 139"/>
                <p:cNvSpPr>
                  <a:spLocks noChangeShapeType="1"/>
                </p:cNvSpPr>
                <p:nvPr/>
              </p:nvSpPr>
              <p:spPr bwMode="auto">
                <a:xfrm>
                  <a:off x="2594" y="2444"/>
                  <a:ext cx="82" cy="0"/>
                </a:xfrm>
                <a:prstGeom prst="line">
                  <a:avLst/>
                </a:prstGeom>
                <a:noFill/>
                <a:ln w="190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sp>
            <p:nvSpPr>
              <p:cNvPr id="111" name="Text Box 141"/>
              <p:cNvSpPr txBox="1">
                <a:spLocks noChangeArrowheads="1"/>
              </p:cNvSpPr>
              <p:nvPr/>
            </p:nvSpPr>
            <p:spPr bwMode="auto">
              <a:xfrm>
                <a:off x="2690" y="2285"/>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0.04</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sp>
            <p:nvSpPr>
              <p:cNvPr id="112" name="Line 142"/>
              <p:cNvSpPr>
                <a:spLocks noChangeShapeType="1"/>
              </p:cNvSpPr>
              <p:nvPr/>
            </p:nvSpPr>
            <p:spPr bwMode="auto">
              <a:xfrm>
                <a:off x="3034" y="2318"/>
                <a:ext cx="0" cy="17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3" name="Text Box 144"/>
              <p:cNvSpPr txBox="1">
                <a:spLocks noChangeArrowheads="1"/>
              </p:cNvSpPr>
              <p:nvPr/>
            </p:nvSpPr>
            <p:spPr bwMode="auto">
              <a:xfrm>
                <a:off x="3004" y="2283"/>
                <a:ext cx="2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sp>
          <p:nvSpPr>
            <p:cNvPr id="107" name="Line 147"/>
            <p:cNvSpPr>
              <a:spLocks noChangeShapeType="1"/>
            </p:cNvSpPr>
            <p:nvPr/>
          </p:nvSpPr>
          <p:spPr bwMode="auto">
            <a:xfrm flipH="1">
              <a:off x="2384" y="2404"/>
              <a:ext cx="174" cy="0"/>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16" name="Group 162"/>
          <p:cNvGrpSpPr/>
          <p:nvPr/>
        </p:nvGrpSpPr>
        <p:grpSpPr bwMode="auto">
          <a:xfrm>
            <a:off x="7358292" y="5133196"/>
            <a:ext cx="625475" cy="460375"/>
            <a:chOff x="3130" y="3022"/>
            <a:chExt cx="394" cy="290"/>
          </a:xfrm>
        </p:grpSpPr>
        <p:sp>
          <p:nvSpPr>
            <p:cNvPr id="117" name="AutoShape 163"/>
            <p:cNvSpPr>
              <a:spLocks noChangeArrowheads="1"/>
            </p:cNvSpPr>
            <p:nvPr/>
          </p:nvSpPr>
          <p:spPr bwMode="auto">
            <a:xfrm rot="10800000">
              <a:off x="3214" y="3022"/>
              <a:ext cx="65" cy="56"/>
            </a:xfrm>
            <a:prstGeom prst="triangle">
              <a:avLst>
                <a:gd name="adj" fmla="val 50000"/>
              </a:avLst>
            </a:prstGeom>
            <a:solidFill>
              <a:srgbClr val="000066"/>
            </a:solidFill>
            <a:ln w="9525">
              <a:solidFill>
                <a:srgbClr val="00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18" name="Line 164"/>
            <p:cNvSpPr>
              <a:spLocks noChangeShapeType="1"/>
            </p:cNvSpPr>
            <p:nvPr/>
          </p:nvSpPr>
          <p:spPr bwMode="auto">
            <a:xfrm>
              <a:off x="3246" y="3078"/>
              <a:ext cx="0" cy="48"/>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19" name="Rectangle 165"/>
            <p:cNvSpPr>
              <a:spLocks noChangeArrowheads="1"/>
            </p:cNvSpPr>
            <p:nvPr/>
          </p:nvSpPr>
          <p:spPr bwMode="auto">
            <a:xfrm>
              <a:off x="3172" y="3130"/>
              <a:ext cx="142" cy="142"/>
            </a:xfrm>
            <a:prstGeom prst="rect">
              <a:avLst/>
            </a:prstGeom>
            <a:noFill/>
            <a:ln w="9525">
              <a:solidFill>
                <a:srgbClr val="00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20" name="Text Box 166"/>
            <p:cNvSpPr txBox="1">
              <a:spLocks noChangeArrowheads="1"/>
            </p:cNvSpPr>
            <p:nvPr/>
          </p:nvSpPr>
          <p:spPr bwMode="auto">
            <a:xfrm>
              <a:off x="3130" y="3081"/>
              <a:ext cx="3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grpSp>
        <p:nvGrpSpPr>
          <p:cNvPr id="121" name="Group 188"/>
          <p:cNvGrpSpPr/>
          <p:nvPr/>
        </p:nvGrpSpPr>
        <p:grpSpPr bwMode="auto">
          <a:xfrm>
            <a:off x="7196367" y="4099733"/>
            <a:ext cx="1958975" cy="1223963"/>
            <a:chOff x="3706" y="2318"/>
            <a:chExt cx="1234" cy="771"/>
          </a:xfrm>
        </p:grpSpPr>
        <p:grpSp>
          <p:nvGrpSpPr>
            <p:cNvPr id="122" name="Group 187"/>
            <p:cNvGrpSpPr/>
            <p:nvPr/>
          </p:nvGrpSpPr>
          <p:grpSpPr bwMode="auto">
            <a:xfrm>
              <a:off x="4006" y="2567"/>
              <a:ext cx="760" cy="522"/>
              <a:chOff x="4006" y="2567"/>
              <a:chExt cx="760" cy="522"/>
            </a:xfrm>
          </p:grpSpPr>
          <p:sp>
            <p:nvSpPr>
              <p:cNvPr id="133" name="Rectangle 151"/>
              <p:cNvSpPr>
                <a:spLocks noChangeArrowheads="1"/>
              </p:cNvSpPr>
              <p:nvPr/>
            </p:nvSpPr>
            <p:spPr bwMode="auto">
              <a:xfrm flipH="1">
                <a:off x="4439" y="2567"/>
                <a:ext cx="265" cy="522"/>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34" name="Line 152"/>
              <p:cNvSpPr>
                <a:spLocks noChangeShapeType="1"/>
              </p:cNvSpPr>
              <p:nvPr/>
            </p:nvSpPr>
            <p:spPr bwMode="auto">
              <a:xfrm flipH="1">
                <a:off x="4006" y="2833"/>
                <a:ext cx="76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5" name="Line 153"/>
              <p:cNvSpPr>
                <a:spLocks noChangeShapeType="1"/>
              </p:cNvSpPr>
              <p:nvPr/>
            </p:nvSpPr>
            <p:spPr bwMode="auto">
              <a:xfrm flipH="1">
                <a:off x="4057" y="2698"/>
                <a:ext cx="38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6" name="Line 155"/>
              <p:cNvSpPr>
                <a:spLocks noChangeShapeType="1"/>
              </p:cNvSpPr>
              <p:nvPr/>
            </p:nvSpPr>
            <p:spPr bwMode="auto">
              <a:xfrm>
                <a:off x="4058" y="2967"/>
                <a:ext cx="38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7" name="Line 156"/>
              <p:cNvSpPr>
                <a:spLocks noChangeShapeType="1"/>
              </p:cNvSpPr>
              <p:nvPr/>
            </p:nvSpPr>
            <p:spPr bwMode="auto">
              <a:xfrm flipH="1">
                <a:off x="4337" y="2798"/>
                <a:ext cx="0" cy="8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8" name="Line 157"/>
              <p:cNvSpPr>
                <a:spLocks noChangeShapeType="1"/>
              </p:cNvSpPr>
              <p:nvPr/>
            </p:nvSpPr>
            <p:spPr bwMode="auto">
              <a:xfrm flipH="1">
                <a:off x="4279" y="2797"/>
                <a:ext cx="0" cy="86"/>
              </a:xfrm>
              <a:prstGeom prst="line">
                <a:avLst/>
              </a:prstGeom>
              <a:noFill/>
              <a:ln w="381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23" name="Group 186"/>
            <p:cNvGrpSpPr/>
            <p:nvPr/>
          </p:nvGrpSpPr>
          <p:grpSpPr bwMode="auto">
            <a:xfrm>
              <a:off x="3706" y="2318"/>
              <a:ext cx="1234" cy="771"/>
              <a:chOff x="3706" y="2318"/>
              <a:chExt cx="1234" cy="771"/>
            </a:xfrm>
          </p:grpSpPr>
          <p:sp>
            <p:nvSpPr>
              <p:cNvPr id="124" name="Line 154"/>
              <p:cNvSpPr>
                <a:spLocks noChangeShapeType="1"/>
              </p:cNvSpPr>
              <p:nvPr/>
            </p:nvSpPr>
            <p:spPr bwMode="auto">
              <a:xfrm flipH="1">
                <a:off x="4067" y="2687"/>
                <a:ext cx="0" cy="29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5" name="Line 158"/>
              <p:cNvSpPr>
                <a:spLocks noChangeShapeType="1"/>
              </p:cNvSpPr>
              <p:nvPr/>
            </p:nvSpPr>
            <p:spPr bwMode="auto">
              <a:xfrm>
                <a:off x="3880" y="2696"/>
                <a:ext cx="2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6" name="Line 159"/>
              <p:cNvSpPr>
                <a:spLocks noChangeShapeType="1"/>
              </p:cNvSpPr>
              <p:nvPr/>
            </p:nvSpPr>
            <p:spPr bwMode="auto">
              <a:xfrm>
                <a:off x="3882" y="2967"/>
                <a:ext cx="19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7" name="Line 160"/>
              <p:cNvSpPr>
                <a:spLocks noChangeShapeType="1"/>
              </p:cNvSpPr>
              <p:nvPr/>
            </p:nvSpPr>
            <p:spPr bwMode="auto">
              <a:xfrm>
                <a:off x="3921" y="2696"/>
                <a:ext cx="0" cy="27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8" name="Text Box 161"/>
              <p:cNvSpPr txBox="1">
                <a:spLocks noChangeArrowheads="1"/>
              </p:cNvSpPr>
              <p:nvPr/>
            </p:nvSpPr>
            <p:spPr bwMode="auto">
              <a:xfrm rot="-5400000">
                <a:off x="3463" y="2561"/>
                <a:ext cx="7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rPr>
                  <a:t>ø15h7</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endParaRPr>
              </a:p>
            </p:txBody>
          </p:sp>
          <p:sp>
            <p:nvSpPr>
              <p:cNvPr id="129" name="Line 180"/>
              <p:cNvSpPr>
                <a:spLocks noChangeShapeType="1"/>
              </p:cNvSpPr>
              <p:nvPr/>
            </p:nvSpPr>
            <p:spPr bwMode="auto">
              <a:xfrm>
                <a:off x="4700" y="2566"/>
                <a:ext cx="234"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0" name="Line 183"/>
              <p:cNvSpPr>
                <a:spLocks noChangeShapeType="1"/>
              </p:cNvSpPr>
              <p:nvPr/>
            </p:nvSpPr>
            <p:spPr bwMode="auto">
              <a:xfrm>
                <a:off x="4700" y="3088"/>
                <a:ext cx="24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31" name="Text Box 184"/>
              <p:cNvSpPr txBox="1">
                <a:spLocks noChangeArrowheads="1"/>
              </p:cNvSpPr>
              <p:nvPr/>
            </p:nvSpPr>
            <p:spPr bwMode="auto">
              <a:xfrm rot="-5400000">
                <a:off x="4458" y="2596"/>
                <a:ext cx="7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rPr>
                  <a:t>ø30h6</a:t>
                </a:r>
                <a:endParaRPr kumimoji="0" lang="en-US" altLang="zh-CN" sz="1800" i="1" u="none" strike="noStrike" kern="0" cap="none" spc="0" normalizeH="0" baseline="0" noProof="0">
                  <a:ln>
                    <a:noFill/>
                  </a:ln>
                  <a:solidFill>
                    <a:srgbClr val="000000"/>
                  </a:solidFill>
                  <a:effectLst/>
                  <a:uLnTx/>
                  <a:uFillTx/>
                  <a:latin typeface="ISOCPEUR" panose="020B0604020202020204" pitchFamily="34" charset="0"/>
                  <a:ea typeface="宋体" panose="02010600030101010101" pitchFamily="2" charset="-122"/>
                  <a:cs typeface="Arial" panose="020B0604020202020204" pitchFamily="34" charset="0"/>
                </a:endParaRPr>
              </a:p>
            </p:txBody>
          </p:sp>
          <p:sp>
            <p:nvSpPr>
              <p:cNvPr id="132" name="Line 185"/>
              <p:cNvSpPr>
                <a:spLocks noChangeShapeType="1"/>
              </p:cNvSpPr>
              <p:nvPr/>
            </p:nvSpPr>
            <p:spPr bwMode="auto">
              <a:xfrm>
                <a:off x="4898" y="2565"/>
                <a:ext cx="0" cy="52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grpSp>
        <p:nvGrpSpPr>
          <p:cNvPr id="139" name="Group 195"/>
          <p:cNvGrpSpPr/>
          <p:nvPr/>
        </p:nvGrpSpPr>
        <p:grpSpPr bwMode="auto">
          <a:xfrm>
            <a:off x="7904392" y="4026708"/>
            <a:ext cx="1187450" cy="468313"/>
            <a:chOff x="4151" y="2272"/>
            <a:chExt cx="747" cy="295"/>
          </a:xfrm>
        </p:grpSpPr>
        <p:sp>
          <p:nvSpPr>
            <p:cNvPr id="140" name="Line 178"/>
            <p:cNvSpPr>
              <a:spLocks noChangeShapeType="1"/>
            </p:cNvSpPr>
            <p:nvPr/>
          </p:nvSpPr>
          <p:spPr bwMode="auto">
            <a:xfrm rot="5400000">
              <a:off x="4810" y="2480"/>
              <a:ext cx="174" cy="0"/>
            </a:xfrm>
            <a:prstGeom prst="line">
              <a:avLst/>
            </a:prstGeom>
            <a:noFill/>
            <a:ln w="9525">
              <a:solidFill>
                <a:srgbClr val="000066"/>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141" name="Group 192"/>
            <p:cNvGrpSpPr/>
            <p:nvPr/>
          </p:nvGrpSpPr>
          <p:grpSpPr bwMode="auto">
            <a:xfrm>
              <a:off x="4151" y="2272"/>
              <a:ext cx="728" cy="233"/>
              <a:chOff x="4233" y="2282"/>
              <a:chExt cx="728" cy="233"/>
            </a:xfrm>
          </p:grpSpPr>
          <p:sp>
            <p:nvSpPr>
              <p:cNvPr id="143" name="Rectangle 170"/>
              <p:cNvSpPr>
                <a:spLocks noChangeArrowheads="1"/>
              </p:cNvSpPr>
              <p:nvPr/>
            </p:nvSpPr>
            <p:spPr bwMode="auto">
              <a:xfrm>
                <a:off x="4233" y="2317"/>
                <a:ext cx="640" cy="172"/>
              </a:xfrm>
              <a:prstGeom prst="rect">
                <a:avLst/>
              </a:prstGeom>
              <a:noFill/>
              <a:ln w="9525">
                <a:solidFill>
                  <a:srgbClr val="0000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44" name="Line 171"/>
              <p:cNvSpPr>
                <a:spLocks noChangeShapeType="1"/>
              </p:cNvSpPr>
              <p:nvPr/>
            </p:nvSpPr>
            <p:spPr bwMode="auto">
              <a:xfrm>
                <a:off x="4399" y="2317"/>
                <a:ext cx="0" cy="17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5" name="Text Box 175"/>
              <p:cNvSpPr txBox="1">
                <a:spLocks noChangeArrowheads="1"/>
              </p:cNvSpPr>
              <p:nvPr/>
            </p:nvSpPr>
            <p:spPr bwMode="auto">
              <a:xfrm>
                <a:off x="4367" y="2284"/>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0.01</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sp>
            <p:nvSpPr>
              <p:cNvPr id="146" name="Line 176"/>
              <p:cNvSpPr>
                <a:spLocks noChangeShapeType="1"/>
              </p:cNvSpPr>
              <p:nvPr/>
            </p:nvSpPr>
            <p:spPr bwMode="auto">
              <a:xfrm>
                <a:off x="4707" y="2317"/>
                <a:ext cx="0" cy="172"/>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sp>
            <p:nvSpPr>
              <p:cNvPr id="147" name="Text Box 177"/>
              <p:cNvSpPr txBox="1">
                <a:spLocks noChangeArrowheads="1"/>
              </p:cNvSpPr>
              <p:nvPr/>
            </p:nvSpPr>
            <p:spPr bwMode="auto">
              <a:xfrm>
                <a:off x="4677" y="2282"/>
                <a:ext cx="2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rPr>
                  <a:t>A</a:t>
                </a:r>
                <a:endParaRPr kumimoji="0" lang="en-US" altLang="zh-CN" sz="1800" i="1" u="none" strike="noStrike" kern="0" cap="none" spc="0" normalizeH="0" baseline="0" noProof="0">
                  <a:ln>
                    <a:noFill/>
                  </a:ln>
                  <a:solidFill>
                    <a:srgbClr val="000066"/>
                  </a:solidFill>
                  <a:effectLst/>
                  <a:uLnTx/>
                  <a:uFillTx/>
                  <a:latin typeface="ISOCPEUR" panose="020B0604020202020204" pitchFamily="34" charset="0"/>
                  <a:ea typeface="宋体" panose="02010600030101010101" pitchFamily="2" charset="-122"/>
                </a:endParaRPr>
              </a:p>
            </p:txBody>
          </p:sp>
          <p:grpSp>
            <p:nvGrpSpPr>
              <p:cNvPr id="148" name="Group 191"/>
              <p:cNvGrpSpPr/>
              <p:nvPr/>
            </p:nvGrpSpPr>
            <p:grpSpPr bwMode="auto">
              <a:xfrm>
                <a:off x="4268" y="2357"/>
                <a:ext cx="94" cy="94"/>
                <a:chOff x="4263" y="2353"/>
                <a:chExt cx="100" cy="100"/>
              </a:xfrm>
            </p:grpSpPr>
            <p:sp>
              <p:nvSpPr>
                <p:cNvPr id="149" name="Oval 189"/>
                <p:cNvSpPr>
                  <a:spLocks noChangeArrowheads="1"/>
                </p:cNvSpPr>
                <p:nvPr/>
              </p:nvSpPr>
              <p:spPr bwMode="auto">
                <a:xfrm>
                  <a:off x="4263" y="2353"/>
                  <a:ext cx="100" cy="100"/>
                </a:xfrm>
                <a:prstGeom prst="ellipse">
                  <a:avLst/>
                </a:prstGeom>
                <a:noFill/>
                <a:ln w="12700">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50" name="Oval 190"/>
                <p:cNvSpPr>
                  <a:spLocks noChangeArrowheads="1"/>
                </p:cNvSpPr>
                <p:nvPr/>
              </p:nvSpPr>
              <p:spPr bwMode="auto">
                <a:xfrm>
                  <a:off x="4287" y="2377"/>
                  <a:ext cx="52" cy="52"/>
                </a:xfrm>
                <a:prstGeom prst="ellipse">
                  <a:avLst/>
                </a:prstGeom>
                <a:noFill/>
                <a:ln w="12700">
                  <a:solidFill>
                    <a:srgbClr val="0000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sp>
          <p:nvSpPr>
            <p:cNvPr id="142" name="Line 194"/>
            <p:cNvSpPr>
              <a:spLocks noChangeShapeType="1"/>
            </p:cNvSpPr>
            <p:nvPr/>
          </p:nvSpPr>
          <p:spPr bwMode="auto">
            <a:xfrm>
              <a:off x="4790" y="2393"/>
              <a:ext cx="108" cy="0"/>
            </a:xfrm>
            <a:prstGeom prst="line">
              <a:avLst/>
            </a:prstGeom>
            <a:noFill/>
            <a:ln w="952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i="0" u="none" strike="noStrike" kern="0" cap="none" spc="0" normalizeH="0" baseline="0" noProof="0">
                <a:ln>
                  <a:noFill/>
                </a:ln>
                <a:solidFill>
                  <a:srgbClr val="000000"/>
                </a:solidFill>
                <a:effectLst/>
                <a:uLnTx/>
                <a:uFillTx/>
                <a:ea typeface="宋体" panose="02010600030101010101" pitchFamily="2" charset="-122"/>
              </a:endParaRPr>
            </a:p>
          </p:txBody>
        </p:sp>
      </p:grpSp>
      <p:grpSp>
        <p:nvGrpSpPr>
          <p:cNvPr id="151" name="Group 199"/>
          <p:cNvGrpSpPr/>
          <p:nvPr/>
        </p:nvGrpSpPr>
        <p:grpSpPr bwMode="auto">
          <a:xfrm>
            <a:off x="5008792" y="3642533"/>
            <a:ext cx="1241425" cy="587375"/>
            <a:chOff x="688" y="2136"/>
            <a:chExt cx="783" cy="370"/>
          </a:xfrm>
        </p:grpSpPr>
        <p:sp>
          <p:nvSpPr>
            <p:cNvPr id="152" name="Line 200"/>
            <p:cNvSpPr>
              <a:spLocks noChangeShapeType="1"/>
            </p:cNvSpPr>
            <p:nvPr/>
          </p:nvSpPr>
          <p:spPr bwMode="auto">
            <a:xfrm flipH="1" flipV="1">
              <a:off x="982" y="2328"/>
              <a:ext cx="92" cy="178"/>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53" name="Text Box 201"/>
            <p:cNvSpPr txBox="1">
              <a:spLocks noChangeArrowheads="1"/>
            </p:cNvSpPr>
            <p:nvPr/>
          </p:nvSpPr>
          <p:spPr bwMode="auto">
            <a:xfrm>
              <a:off x="688" y="2136"/>
              <a:ext cx="78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指引线</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154" name="Group 204"/>
          <p:cNvGrpSpPr/>
          <p:nvPr/>
        </p:nvGrpSpPr>
        <p:grpSpPr bwMode="auto">
          <a:xfrm>
            <a:off x="5129442" y="5049058"/>
            <a:ext cx="1552575" cy="668338"/>
            <a:chOff x="2201" y="2916"/>
            <a:chExt cx="978" cy="421"/>
          </a:xfrm>
        </p:grpSpPr>
        <p:sp>
          <p:nvSpPr>
            <p:cNvPr id="155" name="Line 202"/>
            <p:cNvSpPr>
              <a:spLocks noChangeShapeType="1"/>
            </p:cNvSpPr>
            <p:nvPr/>
          </p:nvSpPr>
          <p:spPr bwMode="auto">
            <a:xfrm>
              <a:off x="2382" y="2916"/>
              <a:ext cx="117" cy="231"/>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56" name="Text Box 203"/>
            <p:cNvSpPr txBox="1">
              <a:spLocks noChangeArrowheads="1"/>
            </p:cNvSpPr>
            <p:nvPr/>
          </p:nvSpPr>
          <p:spPr bwMode="auto">
            <a:xfrm>
              <a:off x="2201" y="3104"/>
              <a:ext cx="97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dirty="0">
                  <a:solidFill>
                    <a:schemeClr val="accent5">
                      <a:lumMod val="75000"/>
                    </a:schemeClr>
                  </a:solidFill>
                  <a:latin typeface="黑体" panose="02010609060101010101" pitchFamily="2" charset="-122"/>
                  <a:ea typeface="黑体" panose="02010609060101010101" pitchFamily="2" charset="-122"/>
                </a:rPr>
                <a:t>被测要素</a:t>
              </a:r>
              <a:endParaRPr lang="zh-CN" altLang="en-US" sz="1800" dirty="0">
                <a:solidFill>
                  <a:schemeClr val="accent5">
                    <a:lumMod val="75000"/>
                  </a:schemeClr>
                </a:solidFill>
                <a:latin typeface="黑体" panose="02010609060101010101" pitchFamily="2" charset="-122"/>
                <a:ea typeface="黑体" panose="02010609060101010101" pitchFamily="2" charset="-122"/>
              </a:endParaRPr>
            </a:p>
          </p:txBody>
        </p:sp>
      </p:grpSp>
      <p:grpSp>
        <p:nvGrpSpPr>
          <p:cNvPr id="157" name="Group 211"/>
          <p:cNvGrpSpPr/>
          <p:nvPr/>
        </p:nvGrpSpPr>
        <p:grpSpPr bwMode="auto">
          <a:xfrm>
            <a:off x="5948592" y="5253846"/>
            <a:ext cx="1425575" cy="725487"/>
            <a:chOff x="2717" y="3045"/>
            <a:chExt cx="897" cy="457"/>
          </a:xfrm>
        </p:grpSpPr>
        <p:sp>
          <p:nvSpPr>
            <p:cNvPr id="158" name="Line 205"/>
            <p:cNvSpPr>
              <a:spLocks noChangeShapeType="1"/>
            </p:cNvSpPr>
            <p:nvPr/>
          </p:nvSpPr>
          <p:spPr bwMode="auto">
            <a:xfrm flipH="1">
              <a:off x="2994" y="3045"/>
              <a:ext cx="234" cy="264"/>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59" name="Text Box 206"/>
            <p:cNvSpPr txBox="1">
              <a:spLocks noChangeArrowheads="1"/>
            </p:cNvSpPr>
            <p:nvPr/>
          </p:nvSpPr>
          <p:spPr bwMode="auto">
            <a:xfrm>
              <a:off x="2717" y="3269"/>
              <a:ext cx="8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dirty="0">
                  <a:solidFill>
                    <a:schemeClr val="accent5">
                      <a:lumMod val="75000"/>
                    </a:schemeClr>
                  </a:solidFill>
                  <a:latin typeface="黑体" panose="02010609060101010101" pitchFamily="2" charset="-122"/>
                  <a:ea typeface="黑体" panose="02010609060101010101" pitchFamily="2" charset="-122"/>
                </a:rPr>
                <a:t>基准符号</a:t>
              </a:r>
              <a:endParaRPr lang="zh-CN" altLang="en-US" sz="1800" dirty="0">
                <a:solidFill>
                  <a:schemeClr val="accent5">
                    <a:lumMod val="75000"/>
                  </a:schemeClr>
                </a:solidFill>
                <a:latin typeface="黑体" panose="02010609060101010101" pitchFamily="2" charset="-122"/>
                <a:ea typeface="黑体" panose="02010609060101010101" pitchFamily="2" charset="-122"/>
              </a:endParaRPr>
            </a:p>
          </p:txBody>
        </p:sp>
      </p:grpSp>
      <p:grpSp>
        <p:nvGrpSpPr>
          <p:cNvPr id="160" name="Group 210"/>
          <p:cNvGrpSpPr/>
          <p:nvPr/>
        </p:nvGrpSpPr>
        <p:grpSpPr bwMode="auto">
          <a:xfrm>
            <a:off x="8394929" y="4918883"/>
            <a:ext cx="1250950" cy="1082675"/>
            <a:chOff x="4460" y="2834"/>
            <a:chExt cx="788" cy="682"/>
          </a:xfrm>
        </p:grpSpPr>
        <p:sp>
          <p:nvSpPr>
            <p:cNvPr id="161" name="Line 208"/>
            <p:cNvSpPr>
              <a:spLocks noChangeShapeType="1"/>
            </p:cNvSpPr>
            <p:nvPr/>
          </p:nvSpPr>
          <p:spPr bwMode="auto">
            <a:xfrm>
              <a:off x="4565" y="2834"/>
              <a:ext cx="150" cy="489"/>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62" name="Text Box 209"/>
            <p:cNvSpPr txBox="1">
              <a:spLocks noChangeArrowheads="1"/>
            </p:cNvSpPr>
            <p:nvPr/>
          </p:nvSpPr>
          <p:spPr bwMode="auto">
            <a:xfrm>
              <a:off x="4460" y="3283"/>
              <a:ext cx="7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被测要素</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163" name="Group 218"/>
          <p:cNvGrpSpPr/>
          <p:nvPr/>
        </p:nvGrpSpPr>
        <p:grpSpPr bwMode="auto">
          <a:xfrm>
            <a:off x="8926742" y="3621896"/>
            <a:ext cx="1244600" cy="596900"/>
            <a:chOff x="4796" y="2017"/>
            <a:chExt cx="783" cy="376"/>
          </a:xfrm>
        </p:grpSpPr>
        <p:sp>
          <p:nvSpPr>
            <p:cNvPr id="164" name="Line 216"/>
            <p:cNvSpPr>
              <a:spLocks noChangeShapeType="1"/>
            </p:cNvSpPr>
            <p:nvPr/>
          </p:nvSpPr>
          <p:spPr bwMode="auto">
            <a:xfrm flipV="1">
              <a:off x="4861" y="2200"/>
              <a:ext cx="115" cy="193"/>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65" name="Text Box 217"/>
            <p:cNvSpPr txBox="1">
              <a:spLocks noChangeArrowheads="1"/>
            </p:cNvSpPr>
            <p:nvPr/>
          </p:nvSpPr>
          <p:spPr bwMode="auto">
            <a:xfrm>
              <a:off x="4796" y="2017"/>
              <a:ext cx="78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a:solidFill>
                    <a:schemeClr val="accent5">
                      <a:lumMod val="75000"/>
                    </a:schemeClr>
                  </a:solidFill>
                  <a:latin typeface="黑体" panose="02010609060101010101" pitchFamily="2" charset="-122"/>
                  <a:ea typeface="黑体" panose="02010609060101010101" pitchFamily="2" charset="-122"/>
                </a:rPr>
                <a:t>指引线</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grpSp>
      <p:grpSp>
        <p:nvGrpSpPr>
          <p:cNvPr id="166" name="Group 224"/>
          <p:cNvGrpSpPr/>
          <p:nvPr/>
        </p:nvGrpSpPr>
        <p:grpSpPr bwMode="auto">
          <a:xfrm>
            <a:off x="9107717" y="4379133"/>
            <a:ext cx="1774825" cy="1200150"/>
            <a:chOff x="4462" y="2634"/>
            <a:chExt cx="1117" cy="756"/>
          </a:xfrm>
        </p:grpSpPr>
        <p:sp>
          <p:nvSpPr>
            <p:cNvPr id="167" name="Text Box 220"/>
            <p:cNvSpPr txBox="1">
              <a:spLocks noChangeArrowheads="1"/>
            </p:cNvSpPr>
            <p:nvPr/>
          </p:nvSpPr>
          <p:spPr bwMode="auto">
            <a:xfrm>
              <a:off x="4579" y="2634"/>
              <a:ext cx="1000"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en-US" altLang="zh-CN" sz="1800">
                  <a:solidFill>
                    <a:schemeClr val="accent5">
                      <a:lumMod val="75000"/>
                    </a:schemeClr>
                  </a:solidFill>
                  <a:latin typeface="黑体" panose="02010609060101010101" pitchFamily="2" charset="-122"/>
                  <a:ea typeface="黑体" panose="02010609060101010101" pitchFamily="2" charset="-122"/>
                </a:rPr>
                <a:t>  </a:t>
              </a:r>
              <a:r>
                <a:rPr lang="zh-CN" altLang="en-US" sz="1800">
                  <a:solidFill>
                    <a:schemeClr val="accent5">
                      <a:lumMod val="75000"/>
                    </a:schemeClr>
                  </a:solidFill>
                  <a:latin typeface="黑体" panose="02010609060101010101" pitchFamily="2" charset="-122"/>
                  <a:ea typeface="黑体" panose="02010609060101010101" pitchFamily="2" charset="-122"/>
                </a:rPr>
                <a:t>公差涉及要素的轴线，箭头位于尺寸线延长线上</a:t>
              </a:r>
              <a:endParaRPr lang="zh-CN" altLang="en-US" sz="1800">
                <a:solidFill>
                  <a:schemeClr val="accent5">
                    <a:lumMod val="75000"/>
                  </a:schemeClr>
                </a:solidFill>
                <a:latin typeface="黑体" panose="02010609060101010101" pitchFamily="2" charset="-122"/>
                <a:ea typeface="黑体" panose="02010609060101010101" pitchFamily="2" charset="-122"/>
              </a:endParaRPr>
            </a:p>
          </p:txBody>
        </p:sp>
        <p:sp>
          <p:nvSpPr>
            <p:cNvPr id="168" name="Line 223"/>
            <p:cNvSpPr>
              <a:spLocks noChangeShapeType="1"/>
            </p:cNvSpPr>
            <p:nvPr/>
          </p:nvSpPr>
          <p:spPr bwMode="auto">
            <a:xfrm>
              <a:off x="4462" y="2650"/>
              <a:ext cx="229" cy="111"/>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grpSp>
      <p:sp>
        <p:nvSpPr>
          <p:cNvPr id="169" name="Text Box 226"/>
          <p:cNvSpPr txBox="1">
            <a:spLocks noChangeArrowheads="1"/>
          </p:cNvSpPr>
          <p:nvPr/>
        </p:nvSpPr>
        <p:spPr bwMode="auto">
          <a:xfrm>
            <a:off x="4295800" y="5928085"/>
            <a:ext cx="1723549" cy="7819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端面相对基准</a:t>
            </a:r>
            <a:endParaRPr kumimoji="1" lang="zh-CN" altLang="en-US" sz="2000" dirty="0">
              <a:solidFill>
                <a:srgbClr val="000000"/>
              </a:solidFill>
              <a:latin typeface="黑体" panose="02010609060101010101" pitchFamily="2" charset="-122"/>
              <a:ea typeface="黑体" panose="02010609060101010101" pitchFamily="2" charset="-122"/>
            </a:endParaRPr>
          </a:p>
          <a:p>
            <a:pPr fontAlgn="base">
              <a:lnSpc>
                <a:spcPct val="120000"/>
              </a:lnSpc>
              <a:spcBef>
                <a:spcPct val="0"/>
              </a:spcBef>
              <a:spcAft>
                <a:spcPct val="0"/>
              </a:spcAft>
              <a:buFontTx/>
              <a:buNone/>
            </a:pPr>
            <a:r>
              <a:rPr kumimoji="1" lang="zh-CN" altLang="en-US" sz="2000" dirty="0">
                <a:solidFill>
                  <a:srgbClr val="000000"/>
                </a:solidFill>
                <a:latin typeface="黑体" panose="02010609060101010101" pitchFamily="2" charset="-122"/>
                <a:ea typeface="黑体" panose="02010609060101010101" pitchFamily="2" charset="-122"/>
              </a:rPr>
              <a:t>轴线的垂直度</a:t>
            </a:r>
            <a:endParaRPr kumimoji="1" lang="zh-CN" altLang="en-US" sz="2000" dirty="0">
              <a:solidFill>
                <a:srgbClr val="000000"/>
              </a:solidFill>
              <a:latin typeface="黑体" panose="02010609060101010101" pitchFamily="2" charset="-122"/>
              <a:ea typeface="黑体" panose="02010609060101010101" pitchFamily="2" charset="-122"/>
            </a:endParaRPr>
          </a:p>
        </p:txBody>
      </p:sp>
      <p:grpSp>
        <p:nvGrpSpPr>
          <p:cNvPr id="170" name="Group 230"/>
          <p:cNvGrpSpPr/>
          <p:nvPr/>
        </p:nvGrpSpPr>
        <p:grpSpPr bwMode="auto">
          <a:xfrm>
            <a:off x="7450367" y="5180821"/>
            <a:ext cx="1425575" cy="646112"/>
            <a:chOff x="3418" y="3139"/>
            <a:chExt cx="897" cy="407"/>
          </a:xfrm>
        </p:grpSpPr>
        <p:sp>
          <p:nvSpPr>
            <p:cNvPr id="171" name="Line 228"/>
            <p:cNvSpPr>
              <a:spLocks noChangeShapeType="1"/>
            </p:cNvSpPr>
            <p:nvPr/>
          </p:nvSpPr>
          <p:spPr bwMode="auto">
            <a:xfrm>
              <a:off x="3506" y="3139"/>
              <a:ext cx="183" cy="201"/>
            </a:xfrm>
            <a:prstGeom prst="line">
              <a:avLst/>
            </a:prstGeom>
            <a:noFill/>
            <a:ln w="9525">
              <a:solidFill>
                <a:srgbClr val="A5002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chemeClr val="accent5">
                    <a:lumMod val="75000"/>
                  </a:schemeClr>
                </a:solidFill>
                <a:ea typeface="宋体" panose="02010600030101010101" pitchFamily="2" charset="-122"/>
              </a:endParaRPr>
            </a:p>
          </p:txBody>
        </p:sp>
        <p:sp>
          <p:nvSpPr>
            <p:cNvPr id="172" name="Text Box 229"/>
            <p:cNvSpPr txBox="1">
              <a:spLocks noChangeArrowheads="1"/>
            </p:cNvSpPr>
            <p:nvPr/>
          </p:nvSpPr>
          <p:spPr bwMode="auto">
            <a:xfrm>
              <a:off x="3418" y="3313"/>
              <a:ext cx="8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1800" dirty="0">
                  <a:solidFill>
                    <a:schemeClr val="accent5">
                      <a:lumMod val="75000"/>
                    </a:schemeClr>
                  </a:solidFill>
                  <a:latin typeface="黑体" panose="02010609060101010101" pitchFamily="2" charset="-122"/>
                  <a:ea typeface="黑体" panose="02010609060101010101" pitchFamily="2" charset="-122"/>
                </a:rPr>
                <a:t>基准符号</a:t>
              </a:r>
              <a:endParaRPr lang="zh-CN" altLang="en-US" sz="1800" dirty="0">
                <a:solidFill>
                  <a:schemeClr val="accent5">
                    <a:lumMod val="75000"/>
                  </a:schemeClr>
                </a:solidFill>
                <a:latin typeface="黑体" panose="02010609060101010101" pitchFamily="2" charset="-122"/>
                <a:ea typeface="黑体" panose="02010609060101010101" pitchFamily="2" charset="-122"/>
              </a:endParaRPr>
            </a:p>
          </p:txBody>
        </p:sp>
      </p:grpSp>
      <p:sp>
        <p:nvSpPr>
          <p:cNvPr id="173" name="Text Box 231"/>
          <p:cNvSpPr txBox="1">
            <a:spLocks noChangeArrowheads="1"/>
          </p:cNvSpPr>
          <p:nvPr/>
        </p:nvSpPr>
        <p:spPr bwMode="auto">
          <a:xfrm>
            <a:off x="7608168" y="5903133"/>
            <a:ext cx="2359025"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大圆柱面轴线与</a:t>
            </a:r>
            <a:endParaRPr kumimoji="1" lang="zh-CN" altLang="en-US" sz="2000">
              <a:solidFill>
                <a:srgbClr val="000000"/>
              </a:solidFill>
              <a:latin typeface="黑体" panose="02010609060101010101" pitchFamily="2" charset="-122"/>
              <a:ea typeface="黑体" panose="02010609060101010101" pitchFamily="2" charset="-122"/>
            </a:endParaRPr>
          </a:p>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基准轴线的同轴度</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174" name="Text Box 5"/>
          <p:cNvSpPr txBox="1">
            <a:spLocks noChangeArrowheads="1"/>
          </p:cNvSpPr>
          <p:nvPr/>
        </p:nvSpPr>
        <p:spPr bwMode="auto">
          <a:xfrm>
            <a:off x="2667229" y="3169458"/>
            <a:ext cx="1065213"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直线度</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175" name="Text Box 5"/>
          <p:cNvSpPr txBox="1">
            <a:spLocks noChangeArrowheads="1"/>
          </p:cNvSpPr>
          <p:nvPr/>
        </p:nvSpPr>
        <p:spPr bwMode="auto">
          <a:xfrm>
            <a:off x="4586517" y="3145001"/>
            <a:ext cx="106521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平行度</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176" name="Text Box 5"/>
          <p:cNvSpPr txBox="1">
            <a:spLocks noChangeArrowheads="1"/>
          </p:cNvSpPr>
          <p:nvPr/>
        </p:nvSpPr>
        <p:spPr bwMode="auto">
          <a:xfrm>
            <a:off x="6467704" y="3145001"/>
            <a:ext cx="106521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位置度</a:t>
            </a:r>
            <a:endParaRPr kumimoji="1" lang="zh-CN" altLang="en-US" sz="2000">
              <a:solidFill>
                <a:srgbClr val="000000"/>
              </a:solidFill>
              <a:latin typeface="黑体" panose="02010609060101010101" pitchFamily="2" charset="-122"/>
              <a:ea typeface="黑体" panose="02010609060101010101" pitchFamily="2" charset="-122"/>
            </a:endParaRPr>
          </a:p>
        </p:txBody>
      </p:sp>
      <p:sp>
        <p:nvSpPr>
          <p:cNvPr id="177" name="Text Box 5"/>
          <p:cNvSpPr txBox="1">
            <a:spLocks noChangeArrowheads="1"/>
          </p:cNvSpPr>
          <p:nvPr/>
        </p:nvSpPr>
        <p:spPr bwMode="auto">
          <a:xfrm>
            <a:off x="9239479" y="3145001"/>
            <a:ext cx="12795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kumimoji="1" lang="zh-CN" altLang="en-US" sz="2000">
                <a:solidFill>
                  <a:srgbClr val="000000"/>
                </a:solidFill>
                <a:latin typeface="黑体" panose="02010609060101010101" pitchFamily="2" charset="-122"/>
                <a:ea typeface="黑体" panose="02010609060101010101" pitchFamily="2" charset="-122"/>
              </a:rPr>
              <a:t>位置度</a:t>
            </a:r>
            <a:endParaRPr kumimoji="1" lang="zh-CN" altLang="en-US" sz="2000">
              <a:solidFill>
                <a:srgbClr val="00000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down)">
                                      <p:cBhvr>
                                        <p:cTn id="27" dur="500"/>
                                        <p:tgtEl>
                                          <p:spTgt spid="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wipe(down)">
                                      <p:cBhvr>
                                        <p:cTn id="32" dur="500"/>
                                        <p:tgtEl>
                                          <p:spTgt spid="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wipe(down)">
                                      <p:cBhvr>
                                        <p:cTn id="37" dur="500"/>
                                        <p:tgtEl>
                                          <p:spTgt spid="6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slide(fromBottom)">
                                      <p:cBhvr>
                                        <p:cTn id="46" dur="500"/>
                                        <p:tgtEl>
                                          <p:spTgt spid="6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69"/>
                                        </p:tgtEl>
                                        <p:attrNameLst>
                                          <p:attrName>style.visibility</p:attrName>
                                        </p:attrNameLst>
                                      </p:cBhvr>
                                      <p:to>
                                        <p:strVal val="visible"/>
                                      </p:to>
                                    </p:set>
                                    <p:animEffect transition="in" filter="wipe(down)">
                                      <p:cBhvr>
                                        <p:cTn id="51" dur="500"/>
                                        <p:tgtEl>
                                          <p:spTgt spid="6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77"/>
                                        </p:tgtEl>
                                        <p:attrNameLst>
                                          <p:attrName>style.visibility</p:attrName>
                                        </p:attrNameLst>
                                      </p:cBhvr>
                                      <p:to>
                                        <p:strVal val="visible"/>
                                      </p:to>
                                    </p:set>
                                    <p:animEffect transition="in" filter="wipe(down)">
                                      <p:cBhvr>
                                        <p:cTn id="61" dur="500"/>
                                        <p:tgtEl>
                                          <p:spTgt spid="7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80"/>
                                        </p:tgtEl>
                                        <p:attrNameLst>
                                          <p:attrName>style.visibility</p:attrName>
                                        </p:attrNameLst>
                                      </p:cBhvr>
                                      <p:to>
                                        <p:strVal val="visible"/>
                                      </p:to>
                                    </p:set>
                                    <p:animEffect transition="in" filter="wipe(down)">
                                      <p:cBhvr>
                                        <p:cTn id="66" dur="500"/>
                                        <p:tgtEl>
                                          <p:spTgt spid="8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83"/>
                                        </p:tgtEl>
                                        <p:attrNameLst>
                                          <p:attrName>style.visibility</p:attrName>
                                        </p:attrNameLst>
                                      </p:cBhvr>
                                      <p:to>
                                        <p:strVal val="visible"/>
                                      </p:to>
                                    </p:set>
                                    <p:animEffect transition="in" filter="wipe(down)">
                                      <p:cBhvr>
                                        <p:cTn id="71" dur="500"/>
                                        <p:tgtEl>
                                          <p:spTgt spid="83"/>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nodeType="clickEffect">
                                  <p:stCondLst>
                                    <p:cond delay="0"/>
                                  </p:stCondLst>
                                  <p:childTnLst>
                                    <p:set>
                                      <p:cBhvr>
                                        <p:cTn id="75" dur="1" fill="hold">
                                          <p:stCondLst>
                                            <p:cond delay="0"/>
                                          </p:stCondLst>
                                        </p:cTn>
                                        <p:tgtEl>
                                          <p:spTgt spid="86"/>
                                        </p:tgtEl>
                                        <p:attrNameLst>
                                          <p:attrName>style.visibility</p:attrName>
                                        </p:attrNameLst>
                                      </p:cBhvr>
                                      <p:to>
                                        <p:strVal val="visible"/>
                                      </p:to>
                                    </p:set>
                                    <p:animEffect transition="in" filter="slide(fromBottom)">
                                      <p:cBhvr>
                                        <p:cTn id="76" dur="500"/>
                                        <p:tgtEl>
                                          <p:spTgt spid="8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104"/>
                                        </p:tgtEl>
                                        <p:attrNameLst>
                                          <p:attrName>style.visibility</p:attrName>
                                        </p:attrNameLst>
                                      </p:cBhvr>
                                      <p:to>
                                        <p:strVal val="visible"/>
                                      </p:to>
                                    </p:set>
                                    <p:animEffect transition="in" filter="wipe(down)">
                                      <p:cBhvr>
                                        <p:cTn id="81" dur="500"/>
                                        <p:tgtEl>
                                          <p:spTgt spid="10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105"/>
                                        </p:tgtEl>
                                        <p:attrNameLst>
                                          <p:attrName>style.visibility</p:attrName>
                                        </p:attrNameLst>
                                      </p:cBhvr>
                                      <p:to>
                                        <p:strVal val="visible"/>
                                      </p:to>
                                    </p:set>
                                    <p:animEffect transition="in" filter="wipe(down)">
                                      <p:cBhvr>
                                        <p:cTn id="86" dur="500"/>
                                        <p:tgtEl>
                                          <p:spTgt spid="10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69"/>
                                        </p:tgtEl>
                                        <p:attrNameLst>
                                          <p:attrName>style.visibility</p:attrName>
                                        </p:attrNameLst>
                                      </p:cBhvr>
                                      <p:to>
                                        <p:strVal val="visible"/>
                                      </p:to>
                                    </p:set>
                                    <p:animEffect transition="in" filter="wipe(left)">
                                      <p:cBhvr>
                                        <p:cTn id="91" dur="500"/>
                                        <p:tgtEl>
                                          <p:spTgt spid="169"/>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nodeType="clickEffect">
                                  <p:stCondLst>
                                    <p:cond delay="0"/>
                                  </p:stCondLst>
                                  <p:childTnLst>
                                    <p:set>
                                      <p:cBhvr>
                                        <p:cTn id="95" dur="1" fill="hold">
                                          <p:stCondLst>
                                            <p:cond delay="0"/>
                                          </p:stCondLst>
                                        </p:cTn>
                                        <p:tgtEl>
                                          <p:spTgt spid="99"/>
                                        </p:tgtEl>
                                        <p:attrNameLst>
                                          <p:attrName>style.visibility</p:attrName>
                                        </p:attrNameLst>
                                      </p:cBhvr>
                                      <p:to>
                                        <p:strVal val="visible"/>
                                      </p:to>
                                    </p:set>
                                    <p:animEffect transition="in" filter="wipe(down)">
                                      <p:cBhvr>
                                        <p:cTn id="96" dur="500"/>
                                        <p:tgtEl>
                                          <p:spTgt spid="9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154"/>
                                        </p:tgtEl>
                                        <p:attrNameLst>
                                          <p:attrName>style.visibility</p:attrName>
                                        </p:attrNameLst>
                                      </p:cBhvr>
                                      <p:to>
                                        <p:strVal val="visible"/>
                                      </p:to>
                                    </p:set>
                                    <p:animEffect transition="in" filter="wipe(up)">
                                      <p:cBhvr>
                                        <p:cTn id="101" dur="500"/>
                                        <p:tgtEl>
                                          <p:spTgt spid="15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151"/>
                                        </p:tgtEl>
                                        <p:attrNameLst>
                                          <p:attrName>style.visibility</p:attrName>
                                        </p:attrNameLst>
                                      </p:cBhvr>
                                      <p:to>
                                        <p:strVal val="visible"/>
                                      </p:to>
                                    </p:set>
                                    <p:animEffect transition="in" filter="wipe(down)">
                                      <p:cBhvr>
                                        <p:cTn id="106" dur="500"/>
                                        <p:tgtEl>
                                          <p:spTgt spid="15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157"/>
                                        </p:tgtEl>
                                        <p:attrNameLst>
                                          <p:attrName>style.visibility</p:attrName>
                                        </p:attrNameLst>
                                      </p:cBhvr>
                                      <p:to>
                                        <p:strVal val="visible"/>
                                      </p:to>
                                    </p:set>
                                    <p:animEffect transition="in" filter="wipe(up)">
                                      <p:cBhvr>
                                        <p:cTn id="111" dur="500"/>
                                        <p:tgtEl>
                                          <p:spTgt spid="157"/>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4" fill="hold" nodeType="clickEffect">
                                  <p:stCondLst>
                                    <p:cond delay="0"/>
                                  </p:stCondLst>
                                  <p:childTnLst>
                                    <p:set>
                                      <p:cBhvr>
                                        <p:cTn id="115" dur="1" fill="hold">
                                          <p:stCondLst>
                                            <p:cond delay="0"/>
                                          </p:stCondLst>
                                        </p:cTn>
                                        <p:tgtEl>
                                          <p:spTgt spid="121"/>
                                        </p:tgtEl>
                                        <p:attrNameLst>
                                          <p:attrName>style.visibility</p:attrName>
                                        </p:attrNameLst>
                                      </p:cBhvr>
                                      <p:to>
                                        <p:strVal val="visible"/>
                                      </p:to>
                                    </p:set>
                                    <p:animEffect transition="in" filter="slide(fromBottom)">
                                      <p:cBhvr>
                                        <p:cTn id="116" dur="500"/>
                                        <p:tgtEl>
                                          <p:spTgt spid="121"/>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139"/>
                                        </p:tgtEl>
                                        <p:attrNameLst>
                                          <p:attrName>style.visibility</p:attrName>
                                        </p:attrNameLst>
                                      </p:cBhvr>
                                      <p:to>
                                        <p:strVal val="visible"/>
                                      </p:to>
                                    </p:set>
                                    <p:animEffect transition="in" filter="wipe(down)">
                                      <p:cBhvr>
                                        <p:cTn id="121" dur="500"/>
                                        <p:tgtEl>
                                          <p:spTgt spid="139"/>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73"/>
                                        </p:tgtEl>
                                        <p:attrNameLst>
                                          <p:attrName>style.visibility</p:attrName>
                                        </p:attrNameLst>
                                      </p:cBhvr>
                                      <p:to>
                                        <p:strVal val="visible"/>
                                      </p:to>
                                    </p:set>
                                    <p:animEffect transition="in" filter="wipe(left)">
                                      <p:cBhvr>
                                        <p:cTn id="126" dur="500"/>
                                        <p:tgtEl>
                                          <p:spTgt spid="173"/>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nodeType="clickEffect">
                                  <p:stCondLst>
                                    <p:cond delay="0"/>
                                  </p:stCondLst>
                                  <p:childTnLst>
                                    <p:set>
                                      <p:cBhvr>
                                        <p:cTn id="130" dur="1" fill="hold">
                                          <p:stCondLst>
                                            <p:cond delay="0"/>
                                          </p:stCondLst>
                                        </p:cTn>
                                        <p:tgtEl>
                                          <p:spTgt spid="116"/>
                                        </p:tgtEl>
                                        <p:attrNameLst>
                                          <p:attrName>style.visibility</p:attrName>
                                        </p:attrNameLst>
                                      </p:cBhvr>
                                      <p:to>
                                        <p:strVal val="visible"/>
                                      </p:to>
                                    </p:set>
                                    <p:animEffect transition="in" filter="wipe(down)">
                                      <p:cBhvr>
                                        <p:cTn id="131" dur="500"/>
                                        <p:tgtEl>
                                          <p:spTgt spid="116"/>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nodeType="clickEffect">
                                  <p:stCondLst>
                                    <p:cond delay="0"/>
                                  </p:stCondLst>
                                  <p:childTnLst>
                                    <p:set>
                                      <p:cBhvr>
                                        <p:cTn id="135" dur="1" fill="hold">
                                          <p:stCondLst>
                                            <p:cond delay="0"/>
                                          </p:stCondLst>
                                        </p:cTn>
                                        <p:tgtEl>
                                          <p:spTgt spid="160"/>
                                        </p:tgtEl>
                                        <p:attrNameLst>
                                          <p:attrName>style.visibility</p:attrName>
                                        </p:attrNameLst>
                                      </p:cBhvr>
                                      <p:to>
                                        <p:strVal val="visible"/>
                                      </p:to>
                                    </p:set>
                                    <p:animEffect transition="in" filter="wipe(up)">
                                      <p:cBhvr>
                                        <p:cTn id="136" dur="500"/>
                                        <p:tgtEl>
                                          <p:spTgt spid="160"/>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nodeType="clickEffect">
                                  <p:stCondLst>
                                    <p:cond delay="0"/>
                                  </p:stCondLst>
                                  <p:childTnLst>
                                    <p:set>
                                      <p:cBhvr>
                                        <p:cTn id="140" dur="1" fill="hold">
                                          <p:stCondLst>
                                            <p:cond delay="0"/>
                                          </p:stCondLst>
                                        </p:cTn>
                                        <p:tgtEl>
                                          <p:spTgt spid="163"/>
                                        </p:tgtEl>
                                        <p:attrNameLst>
                                          <p:attrName>style.visibility</p:attrName>
                                        </p:attrNameLst>
                                      </p:cBhvr>
                                      <p:to>
                                        <p:strVal val="visible"/>
                                      </p:to>
                                    </p:set>
                                    <p:animEffect transition="in" filter="wipe(down)">
                                      <p:cBhvr>
                                        <p:cTn id="141" dur="500"/>
                                        <p:tgtEl>
                                          <p:spTgt spid="163"/>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nodeType="clickEffect">
                                  <p:stCondLst>
                                    <p:cond delay="0"/>
                                  </p:stCondLst>
                                  <p:childTnLst>
                                    <p:set>
                                      <p:cBhvr>
                                        <p:cTn id="145" dur="1" fill="hold">
                                          <p:stCondLst>
                                            <p:cond delay="0"/>
                                          </p:stCondLst>
                                        </p:cTn>
                                        <p:tgtEl>
                                          <p:spTgt spid="170"/>
                                        </p:tgtEl>
                                        <p:attrNameLst>
                                          <p:attrName>style.visibility</p:attrName>
                                        </p:attrNameLst>
                                      </p:cBhvr>
                                      <p:to>
                                        <p:strVal val="visible"/>
                                      </p:to>
                                    </p:set>
                                    <p:animEffect transition="in" filter="wipe(up)">
                                      <p:cBhvr>
                                        <p:cTn id="146" dur="500"/>
                                        <p:tgtEl>
                                          <p:spTgt spid="170"/>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nodeType="clickEffect">
                                  <p:stCondLst>
                                    <p:cond delay="0"/>
                                  </p:stCondLst>
                                  <p:childTnLst>
                                    <p:set>
                                      <p:cBhvr>
                                        <p:cTn id="150" dur="1" fill="hold">
                                          <p:stCondLst>
                                            <p:cond delay="0"/>
                                          </p:stCondLst>
                                        </p:cTn>
                                        <p:tgtEl>
                                          <p:spTgt spid="166"/>
                                        </p:tgtEl>
                                        <p:attrNameLst>
                                          <p:attrName>style.visibility</p:attrName>
                                        </p:attrNameLst>
                                      </p:cBhvr>
                                      <p:to>
                                        <p:strVal val="visible"/>
                                      </p:to>
                                    </p:set>
                                    <p:animEffect transition="in" filter="wipe(left)">
                                      <p:cBhvr>
                                        <p:cTn id="151" dur="5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P spid="68" grpId="0" animBg="1"/>
      <p:bldP spid="104" grpId="0" animBg="1"/>
      <p:bldP spid="169" grpId="0"/>
      <p:bldP spid="17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8"/>
          <p:cNvSpPr txBox="1">
            <a:spLocks noChangeArrowheads="1"/>
          </p:cNvSpPr>
          <p:nvPr/>
        </p:nvSpPr>
        <p:spPr bwMode="auto">
          <a:xfrm>
            <a:off x="4471195" y="412176"/>
            <a:ext cx="3249608" cy="584775"/>
          </a:xfrm>
          <a:prstGeom prst="rect">
            <a:avLst/>
          </a:prstGeom>
          <a:noFill/>
          <a:ln w="9525">
            <a:noFill/>
            <a:miter lim="800000"/>
          </a:ln>
        </p:spPr>
        <p:txBody>
          <a:bodyPr wrap="none">
            <a:spAutoFit/>
          </a:bodyPr>
          <a:lstStyle/>
          <a:p>
            <a:pPr algn="ctr"/>
            <a:r>
              <a:rPr lang="zh-CN" altLang="en-US" sz="3200" dirty="0">
                <a:solidFill>
                  <a:srgbClr val="FFFFFF"/>
                </a:solidFill>
                <a:latin typeface="微软雅黑" panose="020B0503020204020204" pitchFamily="34" charset="-122"/>
                <a:ea typeface="微软雅黑" panose="020B0503020204020204" pitchFamily="34" charset="-122"/>
              </a:rPr>
              <a:t>第</a:t>
            </a:r>
            <a:r>
              <a:rPr lang="en-US" altLang="zh-CN" sz="3200" dirty="0">
                <a:solidFill>
                  <a:srgbClr val="FFFFFF"/>
                </a:solidFill>
                <a:latin typeface="微软雅黑" panose="020B0503020204020204" pitchFamily="34" charset="-122"/>
                <a:ea typeface="微软雅黑" panose="020B0503020204020204" pitchFamily="34" charset="-122"/>
              </a:rPr>
              <a:t>12</a:t>
            </a:r>
            <a:r>
              <a:rPr lang="zh-CN" altLang="en-US" sz="3200" dirty="0">
                <a:solidFill>
                  <a:srgbClr val="FFFFFF"/>
                </a:solidFill>
                <a:latin typeface="微软雅黑" panose="020B0503020204020204" pitchFamily="34" charset="-122"/>
                <a:ea typeface="微软雅黑" panose="020B0503020204020204" pitchFamily="34" charset="-122"/>
              </a:rPr>
              <a:t>讲 课后作业</a:t>
            </a:r>
            <a:endParaRPr lang="zh-CN" altLang="en-US" sz="3200" dirty="0">
              <a:solidFill>
                <a:srgbClr val="FFFFFF"/>
              </a:solidFill>
              <a:latin typeface="微软雅黑" panose="020B0503020204020204" pitchFamily="34" charset="-122"/>
              <a:ea typeface="微软雅黑" panose="020B0503020204020204" pitchFamily="34" charset="-122"/>
            </a:endParaRPr>
          </a:p>
        </p:txBody>
      </p:sp>
      <p:sp>
        <p:nvSpPr>
          <p:cNvPr id="4" name="灯片编号占位符 3"/>
          <p:cNvSpPr txBox="1"/>
          <p:nvPr/>
        </p:nvSpPr>
        <p:spPr>
          <a:xfrm>
            <a:off x="11640616" y="6425394"/>
            <a:ext cx="269625" cy="276999"/>
          </a:xfrm>
          <a:prstGeom prst="rect">
            <a:avLst/>
          </a:prstGeom>
        </p:spPr>
        <p:txBody>
          <a:bodyPr vert="horz" wrap="none" lIns="91440" tIns="45720" rIns="91440" bIns="45720" rtlCol="0" anchor="ctr">
            <a:spAutoFit/>
          </a:bodyPr>
          <a:lstStyle>
            <a:defPPr>
              <a:defRPr lang="zh-CN"/>
            </a:defPPr>
            <a:lvl1pPr algn="r" rtl="0" fontAlgn="auto">
              <a:spcBef>
                <a:spcPts val="0"/>
              </a:spcBef>
              <a:spcAft>
                <a:spcPts val="0"/>
              </a:spcAft>
              <a:defRPr sz="1200" kern="1200">
                <a:solidFill>
                  <a:schemeClr val="tx1">
                    <a:lumMod val="75000"/>
                    <a:lumOff val="2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0A5DABDC-C7A3-4A62-BB87-5F550D6AD4B8}" type="slidenum">
              <a:rPr lang="en-US" altLang="zh-CN" smtClean="0"/>
            </a:fld>
            <a:endParaRPr lang="en-US" altLang="zh-CN" dirty="0"/>
          </a:p>
        </p:txBody>
      </p:sp>
      <p:pic>
        <p:nvPicPr>
          <p:cNvPr id="6" name="图片 5"/>
          <p:cNvPicPr>
            <a:picLocks noChangeAspect="1"/>
          </p:cNvPicPr>
          <p:nvPr/>
        </p:nvPicPr>
        <p:blipFill>
          <a:blip r:embed="rId1"/>
          <a:stretch>
            <a:fillRect/>
          </a:stretch>
        </p:blipFill>
        <p:spPr>
          <a:xfrm>
            <a:off x="471787" y="1268760"/>
            <a:ext cx="4720526" cy="4828423"/>
          </a:xfrm>
          <a:prstGeom prst="rect">
            <a:avLst/>
          </a:prstGeom>
        </p:spPr>
      </p:pic>
      <p:sp>
        <p:nvSpPr>
          <p:cNvPr id="7" name="Text Box 42"/>
          <p:cNvSpPr txBox="1">
            <a:spLocks noChangeArrowheads="1"/>
          </p:cNvSpPr>
          <p:nvPr/>
        </p:nvSpPr>
        <p:spPr bwMode="auto">
          <a:xfrm>
            <a:off x="5735960" y="1556792"/>
            <a:ext cx="264397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None/>
            </a:pPr>
            <a:r>
              <a:rPr kumimoji="1" lang="zh-CN" altLang="en-US" sz="2400" b="1"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rPr>
              <a:t>绘制支座零件图：</a:t>
            </a:r>
            <a:endParaRPr kumimoji="1" lang="en-US" altLang="zh-CN" sz="2400" b="1"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 Box 42"/>
          <p:cNvSpPr txBox="1">
            <a:spLocks noChangeArrowheads="1"/>
          </p:cNvSpPr>
          <p:nvPr/>
        </p:nvSpPr>
        <p:spPr bwMode="auto">
          <a:xfrm>
            <a:off x="5663952" y="2204864"/>
            <a:ext cx="5678923" cy="3519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808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lgn="just" eaLnBrk="0" fontAlgn="base" hangingPunct="0">
              <a:lnSpc>
                <a:spcPct val="120000"/>
              </a:lnSpc>
              <a:spcBef>
                <a:spcPct val="0"/>
              </a:spcBef>
              <a:spcAft>
                <a:spcPts val="1200"/>
              </a:spcAft>
              <a:buFontTx/>
              <a:buAutoNum type="arabicPeriod"/>
            </a:pPr>
            <a:r>
              <a:rPr kumimoji="1" lang="en-US" altLang="zh-CN"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rPr>
              <a:t>A3</a:t>
            </a:r>
            <a:r>
              <a:rPr kumimoji="1" lang="zh-CN" altLang="en-US"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rPr>
              <a:t>图纸，计算机绘制；</a:t>
            </a:r>
            <a:endParaRPr kumimoji="1" lang="en-US" altLang="zh-CN"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eaLnBrk="0" fontAlgn="base" hangingPunct="0">
              <a:lnSpc>
                <a:spcPct val="120000"/>
              </a:lnSpc>
              <a:spcBef>
                <a:spcPct val="0"/>
              </a:spcBef>
              <a:spcAft>
                <a:spcPts val="1200"/>
              </a:spcAft>
              <a:buFontTx/>
              <a:buAutoNum type="arabicPeriod"/>
            </a:pPr>
            <a:r>
              <a:rPr kumimoji="1" lang="zh-CN" altLang="en-US"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rPr>
              <a:t>讨论并确定支座最终表达方案；</a:t>
            </a:r>
            <a:endParaRPr kumimoji="1" lang="en-US" altLang="zh-CN"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eaLnBrk="0" fontAlgn="base" hangingPunct="0">
              <a:lnSpc>
                <a:spcPct val="120000"/>
              </a:lnSpc>
              <a:spcBef>
                <a:spcPct val="0"/>
              </a:spcBef>
              <a:spcAft>
                <a:spcPts val="1200"/>
              </a:spcAft>
              <a:buFontTx/>
              <a:buAutoNum type="arabicPeriod"/>
            </a:pPr>
            <a:r>
              <a:rPr kumimoji="1" lang="zh-CN" altLang="en-US"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rPr>
              <a:t>根据提供的零件三维模型，生成二维图；</a:t>
            </a:r>
            <a:endParaRPr kumimoji="1" lang="en-US" altLang="zh-CN"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eaLnBrk="0" fontAlgn="base" hangingPunct="0">
              <a:lnSpc>
                <a:spcPct val="120000"/>
              </a:lnSpc>
              <a:spcBef>
                <a:spcPct val="0"/>
              </a:spcBef>
              <a:spcAft>
                <a:spcPts val="1200"/>
              </a:spcAft>
              <a:buFontTx/>
              <a:buAutoNum type="arabicPeriod"/>
            </a:pPr>
            <a:r>
              <a:rPr kumimoji="1" lang="zh-CN" altLang="en-US" sz="2200" dirty="0">
                <a:solidFill>
                  <a:srgbClr val="080808"/>
                </a:solidFill>
                <a:latin typeface="微软雅黑" panose="020B0503020204020204" pitchFamily="34" charset="-122"/>
                <a:ea typeface="微软雅黑" panose="020B0503020204020204" pitchFamily="34" charset="-122"/>
                <a:cs typeface="Times New Roman" panose="02020603050405020304" pitchFamily="18" charset="0"/>
              </a:rPr>
              <a:t>对生成的二维图进行修改、补充、完善，形成完整的支座零件图，</a:t>
            </a:r>
            <a:r>
              <a:rPr kumimoji="1" lang="zh-CN" altLang="en-US" sz="2200" dirty="0">
                <a:solidFill>
                  <a:srgbClr val="080808"/>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要求正确标注零件的尺寸、表面结构和技术要求；</a:t>
            </a:r>
            <a:endParaRPr kumimoji="1" lang="en-US" altLang="zh-CN" sz="2200" dirty="0">
              <a:solidFill>
                <a:srgbClr val="080808"/>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eaLnBrk="0" fontAlgn="base" hangingPunct="0">
              <a:lnSpc>
                <a:spcPct val="120000"/>
              </a:lnSpc>
              <a:spcBef>
                <a:spcPct val="0"/>
              </a:spcBef>
              <a:spcAft>
                <a:spcPts val="1200"/>
              </a:spcAft>
              <a:buFontTx/>
              <a:buAutoNum type="arabicPeriod"/>
            </a:pPr>
            <a:r>
              <a:rPr kumimoji="1" lang="zh-CN" altLang="en-US" sz="2200" dirty="0">
                <a:solidFill>
                  <a:srgbClr val="080808"/>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保存为</a:t>
            </a:r>
            <a:r>
              <a:rPr kumimoji="1" lang="en-US" altLang="zh-CN" sz="2200" dirty="0">
                <a:solidFill>
                  <a:srgbClr val="080808"/>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PDF</a:t>
            </a:r>
            <a:r>
              <a:rPr kumimoji="1" lang="zh-CN" altLang="en-US" sz="2200" dirty="0">
                <a:solidFill>
                  <a:srgbClr val="080808"/>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文件提交网络学堂。</a:t>
            </a:r>
            <a:endParaRPr kumimoji="1" lang="en-US" altLang="zh-CN" sz="2200" dirty="0">
              <a:solidFill>
                <a:srgbClr val="080808"/>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ISPRING_RESOURCE_PATHS_HASH_PRESENTER" val="71a95fcf66203d38bc361677577eb4a2de51b675"/>
  <p:tag name="KSO_WPP_MARK_KEY" val="31cbdf26-d042-449e-9ab8-b97493b6dd1a"/>
  <p:tag name="COMMONDATA" val="eyJoZGlkIjoiODJmN2FlNTk5ZDc5YWY1ZDIwZDMzYzFiYWNjYTQ1OTkifQ=="/>
</p:tagLst>
</file>

<file path=ppt/theme/theme1.xml><?xml version="1.0" encoding="utf-8"?>
<a:theme xmlns:a="http://schemas.openxmlformats.org/drawingml/2006/main" name="Office 主题​​">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0C0C0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8312</Words>
  <Application>WPS 演示</Application>
  <PresentationFormat>宽屏</PresentationFormat>
  <Paragraphs>2214</Paragraphs>
  <Slides>73</Slides>
  <Notes>67</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73</vt:i4>
      </vt:variant>
    </vt:vector>
  </HeadingPairs>
  <TitlesOfParts>
    <vt:vector size="96" baseType="lpstr">
      <vt:lpstr>Arial</vt:lpstr>
      <vt:lpstr>宋体</vt:lpstr>
      <vt:lpstr>Wingdings</vt:lpstr>
      <vt:lpstr>Calibri</vt:lpstr>
      <vt:lpstr>黑体</vt:lpstr>
      <vt:lpstr>华文新魏</vt:lpstr>
      <vt:lpstr>微软雅黑</vt:lpstr>
      <vt:lpstr>华文细黑</vt:lpstr>
      <vt:lpstr>等线</vt:lpstr>
      <vt:lpstr>Tahoma</vt:lpstr>
      <vt:lpstr>Monotype Sorts</vt:lpstr>
      <vt:lpstr>Wingdings</vt:lpstr>
      <vt:lpstr>Arial Unicode MS</vt:lpstr>
      <vt:lpstr>Symbol</vt:lpstr>
      <vt:lpstr>Times New Roman</vt:lpstr>
      <vt:lpstr>ISOCPEUR</vt:lpstr>
      <vt:lpstr>ISOCP</vt:lpstr>
      <vt:lpstr>Arial</vt:lpstr>
      <vt:lpstr>UniversalMath1 BT</vt:lpstr>
      <vt:lpstr>Times New Roman</vt:lpstr>
      <vt:lpstr>CommercialPi BT</vt:lpstr>
      <vt:lpstr>Marlett</vt:lpstr>
      <vt:lpstr>Office 主题​​</vt:lpstr>
      <vt:lpstr>PowerPoint 演示文稿</vt:lpstr>
      <vt:lpstr>零件图</vt:lpstr>
      <vt:lpstr>PowerPoint 演示文稿</vt:lpstr>
      <vt:lpstr>12.1 零件图概述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12.2 视图选择与绘制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12.3 技术要求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wyh</dc:creator>
  <cp:lastModifiedBy>当条咸鱼</cp:lastModifiedBy>
  <cp:revision>2297</cp:revision>
  <dcterms:created xsi:type="dcterms:W3CDTF">2013-06-24T05:49:00Z</dcterms:created>
  <dcterms:modified xsi:type="dcterms:W3CDTF">2025-05-10T07:14:39Z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4C2AE5DD08474DD6A7DB3DF84632E3E9</vt:lpwstr>
  </property>
  <property fmtid="{D5CDD505-2E9C-101B-9397-08002B2CF9AE}" pid="3" name="KSOProductBuildVer">
    <vt:lpwstr>2052-11.1.0.12165</vt:lpwstr>
  </property>
</Properties>
</file>