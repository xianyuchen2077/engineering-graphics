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82" r:id="rId2"/>
    <p:sldId id="259" r:id="rId3"/>
    <p:sldId id="262" r:id="rId4"/>
    <p:sldId id="647" r:id="rId5"/>
    <p:sldId id="478" r:id="rId6"/>
    <p:sldId id="777" r:id="rId7"/>
    <p:sldId id="778" r:id="rId8"/>
    <p:sldId id="666" r:id="rId9"/>
    <p:sldId id="663" r:id="rId10"/>
    <p:sldId id="780" r:id="rId11"/>
    <p:sldId id="781" r:id="rId12"/>
    <p:sldId id="782" r:id="rId13"/>
    <p:sldId id="783" r:id="rId14"/>
    <p:sldId id="784" r:id="rId15"/>
    <p:sldId id="785" r:id="rId16"/>
    <p:sldId id="786" r:id="rId17"/>
    <p:sldId id="787" r:id="rId18"/>
    <p:sldId id="788" r:id="rId19"/>
    <p:sldId id="789" r:id="rId20"/>
    <p:sldId id="790" r:id="rId21"/>
    <p:sldId id="791" r:id="rId22"/>
    <p:sldId id="792" r:id="rId23"/>
    <p:sldId id="793" r:id="rId24"/>
    <p:sldId id="794" r:id="rId25"/>
    <p:sldId id="795" r:id="rId26"/>
    <p:sldId id="803" r:id="rId27"/>
    <p:sldId id="796" r:id="rId28"/>
    <p:sldId id="797" r:id="rId29"/>
    <p:sldId id="798" r:id="rId30"/>
    <p:sldId id="799" r:id="rId31"/>
    <p:sldId id="800" r:id="rId32"/>
    <p:sldId id="804" r:id="rId33"/>
    <p:sldId id="801" r:id="rId34"/>
    <p:sldId id="372" r:id="rId35"/>
  </p:sldIdLst>
  <p:sldSz cx="12192000" cy="6858000"/>
  <p:notesSz cx="6858000" cy="9144000"/>
  <p:custDataLst>
    <p:tags r:id="rId3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D67"/>
    <a:srgbClr val="006049"/>
    <a:srgbClr val="8A1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C46485-6872-435C-83DB-AF3B35080D2B}" v="121" dt="2025-03-30T14:02:09.766"/>
    <p1510:client id="{D0AF3D9C-878B-4ED4-9111-1CC02704D99B}" v="201" dt="2025-03-30T10:40:06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8" autoAdjust="0"/>
    <p:restoredTop sz="91938" autoAdjust="0"/>
  </p:normalViewPr>
  <p:slideViewPr>
    <p:cSldViewPr>
      <p:cViewPr varScale="1">
        <p:scale>
          <a:sx n="88" d="100"/>
          <a:sy n="88" d="100"/>
        </p:scale>
        <p:origin x="54" y="8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BA9AD9-FC80-4497-8484-7A4D9608DE10}" type="datetimeFigureOut">
              <a:rPr lang="zh-CN" altLang="en-US"/>
              <a:pPr>
                <a:defRPr/>
              </a:pPr>
              <a:t>2025/5/11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718B667-CE80-41CC-B4D3-969832BB2F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524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498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2380A-0F50-B477-5CEB-3C285A82D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B23DBB-C2AF-1041-8BA4-68A918C62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E64EFC-0E3B-5A5F-9D0E-B03BD1F87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B83A88-8558-0A91-2FA9-88B1FEAAC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554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43E1-72CD-037F-2F53-8C5E174E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54EE6C-1891-3BA6-F0B2-17197F072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495B9F-915A-44A0-213A-2A6F342AD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7F7F4-BFF0-851C-51B0-4F3D602E5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790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16761-BFC4-94F0-4FB3-B1D316681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1F152E-A539-AFE1-719F-65555E06A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444FBF-38B5-082C-BF00-D5F792E85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C371D8-1A98-164F-375F-7C917124B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195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C9F7E-AF42-9959-BE8B-8A7ABA221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35471D-F58F-277E-F985-00778C55C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E7B945-A32E-C997-B2DD-0F657C9B1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481CE4-AC72-8B1F-CFF4-2CAB67B93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326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C2F98-E2B7-36B5-B225-4CE4341B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C816BC-DC67-1D5C-75D5-F5551087B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833F7C-E411-5EE3-3164-2A33A0DF8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装配线：为了满足特定功能，按照特定装配关系组合而成的一系列零件。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BAF695-8FC1-0F7A-8F55-C39361B27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387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C4D70-6D2E-44F3-7FC0-01A54421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62FC4F-CEAB-95BA-4AE7-F59F9BCCA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9A92A2-1E3E-8AEF-3D1F-30B3940B3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C9A77-8544-5873-4FFF-092A4A630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600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C1D80-0E23-1B3C-FC8D-F84CF4016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B3281B-3F3F-5D34-A0B7-22AC35DEE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2CB942-B3B8-8452-2D53-2E3867281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E0C180-FE90-E125-7716-E32A511DF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319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42D54-F1C0-9B52-2181-81D46BE4C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C14C4B-2316-CA99-8741-B755730E2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4F256E-7AE5-2323-7CBF-5BCB7B43E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1522F6-8EA0-0D56-7BBD-2CFAFA954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2136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277E3-5B4F-EA2F-40CB-D9CB621E2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2DF4B7-1CE2-4E57-E0E2-792D0DD11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ED74CC-E7B9-25FB-D00D-5C47304B7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3C63ED-6FA1-31A6-BAFE-22EA3E125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632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835E-2C30-6883-7B33-F2FBCEECE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6ED7CE-8338-318F-614E-60F2230F1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7A1E0C-F176-1159-2A80-517CBE7BF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30814B-6FBC-CE9E-0F19-2B1A247CD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517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FA1A-D399-02BF-9BB4-96F9E490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BB6848-1D5A-7832-140B-1D5AF8A14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973F99-7E1D-1780-8AD6-F4AD47287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196323-05E5-C7CE-C920-CD62434E8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011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2B133-53C5-57CB-5EF9-F6F71C7EC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FC649A-C38B-C6B0-00E8-D01CB52AC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27C01F-BF5B-88D4-435D-55750D9C8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EBB5CD-3844-DCE0-2EA3-AC6BCD9B6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896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1C3D6-1EC8-BF33-A8F1-19494701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6F4F9F-62E3-145D-3B72-62F6E53B9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652DE8-0056-5570-9531-DB9268BD5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6ACC49-30CB-D60E-5825-E516E0BEA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122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90FC-154C-1421-63EB-A96177B8C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03F8FA-C140-372B-F126-59EEACF87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AD0080-A44C-030D-100C-BF54B26A3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68A881-5E38-806E-B8DF-E5AFCDF4D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5659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1BDD2-5D4C-4615-E133-09C13E0ED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728C80-C19E-4C8B-7F6C-265A3C9BA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977142-B024-A774-B0E3-46D64DD80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BC87B3-51DA-DFD9-1B3F-156DB3DC8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693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3729A-9359-2C6C-2ECF-722FA9BB2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4D9E86-AD92-1127-8ED2-D811987E4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CCE09E-711B-E486-4962-D6BFEE1B9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C440CF-6C57-280F-88B8-C77FBB096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1132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A1DFB-B11F-A63E-FEBF-43D095B4A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8EC659-0617-9E0E-1B55-75D5FD1A9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A079F1-9C6E-AF5D-F673-AEE2F221A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F2E522-457D-9BC6-45D8-A1B3EE6EE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9363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69CBB-BC6F-286B-7CD2-C0DE50D4C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CDEBCF-887D-F689-5BE4-8568262DD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9C9857-C8E2-DF29-74AD-BE7D9F08B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F4D7A3-4592-1B49-E545-764A7C2F9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7136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0C9C7-97D2-39AB-BEBC-D6647960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0A9527-4189-9AA3-85D5-FC68053F2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CAF33C-08FD-9404-F743-C62D9FB94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3BCC55-8033-D2EC-062F-E8DCFCE9F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3307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097A3-590F-18C5-C46B-F5F4052D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BCDCA7-1A42-3D77-E1D2-D3A2FED02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34A100-27D6-7DC3-75BC-8712C01D1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1955E7-905C-6FCE-9D27-D0DE6951D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813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5D7FA-8DF1-600E-CBE8-4D0A09CCD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898E2A-9BE7-8936-753E-0AB4D0422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88DCA7-E9E8-95B6-197F-8EFF360E3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1F8054-892C-E51B-6241-855CB192E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124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3B614-0A27-0488-C05D-DC357BBB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650599-703C-8478-3CFC-7B63228BA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622C99-7656-0C48-CFCB-64A94047B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A52941-0DA6-357D-849C-3BC05CCBE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7157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9ED0-1F35-E552-954C-95662E6E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EC462D-C9CE-1524-8EB7-4E23ACB2C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B51D2D-AADB-F8AD-EE0F-478287A26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8842CB-926A-BB19-8B6D-65BC5B9D6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907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72844-1A9E-54CB-7963-EFD6482B2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CFD61E-519B-1C3F-DCD3-02F2CE00C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6B7121-D5DF-37F0-F855-FF85990DD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B297CF-D82A-1DA5-6060-A5D8FD03C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0950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1907-5C7F-F0C4-2176-7FD12493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652900-43DF-8261-5AEB-04155D138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11DC0B-1104-6A21-7725-37111BD15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217654-875C-46DD-C4D5-717CED84F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8039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92AD-C59C-B72F-97A6-2DEA4E03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DAAD69-93CB-E520-5AE5-437060CC5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C8BB57-C084-E126-917B-A51806AA8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21FD76-73A2-810E-EF56-BF6F475C8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647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3FD1ADF5-EE4E-39EE-1BA6-7A74EDA84F58}"/>
              </a:ext>
            </a:extLst>
          </p:cNvPr>
          <p:cNvSpPr>
            <a:spLocks noGrp="1" noChangeArrowheads="1"/>
          </p:cNvSpPr>
          <p:nvPr>
            <p:ph type="ctrTitle" idx="4294967295" hasCustomPrompt="1"/>
          </p:nvPr>
        </p:nvSpPr>
        <p:spPr>
          <a:xfrm>
            <a:off x="719403" y="2420888"/>
            <a:ext cx="104648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b="1" dirty="0">
                <a:latin typeface="黑体" pitchFamily="2" charset="-122"/>
                <a:ea typeface="黑体" pitchFamily="2" charset="-122"/>
              </a:rPr>
              <a:t>第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讲  标题</a:t>
            </a:r>
            <a:endParaRPr lang="zh-CN" altLang="en-US" sz="2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0EADD4F-B52D-2552-BF53-E0DD1E8958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16749" y="1656783"/>
            <a:ext cx="1586541" cy="45719"/>
          </a:xfrm>
          <a:prstGeom prst="rect">
            <a:avLst/>
          </a:prstGeom>
          <a:gradFill rotWithShape="0">
            <a:gsLst>
              <a:gs pos="0">
                <a:srgbClr val="DCDCEA"/>
              </a:gs>
              <a:gs pos="100000">
                <a:srgbClr val="00006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/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78098E69-5CD5-2A70-2A10-E335D62D2D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228395" y="1056171"/>
            <a:ext cx="15632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10000"/>
                </a:solidFill>
                <a:latin typeface="华文新魏" pitchFamily="2" charset="-122"/>
                <a:ea typeface="华文新魏" pitchFamily="2" charset="-122"/>
              </a:rPr>
              <a:t>第    讲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F8AE709-BF43-5C8B-DE1E-F391A4678E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32" y="366323"/>
            <a:ext cx="1561418" cy="137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设计&#10;&#10;描述已自动生成">
            <a:extLst>
              <a:ext uri="{FF2B5EF4-FFF2-40B4-BE49-F238E27FC236}">
                <a16:creationId xmlns:a16="http://schemas.microsoft.com/office/drawing/2014/main" id="{972AEAC3-0302-341E-6F87-50346F1DF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3" r="2347"/>
          <a:stretch/>
        </p:blipFill>
        <p:spPr>
          <a:xfrm>
            <a:off x="8184232" y="3733164"/>
            <a:ext cx="4170330" cy="312483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75B0FB-1E37-B12D-5EFF-9DEEF7C85CB7}"/>
              </a:ext>
            </a:extLst>
          </p:cNvPr>
          <p:cNvSpPr/>
          <p:nvPr userDrawn="1"/>
        </p:nvSpPr>
        <p:spPr>
          <a:xfrm>
            <a:off x="0" y="1624935"/>
            <a:ext cx="12192000" cy="144000"/>
          </a:xfrm>
          <a:prstGeom prst="rect">
            <a:avLst/>
          </a:prstGeom>
          <a:gradFill>
            <a:gsLst>
              <a:gs pos="50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25000">
                <a:srgbClr val="800D90">
                  <a:alpha val="50000"/>
                  <a:lumMod val="100000"/>
                </a:srgbClr>
              </a:gs>
              <a:gs pos="75000">
                <a:srgbClr val="800D90">
                  <a:alpha val="50000"/>
                  <a:lumMod val="100000"/>
                </a:srgbClr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60874"/>
              </a:solidFill>
            </a:endParaRPr>
          </a:p>
        </p:txBody>
      </p:sp>
      <p:sp>
        <p:nvSpPr>
          <p:cNvPr id="4" name="文本占位符 19">
            <a:extLst>
              <a:ext uri="{FF2B5EF4-FFF2-40B4-BE49-F238E27FC236}">
                <a16:creationId xmlns:a16="http://schemas.microsoft.com/office/drawing/2014/main" id="{5A6056A7-A330-90D3-3148-148D1D9359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8334" y="2789966"/>
            <a:ext cx="7075334" cy="646331"/>
          </a:xfrm>
        </p:spPr>
        <p:txBody>
          <a:bodyPr wrap="none" anchor="ctr" anchorCtr="0">
            <a:spAutoFit/>
          </a:bodyPr>
          <a:lstStyle>
            <a:lvl1pPr marL="0" indent="0" algn="ctr">
              <a:buNone/>
              <a:defRPr sz="3600" b="1" i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标题，微软雅黑，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36pt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19F77B-332D-BA54-C2E9-B244C626D6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4076" y="123774"/>
            <a:ext cx="3988851" cy="134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72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31371" y="1351309"/>
            <a:ext cx="10972800" cy="4525963"/>
          </a:xfrm>
        </p:spPr>
        <p:txBody>
          <a:bodyPr/>
          <a:lstStyle>
            <a:lvl1pPr>
              <a:defRPr b="1">
                <a:latin typeface="黑体" pitchFamily="49" charset="-122"/>
                <a:ea typeface="黑体" pitchFamily="49" charset="-122"/>
              </a:defRPr>
            </a:lvl1pPr>
            <a:lvl2pPr>
              <a:buNone/>
              <a:defRPr>
                <a:latin typeface="黑体" pitchFamily="49" charset="-122"/>
                <a:ea typeface="黑体" pitchFamily="49" charset="-122"/>
              </a:defRPr>
            </a:lvl2pPr>
          </a:lstStyle>
          <a:p>
            <a:pPr lvl="0"/>
            <a:r>
              <a:rPr lang="zh-CN" altLang="en-US" dirty="0"/>
              <a:t>三级标题 黑体 </a:t>
            </a:r>
            <a:r>
              <a:rPr lang="en-US" altLang="zh-CN" dirty="0"/>
              <a:t>30</a:t>
            </a:r>
            <a:r>
              <a:rPr lang="zh-CN" altLang="en-US" dirty="0"/>
              <a:t>磅</a:t>
            </a:r>
          </a:p>
          <a:p>
            <a:pPr lvl="1"/>
            <a:r>
              <a:rPr lang="zh-CN" altLang="en-US" dirty="0"/>
              <a:t>正文 （</a:t>
            </a:r>
            <a:r>
              <a:rPr lang="en-US" altLang="zh-CN" dirty="0"/>
              <a:t>24~30</a:t>
            </a:r>
            <a:r>
              <a:rPr lang="zh-CN" altLang="en-US" dirty="0"/>
              <a:t>磅）</a:t>
            </a:r>
          </a:p>
        </p:txBody>
      </p:sp>
      <p:sp>
        <p:nvSpPr>
          <p:cNvPr id="7" name="矩形 4"/>
          <p:cNvSpPr/>
          <p:nvPr userDrawn="1"/>
        </p:nvSpPr>
        <p:spPr>
          <a:xfrm>
            <a:off x="0" y="332659"/>
            <a:ext cx="12192000" cy="720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8341" y="6425394"/>
            <a:ext cx="2844800" cy="276999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 flipV="1">
            <a:off x="526734" y="6332240"/>
            <a:ext cx="11665268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526732" y="643359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8341" y="6381331"/>
            <a:ext cx="284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526734" y="6332240"/>
            <a:ext cx="11665268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26732" y="643359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4F1FC-A211-41D3-9527-7868687E14E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5F606-63DB-4A4B-B594-22747EE2947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占位符 1"/>
          <p:cNvSpPr>
            <a:spLocks noGrp="1"/>
          </p:cNvSpPr>
          <p:nvPr>
            <p:ph type="title"/>
          </p:nvPr>
        </p:nvSpPr>
        <p:spPr bwMode="auto">
          <a:xfrm>
            <a:off x="2351584" y="692696"/>
            <a:ext cx="9230816" cy="724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84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F1263-A734-46DB-B37F-609C84242B91}" type="datetimeFigureOut">
              <a:rPr lang="zh-CN" altLang="en-US"/>
              <a:pPr>
                <a:defRPr/>
              </a:pPr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4" r:id="rId2"/>
    <p:sldLayoutId id="2147483658" r:id="rId3"/>
    <p:sldLayoutId id="2147483660" r:id="rId4"/>
    <p:sldLayoutId id="2147483661" r:id="rId5"/>
    <p:sldLayoutId id="2147483662" r:id="rId6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oleObject" Target="../embeddings/oleObject12.bin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oleObject" Target="../embeddings/oleObject17.bin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oleObject" Target="../embeddings/oleObject2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23.png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20.png"/><Relationship Id="rId17" Type="http://schemas.openxmlformats.org/officeDocument/2006/relationships/oleObject" Target="../embeddings/oleObject33.bin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2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19.png"/><Relationship Id="rId19" Type="http://schemas.openxmlformats.org/officeDocument/2006/relationships/oleObject" Target="../embeddings/oleObject34.bin"/><Relationship Id="rId4" Type="http://schemas.openxmlformats.org/officeDocument/2006/relationships/image" Target="../media/image16.png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oleObject" Target="../embeddings/oleObject3.bin"/><Relationship Id="rId18" Type="http://schemas.openxmlformats.org/officeDocument/2006/relationships/image" Target="../media/image8.png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5.png"/><Relationship Id="rId17" Type="http://schemas.openxmlformats.org/officeDocument/2006/relationships/oleObject" Target="../embeddings/oleObject5.bin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oleObject" Target="../embeddings/oleObject2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4.bin"/><Relationship Id="rId10" Type="http://schemas.openxmlformats.org/officeDocument/2006/relationships/image" Target="../media/image4.png"/><Relationship Id="rId4" Type="http://schemas.openxmlformats.org/officeDocument/2006/relationships/image" Target="../media/image22.png"/><Relationship Id="rId9" Type="http://schemas.openxmlformats.org/officeDocument/2006/relationships/oleObject" Target="../embeddings/oleObject1.bin"/><Relationship Id="rId1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oleObject" Target="../embeddings/oleObject36.bin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E89DEE-9DA1-3252-8124-710DEFD86A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9146" y="2697634"/>
            <a:ext cx="3733714" cy="830997"/>
          </a:xfrm>
        </p:spPr>
        <p:txBody>
          <a:bodyPr/>
          <a:lstStyle/>
          <a:p>
            <a:r>
              <a:rPr lang="zh-CN" altLang="en-US" sz="4800" spc="600" dirty="0">
                <a:solidFill>
                  <a:srgbClr val="00206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工 程 图 学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6B4EE6F-EAC9-E67A-9242-B328EC12A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506" y="4218819"/>
            <a:ext cx="2492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姜   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副研究员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清华大学，机械工程系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0BD971-1F4C-C04A-6CEB-F357AD1D8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860" y="162352"/>
            <a:ext cx="3865161" cy="13403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91440" tIns="60120" rIns="91440" bIns="63720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办公室：李兆基科技大楼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A1011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手机号：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18210064570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jiangyao@mail.tsinghua.edu.cn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346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5080336" y="2727903"/>
            <a:ext cx="2031326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1879" y="1136817"/>
            <a:ext cx="5822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14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>
            <a:spLocks/>
          </p:cNvSpPr>
          <p:nvPr/>
        </p:nvSpPr>
        <p:spPr bwMode="auto">
          <a:xfrm>
            <a:off x="4335742" y="2132856"/>
            <a:ext cx="4238661" cy="195521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14.1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装配图概述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14.2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视图选择及画图方法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14.3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装配图的标注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5202166" y="454425"/>
            <a:ext cx="1787669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内   容</a:t>
            </a:r>
          </a:p>
        </p:txBody>
      </p:sp>
      <p:grpSp>
        <p:nvGrpSpPr>
          <p:cNvPr id="2" name="组合 12"/>
          <p:cNvGrpSpPr/>
          <p:nvPr/>
        </p:nvGrpSpPr>
        <p:grpSpPr>
          <a:xfrm flipV="1">
            <a:off x="191344" y="1412776"/>
            <a:ext cx="11809312" cy="288032"/>
            <a:chOff x="-40060" y="4227605"/>
            <a:chExt cx="15641884" cy="367574"/>
          </a:xfr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组合 13"/>
            <p:cNvGrpSpPr/>
            <p:nvPr/>
          </p:nvGrpSpPr>
          <p:grpSpPr>
            <a:xfrm>
              <a:off x="-40060" y="4227605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6" name="矩形 18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7" name="矩形 19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8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1" name="组合 14"/>
            <p:cNvGrpSpPr/>
            <p:nvPr/>
          </p:nvGrpSpPr>
          <p:grpSpPr>
            <a:xfrm flipH="1">
              <a:off x="7780882" y="4230669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3" name="矩形 15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4" name="矩形 16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5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E390A-D117-FD79-666E-013A498A7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9D09D7-11E0-7207-91CF-98541D11AA3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58670" y="2727903"/>
            <a:ext cx="4674678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14.1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装配图概述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A468B5E-8921-9F0D-8191-9F3DB9C40B19}"/>
              </a:ext>
            </a:extLst>
          </p:cNvPr>
          <p:cNvSpPr/>
          <p:nvPr/>
        </p:nvSpPr>
        <p:spPr>
          <a:xfrm>
            <a:off x="2701879" y="1136817"/>
            <a:ext cx="5822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14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7208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9C24-2525-2989-E85B-B8C26869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C691E32E-08D2-8E50-54DF-1B7B8C920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31790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装配图概述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E59597C2-7EFB-37D6-B7FF-B793D8B5EE65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6041DF81-9276-39EA-253D-CE9F194C6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800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装配图的用途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BC72A330-66E5-7E05-A0E0-285940698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6489" y="4217013"/>
            <a:ext cx="4210050" cy="15696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了解机器、部件的结构、工作原理，制定装配工艺；是进行装配、检验、安装、维修的技术文件。 </a:t>
            </a:r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8E7A0FD5-54B9-6F16-F58F-DB5DEA10B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922" y="1904486"/>
            <a:ext cx="1092806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表示部件或机器的各组成部分的连接、装配关系的图样称为装配图。</a:t>
            </a: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F6DAABC0-A478-91B4-2075-79494438D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576" y="3573016"/>
            <a:ext cx="1970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装配图用途</a:t>
            </a:r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ABF7889F-CAB5-3846-0528-C387AA518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01" y="2767232"/>
            <a:ext cx="4237038" cy="8309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先画装配图，再根据装配图完成零件设计、绘制零件图。</a:t>
            </a:r>
          </a:p>
        </p:txBody>
      </p:sp>
      <p:grpSp>
        <p:nvGrpSpPr>
          <p:cNvPr id="7" name="Group 44">
            <a:extLst>
              <a:ext uri="{FF2B5EF4-FFF2-40B4-BE49-F238E27FC236}">
                <a16:creationId xmlns:a16="http://schemas.microsoft.com/office/drawing/2014/main" id="{9C383509-40EF-9279-826F-F859B284266F}"/>
              </a:ext>
            </a:extLst>
          </p:cNvPr>
          <p:cNvGrpSpPr>
            <a:grpSpLocks/>
          </p:cNvGrpSpPr>
          <p:nvPr/>
        </p:nvGrpSpPr>
        <p:grpSpPr bwMode="auto">
          <a:xfrm>
            <a:off x="3495601" y="3133279"/>
            <a:ext cx="1998663" cy="1550987"/>
            <a:chOff x="1227" y="2476"/>
            <a:chExt cx="1259" cy="977"/>
          </a:xfrm>
        </p:grpSpPr>
        <p:sp>
          <p:nvSpPr>
            <p:cNvPr id="8" name="Rectangle 29">
              <a:extLst>
                <a:ext uri="{FF2B5EF4-FFF2-40B4-BE49-F238E27FC236}">
                  <a16:creationId xmlns:a16="http://schemas.microsoft.com/office/drawing/2014/main" id="{9ABCB828-FFBC-C515-C21E-405996B4C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9" y="2476"/>
              <a:ext cx="894" cy="294"/>
            </a:xfrm>
            <a:prstGeom prst="rect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400" b="1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设计过程</a:t>
              </a:r>
            </a:p>
          </p:txBody>
        </p:sp>
        <p:sp>
          <p:nvSpPr>
            <p:cNvPr id="9" name="Rectangle 30">
              <a:extLst>
                <a:ext uri="{FF2B5EF4-FFF2-40B4-BE49-F238E27FC236}">
                  <a16:creationId xmlns:a16="http://schemas.microsoft.com/office/drawing/2014/main" id="{B569574B-DDFD-3A76-7F9E-EDE301672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2" y="3159"/>
              <a:ext cx="894" cy="294"/>
            </a:xfrm>
            <a:prstGeom prst="rect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400" b="1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生产过程</a:t>
              </a:r>
            </a:p>
          </p:txBody>
        </p:sp>
        <p:grpSp>
          <p:nvGrpSpPr>
            <p:cNvPr id="10" name="Group 39">
              <a:extLst>
                <a:ext uri="{FF2B5EF4-FFF2-40B4-BE49-F238E27FC236}">
                  <a16:creationId xmlns:a16="http://schemas.microsoft.com/office/drawing/2014/main" id="{58CA724B-3B75-541E-F154-029DF58B6B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7" y="2601"/>
              <a:ext cx="363" cy="206"/>
              <a:chOff x="1254" y="2620"/>
              <a:chExt cx="363" cy="279"/>
            </a:xfrm>
          </p:grpSpPr>
          <p:sp>
            <p:nvSpPr>
              <p:cNvPr id="14" name="Line 35">
                <a:extLst>
                  <a:ext uri="{FF2B5EF4-FFF2-40B4-BE49-F238E27FC236}">
                    <a16:creationId xmlns:a16="http://schemas.microsoft.com/office/drawing/2014/main" id="{08B8A65E-43D4-6A30-4F8A-225B96D484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4" y="2620"/>
                <a:ext cx="0" cy="279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Line 36">
                <a:extLst>
                  <a:ext uri="{FF2B5EF4-FFF2-40B4-BE49-F238E27FC236}">
                    <a16:creationId xmlns:a16="http://schemas.microsoft.com/office/drawing/2014/main" id="{C91FDAA6-F546-2D5C-8889-8AB3D95612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4" y="2620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" name="Group 40">
              <a:extLst>
                <a:ext uri="{FF2B5EF4-FFF2-40B4-BE49-F238E27FC236}">
                  <a16:creationId xmlns:a16="http://schemas.microsoft.com/office/drawing/2014/main" id="{2AEB92B1-62B6-5539-765B-C913340EE921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230" y="3091"/>
              <a:ext cx="363" cy="215"/>
              <a:chOff x="1254" y="2620"/>
              <a:chExt cx="363" cy="279"/>
            </a:xfrm>
          </p:grpSpPr>
          <p:sp>
            <p:nvSpPr>
              <p:cNvPr id="12" name="Line 41">
                <a:extLst>
                  <a:ext uri="{FF2B5EF4-FFF2-40B4-BE49-F238E27FC236}">
                    <a16:creationId xmlns:a16="http://schemas.microsoft.com/office/drawing/2014/main" id="{E6C01746-9A90-91CD-EF92-34C768CA7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54" y="2620"/>
                <a:ext cx="0" cy="279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Line 42">
                <a:extLst>
                  <a:ext uri="{FF2B5EF4-FFF2-40B4-BE49-F238E27FC236}">
                    <a16:creationId xmlns:a16="http://schemas.microsoft.com/office/drawing/2014/main" id="{6F422A44-CBDE-BD6B-96D7-DA602CD1BD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4" y="2620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807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/>
      <p:bldP spid="5" grpId="0"/>
      <p:bldP spid="6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6BA3E-9788-A955-9B5A-C06133CC1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3EF8AFA8-9EB0-DAD0-7530-0B2CF275D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31790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装配图概述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42C12F7F-4BB0-62DE-7CCE-596768F236A4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98B3ADE5-E32C-2954-71AB-D7C7C8934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800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装配图的内容</a:t>
            </a:r>
          </a:p>
        </p:txBody>
      </p:sp>
      <p:grpSp>
        <p:nvGrpSpPr>
          <p:cNvPr id="3" name="Group 87">
            <a:extLst>
              <a:ext uri="{FF2B5EF4-FFF2-40B4-BE49-F238E27FC236}">
                <a16:creationId xmlns:a16="http://schemas.microsoft.com/office/drawing/2014/main" id="{3694BC8A-B938-B175-200B-F9387C8CACFA}"/>
              </a:ext>
            </a:extLst>
          </p:cNvPr>
          <p:cNvGrpSpPr>
            <a:grpSpLocks/>
          </p:cNvGrpSpPr>
          <p:nvPr/>
        </p:nvGrpSpPr>
        <p:grpSpPr bwMode="auto">
          <a:xfrm>
            <a:off x="6055543" y="146814"/>
            <a:ext cx="5153025" cy="6378530"/>
            <a:chOff x="2264" y="0"/>
            <a:chExt cx="3490" cy="4320"/>
          </a:xfrm>
        </p:grpSpPr>
        <p:grpSp>
          <p:nvGrpSpPr>
            <p:cNvPr id="4" name="Group 48">
              <a:extLst>
                <a:ext uri="{FF2B5EF4-FFF2-40B4-BE49-F238E27FC236}">
                  <a16:creationId xmlns:a16="http://schemas.microsoft.com/office/drawing/2014/main" id="{467AE11F-876C-E2D7-A447-1A769F094A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4" y="0"/>
              <a:ext cx="3490" cy="4320"/>
              <a:chOff x="2264" y="0"/>
              <a:chExt cx="3490" cy="4320"/>
            </a:xfrm>
          </p:grpSpPr>
          <p:sp>
            <p:nvSpPr>
              <p:cNvPr id="13" name="Rectangle 16">
                <a:extLst>
                  <a:ext uri="{FF2B5EF4-FFF2-40B4-BE49-F238E27FC236}">
                    <a16:creationId xmlns:a16="http://schemas.microsoft.com/office/drawing/2014/main" id="{CD301132-95B9-79F6-28D1-E92D52CE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0"/>
                <a:ext cx="3490" cy="4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Rectangle 17">
                <a:extLst>
                  <a:ext uri="{FF2B5EF4-FFF2-40B4-BE49-F238E27FC236}">
                    <a16:creationId xmlns:a16="http://schemas.microsoft.com/office/drawing/2014/main" id="{7243554E-44F0-E3A3-9972-76924805D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1" y="84"/>
                <a:ext cx="3311" cy="4164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" name="Group 86">
              <a:extLst>
                <a:ext uri="{FF2B5EF4-FFF2-40B4-BE49-F238E27FC236}">
                  <a16:creationId xmlns:a16="http://schemas.microsoft.com/office/drawing/2014/main" id="{C74554EB-2244-3912-476F-4EC0F31C6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2" y="109"/>
              <a:ext cx="3285" cy="4163"/>
              <a:chOff x="2402" y="109"/>
              <a:chExt cx="3285" cy="4163"/>
            </a:xfrm>
          </p:grpSpPr>
          <p:grpSp>
            <p:nvGrpSpPr>
              <p:cNvPr id="6" name="Group 84">
                <a:extLst>
                  <a:ext uri="{FF2B5EF4-FFF2-40B4-BE49-F238E27FC236}">
                    <a16:creationId xmlns:a16="http://schemas.microsoft.com/office/drawing/2014/main" id="{0A84BDD4-E318-A381-CC91-E8BCD6FB83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2" y="109"/>
                <a:ext cx="3123" cy="4104"/>
                <a:chOff x="2402" y="109"/>
                <a:chExt cx="3123" cy="4104"/>
              </a:xfrm>
            </p:grpSpPr>
            <p:graphicFrame>
              <p:nvGraphicFramePr>
                <p:cNvPr id="10" name="Object 78">
                  <a:extLst>
                    <a:ext uri="{FF2B5EF4-FFF2-40B4-BE49-F238E27FC236}">
                      <a16:creationId xmlns:a16="http://schemas.microsoft.com/office/drawing/2014/main" id="{22A88CDF-E7F9-9CAD-6D52-3B559AA83FF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12" y="109"/>
                <a:ext cx="1954" cy="211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3" imgW="4944165" imgH="5361905" progId="Paint.Picture">
                        <p:embed/>
                      </p:oleObj>
                    </mc:Choice>
                    <mc:Fallback>
                      <p:oleObj name="位图图像" r:id="rId3" imgW="4944165" imgH="5361905" progId="Paint.Picture">
                        <p:embed/>
                        <p:pic>
                          <p:nvPicPr>
                            <p:cNvPr id="24" name="Object 7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12" y="109"/>
                              <a:ext cx="1954" cy="211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" name="Object 79">
                  <a:extLst>
                    <a:ext uri="{FF2B5EF4-FFF2-40B4-BE49-F238E27FC236}">
                      <a16:creationId xmlns:a16="http://schemas.microsoft.com/office/drawing/2014/main" id="{042C8BF3-4513-06A4-623B-1134D49DCD4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02" y="2237"/>
                <a:ext cx="1826" cy="19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5" imgW="4619048" imgH="5001323" progId="Paint.Picture">
                        <p:embed/>
                      </p:oleObj>
                    </mc:Choice>
                    <mc:Fallback>
                      <p:oleObj name="位图图像" r:id="rId5" imgW="4619048" imgH="5001323" progId="Paint.Picture">
                        <p:embed/>
                        <p:pic>
                          <p:nvPicPr>
                            <p:cNvPr id="25" name="Object 7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02" y="2237"/>
                              <a:ext cx="1826" cy="19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" name="Object 80">
                  <a:extLst>
                    <a:ext uri="{FF2B5EF4-FFF2-40B4-BE49-F238E27FC236}">
                      <a16:creationId xmlns:a16="http://schemas.microsoft.com/office/drawing/2014/main" id="{D80B5DE9-6DBE-F6BC-32F9-1C7C70E5045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40" y="225"/>
                <a:ext cx="1085" cy="167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7" imgW="2742857" imgH="4238095" progId="Paint.Picture">
                        <p:embed/>
                      </p:oleObj>
                    </mc:Choice>
                    <mc:Fallback>
                      <p:oleObj name="位图图像" r:id="rId7" imgW="2742857" imgH="4238095" progId="Paint.Picture">
                        <p:embed/>
                        <p:pic>
                          <p:nvPicPr>
                            <p:cNvPr id="26" name="Object 8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40" y="225"/>
                              <a:ext cx="1085" cy="167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7" name="Group 85">
                <a:extLst>
                  <a:ext uri="{FF2B5EF4-FFF2-40B4-BE49-F238E27FC236}">
                    <a16:creationId xmlns:a16="http://schemas.microsoft.com/office/drawing/2014/main" id="{0FAA23C2-AFC6-FD02-E243-D4F7D12CAD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80" y="2227"/>
                <a:ext cx="1507" cy="2045"/>
                <a:chOff x="4180" y="2227"/>
                <a:chExt cx="1507" cy="2045"/>
              </a:xfrm>
            </p:grpSpPr>
            <p:graphicFrame>
              <p:nvGraphicFramePr>
                <p:cNvPr id="8" name="Object 41">
                  <a:extLst>
                    <a:ext uri="{FF2B5EF4-FFF2-40B4-BE49-F238E27FC236}">
                      <a16:creationId xmlns:a16="http://schemas.microsoft.com/office/drawing/2014/main" id="{2CFA6F2E-823D-A2CC-66CE-61895EA662C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06" y="2227"/>
                <a:ext cx="1152" cy="5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9" imgW="2886478" imgH="1305107" progId="Paint.Picture">
                        <p:embed/>
                      </p:oleObj>
                    </mc:Choice>
                    <mc:Fallback>
                      <p:oleObj name="位图图像" r:id="rId9" imgW="2886478" imgH="1305107" progId="Paint.Picture">
                        <p:embed/>
                        <p:pic>
                          <p:nvPicPr>
                            <p:cNvPr id="22" name="Object 4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06" y="2227"/>
                              <a:ext cx="1152" cy="5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" name="Object 40">
                  <a:extLst>
                    <a:ext uri="{FF2B5EF4-FFF2-40B4-BE49-F238E27FC236}">
                      <a16:creationId xmlns:a16="http://schemas.microsoft.com/office/drawing/2014/main" id="{EEDCEF19-7303-E44A-6DB9-C751E184218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180" y="2867"/>
                <a:ext cx="1507" cy="14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11" imgW="3772427" imgH="3514286" progId="Paint.Picture">
                        <p:embed/>
                      </p:oleObj>
                    </mc:Choice>
                    <mc:Fallback>
                      <p:oleObj name="位图图像" r:id="rId11" imgW="3772427" imgH="3514286" progId="Paint.Picture">
                        <p:embed/>
                        <p:pic>
                          <p:nvPicPr>
                            <p:cNvPr id="23" name="Object 4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80" y="2867"/>
                              <a:ext cx="1507" cy="140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15" name="Group 56">
            <a:extLst>
              <a:ext uri="{FF2B5EF4-FFF2-40B4-BE49-F238E27FC236}">
                <a16:creationId xmlns:a16="http://schemas.microsoft.com/office/drawing/2014/main" id="{13F17606-2F8B-A602-86F2-61EFE2F6C01A}"/>
              </a:ext>
            </a:extLst>
          </p:cNvPr>
          <p:cNvGrpSpPr>
            <a:grpSpLocks/>
          </p:cNvGrpSpPr>
          <p:nvPr/>
        </p:nvGrpSpPr>
        <p:grpSpPr bwMode="auto">
          <a:xfrm>
            <a:off x="468067" y="2758143"/>
            <a:ext cx="2917825" cy="3136900"/>
            <a:chOff x="259" y="626"/>
            <a:chExt cx="1838" cy="1976"/>
          </a:xfrm>
        </p:grpSpPr>
        <p:graphicFrame>
          <p:nvGraphicFramePr>
            <p:cNvPr id="17" name="Object 27">
              <a:extLst>
                <a:ext uri="{FF2B5EF4-FFF2-40B4-BE49-F238E27FC236}">
                  <a16:creationId xmlns:a16="http://schemas.microsoft.com/office/drawing/2014/main" id="{0B23D1C3-F1D1-925C-ED76-38F0A11E02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512318"/>
                </p:ext>
              </p:extLst>
            </p:nvPr>
          </p:nvGraphicFramePr>
          <p:xfrm>
            <a:off x="259" y="626"/>
            <a:ext cx="1838" cy="1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3" imgW="4686954" imgH="4933333" progId="Paint.Picture">
                    <p:embed/>
                  </p:oleObj>
                </mc:Choice>
                <mc:Fallback>
                  <p:oleObj name="位图图像" r:id="rId13" imgW="4686954" imgH="4933333" progId="Paint.Picture">
                    <p:embed/>
                    <p:pic>
                      <p:nvPicPr>
                        <p:cNvPr id="31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" y="626"/>
                          <a:ext cx="1838" cy="19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28">
              <a:extLst>
                <a:ext uri="{FF2B5EF4-FFF2-40B4-BE49-F238E27FC236}">
                  <a16:creationId xmlns:a16="http://schemas.microsoft.com/office/drawing/2014/main" id="{190A8767-9310-9FE6-10CB-E8AE7EB213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" y="2352"/>
              <a:ext cx="5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柱塞泵</a:t>
              </a:r>
            </a:p>
          </p:txBody>
        </p:sp>
      </p:grpSp>
      <p:sp>
        <p:nvSpPr>
          <p:cNvPr id="19" name="Text Box 57">
            <a:extLst>
              <a:ext uri="{FF2B5EF4-FFF2-40B4-BE49-F238E27FC236}">
                <a16:creationId xmlns:a16="http://schemas.microsoft.com/office/drawing/2014/main" id="{497AD6A5-1475-404A-2B74-87074A69E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9441" y="3992737"/>
            <a:ext cx="140335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一组视图</a:t>
            </a:r>
          </a:p>
        </p:txBody>
      </p:sp>
      <p:grpSp>
        <p:nvGrpSpPr>
          <p:cNvPr id="20" name="Group 60">
            <a:extLst>
              <a:ext uri="{FF2B5EF4-FFF2-40B4-BE49-F238E27FC236}">
                <a16:creationId xmlns:a16="http://schemas.microsoft.com/office/drawing/2014/main" id="{DE32E803-A47C-AF16-05E7-96F9F0045251}"/>
              </a:ext>
            </a:extLst>
          </p:cNvPr>
          <p:cNvGrpSpPr>
            <a:grpSpLocks/>
          </p:cNvGrpSpPr>
          <p:nvPr/>
        </p:nvGrpSpPr>
        <p:grpSpPr bwMode="auto">
          <a:xfrm>
            <a:off x="5099146" y="2572203"/>
            <a:ext cx="2324100" cy="2363788"/>
            <a:chOff x="1763" y="1849"/>
            <a:chExt cx="1464" cy="1489"/>
          </a:xfrm>
        </p:grpSpPr>
        <p:sp>
          <p:nvSpPr>
            <p:cNvPr id="21" name="Line 58">
              <a:extLst>
                <a:ext uri="{FF2B5EF4-FFF2-40B4-BE49-F238E27FC236}">
                  <a16:creationId xmlns:a16="http://schemas.microsoft.com/office/drawing/2014/main" id="{06478970-1DC3-15EF-07D6-1EA8A52746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5" y="1849"/>
              <a:ext cx="1245" cy="1068"/>
            </a:xfrm>
            <a:prstGeom prst="line">
              <a:avLst/>
            </a:prstGeom>
            <a:noFill/>
            <a:ln w="12700">
              <a:solidFill>
                <a:srgbClr val="FF505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59">
              <a:extLst>
                <a:ext uri="{FF2B5EF4-FFF2-40B4-BE49-F238E27FC236}">
                  <a16:creationId xmlns:a16="http://schemas.microsoft.com/office/drawing/2014/main" id="{1197B128-3D65-1C98-ED9F-F0CAD0B5B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3" y="2912"/>
              <a:ext cx="1464" cy="426"/>
            </a:xfrm>
            <a:prstGeom prst="line">
              <a:avLst/>
            </a:prstGeom>
            <a:noFill/>
            <a:ln w="12700">
              <a:solidFill>
                <a:srgbClr val="FF505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" name="Text Box 61">
            <a:extLst>
              <a:ext uri="{FF2B5EF4-FFF2-40B4-BE49-F238E27FC236}">
                <a16:creationId xmlns:a16="http://schemas.microsoft.com/office/drawing/2014/main" id="{8FAA9C81-227E-D6DB-976C-0575C3688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275" y="5417222"/>
            <a:ext cx="79375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尺寸</a:t>
            </a:r>
          </a:p>
        </p:txBody>
      </p:sp>
      <p:sp>
        <p:nvSpPr>
          <p:cNvPr id="24" name="Line 63">
            <a:extLst>
              <a:ext uri="{FF2B5EF4-FFF2-40B4-BE49-F238E27FC236}">
                <a16:creationId xmlns:a16="http://schemas.microsoft.com/office/drawing/2014/main" id="{28C3DD38-6012-2A93-0113-42C9F43EC91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32056" y="5882872"/>
            <a:ext cx="708025" cy="23812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Line 64">
            <a:extLst>
              <a:ext uri="{FF2B5EF4-FFF2-40B4-BE49-F238E27FC236}">
                <a16:creationId xmlns:a16="http://schemas.microsoft.com/office/drawing/2014/main" id="{6AB57B21-82D2-3B76-C861-93ED352BC2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6025" y="5212070"/>
            <a:ext cx="923925" cy="357188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Text Box 65">
            <a:extLst>
              <a:ext uri="{FF2B5EF4-FFF2-40B4-BE49-F238E27FC236}">
                <a16:creationId xmlns:a16="http://schemas.microsoft.com/office/drawing/2014/main" id="{2958D48C-C51D-96ED-609C-5DC136AB8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5218" y="2506061"/>
            <a:ext cx="140335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技术要求</a:t>
            </a:r>
          </a:p>
        </p:txBody>
      </p:sp>
      <p:sp>
        <p:nvSpPr>
          <p:cNvPr id="27" name="Line 66">
            <a:extLst>
              <a:ext uri="{FF2B5EF4-FFF2-40B4-BE49-F238E27FC236}">
                <a16:creationId xmlns:a16="http://schemas.microsoft.com/office/drawing/2014/main" id="{DCE2364A-6D8D-6D76-40C2-946D8D4743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40260" y="2998389"/>
            <a:ext cx="260350" cy="388937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Text Box 67">
            <a:extLst>
              <a:ext uri="{FF2B5EF4-FFF2-40B4-BE49-F238E27FC236}">
                <a16:creationId xmlns:a16="http://schemas.microsoft.com/office/drawing/2014/main" id="{4810E6AC-24AC-A12B-F7C2-957B92E17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9721" y="5435507"/>
            <a:ext cx="109855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标题栏</a:t>
            </a:r>
          </a:p>
        </p:txBody>
      </p:sp>
      <p:sp>
        <p:nvSpPr>
          <p:cNvPr id="29" name="Text Box 68">
            <a:extLst>
              <a:ext uri="{FF2B5EF4-FFF2-40B4-BE49-F238E27FC236}">
                <a16:creationId xmlns:a16="http://schemas.microsoft.com/office/drawing/2014/main" id="{223C1218-E929-A8AB-BF53-CB60A9E29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8606" y="4383829"/>
            <a:ext cx="109855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明细表</a:t>
            </a:r>
          </a:p>
        </p:txBody>
      </p:sp>
      <p:sp>
        <p:nvSpPr>
          <p:cNvPr id="30" name="Line 69">
            <a:extLst>
              <a:ext uri="{FF2B5EF4-FFF2-40B4-BE49-F238E27FC236}">
                <a16:creationId xmlns:a16="http://schemas.microsoft.com/office/drawing/2014/main" id="{587CD2C2-9711-EC56-90CD-7A2BF7E1E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2706" y="4742604"/>
            <a:ext cx="731838" cy="54292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70">
            <a:extLst>
              <a:ext uri="{FF2B5EF4-FFF2-40B4-BE49-F238E27FC236}">
                <a16:creationId xmlns:a16="http://schemas.microsoft.com/office/drawing/2014/main" id="{75B01B49-145A-610B-8D96-8E660002C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9456" y="1194541"/>
            <a:ext cx="140335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零件序号</a:t>
            </a:r>
          </a:p>
        </p:txBody>
      </p:sp>
      <p:grpSp>
        <p:nvGrpSpPr>
          <p:cNvPr id="32" name="Group 90">
            <a:extLst>
              <a:ext uri="{FF2B5EF4-FFF2-40B4-BE49-F238E27FC236}">
                <a16:creationId xmlns:a16="http://schemas.microsoft.com/office/drawing/2014/main" id="{8666D950-8C4F-9E43-090B-69F9A01BB1A2}"/>
              </a:ext>
            </a:extLst>
          </p:cNvPr>
          <p:cNvGrpSpPr>
            <a:grpSpLocks/>
          </p:cNvGrpSpPr>
          <p:nvPr/>
        </p:nvGrpSpPr>
        <p:grpSpPr bwMode="auto">
          <a:xfrm>
            <a:off x="8972533" y="1726530"/>
            <a:ext cx="704838" cy="2723407"/>
            <a:chOff x="4229" y="989"/>
            <a:chExt cx="540" cy="1954"/>
          </a:xfrm>
        </p:grpSpPr>
        <p:sp>
          <p:nvSpPr>
            <p:cNvPr id="33" name="Line 88">
              <a:extLst>
                <a:ext uri="{FF2B5EF4-FFF2-40B4-BE49-F238E27FC236}">
                  <a16:creationId xmlns:a16="http://schemas.microsoft.com/office/drawing/2014/main" id="{25DE9E13-580C-928A-5115-12D625059D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9" y="989"/>
              <a:ext cx="540" cy="1954"/>
            </a:xfrm>
            <a:prstGeom prst="line">
              <a:avLst/>
            </a:prstGeom>
            <a:noFill/>
            <a:ln w="12700">
              <a:solidFill>
                <a:srgbClr val="FF505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89">
              <a:extLst>
                <a:ext uri="{FF2B5EF4-FFF2-40B4-BE49-F238E27FC236}">
                  <a16:creationId xmlns:a16="http://schemas.microsoft.com/office/drawing/2014/main" id="{2B0A0F74-CEE2-4924-CDD7-CC61BB43C2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67" y="991"/>
              <a:ext cx="502" cy="437"/>
            </a:xfrm>
            <a:prstGeom prst="line">
              <a:avLst/>
            </a:prstGeom>
            <a:noFill/>
            <a:ln w="12700">
              <a:solidFill>
                <a:srgbClr val="FF505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90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 autoUpdateAnimBg="0"/>
      <p:bldP spid="23" grpId="0" animBg="1" autoUpdateAnimBg="0"/>
      <p:bldP spid="24" grpId="0" animBg="1"/>
      <p:bldP spid="25" grpId="0" animBg="1"/>
      <p:bldP spid="26" grpId="0" animBg="1" autoUpdateAnimBg="0"/>
      <p:bldP spid="27" grpId="0" animBg="1"/>
      <p:bldP spid="28" grpId="0" animBg="1" autoUpdateAnimBg="0"/>
      <p:bldP spid="29" grpId="0" animBg="1" autoUpdateAnimBg="0"/>
      <p:bldP spid="30" grpId="0" animBg="1"/>
      <p:bldP spid="31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2C750-41F6-8C91-69D8-DB8C35AC3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F1EDD721-CA3F-6B2D-3F3C-E977156A0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31790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装配图概述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7747E9C8-B576-AD4B-AEF6-1486837D0510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27E8283E-D8FE-3090-5E52-820A0278F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800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装配图的内容</a:t>
            </a:r>
          </a:p>
        </p:txBody>
      </p:sp>
      <p:grpSp>
        <p:nvGrpSpPr>
          <p:cNvPr id="88" name="Group 7">
            <a:extLst>
              <a:ext uri="{FF2B5EF4-FFF2-40B4-BE49-F238E27FC236}">
                <a16:creationId xmlns:a16="http://schemas.microsoft.com/office/drawing/2014/main" id="{984E3AA6-C7A2-065E-4DC3-A2F44A9A2DB0}"/>
              </a:ext>
            </a:extLst>
          </p:cNvPr>
          <p:cNvGrpSpPr>
            <a:grpSpLocks/>
          </p:cNvGrpSpPr>
          <p:nvPr/>
        </p:nvGrpSpPr>
        <p:grpSpPr bwMode="auto">
          <a:xfrm>
            <a:off x="5335644" y="0"/>
            <a:ext cx="5540375" cy="6858000"/>
            <a:chOff x="2264" y="0"/>
            <a:chExt cx="3490" cy="4320"/>
          </a:xfrm>
        </p:grpSpPr>
        <p:grpSp>
          <p:nvGrpSpPr>
            <p:cNvPr id="89" name="Group 8">
              <a:extLst>
                <a:ext uri="{FF2B5EF4-FFF2-40B4-BE49-F238E27FC236}">
                  <a16:creationId xmlns:a16="http://schemas.microsoft.com/office/drawing/2014/main" id="{EBCB853D-41F7-22A8-99E2-57511B8059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4" y="0"/>
              <a:ext cx="3490" cy="4320"/>
              <a:chOff x="2264" y="0"/>
              <a:chExt cx="3490" cy="4320"/>
            </a:xfrm>
          </p:grpSpPr>
          <p:sp>
            <p:nvSpPr>
              <p:cNvPr id="98" name="Rectangle 9">
                <a:extLst>
                  <a:ext uri="{FF2B5EF4-FFF2-40B4-BE49-F238E27FC236}">
                    <a16:creationId xmlns:a16="http://schemas.microsoft.com/office/drawing/2014/main" id="{FA8F50A5-DCE8-6E7E-0364-FF6497809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0"/>
                <a:ext cx="3490" cy="4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" name="Rectangle 10">
                <a:extLst>
                  <a:ext uri="{FF2B5EF4-FFF2-40B4-BE49-F238E27FC236}">
                    <a16:creationId xmlns:a16="http://schemas.microsoft.com/office/drawing/2014/main" id="{B39A677A-D57B-F3E1-D99C-A080FF0884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1" y="84"/>
                <a:ext cx="3311" cy="4164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0" name="Group 11">
              <a:extLst>
                <a:ext uri="{FF2B5EF4-FFF2-40B4-BE49-F238E27FC236}">
                  <a16:creationId xmlns:a16="http://schemas.microsoft.com/office/drawing/2014/main" id="{C0CE6DF5-BF5C-66EC-93AE-D241A4A5E2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2" y="109"/>
              <a:ext cx="3285" cy="4163"/>
              <a:chOff x="2402" y="109"/>
              <a:chExt cx="3285" cy="4163"/>
            </a:xfrm>
          </p:grpSpPr>
          <p:grpSp>
            <p:nvGrpSpPr>
              <p:cNvPr id="91" name="Group 12">
                <a:extLst>
                  <a:ext uri="{FF2B5EF4-FFF2-40B4-BE49-F238E27FC236}">
                    <a16:creationId xmlns:a16="http://schemas.microsoft.com/office/drawing/2014/main" id="{355C514F-26B3-4432-BDDF-3234C0E408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2" y="109"/>
                <a:ext cx="3123" cy="4104"/>
                <a:chOff x="2402" y="109"/>
                <a:chExt cx="3123" cy="4104"/>
              </a:xfrm>
            </p:grpSpPr>
            <p:graphicFrame>
              <p:nvGraphicFramePr>
                <p:cNvPr id="95" name="Object 13">
                  <a:extLst>
                    <a:ext uri="{FF2B5EF4-FFF2-40B4-BE49-F238E27FC236}">
                      <a16:creationId xmlns:a16="http://schemas.microsoft.com/office/drawing/2014/main" id="{33D4D880-5496-E1FF-00B1-05FFCBAFAB3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12" y="109"/>
                <a:ext cx="1954" cy="211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3" imgW="4944165" imgH="5361905" progId="Paint.Picture">
                        <p:embed/>
                      </p:oleObj>
                    </mc:Choice>
                    <mc:Fallback>
                      <p:oleObj name="位图图像" r:id="rId3" imgW="4944165" imgH="5361905" progId="Paint.Picture">
                        <p:embed/>
                        <p:pic>
                          <p:nvPicPr>
                            <p:cNvPr id="11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12" y="109"/>
                              <a:ext cx="1954" cy="211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6" name="Object 14">
                  <a:extLst>
                    <a:ext uri="{FF2B5EF4-FFF2-40B4-BE49-F238E27FC236}">
                      <a16:creationId xmlns:a16="http://schemas.microsoft.com/office/drawing/2014/main" id="{633BB5EB-890E-D40E-8E51-E385781EDE3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02" y="2237"/>
                <a:ext cx="1826" cy="19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5" imgW="4619048" imgH="5001323" progId="Paint.Picture">
                        <p:embed/>
                      </p:oleObj>
                    </mc:Choice>
                    <mc:Fallback>
                      <p:oleObj name="位图图像" r:id="rId5" imgW="4619048" imgH="5001323" progId="Paint.Picture">
                        <p:embed/>
                        <p:pic>
                          <p:nvPicPr>
                            <p:cNvPr id="12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02" y="2237"/>
                              <a:ext cx="1826" cy="19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7" name="Object 15">
                  <a:extLst>
                    <a:ext uri="{FF2B5EF4-FFF2-40B4-BE49-F238E27FC236}">
                      <a16:creationId xmlns:a16="http://schemas.microsoft.com/office/drawing/2014/main" id="{B55A09A3-9ADC-FB58-E259-CB2DBDAE452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40" y="225"/>
                <a:ext cx="1085" cy="167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7" imgW="2742857" imgH="4238095" progId="Paint.Picture">
                        <p:embed/>
                      </p:oleObj>
                    </mc:Choice>
                    <mc:Fallback>
                      <p:oleObj name="位图图像" r:id="rId7" imgW="2742857" imgH="4238095" progId="Paint.Picture">
                        <p:embed/>
                        <p:pic>
                          <p:nvPicPr>
                            <p:cNvPr id="13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40" y="225"/>
                              <a:ext cx="1085" cy="167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2" name="Group 16">
                <a:extLst>
                  <a:ext uri="{FF2B5EF4-FFF2-40B4-BE49-F238E27FC236}">
                    <a16:creationId xmlns:a16="http://schemas.microsoft.com/office/drawing/2014/main" id="{A30C161F-3E6E-B0D7-78E0-EE98E49139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80" y="2227"/>
                <a:ext cx="1507" cy="2045"/>
                <a:chOff x="4180" y="2227"/>
                <a:chExt cx="1507" cy="2045"/>
              </a:xfrm>
            </p:grpSpPr>
            <p:graphicFrame>
              <p:nvGraphicFramePr>
                <p:cNvPr id="93" name="Object 17">
                  <a:extLst>
                    <a:ext uri="{FF2B5EF4-FFF2-40B4-BE49-F238E27FC236}">
                      <a16:creationId xmlns:a16="http://schemas.microsoft.com/office/drawing/2014/main" id="{52170409-9B03-FD05-EE8C-769BE0A6E0B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06" y="2227"/>
                <a:ext cx="1152" cy="5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9" imgW="2886478" imgH="1305107" progId="Paint.Picture">
                        <p:embed/>
                      </p:oleObj>
                    </mc:Choice>
                    <mc:Fallback>
                      <p:oleObj name="位图图像" r:id="rId9" imgW="2886478" imgH="1305107" progId="Paint.Picture">
                        <p:embed/>
                        <p:pic>
                          <p:nvPicPr>
                            <p:cNvPr id="9" name="Object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06" y="2227"/>
                              <a:ext cx="1152" cy="5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4" name="Object 18">
                  <a:extLst>
                    <a:ext uri="{FF2B5EF4-FFF2-40B4-BE49-F238E27FC236}">
                      <a16:creationId xmlns:a16="http://schemas.microsoft.com/office/drawing/2014/main" id="{50A78C5F-F694-1BF2-1990-A739ACD0964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180" y="2867"/>
                <a:ext cx="1507" cy="14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11" imgW="3772427" imgH="3514286" progId="Paint.Picture">
                        <p:embed/>
                      </p:oleObj>
                    </mc:Choice>
                    <mc:Fallback>
                      <p:oleObj name="位图图像" r:id="rId11" imgW="3772427" imgH="3514286" progId="Paint.Picture">
                        <p:embed/>
                        <p:pic>
                          <p:nvPicPr>
                            <p:cNvPr id="10" name="Object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80" y="2867"/>
                              <a:ext cx="1507" cy="140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100" name="Group 22">
            <a:extLst>
              <a:ext uri="{FF2B5EF4-FFF2-40B4-BE49-F238E27FC236}">
                <a16:creationId xmlns:a16="http://schemas.microsoft.com/office/drawing/2014/main" id="{99DB9FE3-70F2-C22C-1713-7E0D2BE85B77}"/>
              </a:ext>
            </a:extLst>
          </p:cNvPr>
          <p:cNvGrpSpPr>
            <a:grpSpLocks/>
          </p:cNvGrpSpPr>
          <p:nvPr/>
        </p:nvGrpSpPr>
        <p:grpSpPr bwMode="auto">
          <a:xfrm>
            <a:off x="887674" y="2143257"/>
            <a:ext cx="3696454" cy="2924175"/>
            <a:chOff x="111" y="344"/>
            <a:chExt cx="2056" cy="1842"/>
          </a:xfrm>
        </p:grpSpPr>
        <p:sp>
          <p:nvSpPr>
            <p:cNvPr id="101" name="Rectangle 21">
              <a:extLst>
                <a:ext uri="{FF2B5EF4-FFF2-40B4-BE49-F238E27FC236}">
                  <a16:creationId xmlns:a16="http://schemas.microsoft.com/office/drawing/2014/main" id="{71485EAA-3D61-46B9-5AC9-561C8B1A4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" y="344"/>
              <a:ext cx="2056" cy="18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6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" name="Rectangle 19">
              <a:extLst>
                <a:ext uri="{FF2B5EF4-FFF2-40B4-BE49-F238E27FC236}">
                  <a16:creationId xmlns:a16="http://schemas.microsoft.com/office/drawing/2014/main" id="{1043FC16-FA00-EF0F-CD66-021FB1255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" y="361"/>
              <a:ext cx="90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一组视图</a:t>
              </a:r>
            </a:p>
          </p:txBody>
        </p:sp>
        <p:sp>
          <p:nvSpPr>
            <p:cNvPr id="103" name="Rectangle 20">
              <a:extLst>
                <a:ext uri="{FF2B5EF4-FFF2-40B4-BE49-F238E27FC236}">
                  <a16:creationId xmlns:a16="http://schemas.microsoft.com/office/drawing/2014/main" id="{A76D2956-6A6C-552B-659E-0C3235D12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" y="670"/>
              <a:ext cx="2022" cy="1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组成该部件的零件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 各零件之间的位置、装配关系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 部件的工作原理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 零件的关键结构和形状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 与其他部件的安装关系</a:t>
              </a:r>
            </a:p>
          </p:txBody>
        </p:sp>
      </p:grpSp>
      <p:grpSp>
        <p:nvGrpSpPr>
          <p:cNvPr id="104" name="Group 40">
            <a:extLst>
              <a:ext uri="{FF2B5EF4-FFF2-40B4-BE49-F238E27FC236}">
                <a16:creationId xmlns:a16="http://schemas.microsoft.com/office/drawing/2014/main" id="{8198A8ED-A1DF-BFB2-8D02-5698260C9B3D}"/>
              </a:ext>
            </a:extLst>
          </p:cNvPr>
          <p:cNvGrpSpPr>
            <a:grpSpLocks/>
          </p:cNvGrpSpPr>
          <p:nvPr/>
        </p:nvGrpSpPr>
        <p:grpSpPr bwMode="auto">
          <a:xfrm>
            <a:off x="9535392" y="1493838"/>
            <a:ext cx="2325687" cy="1387475"/>
            <a:chOff x="659" y="3172"/>
            <a:chExt cx="1465" cy="874"/>
          </a:xfrm>
        </p:grpSpPr>
        <p:sp>
          <p:nvSpPr>
            <p:cNvPr id="105" name="Rectangle 24">
              <a:extLst>
                <a:ext uri="{FF2B5EF4-FFF2-40B4-BE49-F238E27FC236}">
                  <a16:creationId xmlns:a16="http://schemas.microsoft.com/office/drawing/2014/main" id="{866FA3B0-124D-43FE-F74B-E9027F129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" y="3209"/>
              <a:ext cx="1458" cy="8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Rectangle 25">
              <a:extLst>
                <a:ext uri="{FF2B5EF4-FFF2-40B4-BE49-F238E27FC236}">
                  <a16:creationId xmlns:a16="http://schemas.microsoft.com/office/drawing/2014/main" id="{C24B054A-C8D7-4936-36E3-FE10FB92B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3172"/>
              <a:ext cx="43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尺寸</a:t>
              </a:r>
            </a:p>
          </p:txBody>
        </p:sp>
        <p:sp>
          <p:nvSpPr>
            <p:cNvPr id="107" name="Rectangle 26">
              <a:extLst>
                <a:ext uri="{FF2B5EF4-FFF2-40B4-BE49-F238E27FC236}">
                  <a16:creationId xmlns:a16="http://schemas.microsoft.com/office/drawing/2014/main" id="{510AC45C-441F-FF5F-22F1-601A697D9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" y="3399"/>
              <a:ext cx="1461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只标相关尺寸（部件性能、零件配合、安装</a:t>
              </a:r>
              <a:r>
                <a:rPr kumimoji="1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等尺寸）</a:t>
              </a:r>
            </a:p>
          </p:txBody>
        </p:sp>
      </p:grpSp>
      <p:grpSp>
        <p:nvGrpSpPr>
          <p:cNvPr id="108" name="Group 67">
            <a:extLst>
              <a:ext uri="{FF2B5EF4-FFF2-40B4-BE49-F238E27FC236}">
                <a16:creationId xmlns:a16="http://schemas.microsoft.com/office/drawing/2014/main" id="{25F96D8B-A28B-39B1-7B92-AE420CECCE7E}"/>
              </a:ext>
            </a:extLst>
          </p:cNvPr>
          <p:cNvGrpSpPr>
            <a:grpSpLocks/>
          </p:cNvGrpSpPr>
          <p:nvPr/>
        </p:nvGrpSpPr>
        <p:grpSpPr bwMode="auto">
          <a:xfrm>
            <a:off x="8605894" y="192088"/>
            <a:ext cx="2038350" cy="865187"/>
            <a:chOff x="4330" y="121"/>
            <a:chExt cx="1284" cy="545"/>
          </a:xfrm>
        </p:grpSpPr>
        <p:sp>
          <p:nvSpPr>
            <p:cNvPr id="109" name="Rectangle 47">
              <a:extLst>
                <a:ext uri="{FF2B5EF4-FFF2-40B4-BE49-F238E27FC236}">
                  <a16:creationId xmlns:a16="http://schemas.microsoft.com/office/drawing/2014/main" id="{CF39EDD9-ECB6-064C-A120-CB7930D56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147"/>
              <a:ext cx="1114" cy="51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Rectangle 48">
              <a:extLst>
                <a:ext uri="{FF2B5EF4-FFF2-40B4-BE49-F238E27FC236}">
                  <a16:creationId xmlns:a16="http://schemas.microsoft.com/office/drawing/2014/main" id="{C952A9D8-44F5-5BB2-9527-2F132DF62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9" y="121"/>
              <a:ext cx="7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零件序号</a:t>
              </a:r>
            </a:p>
          </p:txBody>
        </p:sp>
        <p:sp>
          <p:nvSpPr>
            <p:cNvPr id="111" name="Rectangle 49">
              <a:extLst>
                <a:ext uri="{FF2B5EF4-FFF2-40B4-BE49-F238E27FC236}">
                  <a16:creationId xmlns:a16="http://schemas.microsoft.com/office/drawing/2014/main" id="{2936A4CF-606E-09E3-966B-8D9467656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" y="390"/>
              <a:ext cx="124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与明细表对应</a:t>
              </a:r>
            </a:p>
          </p:txBody>
        </p:sp>
      </p:grpSp>
      <p:sp>
        <p:nvSpPr>
          <p:cNvPr id="112" name="Line 51">
            <a:extLst>
              <a:ext uri="{FF2B5EF4-FFF2-40B4-BE49-F238E27FC236}">
                <a16:creationId xmlns:a16="http://schemas.microsoft.com/office/drawing/2014/main" id="{61F482DE-2AE1-0B66-6CF7-BC3DB2E4B8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16994" y="1062038"/>
            <a:ext cx="265113" cy="50165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82D33AB6-2CCB-CD48-984E-D19F87932F7E}"/>
              </a:ext>
            </a:extLst>
          </p:cNvPr>
          <p:cNvGrpSpPr>
            <a:grpSpLocks/>
          </p:cNvGrpSpPr>
          <p:nvPr/>
        </p:nvGrpSpPr>
        <p:grpSpPr bwMode="auto">
          <a:xfrm>
            <a:off x="5432482" y="341313"/>
            <a:ext cx="2738437" cy="6256337"/>
            <a:chOff x="2331" y="215"/>
            <a:chExt cx="1725" cy="3941"/>
          </a:xfrm>
        </p:grpSpPr>
        <p:sp>
          <p:nvSpPr>
            <p:cNvPr id="114" name="Oval 52">
              <a:extLst>
                <a:ext uri="{FF2B5EF4-FFF2-40B4-BE49-F238E27FC236}">
                  <a16:creationId xmlns:a16="http://schemas.microsoft.com/office/drawing/2014/main" id="{212948D9-B3DA-62FE-8A19-5037CA83E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1" y="1079"/>
              <a:ext cx="260" cy="260"/>
            </a:xfrm>
            <a:prstGeom prst="ellips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Oval 53">
              <a:extLst>
                <a:ext uri="{FF2B5EF4-FFF2-40B4-BE49-F238E27FC236}">
                  <a16:creationId xmlns:a16="http://schemas.microsoft.com/office/drawing/2014/main" id="{7E667905-18D0-EE30-564A-B751689C2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3" y="1287"/>
              <a:ext cx="260" cy="260"/>
            </a:xfrm>
            <a:prstGeom prst="ellips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" name="Oval 54">
              <a:extLst>
                <a:ext uri="{FF2B5EF4-FFF2-40B4-BE49-F238E27FC236}">
                  <a16:creationId xmlns:a16="http://schemas.microsoft.com/office/drawing/2014/main" id="{B5E20EAB-0042-F9F2-AEBE-5086BAFCE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" y="342"/>
              <a:ext cx="260" cy="260"/>
            </a:xfrm>
            <a:prstGeom prst="ellips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" name="Oval 55">
              <a:extLst>
                <a:ext uri="{FF2B5EF4-FFF2-40B4-BE49-F238E27FC236}">
                  <a16:creationId xmlns:a16="http://schemas.microsoft.com/office/drawing/2014/main" id="{2AF38B9E-4DFE-0D0B-5F26-56A7AC356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1" y="215"/>
              <a:ext cx="260" cy="260"/>
            </a:xfrm>
            <a:prstGeom prst="ellips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" name="Oval 56">
              <a:extLst>
                <a:ext uri="{FF2B5EF4-FFF2-40B4-BE49-F238E27FC236}">
                  <a16:creationId xmlns:a16="http://schemas.microsoft.com/office/drawing/2014/main" id="{A408EEDA-C941-1230-8A3D-40C9A1883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2284"/>
              <a:ext cx="260" cy="260"/>
            </a:xfrm>
            <a:prstGeom prst="ellips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" name="Oval 57">
              <a:extLst>
                <a:ext uri="{FF2B5EF4-FFF2-40B4-BE49-F238E27FC236}">
                  <a16:creationId xmlns:a16="http://schemas.microsoft.com/office/drawing/2014/main" id="{301A46C3-DA8B-9D70-DA0F-80DAA3151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9" y="3290"/>
              <a:ext cx="260" cy="260"/>
            </a:xfrm>
            <a:prstGeom prst="ellips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Oval 59">
              <a:extLst>
                <a:ext uri="{FF2B5EF4-FFF2-40B4-BE49-F238E27FC236}">
                  <a16:creationId xmlns:a16="http://schemas.microsoft.com/office/drawing/2014/main" id="{9D7B41B7-F824-0B4B-8E1B-8421F0E4C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2017"/>
              <a:ext cx="260" cy="260"/>
            </a:xfrm>
            <a:prstGeom prst="ellips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1" name="Oval 60">
              <a:extLst>
                <a:ext uri="{FF2B5EF4-FFF2-40B4-BE49-F238E27FC236}">
                  <a16:creationId xmlns:a16="http://schemas.microsoft.com/office/drawing/2014/main" id="{3E3A226A-F120-2631-B019-9039ADB74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8" y="3896"/>
              <a:ext cx="260" cy="260"/>
            </a:xfrm>
            <a:prstGeom prst="ellips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" name="Oval 61">
              <a:extLst>
                <a:ext uri="{FF2B5EF4-FFF2-40B4-BE49-F238E27FC236}">
                  <a16:creationId xmlns:a16="http://schemas.microsoft.com/office/drawing/2014/main" id="{CC4E27F7-FE48-4F03-D047-6050EACAE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1557"/>
              <a:ext cx="260" cy="260"/>
            </a:xfrm>
            <a:prstGeom prst="ellips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" name="Oval 62">
              <a:extLst>
                <a:ext uri="{FF2B5EF4-FFF2-40B4-BE49-F238E27FC236}">
                  <a16:creationId xmlns:a16="http://schemas.microsoft.com/office/drawing/2014/main" id="{11E2497D-9A9A-3116-2597-E8CEAC866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2" y="3800"/>
              <a:ext cx="260" cy="260"/>
            </a:xfrm>
            <a:prstGeom prst="ellips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4" name="Line 64">
            <a:extLst>
              <a:ext uri="{FF2B5EF4-FFF2-40B4-BE49-F238E27FC236}">
                <a16:creationId xmlns:a16="http://schemas.microsoft.com/office/drawing/2014/main" id="{5FD7767D-7E62-7624-0C79-0BAC97CF2F1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5357" y="3408363"/>
            <a:ext cx="931862" cy="471487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5" name="Group 34">
            <a:extLst>
              <a:ext uri="{FF2B5EF4-FFF2-40B4-BE49-F238E27FC236}">
                <a16:creationId xmlns:a16="http://schemas.microsoft.com/office/drawing/2014/main" id="{14B1048D-3FDD-2CC8-B46F-39AD1A688FB8}"/>
              </a:ext>
            </a:extLst>
          </p:cNvPr>
          <p:cNvGrpSpPr>
            <a:grpSpLocks/>
          </p:cNvGrpSpPr>
          <p:nvPr/>
        </p:nvGrpSpPr>
        <p:grpSpPr bwMode="auto">
          <a:xfrm>
            <a:off x="5891269" y="2681288"/>
            <a:ext cx="2292350" cy="1149350"/>
            <a:chOff x="740" y="1782"/>
            <a:chExt cx="1407" cy="724"/>
          </a:xfrm>
        </p:grpSpPr>
        <p:sp>
          <p:nvSpPr>
            <p:cNvPr id="126" name="Rectangle 31">
              <a:extLst>
                <a:ext uri="{FF2B5EF4-FFF2-40B4-BE49-F238E27FC236}">
                  <a16:creationId xmlns:a16="http://schemas.microsoft.com/office/drawing/2014/main" id="{6A3FC2B9-5077-4077-305E-0D1B03065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" y="1800"/>
              <a:ext cx="1403" cy="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7" name="Rectangle 32">
              <a:extLst>
                <a:ext uri="{FF2B5EF4-FFF2-40B4-BE49-F238E27FC236}">
                  <a16:creationId xmlns:a16="http://schemas.microsoft.com/office/drawing/2014/main" id="{0C213ACC-C497-E60F-6640-F524DA6DC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" y="1782"/>
              <a:ext cx="7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技术要求</a:t>
              </a:r>
            </a:p>
          </p:txBody>
        </p:sp>
        <p:sp>
          <p:nvSpPr>
            <p:cNvPr id="128" name="Rectangle 33">
              <a:extLst>
                <a:ext uri="{FF2B5EF4-FFF2-40B4-BE49-F238E27FC236}">
                  <a16:creationId xmlns:a16="http://schemas.microsoft.com/office/drawing/2014/main" id="{DD7C0A1B-01BD-DD7E-7D59-EDF478418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" y="2042"/>
              <a:ext cx="139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说明对</a:t>
              </a:r>
              <a:r>
                <a:rPr kumimoji="1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部件质量、装配、检验等要求</a:t>
              </a:r>
            </a:p>
          </p:txBody>
        </p:sp>
      </p:grpSp>
      <p:grpSp>
        <p:nvGrpSpPr>
          <p:cNvPr id="129" name="Group 65">
            <a:extLst>
              <a:ext uri="{FF2B5EF4-FFF2-40B4-BE49-F238E27FC236}">
                <a16:creationId xmlns:a16="http://schemas.microsoft.com/office/drawing/2014/main" id="{50F818CB-0EB4-64CC-B84E-7C9F45B43B2F}"/>
              </a:ext>
            </a:extLst>
          </p:cNvPr>
          <p:cNvGrpSpPr>
            <a:grpSpLocks/>
          </p:cNvGrpSpPr>
          <p:nvPr/>
        </p:nvGrpSpPr>
        <p:grpSpPr bwMode="auto">
          <a:xfrm>
            <a:off x="4447421" y="5537201"/>
            <a:ext cx="2674160" cy="1244600"/>
            <a:chOff x="1026" y="3325"/>
            <a:chExt cx="2198" cy="784"/>
          </a:xfrm>
        </p:grpSpPr>
        <p:sp>
          <p:nvSpPr>
            <p:cNvPr id="130" name="Rectangle 42">
              <a:extLst>
                <a:ext uri="{FF2B5EF4-FFF2-40B4-BE49-F238E27FC236}">
                  <a16:creationId xmlns:a16="http://schemas.microsoft.com/office/drawing/2014/main" id="{C8916FBC-09D5-DF1F-B092-69F70D49C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3362"/>
              <a:ext cx="2034" cy="74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1" name="Rectangle 43">
              <a:extLst>
                <a:ext uri="{FF2B5EF4-FFF2-40B4-BE49-F238E27FC236}">
                  <a16:creationId xmlns:a16="http://schemas.microsoft.com/office/drawing/2014/main" id="{BAF55671-32B4-647E-C143-ED08FFD46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1" y="3325"/>
              <a:ext cx="60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标题栏</a:t>
              </a:r>
            </a:p>
          </p:txBody>
        </p:sp>
        <p:sp>
          <p:nvSpPr>
            <p:cNvPr id="132" name="Rectangle 44">
              <a:extLst>
                <a:ext uri="{FF2B5EF4-FFF2-40B4-BE49-F238E27FC236}">
                  <a16:creationId xmlns:a16="http://schemas.microsoft.com/office/drawing/2014/main" id="{E47E8356-79A6-3508-8F68-6D8BC3D95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" y="3552"/>
              <a:ext cx="219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说明部件名称、数量等与设计、生产管理有关的内容</a:t>
              </a:r>
            </a:p>
          </p:txBody>
        </p:sp>
      </p:grpSp>
      <p:sp>
        <p:nvSpPr>
          <p:cNvPr id="133" name="Line 66">
            <a:extLst>
              <a:ext uri="{FF2B5EF4-FFF2-40B4-BE49-F238E27FC236}">
                <a16:creationId xmlns:a16="http://schemas.microsoft.com/office/drawing/2014/main" id="{EA86613B-5824-A46E-DDBF-5883ECE752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1719" y="6297613"/>
            <a:ext cx="1476375" cy="265112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4" name="Group 39">
            <a:extLst>
              <a:ext uri="{FF2B5EF4-FFF2-40B4-BE49-F238E27FC236}">
                <a16:creationId xmlns:a16="http://schemas.microsoft.com/office/drawing/2014/main" id="{529637AF-9839-65FE-7F25-F58F3C98B8DF}"/>
              </a:ext>
            </a:extLst>
          </p:cNvPr>
          <p:cNvGrpSpPr>
            <a:grpSpLocks/>
          </p:cNvGrpSpPr>
          <p:nvPr/>
        </p:nvGrpSpPr>
        <p:grpSpPr bwMode="auto">
          <a:xfrm>
            <a:off x="5682513" y="4082256"/>
            <a:ext cx="2538412" cy="1344613"/>
            <a:chOff x="2437" y="1223"/>
            <a:chExt cx="2157" cy="847"/>
          </a:xfrm>
        </p:grpSpPr>
        <p:sp>
          <p:nvSpPr>
            <p:cNvPr id="135" name="Rectangle 36">
              <a:extLst>
                <a:ext uri="{FF2B5EF4-FFF2-40B4-BE49-F238E27FC236}">
                  <a16:creationId xmlns:a16="http://schemas.microsoft.com/office/drawing/2014/main" id="{BBC14EFE-9797-E7CF-FAA0-0115F48C9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7" y="1249"/>
              <a:ext cx="2126" cy="82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6" name="Rectangle 37">
              <a:extLst>
                <a:ext uri="{FF2B5EF4-FFF2-40B4-BE49-F238E27FC236}">
                  <a16:creationId xmlns:a16="http://schemas.microsoft.com/office/drawing/2014/main" id="{71084D53-4833-1B5D-6DA6-DE8EA2B12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6" y="1223"/>
              <a:ext cx="81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明细表</a:t>
              </a:r>
            </a:p>
          </p:txBody>
        </p:sp>
        <p:sp>
          <p:nvSpPr>
            <p:cNvPr id="137" name="Rectangle 38">
              <a:extLst>
                <a:ext uri="{FF2B5EF4-FFF2-40B4-BE49-F238E27FC236}">
                  <a16:creationId xmlns:a16="http://schemas.microsoft.com/office/drawing/2014/main" id="{1FAAB072-22BA-C218-6E53-2EA7538C0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4" y="1510"/>
              <a:ext cx="212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列出</a:t>
              </a:r>
              <a:r>
                <a:rPr kumimoji="1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部件中所有零件的序号、</a:t>
              </a:r>
              <a:r>
                <a:rPr kumimoji="1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名称、数量、材料、规格等</a:t>
              </a:r>
            </a:p>
          </p:txBody>
        </p:sp>
      </p:grpSp>
      <p:sp>
        <p:nvSpPr>
          <p:cNvPr id="138" name="Line 68">
            <a:extLst>
              <a:ext uri="{FF2B5EF4-FFF2-40B4-BE49-F238E27FC236}">
                <a16:creationId xmlns:a16="http://schemas.microsoft.com/office/drawing/2014/main" id="{5371E514-2FFF-FC4C-3235-6FE9F5452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3619" y="4701383"/>
            <a:ext cx="479425" cy="342106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45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24" grpId="0" animBg="1"/>
      <p:bldP spid="133" grpId="0" animBg="1"/>
      <p:bldP spid="1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67AD-587B-3B1D-E66C-ECD53A5D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5A8286-4F71-CCF0-4F56-02179C5A3B1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527562" y="2727903"/>
            <a:ext cx="7136890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A9650B1-326D-FCA2-0D88-948AADC74C3F}"/>
              </a:ext>
            </a:extLst>
          </p:cNvPr>
          <p:cNvSpPr/>
          <p:nvPr/>
        </p:nvSpPr>
        <p:spPr>
          <a:xfrm>
            <a:off x="2701879" y="1136817"/>
            <a:ext cx="5822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14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86304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AB97-BB6B-4A9D-28FE-2F1D0516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2A4430BB-2C52-A00F-DF47-40FB0D895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601177A2-F5A6-3FEE-BA6C-96EBBCC85F9E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F57846D3-B69E-8A07-21BF-F328B5DED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722" y="2638599"/>
            <a:ext cx="62452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ea typeface="黑体" panose="02010609060101010101" pitchFamily="49" charset="-122"/>
              </a:rPr>
              <a:t>——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部件的功用、工作原理、结构、零件之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间的装配关系表达要完全。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0B5F0D59-0523-7B4B-5238-9D8ABC79C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3197" y="3703811"/>
            <a:ext cx="61626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ea typeface="黑体" panose="02010609060101010101" pitchFamily="49" charset="-122"/>
              </a:rPr>
              <a:t>——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视图的表达方法要正确，符合国家标准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的规定。</a:t>
            </a:r>
          </a:p>
        </p:txBody>
      </p:sp>
      <p:sp>
        <p:nvSpPr>
          <p:cNvPr id="40" name="Text Box 11">
            <a:extLst>
              <a:ext uri="{FF2B5EF4-FFF2-40B4-BE49-F238E27FC236}">
                <a16:creationId xmlns:a16="http://schemas.microsoft.com/office/drawing/2014/main" id="{63DBA525-2435-3DFB-A9EB-2838CFB50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672" y="4653136"/>
            <a:ext cx="39549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ea typeface="黑体" panose="02010609060101010101" pitchFamily="49" charset="-122"/>
              </a:rPr>
              <a:t>——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图样清晰，便于读图。</a:t>
            </a:r>
          </a:p>
        </p:txBody>
      </p:sp>
      <p:grpSp>
        <p:nvGrpSpPr>
          <p:cNvPr id="41" name="Group 12">
            <a:extLst>
              <a:ext uri="{FF2B5EF4-FFF2-40B4-BE49-F238E27FC236}">
                <a16:creationId xmlns:a16="http://schemas.microsoft.com/office/drawing/2014/main" id="{9F0BAC67-DF13-77C4-6430-38CF23824D41}"/>
              </a:ext>
            </a:extLst>
          </p:cNvPr>
          <p:cNvGrpSpPr>
            <a:grpSpLocks/>
          </p:cNvGrpSpPr>
          <p:nvPr/>
        </p:nvGrpSpPr>
        <p:grpSpPr bwMode="auto">
          <a:xfrm>
            <a:off x="2388022" y="2652886"/>
            <a:ext cx="912813" cy="2460625"/>
            <a:chOff x="582" y="1452"/>
            <a:chExt cx="575" cy="1790"/>
          </a:xfrm>
        </p:grpSpPr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C0C3CF4D-18F5-649B-D3E3-C0AACA562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" y="1452"/>
              <a:ext cx="566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800" dirty="0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完全</a:t>
              </a:r>
            </a:p>
          </p:txBody>
        </p:sp>
        <p:sp>
          <p:nvSpPr>
            <p:cNvPr id="43" name="Rectangle 14">
              <a:extLst>
                <a:ext uri="{FF2B5EF4-FFF2-40B4-BE49-F238E27FC236}">
                  <a16:creationId xmlns:a16="http://schemas.microsoft.com/office/drawing/2014/main" id="{3EB4B3B9-1446-0895-4424-ABDCF963D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" y="2184"/>
              <a:ext cx="566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800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正确</a:t>
              </a:r>
            </a:p>
          </p:txBody>
        </p:sp>
        <p:sp>
          <p:nvSpPr>
            <p:cNvPr id="44" name="Rectangle 15">
              <a:extLst>
                <a:ext uri="{FF2B5EF4-FFF2-40B4-BE49-F238E27FC236}">
                  <a16:creationId xmlns:a16="http://schemas.microsoft.com/office/drawing/2014/main" id="{4B75DC7A-752C-7D5E-AE95-EE40CB416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2864"/>
              <a:ext cx="575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800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清晰</a:t>
              </a:r>
            </a:p>
          </p:txBody>
        </p:sp>
      </p:grpSp>
      <p:sp>
        <p:nvSpPr>
          <p:cNvPr id="45" name="Text Box 16">
            <a:extLst>
              <a:ext uri="{FF2B5EF4-FFF2-40B4-BE49-F238E27FC236}">
                <a16:creationId xmlns:a16="http://schemas.microsoft.com/office/drawing/2014/main" id="{F0105959-BB77-87E4-04F2-55CF5F6A9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015" y="1434794"/>
            <a:ext cx="1059777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黑体" panose="02010609060101010101" pitchFamily="49" charset="-122"/>
              </a:rPr>
              <a:t>        装配图视图选择的基本出发点是有利于生产，同时便于看图。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黑体" panose="02010609060101010101" pitchFamily="49" charset="-122"/>
              </a:rPr>
              <a:t>因此要求装配图视图的表达必须：</a:t>
            </a:r>
          </a:p>
        </p:txBody>
      </p:sp>
    </p:spTree>
    <p:extLst>
      <p:ext uri="{BB962C8B-B14F-4D97-AF65-F5344CB8AC3E}">
        <p14:creationId xmlns:p14="http://schemas.microsoft.com/office/powerpoint/2010/main" val="278302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40" grpId="0" autoUpdateAnimBg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89FD0-2D87-2219-5023-BD10114D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AD0544A2-8D44-3D25-CCA9-B210E1751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8247A99F-3D3C-CE29-629F-6058E32BCFAA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7A2C7F15-FF7D-8070-D5FB-42D36D346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520" y="2451781"/>
            <a:ext cx="10606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机器（或部件）的工作原理、零件之间的装配关系</a:t>
            </a: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及零件的主要结构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9668F68-EB4C-5DAA-FBE1-0A109037D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520" y="3796339"/>
            <a:ext cx="7037387" cy="222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、将反映信息量最多的视图作为主视图；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、在满足要求的前提下，使视图数量为最少；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、尽量避免使用虚线表示；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、避免不必要的细节重复。</a:t>
            </a:r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016C3B4D-5661-38D7-104A-4F937D323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1429" y="3257613"/>
            <a:ext cx="2684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rPr>
              <a:t>视图选择原则：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D01B719-3D20-CA96-EDDF-DA08B082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429" y="1944919"/>
            <a:ext cx="34163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rPr>
              <a:t>装配图的表达重点：</a:t>
            </a:r>
          </a:p>
        </p:txBody>
      </p:sp>
      <p:sp>
        <p:nvSpPr>
          <p:cNvPr id="7" name="Text Box 87">
            <a:extLst>
              <a:ext uri="{FF2B5EF4-FFF2-40B4-BE49-F238E27FC236}">
                <a16:creationId xmlns:a16="http://schemas.microsoft.com/office/drawing/2014/main" id="{410F72E8-BE4A-2BB5-911F-890D275E7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31598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视图的选择原则</a:t>
            </a:r>
          </a:p>
        </p:txBody>
      </p:sp>
    </p:spTree>
    <p:extLst>
      <p:ext uri="{BB962C8B-B14F-4D97-AF65-F5344CB8AC3E}">
        <p14:creationId xmlns:p14="http://schemas.microsoft.com/office/powerpoint/2010/main" val="399196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uiExpand="1" build="allAtOnce" autoUpdateAnimBg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5D2D4-6341-AFD1-D2D6-AF004C48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5907BF56-C953-0577-BC21-816E99B0A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28A053E9-0753-28F4-4167-570FC4BC568D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2F7485B-8143-AD1A-35B1-146D9474FDE3}"/>
              </a:ext>
            </a:extLst>
          </p:cNvPr>
          <p:cNvGrpSpPr/>
          <p:nvPr/>
        </p:nvGrpSpPr>
        <p:grpSpPr>
          <a:xfrm>
            <a:off x="361043" y="2204864"/>
            <a:ext cx="2612048" cy="3899620"/>
            <a:chOff x="392697" y="2123495"/>
            <a:chExt cx="2612048" cy="3899620"/>
          </a:xfrm>
        </p:grpSpPr>
        <p:sp>
          <p:nvSpPr>
            <p:cNvPr id="4" name="任意多边形 28">
              <a:extLst>
                <a:ext uri="{FF2B5EF4-FFF2-40B4-BE49-F238E27FC236}">
                  <a16:creationId xmlns:a16="http://schemas.microsoft.com/office/drawing/2014/main" id="{FEDDBD8A-23B9-8C32-1F44-0A38E69D4D38}"/>
                </a:ext>
              </a:extLst>
            </p:cNvPr>
            <p:cNvSpPr/>
            <p:nvPr/>
          </p:nvSpPr>
          <p:spPr>
            <a:xfrm>
              <a:off x="392697" y="2123495"/>
              <a:ext cx="2612048" cy="1044819"/>
            </a:xfrm>
            <a:custGeom>
              <a:avLst/>
              <a:gdLst>
                <a:gd name="connsiteX0" fmla="*/ 0 w 2612048"/>
                <a:gd name="connsiteY0" fmla="*/ 0 h 1044819"/>
                <a:gd name="connsiteX1" fmla="*/ 2612048 w 2612048"/>
                <a:gd name="connsiteY1" fmla="*/ 0 h 1044819"/>
                <a:gd name="connsiteX2" fmla="*/ 2612048 w 2612048"/>
                <a:gd name="connsiteY2" fmla="*/ 1044819 h 1044819"/>
                <a:gd name="connsiteX3" fmla="*/ 0 w 2612048"/>
                <a:gd name="connsiteY3" fmla="*/ 1044819 h 1044819"/>
                <a:gd name="connsiteX4" fmla="*/ 0 w 2612048"/>
                <a:gd name="connsiteY4" fmla="*/ 0 h 1044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2048" h="1044819">
                  <a:moveTo>
                    <a:pt x="0" y="0"/>
                  </a:moveTo>
                  <a:lnTo>
                    <a:pt x="2612048" y="0"/>
                  </a:lnTo>
                  <a:lnTo>
                    <a:pt x="2612048" y="1044819"/>
                  </a:lnTo>
                  <a:lnTo>
                    <a:pt x="0" y="1044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240" tIns="81280" rIns="142240" bIns="8128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b="1" kern="1200" dirty="0"/>
                <a:t>部件分析</a:t>
              </a:r>
            </a:p>
          </p:txBody>
        </p:sp>
        <p:sp>
          <p:nvSpPr>
            <p:cNvPr id="5" name="任意多边形 29">
              <a:extLst>
                <a:ext uri="{FF2B5EF4-FFF2-40B4-BE49-F238E27FC236}">
                  <a16:creationId xmlns:a16="http://schemas.microsoft.com/office/drawing/2014/main" id="{D13DA493-81AE-EA8D-4DCF-4BA96037E874}"/>
                </a:ext>
              </a:extLst>
            </p:cNvPr>
            <p:cNvSpPr/>
            <p:nvPr/>
          </p:nvSpPr>
          <p:spPr>
            <a:xfrm>
              <a:off x="392697" y="3168315"/>
              <a:ext cx="2612048" cy="2854800"/>
            </a:xfrm>
            <a:custGeom>
              <a:avLst/>
              <a:gdLst>
                <a:gd name="connsiteX0" fmla="*/ 0 w 2612048"/>
                <a:gd name="connsiteY0" fmla="*/ 0 h 2854800"/>
                <a:gd name="connsiteX1" fmla="*/ 2612048 w 2612048"/>
                <a:gd name="connsiteY1" fmla="*/ 0 h 2854800"/>
                <a:gd name="connsiteX2" fmla="*/ 2612048 w 2612048"/>
                <a:gd name="connsiteY2" fmla="*/ 2854800 h 2854800"/>
                <a:gd name="connsiteX3" fmla="*/ 0 w 2612048"/>
                <a:gd name="connsiteY3" fmla="*/ 2854800 h 2854800"/>
                <a:gd name="connsiteX4" fmla="*/ 0 w 2612048"/>
                <a:gd name="connsiteY4" fmla="*/ 0 h 285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2048" h="2854800">
                  <a:moveTo>
                    <a:pt x="0" y="0"/>
                  </a:moveTo>
                  <a:lnTo>
                    <a:pt x="2612048" y="0"/>
                  </a:lnTo>
                  <a:lnTo>
                    <a:pt x="2612048" y="2854800"/>
                  </a:lnTo>
                  <a:lnTo>
                    <a:pt x="0" y="2854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012" tIns="96012" rIns="128016" bIns="144018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1" lang="zh-CN" altLang="en-US" sz="2000" i="0" u="none" strike="noStrike" kern="1200" cap="none" spc="0" normalizeH="0" baseline="0" noProof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分析部件功能、组成、工作原理</a:t>
              </a:r>
              <a:endParaRPr lang="zh-CN" altLang="en-US" sz="20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1" lang="zh-CN" altLang="en-US" sz="2000" i="0" u="none" strike="noStrike" kern="1200" cap="none" spc="0" normalizeH="0" baseline="0" noProof="0" dirty="0">
                  <a:ln/>
                  <a:effectLst/>
                  <a:uLnTx/>
                  <a:uFillTx/>
                  <a:ea typeface="黑体" panose="02010609060101010101" pitchFamily="49" charset="-122"/>
                </a:rPr>
                <a:t>了解各零件的作用、相互之间装配关系</a:t>
              </a:r>
              <a:endParaRPr kumimoji="1" lang="en-US" altLang="zh-CN" sz="2000" i="0" u="none" strike="noStrike" kern="1200" cap="none" spc="0" normalizeH="0" baseline="0" noProof="0" dirty="0">
                <a:ln/>
                <a:effectLst/>
                <a:uLnTx/>
                <a:uFillTx/>
                <a:ea typeface="黑体" panose="02010609060101010101" pitchFamily="49" charset="-122"/>
              </a:endParaRPr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1" lang="zh-CN" altLang="en-US" sz="2000" i="0" u="none" strike="noStrike" kern="1200" cap="none" spc="0" normalizeH="0" baseline="0" noProof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认识装配线</a:t>
              </a:r>
              <a:endParaRPr kumimoji="1" lang="zh-CN" altLang="en-US" sz="2000" i="0" u="none" strike="noStrike" kern="1200" cap="none" spc="0" normalizeH="0" baseline="0" noProof="0" dirty="0">
                <a:ln/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BC85AB0-47F0-08EB-572C-9E19D84E2132}"/>
              </a:ext>
            </a:extLst>
          </p:cNvPr>
          <p:cNvGrpSpPr/>
          <p:nvPr/>
        </p:nvGrpSpPr>
        <p:grpSpPr>
          <a:xfrm>
            <a:off x="3338778" y="2204864"/>
            <a:ext cx="2612048" cy="3899620"/>
            <a:chOff x="3370432" y="2123495"/>
            <a:chExt cx="2612048" cy="3899620"/>
          </a:xfrm>
        </p:grpSpPr>
        <p:sp>
          <p:nvSpPr>
            <p:cNvPr id="7" name="任意多边形 30">
              <a:extLst>
                <a:ext uri="{FF2B5EF4-FFF2-40B4-BE49-F238E27FC236}">
                  <a16:creationId xmlns:a16="http://schemas.microsoft.com/office/drawing/2014/main" id="{E24C709E-E5FC-1B62-ED01-D9F4AB8D2323}"/>
                </a:ext>
              </a:extLst>
            </p:cNvPr>
            <p:cNvSpPr/>
            <p:nvPr/>
          </p:nvSpPr>
          <p:spPr>
            <a:xfrm>
              <a:off x="3370432" y="2123495"/>
              <a:ext cx="2612048" cy="1044819"/>
            </a:xfrm>
            <a:custGeom>
              <a:avLst/>
              <a:gdLst>
                <a:gd name="connsiteX0" fmla="*/ 0 w 2612048"/>
                <a:gd name="connsiteY0" fmla="*/ 0 h 1044819"/>
                <a:gd name="connsiteX1" fmla="*/ 2612048 w 2612048"/>
                <a:gd name="connsiteY1" fmla="*/ 0 h 1044819"/>
                <a:gd name="connsiteX2" fmla="*/ 2612048 w 2612048"/>
                <a:gd name="connsiteY2" fmla="*/ 1044819 h 1044819"/>
                <a:gd name="connsiteX3" fmla="*/ 0 w 2612048"/>
                <a:gd name="connsiteY3" fmla="*/ 1044819 h 1044819"/>
                <a:gd name="connsiteX4" fmla="*/ 0 w 2612048"/>
                <a:gd name="connsiteY4" fmla="*/ 0 h 1044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2048" h="1044819">
                  <a:moveTo>
                    <a:pt x="0" y="0"/>
                  </a:moveTo>
                  <a:lnTo>
                    <a:pt x="2612048" y="0"/>
                  </a:lnTo>
                  <a:lnTo>
                    <a:pt x="2612048" y="1044819"/>
                  </a:lnTo>
                  <a:lnTo>
                    <a:pt x="0" y="1044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style>
            <a:lnRef idx="1">
              <a:schemeClr val="accent5">
                <a:hueOff val="-1013224"/>
                <a:satOff val="1071"/>
                <a:lumOff val="-196"/>
                <a:alphaOff val="0"/>
              </a:schemeClr>
            </a:lnRef>
            <a:fillRef idx="3">
              <a:schemeClr val="accent5">
                <a:hueOff val="-1013224"/>
                <a:satOff val="1071"/>
                <a:lumOff val="-196"/>
                <a:alphaOff val="0"/>
              </a:schemeClr>
            </a:fillRef>
            <a:effectRef idx="2">
              <a:schemeClr val="accent5">
                <a:hueOff val="-1013224"/>
                <a:satOff val="1071"/>
                <a:lumOff val="-19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240" tIns="81280" rIns="142240" bIns="8128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kumimoji="1" lang="zh-CN" altLang="en-US" sz="2400" b="1" i="0" u="none" strike="noStrike" kern="1200" cap="none" spc="0" normalizeH="0" baseline="0" noProof="0" dirty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选择主视图</a:t>
              </a:r>
              <a:endParaRPr lang="zh-CN" altLang="en-US" sz="2400" b="1" kern="1200" dirty="0"/>
            </a:p>
          </p:txBody>
        </p:sp>
        <p:sp>
          <p:nvSpPr>
            <p:cNvPr id="8" name="任意多边形 31">
              <a:extLst>
                <a:ext uri="{FF2B5EF4-FFF2-40B4-BE49-F238E27FC236}">
                  <a16:creationId xmlns:a16="http://schemas.microsoft.com/office/drawing/2014/main" id="{9CB2A180-4D5A-4B70-0137-33FF0536EBD7}"/>
                </a:ext>
              </a:extLst>
            </p:cNvPr>
            <p:cNvSpPr/>
            <p:nvPr/>
          </p:nvSpPr>
          <p:spPr>
            <a:xfrm>
              <a:off x="3370432" y="3168315"/>
              <a:ext cx="2612048" cy="2854800"/>
            </a:xfrm>
            <a:custGeom>
              <a:avLst/>
              <a:gdLst>
                <a:gd name="connsiteX0" fmla="*/ 0 w 2612048"/>
                <a:gd name="connsiteY0" fmla="*/ 0 h 2854800"/>
                <a:gd name="connsiteX1" fmla="*/ 2612048 w 2612048"/>
                <a:gd name="connsiteY1" fmla="*/ 0 h 2854800"/>
                <a:gd name="connsiteX2" fmla="*/ 2612048 w 2612048"/>
                <a:gd name="connsiteY2" fmla="*/ 2854800 h 2854800"/>
                <a:gd name="connsiteX3" fmla="*/ 0 w 2612048"/>
                <a:gd name="connsiteY3" fmla="*/ 2854800 h 2854800"/>
                <a:gd name="connsiteX4" fmla="*/ 0 w 2612048"/>
                <a:gd name="connsiteY4" fmla="*/ 0 h 285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2048" h="2854800">
                  <a:moveTo>
                    <a:pt x="0" y="0"/>
                  </a:moveTo>
                  <a:lnTo>
                    <a:pt x="2612048" y="0"/>
                  </a:lnTo>
                  <a:lnTo>
                    <a:pt x="2612048" y="2854800"/>
                  </a:lnTo>
                  <a:lnTo>
                    <a:pt x="0" y="2854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tint val="40000"/>
                <a:alpha val="90000"/>
                <a:hueOff val="-895746"/>
                <a:satOff val="853"/>
                <a:lumOff val="-27"/>
                <a:alphaOff val="0"/>
              </a:schemeClr>
            </a:lnRef>
            <a:fillRef idx="1">
              <a:schemeClr val="accent5">
                <a:tint val="40000"/>
                <a:alpha val="90000"/>
                <a:hueOff val="-895746"/>
                <a:satOff val="853"/>
                <a:lumOff val="-27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895746"/>
                <a:satOff val="853"/>
                <a:lumOff val="-27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012" tIns="96012" rIns="128016" bIns="144018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1" lang="zh-CN" altLang="en-US" sz="2000" i="0" u="none" strike="noStrike" kern="1200" cap="none" spc="0" normalizeH="0" baseline="0" noProof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部件工作状态或安装状态</a:t>
              </a:r>
              <a:endParaRPr lang="zh-CN" altLang="en-US" sz="20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1" lang="zh-CN" altLang="en-US" sz="2000" i="0" u="none" strike="noStrike" kern="1200" cap="none" spc="0" normalizeH="0" baseline="0" noProof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反映与工作原理有关的主要装配线零件的装配关系</a:t>
              </a:r>
              <a:endParaRPr kumimoji="1" lang="zh-CN" altLang="en-US" sz="2000" i="0" u="none" strike="noStrike" kern="1200" cap="none" spc="0" normalizeH="0" baseline="0" noProof="0" dirty="0">
                <a:ln/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576C467-D892-9924-5121-EFCA9E400FAD}"/>
              </a:ext>
            </a:extLst>
          </p:cNvPr>
          <p:cNvGrpSpPr/>
          <p:nvPr/>
        </p:nvGrpSpPr>
        <p:grpSpPr>
          <a:xfrm>
            <a:off x="6316513" y="2204864"/>
            <a:ext cx="2612048" cy="3899620"/>
            <a:chOff x="6348167" y="2123495"/>
            <a:chExt cx="2612048" cy="3899620"/>
          </a:xfrm>
        </p:grpSpPr>
        <p:sp>
          <p:nvSpPr>
            <p:cNvPr id="10" name="任意多边形 32">
              <a:extLst>
                <a:ext uri="{FF2B5EF4-FFF2-40B4-BE49-F238E27FC236}">
                  <a16:creationId xmlns:a16="http://schemas.microsoft.com/office/drawing/2014/main" id="{585AA67E-C69F-668C-BEA4-D2A1D4C55BDC}"/>
                </a:ext>
              </a:extLst>
            </p:cNvPr>
            <p:cNvSpPr/>
            <p:nvPr/>
          </p:nvSpPr>
          <p:spPr>
            <a:xfrm>
              <a:off x="6348167" y="2123495"/>
              <a:ext cx="2612048" cy="1044819"/>
            </a:xfrm>
            <a:custGeom>
              <a:avLst/>
              <a:gdLst>
                <a:gd name="connsiteX0" fmla="*/ 0 w 2612048"/>
                <a:gd name="connsiteY0" fmla="*/ 0 h 1044819"/>
                <a:gd name="connsiteX1" fmla="*/ 2612048 w 2612048"/>
                <a:gd name="connsiteY1" fmla="*/ 0 h 1044819"/>
                <a:gd name="connsiteX2" fmla="*/ 2612048 w 2612048"/>
                <a:gd name="connsiteY2" fmla="*/ 1044819 h 1044819"/>
                <a:gd name="connsiteX3" fmla="*/ 0 w 2612048"/>
                <a:gd name="connsiteY3" fmla="*/ 1044819 h 1044819"/>
                <a:gd name="connsiteX4" fmla="*/ 0 w 2612048"/>
                <a:gd name="connsiteY4" fmla="*/ 0 h 1044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2048" h="1044819">
                  <a:moveTo>
                    <a:pt x="0" y="0"/>
                  </a:moveTo>
                  <a:lnTo>
                    <a:pt x="2612048" y="0"/>
                  </a:lnTo>
                  <a:lnTo>
                    <a:pt x="2612048" y="1044819"/>
                  </a:lnTo>
                  <a:lnTo>
                    <a:pt x="0" y="1044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style>
            <a:lnRef idx="1">
              <a:schemeClr val="accent5">
                <a:hueOff val="-2026448"/>
                <a:satOff val="2142"/>
                <a:lumOff val="-393"/>
                <a:alphaOff val="0"/>
              </a:schemeClr>
            </a:lnRef>
            <a:fillRef idx="3">
              <a:schemeClr val="accent5">
                <a:hueOff val="-2026448"/>
                <a:satOff val="2142"/>
                <a:lumOff val="-393"/>
                <a:alphaOff val="0"/>
              </a:schemeClr>
            </a:fillRef>
            <a:effectRef idx="2">
              <a:schemeClr val="accent5">
                <a:hueOff val="-2026448"/>
                <a:satOff val="2142"/>
                <a:lumOff val="-39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240" tIns="81280" rIns="142240" bIns="8128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kumimoji="1" lang="zh-CN" altLang="en-US" sz="2400" b="1" i="0" u="none" strike="noStrike" kern="1200" cap="none" spc="0" normalizeH="0" baseline="0" noProof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选择其他视图</a:t>
              </a:r>
              <a:endParaRPr lang="zh-CN" altLang="en-US" sz="2400" b="1" kern="1200" dirty="0"/>
            </a:p>
          </p:txBody>
        </p:sp>
        <p:sp>
          <p:nvSpPr>
            <p:cNvPr id="11" name="任意多边形 33">
              <a:extLst>
                <a:ext uri="{FF2B5EF4-FFF2-40B4-BE49-F238E27FC236}">
                  <a16:creationId xmlns:a16="http://schemas.microsoft.com/office/drawing/2014/main" id="{E793BD5F-534A-A360-F2EF-37450F11A4F1}"/>
                </a:ext>
              </a:extLst>
            </p:cNvPr>
            <p:cNvSpPr/>
            <p:nvPr/>
          </p:nvSpPr>
          <p:spPr>
            <a:xfrm>
              <a:off x="6348167" y="3168315"/>
              <a:ext cx="2612048" cy="2854800"/>
            </a:xfrm>
            <a:custGeom>
              <a:avLst/>
              <a:gdLst>
                <a:gd name="connsiteX0" fmla="*/ 0 w 2612048"/>
                <a:gd name="connsiteY0" fmla="*/ 0 h 2854800"/>
                <a:gd name="connsiteX1" fmla="*/ 2612048 w 2612048"/>
                <a:gd name="connsiteY1" fmla="*/ 0 h 2854800"/>
                <a:gd name="connsiteX2" fmla="*/ 2612048 w 2612048"/>
                <a:gd name="connsiteY2" fmla="*/ 2854800 h 2854800"/>
                <a:gd name="connsiteX3" fmla="*/ 0 w 2612048"/>
                <a:gd name="connsiteY3" fmla="*/ 2854800 h 2854800"/>
                <a:gd name="connsiteX4" fmla="*/ 0 w 2612048"/>
                <a:gd name="connsiteY4" fmla="*/ 0 h 285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2048" h="2854800">
                  <a:moveTo>
                    <a:pt x="0" y="0"/>
                  </a:moveTo>
                  <a:lnTo>
                    <a:pt x="2612048" y="0"/>
                  </a:lnTo>
                  <a:lnTo>
                    <a:pt x="2612048" y="2854800"/>
                  </a:lnTo>
                  <a:lnTo>
                    <a:pt x="0" y="2854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tint val="40000"/>
                <a:alpha val="90000"/>
                <a:hueOff val="-1791493"/>
                <a:satOff val="1706"/>
                <a:lumOff val="-55"/>
                <a:alphaOff val="0"/>
              </a:schemeClr>
            </a:lnRef>
            <a:fillRef idx="1">
              <a:schemeClr val="accent5">
                <a:tint val="40000"/>
                <a:alpha val="90000"/>
                <a:hueOff val="-1791493"/>
                <a:satOff val="1706"/>
                <a:lumOff val="-55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1791493"/>
                <a:satOff val="1706"/>
                <a:lumOff val="-5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012" tIns="96012" rIns="128016" bIns="144018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1" lang="zh-CN" altLang="en-US" sz="2000" i="0" u="none" strike="noStrike" kern="1200" cap="none" spc="0" normalizeH="0" baseline="0" noProof="0" dirty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首先选择基本视图表达其他装配线、工作原理等</a:t>
              </a:r>
              <a:endParaRPr lang="zh-CN" altLang="en-US" sz="20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1" lang="zh-CN" altLang="en-US" sz="2000" i="0" u="none" strike="noStrike" kern="1200" cap="none" spc="0" normalizeH="0" baseline="0" noProof="0" dirty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用基本视图或</a:t>
              </a:r>
              <a:r>
                <a:rPr kumimoji="1" lang="zh-CN" altLang="en-US" sz="2000" i="0" u="none" strike="noStrike" kern="1200" cap="none" spc="0" normalizeH="0" baseline="0" noProof="0" dirty="0">
                  <a:ln/>
                  <a:effectLst/>
                  <a:uLnTx/>
                  <a:uFillTx/>
                  <a:ea typeface="黑体" panose="02010609060101010101" pitchFamily="49" charset="-122"/>
                </a:rPr>
                <a:t>辅</a:t>
              </a:r>
              <a:r>
                <a:rPr kumimoji="1" lang="zh-CN" altLang="en-US" sz="2000" i="0" u="none" strike="noStrike" kern="1200" cap="none" spc="0" normalizeH="0" baseline="0" noProof="0" dirty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助视图表达未表示清楚的内容</a:t>
              </a:r>
              <a:endParaRPr kumimoji="1" lang="en-US" altLang="zh-CN" sz="2000" i="0" u="none" strike="noStrike" kern="1200" cap="none" spc="0" normalizeH="0" baseline="0" noProof="0" dirty="0">
                <a:ln/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508BD41-AD55-3FB0-50FE-213F2298DA27}"/>
              </a:ext>
            </a:extLst>
          </p:cNvPr>
          <p:cNvGrpSpPr/>
          <p:nvPr/>
        </p:nvGrpSpPr>
        <p:grpSpPr>
          <a:xfrm>
            <a:off x="9294249" y="2204864"/>
            <a:ext cx="2612048" cy="3899620"/>
            <a:chOff x="9325903" y="2123495"/>
            <a:chExt cx="2612048" cy="3899620"/>
          </a:xfrm>
        </p:grpSpPr>
        <p:sp>
          <p:nvSpPr>
            <p:cNvPr id="13" name="任意多边形 34">
              <a:extLst>
                <a:ext uri="{FF2B5EF4-FFF2-40B4-BE49-F238E27FC236}">
                  <a16:creationId xmlns:a16="http://schemas.microsoft.com/office/drawing/2014/main" id="{2D9762F3-8ED5-FD33-F168-49F84A45BA9F}"/>
                </a:ext>
              </a:extLst>
            </p:cNvPr>
            <p:cNvSpPr/>
            <p:nvPr/>
          </p:nvSpPr>
          <p:spPr>
            <a:xfrm>
              <a:off x="9325903" y="2123495"/>
              <a:ext cx="2612048" cy="1044819"/>
            </a:xfrm>
            <a:custGeom>
              <a:avLst/>
              <a:gdLst>
                <a:gd name="connsiteX0" fmla="*/ 0 w 2612048"/>
                <a:gd name="connsiteY0" fmla="*/ 0 h 1044819"/>
                <a:gd name="connsiteX1" fmla="*/ 2612048 w 2612048"/>
                <a:gd name="connsiteY1" fmla="*/ 0 h 1044819"/>
                <a:gd name="connsiteX2" fmla="*/ 2612048 w 2612048"/>
                <a:gd name="connsiteY2" fmla="*/ 1044819 h 1044819"/>
                <a:gd name="connsiteX3" fmla="*/ 0 w 2612048"/>
                <a:gd name="connsiteY3" fmla="*/ 1044819 h 1044819"/>
                <a:gd name="connsiteX4" fmla="*/ 0 w 2612048"/>
                <a:gd name="connsiteY4" fmla="*/ 0 h 1044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2048" h="1044819">
                  <a:moveTo>
                    <a:pt x="0" y="0"/>
                  </a:moveTo>
                  <a:lnTo>
                    <a:pt x="2612048" y="0"/>
                  </a:lnTo>
                  <a:lnTo>
                    <a:pt x="2612048" y="1044819"/>
                  </a:lnTo>
                  <a:lnTo>
                    <a:pt x="0" y="1044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style>
            <a:lnRef idx="1">
              <a:schemeClr val="accent5">
                <a:hueOff val="-3039673"/>
                <a:satOff val="3213"/>
                <a:lumOff val="-589"/>
                <a:alphaOff val="0"/>
              </a:schemeClr>
            </a:lnRef>
            <a:fillRef idx="3">
              <a:schemeClr val="accent5">
                <a:hueOff val="-3039673"/>
                <a:satOff val="3213"/>
                <a:lumOff val="-589"/>
                <a:alphaOff val="0"/>
              </a:schemeClr>
            </a:fillRef>
            <a:effectRef idx="2">
              <a:schemeClr val="accent5">
                <a:hueOff val="-3039673"/>
                <a:satOff val="3213"/>
                <a:lumOff val="-58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240" tIns="81280" rIns="142240" bIns="8128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kumimoji="1" lang="zh-CN" altLang="en-US" sz="2400" b="1" i="0" u="none" strike="noStrike" kern="1200" cap="none" spc="0" normalizeH="0" baseline="0" noProof="0" dirty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检查、比较</a:t>
              </a:r>
              <a:endParaRPr kumimoji="1" lang="en-US" altLang="zh-CN" sz="2400" b="1" i="0" u="none" strike="noStrike" kern="1200" cap="none" spc="0" normalizeH="0" baseline="0" noProof="0" dirty="0">
                <a:ln/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kumimoji="1" lang="zh-CN" altLang="en-US" sz="2400" b="1" i="0" u="none" strike="noStrike" kern="1200" cap="none" spc="0" normalizeH="0" baseline="0" noProof="0" dirty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调整、修改</a:t>
              </a:r>
              <a:endParaRPr kumimoji="1" lang="en-US" altLang="zh-CN" sz="2400" b="1" i="0" u="none" strike="noStrike" kern="1200" cap="none" spc="0" normalizeH="0" baseline="0" noProof="0" dirty="0">
                <a:ln/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任意多边形 35">
              <a:extLst>
                <a:ext uri="{FF2B5EF4-FFF2-40B4-BE49-F238E27FC236}">
                  <a16:creationId xmlns:a16="http://schemas.microsoft.com/office/drawing/2014/main" id="{3A6D2C60-1D2A-6201-102C-566E8FF293BC}"/>
                </a:ext>
              </a:extLst>
            </p:cNvPr>
            <p:cNvSpPr/>
            <p:nvPr/>
          </p:nvSpPr>
          <p:spPr>
            <a:xfrm>
              <a:off x="9325903" y="3168315"/>
              <a:ext cx="2612048" cy="2854800"/>
            </a:xfrm>
            <a:custGeom>
              <a:avLst/>
              <a:gdLst>
                <a:gd name="connsiteX0" fmla="*/ 0 w 2612048"/>
                <a:gd name="connsiteY0" fmla="*/ 0 h 2854800"/>
                <a:gd name="connsiteX1" fmla="*/ 2612048 w 2612048"/>
                <a:gd name="connsiteY1" fmla="*/ 0 h 2854800"/>
                <a:gd name="connsiteX2" fmla="*/ 2612048 w 2612048"/>
                <a:gd name="connsiteY2" fmla="*/ 2854800 h 2854800"/>
                <a:gd name="connsiteX3" fmla="*/ 0 w 2612048"/>
                <a:gd name="connsiteY3" fmla="*/ 2854800 h 2854800"/>
                <a:gd name="connsiteX4" fmla="*/ 0 w 2612048"/>
                <a:gd name="connsiteY4" fmla="*/ 0 h 285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2048" h="2854800">
                  <a:moveTo>
                    <a:pt x="0" y="0"/>
                  </a:moveTo>
                  <a:lnTo>
                    <a:pt x="2612048" y="0"/>
                  </a:lnTo>
                  <a:lnTo>
                    <a:pt x="2612048" y="2854800"/>
                  </a:lnTo>
                  <a:lnTo>
                    <a:pt x="0" y="28548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tint val="40000"/>
                <a:alpha val="90000"/>
                <a:hueOff val="-2687239"/>
                <a:satOff val="2559"/>
                <a:lumOff val="-82"/>
                <a:alphaOff val="0"/>
              </a:schemeClr>
            </a:lnRef>
            <a:fillRef idx="1">
              <a:schemeClr val="accent5">
                <a:tint val="40000"/>
                <a:alpha val="90000"/>
                <a:hueOff val="-2687239"/>
                <a:satOff val="2559"/>
                <a:lumOff val="-82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2687239"/>
                <a:satOff val="2559"/>
                <a:lumOff val="-8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012" tIns="96012" rIns="128016" bIns="144018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1" lang="zh-CN" altLang="en-US" sz="2000" i="0" u="none" strike="noStrike" kern="1200" cap="none" spc="0" normalizeH="0" baseline="0" noProof="0" dirty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是否表达完全、正确（工作原理、各装配线、投影关系）</a:t>
              </a:r>
              <a:endParaRPr kumimoji="1" lang="en-US" altLang="zh-CN" sz="2000" i="0" u="none" strike="noStrike" kern="1200" cap="none" spc="0" normalizeH="0" baseline="0" noProof="0" dirty="0">
                <a:ln/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1" lang="zh-CN" altLang="en-US" sz="2000" i="0" u="none" strike="noStrike" kern="1200" cap="none" spc="0" normalizeH="0" baseline="0" noProof="0" dirty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与工作原理有直接关系的零件的关键结构、形状</a:t>
              </a:r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1" lang="zh-CN" altLang="en-US" sz="2000" i="0" u="none" strike="noStrike" kern="1200" cap="none" spc="0" normalizeH="0" baseline="0" noProof="0" dirty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与其他部件的连接、安装关系</a:t>
              </a:r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1" lang="zh-CN" altLang="en-US" sz="2000" i="0" u="none" strike="noStrike" kern="1200" cap="none" spc="0" normalizeH="0" baseline="0" noProof="0" dirty="0">
                  <a:ln/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有无其他方案</a:t>
              </a:r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C95D9714-65EF-5023-0B63-6601257882E6}"/>
              </a:ext>
            </a:extLst>
          </p:cNvPr>
          <p:cNvSpPr/>
          <p:nvPr/>
        </p:nvSpPr>
        <p:spPr>
          <a:xfrm>
            <a:off x="211192" y="1593748"/>
            <a:ext cx="753732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4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6E06FD-9DD2-DAF4-8363-D667C3FA94EE}"/>
              </a:ext>
            </a:extLst>
          </p:cNvPr>
          <p:cNvSpPr/>
          <p:nvPr/>
        </p:nvSpPr>
        <p:spPr>
          <a:xfrm>
            <a:off x="3158531" y="1593748"/>
            <a:ext cx="753732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en-US" sz="4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748162-63ED-6625-AAB3-C5764D280DF3}"/>
              </a:ext>
            </a:extLst>
          </p:cNvPr>
          <p:cNvSpPr/>
          <p:nvPr/>
        </p:nvSpPr>
        <p:spPr>
          <a:xfrm>
            <a:off x="6065009" y="1593748"/>
            <a:ext cx="753732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sz="4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0BB56EA-3678-0049-12AC-5E7FAC3D0788}"/>
              </a:ext>
            </a:extLst>
          </p:cNvPr>
          <p:cNvSpPr/>
          <p:nvPr/>
        </p:nvSpPr>
        <p:spPr>
          <a:xfrm>
            <a:off x="9120336" y="1593748"/>
            <a:ext cx="753732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sz="4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87">
            <a:extLst>
              <a:ext uri="{FF2B5EF4-FFF2-40B4-BE49-F238E27FC236}">
                <a16:creationId xmlns:a16="http://schemas.microsoft.com/office/drawing/2014/main" id="{0632E308-E7A3-78F3-04AC-422DEC75E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视图选择步骤和方法</a:t>
            </a:r>
          </a:p>
        </p:txBody>
      </p:sp>
    </p:spTree>
    <p:extLst>
      <p:ext uri="{BB962C8B-B14F-4D97-AF65-F5344CB8AC3E}">
        <p14:creationId xmlns:p14="http://schemas.microsoft.com/office/powerpoint/2010/main" val="345158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7F488-03EF-7E2B-3DEB-A07A6266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19C35E67-C6DA-B123-327D-981DB82F4FFC}"/>
              </a:ext>
            </a:extLst>
          </p:cNvPr>
          <p:cNvSpPr/>
          <p:nvPr/>
        </p:nvSpPr>
        <p:spPr>
          <a:xfrm>
            <a:off x="5513500" y="0"/>
            <a:ext cx="6775188" cy="6298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3FB03AE6-7BD7-26EC-0BC9-EBCEDD612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0DC5DC77-0244-D5EC-BD6D-3316C98FD9E3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9DE0D7C5-155D-3617-0B97-824DA4FBC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20826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实例分析</a:t>
            </a:r>
          </a:p>
        </p:txBody>
      </p:sp>
      <p:sp>
        <p:nvSpPr>
          <p:cNvPr id="3" name="Text Box 87">
            <a:extLst>
              <a:ext uri="{FF2B5EF4-FFF2-40B4-BE49-F238E27FC236}">
                <a16:creationId xmlns:a16="http://schemas.microsoft.com/office/drawing/2014/main" id="{7A921EC6-5477-FFA0-C788-26E4C18CF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916832"/>
            <a:ext cx="20826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部件分析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9F735F5F-D0CB-5A11-4570-B17B4398E5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287861"/>
              </p:ext>
            </p:extLst>
          </p:nvPr>
        </p:nvGraphicFramePr>
        <p:xfrm>
          <a:off x="5747994" y="838963"/>
          <a:ext cx="5754688" cy="500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5753903" imgH="5001323" progId="Paint.Picture">
                  <p:embed/>
                </p:oleObj>
              </mc:Choice>
              <mc:Fallback>
                <p:oleObj name="位图图像" r:id="rId3" imgW="5753903" imgH="5001323" progId="Paint.Picture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7994" y="838963"/>
                        <a:ext cx="5754688" cy="500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2">
            <a:extLst>
              <a:ext uri="{FF2B5EF4-FFF2-40B4-BE49-F238E27FC236}">
                <a16:creationId xmlns:a16="http://schemas.microsoft.com/office/drawing/2014/main" id="{21654BAD-4A80-FFD2-E0BA-BF460A02E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3894" y="1943864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zh-CN" sz="24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5F7BE624-5626-D442-5248-0B64E3243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2580" y="1805752"/>
            <a:ext cx="207631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柱塞泵</a:t>
            </a: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用于机床供油系统的供油装置</a:t>
            </a:r>
            <a:endParaRPr lang="zh-CN" altLang="en-US" sz="2400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DEB22998-AA1F-24ED-46D7-A1038733F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308" y="2851103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功能及组成</a:t>
            </a:r>
          </a:p>
        </p:txBody>
      </p:sp>
      <p:grpSp>
        <p:nvGrpSpPr>
          <p:cNvPr id="9" name="Group 17">
            <a:extLst>
              <a:ext uri="{FF2B5EF4-FFF2-40B4-BE49-F238E27FC236}">
                <a16:creationId xmlns:a16="http://schemas.microsoft.com/office/drawing/2014/main" id="{BE3199CD-A64F-78C9-744C-3EFBC3A955D5}"/>
              </a:ext>
            </a:extLst>
          </p:cNvPr>
          <p:cNvGrpSpPr>
            <a:grpSpLocks/>
          </p:cNvGrpSpPr>
          <p:nvPr/>
        </p:nvGrpSpPr>
        <p:grpSpPr bwMode="auto">
          <a:xfrm>
            <a:off x="5227294" y="380176"/>
            <a:ext cx="5800725" cy="5622925"/>
            <a:chOff x="891" y="545"/>
            <a:chExt cx="3617" cy="3542"/>
          </a:xfrm>
        </p:grpSpPr>
        <p:sp>
          <p:nvSpPr>
            <p:cNvPr id="10" name="Line 18">
              <a:extLst>
                <a:ext uri="{FF2B5EF4-FFF2-40B4-BE49-F238E27FC236}">
                  <a16:creationId xmlns:a16="http://schemas.microsoft.com/office/drawing/2014/main" id="{886387D4-73D4-1162-1A46-5B48612007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7" y="805"/>
              <a:ext cx="187" cy="15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Text Box 19">
              <a:extLst>
                <a:ext uri="{FF2B5EF4-FFF2-40B4-BE49-F238E27FC236}">
                  <a16:creationId xmlns:a16="http://schemas.microsoft.com/office/drawing/2014/main" id="{9E4A6369-6870-EE48-DFCD-0C6481BB9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3" y="1482"/>
              <a:ext cx="4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垫片</a:t>
              </a:r>
            </a:p>
          </p:txBody>
        </p:sp>
        <p:sp>
          <p:nvSpPr>
            <p:cNvPr id="12" name="Line 20">
              <a:extLst>
                <a:ext uri="{FF2B5EF4-FFF2-40B4-BE49-F238E27FC236}">
                  <a16:creationId xmlns:a16="http://schemas.microsoft.com/office/drawing/2014/main" id="{4041CD64-EB07-386E-88EB-26FA92938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9" y="992"/>
              <a:ext cx="886" cy="49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Text Box 21">
              <a:extLst>
                <a:ext uri="{FF2B5EF4-FFF2-40B4-BE49-F238E27FC236}">
                  <a16:creationId xmlns:a16="http://schemas.microsoft.com/office/drawing/2014/main" id="{CED5C164-BF53-D278-02B8-5BDA7931C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9" y="830"/>
              <a:ext cx="4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柱塞</a:t>
              </a:r>
            </a:p>
          </p:txBody>
        </p:sp>
        <p:sp>
          <p:nvSpPr>
            <p:cNvPr id="14" name="Line 22">
              <a:extLst>
                <a:ext uri="{FF2B5EF4-FFF2-40B4-BE49-F238E27FC236}">
                  <a16:creationId xmlns:a16="http://schemas.microsoft.com/office/drawing/2014/main" id="{6F6C99DA-0794-0EA1-2784-B6DB2D597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4" y="1330"/>
              <a:ext cx="516" cy="24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Text Box 23">
              <a:extLst>
                <a:ext uri="{FF2B5EF4-FFF2-40B4-BE49-F238E27FC236}">
                  <a16:creationId xmlns:a16="http://schemas.microsoft.com/office/drawing/2014/main" id="{B367037F-384F-D5C5-E31C-6B90EB048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5" y="1171"/>
              <a:ext cx="5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柱塞套</a:t>
              </a:r>
            </a:p>
          </p:txBody>
        </p:sp>
        <p:sp>
          <p:nvSpPr>
            <p:cNvPr id="17" name="Line 24">
              <a:extLst>
                <a:ext uri="{FF2B5EF4-FFF2-40B4-BE49-F238E27FC236}">
                  <a16:creationId xmlns:a16="http://schemas.microsoft.com/office/drawing/2014/main" id="{0A7150CB-616D-5FD9-F75E-77E52FC4C0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6" y="1956"/>
              <a:ext cx="423" cy="23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Text Box 25">
              <a:extLst>
                <a:ext uri="{FF2B5EF4-FFF2-40B4-BE49-F238E27FC236}">
                  <a16:creationId xmlns:a16="http://schemas.microsoft.com/office/drawing/2014/main" id="{DEE9963C-9274-D055-D6F3-8C090F1BCE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7" y="1788"/>
              <a:ext cx="4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泵体</a:t>
              </a:r>
            </a:p>
          </p:txBody>
        </p:sp>
        <p:sp>
          <p:nvSpPr>
            <p:cNvPr id="19" name="Line 26">
              <a:extLst>
                <a:ext uri="{FF2B5EF4-FFF2-40B4-BE49-F238E27FC236}">
                  <a16:creationId xmlns:a16="http://schemas.microsoft.com/office/drawing/2014/main" id="{5C704EFD-41A7-E297-EE7D-4E9ED47CA6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6" y="784"/>
              <a:ext cx="514" cy="43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Text Box 27">
              <a:extLst>
                <a:ext uri="{FF2B5EF4-FFF2-40B4-BE49-F238E27FC236}">
                  <a16:creationId xmlns:a16="http://schemas.microsoft.com/office/drawing/2014/main" id="{753BF70B-1D15-7BB8-C580-85B83CB71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2" y="545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小轴</a:t>
              </a:r>
            </a:p>
          </p:txBody>
        </p:sp>
        <p:sp>
          <p:nvSpPr>
            <p:cNvPr id="21" name="Line 28">
              <a:extLst>
                <a:ext uri="{FF2B5EF4-FFF2-40B4-BE49-F238E27FC236}">
                  <a16:creationId xmlns:a16="http://schemas.microsoft.com/office/drawing/2014/main" id="{DA4F9D85-7635-7665-8662-E690EA75C6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7" y="2285"/>
              <a:ext cx="897" cy="23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Text Box 29">
              <a:extLst>
                <a:ext uri="{FF2B5EF4-FFF2-40B4-BE49-F238E27FC236}">
                  <a16:creationId xmlns:a16="http://schemas.microsoft.com/office/drawing/2014/main" id="{55FC89ED-360E-C2DC-6571-5913CFC92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3" y="2129"/>
              <a:ext cx="4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弹簧</a:t>
              </a:r>
            </a:p>
          </p:txBody>
        </p:sp>
        <p:sp>
          <p:nvSpPr>
            <p:cNvPr id="23" name="Line 30">
              <a:extLst>
                <a:ext uri="{FF2B5EF4-FFF2-40B4-BE49-F238E27FC236}">
                  <a16:creationId xmlns:a16="http://schemas.microsoft.com/office/drawing/2014/main" id="{D8D74280-F4EB-6C34-EE96-52E16036D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" y="3329"/>
              <a:ext cx="427" cy="53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Text Box 31">
              <a:extLst>
                <a:ext uri="{FF2B5EF4-FFF2-40B4-BE49-F238E27FC236}">
                  <a16:creationId xmlns:a16="http://schemas.microsoft.com/office/drawing/2014/main" id="{9E632EB2-C279-E271-2967-1FB7AE926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6" y="3837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弹簧</a:t>
              </a:r>
            </a:p>
          </p:txBody>
        </p:sp>
        <p:sp>
          <p:nvSpPr>
            <p:cNvPr id="25" name="Line 32">
              <a:extLst>
                <a:ext uri="{FF2B5EF4-FFF2-40B4-BE49-F238E27FC236}">
                  <a16:creationId xmlns:a16="http://schemas.microsoft.com/office/drawing/2014/main" id="{2D928529-C483-8456-152B-CC4871BCE5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6" y="3419"/>
              <a:ext cx="635" cy="4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Text Box 33">
              <a:extLst>
                <a:ext uri="{FF2B5EF4-FFF2-40B4-BE49-F238E27FC236}">
                  <a16:creationId xmlns:a16="http://schemas.microsoft.com/office/drawing/2014/main" id="{FC1084EB-CA17-37BE-02AC-5B46267987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1" y="3834"/>
              <a:ext cx="4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钢珠</a:t>
              </a:r>
            </a:p>
          </p:txBody>
        </p:sp>
        <p:sp>
          <p:nvSpPr>
            <p:cNvPr id="27" name="Line 34">
              <a:extLst>
                <a:ext uri="{FF2B5EF4-FFF2-40B4-BE49-F238E27FC236}">
                  <a16:creationId xmlns:a16="http://schemas.microsoft.com/office/drawing/2014/main" id="{2CD24149-F4A8-2833-BA8A-19E5F753B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39" y="2773"/>
              <a:ext cx="401" cy="4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Text Box 35">
              <a:extLst>
                <a:ext uri="{FF2B5EF4-FFF2-40B4-BE49-F238E27FC236}">
                  <a16:creationId xmlns:a16="http://schemas.microsoft.com/office/drawing/2014/main" id="{25575ECC-3FFD-A619-ACC4-15F4E64FE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8" y="2537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衬垫</a:t>
              </a:r>
            </a:p>
          </p:txBody>
        </p:sp>
        <p:sp>
          <p:nvSpPr>
            <p:cNvPr id="29" name="Text Box 36">
              <a:extLst>
                <a:ext uri="{FF2B5EF4-FFF2-40B4-BE49-F238E27FC236}">
                  <a16:creationId xmlns:a16="http://schemas.microsoft.com/office/drawing/2014/main" id="{538E78AD-E353-8918-80CE-3F0CCBC9F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0" y="2537"/>
              <a:ext cx="4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螺塞</a:t>
              </a:r>
            </a:p>
          </p:txBody>
        </p:sp>
        <p:sp>
          <p:nvSpPr>
            <p:cNvPr id="30" name="Text Box 37">
              <a:extLst>
                <a:ext uri="{FF2B5EF4-FFF2-40B4-BE49-F238E27FC236}">
                  <a16:creationId xmlns:a16="http://schemas.microsoft.com/office/drawing/2014/main" id="{D3291094-886E-E5D3-09A9-B7ABFD434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2" y="552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滚轮</a:t>
              </a:r>
            </a:p>
          </p:txBody>
        </p:sp>
        <p:sp>
          <p:nvSpPr>
            <p:cNvPr id="31" name="Line 38">
              <a:extLst>
                <a:ext uri="{FF2B5EF4-FFF2-40B4-BE49-F238E27FC236}">
                  <a16:creationId xmlns:a16="http://schemas.microsoft.com/office/drawing/2014/main" id="{46FDF541-D6F9-9299-BF97-C448B6ED71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6" y="1665"/>
              <a:ext cx="518" cy="13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39">
              <a:extLst>
                <a:ext uri="{FF2B5EF4-FFF2-40B4-BE49-F238E27FC236}">
                  <a16:creationId xmlns:a16="http://schemas.microsoft.com/office/drawing/2014/main" id="{5BD8AC0C-14D4-F320-7674-371003196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06" y="775"/>
              <a:ext cx="173" cy="2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Text Box 40">
              <a:extLst>
                <a:ext uri="{FF2B5EF4-FFF2-40B4-BE49-F238E27FC236}">
                  <a16:creationId xmlns:a16="http://schemas.microsoft.com/office/drawing/2014/main" id="{606BD14D-93E7-E279-F100-03C6DCED77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4" y="546"/>
              <a:ext cx="59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开口销</a:t>
              </a:r>
            </a:p>
          </p:txBody>
        </p:sp>
        <p:sp>
          <p:nvSpPr>
            <p:cNvPr id="34" name="Line 41">
              <a:extLst>
                <a:ext uri="{FF2B5EF4-FFF2-40B4-BE49-F238E27FC236}">
                  <a16:creationId xmlns:a16="http://schemas.microsoft.com/office/drawing/2014/main" id="{F92782FF-685D-2FF6-37D2-0D4404C47E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19" y="2771"/>
              <a:ext cx="161" cy="193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42">
              <a:extLst>
                <a:ext uri="{FF2B5EF4-FFF2-40B4-BE49-F238E27FC236}">
                  <a16:creationId xmlns:a16="http://schemas.microsoft.com/office/drawing/2014/main" id="{9FDCB3C3-7F99-554A-F10F-CCC949245E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88" y="2768"/>
              <a:ext cx="539" cy="46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Text Box 43">
              <a:extLst>
                <a:ext uri="{FF2B5EF4-FFF2-40B4-BE49-F238E27FC236}">
                  <a16:creationId xmlns:a16="http://schemas.microsoft.com/office/drawing/2014/main" id="{8B4D4CBE-7ED1-E832-3832-C8561B34E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" y="2537"/>
              <a:ext cx="7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单向阀体</a:t>
              </a:r>
            </a:p>
          </p:txBody>
        </p:sp>
        <p:sp>
          <p:nvSpPr>
            <p:cNvPr id="38" name="Line 44">
              <a:extLst>
                <a:ext uri="{FF2B5EF4-FFF2-40B4-BE49-F238E27FC236}">
                  <a16:creationId xmlns:a16="http://schemas.microsoft.com/office/drawing/2014/main" id="{B8670969-891A-2BD9-42FC-75EEEA0BD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3392"/>
              <a:ext cx="122" cy="47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Text Box 45">
              <a:extLst>
                <a:ext uri="{FF2B5EF4-FFF2-40B4-BE49-F238E27FC236}">
                  <a16:creationId xmlns:a16="http://schemas.microsoft.com/office/drawing/2014/main" id="{665A4B2F-9387-0B23-A84C-3B5BDF82A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4" y="3833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球托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397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BB29-E0CE-5BD4-0C81-48D9F9AB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EBA0251-471C-163B-9C0C-3F53E45E9A12}"/>
              </a:ext>
            </a:extLst>
          </p:cNvPr>
          <p:cNvSpPr/>
          <p:nvPr/>
        </p:nvSpPr>
        <p:spPr>
          <a:xfrm>
            <a:off x="5513500" y="44624"/>
            <a:ext cx="6678500" cy="6254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CD9125DA-F0CF-ECC4-E0A3-05CEF7837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94900C10-73C8-BD14-320A-135EF93A3E63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DA6E7DDB-156E-74A6-F877-E398484E3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20826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实例分析</a:t>
            </a:r>
          </a:p>
        </p:txBody>
      </p:sp>
      <p:sp>
        <p:nvSpPr>
          <p:cNvPr id="3" name="Text Box 87">
            <a:extLst>
              <a:ext uri="{FF2B5EF4-FFF2-40B4-BE49-F238E27FC236}">
                <a16:creationId xmlns:a16="http://schemas.microsoft.com/office/drawing/2014/main" id="{CEA34A2B-9982-150C-CC16-BB78BD077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916832"/>
            <a:ext cx="20826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部件分析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A0D72E1-111A-D660-C768-EFE6EE5353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597277"/>
              </p:ext>
            </p:extLst>
          </p:nvPr>
        </p:nvGraphicFramePr>
        <p:xfrm>
          <a:off x="6112179" y="795909"/>
          <a:ext cx="4686300" cy="493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4686954" imgH="4933333" progId="Paint.Picture">
                  <p:embed/>
                </p:oleObj>
              </mc:Choice>
              <mc:Fallback>
                <p:oleObj name="位图图像" r:id="rId3" imgW="4686954" imgH="4933333" progId="Paint.Picture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2179" y="795909"/>
                        <a:ext cx="4686300" cy="493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2">
            <a:extLst>
              <a:ext uri="{FF2B5EF4-FFF2-40B4-BE49-F238E27FC236}">
                <a16:creationId xmlns:a16="http://schemas.microsoft.com/office/drawing/2014/main" id="{5C069EB9-DA33-D117-5FDA-6659F4224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1122" y="263862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工作原理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60AEC7D0-6AC1-5FD2-2CDD-A88FD9805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824" y="3239023"/>
            <a:ext cx="3919538" cy="23083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滚轮上面的凸轮（未画出）旋转时，由于升程的改变，使得柱塞上下往复移动，引起泵腔容积的变化，压力也随之改变，油被不断吸进、排出，起到供油作用。</a:t>
            </a:r>
          </a:p>
        </p:txBody>
      </p:sp>
      <p:grpSp>
        <p:nvGrpSpPr>
          <p:cNvPr id="7" name="Group 14">
            <a:extLst>
              <a:ext uri="{FF2B5EF4-FFF2-40B4-BE49-F238E27FC236}">
                <a16:creationId xmlns:a16="http://schemas.microsoft.com/office/drawing/2014/main" id="{287A253A-C1D8-BA9D-1AE2-D8654D8CED6E}"/>
              </a:ext>
            </a:extLst>
          </p:cNvPr>
          <p:cNvGrpSpPr>
            <a:grpSpLocks/>
          </p:cNvGrpSpPr>
          <p:nvPr/>
        </p:nvGrpSpPr>
        <p:grpSpPr bwMode="auto">
          <a:xfrm>
            <a:off x="9933299" y="5464747"/>
            <a:ext cx="531813" cy="947738"/>
            <a:chOff x="4899" y="3546"/>
            <a:chExt cx="335" cy="597"/>
          </a:xfrm>
        </p:grpSpPr>
        <p:sp>
          <p:nvSpPr>
            <p:cNvPr id="8" name="Line 15">
              <a:extLst>
                <a:ext uri="{FF2B5EF4-FFF2-40B4-BE49-F238E27FC236}">
                  <a16:creationId xmlns:a16="http://schemas.microsoft.com/office/drawing/2014/main" id="{A777910B-6677-FFC8-BF57-566B90132E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9" y="3546"/>
              <a:ext cx="0" cy="396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16">
              <a:extLst>
                <a:ext uri="{FF2B5EF4-FFF2-40B4-BE49-F238E27FC236}">
                  <a16:creationId xmlns:a16="http://schemas.microsoft.com/office/drawing/2014/main" id="{EB78A4F1-69B7-4792-E71E-858AB8E12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4" y="3631"/>
              <a:ext cx="31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排油</a:t>
              </a:r>
            </a:p>
          </p:txBody>
        </p:sp>
      </p:grpSp>
      <p:grpSp>
        <p:nvGrpSpPr>
          <p:cNvPr id="10" name="Group 17">
            <a:extLst>
              <a:ext uri="{FF2B5EF4-FFF2-40B4-BE49-F238E27FC236}">
                <a16:creationId xmlns:a16="http://schemas.microsoft.com/office/drawing/2014/main" id="{72BAFBC5-C8F0-99DE-6613-D6775B918818}"/>
              </a:ext>
            </a:extLst>
          </p:cNvPr>
          <p:cNvGrpSpPr>
            <a:grpSpLocks/>
          </p:cNvGrpSpPr>
          <p:nvPr/>
        </p:nvGrpSpPr>
        <p:grpSpPr bwMode="auto">
          <a:xfrm>
            <a:off x="5386693" y="3589910"/>
            <a:ext cx="1050926" cy="841375"/>
            <a:chOff x="1507" y="2685"/>
            <a:chExt cx="662" cy="530"/>
          </a:xfrm>
        </p:grpSpPr>
        <p:sp>
          <p:nvSpPr>
            <p:cNvPr id="11" name="Line 18">
              <a:extLst>
                <a:ext uri="{FF2B5EF4-FFF2-40B4-BE49-F238E27FC236}">
                  <a16:creationId xmlns:a16="http://schemas.microsoft.com/office/drawing/2014/main" id="{EA70B24B-349F-D6E3-A585-9959C1F9C1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2965406">
              <a:off x="1920" y="2692"/>
              <a:ext cx="70" cy="428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Text Box 19">
              <a:extLst>
                <a:ext uri="{FF2B5EF4-FFF2-40B4-BE49-F238E27FC236}">
                  <a16:creationId xmlns:a16="http://schemas.microsoft.com/office/drawing/2014/main" id="{7CBB01C2-9A52-8EB0-F0AB-63D06BE47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7" y="2685"/>
              <a:ext cx="310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吸油</a:t>
              </a:r>
            </a:p>
          </p:txBody>
        </p:sp>
      </p:grpSp>
      <p:grpSp>
        <p:nvGrpSpPr>
          <p:cNvPr id="13" name="Group 20">
            <a:extLst>
              <a:ext uri="{FF2B5EF4-FFF2-40B4-BE49-F238E27FC236}">
                <a16:creationId xmlns:a16="http://schemas.microsoft.com/office/drawing/2014/main" id="{4DF67FC7-37AD-6F52-3681-74A35E7E2DBD}"/>
              </a:ext>
            </a:extLst>
          </p:cNvPr>
          <p:cNvGrpSpPr>
            <a:grpSpLocks/>
          </p:cNvGrpSpPr>
          <p:nvPr/>
        </p:nvGrpSpPr>
        <p:grpSpPr bwMode="auto">
          <a:xfrm>
            <a:off x="7740954" y="219647"/>
            <a:ext cx="911225" cy="750888"/>
            <a:chOff x="3619" y="242"/>
            <a:chExt cx="455" cy="473"/>
          </a:xfrm>
        </p:grpSpPr>
        <p:sp>
          <p:nvSpPr>
            <p:cNvPr id="14" name="Line 21">
              <a:extLst>
                <a:ext uri="{FF2B5EF4-FFF2-40B4-BE49-F238E27FC236}">
                  <a16:creationId xmlns:a16="http://schemas.microsoft.com/office/drawing/2014/main" id="{A69BC51A-BAF3-B96B-EA9A-4E193BE3D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4" y="353"/>
              <a:ext cx="0" cy="3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Text Box 22">
              <a:extLst>
                <a:ext uri="{FF2B5EF4-FFF2-40B4-BE49-F238E27FC236}">
                  <a16:creationId xmlns:a16="http://schemas.microsoft.com/office/drawing/2014/main" id="{9A6EEF03-1E6E-1871-FF5D-542682814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9" y="242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ea typeface="黑体" panose="02010609060101010101" pitchFamily="49" charset="-122"/>
                </a:rPr>
                <a:t>凸轮</a:t>
              </a:r>
            </a:p>
          </p:txBody>
        </p:sp>
      </p:grpSp>
      <p:sp>
        <p:nvSpPr>
          <p:cNvPr id="17" name="Line 23">
            <a:extLst>
              <a:ext uri="{FF2B5EF4-FFF2-40B4-BE49-F238E27FC236}">
                <a16:creationId xmlns:a16="http://schemas.microsoft.com/office/drawing/2014/main" id="{A77B4BD4-B684-3E43-D7AB-2644242CC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4079" y="1900810"/>
            <a:ext cx="0" cy="8112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Line 24">
            <a:extLst>
              <a:ext uri="{FF2B5EF4-FFF2-40B4-BE49-F238E27FC236}">
                <a16:creationId xmlns:a16="http://schemas.microsoft.com/office/drawing/2014/main" id="{CDAD5A75-83BD-D633-13E7-705233452B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8254" y="4147122"/>
            <a:ext cx="635000" cy="360363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E48B577C-D570-1C0A-F2C4-EE3EC7B117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8192" y="3791522"/>
            <a:ext cx="1223962" cy="711200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Line 26">
            <a:extLst>
              <a:ext uri="{FF2B5EF4-FFF2-40B4-BE49-F238E27FC236}">
                <a16:creationId xmlns:a16="http://schemas.microsoft.com/office/drawing/2014/main" id="{C45891C1-6BE3-BDDD-ADB0-EE836B6AA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1717" y="3762947"/>
            <a:ext cx="1090612" cy="630238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3893AA37-97E7-33B6-2F13-80391B2BF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9928529" y="4553522"/>
            <a:ext cx="0" cy="796925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Arc 28">
            <a:extLst>
              <a:ext uri="{FF2B5EF4-FFF2-40B4-BE49-F238E27FC236}">
                <a16:creationId xmlns:a16="http://schemas.microsoft.com/office/drawing/2014/main" id="{0440A972-D894-4643-C125-2F20F2DB69AF}"/>
              </a:ext>
            </a:extLst>
          </p:cNvPr>
          <p:cNvSpPr>
            <a:spLocks/>
          </p:cNvSpPr>
          <p:nvPr/>
        </p:nvSpPr>
        <p:spPr bwMode="auto">
          <a:xfrm flipV="1">
            <a:off x="7067854" y="4409060"/>
            <a:ext cx="174625" cy="117475"/>
          </a:xfrm>
          <a:custGeom>
            <a:avLst/>
            <a:gdLst>
              <a:gd name="T0" fmla="*/ 0 w 30163"/>
              <a:gd name="T1" fmla="*/ 6060617 h 21600"/>
              <a:gd name="T2" fmla="*/ 33884574 w 30163"/>
              <a:gd name="T3" fmla="*/ 4743733 h 21600"/>
              <a:gd name="T4" fmla="*/ 17806655 w 30163"/>
              <a:gd name="T5" fmla="*/ 18898198 h 21600"/>
              <a:gd name="T6" fmla="*/ 0 60000 65536"/>
              <a:gd name="T7" fmla="*/ 0 60000 65536"/>
              <a:gd name="T8" fmla="*/ 0 60000 65536"/>
              <a:gd name="T9" fmla="*/ 0 w 30163"/>
              <a:gd name="T10" fmla="*/ 0 h 21600"/>
              <a:gd name="T11" fmla="*/ 30163 w 3016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163" h="21600" fill="none" extrusionOk="0">
                <a:moveTo>
                  <a:pt x="-1" y="6926"/>
                </a:moveTo>
                <a:cubicBezTo>
                  <a:pt x="4087" y="2510"/>
                  <a:pt x="9833" y="-1"/>
                  <a:pt x="15851" y="0"/>
                </a:cubicBezTo>
                <a:cubicBezTo>
                  <a:pt x="21123" y="0"/>
                  <a:pt x="26213" y="1928"/>
                  <a:pt x="30162" y="5422"/>
                </a:cubicBezTo>
              </a:path>
              <a:path w="30163" h="21600" stroke="0" extrusionOk="0">
                <a:moveTo>
                  <a:pt x="-1" y="6926"/>
                </a:moveTo>
                <a:cubicBezTo>
                  <a:pt x="4087" y="2510"/>
                  <a:pt x="9833" y="-1"/>
                  <a:pt x="15851" y="0"/>
                </a:cubicBezTo>
                <a:cubicBezTo>
                  <a:pt x="21123" y="0"/>
                  <a:pt x="26213" y="1928"/>
                  <a:pt x="30162" y="5422"/>
                </a:cubicBezTo>
                <a:lnTo>
                  <a:pt x="15851" y="21600"/>
                </a:lnTo>
                <a:lnTo>
                  <a:pt x="-1" y="6926"/>
                </a:lnTo>
                <a:close/>
              </a:path>
            </a:pathLst>
          </a:custGeom>
          <a:noFill/>
          <a:ln w="571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Arc 29">
            <a:extLst>
              <a:ext uri="{FF2B5EF4-FFF2-40B4-BE49-F238E27FC236}">
                <a16:creationId xmlns:a16="http://schemas.microsoft.com/office/drawing/2014/main" id="{75D5D8E4-E17D-ABFB-9055-5E292640ECB0}"/>
              </a:ext>
            </a:extLst>
          </p:cNvPr>
          <p:cNvSpPr>
            <a:spLocks/>
          </p:cNvSpPr>
          <p:nvPr/>
        </p:nvSpPr>
        <p:spPr bwMode="auto">
          <a:xfrm flipV="1">
            <a:off x="8434692" y="3740722"/>
            <a:ext cx="339725" cy="288925"/>
          </a:xfrm>
          <a:custGeom>
            <a:avLst/>
            <a:gdLst>
              <a:gd name="T0" fmla="*/ 1015835492 w 23581"/>
              <a:gd name="T1" fmla="*/ 605172741 h 21600"/>
              <a:gd name="T2" fmla="*/ 0 w 23581"/>
              <a:gd name="T3" fmla="*/ 549021612 h 21600"/>
              <a:gd name="T4" fmla="*/ 565707243 w 23581"/>
              <a:gd name="T5" fmla="*/ 0 h 21600"/>
              <a:gd name="T6" fmla="*/ 0 60000 65536"/>
              <a:gd name="T7" fmla="*/ 0 60000 65536"/>
              <a:gd name="T8" fmla="*/ 0 60000 65536"/>
              <a:gd name="T9" fmla="*/ 0 w 23581"/>
              <a:gd name="T10" fmla="*/ 0 h 21600"/>
              <a:gd name="T11" fmla="*/ 23581 w 235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581" h="21600" fill="none" extrusionOk="0">
                <a:moveTo>
                  <a:pt x="23581" y="18904"/>
                </a:moveTo>
                <a:cubicBezTo>
                  <a:pt x="20382" y="20672"/>
                  <a:pt x="16787" y="21599"/>
                  <a:pt x="13132" y="21600"/>
                </a:cubicBezTo>
                <a:cubicBezTo>
                  <a:pt x="8384" y="21600"/>
                  <a:pt x="3769" y="20035"/>
                  <a:pt x="0" y="17149"/>
                </a:cubicBezTo>
              </a:path>
              <a:path w="23581" h="21600" stroke="0" extrusionOk="0">
                <a:moveTo>
                  <a:pt x="23581" y="18904"/>
                </a:moveTo>
                <a:cubicBezTo>
                  <a:pt x="20382" y="20672"/>
                  <a:pt x="16787" y="21599"/>
                  <a:pt x="13132" y="21600"/>
                </a:cubicBezTo>
                <a:cubicBezTo>
                  <a:pt x="8384" y="21600"/>
                  <a:pt x="3769" y="20035"/>
                  <a:pt x="0" y="17149"/>
                </a:cubicBezTo>
                <a:lnTo>
                  <a:pt x="13132" y="0"/>
                </a:lnTo>
                <a:lnTo>
                  <a:pt x="23581" y="18904"/>
                </a:lnTo>
                <a:close/>
              </a:path>
            </a:pathLst>
          </a:custGeom>
          <a:noFill/>
          <a:ln w="571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Arc 30">
            <a:extLst>
              <a:ext uri="{FF2B5EF4-FFF2-40B4-BE49-F238E27FC236}">
                <a16:creationId xmlns:a16="http://schemas.microsoft.com/office/drawing/2014/main" id="{6D2706DF-D589-1700-8461-762716B5E844}"/>
              </a:ext>
            </a:extLst>
          </p:cNvPr>
          <p:cNvSpPr>
            <a:spLocks/>
          </p:cNvSpPr>
          <p:nvPr/>
        </p:nvSpPr>
        <p:spPr bwMode="auto">
          <a:xfrm flipV="1">
            <a:off x="9809467" y="4385247"/>
            <a:ext cx="120650" cy="187325"/>
          </a:xfrm>
          <a:custGeom>
            <a:avLst/>
            <a:gdLst>
              <a:gd name="T0" fmla="*/ 20222560 w 21600"/>
              <a:gd name="T1" fmla="*/ 0 h 26768"/>
              <a:gd name="T2" fmla="*/ 5474511 w 21600"/>
              <a:gd name="T3" fmla="*/ 64200017 h 26768"/>
              <a:gd name="T4" fmla="*/ 0 w 21600"/>
              <a:gd name="T5" fmla="*/ 14181744 h 26768"/>
              <a:gd name="T6" fmla="*/ 0 60000 65536"/>
              <a:gd name="T7" fmla="*/ 0 60000 65536"/>
              <a:gd name="T8" fmla="*/ 0 60000 65536"/>
              <a:gd name="T9" fmla="*/ 0 w 21600"/>
              <a:gd name="T10" fmla="*/ 0 h 26768"/>
              <a:gd name="T11" fmla="*/ 21600 w 21600"/>
              <a:gd name="T12" fmla="*/ 26768 h 26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6768" fill="none" extrusionOk="0">
                <a:moveTo>
                  <a:pt x="20774" y="0"/>
                </a:moveTo>
                <a:cubicBezTo>
                  <a:pt x="21322" y="1923"/>
                  <a:pt x="21600" y="3913"/>
                  <a:pt x="21600" y="5913"/>
                </a:cubicBezTo>
                <a:cubicBezTo>
                  <a:pt x="21600" y="15676"/>
                  <a:pt x="15050" y="24225"/>
                  <a:pt x="5623" y="26767"/>
                </a:cubicBezTo>
              </a:path>
              <a:path w="21600" h="26768" stroke="0" extrusionOk="0">
                <a:moveTo>
                  <a:pt x="20774" y="0"/>
                </a:moveTo>
                <a:cubicBezTo>
                  <a:pt x="21322" y="1923"/>
                  <a:pt x="21600" y="3913"/>
                  <a:pt x="21600" y="5913"/>
                </a:cubicBezTo>
                <a:cubicBezTo>
                  <a:pt x="21600" y="15676"/>
                  <a:pt x="15050" y="24225"/>
                  <a:pt x="5623" y="26767"/>
                </a:cubicBezTo>
                <a:lnTo>
                  <a:pt x="0" y="5913"/>
                </a:lnTo>
                <a:lnTo>
                  <a:pt x="20774" y="0"/>
                </a:lnTo>
                <a:close/>
              </a:path>
            </a:pathLst>
          </a:custGeom>
          <a:noFill/>
          <a:ln w="571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532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5DD2-5244-6865-ADAF-1748A5AB6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04851BFA-5CBB-E016-1836-DB437D540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EA95249F-FE1B-C27F-112F-28F0646FC623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DAEC47-BA19-C745-FACC-8E824AD2D1A1}"/>
              </a:ext>
            </a:extLst>
          </p:cNvPr>
          <p:cNvSpPr/>
          <p:nvPr/>
        </p:nvSpPr>
        <p:spPr>
          <a:xfrm>
            <a:off x="5494448" y="14289"/>
            <a:ext cx="6703180" cy="62989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 Box 87">
            <a:extLst>
              <a:ext uri="{FF2B5EF4-FFF2-40B4-BE49-F238E27FC236}">
                <a16:creationId xmlns:a16="http://schemas.microsoft.com/office/drawing/2014/main" id="{69A1A624-1B43-8F30-214B-3F429B9D9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20826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实例分析</a:t>
            </a:r>
          </a:p>
        </p:txBody>
      </p:sp>
      <p:sp>
        <p:nvSpPr>
          <p:cNvPr id="5" name="Text Box 87">
            <a:extLst>
              <a:ext uri="{FF2B5EF4-FFF2-40B4-BE49-F238E27FC236}">
                <a16:creationId xmlns:a16="http://schemas.microsoft.com/office/drawing/2014/main" id="{199D1238-AF73-B7E5-80D3-3C01A11BB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916832"/>
            <a:ext cx="20826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部件分析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9F347C49-03A7-74F6-1915-4C165B63CE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165234"/>
              </p:ext>
            </p:extLst>
          </p:nvPr>
        </p:nvGraphicFramePr>
        <p:xfrm>
          <a:off x="5838471" y="616695"/>
          <a:ext cx="4686300" cy="493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4686954" imgH="4933333" progId="Paint.Picture">
                  <p:embed/>
                </p:oleObj>
              </mc:Choice>
              <mc:Fallback>
                <p:oleObj name="位图图像" r:id="rId3" imgW="4686954" imgH="4933333" progId="Paint.Picture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8471" y="616695"/>
                        <a:ext cx="4686300" cy="493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>
            <a:extLst>
              <a:ext uri="{FF2B5EF4-FFF2-40B4-BE49-F238E27FC236}">
                <a16:creationId xmlns:a16="http://schemas.microsoft.com/office/drawing/2014/main" id="{EDF8329B-5AF6-C67D-3436-C40C86AB8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72" y="2993625"/>
            <a:ext cx="2954655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装配关系及连接关系</a:t>
            </a:r>
          </a:p>
        </p:txBody>
      </p:sp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id="{EF543E0A-CD7F-D541-8CCD-39DE5A859A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613388"/>
              </p:ext>
            </p:extLst>
          </p:nvPr>
        </p:nvGraphicFramePr>
        <p:xfrm>
          <a:off x="5735283" y="242044"/>
          <a:ext cx="5156200" cy="602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5" imgW="4610744" imgH="5390476" progId="Paint.Picture">
                  <p:embed/>
                </p:oleObj>
              </mc:Choice>
              <mc:Fallback>
                <p:oleObj name="位图图像" r:id="rId5" imgW="4610744" imgH="5390476" progId="Paint.Picture">
                  <p:embed/>
                  <p:pic>
                    <p:nvPicPr>
                      <p:cNvPr id="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283" y="242044"/>
                        <a:ext cx="5156200" cy="602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4">
            <a:extLst>
              <a:ext uri="{FF2B5EF4-FFF2-40B4-BE49-F238E27FC236}">
                <a16:creationId xmlns:a16="http://schemas.microsoft.com/office/drawing/2014/main" id="{4D2DFA43-AE85-122A-342D-E7D28A326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72" y="3536007"/>
            <a:ext cx="1723549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分析装配线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F5371EA0-BA0F-6583-E4A7-AC2D7B023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0996" y="3205907"/>
            <a:ext cx="27638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、吸油部分单向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阀体装配线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0B2F2073-057A-5E05-CC6E-004D76E51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1246" y="403522"/>
            <a:ext cx="2093912" cy="78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、滚轮、小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轴装配线</a:t>
            </a: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A1ADE58F-420F-453C-4CA3-2CA1FC886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4058" y="2707432"/>
            <a:ext cx="26336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、排油部分单向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阀体装配线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B9EDBB21-5E81-103E-131C-2AD4D61F1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433" y="116632"/>
            <a:ext cx="1328738" cy="42481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64AF224F-F56C-1C64-22DD-1BA4B6AE8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1683" y="4193332"/>
            <a:ext cx="2154238" cy="1609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Rectangle 20">
            <a:extLst>
              <a:ext uri="{FF2B5EF4-FFF2-40B4-BE49-F238E27FC236}">
                <a16:creationId xmlns:a16="http://schemas.microsoft.com/office/drawing/2014/main" id="{011AAC99-CA70-1600-7877-420035189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9533" y="4072682"/>
            <a:ext cx="1311275" cy="22145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Rectangle 21">
            <a:extLst>
              <a:ext uri="{FF2B5EF4-FFF2-40B4-BE49-F238E27FC236}">
                <a16:creationId xmlns:a16="http://schemas.microsoft.com/office/drawing/2014/main" id="{6673C5BB-C13A-0EAF-58B3-9694635D3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7283" y="259507"/>
            <a:ext cx="989013" cy="11080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Line 22">
            <a:extLst>
              <a:ext uri="{FF2B5EF4-FFF2-40B4-BE49-F238E27FC236}">
                <a16:creationId xmlns:a16="http://schemas.microsoft.com/office/drawing/2014/main" id="{1CC36877-AC5D-1FD2-A9EB-EA2FA6FE7D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1108" y="1385044"/>
            <a:ext cx="1725613" cy="6318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Line 23">
            <a:extLst>
              <a:ext uri="{FF2B5EF4-FFF2-40B4-BE49-F238E27FC236}">
                <a16:creationId xmlns:a16="http://schemas.microsoft.com/office/drawing/2014/main" id="{3919E091-478D-B350-7E40-786B50EDC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208" y="3939332"/>
            <a:ext cx="488950" cy="5000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Line 24">
            <a:extLst>
              <a:ext uri="{FF2B5EF4-FFF2-40B4-BE49-F238E27FC236}">
                <a16:creationId xmlns:a16="http://schemas.microsoft.com/office/drawing/2014/main" id="{A8F0BC08-2210-6F02-2946-E284345289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31071" y="3523407"/>
            <a:ext cx="677862" cy="7191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Line 25">
            <a:extLst>
              <a:ext uri="{FF2B5EF4-FFF2-40B4-BE49-F238E27FC236}">
                <a16:creationId xmlns:a16="http://schemas.microsoft.com/office/drawing/2014/main" id="{DACE5AE0-C122-1494-82F3-18BBA89909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40558" y="765919"/>
            <a:ext cx="484188" cy="1317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Rectangle 26">
            <a:extLst>
              <a:ext uri="{FF2B5EF4-FFF2-40B4-BE49-F238E27FC236}">
                <a16:creationId xmlns:a16="http://schemas.microsoft.com/office/drawing/2014/main" id="{D73E0A10-F644-781B-7988-AD7E7DE88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199" y="1591419"/>
            <a:ext cx="1913010" cy="10763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Text Box 27">
            <a:extLst>
              <a:ext uri="{FF2B5EF4-FFF2-40B4-BE49-F238E27FC236}">
                <a16:creationId xmlns:a16="http://schemas.microsoft.com/office/drawing/2014/main" id="{CD53AACD-C1B4-74CB-52CC-543A53E9F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520" y="1531718"/>
            <a:ext cx="1906588" cy="1151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、柱塞、柱塞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套、泵体装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配线</a:t>
            </a:r>
          </a:p>
        </p:txBody>
      </p:sp>
      <p:sp>
        <p:nvSpPr>
          <p:cNvPr id="24" name="Text Box 28">
            <a:extLst>
              <a:ext uri="{FF2B5EF4-FFF2-40B4-BE49-F238E27FC236}">
                <a16:creationId xmlns:a16="http://schemas.microsoft.com/office/drawing/2014/main" id="{D7B8E007-BADD-726E-718C-19BFC940E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5202" y="1151503"/>
            <a:ext cx="187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</a:rPr>
              <a:t>主装配线</a:t>
            </a:r>
          </a:p>
        </p:txBody>
      </p:sp>
      <p:sp>
        <p:nvSpPr>
          <p:cNvPr id="25" name="Text Box 29">
            <a:extLst>
              <a:ext uri="{FF2B5EF4-FFF2-40B4-BE49-F238E27FC236}">
                <a16:creationId xmlns:a16="http://schemas.microsoft.com/office/drawing/2014/main" id="{6DE9C401-EDCD-52B3-2270-09B687C2A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72" y="4072682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  <a:ea typeface="黑体" panose="02010609060101010101" pitchFamily="49" charset="-122"/>
              </a:rPr>
              <a:t>四条装配线</a:t>
            </a:r>
          </a:p>
        </p:txBody>
      </p:sp>
    </p:spTree>
    <p:extLst>
      <p:ext uri="{BB962C8B-B14F-4D97-AF65-F5344CB8AC3E}">
        <p14:creationId xmlns:p14="http://schemas.microsoft.com/office/powerpoint/2010/main" val="379960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10" grpId="0" autoUpdateAnimBg="0"/>
      <p:bldP spid="11" grpId="0" autoUpdateAnimBg="0"/>
      <p:bldP spid="12" grpId="0" autoUpdateAnimBg="0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utoUpdateAnimBg="0"/>
      <p:bldP spid="24" grpId="0" build="p" autoUpdateAnimBg="0" advAuto="0"/>
      <p:bldP spid="2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95090-843E-904A-CF36-998BE19F7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F7E490E7-CBBA-9AC4-79B7-AB089CD4F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E28DE45E-497D-C5DC-39E6-534040F99478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369A5192-104E-2665-98F3-732260CF05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92234"/>
              </p:ext>
            </p:extLst>
          </p:nvPr>
        </p:nvGraphicFramePr>
        <p:xfrm>
          <a:off x="6857526" y="1272258"/>
          <a:ext cx="4686300" cy="493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4686954" imgH="4933333" progId="Paint.Picture">
                  <p:embed/>
                </p:oleObj>
              </mc:Choice>
              <mc:Fallback>
                <p:oleObj name="位图图像" r:id="rId3" imgW="4686954" imgH="4933333" progId="Paint.Picture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7526" y="1272258"/>
                        <a:ext cx="4686300" cy="493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2">
            <a:extLst>
              <a:ext uri="{FF2B5EF4-FFF2-40B4-BE49-F238E27FC236}">
                <a16:creationId xmlns:a16="http://schemas.microsoft.com/office/drawing/2014/main" id="{3998D271-BA0C-24F5-06B8-DE3EDB9B2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580" y="4253520"/>
            <a:ext cx="4702240" cy="166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柱塞与柱塞套 装配在一起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柱塞套通过螺纹与泵体连接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柱塞下部压在弹簧上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76CCDD53-30C8-7BCF-91AE-EFB18BBA6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438" y="2687734"/>
            <a:ext cx="4262705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66"/>
                </a:solidFill>
                <a:ea typeface="黑体" panose="02010609060101010101" pitchFamily="49" charset="-122"/>
              </a:rPr>
              <a:t>①</a:t>
            </a:r>
            <a:r>
              <a:rPr lang="en-US" altLang="zh-CN" sz="2400" dirty="0">
                <a:solidFill>
                  <a:srgbClr val="000066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柱塞、柱塞套、泵体装配线</a:t>
            </a: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D35CC55D-192C-B645-11CE-DEAAEA1E9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025" y="3159795"/>
            <a:ext cx="4219774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由泵体、柱塞套、柱塞、弹簧和垫片组成。</a:t>
            </a:r>
          </a:p>
        </p:txBody>
      </p:sp>
      <p:grpSp>
        <p:nvGrpSpPr>
          <p:cNvPr id="6" name="Group 15">
            <a:extLst>
              <a:ext uri="{FF2B5EF4-FFF2-40B4-BE49-F238E27FC236}">
                <a16:creationId xmlns:a16="http://schemas.microsoft.com/office/drawing/2014/main" id="{0346F228-3AFB-23BE-62BD-E8A320F5649F}"/>
              </a:ext>
            </a:extLst>
          </p:cNvPr>
          <p:cNvGrpSpPr>
            <a:grpSpLocks/>
          </p:cNvGrpSpPr>
          <p:nvPr/>
        </p:nvGrpSpPr>
        <p:grpSpPr bwMode="auto">
          <a:xfrm>
            <a:off x="6955951" y="1242095"/>
            <a:ext cx="2352675" cy="2682875"/>
            <a:chOff x="1950" y="830"/>
            <a:chExt cx="1454" cy="1690"/>
          </a:xfrm>
        </p:grpSpPr>
        <p:sp>
          <p:nvSpPr>
            <p:cNvPr id="7" name="Text Box 16">
              <a:extLst>
                <a:ext uri="{FF2B5EF4-FFF2-40B4-BE49-F238E27FC236}">
                  <a16:creationId xmlns:a16="http://schemas.microsoft.com/office/drawing/2014/main" id="{244ED96B-8546-1594-2F0B-7837E6B47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5" y="1482"/>
              <a:ext cx="4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垫片</a:t>
              </a:r>
            </a:p>
          </p:txBody>
        </p:sp>
        <p:sp>
          <p:nvSpPr>
            <p:cNvPr id="8" name="Line 17">
              <a:extLst>
                <a:ext uri="{FF2B5EF4-FFF2-40B4-BE49-F238E27FC236}">
                  <a16:creationId xmlns:a16="http://schemas.microsoft.com/office/drawing/2014/main" id="{FE2897F8-2C51-C512-2680-06A81D632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9" y="992"/>
              <a:ext cx="886" cy="49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18">
              <a:extLst>
                <a:ext uri="{FF2B5EF4-FFF2-40B4-BE49-F238E27FC236}">
                  <a16:creationId xmlns:a16="http://schemas.microsoft.com/office/drawing/2014/main" id="{1ED5ADC7-7E45-8D50-0E8C-7B7202D49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1" y="830"/>
              <a:ext cx="4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柱塞</a:t>
              </a:r>
            </a:p>
          </p:txBody>
        </p:sp>
        <p:sp>
          <p:nvSpPr>
            <p:cNvPr id="10" name="Line 19">
              <a:extLst>
                <a:ext uri="{FF2B5EF4-FFF2-40B4-BE49-F238E27FC236}">
                  <a16:creationId xmlns:a16="http://schemas.microsoft.com/office/drawing/2014/main" id="{416FDAF7-2CA7-1E87-7B97-6BBE895964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4" y="1330"/>
              <a:ext cx="516" cy="24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Text Box 20">
              <a:extLst>
                <a:ext uri="{FF2B5EF4-FFF2-40B4-BE49-F238E27FC236}">
                  <a16:creationId xmlns:a16="http://schemas.microsoft.com/office/drawing/2014/main" id="{BC0495BE-734A-CA94-BD77-A80A19BFE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0" y="1171"/>
              <a:ext cx="5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柱塞套</a:t>
              </a:r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AE645658-5423-3B59-FA0D-7A89FD9C18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6" y="1956"/>
              <a:ext cx="423" cy="23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Text Box 22">
              <a:extLst>
                <a:ext uri="{FF2B5EF4-FFF2-40B4-BE49-F238E27FC236}">
                  <a16:creationId xmlns:a16="http://schemas.microsoft.com/office/drawing/2014/main" id="{99A5BD3F-C797-54BC-690C-776A3E0F8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9" y="1788"/>
              <a:ext cx="4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泵体</a:t>
              </a:r>
            </a:p>
          </p:txBody>
        </p:sp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D1B19F63-757D-7A41-1086-A8A2B0480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7" y="2285"/>
              <a:ext cx="897" cy="23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Text Box 24">
              <a:extLst>
                <a:ext uri="{FF2B5EF4-FFF2-40B4-BE49-F238E27FC236}">
                  <a16:creationId xmlns:a16="http://schemas.microsoft.com/office/drawing/2014/main" id="{4E77FFA8-EB6D-F9E0-1F3B-E4E5BC3525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5" y="2129"/>
              <a:ext cx="4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弹簧</a:t>
              </a:r>
            </a:p>
          </p:txBody>
        </p:sp>
        <p:sp>
          <p:nvSpPr>
            <p:cNvPr id="17" name="Line 25">
              <a:extLst>
                <a:ext uri="{FF2B5EF4-FFF2-40B4-BE49-F238E27FC236}">
                  <a16:creationId xmlns:a16="http://schemas.microsoft.com/office/drawing/2014/main" id="{65F7D50E-F60A-9573-3A6A-D405CB8B90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6" y="1665"/>
              <a:ext cx="518" cy="13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" name="Text Box 87">
            <a:extLst>
              <a:ext uri="{FF2B5EF4-FFF2-40B4-BE49-F238E27FC236}">
                <a16:creationId xmlns:a16="http://schemas.microsoft.com/office/drawing/2014/main" id="{95FEC2AD-76ED-80B5-B3F0-BD0F85FFE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20826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实例分析</a:t>
            </a:r>
          </a:p>
        </p:txBody>
      </p:sp>
      <p:sp>
        <p:nvSpPr>
          <p:cNvPr id="19" name="Text Box 87">
            <a:extLst>
              <a:ext uri="{FF2B5EF4-FFF2-40B4-BE49-F238E27FC236}">
                <a16:creationId xmlns:a16="http://schemas.microsoft.com/office/drawing/2014/main" id="{82D24328-D9EC-A9EC-8FCD-20564B200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916832"/>
            <a:ext cx="20826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部件分析</a:t>
            </a:r>
          </a:p>
        </p:txBody>
      </p:sp>
    </p:spTree>
    <p:extLst>
      <p:ext uri="{BB962C8B-B14F-4D97-AF65-F5344CB8AC3E}">
        <p14:creationId xmlns:p14="http://schemas.microsoft.com/office/powerpoint/2010/main" val="335640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F315-20C4-FB96-2F58-AD8AEF5CE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AF1CA4B0-3771-5092-25EE-97112F80E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46CE0D95-4F22-29BF-F24E-8D7BA52A7E2F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A26FE2CC-76D1-FFDD-B453-860F32EA65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156989"/>
              </p:ext>
            </p:extLst>
          </p:nvPr>
        </p:nvGraphicFramePr>
        <p:xfrm>
          <a:off x="6945039" y="1196752"/>
          <a:ext cx="4686300" cy="493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4686954" imgH="4933333" progId="Paint.Picture">
                  <p:embed/>
                </p:oleObj>
              </mc:Choice>
              <mc:Fallback>
                <p:oleObj name="位图图像" r:id="rId3" imgW="4686954" imgH="4933333" progId="Paint.Picture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5039" y="1196752"/>
                        <a:ext cx="4686300" cy="493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2">
            <a:extLst>
              <a:ext uri="{FF2B5EF4-FFF2-40B4-BE49-F238E27FC236}">
                <a16:creationId xmlns:a16="http://schemas.microsoft.com/office/drawing/2014/main" id="{1755DCD1-B900-DC36-0CAB-5B9BF9D32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659" y="2598267"/>
            <a:ext cx="39549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66"/>
                </a:solidFill>
                <a:ea typeface="黑体" panose="02010609060101010101" pitchFamily="49" charset="-122"/>
              </a:rPr>
              <a:t>②</a:t>
            </a:r>
            <a:r>
              <a:rPr lang="en-US" altLang="zh-CN" sz="2400" dirty="0">
                <a:solidFill>
                  <a:srgbClr val="000066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吸油部分单向阀体装配线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760B7040-32D1-8E49-98D5-A26EACB64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659" y="3087130"/>
            <a:ext cx="4510664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由单向阀体、钢珠、球托、弹簧和螺塞等组成。</a:t>
            </a:r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E61187E4-A1EA-AC9A-5E3B-D9883D205C25}"/>
              </a:ext>
            </a:extLst>
          </p:cNvPr>
          <p:cNvGrpSpPr>
            <a:grpSpLocks/>
          </p:cNvGrpSpPr>
          <p:nvPr/>
        </p:nvGrpSpPr>
        <p:grpSpPr bwMode="auto">
          <a:xfrm>
            <a:off x="6103664" y="3343052"/>
            <a:ext cx="3416300" cy="2832100"/>
            <a:chOff x="1921" y="2129"/>
            <a:chExt cx="2152" cy="1784"/>
          </a:xfrm>
        </p:grpSpPr>
        <p:sp>
          <p:nvSpPr>
            <p:cNvPr id="6" name="Line 15">
              <a:extLst>
                <a:ext uri="{FF2B5EF4-FFF2-40B4-BE49-F238E27FC236}">
                  <a16:creationId xmlns:a16="http://schemas.microsoft.com/office/drawing/2014/main" id="{7F9C8501-552C-2E6C-255B-5B6A5B9E2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6" y="2901"/>
              <a:ext cx="220" cy="79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Text Box 16">
              <a:extLst>
                <a:ext uri="{FF2B5EF4-FFF2-40B4-BE49-F238E27FC236}">
                  <a16:creationId xmlns:a16="http://schemas.microsoft.com/office/drawing/2014/main" id="{8C1C4192-8FF9-0481-5EB7-D54B174399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5" y="2131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弹簧</a:t>
              </a:r>
            </a:p>
          </p:txBody>
        </p:sp>
        <p:sp>
          <p:nvSpPr>
            <p:cNvPr id="8" name="Line 17">
              <a:extLst>
                <a:ext uri="{FF2B5EF4-FFF2-40B4-BE49-F238E27FC236}">
                  <a16:creationId xmlns:a16="http://schemas.microsoft.com/office/drawing/2014/main" id="{595BB7C3-A06A-0257-A311-2E519CE4D4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6" y="2991"/>
              <a:ext cx="74" cy="7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18">
              <a:extLst>
                <a:ext uri="{FF2B5EF4-FFF2-40B4-BE49-F238E27FC236}">
                  <a16:creationId xmlns:a16="http://schemas.microsoft.com/office/drawing/2014/main" id="{BE38B918-0C2E-E705-3819-2410A6ED2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6" y="3662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钢珠</a:t>
              </a:r>
            </a:p>
          </p:txBody>
        </p:sp>
        <p:sp>
          <p:nvSpPr>
            <p:cNvPr id="10" name="Line 19">
              <a:extLst>
                <a:ext uri="{FF2B5EF4-FFF2-40B4-BE49-F238E27FC236}">
                  <a16:creationId xmlns:a16="http://schemas.microsoft.com/office/drawing/2014/main" id="{C29D0EC9-9286-76DF-A6BC-D2A6D0B1A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8" y="3051"/>
              <a:ext cx="512" cy="65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Text Box 20">
              <a:extLst>
                <a:ext uri="{FF2B5EF4-FFF2-40B4-BE49-F238E27FC236}">
                  <a16:creationId xmlns:a16="http://schemas.microsoft.com/office/drawing/2014/main" id="{10119894-1B52-C09B-9FB5-3B8995086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9" y="2129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衬垫</a:t>
              </a:r>
            </a:p>
          </p:txBody>
        </p:sp>
        <p:sp>
          <p:nvSpPr>
            <p:cNvPr id="12" name="Text Box 21">
              <a:extLst>
                <a:ext uri="{FF2B5EF4-FFF2-40B4-BE49-F238E27FC236}">
                  <a16:creationId xmlns:a16="http://schemas.microsoft.com/office/drawing/2014/main" id="{19F1AFA2-9ED1-B8BD-2C50-28CC58310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" y="3661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螺塞</a:t>
              </a:r>
            </a:p>
          </p:txBody>
        </p:sp>
        <p:sp>
          <p:nvSpPr>
            <p:cNvPr id="13" name="Line 22">
              <a:extLst>
                <a:ext uri="{FF2B5EF4-FFF2-40B4-BE49-F238E27FC236}">
                  <a16:creationId xmlns:a16="http://schemas.microsoft.com/office/drawing/2014/main" id="{16DDA673-735F-4B79-F1BE-E86456C65B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1" y="2365"/>
              <a:ext cx="220" cy="41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3D958FE2-12DD-AD5D-7716-82D53B7C73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64" y="2938"/>
              <a:ext cx="247" cy="23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Text Box 24">
              <a:extLst>
                <a:ext uri="{FF2B5EF4-FFF2-40B4-BE49-F238E27FC236}">
                  <a16:creationId xmlns:a16="http://schemas.microsoft.com/office/drawing/2014/main" id="{88B89889-4082-B497-4605-DA5CFBD74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1" y="3132"/>
              <a:ext cx="7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单向阀体</a:t>
              </a:r>
            </a:p>
          </p:txBody>
        </p:sp>
        <p:sp>
          <p:nvSpPr>
            <p:cNvPr id="17" name="Line 25">
              <a:extLst>
                <a:ext uri="{FF2B5EF4-FFF2-40B4-BE49-F238E27FC236}">
                  <a16:creationId xmlns:a16="http://schemas.microsoft.com/office/drawing/2014/main" id="{53207E35-3257-865B-1CD1-36BF3419E0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45" y="2364"/>
              <a:ext cx="663" cy="57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Text Box 26">
              <a:extLst>
                <a:ext uri="{FF2B5EF4-FFF2-40B4-BE49-F238E27FC236}">
                  <a16:creationId xmlns:a16="http://schemas.microsoft.com/office/drawing/2014/main" id="{9850D399-8E34-F9AC-B898-ADF7FACBC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1" y="3663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球托</a:t>
              </a:r>
            </a:p>
          </p:txBody>
        </p:sp>
      </p:grpSp>
      <p:sp>
        <p:nvSpPr>
          <p:cNvPr id="19" name="Text Box 27">
            <a:extLst>
              <a:ext uri="{FF2B5EF4-FFF2-40B4-BE49-F238E27FC236}">
                <a16:creationId xmlns:a16="http://schemas.microsoft.com/office/drawing/2014/main" id="{4A31B117-0958-F1FE-CFD2-104895AC4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098" y="4149080"/>
            <a:ext cx="472656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单向阀体通过螺纹与泵体连接 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螺塞通过螺纹与单向阀体连接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钢珠由弹簧和球托使之压紧在    单向阀的进口上</a:t>
            </a:r>
          </a:p>
        </p:txBody>
      </p:sp>
      <p:sp>
        <p:nvSpPr>
          <p:cNvPr id="20" name="Text Box 87">
            <a:extLst>
              <a:ext uri="{FF2B5EF4-FFF2-40B4-BE49-F238E27FC236}">
                <a16:creationId xmlns:a16="http://schemas.microsoft.com/office/drawing/2014/main" id="{8823B62E-F838-61D5-27C5-8D8D59168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20826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实例分析</a:t>
            </a:r>
          </a:p>
        </p:txBody>
      </p:sp>
      <p:sp>
        <p:nvSpPr>
          <p:cNvPr id="21" name="Text Box 87">
            <a:extLst>
              <a:ext uri="{FF2B5EF4-FFF2-40B4-BE49-F238E27FC236}">
                <a16:creationId xmlns:a16="http://schemas.microsoft.com/office/drawing/2014/main" id="{48E999F2-7E66-68D2-6589-006E6BAD2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916832"/>
            <a:ext cx="20826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部件分析</a:t>
            </a:r>
          </a:p>
        </p:txBody>
      </p:sp>
    </p:spTree>
    <p:extLst>
      <p:ext uri="{BB962C8B-B14F-4D97-AF65-F5344CB8AC3E}">
        <p14:creationId xmlns:p14="http://schemas.microsoft.com/office/powerpoint/2010/main" val="140235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0E1DD-9F28-2D2F-C9E7-D8622D4A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07F22AF0-A4F2-0644-4CAB-7F234FDE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C0570F37-644B-FFB9-C6FD-2F526BA690AE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ECFCCC1B-DC08-53D2-ED60-93EF50522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271549"/>
              </p:ext>
            </p:extLst>
          </p:nvPr>
        </p:nvGraphicFramePr>
        <p:xfrm>
          <a:off x="5849562" y="1110190"/>
          <a:ext cx="4686300" cy="493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4686954" imgH="4933333" progId="Paint.Picture">
                  <p:embed/>
                </p:oleObj>
              </mc:Choice>
              <mc:Fallback>
                <p:oleObj name="位图图像" r:id="rId3" imgW="4686954" imgH="4933333" progId="Paint.Picture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9562" y="1110190"/>
                        <a:ext cx="4686300" cy="493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2">
            <a:extLst>
              <a:ext uri="{FF2B5EF4-FFF2-40B4-BE49-F238E27FC236}">
                <a16:creationId xmlns:a16="http://schemas.microsoft.com/office/drawing/2014/main" id="{6ACAB0A2-71AC-4C30-AC9D-0AB932976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440" y="2565132"/>
            <a:ext cx="39549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66"/>
                </a:solidFill>
                <a:ea typeface="黑体" panose="02010609060101010101" pitchFamily="49" charset="-122"/>
              </a:rPr>
              <a:t>③</a:t>
            </a:r>
            <a:r>
              <a:rPr lang="en-US" altLang="zh-CN" sz="2400" dirty="0">
                <a:solidFill>
                  <a:srgbClr val="000066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排油部分单向阀体装配线</a:t>
            </a:r>
          </a:p>
        </p:txBody>
      </p:sp>
      <p:sp>
        <p:nvSpPr>
          <p:cNvPr id="4" name="Line 14">
            <a:extLst>
              <a:ext uri="{FF2B5EF4-FFF2-40B4-BE49-F238E27FC236}">
                <a16:creationId xmlns:a16="http://schemas.microsoft.com/office/drawing/2014/main" id="{9F747694-1994-004F-BBF3-4579C2573C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83374" y="4528078"/>
            <a:ext cx="1079500" cy="6000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oval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25F2EC16-1299-BD43-0821-BAA5583D6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4612" y="5896503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弹簧</a:t>
            </a:r>
          </a:p>
        </p:txBody>
      </p:sp>
      <p:sp>
        <p:nvSpPr>
          <p:cNvPr id="6" name="Line 16">
            <a:extLst>
              <a:ext uri="{FF2B5EF4-FFF2-40B4-BE49-F238E27FC236}">
                <a16:creationId xmlns:a16="http://schemas.microsoft.com/office/drawing/2014/main" id="{AECB344D-539D-4EBF-0266-B803BD056F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02312" y="5442478"/>
            <a:ext cx="874712" cy="6032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oval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17">
            <a:extLst>
              <a:ext uri="{FF2B5EF4-FFF2-40B4-BE49-F238E27FC236}">
                <a16:creationId xmlns:a16="http://schemas.microsoft.com/office/drawing/2014/main" id="{3508B321-712D-1FB3-01EE-9F6344CFB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0487" y="4253440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钢珠</a:t>
            </a:r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93264FBB-531A-ED19-D34A-57FC3EDC68D3}"/>
              </a:ext>
            </a:extLst>
          </p:cNvPr>
          <p:cNvSpPr>
            <a:spLocks noChangeShapeType="1"/>
          </p:cNvSpPr>
          <p:nvPr/>
        </p:nvSpPr>
        <p:spPr bwMode="auto">
          <a:xfrm>
            <a:off x="9727824" y="5674253"/>
            <a:ext cx="1052513" cy="1238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oval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 Box 19">
            <a:extLst>
              <a:ext uri="{FF2B5EF4-FFF2-40B4-BE49-F238E27FC236}">
                <a16:creationId xmlns:a16="http://schemas.microsoft.com/office/drawing/2014/main" id="{8582F569-56BE-217C-711C-D8BD4354D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8737" y="5452003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衬垫</a:t>
            </a:r>
          </a:p>
        </p:txBody>
      </p:sp>
      <p:sp>
        <p:nvSpPr>
          <p:cNvPr id="10" name="Text Box 20">
            <a:extLst>
              <a:ext uri="{FF2B5EF4-FFF2-40B4-BE49-F238E27FC236}">
                <a16:creationId xmlns:a16="http://schemas.microsoft.com/office/drawing/2014/main" id="{F8CFD21E-536B-25A3-487F-830C0FB84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0649" y="5569478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螺塞</a:t>
            </a:r>
          </a:p>
        </p:txBody>
      </p:sp>
      <p:sp>
        <p:nvSpPr>
          <p:cNvPr id="11" name="Line 21">
            <a:extLst>
              <a:ext uri="{FF2B5EF4-FFF2-40B4-BE49-F238E27FC236}">
                <a16:creationId xmlns:a16="http://schemas.microsoft.com/office/drawing/2014/main" id="{83E25AE1-CC9D-DF77-4966-FBA5B83BF9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73737" y="4739215"/>
            <a:ext cx="341312" cy="8556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oval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Line 22">
            <a:extLst>
              <a:ext uri="{FF2B5EF4-FFF2-40B4-BE49-F238E27FC236}">
                <a16:creationId xmlns:a16="http://schemas.microsoft.com/office/drawing/2014/main" id="{7D01F8EE-EADB-FB99-C7B6-CD486CE33B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89737" y="3739090"/>
            <a:ext cx="976312" cy="8794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oval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Text Box 23">
            <a:extLst>
              <a:ext uri="{FF2B5EF4-FFF2-40B4-BE49-F238E27FC236}">
                <a16:creationId xmlns:a16="http://schemas.microsoft.com/office/drawing/2014/main" id="{7F324E1C-4773-8528-D516-01F2FDBAC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3662" y="3505728"/>
            <a:ext cx="1223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单向阀体</a:t>
            </a:r>
          </a:p>
        </p:txBody>
      </p:sp>
      <p:sp>
        <p:nvSpPr>
          <p:cNvPr id="14" name="Line 24">
            <a:extLst>
              <a:ext uri="{FF2B5EF4-FFF2-40B4-BE49-F238E27FC236}">
                <a16:creationId xmlns:a16="http://schemas.microsoft.com/office/drawing/2014/main" id="{02D55E60-B2C2-DA9D-6585-8CE7DED00F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81787" y="5069415"/>
            <a:ext cx="1096962" cy="2095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oval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Text Box 25">
            <a:extLst>
              <a:ext uri="{FF2B5EF4-FFF2-40B4-BE49-F238E27FC236}">
                <a16:creationId xmlns:a16="http://schemas.microsoft.com/office/drawing/2014/main" id="{61CC4B47-2CA9-3471-3BEC-CEB24F5A1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249" y="4807478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球托</a:t>
            </a:r>
          </a:p>
        </p:txBody>
      </p:sp>
      <p:sp>
        <p:nvSpPr>
          <p:cNvPr id="17" name="Text Box 26">
            <a:extLst>
              <a:ext uri="{FF2B5EF4-FFF2-40B4-BE49-F238E27FC236}">
                <a16:creationId xmlns:a16="http://schemas.microsoft.com/office/drawing/2014/main" id="{8AA4DD7E-745A-EF0D-6EFB-0DC239D7D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76" y="3053995"/>
            <a:ext cx="4347390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由单向阀体、钢珠、球托、弹簧和螺塞等组成。</a:t>
            </a:r>
          </a:p>
        </p:txBody>
      </p:sp>
      <p:sp>
        <p:nvSpPr>
          <p:cNvPr id="18" name="Text Box 27">
            <a:extLst>
              <a:ext uri="{FF2B5EF4-FFF2-40B4-BE49-F238E27FC236}">
                <a16:creationId xmlns:a16="http://schemas.microsoft.com/office/drawing/2014/main" id="{8AA3921D-A013-F6AC-A8AB-3626DEBCE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418" y="4158657"/>
            <a:ext cx="455123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单向阀体通过螺纹与泵体连接 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螺塞通过螺纹与单向阀体连接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钢珠由弹簧和球托使之压紧在单向阀的出口上</a:t>
            </a:r>
          </a:p>
        </p:txBody>
      </p:sp>
      <p:sp>
        <p:nvSpPr>
          <p:cNvPr id="19" name="Text Box 87">
            <a:extLst>
              <a:ext uri="{FF2B5EF4-FFF2-40B4-BE49-F238E27FC236}">
                <a16:creationId xmlns:a16="http://schemas.microsoft.com/office/drawing/2014/main" id="{E137B4C1-5019-9768-82CA-175F49A2C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20826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实例分析</a:t>
            </a:r>
          </a:p>
        </p:txBody>
      </p:sp>
      <p:sp>
        <p:nvSpPr>
          <p:cNvPr id="20" name="Text Box 87">
            <a:extLst>
              <a:ext uri="{FF2B5EF4-FFF2-40B4-BE49-F238E27FC236}">
                <a16:creationId xmlns:a16="http://schemas.microsoft.com/office/drawing/2014/main" id="{29BD44A1-6721-96CB-C800-4F786242D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916832"/>
            <a:ext cx="20826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部件分析</a:t>
            </a:r>
          </a:p>
        </p:txBody>
      </p:sp>
    </p:spTree>
    <p:extLst>
      <p:ext uri="{BB962C8B-B14F-4D97-AF65-F5344CB8AC3E}">
        <p14:creationId xmlns:p14="http://schemas.microsoft.com/office/powerpoint/2010/main" val="420084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E021-FC2A-D344-5518-0FEC80861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CD689650-47F1-169B-9982-89102C5C5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DB87FE7-80FF-1C76-2F69-A90925CAE879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94F7048A-5AD1-D3C1-33ED-5923CB8541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419947"/>
              </p:ext>
            </p:extLst>
          </p:nvPr>
        </p:nvGraphicFramePr>
        <p:xfrm>
          <a:off x="5637881" y="1636024"/>
          <a:ext cx="4686300" cy="493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4686954" imgH="4933333" progId="Paint.Picture">
                  <p:embed/>
                </p:oleObj>
              </mc:Choice>
              <mc:Fallback>
                <p:oleObj name="位图图像" r:id="rId3" imgW="4686954" imgH="4933333" progId="Paint.Picture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881" y="1636024"/>
                        <a:ext cx="4686300" cy="493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2">
            <a:extLst>
              <a:ext uri="{FF2B5EF4-FFF2-40B4-BE49-F238E27FC236}">
                <a16:creationId xmlns:a16="http://schemas.microsoft.com/office/drawing/2014/main" id="{A70EB13D-9AE8-D5BC-4D26-89957FFB9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09" y="2863067"/>
            <a:ext cx="3031599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66"/>
                </a:solidFill>
                <a:ea typeface="黑体" panose="02010609060101010101" pitchFamily="49" charset="-122"/>
              </a:rPr>
              <a:t>④</a:t>
            </a:r>
            <a:r>
              <a:rPr lang="en-US" altLang="zh-CN" sz="2400" dirty="0">
                <a:solidFill>
                  <a:srgbClr val="000066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滚轮、小轴装配线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6CBE805B-0367-4247-54D0-BFC67C0BC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448" y="3611716"/>
            <a:ext cx="41857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由小轴、滚轮、开口销组成。</a:t>
            </a:r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4BDA62B7-A2F5-460B-4222-311ECB81EC65}"/>
              </a:ext>
            </a:extLst>
          </p:cNvPr>
          <p:cNvGrpSpPr>
            <a:grpSpLocks/>
          </p:cNvGrpSpPr>
          <p:nvPr/>
        </p:nvGrpSpPr>
        <p:grpSpPr bwMode="auto">
          <a:xfrm>
            <a:off x="7057106" y="1145487"/>
            <a:ext cx="2800350" cy="1074737"/>
            <a:chOff x="3597" y="136"/>
            <a:chExt cx="1745" cy="677"/>
          </a:xfrm>
        </p:grpSpPr>
        <p:sp>
          <p:nvSpPr>
            <p:cNvPr id="6" name="Line 15">
              <a:extLst>
                <a:ext uri="{FF2B5EF4-FFF2-40B4-BE49-F238E27FC236}">
                  <a16:creationId xmlns:a16="http://schemas.microsoft.com/office/drawing/2014/main" id="{BBA6A398-E2D3-A1E9-D562-4789BBFF1E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" y="396"/>
              <a:ext cx="187" cy="15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Line 16">
              <a:extLst>
                <a:ext uri="{FF2B5EF4-FFF2-40B4-BE49-F238E27FC236}">
                  <a16:creationId xmlns:a16="http://schemas.microsoft.com/office/drawing/2014/main" id="{04B27C65-0425-7467-910C-CDE4FD0E38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375"/>
              <a:ext cx="514" cy="43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B48287BF-4ED3-AFFE-D2AA-1435C79EA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9" y="136"/>
              <a:ext cx="4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小轴</a:t>
              </a:r>
            </a:p>
          </p:txBody>
        </p:sp>
        <p:sp>
          <p:nvSpPr>
            <p:cNvPr id="9" name="Text Box 18">
              <a:extLst>
                <a:ext uri="{FF2B5EF4-FFF2-40B4-BE49-F238E27FC236}">
                  <a16:creationId xmlns:a16="http://schemas.microsoft.com/office/drawing/2014/main" id="{EF49D992-BAF2-D5BF-5A04-AB6502271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9" y="143"/>
              <a:ext cx="4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滚轮</a:t>
              </a:r>
            </a:p>
          </p:txBody>
        </p:sp>
        <p:sp>
          <p:nvSpPr>
            <p:cNvPr id="10" name="Line 19">
              <a:extLst>
                <a:ext uri="{FF2B5EF4-FFF2-40B4-BE49-F238E27FC236}">
                  <a16:creationId xmlns:a16="http://schemas.microsoft.com/office/drawing/2014/main" id="{DD12BD0A-2C09-4708-089D-46D5458A2E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2" y="366"/>
              <a:ext cx="173" cy="2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Text Box 20">
              <a:extLst>
                <a:ext uri="{FF2B5EF4-FFF2-40B4-BE49-F238E27FC236}">
                  <a16:creationId xmlns:a16="http://schemas.microsoft.com/office/drawing/2014/main" id="{6DE0FF10-8E82-BBA8-097A-418ED778E4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7" y="137"/>
              <a:ext cx="5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开口销</a:t>
              </a:r>
            </a:p>
          </p:txBody>
        </p:sp>
      </p:grpSp>
      <p:graphicFrame>
        <p:nvGraphicFramePr>
          <p:cNvPr id="12" name="Object 21">
            <a:extLst>
              <a:ext uri="{FF2B5EF4-FFF2-40B4-BE49-F238E27FC236}">
                <a16:creationId xmlns:a16="http://schemas.microsoft.com/office/drawing/2014/main" id="{15F647B5-0D9A-AB36-A525-CA739E78AF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349029"/>
              </p:ext>
            </p:extLst>
          </p:nvPr>
        </p:nvGraphicFramePr>
        <p:xfrm>
          <a:off x="10417843" y="1580462"/>
          <a:ext cx="1446213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5" imgW="3362794" imgH="3142857" progId="Paint.Picture">
                  <p:embed/>
                </p:oleObj>
              </mc:Choice>
              <mc:Fallback>
                <p:oleObj name="位图图像" r:id="rId5" imgW="3362794" imgH="3142857" progId="Paint.Picture">
                  <p:embed/>
                  <p:pic>
                    <p:nvPicPr>
                      <p:cNvPr id="1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7843" y="1580462"/>
                        <a:ext cx="1446213" cy="1338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22">
            <a:extLst>
              <a:ext uri="{FF2B5EF4-FFF2-40B4-BE49-F238E27FC236}">
                <a16:creationId xmlns:a16="http://schemas.microsoft.com/office/drawing/2014/main" id="{9EB108C7-732E-E8ED-2487-F2FBD621EAB9}"/>
              </a:ext>
            </a:extLst>
          </p:cNvPr>
          <p:cNvGrpSpPr>
            <a:grpSpLocks/>
          </p:cNvGrpSpPr>
          <p:nvPr/>
        </p:nvGrpSpPr>
        <p:grpSpPr bwMode="auto">
          <a:xfrm>
            <a:off x="11198893" y="1459812"/>
            <a:ext cx="796925" cy="795337"/>
            <a:chOff x="3985" y="799"/>
            <a:chExt cx="502" cy="501"/>
          </a:xfrm>
        </p:grpSpPr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45059C84-4DCE-E4C6-FB27-88FF121AC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5" y="1031"/>
              <a:ext cx="140" cy="26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Text Box 24">
              <a:extLst>
                <a:ext uri="{FF2B5EF4-FFF2-40B4-BE49-F238E27FC236}">
                  <a16:creationId xmlns:a16="http://schemas.microsoft.com/office/drawing/2014/main" id="{CFC1A64F-BCD4-5323-4E4C-3F9FD7A02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9" y="799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66"/>
                  </a:solidFill>
                  <a:ea typeface="黑体" panose="02010609060101010101" pitchFamily="49" charset="-122"/>
                </a:rPr>
                <a:t>销孔</a:t>
              </a:r>
            </a:p>
          </p:txBody>
        </p:sp>
      </p:grpSp>
      <p:sp>
        <p:nvSpPr>
          <p:cNvPr id="17" name="Text Box 25">
            <a:extLst>
              <a:ext uri="{FF2B5EF4-FFF2-40B4-BE49-F238E27FC236}">
                <a16:creationId xmlns:a16="http://schemas.microsoft.com/office/drawing/2014/main" id="{D8062BE2-40C1-DCFF-4505-B07F83BDE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448" y="4221088"/>
            <a:ext cx="396044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用开口销将滚轮、小轴固定在柱塞上部。</a:t>
            </a:r>
          </a:p>
        </p:txBody>
      </p:sp>
      <p:sp>
        <p:nvSpPr>
          <p:cNvPr id="18" name="Text Box 87">
            <a:extLst>
              <a:ext uri="{FF2B5EF4-FFF2-40B4-BE49-F238E27FC236}">
                <a16:creationId xmlns:a16="http://schemas.microsoft.com/office/drawing/2014/main" id="{A9AF649C-2C9D-0047-2AB5-CAA534472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20826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实例分析</a:t>
            </a:r>
          </a:p>
        </p:txBody>
      </p:sp>
      <p:sp>
        <p:nvSpPr>
          <p:cNvPr id="19" name="Text Box 87">
            <a:extLst>
              <a:ext uri="{FF2B5EF4-FFF2-40B4-BE49-F238E27FC236}">
                <a16:creationId xmlns:a16="http://schemas.microsoft.com/office/drawing/2014/main" id="{38C58177-A9F3-B131-830B-5273C61F3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916832"/>
            <a:ext cx="20826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部件分析</a:t>
            </a:r>
          </a:p>
        </p:txBody>
      </p:sp>
    </p:spTree>
    <p:extLst>
      <p:ext uri="{BB962C8B-B14F-4D97-AF65-F5344CB8AC3E}">
        <p14:creationId xmlns:p14="http://schemas.microsoft.com/office/powerpoint/2010/main" val="297344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4E107-6A33-E1E5-A71E-256F8518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B90B27B-5DB0-9C9F-F93E-0CD03B415239}"/>
              </a:ext>
            </a:extLst>
          </p:cNvPr>
          <p:cNvSpPr/>
          <p:nvPr/>
        </p:nvSpPr>
        <p:spPr>
          <a:xfrm>
            <a:off x="5513500" y="0"/>
            <a:ext cx="6775188" cy="6298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1D9346F6-7625-AAB2-E3C8-F63CB0D6B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C0F1ED28-C428-5EA0-713A-09685B91B045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57875BE7-EC3F-CF75-7D0D-CF1AA91A6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20826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实例分析</a:t>
            </a:r>
          </a:p>
        </p:txBody>
      </p:sp>
      <p:sp>
        <p:nvSpPr>
          <p:cNvPr id="3" name="Text Box 87">
            <a:extLst>
              <a:ext uri="{FF2B5EF4-FFF2-40B4-BE49-F238E27FC236}">
                <a16:creationId xmlns:a16="http://schemas.microsoft.com/office/drawing/2014/main" id="{2F60BBF0-9FA3-7393-9C98-7FF7FB57F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916832"/>
            <a:ext cx="241604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选择主视图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628BDC9-C2A0-B7E7-0006-42B8FFE38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191" y="4976444"/>
            <a:ext cx="2905125" cy="3825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884B2A2E-E179-12F1-80AD-1CA8E7AD1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7473" y="2481029"/>
            <a:ext cx="36006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符合部件的工作位置；</a:t>
            </a: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FBFD5E92-8FE9-9FFF-4B5B-C06F5AB42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792" y="2440255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原则：</a:t>
            </a: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6F5321B0-31C2-5F2E-87A3-F10D425CB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8423" y="2900278"/>
            <a:ext cx="3877985" cy="1363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能清楚表达部件的工作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原理、主装配线零件的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装配关系或其结构特征。</a:t>
            </a:r>
          </a:p>
        </p:txBody>
      </p:sp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7F1414D8-A5CB-C1F2-73BF-CC1C349B85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22474"/>
              </p:ext>
            </p:extLst>
          </p:nvPr>
        </p:nvGraphicFramePr>
        <p:xfrm>
          <a:off x="7604373" y="1090910"/>
          <a:ext cx="3775075" cy="431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3467584" imgH="3962953" progId="Paint.Picture">
                  <p:embed/>
                </p:oleObj>
              </mc:Choice>
              <mc:Fallback>
                <p:oleObj name="位图图像" r:id="rId3" imgW="3467584" imgH="3962953" progId="Paint.Picture">
                  <p:embed/>
                  <p:pic>
                    <p:nvPicPr>
                      <p:cNvPr id="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373" y="1090910"/>
                        <a:ext cx="3775075" cy="431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>
            <a:extLst>
              <a:ext uri="{FF2B5EF4-FFF2-40B4-BE49-F238E27FC236}">
                <a16:creationId xmlns:a16="http://schemas.microsoft.com/office/drawing/2014/main" id="{86A9BC02-5250-E873-0F8F-8AA008B58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070" y="4181959"/>
            <a:ext cx="4185761" cy="2101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该方案能够反映三条装配线：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柱塞、柱塞套、泵体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排油部分单向阀体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滚轮、小轴部分</a:t>
            </a:r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5F08E1AE-C8C6-EFAA-E768-5979D5891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3629" y="4939138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</a:rPr>
              <a:t>主装配线</a:t>
            </a:r>
          </a:p>
        </p:txBody>
      </p:sp>
      <p:grpSp>
        <p:nvGrpSpPr>
          <p:cNvPr id="11" name="Group 18">
            <a:extLst>
              <a:ext uri="{FF2B5EF4-FFF2-40B4-BE49-F238E27FC236}">
                <a16:creationId xmlns:a16="http://schemas.microsoft.com/office/drawing/2014/main" id="{4FB925B1-6A9E-F4D8-B176-0E3B6A732604}"/>
              </a:ext>
            </a:extLst>
          </p:cNvPr>
          <p:cNvGrpSpPr>
            <a:grpSpLocks/>
          </p:cNvGrpSpPr>
          <p:nvPr/>
        </p:nvGrpSpPr>
        <p:grpSpPr bwMode="auto">
          <a:xfrm>
            <a:off x="6528048" y="1129010"/>
            <a:ext cx="2481262" cy="1130300"/>
            <a:chOff x="2515" y="504"/>
            <a:chExt cx="1563" cy="712"/>
          </a:xfrm>
        </p:grpSpPr>
        <p:sp>
          <p:nvSpPr>
            <p:cNvPr id="12" name="Line 19">
              <a:extLst>
                <a:ext uri="{FF2B5EF4-FFF2-40B4-BE49-F238E27FC236}">
                  <a16:creationId xmlns:a16="http://schemas.microsoft.com/office/drawing/2014/main" id="{5B324433-D725-CD1C-0997-085E298A6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1" y="772"/>
              <a:ext cx="567" cy="4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Text Box 20">
              <a:extLst>
                <a:ext uri="{FF2B5EF4-FFF2-40B4-BE49-F238E27FC236}">
                  <a16:creationId xmlns:a16="http://schemas.microsoft.com/office/drawing/2014/main" id="{D6013C3A-B87C-8C5D-6706-EFE48903C5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504"/>
              <a:ext cx="1249" cy="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ea typeface="黑体" panose="02010609060101010101" pitchFamily="49" charset="-122"/>
                </a:rPr>
                <a:t>柱塞、柱塞套、泵体装配线</a:t>
              </a:r>
            </a:p>
          </p:txBody>
        </p:sp>
      </p:grpSp>
      <p:grpSp>
        <p:nvGrpSpPr>
          <p:cNvPr id="14" name="Group 21">
            <a:extLst>
              <a:ext uri="{FF2B5EF4-FFF2-40B4-BE49-F238E27FC236}">
                <a16:creationId xmlns:a16="http://schemas.microsoft.com/office/drawing/2014/main" id="{F79643AA-1D6A-C685-BA2D-457AAD811BB2}"/>
              </a:ext>
            </a:extLst>
          </p:cNvPr>
          <p:cNvGrpSpPr>
            <a:grpSpLocks/>
          </p:cNvGrpSpPr>
          <p:nvPr/>
        </p:nvGrpSpPr>
        <p:grpSpPr bwMode="auto">
          <a:xfrm>
            <a:off x="9307760" y="668635"/>
            <a:ext cx="1919288" cy="835025"/>
            <a:chOff x="4266" y="214"/>
            <a:chExt cx="1209" cy="526"/>
          </a:xfrm>
        </p:grpSpPr>
        <p:sp>
          <p:nvSpPr>
            <p:cNvPr id="15" name="Line 22">
              <a:extLst>
                <a:ext uri="{FF2B5EF4-FFF2-40B4-BE49-F238E27FC236}">
                  <a16:creationId xmlns:a16="http://schemas.microsoft.com/office/drawing/2014/main" id="{0CC96E84-9642-8CE7-C5AE-CB6C11B488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66" y="444"/>
              <a:ext cx="316" cy="2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Text Box 23">
              <a:extLst>
                <a:ext uri="{FF2B5EF4-FFF2-40B4-BE49-F238E27FC236}">
                  <a16:creationId xmlns:a16="http://schemas.microsoft.com/office/drawing/2014/main" id="{20DE3A6D-0806-FF10-4B27-EED5212D22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9" y="214"/>
              <a:ext cx="886" cy="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ea typeface="黑体" panose="02010609060101010101" pitchFamily="49" charset="-122"/>
                </a:rPr>
                <a:t>滚轮、小轴装配线</a:t>
              </a:r>
            </a:p>
          </p:txBody>
        </p:sp>
      </p:grpSp>
      <p:grpSp>
        <p:nvGrpSpPr>
          <p:cNvPr id="18" name="Group 24">
            <a:extLst>
              <a:ext uri="{FF2B5EF4-FFF2-40B4-BE49-F238E27FC236}">
                <a16:creationId xmlns:a16="http://schemas.microsoft.com/office/drawing/2014/main" id="{6EBAFA86-C4F3-ACEA-B0E2-DE54BAB4D0FF}"/>
              </a:ext>
            </a:extLst>
          </p:cNvPr>
          <p:cNvGrpSpPr>
            <a:grpSpLocks/>
          </p:cNvGrpSpPr>
          <p:nvPr/>
        </p:nvGrpSpPr>
        <p:grpSpPr bwMode="auto">
          <a:xfrm>
            <a:off x="8199685" y="4869160"/>
            <a:ext cx="2586038" cy="1223963"/>
            <a:chOff x="3568" y="2860"/>
            <a:chExt cx="1629" cy="771"/>
          </a:xfrm>
        </p:grpSpPr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A37E1053-DAFA-F7C1-83DD-4E61078524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0" y="2860"/>
              <a:ext cx="567" cy="47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Text Box 26">
              <a:extLst>
                <a:ext uri="{FF2B5EF4-FFF2-40B4-BE49-F238E27FC236}">
                  <a16:creationId xmlns:a16="http://schemas.microsoft.com/office/drawing/2014/main" id="{8FD6CFF9-7C37-BBA4-5C6A-6AAB6424B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8" y="3189"/>
              <a:ext cx="1203" cy="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ea typeface="黑体" panose="02010609060101010101" pitchFamily="49" charset="-122"/>
                </a:rPr>
                <a:t>排油部分单向阀体装配线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1C86BD5-7398-DBB1-F78C-9501C085C831}"/>
              </a:ext>
            </a:extLst>
          </p:cNvPr>
          <p:cNvGrpSpPr/>
          <p:nvPr/>
        </p:nvGrpSpPr>
        <p:grpSpPr>
          <a:xfrm>
            <a:off x="10361702" y="5285085"/>
            <a:ext cx="506571" cy="922338"/>
            <a:chOff x="10707962" y="4780521"/>
            <a:chExt cx="506571" cy="922338"/>
          </a:xfrm>
        </p:grpSpPr>
        <p:sp>
          <p:nvSpPr>
            <p:cNvPr id="22" name="Text Box 15">
              <a:extLst>
                <a:ext uri="{FF2B5EF4-FFF2-40B4-BE49-F238E27FC236}">
                  <a16:creationId xmlns:a16="http://schemas.microsoft.com/office/drawing/2014/main" id="{B2169DE7-2186-CE91-2BE8-F4A265315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07962" y="4893234"/>
              <a:ext cx="492443" cy="809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排油</a:t>
              </a:r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783C32A7-0815-1F66-8A7D-E204BDCFD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14533" y="4780521"/>
              <a:ext cx="0" cy="47942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532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utoUpdateAnimBg="0"/>
      <p:bldP spid="6" grpId="0" autoUpdateAnimBg="0"/>
      <p:bldP spid="7" grpId="0" autoUpdateAnimBg="0"/>
      <p:bldP spid="9" grpId="0" autoUpdateAnimBg="0"/>
      <p:bldP spid="1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10292-50AA-74CE-4CA4-074C5D341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936B4BE5-F583-F6A9-9150-4484B2C24B99}"/>
              </a:ext>
            </a:extLst>
          </p:cNvPr>
          <p:cNvSpPr/>
          <p:nvPr/>
        </p:nvSpPr>
        <p:spPr>
          <a:xfrm>
            <a:off x="5513500" y="0"/>
            <a:ext cx="6775188" cy="6298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BB48FCA5-CEA2-BB06-4BE3-8165BB77A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990D950C-96D4-6142-911C-1944EAB9D2B2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9E5E2EAC-3C4B-9AE6-B7F5-ED38FFD59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20826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实例分析</a:t>
            </a:r>
          </a:p>
        </p:txBody>
      </p:sp>
      <p:sp>
        <p:nvSpPr>
          <p:cNvPr id="3" name="Text Box 87">
            <a:extLst>
              <a:ext uri="{FF2B5EF4-FFF2-40B4-BE49-F238E27FC236}">
                <a16:creationId xmlns:a16="http://schemas.microsoft.com/office/drawing/2014/main" id="{A56C6B33-491C-03D8-01D0-9FC17CD46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916832"/>
            <a:ext cx="274947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选择其它视图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ED1D03D3-DCCA-7CCC-878A-986A0132EE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789965"/>
              </p:ext>
            </p:extLst>
          </p:nvPr>
        </p:nvGraphicFramePr>
        <p:xfrm>
          <a:off x="6889553" y="183580"/>
          <a:ext cx="2797175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3467584" imgH="3962953" progId="Paint.Picture">
                  <p:embed/>
                </p:oleObj>
              </mc:Choice>
              <mc:Fallback>
                <p:oleObj name="位图图像" r:id="rId3" imgW="3467584" imgH="3962953" progId="Paint.Picture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553" y="183580"/>
                        <a:ext cx="2797175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>
            <a:extLst>
              <a:ext uri="{FF2B5EF4-FFF2-40B4-BE49-F238E27FC236}">
                <a16:creationId xmlns:a16="http://schemas.microsoft.com/office/drawing/2014/main" id="{7EAA80C3-32E3-0C95-E41B-CD1B17B9DE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395661"/>
              </p:ext>
            </p:extLst>
          </p:nvPr>
        </p:nvGraphicFramePr>
        <p:xfrm>
          <a:off x="9624816" y="561405"/>
          <a:ext cx="1992313" cy="283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5" imgW="2495238" imgH="3552381" progId="Paint.Picture">
                  <p:embed/>
                </p:oleObj>
              </mc:Choice>
              <mc:Fallback>
                <p:oleObj name="位图图像" r:id="rId5" imgW="2495238" imgH="3552381" progId="Paint.Picture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4816" y="561405"/>
                        <a:ext cx="1992313" cy="283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>
            <a:extLst>
              <a:ext uri="{FF2B5EF4-FFF2-40B4-BE49-F238E27FC236}">
                <a16:creationId xmlns:a16="http://schemas.microsoft.com/office/drawing/2014/main" id="{AB63040B-995C-BA9A-2BD3-75A156D5FD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031002"/>
              </p:ext>
            </p:extLst>
          </p:nvPr>
        </p:nvGraphicFramePr>
        <p:xfrm>
          <a:off x="6716516" y="3356992"/>
          <a:ext cx="3000375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7" imgW="3619048" imgH="3933333" progId="Paint.Picture">
                  <p:embed/>
                </p:oleObj>
              </mc:Choice>
              <mc:Fallback>
                <p:oleObj name="位图图像" r:id="rId7" imgW="3619048" imgH="3933333" progId="Paint.Picture">
                  <p:embed/>
                  <p:pic>
                    <p:nvPicPr>
                      <p:cNvPr id="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6516" y="3356992"/>
                        <a:ext cx="3000375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4">
            <a:extLst>
              <a:ext uri="{FF2B5EF4-FFF2-40B4-BE49-F238E27FC236}">
                <a16:creationId xmlns:a16="http://schemas.microsoft.com/office/drawing/2014/main" id="{B6681374-569C-6E7A-28E9-EC04CF219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7616" y="228030"/>
            <a:ext cx="525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i="1">
                <a:solidFill>
                  <a:srgbClr val="CC0000"/>
                </a:solidFill>
                <a:latin typeface="ISOCPEUR" pitchFamily="34" charset="0"/>
                <a:ea typeface="黑体" panose="02010609060101010101" pitchFamily="49" charset="-122"/>
              </a:rPr>
              <a:t>A</a:t>
            </a:r>
          </a:p>
        </p:txBody>
      </p:sp>
      <p:grpSp>
        <p:nvGrpSpPr>
          <p:cNvPr id="8" name="Group 15">
            <a:extLst>
              <a:ext uri="{FF2B5EF4-FFF2-40B4-BE49-F238E27FC236}">
                <a16:creationId xmlns:a16="http://schemas.microsoft.com/office/drawing/2014/main" id="{A12B1D6D-5037-F497-FDD0-A3EAED78E8BE}"/>
              </a:ext>
            </a:extLst>
          </p:cNvPr>
          <p:cNvGrpSpPr>
            <a:grpSpLocks/>
          </p:cNvGrpSpPr>
          <p:nvPr/>
        </p:nvGrpSpPr>
        <p:grpSpPr bwMode="auto">
          <a:xfrm>
            <a:off x="10224891" y="3376042"/>
            <a:ext cx="1085850" cy="455613"/>
            <a:chOff x="4635" y="2172"/>
            <a:chExt cx="631" cy="287"/>
          </a:xfrm>
        </p:grpSpPr>
        <p:sp>
          <p:nvSpPr>
            <p:cNvPr id="9" name="Line 16">
              <a:extLst>
                <a:ext uri="{FF2B5EF4-FFF2-40B4-BE49-F238E27FC236}">
                  <a16:creationId xmlns:a16="http://schemas.microsoft.com/office/drawing/2014/main" id="{234C0F93-F6A1-C73F-0C87-D1617C360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2183"/>
              <a:ext cx="0" cy="276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4BB240ED-BEB3-16AA-546D-25F9121D75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6" y="2172"/>
              <a:ext cx="0" cy="279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Text Box 18">
              <a:extLst>
                <a:ext uri="{FF2B5EF4-FFF2-40B4-BE49-F238E27FC236}">
                  <a16:creationId xmlns:a16="http://schemas.microsoft.com/office/drawing/2014/main" id="{90C24DE1-A7FD-CF33-1316-9BDF42E32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5" y="2182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CC0000"/>
                  </a:solidFill>
                  <a:ea typeface="黑体" panose="02010609060101010101" pitchFamily="49" charset="-122"/>
                </a:rPr>
                <a:t>往</a:t>
              </a:r>
              <a:endParaRPr lang="zh-CN" altLang="en-US" sz="2400" b="1">
                <a:solidFill>
                  <a:srgbClr val="CC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2" name="Text Box 19">
              <a:extLst>
                <a:ext uri="{FF2B5EF4-FFF2-40B4-BE49-F238E27FC236}">
                  <a16:creationId xmlns:a16="http://schemas.microsoft.com/office/drawing/2014/main" id="{C4F0E72A-9A2D-4D14-CA1F-7321F05C35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1" y="2185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CC0000"/>
                  </a:solidFill>
                  <a:ea typeface="黑体" panose="02010609060101010101" pitchFamily="49" charset="-122"/>
                </a:rPr>
                <a:t>复</a:t>
              </a:r>
              <a:endParaRPr lang="zh-CN" altLang="en-US" sz="2400" b="1">
                <a:solidFill>
                  <a:srgbClr val="CC00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13" name="Text Box 21">
            <a:extLst>
              <a:ext uri="{FF2B5EF4-FFF2-40B4-BE49-F238E27FC236}">
                <a16:creationId xmlns:a16="http://schemas.microsoft.com/office/drawing/2014/main" id="{3BAF3B96-EDB0-E546-E918-9D3341827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92" y="2758102"/>
            <a:ext cx="5233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分析：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主视图没有表达完全的内容</a:t>
            </a:r>
          </a:p>
        </p:txBody>
      </p:sp>
      <p:sp>
        <p:nvSpPr>
          <p:cNvPr id="14" name="Text Box 22">
            <a:extLst>
              <a:ext uri="{FF2B5EF4-FFF2-40B4-BE49-F238E27FC236}">
                <a16:creationId xmlns:a16="http://schemas.microsoft.com/office/drawing/2014/main" id="{19770727-CD1E-188D-8649-AE74B6FFD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754" y="224855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i="1">
                <a:solidFill>
                  <a:srgbClr val="CC0000"/>
                </a:solidFill>
                <a:latin typeface="ISOCPEUR" pitchFamily="34" charset="0"/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15" name="Line 23">
            <a:extLst>
              <a:ext uri="{FF2B5EF4-FFF2-40B4-BE49-F238E27FC236}">
                <a16:creationId xmlns:a16="http://schemas.microsoft.com/office/drawing/2014/main" id="{580E11F8-9D2C-00EB-C0BE-88B41C2DD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0529" y="458217"/>
            <a:ext cx="47466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Line 24">
            <a:extLst>
              <a:ext uri="{FF2B5EF4-FFF2-40B4-BE49-F238E27FC236}">
                <a16:creationId xmlns:a16="http://schemas.microsoft.com/office/drawing/2014/main" id="{03585159-C557-AC36-3C56-2CDAEACF4A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1" y="6281167"/>
            <a:ext cx="358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Text Box 25">
            <a:extLst>
              <a:ext uri="{FF2B5EF4-FFF2-40B4-BE49-F238E27FC236}">
                <a16:creationId xmlns:a16="http://schemas.microsoft.com/office/drawing/2014/main" id="{4EB02B11-C059-8F80-F98F-CC20D9548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041" y="5846192"/>
            <a:ext cx="854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b="1">
                <a:solidFill>
                  <a:srgbClr val="CC0000"/>
                </a:solidFill>
                <a:ea typeface="黑体" panose="02010609060101010101" pitchFamily="49" charset="-122"/>
              </a:rPr>
              <a:t>进油</a:t>
            </a:r>
          </a:p>
        </p:txBody>
      </p:sp>
      <p:sp>
        <p:nvSpPr>
          <p:cNvPr id="19" name="Text Box 26">
            <a:extLst>
              <a:ext uri="{FF2B5EF4-FFF2-40B4-BE49-F238E27FC236}">
                <a16:creationId xmlns:a16="http://schemas.microsoft.com/office/drawing/2014/main" id="{38705D32-BD47-31C0-E5E9-BAD6B0339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4616" y="3317305"/>
            <a:ext cx="839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b="1">
                <a:solidFill>
                  <a:srgbClr val="CC0000"/>
                </a:solidFill>
                <a:ea typeface="黑体" panose="02010609060101010101" pitchFamily="49" charset="-122"/>
              </a:rPr>
              <a:t>出油</a:t>
            </a:r>
          </a:p>
        </p:txBody>
      </p:sp>
      <p:sp>
        <p:nvSpPr>
          <p:cNvPr id="20" name="Text Box 27">
            <a:extLst>
              <a:ext uri="{FF2B5EF4-FFF2-40B4-BE49-F238E27FC236}">
                <a16:creationId xmlns:a16="http://schemas.microsoft.com/office/drawing/2014/main" id="{7A4489B3-8EF7-A752-353A-A190764D8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424" y="4516436"/>
            <a:ext cx="3908442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上下往复运动的动作原理</a:t>
            </a:r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8B3230-AEE9-A3EC-C886-20AD6745C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516" y="3510625"/>
            <a:ext cx="4835795" cy="424732"/>
          </a:xfrm>
          <a:prstGeom prst="rect">
            <a:avLst/>
          </a:prstGeom>
          <a:noFill/>
          <a:ln w="9525">
            <a:solidFill>
              <a:srgbClr val="DAEDF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吸油系统的装配关系及工作原理</a:t>
            </a:r>
          </a:p>
        </p:txBody>
      </p:sp>
      <p:sp>
        <p:nvSpPr>
          <p:cNvPr id="22" name="Rectangle 29">
            <a:extLst>
              <a:ext uri="{FF2B5EF4-FFF2-40B4-BE49-F238E27FC236}">
                <a16:creationId xmlns:a16="http://schemas.microsoft.com/office/drawing/2014/main" id="{0211197D-F82C-542A-2716-E1AE806AC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917" y="3908664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俯视图取局部剖视</a:t>
            </a: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D8F1B243-E7A8-9CF1-A57A-B4EAB86DC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595" y="4916016"/>
            <a:ext cx="125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向视图</a:t>
            </a:r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0142954F-C519-F938-AA8A-AADD9DE684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7842" y="4165839"/>
            <a:ext cx="4206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Line 32">
            <a:extLst>
              <a:ext uri="{FF2B5EF4-FFF2-40B4-BE49-F238E27FC236}">
                <a16:creationId xmlns:a16="http://schemas.microsoft.com/office/drawing/2014/main" id="{D4173D57-7A13-97D7-6CE2-AD650F3124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9532" y="5158904"/>
            <a:ext cx="403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E972E8CF-5E98-D910-1D99-49FD90ECB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443" y="4367880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  <a:ea typeface="黑体" panose="02010609060101010101" pitchFamily="49" charset="-122"/>
              </a:rPr>
              <a:t>剖切位置？</a:t>
            </a:r>
          </a:p>
        </p:txBody>
      </p:sp>
      <p:grpSp>
        <p:nvGrpSpPr>
          <p:cNvPr id="27" name="Group 34">
            <a:extLst>
              <a:ext uri="{FF2B5EF4-FFF2-40B4-BE49-F238E27FC236}">
                <a16:creationId xmlns:a16="http://schemas.microsoft.com/office/drawing/2014/main" id="{8E3C1E9C-FA39-DFF2-A148-9456D12A078F}"/>
              </a:ext>
            </a:extLst>
          </p:cNvPr>
          <p:cNvGrpSpPr>
            <a:grpSpLocks/>
          </p:cNvGrpSpPr>
          <p:nvPr/>
        </p:nvGrpSpPr>
        <p:grpSpPr bwMode="auto">
          <a:xfrm>
            <a:off x="9418441" y="458217"/>
            <a:ext cx="1095375" cy="566738"/>
            <a:chOff x="4238" y="326"/>
            <a:chExt cx="635" cy="357"/>
          </a:xfrm>
        </p:grpSpPr>
        <p:sp>
          <p:nvSpPr>
            <p:cNvPr id="28" name="Text Box 35">
              <a:extLst>
                <a:ext uri="{FF2B5EF4-FFF2-40B4-BE49-F238E27FC236}">
                  <a16:creationId xmlns:a16="http://schemas.microsoft.com/office/drawing/2014/main" id="{B3B67D82-007C-D4B1-FF48-A109C48E7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8" y="326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000000"/>
                  </a:solidFill>
                  <a:ea typeface="黑体" panose="02010609060101010101" pitchFamily="49" charset="-122"/>
                </a:rPr>
                <a:t>凸轮</a:t>
              </a:r>
            </a:p>
          </p:txBody>
        </p:sp>
        <p:sp>
          <p:nvSpPr>
            <p:cNvPr id="29" name="Line 36">
              <a:extLst>
                <a:ext uri="{FF2B5EF4-FFF2-40B4-BE49-F238E27FC236}">
                  <a16:creationId xmlns:a16="http://schemas.microsoft.com/office/drawing/2014/main" id="{4A73A44F-E820-FCFE-311F-59B48B01D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501"/>
              <a:ext cx="250" cy="18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0" name="Group 37">
            <a:extLst>
              <a:ext uri="{FF2B5EF4-FFF2-40B4-BE49-F238E27FC236}">
                <a16:creationId xmlns:a16="http://schemas.microsoft.com/office/drawing/2014/main" id="{F8B57CE3-93A2-4F69-FAAF-2CE36014EBAC}"/>
              </a:ext>
            </a:extLst>
          </p:cNvPr>
          <p:cNvGrpSpPr>
            <a:grpSpLocks/>
          </p:cNvGrpSpPr>
          <p:nvPr/>
        </p:nvGrpSpPr>
        <p:grpSpPr bwMode="auto">
          <a:xfrm>
            <a:off x="6595866" y="2017142"/>
            <a:ext cx="3429000" cy="461963"/>
            <a:chOff x="2342" y="1392"/>
            <a:chExt cx="2184" cy="291"/>
          </a:xfrm>
        </p:grpSpPr>
        <p:sp>
          <p:nvSpPr>
            <p:cNvPr id="31" name="Line 38">
              <a:extLst>
                <a:ext uri="{FF2B5EF4-FFF2-40B4-BE49-F238E27FC236}">
                  <a16:creationId xmlns:a16="http://schemas.microsoft.com/office/drawing/2014/main" id="{1DCF627F-1770-9BA1-D12B-197C1F6669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6" y="1649"/>
              <a:ext cx="120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39">
              <a:extLst>
                <a:ext uri="{FF2B5EF4-FFF2-40B4-BE49-F238E27FC236}">
                  <a16:creationId xmlns:a16="http://schemas.microsoft.com/office/drawing/2014/main" id="{135CB372-1B02-7700-637F-C7BEBBA87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5" y="1653"/>
              <a:ext cx="12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Text Box 40">
              <a:extLst>
                <a:ext uri="{FF2B5EF4-FFF2-40B4-BE49-F238E27FC236}">
                  <a16:creationId xmlns:a16="http://schemas.microsoft.com/office/drawing/2014/main" id="{2E38A662-AA36-A1D3-0580-E8099BFC2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" y="1392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1" i="1">
                  <a:solidFill>
                    <a:srgbClr val="CC0000"/>
                  </a:solidFill>
                  <a:latin typeface="ISOCPEUR" pitchFamily="34" charset="0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34" name="Text Box 41">
              <a:extLst>
                <a:ext uri="{FF2B5EF4-FFF2-40B4-BE49-F238E27FC236}">
                  <a16:creationId xmlns:a16="http://schemas.microsoft.com/office/drawing/2014/main" id="{F3CC1E27-B99F-AC62-C871-2654FEB76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2" y="1395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1" i="1" dirty="0">
                  <a:solidFill>
                    <a:srgbClr val="CC0000"/>
                  </a:solidFill>
                  <a:latin typeface="ISOCPEUR" pitchFamily="34" charset="0"/>
                  <a:ea typeface="黑体" panose="02010609060101010101" pitchFamily="49" charset="-122"/>
                </a:rPr>
                <a:t>B</a:t>
              </a:r>
            </a:p>
          </p:txBody>
        </p:sp>
      </p:grpSp>
      <p:sp>
        <p:nvSpPr>
          <p:cNvPr id="35" name="Text Box 42">
            <a:extLst>
              <a:ext uri="{FF2B5EF4-FFF2-40B4-BE49-F238E27FC236}">
                <a16:creationId xmlns:a16="http://schemas.microsoft.com/office/drawing/2014/main" id="{BB1B0613-02D4-1940-3CF6-E625770A4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3790" y="3164905"/>
            <a:ext cx="77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i="1" dirty="0">
                <a:solidFill>
                  <a:srgbClr val="CC0000"/>
                </a:solidFill>
                <a:latin typeface="ISOCPEUR" pitchFamily="34" charset="0"/>
                <a:ea typeface="黑体" panose="02010609060101010101" pitchFamily="49" charset="-122"/>
              </a:rPr>
              <a:t>B-B</a:t>
            </a:r>
          </a:p>
        </p:txBody>
      </p:sp>
      <p:grpSp>
        <p:nvGrpSpPr>
          <p:cNvPr id="36" name="Group 43">
            <a:extLst>
              <a:ext uri="{FF2B5EF4-FFF2-40B4-BE49-F238E27FC236}">
                <a16:creationId xmlns:a16="http://schemas.microsoft.com/office/drawing/2014/main" id="{D3345BA1-BC1C-CDEE-7D4A-7DEEE36C7345}"/>
              </a:ext>
            </a:extLst>
          </p:cNvPr>
          <p:cNvGrpSpPr>
            <a:grpSpLocks/>
          </p:cNvGrpSpPr>
          <p:nvPr/>
        </p:nvGrpSpPr>
        <p:grpSpPr bwMode="auto">
          <a:xfrm>
            <a:off x="7273729" y="2374330"/>
            <a:ext cx="2073275" cy="3914775"/>
            <a:chOff x="2887" y="1533"/>
            <a:chExt cx="1306" cy="2466"/>
          </a:xfrm>
        </p:grpSpPr>
        <p:grpSp>
          <p:nvGrpSpPr>
            <p:cNvPr id="38" name="Group 44">
              <a:extLst>
                <a:ext uri="{FF2B5EF4-FFF2-40B4-BE49-F238E27FC236}">
                  <a16:creationId xmlns:a16="http://schemas.microsoft.com/office/drawing/2014/main" id="{113CA337-DCCC-687F-214C-01B38247F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7" y="1554"/>
              <a:ext cx="1306" cy="2445"/>
              <a:chOff x="2887" y="1554"/>
              <a:chExt cx="1306" cy="2445"/>
            </a:xfrm>
          </p:grpSpPr>
          <p:grpSp>
            <p:nvGrpSpPr>
              <p:cNvPr id="41" name="Group 45">
                <a:extLst>
                  <a:ext uri="{FF2B5EF4-FFF2-40B4-BE49-F238E27FC236}">
                    <a16:creationId xmlns:a16="http://schemas.microsoft.com/office/drawing/2014/main" id="{8BAFC708-0E4F-A2DF-A144-EDDC1B0F2C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7" y="3048"/>
                <a:ext cx="1306" cy="951"/>
                <a:chOff x="2887" y="3048"/>
                <a:chExt cx="1306" cy="951"/>
              </a:xfrm>
            </p:grpSpPr>
            <p:sp>
              <p:nvSpPr>
                <p:cNvPr id="46" name="Line 46">
                  <a:extLst>
                    <a:ext uri="{FF2B5EF4-FFF2-40B4-BE49-F238E27FC236}">
                      <a16:creationId xmlns:a16="http://schemas.microsoft.com/office/drawing/2014/main" id="{6DF1E300-0549-2B9C-9A26-C1DCDAC810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7" y="3993"/>
                  <a:ext cx="519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Line 47">
                  <a:extLst>
                    <a:ext uri="{FF2B5EF4-FFF2-40B4-BE49-F238E27FC236}">
                      <a16:creationId xmlns:a16="http://schemas.microsoft.com/office/drawing/2014/main" id="{C3056DB4-0F8F-7045-29D0-C96852E722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00" y="3075"/>
                  <a:ext cx="0" cy="924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" name="Line 48">
                  <a:extLst>
                    <a:ext uri="{FF2B5EF4-FFF2-40B4-BE49-F238E27FC236}">
                      <a16:creationId xmlns:a16="http://schemas.microsoft.com/office/drawing/2014/main" id="{5C4F71FE-3B84-3346-67FD-53DC32FEC5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9" y="3076"/>
                  <a:ext cx="789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Line 49">
                  <a:extLst>
                    <a:ext uri="{FF2B5EF4-FFF2-40B4-BE49-F238E27FC236}">
                      <a16:creationId xmlns:a16="http://schemas.microsoft.com/office/drawing/2014/main" id="{C88141BC-A32C-3C96-BD5F-0410A8FB1E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136" y="3051"/>
                  <a:ext cx="57" cy="53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Line 50">
                  <a:extLst>
                    <a:ext uri="{FF2B5EF4-FFF2-40B4-BE49-F238E27FC236}">
                      <a16:creationId xmlns:a16="http://schemas.microsoft.com/office/drawing/2014/main" id="{A630A6FB-3B31-69C7-8C81-D1B8164094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40" y="3048"/>
                  <a:ext cx="53" cy="5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42" name="Group 51">
                <a:extLst>
                  <a:ext uri="{FF2B5EF4-FFF2-40B4-BE49-F238E27FC236}">
                    <a16:creationId xmlns:a16="http://schemas.microsoft.com/office/drawing/2014/main" id="{8849AB0E-E178-3DD3-2C2A-CDF32E2054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88" y="1554"/>
                <a:ext cx="777" cy="801"/>
                <a:chOff x="3273" y="1644"/>
                <a:chExt cx="840" cy="801"/>
              </a:xfrm>
            </p:grpSpPr>
            <p:sp>
              <p:nvSpPr>
                <p:cNvPr id="43" name="Line 52">
                  <a:extLst>
                    <a:ext uri="{FF2B5EF4-FFF2-40B4-BE49-F238E27FC236}">
                      <a16:creationId xmlns:a16="http://schemas.microsoft.com/office/drawing/2014/main" id="{03BB103B-EE5F-4DC2-1313-4116CACAEA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3" y="1650"/>
                  <a:ext cx="840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Line 53">
                  <a:extLst>
                    <a:ext uri="{FF2B5EF4-FFF2-40B4-BE49-F238E27FC236}">
                      <a16:creationId xmlns:a16="http://schemas.microsoft.com/office/drawing/2014/main" id="{B688F3AC-DBEC-BDC9-2E63-F6B28489A3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10" y="1644"/>
                  <a:ext cx="0" cy="639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" name="Line 54">
                  <a:extLst>
                    <a:ext uri="{FF2B5EF4-FFF2-40B4-BE49-F238E27FC236}">
                      <a16:creationId xmlns:a16="http://schemas.microsoft.com/office/drawing/2014/main" id="{805F2C36-B6BC-1484-CC93-E0F9FC7B31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10" y="2253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39" name="Line 55">
              <a:extLst>
                <a:ext uri="{FF2B5EF4-FFF2-40B4-BE49-F238E27FC236}">
                  <a16:creationId xmlns:a16="http://schemas.microsoft.com/office/drawing/2014/main" id="{63ED3DAC-8178-6466-CD84-DC0EC882E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8" y="1533"/>
              <a:ext cx="53" cy="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56">
              <a:extLst>
                <a:ext uri="{FF2B5EF4-FFF2-40B4-BE49-F238E27FC236}">
                  <a16:creationId xmlns:a16="http://schemas.microsoft.com/office/drawing/2014/main" id="{55E01707-D1BE-155B-26F5-1D8A9B8144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0" y="1533"/>
              <a:ext cx="53" cy="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241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13" grpId="0" autoUpdateAnimBg="0"/>
      <p:bldP spid="14" grpId="0" autoUpdateAnimBg="0"/>
      <p:bldP spid="15" grpId="0" animBg="1"/>
      <p:bldP spid="17" grpId="0" animBg="1"/>
      <p:bldP spid="18" grpId="0" autoUpdateAnimBg="0"/>
      <p:bldP spid="19" grpId="0" autoUpdateAnimBg="0"/>
      <p:bldP spid="20" grpId="0" autoUpdateAnimBg="0"/>
      <p:bldP spid="21" grpId="0" animBg="1" autoUpdateAnimBg="0"/>
      <p:bldP spid="22" grpId="0" build="p" autoUpdateAnimBg="0" advAuto="0"/>
      <p:bldP spid="23" grpId="0" build="p" autoUpdateAnimBg="0" advAuto="0"/>
      <p:bldP spid="24" grpId="0" animBg="1"/>
      <p:bldP spid="25" grpId="0" animBg="1"/>
      <p:bldP spid="26" grpId="0" autoUpdateAnimBg="0"/>
      <p:bldP spid="26" grpId="1"/>
      <p:bldP spid="3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3500A-8CE1-696E-4EBC-51C1C2EB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>
            <a:extLst>
              <a:ext uri="{FF2B5EF4-FFF2-40B4-BE49-F238E27FC236}">
                <a16:creationId xmlns:a16="http://schemas.microsoft.com/office/drawing/2014/main" id="{E8286650-5190-842A-B63D-3A05443CD362}"/>
              </a:ext>
            </a:extLst>
          </p:cNvPr>
          <p:cNvSpPr/>
          <p:nvPr/>
        </p:nvSpPr>
        <p:spPr>
          <a:xfrm>
            <a:off x="5513500" y="0"/>
            <a:ext cx="6775188" cy="6298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221FC1F6-D031-3C2C-0D23-ED9E738DB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29220959-91DE-E2B5-FC2F-B57A8804CE39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3F43B751-0AB1-D460-3069-41E1DE600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20826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实例分析</a:t>
            </a:r>
          </a:p>
        </p:txBody>
      </p:sp>
      <p:sp>
        <p:nvSpPr>
          <p:cNvPr id="52" name="Text Box 87">
            <a:extLst>
              <a:ext uri="{FF2B5EF4-FFF2-40B4-BE49-F238E27FC236}">
                <a16:creationId xmlns:a16="http://schemas.microsoft.com/office/drawing/2014/main" id="{DDF2DF67-8601-858E-9386-113318FAA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1916832"/>
            <a:ext cx="441659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检查、比较、调整、修改</a:t>
            </a:r>
          </a:p>
        </p:txBody>
      </p:sp>
      <p:sp>
        <p:nvSpPr>
          <p:cNvPr id="53" name="Text Box 9">
            <a:extLst>
              <a:ext uri="{FF2B5EF4-FFF2-40B4-BE49-F238E27FC236}">
                <a16:creationId xmlns:a16="http://schemas.microsoft.com/office/drawing/2014/main" id="{ABB1C242-986D-2323-6380-3F70B89B6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32" y="4474452"/>
            <a:ext cx="46378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与其他部件的连接、安装关系</a:t>
            </a:r>
            <a:endParaRPr lang="zh-CN" altLang="en-US" sz="2800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54" name="Text Box 10">
            <a:extLst>
              <a:ext uri="{FF2B5EF4-FFF2-40B4-BE49-F238E27FC236}">
                <a16:creationId xmlns:a16="http://schemas.microsoft.com/office/drawing/2014/main" id="{892D16C8-2F88-287D-F7E9-24FE7E4B3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7893" y="5692513"/>
            <a:ext cx="2728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最后确定最佳方案</a:t>
            </a:r>
          </a:p>
        </p:txBody>
      </p:sp>
      <p:sp>
        <p:nvSpPr>
          <p:cNvPr id="55" name="Rectangle 12">
            <a:extLst>
              <a:ext uri="{FF2B5EF4-FFF2-40B4-BE49-F238E27FC236}">
                <a16:creationId xmlns:a16="http://schemas.microsoft.com/office/drawing/2014/main" id="{5C1A198F-DC5E-DFE8-A7A7-2FEF803AA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2492896"/>
            <a:ext cx="357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是否表达完全、正确    </a:t>
            </a:r>
          </a:p>
        </p:txBody>
      </p:sp>
      <p:sp>
        <p:nvSpPr>
          <p:cNvPr id="56" name="Rectangle 13">
            <a:extLst>
              <a:ext uri="{FF2B5EF4-FFF2-40B4-BE49-F238E27FC236}">
                <a16:creationId xmlns:a16="http://schemas.microsoft.com/office/drawing/2014/main" id="{5C565585-DE4B-67A2-34C2-57AD4EC02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3527329"/>
            <a:ext cx="49838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与工作原理有直接关系的零件的</a:t>
            </a:r>
            <a:endParaRPr lang="en-US" altLang="zh-CN" sz="24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关键结构、形状是否确定</a:t>
            </a:r>
          </a:p>
        </p:txBody>
      </p:sp>
      <p:sp>
        <p:nvSpPr>
          <p:cNvPr id="57" name="Rectangle 14">
            <a:extLst>
              <a:ext uri="{FF2B5EF4-FFF2-40B4-BE49-F238E27FC236}">
                <a16:creationId xmlns:a16="http://schemas.microsoft.com/office/drawing/2014/main" id="{2CAC1D32-BFAD-A302-5533-D71C2CC89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052243"/>
            <a:ext cx="295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有无其他方案</a:t>
            </a:r>
          </a:p>
        </p:txBody>
      </p:sp>
      <p:sp>
        <p:nvSpPr>
          <p:cNvPr id="58" name="Rectangle 15">
            <a:extLst>
              <a:ext uri="{FF2B5EF4-FFF2-40B4-BE49-F238E27FC236}">
                <a16:creationId xmlns:a16="http://schemas.microsoft.com/office/drawing/2014/main" id="{95813FA5-1AF5-CE6C-3EBA-EDA202EC6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4010" y="2971017"/>
            <a:ext cx="4493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工作原理、各装配线、投影关系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208668E-5273-CB41-D34D-090637A7C373}"/>
              </a:ext>
            </a:extLst>
          </p:cNvPr>
          <p:cNvGrpSpPr/>
          <p:nvPr/>
        </p:nvGrpSpPr>
        <p:grpSpPr>
          <a:xfrm>
            <a:off x="6456040" y="188640"/>
            <a:ext cx="5145088" cy="6434137"/>
            <a:chOff x="6353922" y="98715"/>
            <a:chExt cx="5145088" cy="6434137"/>
          </a:xfrm>
        </p:grpSpPr>
        <p:graphicFrame>
          <p:nvGraphicFramePr>
            <p:cNvPr id="60" name="Object 4">
              <a:extLst>
                <a:ext uri="{FF2B5EF4-FFF2-40B4-BE49-F238E27FC236}">
                  <a16:creationId xmlns:a16="http://schemas.microsoft.com/office/drawing/2014/main" id="{4F7127D2-BC2B-71AD-60C7-BFB8759F80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9335402"/>
                </p:ext>
              </p:extLst>
            </p:nvPr>
          </p:nvGraphicFramePr>
          <p:xfrm>
            <a:off x="6771434" y="98715"/>
            <a:ext cx="2797175" cy="3197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3" imgW="3467584" imgH="3962953" progId="Paint.Picture">
                    <p:embed/>
                  </p:oleObj>
                </mc:Choice>
                <mc:Fallback>
                  <p:oleObj name="位图图像" r:id="rId3" imgW="3467584" imgH="3962953" progId="Paint.Picture">
                    <p:embed/>
                    <p:pic>
                      <p:nvPicPr>
                        <p:cNvPr id="4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1434" y="98715"/>
                          <a:ext cx="2797175" cy="3197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12">
              <a:extLst>
                <a:ext uri="{FF2B5EF4-FFF2-40B4-BE49-F238E27FC236}">
                  <a16:creationId xmlns:a16="http://schemas.microsoft.com/office/drawing/2014/main" id="{C0B3D7A4-AD30-A155-C19E-1C75986B74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8280549"/>
                </p:ext>
              </p:extLst>
            </p:nvPr>
          </p:nvGraphicFramePr>
          <p:xfrm>
            <a:off x="9506697" y="476540"/>
            <a:ext cx="1992313" cy="2836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5" imgW="2495238" imgH="3552381" progId="Paint.Picture">
                    <p:embed/>
                  </p:oleObj>
                </mc:Choice>
                <mc:Fallback>
                  <p:oleObj name="位图图像" r:id="rId5" imgW="2495238" imgH="3552381" progId="Paint.Picture">
                    <p:embed/>
                    <p:pic>
                      <p:nvPicPr>
                        <p:cNvPr id="4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06697" y="476540"/>
                          <a:ext cx="1992313" cy="2836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13">
              <a:extLst>
                <a:ext uri="{FF2B5EF4-FFF2-40B4-BE49-F238E27FC236}">
                  <a16:creationId xmlns:a16="http://schemas.microsoft.com/office/drawing/2014/main" id="{D9BA2618-438B-51C9-C8C1-85B05C9A64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2027857"/>
                </p:ext>
              </p:extLst>
            </p:nvPr>
          </p:nvGraphicFramePr>
          <p:xfrm>
            <a:off x="6598397" y="3272127"/>
            <a:ext cx="3000375" cy="326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7" imgW="3619048" imgH="3933333" progId="Paint.Picture">
                    <p:embed/>
                  </p:oleObj>
                </mc:Choice>
                <mc:Fallback>
                  <p:oleObj name="位图图像" r:id="rId7" imgW="3619048" imgH="3933333" progId="Paint.Picture">
                    <p:embed/>
                    <p:pic>
                      <p:nvPicPr>
                        <p:cNvPr id="5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8397" y="3272127"/>
                          <a:ext cx="3000375" cy="3260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Text Box 14">
              <a:extLst>
                <a:ext uri="{FF2B5EF4-FFF2-40B4-BE49-F238E27FC236}">
                  <a16:creationId xmlns:a16="http://schemas.microsoft.com/office/drawing/2014/main" id="{BCD1206D-1732-40AC-B167-0DEBD00AF3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19497" y="143165"/>
              <a:ext cx="5254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1" i="1">
                  <a:solidFill>
                    <a:srgbClr val="CC0000"/>
                  </a:solidFill>
                  <a:latin typeface="ISOCPEUR" pitchFamily="34" charset="0"/>
                  <a:ea typeface="黑体" panose="02010609060101010101" pitchFamily="49" charset="-122"/>
                </a:rPr>
                <a:t>A</a:t>
              </a:r>
            </a:p>
          </p:txBody>
        </p:sp>
        <p:grpSp>
          <p:nvGrpSpPr>
            <p:cNvPr id="64" name="Group 15">
              <a:extLst>
                <a:ext uri="{FF2B5EF4-FFF2-40B4-BE49-F238E27FC236}">
                  <a16:creationId xmlns:a16="http://schemas.microsoft.com/office/drawing/2014/main" id="{BA4D52FC-2D4F-062C-D86E-3C585DFF6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06772" y="3291177"/>
              <a:ext cx="1085850" cy="455613"/>
              <a:chOff x="4635" y="2172"/>
              <a:chExt cx="631" cy="287"/>
            </a:xfrm>
          </p:grpSpPr>
          <p:sp>
            <p:nvSpPr>
              <p:cNvPr id="93" name="Line 16">
                <a:extLst>
                  <a:ext uri="{FF2B5EF4-FFF2-40B4-BE49-F238E27FC236}">
                    <a16:creationId xmlns:a16="http://schemas.microsoft.com/office/drawing/2014/main" id="{395009F0-C93A-2A5E-946E-3CAF62308B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0" y="2183"/>
                <a:ext cx="0" cy="276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4" name="Line 17">
                <a:extLst>
                  <a:ext uri="{FF2B5EF4-FFF2-40B4-BE49-F238E27FC236}">
                    <a16:creationId xmlns:a16="http://schemas.microsoft.com/office/drawing/2014/main" id="{F7B6772D-B294-2557-E060-DDD64A0982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06" y="2172"/>
                <a:ext cx="0" cy="279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" name="Text Box 18">
                <a:extLst>
                  <a:ext uri="{FF2B5EF4-FFF2-40B4-BE49-F238E27FC236}">
                    <a16:creationId xmlns:a16="http://schemas.microsoft.com/office/drawing/2014/main" id="{D057BDD4-DB7B-DFA5-1D19-EACF83062D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5" y="2182"/>
                <a:ext cx="2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2000" b="1">
                    <a:solidFill>
                      <a:srgbClr val="CC0000"/>
                    </a:solidFill>
                    <a:ea typeface="黑体" panose="02010609060101010101" pitchFamily="49" charset="-122"/>
                  </a:rPr>
                  <a:t>往</a:t>
                </a:r>
                <a:endParaRPr lang="zh-CN" altLang="en-US" sz="2400" b="1">
                  <a:solidFill>
                    <a:srgbClr val="CC00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96" name="Text Box 19">
                <a:extLst>
                  <a:ext uri="{FF2B5EF4-FFF2-40B4-BE49-F238E27FC236}">
                    <a16:creationId xmlns:a16="http://schemas.microsoft.com/office/drawing/2014/main" id="{853010DE-07F2-77F4-9386-0BA728BA07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1" y="2185"/>
                <a:ext cx="25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2000" b="1">
                    <a:solidFill>
                      <a:srgbClr val="CC0000"/>
                    </a:solidFill>
                    <a:ea typeface="黑体" panose="02010609060101010101" pitchFamily="49" charset="-122"/>
                  </a:rPr>
                  <a:t>复</a:t>
                </a:r>
                <a:endParaRPr lang="zh-CN" altLang="en-US" sz="2400" b="1">
                  <a:solidFill>
                    <a:srgbClr val="CC0000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65" name="Text Box 22">
              <a:extLst>
                <a:ext uri="{FF2B5EF4-FFF2-40B4-BE49-F238E27FC236}">
                  <a16:creationId xmlns:a16="http://schemas.microsoft.com/office/drawing/2014/main" id="{4A85E2D1-A6CB-A8E5-FD21-2ED22CFA2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3635" y="139990"/>
              <a:ext cx="3667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1" i="1">
                  <a:solidFill>
                    <a:srgbClr val="CC0000"/>
                  </a:solidFill>
                  <a:latin typeface="ISOCPEUR" pitchFamily="34" charset="0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66" name="Line 23">
              <a:extLst>
                <a:ext uri="{FF2B5EF4-FFF2-40B4-BE49-F238E27FC236}">
                  <a16:creationId xmlns:a16="http://schemas.microsoft.com/office/drawing/2014/main" id="{7926FA6D-D747-5F38-379A-F3FC52A73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52410" y="373352"/>
              <a:ext cx="47466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24">
              <a:extLst>
                <a:ext uri="{FF2B5EF4-FFF2-40B4-BE49-F238E27FC236}">
                  <a16:creationId xmlns:a16="http://schemas.microsoft.com/office/drawing/2014/main" id="{CAAB32D0-E64A-ED91-4E65-2260964991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5872" y="6196302"/>
              <a:ext cx="35877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Text Box 25">
              <a:extLst>
                <a:ext uri="{FF2B5EF4-FFF2-40B4-BE49-F238E27FC236}">
                  <a16:creationId xmlns:a16="http://schemas.microsoft.com/office/drawing/2014/main" id="{FB3CCCC3-88D6-B241-318D-CF40C1271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3922" y="5761327"/>
              <a:ext cx="8540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CC0000"/>
                  </a:solidFill>
                  <a:ea typeface="黑体" panose="02010609060101010101" pitchFamily="49" charset="-122"/>
                </a:rPr>
                <a:t>进油</a:t>
              </a:r>
            </a:p>
          </p:txBody>
        </p:sp>
        <p:sp>
          <p:nvSpPr>
            <p:cNvPr id="69" name="Text Box 26">
              <a:extLst>
                <a:ext uri="{FF2B5EF4-FFF2-40B4-BE49-F238E27FC236}">
                  <a16:creationId xmlns:a16="http://schemas.microsoft.com/office/drawing/2014/main" id="{201DA30B-D57E-2D2C-FC64-156D0E507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76497" y="3232440"/>
              <a:ext cx="8397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b="1">
                  <a:solidFill>
                    <a:srgbClr val="CC0000"/>
                  </a:solidFill>
                  <a:ea typeface="黑体" panose="02010609060101010101" pitchFamily="49" charset="-122"/>
                </a:rPr>
                <a:t>出油</a:t>
              </a:r>
            </a:p>
          </p:txBody>
        </p:sp>
        <p:grpSp>
          <p:nvGrpSpPr>
            <p:cNvPr id="70" name="Group 34">
              <a:extLst>
                <a:ext uri="{FF2B5EF4-FFF2-40B4-BE49-F238E27FC236}">
                  <a16:creationId xmlns:a16="http://schemas.microsoft.com/office/drawing/2014/main" id="{13DB1AB1-AEB2-E8BE-37D9-CAC21FBE54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00322" y="373352"/>
              <a:ext cx="1095375" cy="566738"/>
              <a:chOff x="4238" y="326"/>
              <a:chExt cx="635" cy="357"/>
            </a:xfrm>
          </p:grpSpPr>
          <p:sp>
            <p:nvSpPr>
              <p:cNvPr id="91" name="Text Box 35">
                <a:extLst>
                  <a:ext uri="{FF2B5EF4-FFF2-40B4-BE49-F238E27FC236}">
                    <a16:creationId xmlns:a16="http://schemas.microsoft.com/office/drawing/2014/main" id="{F95F4D8A-5FF6-4BBD-8D70-0E3B001701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8" y="326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2000" b="1">
                    <a:solidFill>
                      <a:srgbClr val="000000"/>
                    </a:solidFill>
                    <a:ea typeface="黑体" panose="02010609060101010101" pitchFamily="49" charset="-122"/>
                  </a:rPr>
                  <a:t>凸轮</a:t>
                </a:r>
              </a:p>
            </p:txBody>
          </p:sp>
          <p:sp>
            <p:nvSpPr>
              <p:cNvPr id="92" name="Line 36">
                <a:extLst>
                  <a:ext uri="{FF2B5EF4-FFF2-40B4-BE49-F238E27FC236}">
                    <a16:creationId xmlns:a16="http://schemas.microsoft.com/office/drawing/2014/main" id="{07E68665-24AD-69FF-AFBF-1B16032416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3" y="501"/>
                <a:ext cx="250" cy="182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1" name="Group 37">
              <a:extLst>
                <a:ext uri="{FF2B5EF4-FFF2-40B4-BE49-F238E27FC236}">
                  <a16:creationId xmlns:a16="http://schemas.microsoft.com/office/drawing/2014/main" id="{15FE81DE-A957-69B2-5B26-E571D59E8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7747" y="1932277"/>
              <a:ext cx="3429000" cy="461963"/>
              <a:chOff x="2342" y="1392"/>
              <a:chExt cx="2184" cy="291"/>
            </a:xfrm>
          </p:grpSpPr>
          <p:sp>
            <p:nvSpPr>
              <p:cNvPr id="87" name="Line 38">
                <a:extLst>
                  <a:ext uri="{FF2B5EF4-FFF2-40B4-BE49-F238E27FC236}">
                    <a16:creationId xmlns:a16="http://schemas.microsoft.com/office/drawing/2014/main" id="{C0899382-8E95-D6BD-7FCD-8A942B444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86" y="1649"/>
                <a:ext cx="120" cy="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8" name="Line 39">
                <a:extLst>
                  <a:ext uri="{FF2B5EF4-FFF2-40B4-BE49-F238E27FC236}">
                    <a16:creationId xmlns:a16="http://schemas.microsoft.com/office/drawing/2014/main" id="{F0C035E0-E4CF-25FC-F0F2-66C9CFAD2B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5" y="1653"/>
                <a:ext cx="126" cy="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" name="Text Box 40">
                <a:extLst>
                  <a:ext uri="{FF2B5EF4-FFF2-40B4-BE49-F238E27FC236}">
                    <a16:creationId xmlns:a16="http://schemas.microsoft.com/office/drawing/2014/main" id="{1D5ED352-72A3-1C94-1E5F-5817AFBBEA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5" y="1392"/>
                <a:ext cx="22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400" b="1" i="1">
                    <a:solidFill>
                      <a:srgbClr val="CC0000"/>
                    </a:solidFill>
                    <a:latin typeface="ISOCPEUR" pitchFamily="34" charset="0"/>
                    <a:ea typeface="黑体" panose="02010609060101010101" pitchFamily="49" charset="-122"/>
                  </a:rPr>
                  <a:t>B</a:t>
                </a:r>
              </a:p>
            </p:txBody>
          </p:sp>
          <p:sp>
            <p:nvSpPr>
              <p:cNvPr id="90" name="Text Box 41">
                <a:extLst>
                  <a:ext uri="{FF2B5EF4-FFF2-40B4-BE49-F238E27FC236}">
                    <a16:creationId xmlns:a16="http://schemas.microsoft.com/office/drawing/2014/main" id="{B88F2136-75C6-0688-B9B0-A5FC11A8C1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2" y="1395"/>
                <a:ext cx="22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2400" b="1" i="1" dirty="0">
                    <a:solidFill>
                      <a:srgbClr val="CC0000"/>
                    </a:solidFill>
                    <a:latin typeface="ISOCPEUR" pitchFamily="34" charset="0"/>
                    <a:ea typeface="黑体" panose="02010609060101010101" pitchFamily="49" charset="-122"/>
                  </a:rPr>
                  <a:t>B</a:t>
                </a:r>
              </a:p>
            </p:txBody>
          </p:sp>
        </p:grpSp>
        <p:sp>
          <p:nvSpPr>
            <p:cNvPr id="72" name="Text Box 42">
              <a:extLst>
                <a:ext uri="{FF2B5EF4-FFF2-40B4-BE49-F238E27FC236}">
                  <a16:creationId xmlns:a16="http://schemas.microsoft.com/office/drawing/2014/main" id="{5F11246F-A88E-5430-56D5-EAECEA2F0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5671" y="3080040"/>
              <a:ext cx="77743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1" i="1" dirty="0">
                  <a:solidFill>
                    <a:srgbClr val="CC0000"/>
                  </a:solidFill>
                  <a:latin typeface="ISOCPEUR" pitchFamily="34" charset="0"/>
                  <a:ea typeface="黑体" panose="02010609060101010101" pitchFamily="49" charset="-122"/>
                </a:rPr>
                <a:t>B-B</a:t>
              </a:r>
            </a:p>
          </p:txBody>
        </p:sp>
        <p:grpSp>
          <p:nvGrpSpPr>
            <p:cNvPr id="73" name="Group 43">
              <a:extLst>
                <a:ext uri="{FF2B5EF4-FFF2-40B4-BE49-F238E27FC236}">
                  <a16:creationId xmlns:a16="http://schemas.microsoft.com/office/drawing/2014/main" id="{0F3058ED-F275-F617-6363-1B407A8CD0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55610" y="2289465"/>
              <a:ext cx="2073275" cy="3914775"/>
              <a:chOff x="2887" y="1533"/>
              <a:chExt cx="1306" cy="2466"/>
            </a:xfrm>
          </p:grpSpPr>
          <p:grpSp>
            <p:nvGrpSpPr>
              <p:cNvPr id="74" name="Group 44">
                <a:extLst>
                  <a:ext uri="{FF2B5EF4-FFF2-40B4-BE49-F238E27FC236}">
                    <a16:creationId xmlns:a16="http://schemas.microsoft.com/office/drawing/2014/main" id="{AEE6821F-369B-8390-8B01-CE31CAD886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7" y="1554"/>
                <a:ext cx="1306" cy="2445"/>
                <a:chOff x="2887" y="1554"/>
                <a:chExt cx="1306" cy="2445"/>
              </a:xfrm>
            </p:grpSpPr>
            <p:grpSp>
              <p:nvGrpSpPr>
                <p:cNvPr id="77" name="Group 45">
                  <a:extLst>
                    <a:ext uri="{FF2B5EF4-FFF2-40B4-BE49-F238E27FC236}">
                      <a16:creationId xmlns:a16="http://schemas.microsoft.com/office/drawing/2014/main" id="{6335B5FD-1942-5C21-9FCF-7FA8C733E3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87" y="3048"/>
                  <a:ext cx="1306" cy="951"/>
                  <a:chOff x="2887" y="3048"/>
                  <a:chExt cx="1306" cy="951"/>
                </a:xfrm>
              </p:grpSpPr>
              <p:sp>
                <p:nvSpPr>
                  <p:cNvPr id="82" name="Line 46">
                    <a:extLst>
                      <a:ext uri="{FF2B5EF4-FFF2-40B4-BE49-F238E27FC236}">
                        <a16:creationId xmlns:a16="http://schemas.microsoft.com/office/drawing/2014/main" id="{B6F94899-B71F-AFFC-4401-575C5EB12E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7" y="3993"/>
                    <a:ext cx="51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3" name="Line 47">
                    <a:extLst>
                      <a:ext uri="{FF2B5EF4-FFF2-40B4-BE49-F238E27FC236}">
                        <a16:creationId xmlns:a16="http://schemas.microsoft.com/office/drawing/2014/main" id="{35409A9A-A69E-5502-39A3-2E6D767092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00" y="3075"/>
                    <a:ext cx="0" cy="924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" name="Line 48">
                    <a:extLst>
                      <a:ext uri="{FF2B5EF4-FFF2-40B4-BE49-F238E27FC236}">
                        <a16:creationId xmlns:a16="http://schemas.microsoft.com/office/drawing/2014/main" id="{69F9F282-42A8-D460-C2BB-7B84E215E0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89" y="3076"/>
                    <a:ext cx="78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" name="Line 49">
                    <a:extLst>
                      <a:ext uri="{FF2B5EF4-FFF2-40B4-BE49-F238E27FC236}">
                        <a16:creationId xmlns:a16="http://schemas.microsoft.com/office/drawing/2014/main" id="{55383A37-3965-D977-600D-26307462CF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36" y="3051"/>
                    <a:ext cx="57" cy="53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6" name="Line 50">
                    <a:extLst>
                      <a:ext uri="{FF2B5EF4-FFF2-40B4-BE49-F238E27FC236}">
                        <a16:creationId xmlns:a16="http://schemas.microsoft.com/office/drawing/2014/main" id="{F932FDE8-7262-1F34-E86A-C055929408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40" y="3048"/>
                    <a:ext cx="53" cy="5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8" name="Group 51">
                  <a:extLst>
                    <a:ext uri="{FF2B5EF4-FFF2-40B4-BE49-F238E27FC236}">
                      <a16:creationId xmlns:a16="http://schemas.microsoft.com/office/drawing/2014/main" id="{89235C30-6002-D928-210B-F55CDF647B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88" y="1554"/>
                  <a:ext cx="777" cy="801"/>
                  <a:chOff x="3273" y="1644"/>
                  <a:chExt cx="840" cy="801"/>
                </a:xfrm>
              </p:grpSpPr>
              <p:sp>
                <p:nvSpPr>
                  <p:cNvPr id="79" name="Line 52">
                    <a:extLst>
                      <a:ext uri="{FF2B5EF4-FFF2-40B4-BE49-F238E27FC236}">
                        <a16:creationId xmlns:a16="http://schemas.microsoft.com/office/drawing/2014/main" id="{1B36C978-9CF7-FAB6-71B1-F1BC38E526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73" y="1650"/>
                    <a:ext cx="840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0" name="Line 53">
                    <a:extLst>
                      <a:ext uri="{FF2B5EF4-FFF2-40B4-BE49-F238E27FC236}">
                        <a16:creationId xmlns:a16="http://schemas.microsoft.com/office/drawing/2014/main" id="{6A952391-A12F-4CEB-7EF9-D22B5D52984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10" y="1644"/>
                    <a:ext cx="0" cy="639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1" name="Line 54">
                    <a:extLst>
                      <a:ext uri="{FF2B5EF4-FFF2-40B4-BE49-F238E27FC236}">
                        <a16:creationId xmlns:a16="http://schemas.microsoft.com/office/drawing/2014/main" id="{9E99366E-9649-179F-C0BA-4DD442850A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10" y="2253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75" name="Line 55">
                <a:extLst>
                  <a:ext uri="{FF2B5EF4-FFF2-40B4-BE49-F238E27FC236}">
                    <a16:creationId xmlns:a16="http://schemas.microsoft.com/office/drawing/2014/main" id="{356933A0-E18A-B0CD-00E4-001565CEC3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8" y="1533"/>
                <a:ext cx="53" cy="5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" name="Line 56">
                <a:extLst>
                  <a:ext uri="{FF2B5EF4-FFF2-40B4-BE49-F238E27FC236}">
                    <a16:creationId xmlns:a16="http://schemas.microsoft.com/office/drawing/2014/main" id="{79C38801-D4A3-7544-02A5-DA7D14BDC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70" y="1533"/>
                <a:ext cx="53" cy="5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0042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utoUpdateAnimBg="0"/>
      <p:bldP spid="54" grpId="0" build="p" autoUpdateAnimBg="0"/>
      <p:bldP spid="55" grpId="0" autoUpdateAnimBg="0"/>
      <p:bldP spid="56" grpId="0" autoUpdateAnimBg="0"/>
      <p:bldP spid="57" grpId="0" autoUpdateAnimBg="0"/>
      <p:bldP spid="5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078E8-7128-5CB3-C8B9-AE5F97F41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B2243FD5-1E65-5790-AFF2-BB4B8DD47FB2}"/>
              </a:ext>
            </a:extLst>
          </p:cNvPr>
          <p:cNvSpPr/>
          <p:nvPr/>
        </p:nvSpPr>
        <p:spPr>
          <a:xfrm>
            <a:off x="5513500" y="0"/>
            <a:ext cx="6775188" cy="6298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1894A69E-620C-599F-5B06-A8F52A6A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6C53B492-6DB9-E4F4-2E23-C56D1C7BA980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3FB1273B-0DBA-D8F6-418D-307EE9142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绘制装配图的方法和步骤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AE9E9BAB-6877-6486-FF13-84A0C3B41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9249" y="188640"/>
            <a:ext cx="5275263" cy="63134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>
              <a:ea typeface="黑体" panose="02010609060101010101" pitchFamily="49" charset="-122"/>
            </a:endParaRPr>
          </a:p>
        </p:txBody>
      </p:sp>
      <p:sp>
        <p:nvSpPr>
          <p:cNvPr id="4" name="Text Box 9" descr="轮廓式菱形">
            <a:extLst>
              <a:ext uri="{FF2B5EF4-FFF2-40B4-BE49-F238E27FC236}">
                <a16:creationId xmlns:a16="http://schemas.microsoft.com/office/drawing/2014/main" id="{6076498A-05C0-4E7D-B118-96DB9CC10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425" y="2780928"/>
            <a:ext cx="411312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</a:rPr>
              <a:t>分析部件的组成、工作原理、确定视图数量和表达方法；</a:t>
            </a:r>
          </a:p>
        </p:txBody>
      </p:sp>
      <p:sp>
        <p:nvSpPr>
          <p:cNvPr id="5" name="Text Box 10" descr="轮廓式菱形">
            <a:extLst>
              <a:ext uri="{FF2B5EF4-FFF2-40B4-BE49-F238E27FC236}">
                <a16:creationId xmlns:a16="http://schemas.microsoft.com/office/drawing/2014/main" id="{1A604327-B6BD-2533-F5A4-CE5D8A0C4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424" y="3976422"/>
            <a:ext cx="446162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</a:rPr>
              <a:t>根据视图数量确定画图比例、图幅；画图框线、标题栏和明细栏；</a:t>
            </a:r>
          </a:p>
        </p:txBody>
      </p:sp>
      <p:sp>
        <p:nvSpPr>
          <p:cNvPr id="6" name="Text Box 11" descr="轮廓式菱形">
            <a:extLst>
              <a:ext uri="{FF2B5EF4-FFF2-40B4-BE49-F238E27FC236}">
                <a16:creationId xmlns:a16="http://schemas.microsoft.com/office/drawing/2014/main" id="{7B24ACA8-DC0A-7CA5-FAE8-9FA8AAA75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424" y="5177359"/>
            <a:ext cx="426243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</a:rPr>
              <a:t>画各视图的主要基准线，各视图之间留有适当间隔以便标注尺寸和进行零件编号；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F569C60A-5AF1-1601-F31D-FE29131EE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912" y="2396753"/>
            <a:ext cx="2446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+mn-ea"/>
                <a:ea typeface="+mn-ea"/>
              </a:rPr>
              <a:t>①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zh-CN" altLang="en-US" sz="2400" dirty="0">
                <a:solidFill>
                  <a:srgbClr val="CC0000"/>
                </a:solidFill>
                <a:latin typeface="+mn-ea"/>
                <a:ea typeface="+mn-ea"/>
              </a:rPr>
              <a:t>分析部件</a:t>
            </a: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D1421810-13D4-D6E3-2217-A27D5B34B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912" y="3581135"/>
            <a:ext cx="2563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+mn-ea"/>
                <a:ea typeface="+mn-ea"/>
              </a:rPr>
              <a:t>②</a:t>
            </a:r>
            <a:r>
              <a:rPr lang="en-US" altLang="zh-CN" sz="2400" dirty="0">
                <a:solidFill>
                  <a:srgbClr val="CC0000"/>
                </a:solidFill>
                <a:latin typeface="+mn-ea"/>
                <a:ea typeface="+mn-ea"/>
              </a:rPr>
              <a:t> </a:t>
            </a:r>
            <a:r>
              <a:rPr lang="zh-CN" altLang="en-US" sz="2400" dirty="0">
                <a:solidFill>
                  <a:srgbClr val="CC0000"/>
                </a:solidFill>
                <a:latin typeface="+mn-ea"/>
                <a:ea typeface="+mn-ea"/>
              </a:rPr>
              <a:t>确定图幅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84ECD461-A7A7-A051-32DC-27EFF3C6D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324" y="4780484"/>
            <a:ext cx="2417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+mn-ea"/>
                <a:ea typeface="+mn-ea"/>
              </a:rPr>
              <a:t>③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zh-CN" altLang="en-US" sz="2400" dirty="0">
                <a:solidFill>
                  <a:srgbClr val="CC0000"/>
                </a:solidFill>
                <a:latin typeface="+mn-ea"/>
                <a:ea typeface="+mn-ea"/>
              </a:rPr>
              <a:t>布置视图</a:t>
            </a:r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885FE1A0-954E-77E3-770E-1C3085716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2919" y="310084"/>
            <a:ext cx="4987925" cy="6070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Line 17">
            <a:extLst>
              <a:ext uri="{FF2B5EF4-FFF2-40B4-BE49-F238E27FC236}">
                <a16:creationId xmlns:a16="http://schemas.microsoft.com/office/drawing/2014/main" id="{2A4C9221-6E62-FC0A-01E3-FD2B5D6349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10256" y="4688409"/>
            <a:ext cx="0" cy="1692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Line 18">
            <a:extLst>
              <a:ext uri="{FF2B5EF4-FFF2-40B4-BE49-F238E27FC236}">
                <a16:creationId xmlns:a16="http://schemas.microsoft.com/office/drawing/2014/main" id="{E9C4FC3C-BFEF-A1A6-466E-C776132B8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0256" y="4689997"/>
            <a:ext cx="2162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" name="Line 19">
            <a:extLst>
              <a:ext uri="{FF2B5EF4-FFF2-40B4-BE49-F238E27FC236}">
                <a16:creationId xmlns:a16="http://schemas.microsoft.com/office/drawing/2014/main" id="{253A2E81-1222-392E-B145-6400954A1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6606" y="946672"/>
            <a:ext cx="0" cy="220345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" name="Line 20">
            <a:extLst>
              <a:ext uri="{FF2B5EF4-FFF2-40B4-BE49-F238E27FC236}">
                <a16:creationId xmlns:a16="http://schemas.microsoft.com/office/drawing/2014/main" id="{2A0AF05E-AE08-0292-1DCE-6F53F22FC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00731" y="5923484"/>
            <a:ext cx="2166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15" name="Group 21">
            <a:extLst>
              <a:ext uri="{FF2B5EF4-FFF2-40B4-BE49-F238E27FC236}">
                <a16:creationId xmlns:a16="http://schemas.microsoft.com/office/drawing/2014/main" id="{D3A9DE6D-6306-E3E4-A307-D392EE59E488}"/>
              </a:ext>
            </a:extLst>
          </p:cNvPr>
          <p:cNvGrpSpPr>
            <a:grpSpLocks/>
          </p:cNvGrpSpPr>
          <p:nvPr/>
        </p:nvGrpSpPr>
        <p:grpSpPr bwMode="auto">
          <a:xfrm>
            <a:off x="9100731" y="4683647"/>
            <a:ext cx="2171700" cy="1243012"/>
            <a:chOff x="4183" y="2997"/>
            <a:chExt cx="1263" cy="783"/>
          </a:xfrm>
        </p:grpSpPr>
        <p:sp>
          <p:nvSpPr>
            <p:cNvPr id="17" name="Line 22">
              <a:extLst>
                <a:ext uri="{FF2B5EF4-FFF2-40B4-BE49-F238E27FC236}">
                  <a16:creationId xmlns:a16="http://schemas.microsoft.com/office/drawing/2014/main" id="{8FCD19F0-AACF-5349-E8AD-0D7CBB1D1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694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8" name="Line 23">
              <a:extLst>
                <a:ext uri="{FF2B5EF4-FFF2-40B4-BE49-F238E27FC236}">
                  <a16:creationId xmlns:a16="http://schemas.microsoft.com/office/drawing/2014/main" id="{344388B8-08BB-09C3-EC66-21F63EDDB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607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830DC262-9FDC-B83C-BC69-12D327ACD7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3517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0" name="Line 25">
              <a:extLst>
                <a:ext uri="{FF2B5EF4-FFF2-40B4-BE49-F238E27FC236}">
                  <a16:creationId xmlns:a16="http://schemas.microsoft.com/office/drawing/2014/main" id="{7B7D65BA-6FD3-2BCE-134C-56837622C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3433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1" name="Line 26">
              <a:extLst>
                <a:ext uri="{FF2B5EF4-FFF2-40B4-BE49-F238E27FC236}">
                  <a16:creationId xmlns:a16="http://schemas.microsoft.com/office/drawing/2014/main" id="{5D1BD842-8C22-9726-2B9B-B725F63DF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3346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C299DA2B-A3A7-4008-BB9F-05DAAE719F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3259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3" name="Line 28">
              <a:extLst>
                <a:ext uri="{FF2B5EF4-FFF2-40B4-BE49-F238E27FC236}">
                  <a16:creationId xmlns:a16="http://schemas.microsoft.com/office/drawing/2014/main" id="{1C1819F2-C53D-82ED-686C-86716874C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175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4" name="Line 29">
              <a:extLst>
                <a:ext uri="{FF2B5EF4-FFF2-40B4-BE49-F238E27FC236}">
                  <a16:creationId xmlns:a16="http://schemas.microsoft.com/office/drawing/2014/main" id="{DF9F79F9-326F-DBD6-2906-07CD5548A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088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5" name="Line 30">
              <a:extLst>
                <a:ext uri="{FF2B5EF4-FFF2-40B4-BE49-F238E27FC236}">
                  <a16:creationId xmlns:a16="http://schemas.microsoft.com/office/drawing/2014/main" id="{C591EBCA-A92B-0281-6A56-68EB8A3F6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5" y="3000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6" name="Line 31">
              <a:extLst>
                <a:ext uri="{FF2B5EF4-FFF2-40B4-BE49-F238E27FC236}">
                  <a16:creationId xmlns:a16="http://schemas.microsoft.com/office/drawing/2014/main" id="{C911DA54-D33B-616F-B540-109B842FB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8" y="3000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7" name="Line 32">
              <a:extLst>
                <a:ext uri="{FF2B5EF4-FFF2-40B4-BE49-F238E27FC236}">
                  <a16:creationId xmlns:a16="http://schemas.microsoft.com/office/drawing/2014/main" id="{16A04D62-9CEB-0634-AE43-7245D66A2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0" y="2997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8" name="Line 33">
              <a:extLst>
                <a:ext uri="{FF2B5EF4-FFF2-40B4-BE49-F238E27FC236}">
                  <a16:creationId xmlns:a16="http://schemas.microsoft.com/office/drawing/2014/main" id="{8CCF75D2-219D-A674-5423-C265DB450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5" y="3003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5282BF51-6162-D4D2-1025-1F750AE63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8" y="2997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0" name="Line 35">
              <a:extLst>
                <a:ext uri="{FF2B5EF4-FFF2-40B4-BE49-F238E27FC236}">
                  <a16:creationId xmlns:a16="http://schemas.microsoft.com/office/drawing/2014/main" id="{43AD64D8-9768-D3EA-4A8D-D46239E59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1" y="2997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1" name="Line 36">
              <a:extLst>
                <a:ext uri="{FF2B5EF4-FFF2-40B4-BE49-F238E27FC236}">
                  <a16:creationId xmlns:a16="http://schemas.microsoft.com/office/drawing/2014/main" id="{238F05D7-64FC-9ED1-A7B7-89E6C83F79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9" y="3003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32" name="Line 37">
            <a:extLst>
              <a:ext uri="{FF2B5EF4-FFF2-40B4-BE49-F238E27FC236}">
                <a16:creationId xmlns:a16="http://schemas.microsoft.com/office/drawing/2014/main" id="{42A63B70-FC81-02F3-2F77-3BF98DE19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194" y="3831159"/>
            <a:ext cx="0" cy="20097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3" name="Line 38">
            <a:extLst>
              <a:ext uri="{FF2B5EF4-FFF2-40B4-BE49-F238E27FC236}">
                <a16:creationId xmlns:a16="http://schemas.microsoft.com/office/drawing/2014/main" id="{049CBF6A-7E4C-32CA-CC44-104FEE52A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2019" y="3288234"/>
            <a:ext cx="2733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4" name="Line 39">
            <a:extLst>
              <a:ext uri="{FF2B5EF4-FFF2-40B4-BE49-F238E27FC236}">
                <a16:creationId xmlns:a16="http://schemas.microsoft.com/office/drawing/2014/main" id="{57E316CF-F09E-E90C-42AD-22E0C3AF17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1069" y="3924822"/>
            <a:ext cx="2676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5" name="Line 40">
            <a:extLst>
              <a:ext uri="{FF2B5EF4-FFF2-40B4-BE49-F238E27FC236}">
                <a16:creationId xmlns:a16="http://schemas.microsoft.com/office/drawing/2014/main" id="{26D32A3A-291F-DD4D-82AB-733C14C98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6456" y="2759597"/>
            <a:ext cx="8778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6" name="Line 41">
            <a:extLst>
              <a:ext uri="{FF2B5EF4-FFF2-40B4-BE49-F238E27FC236}">
                <a16:creationId xmlns:a16="http://schemas.microsoft.com/office/drawing/2014/main" id="{35F5C54D-4909-BC3E-846F-F524B3D491B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49819" y="2716734"/>
            <a:ext cx="103187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8" name="Line 42">
            <a:extLst>
              <a:ext uri="{FF2B5EF4-FFF2-40B4-BE49-F238E27FC236}">
                <a16:creationId xmlns:a16="http://schemas.microsoft.com/office/drawing/2014/main" id="{46E022CC-16C1-F64E-BF2C-13A85ED93AA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5244" y="2388122"/>
            <a:ext cx="0" cy="6889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9" name="Line 43">
            <a:extLst>
              <a:ext uri="{FF2B5EF4-FFF2-40B4-BE49-F238E27FC236}">
                <a16:creationId xmlns:a16="http://schemas.microsoft.com/office/drawing/2014/main" id="{7DFE14F0-A46E-899D-65A7-65FFB442F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84819" y="2353197"/>
            <a:ext cx="0" cy="75882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0" name="Line 44">
            <a:extLst>
              <a:ext uri="{FF2B5EF4-FFF2-40B4-BE49-F238E27FC236}">
                <a16:creationId xmlns:a16="http://schemas.microsoft.com/office/drawing/2014/main" id="{37D0B4A0-1E18-2EA7-39E0-90050A6E50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5056" y="4597922"/>
            <a:ext cx="20256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1" name="Line 45">
            <a:extLst>
              <a:ext uri="{FF2B5EF4-FFF2-40B4-BE49-F238E27FC236}">
                <a16:creationId xmlns:a16="http://schemas.microsoft.com/office/drawing/2014/main" id="{410902C7-C3E3-DA92-AA6D-8C5F5CC567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2794" y="591072"/>
            <a:ext cx="0" cy="1992312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Line 46">
            <a:extLst>
              <a:ext uri="{FF2B5EF4-FFF2-40B4-BE49-F238E27FC236}">
                <a16:creationId xmlns:a16="http://schemas.microsoft.com/office/drawing/2014/main" id="{9A7ACCB0-5461-37F4-0BD1-C4B5E7E2B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9459506" y="1324497"/>
            <a:ext cx="1625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3" name="Line 47">
            <a:extLst>
              <a:ext uri="{FF2B5EF4-FFF2-40B4-BE49-F238E27FC236}">
                <a16:creationId xmlns:a16="http://schemas.microsoft.com/office/drawing/2014/main" id="{6931EAD9-7F71-729A-0985-12EDC8B3F062}"/>
              </a:ext>
            </a:extLst>
          </p:cNvPr>
          <p:cNvSpPr>
            <a:spLocks noChangeShapeType="1"/>
          </p:cNvSpPr>
          <p:nvPr/>
        </p:nvSpPr>
        <p:spPr bwMode="auto">
          <a:xfrm>
            <a:off x="9899244" y="2081734"/>
            <a:ext cx="87947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4" name="Text Box 49">
            <a:extLst>
              <a:ext uri="{FF2B5EF4-FFF2-40B4-BE49-F238E27FC236}">
                <a16:creationId xmlns:a16="http://schemas.microsoft.com/office/drawing/2014/main" id="{E0CC7219-20D2-7C04-D08B-4718DF433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324" y="1791842"/>
            <a:ext cx="2936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以柱塞泵为例</a:t>
            </a:r>
          </a:p>
        </p:txBody>
      </p:sp>
      <p:sp>
        <p:nvSpPr>
          <p:cNvPr id="45" name="Text Box 50">
            <a:extLst>
              <a:ext uri="{FF2B5EF4-FFF2-40B4-BE49-F238E27FC236}">
                <a16:creationId xmlns:a16="http://schemas.microsoft.com/office/drawing/2014/main" id="{E66D04DA-BAFD-931A-0D7F-860DD0754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9631" y="649809"/>
            <a:ext cx="9589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+mn-ea"/>
                <a:ea typeface="+mn-ea"/>
              </a:rPr>
              <a:t>图框线</a:t>
            </a:r>
          </a:p>
        </p:txBody>
      </p:sp>
      <p:sp>
        <p:nvSpPr>
          <p:cNvPr id="46" name="Line 51">
            <a:extLst>
              <a:ext uri="{FF2B5EF4-FFF2-40B4-BE49-F238E27FC236}">
                <a16:creationId xmlns:a16="http://schemas.microsoft.com/office/drawing/2014/main" id="{68DBC667-A9EA-A113-E2B1-93E0E4B13F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631" y="949847"/>
            <a:ext cx="473075" cy="4127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" name="Text Box 52">
            <a:extLst>
              <a:ext uri="{FF2B5EF4-FFF2-40B4-BE49-F238E27FC236}">
                <a16:creationId xmlns:a16="http://schemas.microsoft.com/office/drawing/2014/main" id="{0B0540DB-1DB2-C90D-4066-0FCC72FA6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9244" y="3899422"/>
            <a:ext cx="1106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+mn-ea"/>
                <a:ea typeface="+mn-ea"/>
              </a:rPr>
              <a:t>明细栏</a:t>
            </a:r>
          </a:p>
        </p:txBody>
      </p:sp>
      <p:sp>
        <p:nvSpPr>
          <p:cNvPr id="48" name="Line 53">
            <a:extLst>
              <a:ext uri="{FF2B5EF4-FFF2-40B4-BE49-F238E27FC236}">
                <a16:creationId xmlns:a16="http://schemas.microsoft.com/office/drawing/2014/main" id="{3A1F4743-0968-A62F-C999-BB7A5DDBC2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57969" y="4274072"/>
            <a:ext cx="325437" cy="5889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9" name="Text Box 54">
            <a:extLst>
              <a:ext uri="{FF2B5EF4-FFF2-40B4-BE49-F238E27FC236}">
                <a16:creationId xmlns:a16="http://schemas.microsoft.com/office/drawing/2014/main" id="{37D50C99-11B3-A59D-3118-2561D8D3B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106" y="5836172"/>
            <a:ext cx="1076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+mn-ea"/>
                <a:ea typeface="+mn-ea"/>
              </a:rPr>
              <a:t>标题栏</a:t>
            </a:r>
          </a:p>
        </p:txBody>
      </p:sp>
      <p:sp>
        <p:nvSpPr>
          <p:cNvPr id="50" name="Line 55">
            <a:extLst>
              <a:ext uri="{FF2B5EF4-FFF2-40B4-BE49-F238E27FC236}">
                <a16:creationId xmlns:a16="http://schemas.microsoft.com/office/drawing/2014/main" id="{445EF82F-EA96-11C5-2F04-76C7641EE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0519" y="6061597"/>
            <a:ext cx="574675" cy="1333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6793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 autoUpdateAnimBg="0"/>
      <p:bldP spid="5" grpId="0" autoUpdateAnimBg="0"/>
      <p:bldP spid="6" grpId="0" autoUpdateAnimBg="0"/>
      <p:bldP spid="7" grpId="0" build="p" autoUpdateAnimBg="0"/>
      <p:bldP spid="8" grpId="0" build="p" autoUpdateAnimBg="0"/>
      <p:bldP spid="9" grpId="0" build="p" autoUpdateAnimBg="0"/>
      <p:bldP spid="10" grpId="0" animBg="1" autoUpdateAnimBg="0"/>
      <p:bldP spid="11" grpId="0" animBg="1"/>
      <p:bldP spid="12" grpId="0" animBg="1"/>
      <p:bldP spid="13" grpId="0" animBg="1"/>
      <p:bldP spid="14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/>
      <p:bldP spid="45" grpId="0" autoUpdateAnimBg="0"/>
      <p:bldP spid="46" grpId="0" animBg="1"/>
      <p:bldP spid="47" grpId="0" autoUpdateAnimBg="0"/>
      <p:bldP spid="48" grpId="0" animBg="1"/>
      <p:bldP spid="49" grpId="0" autoUpdateAnimBg="0"/>
      <p:bldP spid="5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CAF8-C79E-BEAD-4D4D-FAD5E204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7C155F46-661E-0947-5931-E23D7A6CB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C09D19F6-D352-20A9-6B78-60DB8571DDD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2EACCF-8FFE-9A37-A1CA-426BD669937B}"/>
              </a:ext>
            </a:extLst>
          </p:cNvPr>
          <p:cNvSpPr/>
          <p:nvPr/>
        </p:nvSpPr>
        <p:spPr>
          <a:xfrm>
            <a:off x="5513500" y="0"/>
            <a:ext cx="6775188" cy="6298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 Box 87">
            <a:extLst>
              <a:ext uri="{FF2B5EF4-FFF2-40B4-BE49-F238E27FC236}">
                <a16:creationId xmlns:a16="http://schemas.microsoft.com/office/drawing/2014/main" id="{30031563-F580-D524-E2AB-936B69E5C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绘制装配图的方法和步骤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B1DC0500-9841-8D14-3658-7DD53CB0E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2570212"/>
            <a:ext cx="360489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先画主体零件。从主视图开始，画各视图的主要轮廓。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E1465B5A-3596-6FD3-09A3-670E9253D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447" y="2039987"/>
            <a:ext cx="3033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画主要装配线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9B745F7-598B-BEC9-07CB-090B1A42B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60648"/>
            <a:ext cx="5275263" cy="6313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FBA7A2B-9F22-1D76-0001-00A92ECF4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393998"/>
            <a:ext cx="4987925" cy="6070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/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B0A5535D-7A4A-BAAB-258C-209902D2C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23200" y="1646536"/>
            <a:ext cx="0" cy="1709737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34D92F82-1B89-C487-98C3-FEA8AB911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58275" y="6007398"/>
            <a:ext cx="21669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11" name="Line 15">
            <a:extLst>
              <a:ext uri="{FF2B5EF4-FFF2-40B4-BE49-F238E27FC236}">
                <a16:creationId xmlns:a16="http://schemas.microsoft.com/office/drawing/2014/main" id="{6FAF0651-A810-A199-184F-946185868A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4313" y="3984923"/>
            <a:ext cx="0" cy="1585913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12" name="Line 16">
            <a:extLst>
              <a:ext uri="{FF2B5EF4-FFF2-40B4-BE49-F238E27FC236}">
                <a16:creationId xmlns:a16="http://schemas.microsoft.com/office/drawing/2014/main" id="{CAC4EDBC-42CC-9D32-D9DC-6FB80AAA71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3424536"/>
            <a:ext cx="23145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AE874AEE-FA82-6744-21D6-F653EAC31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8613" y="4096048"/>
            <a:ext cx="2447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14" name="Line 18">
            <a:extLst>
              <a:ext uri="{FF2B5EF4-FFF2-40B4-BE49-F238E27FC236}">
                <a16:creationId xmlns:a16="http://schemas.microsoft.com/office/drawing/2014/main" id="{FC0BB771-0343-CBB4-5DFA-FE2C8DA58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0" y="2826048"/>
            <a:ext cx="8778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15" name="Line 19">
            <a:extLst>
              <a:ext uri="{FF2B5EF4-FFF2-40B4-BE49-F238E27FC236}">
                <a16:creationId xmlns:a16="http://schemas.microsoft.com/office/drawing/2014/main" id="{2A7B5C54-063C-D081-CAB7-282F1AD6C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7363" y="2783186"/>
            <a:ext cx="915987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214B13A1-B3BB-9D88-F82D-46E9FA9A5D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2788" y="2454573"/>
            <a:ext cx="0" cy="6889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46D9B1DF-928C-5C11-D2DE-5C1D3F005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42363" y="2419648"/>
            <a:ext cx="0" cy="75882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C11A9F30-9CFB-4197-C78C-C308F27547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2600" y="4978698"/>
            <a:ext cx="158591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162A6752-F816-67CE-5899-B1159498D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20338" y="674986"/>
            <a:ext cx="0" cy="1992312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C0317D30-D4AE-9F0A-E3C2-CBB9C375112B}"/>
              </a:ext>
            </a:extLst>
          </p:cNvPr>
          <p:cNvSpPr>
            <a:spLocks noChangeShapeType="1"/>
          </p:cNvSpPr>
          <p:nvPr/>
        </p:nvSpPr>
        <p:spPr bwMode="auto">
          <a:xfrm>
            <a:off x="9417050" y="1408411"/>
            <a:ext cx="1625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22" name="Line 25">
            <a:extLst>
              <a:ext uri="{FF2B5EF4-FFF2-40B4-BE49-F238E27FC236}">
                <a16:creationId xmlns:a16="http://schemas.microsoft.com/office/drawing/2014/main" id="{0811EBBC-40A7-5EDF-52D9-F2833A612AC2}"/>
              </a:ext>
            </a:extLst>
          </p:cNvPr>
          <p:cNvSpPr>
            <a:spLocks noChangeShapeType="1"/>
          </p:cNvSpPr>
          <p:nvPr/>
        </p:nvSpPr>
        <p:spPr bwMode="auto">
          <a:xfrm>
            <a:off x="9856788" y="2165648"/>
            <a:ext cx="87947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grpSp>
        <p:nvGrpSpPr>
          <p:cNvPr id="23" name="Group 26">
            <a:extLst>
              <a:ext uri="{FF2B5EF4-FFF2-40B4-BE49-F238E27FC236}">
                <a16:creationId xmlns:a16="http://schemas.microsoft.com/office/drawing/2014/main" id="{155F5120-6A14-A2B7-E127-977DE9B09E5B}"/>
              </a:ext>
            </a:extLst>
          </p:cNvPr>
          <p:cNvGrpSpPr>
            <a:grpSpLocks/>
          </p:cNvGrpSpPr>
          <p:nvPr/>
        </p:nvGrpSpPr>
        <p:grpSpPr bwMode="auto">
          <a:xfrm>
            <a:off x="6472238" y="1121073"/>
            <a:ext cx="2719387" cy="4748213"/>
            <a:chOff x="2773" y="714"/>
            <a:chExt cx="1392" cy="2634"/>
          </a:xfrm>
        </p:grpSpPr>
        <p:graphicFrame>
          <p:nvGraphicFramePr>
            <p:cNvPr id="24" name="Object 27">
              <a:extLst>
                <a:ext uri="{FF2B5EF4-FFF2-40B4-BE49-F238E27FC236}">
                  <a16:creationId xmlns:a16="http://schemas.microsoft.com/office/drawing/2014/main" id="{C385CAB2-E7D4-82F8-9055-BF736B9025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73" y="714"/>
            <a:ext cx="1392" cy="1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3" imgW="2209524" imgH="2085714" progId="Paint.Picture">
                    <p:embed/>
                  </p:oleObj>
                </mc:Choice>
                <mc:Fallback>
                  <p:oleObj name="位图图像" r:id="rId3" imgW="2209524" imgH="2085714" progId="Paint.Picture">
                    <p:embed/>
                    <p:pic>
                      <p:nvPicPr>
                        <p:cNvPr id="21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3" y="714"/>
                          <a:ext cx="1392" cy="1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8">
              <a:extLst>
                <a:ext uri="{FF2B5EF4-FFF2-40B4-BE49-F238E27FC236}">
                  <a16:creationId xmlns:a16="http://schemas.microsoft.com/office/drawing/2014/main" id="{048D95F3-E180-8E7A-5805-BBDE887B6A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01" y="2190"/>
            <a:ext cx="1344" cy="1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5" imgW="2133898" imgH="1838095" progId="Paint.Picture">
                    <p:embed/>
                  </p:oleObj>
                </mc:Choice>
                <mc:Fallback>
                  <p:oleObj name="位图图像" r:id="rId5" imgW="2133898" imgH="1838095" progId="Paint.Picture">
                    <p:embed/>
                    <p:pic>
                      <p:nvPicPr>
                        <p:cNvPr id="22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" y="2190"/>
                          <a:ext cx="1344" cy="1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 Box 30">
            <a:extLst>
              <a:ext uri="{FF2B5EF4-FFF2-40B4-BE49-F238E27FC236}">
                <a16:creationId xmlns:a16="http://schemas.microsoft.com/office/drawing/2014/main" id="{54E649AD-0A75-6F0D-3FBF-A50100A14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3745207"/>
            <a:ext cx="325565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CC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000" dirty="0">
                <a:solidFill>
                  <a:srgbClr val="000000"/>
                </a:solidFill>
                <a:ea typeface="黑体" panose="02010609060101010101" pitchFamily="49" charset="-122"/>
              </a:rPr>
              <a:t>顺序画主装配线上的其他零件</a:t>
            </a:r>
            <a:r>
              <a:rPr lang="en-US" altLang="zh-CN" sz="2000" dirty="0">
                <a:solidFill>
                  <a:srgbClr val="00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sz="2000" dirty="0">
                <a:solidFill>
                  <a:srgbClr val="000000"/>
                </a:solidFill>
                <a:ea typeface="黑体" panose="02010609060101010101" pitchFamily="49" charset="-122"/>
              </a:rPr>
              <a:t>柱塞、柱塞套等</a:t>
            </a:r>
          </a:p>
        </p:txBody>
      </p:sp>
      <p:grpSp>
        <p:nvGrpSpPr>
          <p:cNvPr id="27" name="Group 31">
            <a:extLst>
              <a:ext uri="{FF2B5EF4-FFF2-40B4-BE49-F238E27FC236}">
                <a16:creationId xmlns:a16="http://schemas.microsoft.com/office/drawing/2014/main" id="{E4899D23-47E5-B493-A39F-EA7D0919D34F}"/>
              </a:ext>
            </a:extLst>
          </p:cNvPr>
          <p:cNvGrpSpPr>
            <a:grpSpLocks/>
          </p:cNvGrpSpPr>
          <p:nvPr/>
        </p:nvGrpSpPr>
        <p:grpSpPr bwMode="auto">
          <a:xfrm>
            <a:off x="6521450" y="457498"/>
            <a:ext cx="2632075" cy="5508625"/>
            <a:chOff x="2708" y="282"/>
            <a:chExt cx="1531" cy="3470"/>
          </a:xfrm>
        </p:grpSpPr>
        <p:graphicFrame>
          <p:nvGraphicFramePr>
            <p:cNvPr id="28" name="Object 32">
              <a:extLst>
                <a:ext uri="{FF2B5EF4-FFF2-40B4-BE49-F238E27FC236}">
                  <a16:creationId xmlns:a16="http://schemas.microsoft.com/office/drawing/2014/main" id="{413AD4FE-BFD9-921E-AF77-745BB494E2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4674102"/>
                </p:ext>
              </p:extLst>
            </p:nvPr>
          </p:nvGraphicFramePr>
          <p:xfrm>
            <a:off x="2716" y="282"/>
            <a:ext cx="1523" cy="18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7" imgW="2276793" imgH="2819794" progId="Paint.Picture">
                    <p:embed/>
                  </p:oleObj>
                </mc:Choice>
                <mc:Fallback>
                  <p:oleObj name="位图图像" r:id="rId7" imgW="2276793" imgH="2819794" progId="Paint.Picture">
                    <p:embed/>
                    <p:pic>
                      <p:nvPicPr>
                        <p:cNvPr id="26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" y="282"/>
                          <a:ext cx="1523" cy="18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33">
              <a:extLst>
                <a:ext uri="{FF2B5EF4-FFF2-40B4-BE49-F238E27FC236}">
                  <a16:creationId xmlns:a16="http://schemas.microsoft.com/office/drawing/2014/main" id="{4D5E9A46-ECBA-6F35-8CE7-3797FDD929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08" y="2376"/>
            <a:ext cx="1529" cy="1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9" imgW="2285714" imgH="2057143" progId="Paint.Picture">
                    <p:embed/>
                  </p:oleObj>
                </mc:Choice>
                <mc:Fallback>
                  <p:oleObj name="位图图像" r:id="rId9" imgW="2285714" imgH="2057143" progId="Paint.Picture">
                    <p:embed/>
                    <p:pic>
                      <p:nvPicPr>
                        <p:cNvPr id="27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8" y="2376"/>
                          <a:ext cx="1529" cy="1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Line 34">
            <a:extLst>
              <a:ext uri="{FF2B5EF4-FFF2-40B4-BE49-F238E27FC236}">
                <a16:creationId xmlns:a16="http://schemas.microsoft.com/office/drawing/2014/main" id="{40905B6E-27A4-D975-F611-5D1EEC34A7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67800" y="4772323"/>
            <a:ext cx="0" cy="1692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31" name="Line 35">
            <a:extLst>
              <a:ext uri="{FF2B5EF4-FFF2-40B4-BE49-F238E27FC236}">
                <a16:creationId xmlns:a16="http://schemas.microsoft.com/office/drawing/2014/main" id="{13D18336-395D-7249-B307-3A1CDC855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4773911"/>
            <a:ext cx="2162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grpSp>
        <p:nvGrpSpPr>
          <p:cNvPr id="32" name="Group 36">
            <a:extLst>
              <a:ext uri="{FF2B5EF4-FFF2-40B4-BE49-F238E27FC236}">
                <a16:creationId xmlns:a16="http://schemas.microsoft.com/office/drawing/2014/main" id="{887D7477-1A70-5126-D645-41BE5E54F252}"/>
              </a:ext>
            </a:extLst>
          </p:cNvPr>
          <p:cNvGrpSpPr>
            <a:grpSpLocks/>
          </p:cNvGrpSpPr>
          <p:nvPr/>
        </p:nvGrpSpPr>
        <p:grpSpPr bwMode="auto">
          <a:xfrm>
            <a:off x="9058275" y="4767561"/>
            <a:ext cx="2171700" cy="1243012"/>
            <a:chOff x="4183" y="2997"/>
            <a:chExt cx="1263" cy="783"/>
          </a:xfrm>
        </p:grpSpPr>
        <p:sp>
          <p:nvSpPr>
            <p:cNvPr id="33" name="Line 37">
              <a:extLst>
                <a:ext uri="{FF2B5EF4-FFF2-40B4-BE49-F238E27FC236}">
                  <a16:creationId xmlns:a16="http://schemas.microsoft.com/office/drawing/2014/main" id="{F2775096-8141-A6A6-A639-4429ACF3B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694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34" name="Line 38">
              <a:extLst>
                <a:ext uri="{FF2B5EF4-FFF2-40B4-BE49-F238E27FC236}">
                  <a16:creationId xmlns:a16="http://schemas.microsoft.com/office/drawing/2014/main" id="{FC6E15F7-384B-EDEF-A215-685DE37B63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607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35" name="Line 39">
              <a:extLst>
                <a:ext uri="{FF2B5EF4-FFF2-40B4-BE49-F238E27FC236}">
                  <a16:creationId xmlns:a16="http://schemas.microsoft.com/office/drawing/2014/main" id="{F2A82750-8F28-F5E1-C170-58245BCE4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3517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36" name="Line 40">
              <a:extLst>
                <a:ext uri="{FF2B5EF4-FFF2-40B4-BE49-F238E27FC236}">
                  <a16:creationId xmlns:a16="http://schemas.microsoft.com/office/drawing/2014/main" id="{19E40154-399D-AADA-87EB-232BAA4BB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3433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38" name="Line 41">
              <a:extLst>
                <a:ext uri="{FF2B5EF4-FFF2-40B4-BE49-F238E27FC236}">
                  <a16:creationId xmlns:a16="http://schemas.microsoft.com/office/drawing/2014/main" id="{D531BB08-F549-2341-14F8-AF67ECA1D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3346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39" name="Line 42">
              <a:extLst>
                <a:ext uri="{FF2B5EF4-FFF2-40B4-BE49-F238E27FC236}">
                  <a16:creationId xmlns:a16="http://schemas.microsoft.com/office/drawing/2014/main" id="{D750259F-89C7-2B75-DE39-1BEC2B7F7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3259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747B8DFA-BE21-0EA9-DBEE-983080A71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175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79CE6039-C24E-5319-8BF3-743BC9F2D2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088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3B808791-EA4B-5C5A-CBAE-ACB29BF7B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5" y="3000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275ADA68-AF48-3C55-6991-888E58C7C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8" y="3000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5C1FE083-E1F3-518E-853C-02B3AAC073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0" y="2997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9DC93EF2-0E9A-8BB8-2028-91DB642990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5" y="3003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46" name="Line 49">
              <a:extLst>
                <a:ext uri="{FF2B5EF4-FFF2-40B4-BE49-F238E27FC236}">
                  <a16:creationId xmlns:a16="http://schemas.microsoft.com/office/drawing/2014/main" id="{99D34A52-87C9-1C95-8B75-5074C155E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8" y="2997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437C877B-5233-58BB-1CF6-6047DC652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1" y="2997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48" name="Line 51">
              <a:extLst>
                <a:ext uri="{FF2B5EF4-FFF2-40B4-BE49-F238E27FC236}">
                  <a16:creationId xmlns:a16="http://schemas.microsoft.com/office/drawing/2014/main" id="{A425F911-7EA2-25EE-8FFE-40D406C6C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9" y="3003"/>
              <a:ext cx="0" cy="7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445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build="p" autoUpdateAnimBg="0"/>
      <p:bldP spid="26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D90B9-9773-FA16-B18E-4385CD993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2CD98FBF-B835-BBAA-0CF7-4EFCEE7566EA}"/>
              </a:ext>
            </a:extLst>
          </p:cNvPr>
          <p:cNvSpPr/>
          <p:nvPr/>
        </p:nvSpPr>
        <p:spPr>
          <a:xfrm>
            <a:off x="5513500" y="0"/>
            <a:ext cx="6775188" cy="6298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2A032E32-C986-6F0D-492D-3BBE754F9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87B69152-43F6-EC70-6087-8CE042430DC2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3" name="Text Box 87">
            <a:extLst>
              <a:ext uri="{FF2B5EF4-FFF2-40B4-BE49-F238E27FC236}">
                <a16:creationId xmlns:a16="http://schemas.microsoft.com/office/drawing/2014/main" id="{36F63033-D3B7-914A-9AB6-52CC085E7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绘制装配图的方法和步骤</a:t>
            </a: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377A6EED-A986-30F5-2A21-8956A9C4F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76" y="2013045"/>
            <a:ext cx="3592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⑤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依次画其他装配线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1511592D-24F8-46A6-3902-10E087EA2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647" y="188640"/>
            <a:ext cx="5275262" cy="63134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Line 11">
            <a:extLst>
              <a:ext uri="{FF2B5EF4-FFF2-40B4-BE49-F238E27FC236}">
                <a16:creationId xmlns:a16="http://schemas.microsoft.com/office/drawing/2014/main" id="{C915D8B9-16CE-954F-1F05-934B4FBED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2847" y="1574527"/>
            <a:ext cx="0" cy="1709738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8D7DBF51-290E-E5CC-F2F5-0B548EC151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3959" y="3668440"/>
            <a:ext cx="0" cy="1585912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84ED36C2-B8F7-EF93-AD21-265187F9A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9209" y="3352527"/>
            <a:ext cx="23145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Line 14">
            <a:extLst>
              <a:ext uri="{FF2B5EF4-FFF2-40B4-BE49-F238E27FC236}">
                <a16:creationId xmlns:a16="http://schemas.microsoft.com/office/drawing/2014/main" id="{8F08708B-82C3-D370-FB37-43953664B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8259" y="4024040"/>
            <a:ext cx="2447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Line 15">
            <a:extLst>
              <a:ext uri="{FF2B5EF4-FFF2-40B4-BE49-F238E27FC236}">
                <a16:creationId xmlns:a16="http://schemas.microsoft.com/office/drawing/2014/main" id="{7C86C76A-5E46-0FC4-D41E-2D7E497C3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3647" y="2754040"/>
            <a:ext cx="877887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Line 16">
            <a:extLst>
              <a:ext uri="{FF2B5EF4-FFF2-40B4-BE49-F238E27FC236}">
                <a16:creationId xmlns:a16="http://schemas.microsoft.com/office/drawing/2014/main" id="{391273A6-08CF-B287-E164-12A0D7FFAF8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7009" y="2711177"/>
            <a:ext cx="9159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Line 17">
            <a:extLst>
              <a:ext uri="{FF2B5EF4-FFF2-40B4-BE49-F238E27FC236}">
                <a16:creationId xmlns:a16="http://schemas.microsoft.com/office/drawing/2014/main" id="{89BB38D3-956D-77E4-191D-24FD3022A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2434" y="2382565"/>
            <a:ext cx="0" cy="6889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E768983B-8C81-62BE-99D2-49AEFCD8B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2009" y="2347640"/>
            <a:ext cx="0" cy="75882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Line 19">
            <a:extLst>
              <a:ext uri="{FF2B5EF4-FFF2-40B4-BE49-F238E27FC236}">
                <a16:creationId xmlns:a16="http://schemas.microsoft.com/office/drawing/2014/main" id="{853A7649-BAF4-CC24-AAA7-595FF6C75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2247" y="4662215"/>
            <a:ext cx="158591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Line 20">
            <a:extLst>
              <a:ext uri="{FF2B5EF4-FFF2-40B4-BE49-F238E27FC236}">
                <a16:creationId xmlns:a16="http://schemas.microsoft.com/office/drawing/2014/main" id="{2C57D6D1-B873-E958-3E0F-F5DE30A22D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99984" y="602977"/>
            <a:ext cx="0" cy="1992313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Line 21">
            <a:extLst>
              <a:ext uri="{FF2B5EF4-FFF2-40B4-BE49-F238E27FC236}">
                <a16:creationId xmlns:a16="http://schemas.microsoft.com/office/drawing/2014/main" id="{AC360771-B833-7153-9617-CC752C0D7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9396697" y="1336402"/>
            <a:ext cx="1625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Line 22">
            <a:extLst>
              <a:ext uri="{FF2B5EF4-FFF2-40B4-BE49-F238E27FC236}">
                <a16:creationId xmlns:a16="http://schemas.microsoft.com/office/drawing/2014/main" id="{09086359-84FD-D181-BDD3-4034A8074D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6434" y="2093640"/>
            <a:ext cx="87947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9" name="Group 23">
            <a:extLst>
              <a:ext uri="{FF2B5EF4-FFF2-40B4-BE49-F238E27FC236}">
                <a16:creationId xmlns:a16="http://schemas.microsoft.com/office/drawing/2014/main" id="{4DB4FD97-6EFC-5E16-3E3B-2376585E5665}"/>
              </a:ext>
            </a:extLst>
          </p:cNvPr>
          <p:cNvGrpSpPr>
            <a:grpSpLocks/>
          </p:cNvGrpSpPr>
          <p:nvPr/>
        </p:nvGrpSpPr>
        <p:grpSpPr bwMode="auto">
          <a:xfrm>
            <a:off x="6451884" y="804590"/>
            <a:ext cx="2719388" cy="4748212"/>
            <a:chOff x="2680" y="546"/>
            <a:chExt cx="1581" cy="2991"/>
          </a:xfrm>
        </p:grpSpPr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C8CDDC3C-21B2-65B2-F92C-6BF3FC5296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80" y="546"/>
            <a:ext cx="1581" cy="1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3" imgW="2209524" imgH="2085714" progId="Paint.Picture">
                    <p:embed/>
                  </p:oleObj>
                </mc:Choice>
                <mc:Fallback>
                  <p:oleObj name="位图图像" r:id="rId3" imgW="2209524" imgH="2085714" progId="Paint.Picture">
                    <p:embed/>
                    <p:pic>
                      <p:nvPicPr>
                        <p:cNvPr id="18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0" y="546"/>
                          <a:ext cx="1581" cy="1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5">
              <a:extLst>
                <a:ext uri="{FF2B5EF4-FFF2-40B4-BE49-F238E27FC236}">
                  <a16:creationId xmlns:a16="http://schemas.microsoft.com/office/drawing/2014/main" id="{038A1FBE-7BE1-3BBD-C1E9-52B666F3F1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2" y="2222"/>
            <a:ext cx="1526" cy="1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5" imgW="2133898" imgH="1838095" progId="Paint.Picture">
                    <p:embed/>
                  </p:oleObj>
                </mc:Choice>
                <mc:Fallback>
                  <p:oleObj name="位图图像" r:id="rId5" imgW="2133898" imgH="1838095" progId="Paint.Picture">
                    <p:embed/>
                    <p:pic>
                      <p:nvPicPr>
                        <p:cNvPr id="19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2" y="2222"/>
                          <a:ext cx="1526" cy="1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26">
            <a:extLst>
              <a:ext uri="{FF2B5EF4-FFF2-40B4-BE49-F238E27FC236}">
                <a16:creationId xmlns:a16="http://schemas.microsoft.com/office/drawing/2014/main" id="{E84A3E20-574B-C666-E081-1ED7E0083014}"/>
              </a:ext>
            </a:extLst>
          </p:cNvPr>
          <p:cNvGrpSpPr>
            <a:grpSpLocks/>
          </p:cNvGrpSpPr>
          <p:nvPr/>
        </p:nvGrpSpPr>
        <p:grpSpPr bwMode="auto">
          <a:xfrm>
            <a:off x="6501097" y="385490"/>
            <a:ext cx="2632075" cy="5264150"/>
            <a:chOff x="2708" y="282"/>
            <a:chExt cx="1531" cy="3316"/>
          </a:xfrm>
        </p:grpSpPr>
        <p:graphicFrame>
          <p:nvGraphicFramePr>
            <p:cNvPr id="23" name="Object 27">
              <a:extLst>
                <a:ext uri="{FF2B5EF4-FFF2-40B4-BE49-F238E27FC236}">
                  <a16:creationId xmlns:a16="http://schemas.microsoft.com/office/drawing/2014/main" id="{A36F4A6C-0C16-F17A-06E7-71876690D2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" y="282"/>
            <a:ext cx="1523" cy="18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7" imgW="2276793" imgH="2819794" progId="Paint.Picture">
                    <p:embed/>
                  </p:oleObj>
                </mc:Choice>
                <mc:Fallback>
                  <p:oleObj name="位图图像" r:id="rId7" imgW="2276793" imgH="2819794" progId="Paint.Picture">
                    <p:embed/>
                    <p:pic>
                      <p:nvPicPr>
                        <p:cNvPr id="21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" y="282"/>
                          <a:ext cx="1523" cy="18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8">
              <a:extLst>
                <a:ext uri="{FF2B5EF4-FFF2-40B4-BE49-F238E27FC236}">
                  <a16:creationId xmlns:a16="http://schemas.microsoft.com/office/drawing/2014/main" id="{DD08BC86-6206-A226-6E92-9CD14C6EA9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08" y="2222"/>
            <a:ext cx="1529" cy="1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9" imgW="2285714" imgH="2057143" progId="Paint.Picture">
                    <p:embed/>
                  </p:oleObj>
                </mc:Choice>
                <mc:Fallback>
                  <p:oleObj name="位图图像" r:id="rId9" imgW="2285714" imgH="2057143" progId="Paint.Picture">
                    <p:embed/>
                    <p:pic>
                      <p:nvPicPr>
                        <p:cNvPr id="22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8" y="2222"/>
                          <a:ext cx="1529" cy="1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29">
            <a:extLst>
              <a:ext uri="{FF2B5EF4-FFF2-40B4-BE49-F238E27FC236}">
                <a16:creationId xmlns:a16="http://schemas.microsoft.com/office/drawing/2014/main" id="{E5FB0507-CC66-6F81-D00B-73DEB7A48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64" y="2570408"/>
            <a:ext cx="2630488" cy="1405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进口单向阀装配线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出口单向阀装配线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滚轮、小轴装配线</a:t>
            </a:r>
          </a:p>
        </p:txBody>
      </p:sp>
      <p:grpSp>
        <p:nvGrpSpPr>
          <p:cNvPr id="26" name="Group 30">
            <a:extLst>
              <a:ext uri="{FF2B5EF4-FFF2-40B4-BE49-F238E27FC236}">
                <a16:creationId xmlns:a16="http://schemas.microsoft.com/office/drawing/2014/main" id="{3128E385-9202-4B12-CD17-CCC49E916CB6}"/>
              </a:ext>
            </a:extLst>
          </p:cNvPr>
          <p:cNvGrpSpPr>
            <a:grpSpLocks/>
          </p:cNvGrpSpPr>
          <p:nvPr/>
        </p:nvGrpSpPr>
        <p:grpSpPr bwMode="auto">
          <a:xfrm>
            <a:off x="6342347" y="383902"/>
            <a:ext cx="3163887" cy="5916613"/>
            <a:chOff x="2561" y="281"/>
            <a:chExt cx="1840" cy="3727"/>
          </a:xfrm>
        </p:grpSpPr>
        <p:graphicFrame>
          <p:nvGraphicFramePr>
            <p:cNvPr id="27" name="Object 31">
              <a:extLst>
                <a:ext uri="{FF2B5EF4-FFF2-40B4-BE49-F238E27FC236}">
                  <a16:creationId xmlns:a16="http://schemas.microsoft.com/office/drawing/2014/main" id="{F3BFE1ED-EEF2-426B-7356-B6DC2BAA34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2" y="2264"/>
            <a:ext cx="1736" cy="1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1" imgW="2123810" imgH="2133898" progId="Paint.Picture">
                    <p:embed/>
                  </p:oleObj>
                </mc:Choice>
                <mc:Fallback>
                  <p:oleObj name="位图图像" r:id="rId11" imgW="2123810" imgH="2133898" progId="Paint.Picture">
                    <p:embed/>
                    <p:pic>
                      <p:nvPicPr>
                        <p:cNvPr id="25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2" y="2264"/>
                          <a:ext cx="1736" cy="17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32">
              <a:extLst>
                <a:ext uri="{FF2B5EF4-FFF2-40B4-BE49-F238E27FC236}">
                  <a16:creationId xmlns:a16="http://schemas.microsoft.com/office/drawing/2014/main" id="{CF9EC253-9C5E-78CD-C288-0E4BFE45CF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1" y="281"/>
            <a:ext cx="1840" cy="20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3" imgW="2257740" imgH="2476190" progId="Paint.Picture">
                    <p:embed/>
                  </p:oleObj>
                </mc:Choice>
                <mc:Fallback>
                  <p:oleObj name="位图图像" r:id="rId13" imgW="2257740" imgH="2476190" progId="Paint.Picture">
                    <p:embed/>
                    <p:pic>
                      <p:nvPicPr>
                        <p:cNvPr id="26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1" y="281"/>
                          <a:ext cx="1840" cy="20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3DC1617B-7714-4127-8B32-7F5236A97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8" y="1517"/>
              <a:ext cx="0" cy="6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" name="Rectangle 34">
            <a:extLst>
              <a:ext uri="{FF2B5EF4-FFF2-40B4-BE49-F238E27FC236}">
                <a16:creationId xmlns:a16="http://schemas.microsoft.com/office/drawing/2014/main" id="{72A6CAAD-1DA5-3928-25E9-28A5A5AC3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0109" y="336277"/>
            <a:ext cx="4987925" cy="6070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" name="Text Box 35">
            <a:extLst>
              <a:ext uri="{FF2B5EF4-FFF2-40B4-BE49-F238E27FC236}">
                <a16:creationId xmlns:a16="http://schemas.microsoft.com/office/drawing/2014/main" id="{3FD7AB62-FF0A-2CDA-D3EC-D2330BB87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76" y="4485692"/>
            <a:ext cx="291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⑥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画细部结构</a:t>
            </a:r>
          </a:p>
        </p:txBody>
      </p:sp>
      <p:sp>
        <p:nvSpPr>
          <p:cNvPr id="32" name="Text Box 36">
            <a:extLst>
              <a:ext uri="{FF2B5EF4-FFF2-40B4-BE49-F238E27FC236}">
                <a16:creationId xmlns:a16="http://schemas.microsoft.com/office/drawing/2014/main" id="{5E03F5A6-0D0D-D12D-E5FA-668250F5F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464" y="5043055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弹簧、开口销等</a:t>
            </a:r>
          </a:p>
        </p:txBody>
      </p:sp>
      <p:sp>
        <p:nvSpPr>
          <p:cNvPr id="33" name="Line 37">
            <a:extLst>
              <a:ext uri="{FF2B5EF4-FFF2-40B4-BE49-F238E27FC236}">
                <a16:creationId xmlns:a16="http://schemas.microsoft.com/office/drawing/2014/main" id="{75CA17BC-A0B3-0C07-3AA1-CBB91FA619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47447" y="4852715"/>
            <a:ext cx="0" cy="1539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4" name="Group 38">
            <a:extLst>
              <a:ext uri="{FF2B5EF4-FFF2-40B4-BE49-F238E27FC236}">
                <a16:creationId xmlns:a16="http://schemas.microsoft.com/office/drawing/2014/main" id="{8A2BF1E2-12BA-E040-4A6E-5B158288E792}"/>
              </a:ext>
            </a:extLst>
          </p:cNvPr>
          <p:cNvGrpSpPr>
            <a:grpSpLocks/>
          </p:cNvGrpSpPr>
          <p:nvPr/>
        </p:nvGrpSpPr>
        <p:grpSpPr bwMode="auto">
          <a:xfrm>
            <a:off x="9037922" y="4838427"/>
            <a:ext cx="2171700" cy="1100138"/>
            <a:chOff x="4183" y="3087"/>
            <a:chExt cx="1263" cy="693"/>
          </a:xfrm>
        </p:grpSpPr>
        <p:sp>
          <p:nvSpPr>
            <p:cNvPr id="35" name="Line 39">
              <a:extLst>
                <a:ext uri="{FF2B5EF4-FFF2-40B4-BE49-F238E27FC236}">
                  <a16:creationId xmlns:a16="http://schemas.microsoft.com/office/drawing/2014/main" id="{73591853-9D73-51B1-9D0F-AF295093E9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694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40">
              <a:extLst>
                <a:ext uri="{FF2B5EF4-FFF2-40B4-BE49-F238E27FC236}">
                  <a16:creationId xmlns:a16="http://schemas.microsoft.com/office/drawing/2014/main" id="{5114C3C7-3C40-5A24-1A14-6242DD656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607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41">
              <a:extLst>
                <a:ext uri="{FF2B5EF4-FFF2-40B4-BE49-F238E27FC236}">
                  <a16:creationId xmlns:a16="http://schemas.microsoft.com/office/drawing/2014/main" id="{25D1E81D-FA72-A5AF-CFF5-D77D023CE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3517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42">
              <a:extLst>
                <a:ext uri="{FF2B5EF4-FFF2-40B4-BE49-F238E27FC236}">
                  <a16:creationId xmlns:a16="http://schemas.microsoft.com/office/drawing/2014/main" id="{9E0544E3-7EF6-ECAB-4A9D-4E8AF1C2C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3433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3BEC2CEB-F964-E607-319C-651105736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3346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CABB6B40-A25B-7C66-9914-59FE6C37D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3259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567D0D27-40FD-539F-6049-4B4BDC3D1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175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69F5FC42-E024-AC84-2611-A3AD24C90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5" y="3096"/>
              <a:ext cx="0" cy="6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5DCD5444-2D54-EB52-5B04-98303920A9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8" y="3090"/>
              <a:ext cx="0" cy="6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F12502A6-0F25-D9BF-B394-8488F7B7C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0" y="3093"/>
              <a:ext cx="0" cy="6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49">
              <a:extLst>
                <a:ext uri="{FF2B5EF4-FFF2-40B4-BE49-F238E27FC236}">
                  <a16:creationId xmlns:a16="http://schemas.microsoft.com/office/drawing/2014/main" id="{BC517728-A3DA-FD61-5423-C4506CCC6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5" y="3090"/>
              <a:ext cx="0" cy="6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FECC6499-F70B-6E88-176F-8212DA8BD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8" y="3090"/>
              <a:ext cx="0" cy="6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51">
              <a:extLst>
                <a:ext uri="{FF2B5EF4-FFF2-40B4-BE49-F238E27FC236}">
                  <a16:creationId xmlns:a16="http://schemas.microsoft.com/office/drawing/2014/main" id="{6AFD1093-65B4-1BA0-E1D6-696349E42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1" y="3093"/>
              <a:ext cx="0" cy="6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52">
              <a:extLst>
                <a:ext uri="{FF2B5EF4-FFF2-40B4-BE49-F238E27FC236}">
                  <a16:creationId xmlns:a16="http://schemas.microsoft.com/office/drawing/2014/main" id="{E9EEDB2E-382C-C4F2-828C-FDE1AA4FB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9" y="3087"/>
              <a:ext cx="0" cy="6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0" name="Line 53">
            <a:extLst>
              <a:ext uri="{FF2B5EF4-FFF2-40B4-BE49-F238E27FC236}">
                <a16:creationId xmlns:a16="http://schemas.microsoft.com/office/drawing/2014/main" id="{C7C74973-919B-B49F-6221-D3EB9F788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47447" y="4844777"/>
            <a:ext cx="2162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Line 54">
            <a:extLst>
              <a:ext uri="{FF2B5EF4-FFF2-40B4-BE49-F238E27FC236}">
                <a16:creationId xmlns:a16="http://schemas.microsoft.com/office/drawing/2014/main" id="{4A86A89A-A21C-0BC3-1523-A628C65B0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7922" y="5935390"/>
            <a:ext cx="21669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2" name="Group 55">
            <a:extLst>
              <a:ext uri="{FF2B5EF4-FFF2-40B4-BE49-F238E27FC236}">
                <a16:creationId xmlns:a16="http://schemas.microsoft.com/office/drawing/2014/main" id="{275A004C-89EA-4E65-B192-60A88228FD50}"/>
              </a:ext>
            </a:extLst>
          </p:cNvPr>
          <p:cNvGrpSpPr>
            <a:grpSpLocks/>
          </p:cNvGrpSpPr>
          <p:nvPr/>
        </p:nvGrpSpPr>
        <p:grpSpPr bwMode="auto">
          <a:xfrm>
            <a:off x="6299484" y="379140"/>
            <a:ext cx="4910138" cy="6013450"/>
            <a:chOff x="2508" y="271"/>
            <a:chExt cx="3093" cy="3788"/>
          </a:xfrm>
        </p:grpSpPr>
        <p:grpSp>
          <p:nvGrpSpPr>
            <p:cNvPr id="53" name="Group 56">
              <a:extLst>
                <a:ext uri="{FF2B5EF4-FFF2-40B4-BE49-F238E27FC236}">
                  <a16:creationId xmlns:a16="http://schemas.microsoft.com/office/drawing/2014/main" id="{7C61BBBE-78C1-46E2-BF70-748D7B71FF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8" y="271"/>
              <a:ext cx="3062" cy="3675"/>
              <a:chOff x="2506" y="269"/>
              <a:chExt cx="3062" cy="3675"/>
            </a:xfrm>
          </p:grpSpPr>
          <p:graphicFrame>
            <p:nvGraphicFramePr>
              <p:cNvPr id="72" name="Object 57">
                <a:extLst>
                  <a:ext uri="{FF2B5EF4-FFF2-40B4-BE49-F238E27FC236}">
                    <a16:creationId xmlns:a16="http://schemas.microsoft.com/office/drawing/2014/main" id="{85D9F0D7-E37F-B57F-98B8-E378DB1A71F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06" y="269"/>
              <a:ext cx="1986" cy="20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位图图像" r:id="rId15" imgW="2266667" imgH="2486372" progId="Paint.Picture">
                      <p:embed/>
                    </p:oleObj>
                  </mc:Choice>
                  <mc:Fallback>
                    <p:oleObj name="位图图像" r:id="rId15" imgW="2266667" imgH="2486372" progId="Paint.Picture">
                      <p:embed/>
                      <p:pic>
                        <p:nvPicPr>
                          <p:cNvPr id="69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6" y="269"/>
                            <a:ext cx="1986" cy="20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" name="Object 58">
                <a:extLst>
                  <a:ext uri="{FF2B5EF4-FFF2-40B4-BE49-F238E27FC236}">
                    <a16:creationId xmlns:a16="http://schemas.microsoft.com/office/drawing/2014/main" id="{5AA927BE-E677-9A94-B783-E2FB594FA50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54" y="2242"/>
              <a:ext cx="1877" cy="17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位图图像" r:id="rId17" imgW="2142857" imgH="2104762" progId="Paint.Picture">
                      <p:embed/>
                    </p:oleObj>
                  </mc:Choice>
                  <mc:Fallback>
                    <p:oleObj name="位图图像" r:id="rId17" imgW="2142857" imgH="2104762" progId="Paint.Picture">
                      <p:embed/>
                      <p:pic>
                        <p:nvPicPr>
                          <p:cNvPr id="70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54" y="2242"/>
                            <a:ext cx="1877" cy="17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" name="Object 59">
                <a:extLst>
                  <a:ext uri="{FF2B5EF4-FFF2-40B4-BE49-F238E27FC236}">
                    <a16:creationId xmlns:a16="http://schemas.microsoft.com/office/drawing/2014/main" id="{6E58E3D0-53A2-6758-0772-43730F23A28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04" y="304"/>
              <a:ext cx="1164" cy="16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位图图像" r:id="rId19" imgW="1371429" imgH="1991003" progId="Paint.Picture">
                      <p:embed/>
                    </p:oleObj>
                  </mc:Choice>
                  <mc:Fallback>
                    <p:oleObj name="位图图像" r:id="rId19" imgW="1371429" imgH="1991003" progId="Paint.Picture">
                      <p:embed/>
                      <p:pic>
                        <p:nvPicPr>
                          <p:cNvPr id="71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4" y="304"/>
                            <a:ext cx="1164" cy="16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5" name="Line 60">
                <a:extLst>
                  <a:ext uri="{FF2B5EF4-FFF2-40B4-BE49-F238E27FC236}">
                    <a16:creationId xmlns:a16="http://schemas.microsoft.com/office/drawing/2014/main" id="{46D04154-7D70-8A6B-403C-5251E5808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1" y="1535"/>
                <a:ext cx="0" cy="6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4" name="Line 61">
              <a:extLst>
                <a:ext uri="{FF2B5EF4-FFF2-40B4-BE49-F238E27FC236}">
                  <a16:creationId xmlns:a16="http://schemas.microsoft.com/office/drawing/2014/main" id="{83605F10-769C-1B50-4B0D-352C1CB3CD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9" y="3089"/>
              <a:ext cx="0" cy="9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5" name="Group 62">
              <a:extLst>
                <a:ext uri="{FF2B5EF4-FFF2-40B4-BE49-F238E27FC236}">
                  <a16:creationId xmlns:a16="http://schemas.microsoft.com/office/drawing/2014/main" id="{9A3A0FDB-A02F-DFFB-FFB8-193D3A86C1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3" y="3080"/>
              <a:ext cx="1368" cy="693"/>
              <a:chOff x="4183" y="3087"/>
              <a:chExt cx="1263" cy="693"/>
            </a:xfrm>
          </p:grpSpPr>
          <p:sp>
            <p:nvSpPr>
              <p:cNvPr id="58" name="Line 63">
                <a:extLst>
                  <a:ext uri="{FF2B5EF4-FFF2-40B4-BE49-F238E27FC236}">
                    <a16:creationId xmlns:a16="http://schemas.microsoft.com/office/drawing/2014/main" id="{C6996CC1-F209-8DC3-FAB7-EA6BD58F2F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6" y="3694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64">
                <a:extLst>
                  <a:ext uri="{FF2B5EF4-FFF2-40B4-BE49-F238E27FC236}">
                    <a16:creationId xmlns:a16="http://schemas.microsoft.com/office/drawing/2014/main" id="{62FD5B76-44E4-372F-92F7-C4E66E6373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6" y="3607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65">
                <a:extLst>
                  <a:ext uri="{FF2B5EF4-FFF2-40B4-BE49-F238E27FC236}">
                    <a16:creationId xmlns:a16="http://schemas.microsoft.com/office/drawing/2014/main" id="{74EF6420-7CA2-1249-33F5-F52AED73E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3" y="3517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66">
                <a:extLst>
                  <a:ext uri="{FF2B5EF4-FFF2-40B4-BE49-F238E27FC236}">
                    <a16:creationId xmlns:a16="http://schemas.microsoft.com/office/drawing/2014/main" id="{76C66B04-E1DD-D945-30E8-5351EB03D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3" y="3433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67">
                <a:extLst>
                  <a:ext uri="{FF2B5EF4-FFF2-40B4-BE49-F238E27FC236}">
                    <a16:creationId xmlns:a16="http://schemas.microsoft.com/office/drawing/2014/main" id="{C0B30E22-7226-3F1C-7A7D-68BDB0A06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3" y="3346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68">
                <a:extLst>
                  <a:ext uri="{FF2B5EF4-FFF2-40B4-BE49-F238E27FC236}">
                    <a16:creationId xmlns:a16="http://schemas.microsoft.com/office/drawing/2014/main" id="{3A9FA3D9-C051-7A4B-1D0B-E1007DD1F3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3" y="3259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69">
                <a:extLst>
                  <a:ext uri="{FF2B5EF4-FFF2-40B4-BE49-F238E27FC236}">
                    <a16:creationId xmlns:a16="http://schemas.microsoft.com/office/drawing/2014/main" id="{82394A24-11E0-8ECE-6A50-6CA17AD2B7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6" y="3175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70">
                <a:extLst>
                  <a:ext uri="{FF2B5EF4-FFF2-40B4-BE49-F238E27FC236}">
                    <a16:creationId xmlns:a16="http://schemas.microsoft.com/office/drawing/2014/main" id="{5DE53166-AFFF-D088-3090-C523CDBBDB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5" y="3096"/>
                <a:ext cx="0" cy="68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71">
                <a:extLst>
                  <a:ext uri="{FF2B5EF4-FFF2-40B4-BE49-F238E27FC236}">
                    <a16:creationId xmlns:a16="http://schemas.microsoft.com/office/drawing/2014/main" id="{D34839D0-EE8D-784B-150F-8779F8F191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8" y="3090"/>
                <a:ext cx="0" cy="6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Line 72">
                <a:extLst>
                  <a:ext uri="{FF2B5EF4-FFF2-40B4-BE49-F238E27FC236}">
                    <a16:creationId xmlns:a16="http://schemas.microsoft.com/office/drawing/2014/main" id="{228F4897-4FAE-8C75-42FA-C56A9FEBAD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0" y="3093"/>
                <a:ext cx="0" cy="68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Line 73">
                <a:extLst>
                  <a:ext uri="{FF2B5EF4-FFF2-40B4-BE49-F238E27FC236}">
                    <a16:creationId xmlns:a16="http://schemas.microsoft.com/office/drawing/2014/main" id="{79378C0C-E7BC-AEE2-F20C-F135B7530F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5" y="3090"/>
                <a:ext cx="0" cy="6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Line 74">
                <a:extLst>
                  <a:ext uri="{FF2B5EF4-FFF2-40B4-BE49-F238E27FC236}">
                    <a16:creationId xmlns:a16="http://schemas.microsoft.com/office/drawing/2014/main" id="{E1C64BA5-EC67-C80F-F7F0-B162AB4EB3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" y="3090"/>
                <a:ext cx="0" cy="6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75">
                <a:extLst>
                  <a:ext uri="{FF2B5EF4-FFF2-40B4-BE49-F238E27FC236}">
                    <a16:creationId xmlns:a16="http://schemas.microsoft.com/office/drawing/2014/main" id="{A51DFD92-53C6-7E51-66FE-840740B616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71" y="3093"/>
                <a:ext cx="0" cy="68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76">
                <a:extLst>
                  <a:ext uri="{FF2B5EF4-FFF2-40B4-BE49-F238E27FC236}">
                    <a16:creationId xmlns:a16="http://schemas.microsoft.com/office/drawing/2014/main" id="{328AD2CF-43AF-15E8-D3C1-655D7BB4E3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9" y="3087"/>
                <a:ext cx="0" cy="69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6" name="Line 77">
              <a:extLst>
                <a:ext uri="{FF2B5EF4-FFF2-40B4-BE49-F238E27FC236}">
                  <a16:creationId xmlns:a16="http://schemas.microsoft.com/office/drawing/2014/main" id="{CFE9C409-7963-0C51-286B-764B67B7F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3084"/>
              <a:ext cx="13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78">
              <a:extLst>
                <a:ext uri="{FF2B5EF4-FFF2-40B4-BE49-F238E27FC236}">
                  <a16:creationId xmlns:a16="http://schemas.microsoft.com/office/drawing/2014/main" id="{F166C951-1D66-2D04-B4E1-1F033F3DF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3" y="3771"/>
              <a:ext cx="136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6" name="Text Box 79">
            <a:extLst>
              <a:ext uri="{FF2B5EF4-FFF2-40B4-BE49-F238E27FC236}">
                <a16:creationId xmlns:a16="http://schemas.microsoft.com/office/drawing/2014/main" id="{285ECF9F-4C81-00D3-0F28-68A7D825D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0497" y="3239815"/>
            <a:ext cx="18843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CC0000"/>
                </a:solidFill>
                <a:ea typeface="黑体" panose="02010609060101010101" pitchFamily="49" charset="-122"/>
              </a:rPr>
              <a:t>出口单向阀</a:t>
            </a:r>
          </a:p>
        </p:txBody>
      </p:sp>
      <p:sp>
        <p:nvSpPr>
          <p:cNvPr id="77" name="Text Box 80">
            <a:extLst>
              <a:ext uri="{FF2B5EF4-FFF2-40B4-BE49-F238E27FC236}">
                <a16:creationId xmlns:a16="http://schemas.microsoft.com/office/drawing/2014/main" id="{F4B8F16B-8408-AE35-7BCE-5ADFBD88C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347" y="5838552"/>
            <a:ext cx="2000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CC0000"/>
                </a:solidFill>
                <a:ea typeface="黑体" panose="02010609060101010101" pitchFamily="49" charset="-122"/>
              </a:rPr>
              <a:t>进口单向阀</a:t>
            </a:r>
          </a:p>
        </p:txBody>
      </p:sp>
      <p:sp>
        <p:nvSpPr>
          <p:cNvPr id="78" name="Text Box 81">
            <a:extLst>
              <a:ext uri="{FF2B5EF4-FFF2-40B4-BE49-F238E27FC236}">
                <a16:creationId xmlns:a16="http://schemas.microsoft.com/office/drawing/2014/main" id="{6441ACF7-8688-D378-32E0-78C19386D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8922" y="429940"/>
            <a:ext cx="185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滚轮、小轴</a:t>
            </a:r>
          </a:p>
        </p:txBody>
      </p:sp>
    </p:spTree>
    <p:extLst>
      <p:ext uri="{BB962C8B-B14F-4D97-AF65-F5344CB8AC3E}">
        <p14:creationId xmlns:p14="http://schemas.microsoft.com/office/powerpoint/2010/main" val="362029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25" grpId="0" autoUpdateAnimBg="0"/>
      <p:bldP spid="31" grpId="0" build="p" autoUpdateAnimBg="0"/>
      <p:bldP spid="32" grpId="0" autoUpdateAnimBg="0"/>
      <p:bldP spid="76" grpId="0"/>
      <p:bldP spid="77" grpId="0"/>
      <p:bldP spid="7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EA99-BA83-3D56-F3AA-40C128B3F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1E5388E0-3DF9-E092-3995-3EAC4EC023FB}"/>
              </a:ext>
            </a:extLst>
          </p:cNvPr>
          <p:cNvSpPr/>
          <p:nvPr/>
        </p:nvSpPr>
        <p:spPr>
          <a:xfrm>
            <a:off x="5513500" y="0"/>
            <a:ext cx="6775188" cy="6298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97804BD0-B228-14B7-4CD6-DC21FFEEC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BEA874C5-E85A-E3E8-F3A3-BF6CDC057E99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sp>
        <p:nvSpPr>
          <p:cNvPr id="3" name="Text Box 87">
            <a:extLst>
              <a:ext uri="{FF2B5EF4-FFF2-40B4-BE49-F238E27FC236}">
                <a16:creationId xmlns:a16="http://schemas.microsoft.com/office/drawing/2014/main" id="{BE835A25-DCFE-9385-93D4-6FEB91FE2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绘制装配图的方法和步骤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DB04A04A-4E67-C62F-EBA4-1EF1D466D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437" y="166558"/>
            <a:ext cx="5275262" cy="63134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8040E4BE-956E-E85C-57FF-8CC1BD469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711" y="1915999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⑦</a:t>
            </a:r>
            <a:r>
              <a:rPr lang="en-US" altLang="zh-CN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完成装配图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EFA73474-D540-5E6C-1865-A8DBD7BA8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2880" y="2825329"/>
            <a:ext cx="2879742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画剖面线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加深图线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标注尺寸及公差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进行零件编号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填写标题栏、明细表</a:t>
            </a:r>
            <a:r>
              <a:rPr lang="zh-CN" altLang="en-US" sz="20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写技术要求等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206E210C-3CCC-726B-0EE1-8A3765788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687" y="2370664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检查无误后：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6D42FA3-999D-89FF-43F8-8B350D03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687" y="5747688"/>
            <a:ext cx="223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完成装配图</a:t>
            </a:r>
          </a:p>
        </p:txBody>
      </p:sp>
      <p:grpSp>
        <p:nvGrpSpPr>
          <p:cNvPr id="9" name="Group 14">
            <a:extLst>
              <a:ext uri="{FF2B5EF4-FFF2-40B4-BE49-F238E27FC236}">
                <a16:creationId xmlns:a16="http://schemas.microsoft.com/office/drawing/2014/main" id="{CFA471C6-A527-AF8B-8DC9-D952E6A7F59F}"/>
              </a:ext>
            </a:extLst>
          </p:cNvPr>
          <p:cNvGrpSpPr>
            <a:grpSpLocks/>
          </p:cNvGrpSpPr>
          <p:nvPr/>
        </p:nvGrpSpPr>
        <p:grpSpPr bwMode="auto">
          <a:xfrm>
            <a:off x="6268074" y="282446"/>
            <a:ext cx="4989513" cy="6070600"/>
            <a:chOff x="2456" y="233"/>
            <a:chExt cx="3143" cy="3824"/>
          </a:xfrm>
        </p:grpSpPr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06813BE2-907D-F4DF-AA64-ACA1F9D32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233"/>
              <a:ext cx="3142" cy="38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11" name="Group 16">
              <a:extLst>
                <a:ext uri="{FF2B5EF4-FFF2-40B4-BE49-F238E27FC236}">
                  <a16:creationId xmlns:a16="http://schemas.microsoft.com/office/drawing/2014/main" id="{16CD0E3D-7179-F681-BB5F-35ABFBAA42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6" y="269"/>
              <a:ext cx="3062" cy="3675"/>
              <a:chOff x="2506" y="269"/>
              <a:chExt cx="3062" cy="3675"/>
            </a:xfrm>
          </p:grpSpPr>
          <p:graphicFrame>
            <p:nvGraphicFramePr>
              <p:cNvPr id="31" name="Object 17">
                <a:extLst>
                  <a:ext uri="{FF2B5EF4-FFF2-40B4-BE49-F238E27FC236}">
                    <a16:creationId xmlns:a16="http://schemas.microsoft.com/office/drawing/2014/main" id="{0F1DDC18-71D5-F0AE-43BD-105DAB4EDC8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06" y="269"/>
              <a:ext cx="1986" cy="20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位图图像" r:id="rId3" imgW="2266667" imgH="2486372" progId="Paint.Picture">
                      <p:embed/>
                    </p:oleObj>
                  </mc:Choice>
                  <mc:Fallback>
                    <p:oleObj name="位图图像" r:id="rId3" imgW="2266667" imgH="2486372" progId="Paint.Picture">
                      <p:embed/>
                      <p:pic>
                        <p:nvPicPr>
                          <p:cNvPr id="29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6" y="269"/>
                            <a:ext cx="1986" cy="201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18">
                <a:extLst>
                  <a:ext uri="{FF2B5EF4-FFF2-40B4-BE49-F238E27FC236}">
                    <a16:creationId xmlns:a16="http://schemas.microsoft.com/office/drawing/2014/main" id="{3320A1AB-13F4-4337-2271-1CA31350D4D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54" y="2242"/>
              <a:ext cx="1877" cy="17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位图图像" r:id="rId5" imgW="2142857" imgH="2104762" progId="Paint.Picture">
                      <p:embed/>
                    </p:oleObj>
                  </mc:Choice>
                  <mc:Fallback>
                    <p:oleObj name="位图图像" r:id="rId5" imgW="2142857" imgH="2104762" progId="Paint.Picture">
                      <p:embed/>
                      <p:pic>
                        <p:nvPicPr>
                          <p:cNvPr id="3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54" y="2242"/>
                            <a:ext cx="1877" cy="1702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" name="Object 19">
                <a:extLst>
                  <a:ext uri="{FF2B5EF4-FFF2-40B4-BE49-F238E27FC236}">
                    <a16:creationId xmlns:a16="http://schemas.microsoft.com/office/drawing/2014/main" id="{1F24B984-1EEF-93E0-8270-97D282CA735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04" y="304"/>
              <a:ext cx="1164" cy="16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位图图像" r:id="rId7" imgW="1371429" imgH="1991003" progId="Paint.Picture">
                      <p:embed/>
                    </p:oleObj>
                  </mc:Choice>
                  <mc:Fallback>
                    <p:oleObj name="位图图像" r:id="rId7" imgW="1371429" imgH="1991003" progId="Paint.Picture">
                      <p:embed/>
                      <p:pic>
                        <p:nvPicPr>
                          <p:cNvPr id="31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4" y="304"/>
                            <a:ext cx="1164" cy="1617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" name="Line 20">
                <a:extLst>
                  <a:ext uri="{FF2B5EF4-FFF2-40B4-BE49-F238E27FC236}">
                    <a16:creationId xmlns:a16="http://schemas.microsoft.com/office/drawing/2014/main" id="{CBDC37F5-7642-CFB1-4A77-449956140E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1" y="1535"/>
                <a:ext cx="0" cy="6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312E8610-96DE-4EA2-7B40-DB08D1AAF3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7" y="3087"/>
              <a:ext cx="0" cy="9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3" name="Group 22">
              <a:extLst>
                <a:ext uri="{FF2B5EF4-FFF2-40B4-BE49-F238E27FC236}">
                  <a16:creationId xmlns:a16="http://schemas.microsoft.com/office/drawing/2014/main" id="{1DA8A24C-7DFA-6212-6640-4C7B25A797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1" y="3078"/>
              <a:ext cx="1368" cy="693"/>
              <a:chOff x="4183" y="3087"/>
              <a:chExt cx="1263" cy="693"/>
            </a:xfrm>
          </p:grpSpPr>
          <p:sp>
            <p:nvSpPr>
              <p:cNvPr id="17" name="Line 23">
                <a:extLst>
                  <a:ext uri="{FF2B5EF4-FFF2-40B4-BE49-F238E27FC236}">
                    <a16:creationId xmlns:a16="http://schemas.microsoft.com/office/drawing/2014/main" id="{8637E9B8-FA8D-917F-2EDA-B7A7C7E2E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6" y="3694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Line 24">
                <a:extLst>
                  <a:ext uri="{FF2B5EF4-FFF2-40B4-BE49-F238E27FC236}">
                    <a16:creationId xmlns:a16="http://schemas.microsoft.com/office/drawing/2014/main" id="{27728A2D-9C62-BE59-600B-0852AD8F09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6" y="3607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Line 25">
                <a:extLst>
                  <a:ext uri="{FF2B5EF4-FFF2-40B4-BE49-F238E27FC236}">
                    <a16:creationId xmlns:a16="http://schemas.microsoft.com/office/drawing/2014/main" id="{E2D9717D-FEB4-BE6E-55E1-5FC6FA17D4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3" y="3517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26">
                <a:extLst>
                  <a:ext uri="{FF2B5EF4-FFF2-40B4-BE49-F238E27FC236}">
                    <a16:creationId xmlns:a16="http://schemas.microsoft.com/office/drawing/2014/main" id="{0BAFBF30-F530-BA91-CB9F-2602079986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3" y="3433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27">
                <a:extLst>
                  <a:ext uri="{FF2B5EF4-FFF2-40B4-BE49-F238E27FC236}">
                    <a16:creationId xmlns:a16="http://schemas.microsoft.com/office/drawing/2014/main" id="{893589BD-8E64-1207-8279-9788C70D7A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3" y="3346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28">
                <a:extLst>
                  <a:ext uri="{FF2B5EF4-FFF2-40B4-BE49-F238E27FC236}">
                    <a16:creationId xmlns:a16="http://schemas.microsoft.com/office/drawing/2014/main" id="{A2D8933F-89D7-0540-409C-E68275792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3" y="3259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29">
                <a:extLst>
                  <a:ext uri="{FF2B5EF4-FFF2-40B4-BE49-F238E27FC236}">
                    <a16:creationId xmlns:a16="http://schemas.microsoft.com/office/drawing/2014/main" id="{A89C01D5-768E-00C9-D767-7625002D9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6" y="3175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30">
                <a:extLst>
                  <a:ext uri="{FF2B5EF4-FFF2-40B4-BE49-F238E27FC236}">
                    <a16:creationId xmlns:a16="http://schemas.microsoft.com/office/drawing/2014/main" id="{9CFE540C-3E1F-372C-916D-8942AB5BE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5" y="3096"/>
                <a:ext cx="0" cy="68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31">
                <a:extLst>
                  <a:ext uri="{FF2B5EF4-FFF2-40B4-BE49-F238E27FC236}">
                    <a16:creationId xmlns:a16="http://schemas.microsoft.com/office/drawing/2014/main" id="{E0BBC838-F783-3678-5D07-DB49931DA9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8" y="3090"/>
                <a:ext cx="0" cy="6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32">
                <a:extLst>
                  <a:ext uri="{FF2B5EF4-FFF2-40B4-BE49-F238E27FC236}">
                    <a16:creationId xmlns:a16="http://schemas.microsoft.com/office/drawing/2014/main" id="{43CF276C-6471-8E6D-A0DA-29717E1F1C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0" y="3093"/>
                <a:ext cx="0" cy="68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33">
                <a:extLst>
                  <a:ext uri="{FF2B5EF4-FFF2-40B4-BE49-F238E27FC236}">
                    <a16:creationId xmlns:a16="http://schemas.microsoft.com/office/drawing/2014/main" id="{48E93962-0A66-3DEC-A336-2CD705C0B4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5" y="3090"/>
                <a:ext cx="0" cy="6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34">
                <a:extLst>
                  <a:ext uri="{FF2B5EF4-FFF2-40B4-BE49-F238E27FC236}">
                    <a16:creationId xmlns:a16="http://schemas.microsoft.com/office/drawing/2014/main" id="{29ED7E0A-A176-AE72-A359-42D0E9E589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" y="3090"/>
                <a:ext cx="0" cy="6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35">
                <a:extLst>
                  <a:ext uri="{FF2B5EF4-FFF2-40B4-BE49-F238E27FC236}">
                    <a16:creationId xmlns:a16="http://schemas.microsoft.com/office/drawing/2014/main" id="{0E0FC6DD-690F-7BEA-189B-CEB734E678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71" y="3093"/>
                <a:ext cx="0" cy="68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36">
                <a:extLst>
                  <a:ext uri="{FF2B5EF4-FFF2-40B4-BE49-F238E27FC236}">
                    <a16:creationId xmlns:a16="http://schemas.microsoft.com/office/drawing/2014/main" id="{1BBC762F-8C40-107F-EE52-CBB7B93E2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9" y="3087"/>
                <a:ext cx="0" cy="69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" name="Line 37">
              <a:extLst>
                <a:ext uri="{FF2B5EF4-FFF2-40B4-BE49-F238E27FC236}">
                  <a16:creationId xmlns:a16="http://schemas.microsoft.com/office/drawing/2014/main" id="{FBC83F9E-41CB-7774-2E99-D2B6B0C06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7" y="3082"/>
              <a:ext cx="13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Line 38">
              <a:extLst>
                <a:ext uri="{FF2B5EF4-FFF2-40B4-BE49-F238E27FC236}">
                  <a16:creationId xmlns:a16="http://schemas.microsoft.com/office/drawing/2014/main" id="{1ADBF57D-4880-ECE1-1106-4C465980C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1" y="3769"/>
              <a:ext cx="136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" name="Group 39">
            <a:extLst>
              <a:ext uri="{FF2B5EF4-FFF2-40B4-BE49-F238E27FC236}">
                <a16:creationId xmlns:a16="http://schemas.microsoft.com/office/drawing/2014/main" id="{103A803A-37CA-2367-9995-9B31F1924619}"/>
              </a:ext>
            </a:extLst>
          </p:cNvPr>
          <p:cNvGrpSpPr>
            <a:grpSpLocks/>
          </p:cNvGrpSpPr>
          <p:nvPr/>
        </p:nvGrpSpPr>
        <p:grpSpPr bwMode="auto">
          <a:xfrm>
            <a:off x="5931524" y="-27117"/>
            <a:ext cx="5540375" cy="6858000"/>
            <a:chOff x="2264" y="0"/>
            <a:chExt cx="3490" cy="4320"/>
          </a:xfrm>
        </p:grpSpPr>
        <p:grpSp>
          <p:nvGrpSpPr>
            <p:cNvPr id="36" name="Group 40">
              <a:extLst>
                <a:ext uri="{FF2B5EF4-FFF2-40B4-BE49-F238E27FC236}">
                  <a16:creationId xmlns:a16="http://schemas.microsoft.com/office/drawing/2014/main" id="{7F97D266-C08B-05B0-78AB-6DEEEAF986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4" y="0"/>
              <a:ext cx="3490" cy="4320"/>
              <a:chOff x="2264" y="0"/>
              <a:chExt cx="3490" cy="4320"/>
            </a:xfrm>
          </p:grpSpPr>
          <p:sp>
            <p:nvSpPr>
              <p:cNvPr id="46" name="Rectangle 41">
                <a:extLst>
                  <a:ext uri="{FF2B5EF4-FFF2-40B4-BE49-F238E27FC236}">
                    <a16:creationId xmlns:a16="http://schemas.microsoft.com/office/drawing/2014/main" id="{FA7D6F38-2429-8AC1-5C39-9F4C831BC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0"/>
                <a:ext cx="3490" cy="4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Rectangle 42">
                <a:extLst>
                  <a:ext uri="{FF2B5EF4-FFF2-40B4-BE49-F238E27FC236}">
                    <a16:creationId xmlns:a16="http://schemas.microsoft.com/office/drawing/2014/main" id="{2D402063-4485-2237-457A-810AFC7FC7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1" y="84"/>
                <a:ext cx="3311" cy="4164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8" name="Group 43">
              <a:extLst>
                <a:ext uri="{FF2B5EF4-FFF2-40B4-BE49-F238E27FC236}">
                  <a16:creationId xmlns:a16="http://schemas.microsoft.com/office/drawing/2014/main" id="{43E1B208-EEA2-2E71-DF3C-452FD90E4B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2" y="109"/>
              <a:ext cx="3285" cy="4163"/>
              <a:chOff x="2402" y="109"/>
              <a:chExt cx="3285" cy="4163"/>
            </a:xfrm>
          </p:grpSpPr>
          <p:grpSp>
            <p:nvGrpSpPr>
              <p:cNvPr id="39" name="Group 44">
                <a:extLst>
                  <a:ext uri="{FF2B5EF4-FFF2-40B4-BE49-F238E27FC236}">
                    <a16:creationId xmlns:a16="http://schemas.microsoft.com/office/drawing/2014/main" id="{DF1A3A3B-473C-0A05-A3BE-F3CEDCD4BF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2" y="109"/>
                <a:ext cx="3123" cy="4104"/>
                <a:chOff x="2402" y="109"/>
                <a:chExt cx="3123" cy="4104"/>
              </a:xfrm>
            </p:grpSpPr>
            <p:graphicFrame>
              <p:nvGraphicFramePr>
                <p:cNvPr id="43" name="Object 45">
                  <a:extLst>
                    <a:ext uri="{FF2B5EF4-FFF2-40B4-BE49-F238E27FC236}">
                      <a16:creationId xmlns:a16="http://schemas.microsoft.com/office/drawing/2014/main" id="{E0DCA193-CBD6-32C1-C396-E23301244DA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12" y="109"/>
                <a:ext cx="1954" cy="211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9" imgW="4944165" imgH="5361905" progId="Paint.Picture">
                        <p:embed/>
                      </p:oleObj>
                    </mc:Choice>
                    <mc:Fallback>
                      <p:oleObj name="位图图像" r:id="rId9" imgW="4944165" imgH="5361905" progId="Paint.Picture">
                        <p:embed/>
                        <p:pic>
                          <p:nvPicPr>
                            <p:cNvPr id="40" name="Object 4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12" y="109"/>
                              <a:ext cx="1954" cy="211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4" name="Object 46">
                  <a:extLst>
                    <a:ext uri="{FF2B5EF4-FFF2-40B4-BE49-F238E27FC236}">
                      <a16:creationId xmlns:a16="http://schemas.microsoft.com/office/drawing/2014/main" id="{F47B6236-0EDE-4C56-67C8-CEE24E22F98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02" y="2237"/>
                <a:ext cx="1826" cy="19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11" imgW="4619048" imgH="5001323" progId="Paint.Picture">
                        <p:embed/>
                      </p:oleObj>
                    </mc:Choice>
                    <mc:Fallback>
                      <p:oleObj name="位图图像" r:id="rId11" imgW="4619048" imgH="5001323" progId="Paint.Picture">
                        <p:embed/>
                        <p:pic>
                          <p:nvPicPr>
                            <p:cNvPr id="41" name="Object 4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02" y="2237"/>
                              <a:ext cx="1826" cy="19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5" name="Object 47">
                  <a:extLst>
                    <a:ext uri="{FF2B5EF4-FFF2-40B4-BE49-F238E27FC236}">
                      <a16:creationId xmlns:a16="http://schemas.microsoft.com/office/drawing/2014/main" id="{6089E1CA-051F-4148-A09C-B2B62C3B206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40" y="225"/>
                <a:ext cx="1085" cy="167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13" imgW="2742857" imgH="4238095" progId="Paint.Picture">
                        <p:embed/>
                      </p:oleObj>
                    </mc:Choice>
                    <mc:Fallback>
                      <p:oleObj name="位图图像" r:id="rId13" imgW="2742857" imgH="4238095" progId="Paint.Picture">
                        <p:embed/>
                        <p:pic>
                          <p:nvPicPr>
                            <p:cNvPr id="42" name="Object 4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40" y="225"/>
                              <a:ext cx="1085" cy="167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40" name="Group 48">
                <a:extLst>
                  <a:ext uri="{FF2B5EF4-FFF2-40B4-BE49-F238E27FC236}">
                    <a16:creationId xmlns:a16="http://schemas.microsoft.com/office/drawing/2014/main" id="{4583DE00-654A-5815-5B79-A08CB0D766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80" y="2227"/>
                <a:ext cx="1507" cy="2045"/>
                <a:chOff x="4180" y="2227"/>
                <a:chExt cx="1507" cy="2045"/>
              </a:xfrm>
            </p:grpSpPr>
            <p:graphicFrame>
              <p:nvGraphicFramePr>
                <p:cNvPr id="41" name="Object 49">
                  <a:extLst>
                    <a:ext uri="{FF2B5EF4-FFF2-40B4-BE49-F238E27FC236}">
                      <a16:creationId xmlns:a16="http://schemas.microsoft.com/office/drawing/2014/main" id="{13040303-ABF1-BBEC-7F7A-307CEBDDF8D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06" y="2227"/>
                <a:ext cx="1152" cy="5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15" imgW="2886478" imgH="1305107" progId="Paint.Picture">
                        <p:embed/>
                      </p:oleObj>
                    </mc:Choice>
                    <mc:Fallback>
                      <p:oleObj name="位图图像" r:id="rId15" imgW="2886478" imgH="1305107" progId="Paint.Picture">
                        <p:embed/>
                        <p:pic>
                          <p:nvPicPr>
                            <p:cNvPr id="38" name="Object 4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06" y="2227"/>
                              <a:ext cx="1152" cy="5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" name="Object 50">
                  <a:extLst>
                    <a:ext uri="{FF2B5EF4-FFF2-40B4-BE49-F238E27FC236}">
                      <a16:creationId xmlns:a16="http://schemas.microsoft.com/office/drawing/2014/main" id="{441B8F14-3071-CF2A-2A67-01C50A55AD4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180" y="2867"/>
                <a:ext cx="1507" cy="14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17" imgW="3772427" imgH="3514286" progId="Paint.Picture">
                        <p:embed/>
                      </p:oleObj>
                    </mc:Choice>
                    <mc:Fallback>
                      <p:oleObj name="位图图像" r:id="rId17" imgW="3772427" imgH="3514286" progId="Paint.Picture">
                        <p:embed/>
                        <p:pic>
                          <p:nvPicPr>
                            <p:cNvPr id="39" name="Object 5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80" y="2867"/>
                              <a:ext cx="1507" cy="140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</p:spTree>
    <p:extLst>
      <p:ext uri="{BB962C8B-B14F-4D97-AF65-F5344CB8AC3E}">
        <p14:creationId xmlns:p14="http://schemas.microsoft.com/office/powerpoint/2010/main" val="394167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autoUpdateAnimBg="0"/>
      <p:bldP spid="7" grpId="0" build="p" autoUpdateAnimBg="0"/>
      <p:bldP spid="8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AE5B-19AC-EACF-55F4-CEB1D586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50F1181-F01B-E12E-6E40-9C1C5E434D0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450890" y="2727903"/>
            <a:ext cx="5290231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装配图的标注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EA386E8-3EC5-DC3E-31CC-3726C91861C6}"/>
              </a:ext>
            </a:extLst>
          </p:cNvPr>
          <p:cNvSpPr/>
          <p:nvPr/>
        </p:nvSpPr>
        <p:spPr>
          <a:xfrm>
            <a:off x="2701879" y="1136817"/>
            <a:ext cx="5822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14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012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5D5A6-1CA1-FC94-131B-D6B60169E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87936B9D-BD45-20F5-85BA-62E535F4C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358944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装配图的标注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FB3125BD-3393-5AF7-474E-D4863B2C4589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3A62AB3A-A72E-F2EC-23B2-6014D2F51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装配图的尺寸标注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FF4BDBE-12C0-4AB4-2A0B-4BAB13CA3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08" y="1832956"/>
            <a:ext cx="81868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10000"/>
                </a:solidFill>
                <a:latin typeface="+mn-ea"/>
                <a:ea typeface="+mn-ea"/>
              </a:rPr>
              <a:t>    </a:t>
            </a:r>
            <a:r>
              <a:rPr lang="zh-CN" altLang="en-US" sz="2400" dirty="0">
                <a:solidFill>
                  <a:srgbClr val="010000"/>
                </a:solidFill>
                <a:latin typeface="+mn-ea"/>
                <a:ea typeface="+mn-ea"/>
              </a:rPr>
              <a:t>根据装配图使用的目的要求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，只需标注下列相关尺寸：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5E3B306-AE1F-17AD-2EFE-75FE8C232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017" y="2338295"/>
            <a:ext cx="17043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CC0000"/>
                </a:solidFill>
                <a:latin typeface="+mn-ea"/>
                <a:ea typeface="+mn-ea"/>
              </a:rPr>
              <a:t> </a:t>
            </a:r>
            <a:r>
              <a:rPr lang="zh-CN" altLang="en-US" sz="2400">
                <a:solidFill>
                  <a:srgbClr val="CC0000"/>
                </a:solidFill>
                <a:latin typeface="+mn-ea"/>
                <a:ea typeface="+mn-ea"/>
              </a:rPr>
              <a:t>特性尺寸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740B90DC-81B6-A80A-E4FC-621735D74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8667" y="2936782"/>
            <a:ext cx="17043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CC0000"/>
                </a:solidFill>
                <a:latin typeface="+mn-ea"/>
                <a:ea typeface="+mn-ea"/>
              </a:rPr>
              <a:t> </a:t>
            </a:r>
            <a:r>
              <a:rPr lang="zh-CN" altLang="en-US" sz="2400">
                <a:solidFill>
                  <a:srgbClr val="CC0000"/>
                </a:solidFill>
                <a:latin typeface="+mn-ea"/>
                <a:ea typeface="+mn-ea"/>
              </a:rPr>
              <a:t>装配尺寸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ADA8B8B2-BBF5-A73B-C00F-8EEA44AD3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142" y="3784507"/>
            <a:ext cx="17043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CC0000"/>
                </a:solidFill>
                <a:latin typeface="+mn-ea"/>
                <a:ea typeface="+mn-ea"/>
              </a:rPr>
              <a:t> </a:t>
            </a:r>
            <a:r>
              <a:rPr lang="zh-CN" altLang="en-US" sz="2400">
                <a:solidFill>
                  <a:srgbClr val="CC0000"/>
                </a:solidFill>
                <a:latin typeface="+mn-ea"/>
                <a:ea typeface="+mn-ea"/>
              </a:rPr>
              <a:t>安装尺寸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0ACB9E9A-AFE6-E681-D838-5C711E535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8667" y="4324257"/>
            <a:ext cx="17043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+mn-ea"/>
                <a:ea typeface="+mn-ea"/>
              </a:rPr>
              <a:t> </a:t>
            </a:r>
            <a:r>
              <a:rPr lang="zh-CN" altLang="en-US" sz="2400" dirty="0">
                <a:solidFill>
                  <a:srgbClr val="CC0000"/>
                </a:solidFill>
                <a:latin typeface="+mn-ea"/>
                <a:ea typeface="+mn-ea"/>
              </a:rPr>
              <a:t>外形尺寸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81141B70-9AFC-4191-C6D4-233A31E2F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235" y="2368309"/>
            <a:ext cx="445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——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表明部件性能和规格的尺寸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8A38881B-DE1F-B65E-FD10-499A87B2C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123" y="3831984"/>
            <a:ext cx="551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  <a:sym typeface="Marlett" pitchFamily="2" charset="2"/>
              </a:rPr>
              <a:t>——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  <a:sym typeface="Marlett" pitchFamily="2" charset="2"/>
              </a:rPr>
              <a:t>将部件安装到其他部件上所需尺寸 </a:t>
            </a:r>
            <a:endParaRPr lang="zh-CN" altLang="en-US" sz="2400">
              <a:solidFill>
                <a:srgbClr val="000000"/>
              </a:solidFill>
              <a:latin typeface="+mn-ea"/>
              <a:ea typeface="+mn-ea"/>
              <a:sym typeface="UniversalMath1 BT" pitchFamily="18" charset="2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58AB5084-6FDA-46E5-D896-D5B847F7E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0885" y="4324109"/>
            <a:ext cx="536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——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表明部件总长、总宽、总高的尺寸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E79E44B5-8176-AD35-B784-7146C3182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2473" y="2938648"/>
            <a:ext cx="541686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——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表明零件之间配合及重要相对位置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    的尺寸以保证部件或机器的性能</a:t>
            </a:r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0A3B7922-A527-E05C-6B7B-3BC227B75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3904" y="4890995"/>
            <a:ext cx="35509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CC0000"/>
                </a:solidFill>
                <a:latin typeface="+mn-ea"/>
                <a:ea typeface="+mn-ea"/>
              </a:rPr>
              <a:t> </a:t>
            </a:r>
            <a:r>
              <a:rPr lang="zh-CN" altLang="en-US" sz="2400" dirty="0">
                <a:solidFill>
                  <a:srgbClr val="CC0000"/>
                </a:solidFill>
                <a:latin typeface="+mn-ea"/>
                <a:ea typeface="+mn-ea"/>
              </a:rPr>
              <a:t>零件关键结构形状尺寸</a:t>
            </a:r>
          </a:p>
        </p:txBody>
      </p:sp>
      <p:sp>
        <p:nvSpPr>
          <p:cNvPr id="14" name="Text Box 21">
            <a:extLst>
              <a:ext uri="{FF2B5EF4-FFF2-40B4-BE49-F238E27FC236}">
                <a16:creationId xmlns:a16="http://schemas.microsoft.com/office/drawing/2014/main" id="{1DCAC2BA-58DF-42E4-7938-A70CF2CC9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6123" y="5346885"/>
            <a:ext cx="55340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——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直接关系部件功能实现的关键结构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    的形状大小在设计零件时不能改变</a:t>
            </a:r>
          </a:p>
        </p:txBody>
      </p:sp>
    </p:spTree>
    <p:extLst>
      <p:ext uri="{BB962C8B-B14F-4D97-AF65-F5344CB8AC3E}">
        <p14:creationId xmlns:p14="http://schemas.microsoft.com/office/powerpoint/2010/main" val="4201092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/>
      <p:bldP spid="5" grpId="0" build="p" autoUpdateAnimBg="0" advAuto="0"/>
      <p:bldP spid="6" grpId="0" build="p" autoUpdateAnimBg="0" advAuto="0"/>
      <p:bldP spid="7" grpId="0" build="p" autoUpdateAnimBg="0" advAuto="0"/>
      <p:bldP spid="8" grpId="0" build="p" autoUpdateAnimBg="0"/>
      <p:bldP spid="9" grpId="0" build="p" autoUpdateAnimBg="0"/>
      <p:bldP spid="10" grpId="0" build="p" autoUpdateAnimBg="0"/>
      <p:bldP spid="11" grpId="0" autoUpdateAnimBg="0"/>
      <p:bldP spid="13" grpId="0" build="p" autoUpdateAnimBg="0" advAuto="0"/>
      <p:bldP spid="1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70B1C-1EC9-4A4A-88D4-39617B997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E97DDF18-C582-17B6-B71C-840AE5036964}"/>
              </a:ext>
            </a:extLst>
          </p:cNvPr>
          <p:cNvSpPr/>
          <p:nvPr/>
        </p:nvSpPr>
        <p:spPr>
          <a:xfrm>
            <a:off x="5240835" y="0"/>
            <a:ext cx="7047853" cy="68853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F3AE9C96-6C89-4972-D195-3E25F322B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55F8099C-E96A-ADEB-473B-A8BA6805757A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sp>
        <p:nvSpPr>
          <p:cNvPr id="3" name="Text Box 87">
            <a:extLst>
              <a:ext uri="{FF2B5EF4-FFF2-40B4-BE49-F238E27FC236}">
                <a16:creationId xmlns:a16="http://schemas.microsoft.com/office/drawing/2014/main" id="{F0011926-D92E-968E-D3BD-D54047D7A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装配图的尺寸标注</a:t>
            </a: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99A48174-51B0-8531-FEE1-B0829A945C51}"/>
              </a:ext>
            </a:extLst>
          </p:cNvPr>
          <p:cNvGrpSpPr>
            <a:grpSpLocks/>
          </p:cNvGrpSpPr>
          <p:nvPr/>
        </p:nvGrpSpPr>
        <p:grpSpPr bwMode="auto">
          <a:xfrm>
            <a:off x="5571194" y="20638"/>
            <a:ext cx="5507037" cy="6811963"/>
            <a:chOff x="1637" y="13"/>
            <a:chExt cx="3469" cy="4291"/>
          </a:xfrm>
        </p:grpSpPr>
        <p:graphicFrame>
          <p:nvGraphicFramePr>
            <p:cNvPr id="5" name="Object 11">
              <a:extLst>
                <a:ext uri="{FF2B5EF4-FFF2-40B4-BE49-F238E27FC236}">
                  <a16:creationId xmlns:a16="http://schemas.microsoft.com/office/drawing/2014/main" id="{384FB56B-134E-997A-9CAD-8F549A2364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2301778"/>
                </p:ext>
              </p:extLst>
            </p:nvPr>
          </p:nvGraphicFramePr>
          <p:xfrm>
            <a:off x="1677" y="13"/>
            <a:ext cx="2112" cy="2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3" imgW="3572374" imgH="3905795" progId="Paint.Picture">
                    <p:embed/>
                  </p:oleObj>
                </mc:Choice>
                <mc:Fallback>
                  <p:oleObj name="位图图像" r:id="rId3" imgW="3572374" imgH="3905795" progId="Paint.Picture">
                    <p:embed/>
                    <p:pic>
                      <p:nvPicPr>
                        <p:cNvPr id="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7" y="13"/>
                          <a:ext cx="2112" cy="2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2">
              <a:extLst>
                <a:ext uri="{FF2B5EF4-FFF2-40B4-BE49-F238E27FC236}">
                  <a16:creationId xmlns:a16="http://schemas.microsoft.com/office/drawing/2014/main" id="{EBC3F105-5F92-3F24-83B7-B66A955A8A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7" y="2164"/>
            <a:ext cx="2090" cy="2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5" imgW="3428571" imgH="3524742" progId="Paint.Picture">
                    <p:embed/>
                  </p:oleObj>
                </mc:Choice>
                <mc:Fallback>
                  <p:oleObj name="位图图像" r:id="rId5" imgW="3428571" imgH="3524742" progId="Paint.Picture">
                    <p:embed/>
                    <p:pic>
                      <p:nvPicPr>
                        <p:cNvPr id="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7" y="2164"/>
                          <a:ext cx="2090" cy="2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3">
              <a:extLst>
                <a:ext uri="{FF2B5EF4-FFF2-40B4-BE49-F238E27FC236}">
                  <a16:creationId xmlns:a16="http://schemas.microsoft.com/office/drawing/2014/main" id="{B70D304A-F404-CA42-E01C-7AF199151C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7" y="166"/>
            <a:ext cx="1219" cy="18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7" imgW="2085714" imgH="3172268" progId="Paint.Picture">
                    <p:embed/>
                  </p:oleObj>
                </mc:Choice>
                <mc:Fallback>
                  <p:oleObj name="位图图像" r:id="rId7" imgW="2085714" imgH="3172268" progId="Paint.Picture">
                    <p:embed/>
                    <p:pic>
                      <p:nvPicPr>
                        <p:cNvPr id="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7" y="166"/>
                          <a:ext cx="1219" cy="18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14">
            <a:extLst>
              <a:ext uri="{FF2B5EF4-FFF2-40B4-BE49-F238E27FC236}">
                <a16:creationId xmlns:a16="http://schemas.microsoft.com/office/drawing/2014/main" id="{0D85698A-68A9-20E2-55D8-6FF26D95E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097" y="3408290"/>
            <a:ext cx="1335406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装配尺寸</a:t>
            </a: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F9E024F2-0F0B-6A01-1CE2-772BBC250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4446" y="5764130"/>
            <a:ext cx="1367305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特性尺寸</a:t>
            </a: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339F63B6-3101-C6D0-52A8-74E3CFB3C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223" y="3832937"/>
            <a:ext cx="1333955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安装尺寸</a:t>
            </a:r>
          </a:p>
        </p:txBody>
      </p:sp>
      <p:sp>
        <p:nvSpPr>
          <p:cNvPr id="11" name="Text Box 17">
            <a:extLst>
              <a:ext uri="{FF2B5EF4-FFF2-40B4-BE49-F238E27FC236}">
                <a16:creationId xmlns:a16="http://schemas.microsoft.com/office/drawing/2014/main" id="{E4DD2F50-127F-D0B4-F8EF-F9149359A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223" y="2178626"/>
            <a:ext cx="1361504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外形尺寸</a:t>
            </a:r>
          </a:p>
        </p:txBody>
      </p:sp>
      <p:sp>
        <p:nvSpPr>
          <p:cNvPr id="12" name="AutoShape 18">
            <a:extLst>
              <a:ext uri="{FF2B5EF4-FFF2-40B4-BE49-F238E27FC236}">
                <a16:creationId xmlns:a16="http://schemas.microsoft.com/office/drawing/2014/main" id="{D3D3FABA-5C31-2A4B-9792-58DD16FD8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9225" y="28575"/>
            <a:ext cx="412750" cy="17145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AutoShape 19">
            <a:extLst>
              <a:ext uri="{FF2B5EF4-FFF2-40B4-BE49-F238E27FC236}">
                <a16:creationId xmlns:a16="http://schemas.microsoft.com/office/drawing/2014/main" id="{2E1A09F1-7C20-2082-8277-BBAAF1622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6363" y="157163"/>
            <a:ext cx="412750" cy="17145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AutoShape 20">
            <a:extLst>
              <a:ext uri="{FF2B5EF4-FFF2-40B4-BE49-F238E27FC236}">
                <a16:creationId xmlns:a16="http://schemas.microsoft.com/office/drawing/2014/main" id="{0FB3CBDD-06F4-8753-4015-E40EEFB0C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7475" y="361950"/>
            <a:ext cx="412750" cy="17145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AutoShape 21">
            <a:extLst>
              <a:ext uri="{FF2B5EF4-FFF2-40B4-BE49-F238E27FC236}">
                <a16:creationId xmlns:a16="http://schemas.microsoft.com/office/drawing/2014/main" id="{AAEBDE6B-A7BE-7FD9-C392-32FB30D0F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038" y="1071563"/>
            <a:ext cx="371475" cy="17145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AutoShape 23">
            <a:extLst>
              <a:ext uri="{FF2B5EF4-FFF2-40B4-BE49-F238E27FC236}">
                <a16:creationId xmlns:a16="http://schemas.microsoft.com/office/drawing/2014/main" id="{907AAFE8-BD29-D97D-F2A3-08581629F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938" y="6416675"/>
            <a:ext cx="200025" cy="17145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AutoShape 24">
            <a:extLst>
              <a:ext uri="{FF2B5EF4-FFF2-40B4-BE49-F238E27FC236}">
                <a16:creationId xmlns:a16="http://schemas.microsoft.com/office/drawing/2014/main" id="{2742F7BD-01FF-2885-B75C-1034B8495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1525" y="3459163"/>
            <a:ext cx="217488" cy="17145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AutoShape 25">
            <a:extLst>
              <a:ext uri="{FF2B5EF4-FFF2-40B4-BE49-F238E27FC236}">
                <a16:creationId xmlns:a16="http://schemas.microsoft.com/office/drawing/2014/main" id="{DCFA8FFF-12ED-1F3B-CFD5-61C060F36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2013" y="1806575"/>
            <a:ext cx="315912" cy="17145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AutoShape 26">
            <a:extLst>
              <a:ext uri="{FF2B5EF4-FFF2-40B4-BE49-F238E27FC236}">
                <a16:creationId xmlns:a16="http://schemas.microsoft.com/office/drawing/2014/main" id="{E040C9EA-290C-1398-5222-C818B09E4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563" y="2106613"/>
            <a:ext cx="215900" cy="17145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AutoShape 28">
            <a:extLst>
              <a:ext uri="{FF2B5EF4-FFF2-40B4-BE49-F238E27FC236}">
                <a16:creationId xmlns:a16="http://schemas.microsoft.com/office/drawing/2014/main" id="{6E2F7D89-5B9F-B3C5-7CA6-2CDF7B42D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4113" y="4552950"/>
            <a:ext cx="180975" cy="21907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AutoShape 29">
            <a:extLst>
              <a:ext uri="{FF2B5EF4-FFF2-40B4-BE49-F238E27FC236}">
                <a16:creationId xmlns:a16="http://schemas.microsoft.com/office/drawing/2014/main" id="{21542755-30DE-84B6-B1D9-694DA692C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625" y="5257800"/>
            <a:ext cx="179388" cy="21907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AutoShape 30">
            <a:extLst>
              <a:ext uri="{FF2B5EF4-FFF2-40B4-BE49-F238E27FC236}">
                <a16:creationId xmlns:a16="http://schemas.microsoft.com/office/drawing/2014/main" id="{E6345C06-3108-96E4-FC50-BD1E52A5C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150" y="1349375"/>
            <a:ext cx="201613" cy="36195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E0AAE8A5-70D5-C8DE-3C23-494B1FA66F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1613" y="5103813"/>
            <a:ext cx="227647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AutoShape 32">
            <a:extLst>
              <a:ext uri="{FF2B5EF4-FFF2-40B4-BE49-F238E27FC236}">
                <a16:creationId xmlns:a16="http://schemas.microsoft.com/office/drawing/2014/main" id="{28FCD87E-548E-C9AF-7DE5-71ED26CAA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3638" y="6335713"/>
            <a:ext cx="184150" cy="32385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AutoShape 33">
            <a:extLst>
              <a:ext uri="{FF2B5EF4-FFF2-40B4-BE49-F238E27FC236}">
                <a16:creationId xmlns:a16="http://schemas.microsoft.com/office/drawing/2014/main" id="{8EB98D62-4D95-6BE8-6786-FA6282142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188" y="3070225"/>
            <a:ext cx="365125" cy="17145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AutoShape 38">
            <a:extLst>
              <a:ext uri="{FF2B5EF4-FFF2-40B4-BE49-F238E27FC236}">
                <a16:creationId xmlns:a16="http://schemas.microsoft.com/office/drawing/2014/main" id="{74EF6958-3D25-BABE-C1BF-A7971F13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552" y="4304939"/>
            <a:ext cx="2413296" cy="112371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ea typeface="黑体" panose="02010609060101010101" pitchFamily="49" charset="-122"/>
              </a:rPr>
              <a:t>泵与机座的安装螺孔及孔心距、单向阀接口的螺纹尺寸</a:t>
            </a:r>
            <a:endParaRPr lang="zh-CN" altLang="en-US" sz="2000" kern="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28" name="AutoShape 41">
            <a:extLst>
              <a:ext uri="{FF2B5EF4-FFF2-40B4-BE49-F238E27FC236}">
                <a16:creationId xmlns:a16="http://schemas.microsoft.com/office/drawing/2014/main" id="{0DAC790A-D094-B228-2C65-3279DEF5E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375" y="2641452"/>
            <a:ext cx="1959268" cy="677533"/>
          </a:xfrm>
          <a:prstGeom prst="roundRect">
            <a:avLst>
              <a:gd name="adj" fmla="val 23334"/>
            </a:avLst>
          </a:prstGeom>
          <a:solidFill>
            <a:schemeClr val="accent5"/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ea typeface="黑体" panose="02010609060101010101" pitchFamily="49" charset="-122"/>
              </a:rPr>
              <a:t>泵的总高尺寸</a:t>
            </a:r>
            <a:endParaRPr lang="zh-CN" altLang="en-US" sz="2000" kern="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29" name="Group 43">
            <a:extLst>
              <a:ext uri="{FF2B5EF4-FFF2-40B4-BE49-F238E27FC236}">
                <a16:creationId xmlns:a16="http://schemas.microsoft.com/office/drawing/2014/main" id="{9D2B8A46-FD88-FDC5-F0C7-FDFE8EF0CAB6}"/>
              </a:ext>
            </a:extLst>
          </p:cNvPr>
          <p:cNvGrpSpPr>
            <a:grpSpLocks/>
          </p:cNvGrpSpPr>
          <p:nvPr/>
        </p:nvGrpSpPr>
        <p:grpSpPr bwMode="auto">
          <a:xfrm>
            <a:off x="8558863" y="219003"/>
            <a:ext cx="2165351" cy="1371600"/>
            <a:chOff x="253" y="595"/>
            <a:chExt cx="1364" cy="864"/>
          </a:xfrm>
        </p:grpSpPr>
        <p:sp>
          <p:nvSpPr>
            <p:cNvPr id="30" name="AutoShape 44">
              <a:extLst>
                <a:ext uri="{FF2B5EF4-FFF2-40B4-BE49-F238E27FC236}">
                  <a16:creationId xmlns:a16="http://schemas.microsoft.com/office/drawing/2014/main" id="{DF8A0A30-E029-5B35-32D2-A5C4DD001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" y="595"/>
              <a:ext cx="1364" cy="864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Text Box 45">
              <a:extLst>
                <a:ext uri="{FF2B5EF4-FFF2-40B4-BE49-F238E27FC236}">
                  <a16:creationId xmlns:a16="http://schemas.microsoft.com/office/drawing/2014/main" id="{09BEB420-5F44-BE8A-D65D-E3D3AE1F4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" y="623"/>
              <a:ext cx="1178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柱塞与柱塞套小轴与柱塞孔小轴与滚轮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r>
                <a:rPr kumimoji="1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配合尺寸</a:t>
              </a:r>
            </a:p>
          </p:txBody>
        </p:sp>
      </p:grpSp>
      <p:grpSp>
        <p:nvGrpSpPr>
          <p:cNvPr id="32" name="Group 46">
            <a:extLst>
              <a:ext uri="{FF2B5EF4-FFF2-40B4-BE49-F238E27FC236}">
                <a16:creationId xmlns:a16="http://schemas.microsoft.com/office/drawing/2014/main" id="{11227EA0-D946-FE97-DD92-5342B653D925}"/>
              </a:ext>
            </a:extLst>
          </p:cNvPr>
          <p:cNvGrpSpPr>
            <a:grpSpLocks/>
          </p:cNvGrpSpPr>
          <p:nvPr/>
        </p:nvGrpSpPr>
        <p:grpSpPr bwMode="auto">
          <a:xfrm>
            <a:off x="9117663" y="4106744"/>
            <a:ext cx="2708274" cy="1035050"/>
            <a:chOff x="247" y="1481"/>
            <a:chExt cx="1706" cy="652"/>
          </a:xfrm>
        </p:grpSpPr>
        <p:sp>
          <p:nvSpPr>
            <p:cNvPr id="33" name="AutoShape 47">
              <a:extLst>
                <a:ext uri="{FF2B5EF4-FFF2-40B4-BE49-F238E27FC236}">
                  <a16:creationId xmlns:a16="http://schemas.microsoft.com/office/drawing/2014/main" id="{9F91B8F1-2491-62ED-DD02-FC823998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" y="1481"/>
              <a:ext cx="1706" cy="652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Text Box 48">
              <a:extLst>
                <a:ext uri="{FF2B5EF4-FFF2-40B4-BE49-F238E27FC236}">
                  <a16:creationId xmlns:a16="http://schemas.microsoft.com/office/drawing/2014/main" id="{9D5DE3CD-8949-CD58-E868-8FBFDDE0B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" y="1493"/>
              <a:ext cx="1603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泵整体、单向阀中心与基座距离</a:t>
              </a:r>
              <a:r>
                <a:rPr kumimoji="1" lang="en-US" altLang="zh-CN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r>
                <a:rPr kumimoji="1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重要相对位置尺寸</a:t>
              </a:r>
            </a:p>
          </p:txBody>
        </p:sp>
      </p:grpSp>
      <p:sp>
        <p:nvSpPr>
          <p:cNvPr id="35" name="AutoShape 38">
            <a:extLst>
              <a:ext uri="{FF2B5EF4-FFF2-40B4-BE49-F238E27FC236}">
                <a16:creationId xmlns:a16="http://schemas.microsoft.com/office/drawing/2014/main" id="{F8F7151B-260F-24A0-5E2C-1748D991C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8440" y="5567879"/>
            <a:ext cx="2413296" cy="783193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ea typeface="黑体" panose="02010609060101010101" pitchFamily="49" charset="-122"/>
              </a:rPr>
              <a:t>进、出油孔的直径决定了油的流量</a:t>
            </a:r>
          </a:p>
        </p:txBody>
      </p:sp>
    </p:spTree>
    <p:extLst>
      <p:ext uri="{BB962C8B-B14F-4D97-AF65-F5344CB8AC3E}">
        <p14:creationId xmlns:p14="http://schemas.microsoft.com/office/powerpoint/2010/main" val="65897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9" grpId="0" animBg="1" autoUpdateAnimBg="0"/>
      <p:bldP spid="10" grpId="0" animBg="1" autoUpdateAnimBg="0"/>
      <p:bldP spid="11" grpId="0" animBg="1" autoUpdateAnimBg="0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E30D4-4D84-BE46-0D70-D4D6FCC25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23BECC5B-AFD8-CD87-BE8F-008D473BF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92D29AD9-0D5B-F322-D8B4-4484C85D42B7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680EB006-B4BC-9EE8-5736-D8AF167A8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49552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装配图的零件序号和明细栏</a:t>
            </a:r>
          </a:p>
        </p:txBody>
      </p:sp>
      <p:graphicFrame>
        <p:nvGraphicFramePr>
          <p:cNvPr id="3" name="Object 12">
            <a:extLst>
              <a:ext uri="{FF2B5EF4-FFF2-40B4-BE49-F238E27FC236}">
                <a16:creationId xmlns:a16="http://schemas.microsoft.com/office/drawing/2014/main" id="{98935E1F-5C51-1715-F0C2-8BC9DECE05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708022"/>
              </p:ext>
            </p:extLst>
          </p:nvPr>
        </p:nvGraphicFramePr>
        <p:xfrm>
          <a:off x="6672064" y="1628800"/>
          <a:ext cx="4033838" cy="437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4944165" imgH="5361905" progId="Paint.Picture">
                  <p:embed/>
                </p:oleObj>
              </mc:Choice>
              <mc:Fallback>
                <p:oleObj name="位图图像" r:id="rId3" imgW="4944165" imgH="5361905" progId="Paint.Picture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064" y="1628800"/>
                        <a:ext cx="4033838" cy="437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3">
            <a:extLst>
              <a:ext uri="{FF2B5EF4-FFF2-40B4-BE49-F238E27FC236}">
                <a16:creationId xmlns:a16="http://schemas.microsoft.com/office/drawing/2014/main" id="{2D778432-D628-8A36-8471-C1B8755D5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282" y="2031989"/>
            <a:ext cx="1974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ea typeface="黑体" panose="02010609060101010101" pitchFamily="49" charset="-122"/>
              </a:rPr>
              <a:t>零件序号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A550A319-3F18-E362-E7C8-174CC4540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2708920"/>
            <a:ext cx="547260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① </a:t>
            </a: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所有零件必须编写序号；</a:t>
            </a:r>
            <a:endParaRPr lang="en-US" altLang="zh-CN" sz="2400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   相同零件用一个序号，只标注一次；</a:t>
            </a:r>
          </a:p>
        </p:txBody>
      </p:sp>
      <p:grpSp>
        <p:nvGrpSpPr>
          <p:cNvPr id="6" name="Group 15">
            <a:extLst>
              <a:ext uri="{FF2B5EF4-FFF2-40B4-BE49-F238E27FC236}">
                <a16:creationId xmlns:a16="http://schemas.microsoft.com/office/drawing/2014/main" id="{FA01FEBF-40C9-5D69-94B2-1B409C9127BF}"/>
              </a:ext>
            </a:extLst>
          </p:cNvPr>
          <p:cNvGrpSpPr>
            <a:grpSpLocks/>
          </p:cNvGrpSpPr>
          <p:nvPr/>
        </p:nvGrpSpPr>
        <p:grpSpPr bwMode="auto">
          <a:xfrm>
            <a:off x="6794301" y="1573238"/>
            <a:ext cx="3862388" cy="4392612"/>
            <a:chOff x="326" y="1077"/>
            <a:chExt cx="2433" cy="2767"/>
          </a:xfrm>
        </p:grpSpPr>
        <p:sp>
          <p:nvSpPr>
            <p:cNvPr id="7" name="Oval 16">
              <a:extLst>
                <a:ext uri="{FF2B5EF4-FFF2-40B4-BE49-F238E27FC236}">
                  <a16:creationId xmlns:a16="http://schemas.microsoft.com/office/drawing/2014/main" id="{EF1E784E-1243-61CE-95D3-C63619B6F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" y="1077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17">
              <a:extLst>
                <a:ext uri="{FF2B5EF4-FFF2-40B4-BE49-F238E27FC236}">
                  <a16:creationId xmlns:a16="http://schemas.microsoft.com/office/drawing/2014/main" id="{EFD97B51-E4CD-DEE3-F90D-7BF493724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1078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Oval 18">
              <a:extLst>
                <a:ext uri="{FF2B5EF4-FFF2-40B4-BE49-F238E27FC236}">
                  <a16:creationId xmlns:a16="http://schemas.microsoft.com/office/drawing/2014/main" id="{54EF84A9-CBBF-7915-7E02-81FD6C48E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1078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Oval 19">
              <a:extLst>
                <a:ext uri="{FF2B5EF4-FFF2-40B4-BE49-F238E27FC236}">
                  <a16:creationId xmlns:a16="http://schemas.microsoft.com/office/drawing/2014/main" id="{7C14BCD8-D9EE-7A2B-FEDD-4F751B762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" y="1078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Oval 20">
              <a:extLst>
                <a:ext uri="{FF2B5EF4-FFF2-40B4-BE49-F238E27FC236}">
                  <a16:creationId xmlns:a16="http://schemas.microsoft.com/office/drawing/2014/main" id="{69DEFDFF-3677-0B7A-97BB-2CA9EFA00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5" y="1077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Oval 21">
              <a:extLst>
                <a:ext uri="{FF2B5EF4-FFF2-40B4-BE49-F238E27FC236}">
                  <a16:creationId xmlns:a16="http://schemas.microsoft.com/office/drawing/2014/main" id="{07214F42-96E0-B454-FD3E-892EF7BDC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" y="1444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Oval 22">
              <a:extLst>
                <a:ext uri="{FF2B5EF4-FFF2-40B4-BE49-F238E27FC236}">
                  <a16:creationId xmlns:a16="http://schemas.microsoft.com/office/drawing/2014/main" id="{49E2FFDF-653C-1753-9CCD-126FE8308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" y="1875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Oval 23">
              <a:extLst>
                <a:ext uri="{FF2B5EF4-FFF2-40B4-BE49-F238E27FC236}">
                  <a16:creationId xmlns:a16="http://schemas.microsoft.com/office/drawing/2014/main" id="{9C555D12-5343-C0D3-0993-3394E5EF4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" y="2365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Oval 24">
              <a:extLst>
                <a:ext uri="{FF2B5EF4-FFF2-40B4-BE49-F238E27FC236}">
                  <a16:creationId xmlns:a16="http://schemas.microsoft.com/office/drawing/2014/main" id="{BBE97E0A-C2E8-44B0-1A0A-301B398D1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177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Oval 25">
              <a:extLst>
                <a:ext uri="{FF2B5EF4-FFF2-40B4-BE49-F238E27FC236}">
                  <a16:creationId xmlns:a16="http://schemas.microsoft.com/office/drawing/2014/main" id="{FDA6D320-4692-CDFA-72E5-13423004F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19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Oval 26">
              <a:extLst>
                <a:ext uri="{FF2B5EF4-FFF2-40B4-BE49-F238E27FC236}">
                  <a16:creationId xmlns:a16="http://schemas.microsoft.com/office/drawing/2014/main" id="{2E73705D-49E1-2165-D9F0-703606CE8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218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Oval 27">
              <a:extLst>
                <a:ext uri="{FF2B5EF4-FFF2-40B4-BE49-F238E27FC236}">
                  <a16:creationId xmlns:a16="http://schemas.microsoft.com/office/drawing/2014/main" id="{51E2DC76-B0E4-8070-5775-59543EE06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" y="3321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Oval 28">
              <a:extLst>
                <a:ext uri="{FF2B5EF4-FFF2-40B4-BE49-F238E27FC236}">
                  <a16:creationId xmlns:a16="http://schemas.microsoft.com/office/drawing/2014/main" id="{ABE24DDB-0DAA-66B1-3D56-4F0F07722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" y="3630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Oval 29">
              <a:extLst>
                <a:ext uri="{FF2B5EF4-FFF2-40B4-BE49-F238E27FC236}">
                  <a16:creationId xmlns:a16="http://schemas.microsoft.com/office/drawing/2014/main" id="{037DECBD-075F-F0CB-9668-D233440C7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" y="2590"/>
              <a:ext cx="214" cy="21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643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CA222-1447-2F7F-3265-0B0FA6B7A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7794CA0F-45FF-5B96-DDD3-2D5D5738F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4D28DA70-FDED-BC1F-5FF5-7D4C8E561AA2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CB518300-5332-A416-6C00-D6F47A1FA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219" y="1078849"/>
            <a:ext cx="355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编注零、部件序号的形式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2FF93D2D-1957-3FD8-CEBE-0EA2B8AE9763}"/>
              </a:ext>
            </a:extLst>
          </p:cNvPr>
          <p:cNvGrpSpPr>
            <a:grpSpLocks/>
          </p:cNvGrpSpPr>
          <p:nvPr/>
        </p:nvGrpSpPr>
        <p:grpSpPr bwMode="auto">
          <a:xfrm>
            <a:off x="3762513" y="3131488"/>
            <a:ext cx="1050925" cy="915987"/>
            <a:chOff x="626" y="2372"/>
            <a:chExt cx="611" cy="577"/>
          </a:xfrm>
        </p:grpSpPr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8C3F6926-06D8-B33C-2277-CCBCDD8423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6" y="2372"/>
              <a:ext cx="581" cy="538"/>
              <a:chOff x="656" y="2372"/>
              <a:chExt cx="581" cy="538"/>
            </a:xfrm>
          </p:grpSpPr>
          <p:sp>
            <p:nvSpPr>
              <p:cNvPr id="8" name="Line 5">
                <a:extLst>
                  <a:ext uri="{FF2B5EF4-FFF2-40B4-BE49-F238E27FC236}">
                    <a16:creationId xmlns:a16="http://schemas.microsoft.com/office/drawing/2014/main" id="{7CA14259-DCF2-BD5C-6E3C-FD8EED4D00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6" y="2372"/>
                <a:ext cx="312" cy="538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Line 6">
                <a:extLst>
                  <a:ext uri="{FF2B5EF4-FFF2-40B4-BE49-F238E27FC236}">
                    <a16:creationId xmlns:a16="http://schemas.microsoft.com/office/drawing/2014/main" id="{E3F6F99B-3162-AF02-36C3-D23B7886A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8" y="2372"/>
                <a:ext cx="269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E2CD4D4D-47DC-CA9A-C28A-626BF9B9E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" y="2912"/>
              <a:ext cx="37" cy="37"/>
            </a:xfrm>
            <a:prstGeom prst="ellipse">
              <a:avLst/>
            </a:prstGeom>
            <a:solidFill>
              <a:srgbClr val="000066"/>
            </a:solid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zh-CN" sz="2400" b="1">
                <a:solidFill>
                  <a:srgbClr val="000000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027736C7-291F-A89A-CE85-A33391D7434C}"/>
              </a:ext>
            </a:extLst>
          </p:cNvPr>
          <p:cNvGrpSpPr>
            <a:grpSpLocks/>
          </p:cNvGrpSpPr>
          <p:nvPr/>
        </p:nvGrpSpPr>
        <p:grpSpPr bwMode="auto">
          <a:xfrm>
            <a:off x="5337313" y="2685400"/>
            <a:ext cx="884238" cy="1306513"/>
            <a:chOff x="1908" y="1288"/>
            <a:chExt cx="557" cy="823"/>
          </a:xfrm>
        </p:grpSpPr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5B0BE0EB-84DA-100D-A055-8342E3798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7" y="1533"/>
              <a:ext cx="344" cy="54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3303A46B-1455-B5F1-9A96-AA1ABFCF5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" y="2074"/>
              <a:ext cx="41" cy="37"/>
            </a:xfrm>
            <a:prstGeom prst="ellipse">
              <a:avLst/>
            </a:prstGeom>
            <a:solidFill>
              <a:srgbClr val="000066"/>
            </a:solid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6D6160A1-ED99-E424-E03C-10B0C681A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2" y="1288"/>
              <a:ext cx="263" cy="261"/>
            </a:xfrm>
            <a:prstGeom prst="ellips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12">
            <a:extLst>
              <a:ext uri="{FF2B5EF4-FFF2-40B4-BE49-F238E27FC236}">
                <a16:creationId xmlns:a16="http://schemas.microsoft.com/office/drawing/2014/main" id="{29C94BFA-E650-9A5D-1DFE-3C131C3A763A}"/>
              </a:ext>
            </a:extLst>
          </p:cNvPr>
          <p:cNvGrpSpPr>
            <a:grpSpLocks/>
          </p:cNvGrpSpPr>
          <p:nvPr/>
        </p:nvGrpSpPr>
        <p:grpSpPr bwMode="auto">
          <a:xfrm>
            <a:off x="9026663" y="2669525"/>
            <a:ext cx="1697038" cy="1281113"/>
            <a:chOff x="4331" y="1278"/>
            <a:chExt cx="1069" cy="807"/>
          </a:xfrm>
        </p:grpSpPr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300231A2-CF70-95C0-4F77-5B579E595F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2" y="1527"/>
              <a:ext cx="333" cy="54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Oval 14">
              <a:extLst>
                <a:ext uri="{FF2B5EF4-FFF2-40B4-BE49-F238E27FC236}">
                  <a16:creationId xmlns:a16="http://schemas.microsoft.com/office/drawing/2014/main" id="{49D483B9-319D-36D3-B69A-D986B6107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2048"/>
              <a:ext cx="40" cy="37"/>
            </a:xfrm>
            <a:prstGeom prst="ellipse">
              <a:avLst/>
            </a:prstGeom>
            <a:solidFill>
              <a:srgbClr val="000066"/>
            </a:solid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8BAA28CE-6440-8873-0ED0-6481A38D7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1278"/>
              <a:ext cx="263" cy="261"/>
            </a:xfrm>
            <a:prstGeom prst="ellips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E664F242-8E2F-E847-2FD9-C75F84496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3" y="1283"/>
              <a:ext cx="263" cy="261"/>
            </a:xfrm>
            <a:prstGeom prst="ellips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Oval 17">
              <a:extLst>
                <a:ext uri="{FF2B5EF4-FFF2-40B4-BE49-F238E27FC236}">
                  <a16:creationId xmlns:a16="http://schemas.microsoft.com/office/drawing/2014/main" id="{D3E510D1-4F34-0B80-DDC9-B895397B2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7" y="1280"/>
              <a:ext cx="263" cy="261"/>
            </a:xfrm>
            <a:prstGeom prst="ellips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18">
            <a:extLst>
              <a:ext uri="{FF2B5EF4-FFF2-40B4-BE49-F238E27FC236}">
                <a16:creationId xmlns:a16="http://schemas.microsoft.com/office/drawing/2014/main" id="{13091B74-F4D9-6B92-25AF-44178D2ECE13}"/>
              </a:ext>
            </a:extLst>
          </p:cNvPr>
          <p:cNvGrpSpPr>
            <a:grpSpLocks/>
          </p:cNvGrpSpPr>
          <p:nvPr/>
        </p:nvGrpSpPr>
        <p:grpSpPr bwMode="auto">
          <a:xfrm>
            <a:off x="7596326" y="2352025"/>
            <a:ext cx="1036637" cy="1609725"/>
            <a:chOff x="2496" y="1640"/>
            <a:chExt cx="771" cy="1299"/>
          </a:xfrm>
        </p:grpSpPr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B245287D-F500-63A8-E40E-A7512E98F0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1641"/>
              <a:ext cx="345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0269C76A-D657-F073-6D5B-7019F815EB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3" y="2218"/>
              <a:ext cx="394" cy="67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Oval 21">
              <a:extLst>
                <a:ext uri="{FF2B5EF4-FFF2-40B4-BE49-F238E27FC236}">
                  <a16:creationId xmlns:a16="http://schemas.microsoft.com/office/drawing/2014/main" id="{D869624D-6904-CC83-83DB-1994A185A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892"/>
              <a:ext cx="47" cy="47"/>
            </a:xfrm>
            <a:prstGeom prst="ellipse">
              <a:avLst/>
            </a:prstGeom>
            <a:solidFill>
              <a:srgbClr val="000066"/>
            </a:solid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2A15E4AA-CE78-762F-9D7C-D76105A13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1641"/>
              <a:ext cx="345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F93071C1-7370-9214-9D87-FA404ADD61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9" y="1640"/>
              <a:ext cx="0" cy="576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6C638E22-235D-EC91-AD1C-B921775A0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9" y="1928"/>
              <a:ext cx="336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093DDBB6-E4FF-7474-4841-358D197C7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9" y="2216"/>
              <a:ext cx="330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" name="Text Box 26">
            <a:extLst>
              <a:ext uri="{FF2B5EF4-FFF2-40B4-BE49-F238E27FC236}">
                <a16:creationId xmlns:a16="http://schemas.microsoft.com/office/drawing/2014/main" id="{DB425A5C-FCD4-57EF-F6FE-1DAD42BD5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163" y="2666350"/>
            <a:ext cx="422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2E20F26A-5C19-4F71-7D56-95E26B754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6901" y="26409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i="1" dirty="0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C1C4FCEF-56A0-C5B1-747C-9331FA642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4976" y="1921813"/>
            <a:ext cx="303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FABF9C70-6436-CD68-1259-FE8511A60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513" y="2264713"/>
            <a:ext cx="350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36E62A15-5B2E-3B73-BEEB-C367732B3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1801" y="2620313"/>
            <a:ext cx="350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34" name="Text Box 31">
            <a:extLst>
              <a:ext uri="{FF2B5EF4-FFF2-40B4-BE49-F238E27FC236}">
                <a16:creationId xmlns:a16="http://schemas.microsoft.com/office/drawing/2014/main" id="{AA2BA88E-D7E6-B067-B566-EA468EC6D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7205" y="2614756"/>
            <a:ext cx="303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35" name="Text Box 32">
            <a:extLst>
              <a:ext uri="{FF2B5EF4-FFF2-40B4-BE49-F238E27FC236}">
                <a16:creationId xmlns:a16="http://schemas.microsoft.com/office/drawing/2014/main" id="{0B617598-9017-6FDD-029F-275C5CAA8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9317" y="2614756"/>
            <a:ext cx="350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36" name="Text Box 33">
            <a:extLst>
              <a:ext uri="{FF2B5EF4-FFF2-40B4-BE49-F238E27FC236}">
                <a16:creationId xmlns:a16="http://schemas.microsoft.com/office/drawing/2014/main" id="{8830CB05-B771-7EDF-5F4D-1D218F095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8417" y="2614756"/>
            <a:ext cx="350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3</a:t>
            </a:r>
          </a:p>
        </p:txBody>
      </p:sp>
      <p:grpSp>
        <p:nvGrpSpPr>
          <p:cNvPr id="38" name="Group 34">
            <a:extLst>
              <a:ext uri="{FF2B5EF4-FFF2-40B4-BE49-F238E27FC236}">
                <a16:creationId xmlns:a16="http://schemas.microsoft.com/office/drawing/2014/main" id="{3BDBF542-915B-BA51-D489-13D711421672}"/>
              </a:ext>
            </a:extLst>
          </p:cNvPr>
          <p:cNvGrpSpPr>
            <a:grpSpLocks/>
          </p:cNvGrpSpPr>
          <p:nvPr/>
        </p:nvGrpSpPr>
        <p:grpSpPr bwMode="auto">
          <a:xfrm>
            <a:off x="3475176" y="3652188"/>
            <a:ext cx="623887" cy="603250"/>
            <a:chOff x="855" y="3166"/>
            <a:chExt cx="500" cy="524"/>
          </a:xfrm>
        </p:grpSpPr>
        <p:sp>
          <p:nvSpPr>
            <p:cNvPr id="39" name="Line 35">
              <a:extLst>
                <a:ext uri="{FF2B5EF4-FFF2-40B4-BE49-F238E27FC236}">
                  <a16:creationId xmlns:a16="http://schemas.microsoft.com/office/drawing/2014/main" id="{70DC4027-C278-94EC-CC7B-AE3EE2D4E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" y="3166"/>
              <a:ext cx="0" cy="523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36">
              <a:extLst>
                <a:ext uri="{FF2B5EF4-FFF2-40B4-BE49-F238E27FC236}">
                  <a16:creationId xmlns:a16="http://schemas.microsoft.com/office/drawing/2014/main" id="{D7831583-3D14-A4AD-4BFD-0E1693221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3680"/>
              <a:ext cx="500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37">
              <a:extLst>
                <a:ext uri="{FF2B5EF4-FFF2-40B4-BE49-F238E27FC236}">
                  <a16:creationId xmlns:a16="http://schemas.microsoft.com/office/drawing/2014/main" id="{01D3C4CD-BEDC-D518-F342-099040D5E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3178"/>
              <a:ext cx="489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Freeform 38">
              <a:extLst>
                <a:ext uri="{FF2B5EF4-FFF2-40B4-BE49-F238E27FC236}">
                  <a16:creationId xmlns:a16="http://schemas.microsoft.com/office/drawing/2014/main" id="{E9E7A0AD-2236-B555-B59F-DB4F13A23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3180"/>
              <a:ext cx="31" cy="510"/>
            </a:xfrm>
            <a:custGeom>
              <a:avLst/>
              <a:gdLst>
                <a:gd name="T0" fmla="*/ 22 w 31"/>
                <a:gd name="T1" fmla="*/ 0 h 510"/>
                <a:gd name="T2" fmla="*/ 1 w 31"/>
                <a:gd name="T3" fmla="*/ 144 h 510"/>
                <a:gd name="T4" fmla="*/ 13 w 31"/>
                <a:gd name="T5" fmla="*/ 309 h 510"/>
                <a:gd name="T6" fmla="*/ 31 w 31"/>
                <a:gd name="T7" fmla="*/ 510 h 5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510"/>
                <a:gd name="T14" fmla="*/ 31 w 31"/>
                <a:gd name="T15" fmla="*/ 510 h 5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510">
                  <a:moveTo>
                    <a:pt x="22" y="0"/>
                  </a:moveTo>
                  <a:cubicBezTo>
                    <a:pt x="12" y="46"/>
                    <a:pt x="2" y="93"/>
                    <a:pt x="1" y="144"/>
                  </a:cubicBezTo>
                  <a:cubicBezTo>
                    <a:pt x="0" y="195"/>
                    <a:pt x="8" y="248"/>
                    <a:pt x="13" y="309"/>
                  </a:cubicBezTo>
                  <a:cubicBezTo>
                    <a:pt x="18" y="370"/>
                    <a:pt x="31" y="477"/>
                    <a:pt x="31" y="51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3" name="Group 39">
            <a:extLst>
              <a:ext uri="{FF2B5EF4-FFF2-40B4-BE49-F238E27FC236}">
                <a16:creationId xmlns:a16="http://schemas.microsoft.com/office/drawing/2014/main" id="{4B4088CE-6479-8B5C-7B41-4C8596D7C527}"/>
              </a:ext>
            </a:extLst>
          </p:cNvPr>
          <p:cNvGrpSpPr>
            <a:grpSpLocks/>
          </p:cNvGrpSpPr>
          <p:nvPr/>
        </p:nvGrpSpPr>
        <p:grpSpPr bwMode="auto">
          <a:xfrm>
            <a:off x="5086488" y="3644250"/>
            <a:ext cx="623888" cy="603250"/>
            <a:chOff x="855" y="3166"/>
            <a:chExt cx="500" cy="524"/>
          </a:xfrm>
        </p:grpSpPr>
        <p:sp>
          <p:nvSpPr>
            <p:cNvPr id="44" name="Line 40">
              <a:extLst>
                <a:ext uri="{FF2B5EF4-FFF2-40B4-BE49-F238E27FC236}">
                  <a16:creationId xmlns:a16="http://schemas.microsoft.com/office/drawing/2014/main" id="{64BE21D6-4211-2012-7F1C-2FD497140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" y="3166"/>
              <a:ext cx="0" cy="523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41">
              <a:extLst>
                <a:ext uri="{FF2B5EF4-FFF2-40B4-BE49-F238E27FC236}">
                  <a16:creationId xmlns:a16="http://schemas.microsoft.com/office/drawing/2014/main" id="{E432BC12-675B-C04C-1C52-428862DB0B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3680"/>
              <a:ext cx="500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42">
              <a:extLst>
                <a:ext uri="{FF2B5EF4-FFF2-40B4-BE49-F238E27FC236}">
                  <a16:creationId xmlns:a16="http://schemas.microsoft.com/office/drawing/2014/main" id="{89CBB933-0200-5C6A-4EB5-8E0993826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3178"/>
              <a:ext cx="489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BC0D73EF-1352-5D94-FA70-87993CA8C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3180"/>
              <a:ext cx="31" cy="510"/>
            </a:xfrm>
            <a:custGeom>
              <a:avLst/>
              <a:gdLst>
                <a:gd name="T0" fmla="*/ 22 w 31"/>
                <a:gd name="T1" fmla="*/ 0 h 510"/>
                <a:gd name="T2" fmla="*/ 1 w 31"/>
                <a:gd name="T3" fmla="*/ 144 h 510"/>
                <a:gd name="T4" fmla="*/ 13 w 31"/>
                <a:gd name="T5" fmla="*/ 309 h 510"/>
                <a:gd name="T6" fmla="*/ 31 w 31"/>
                <a:gd name="T7" fmla="*/ 510 h 5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510"/>
                <a:gd name="T14" fmla="*/ 31 w 31"/>
                <a:gd name="T15" fmla="*/ 510 h 5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510">
                  <a:moveTo>
                    <a:pt x="22" y="0"/>
                  </a:moveTo>
                  <a:cubicBezTo>
                    <a:pt x="12" y="46"/>
                    <a:pt x="2" y="93"/>
                    <a:pt x="1" y="144"/>
                  </a:cubicBezTo>
                  <a:cubicBezTo>
                    <a:pt x="0" y="195"/>
                    <a:pt x="8" y="248"/>
                    <a:pt x="13" y="309"/>
                  </a:cubicBezTo>
                  <a:cubicBezTo>
                    <a:pt x="18" y="370"/>
                    <a:pt x="31" y="477"/>
                    <a:pt x="31" y="51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8" name="Group 44">
            <a:extLst>
              <a:ext uri="{FF2B5EF4-FFF2-40B4-BE49-F238E27FC236}">
                <a16:creationId xmlns:a16="http://schemas.microsoft.com/office/drawing/2014/main" id="{5FFD4107-3F22-73C3-4F41-EDAA281D32ED}"/>
              </a:ext>
            </a:extLst>
          </p:cNvPr>
          <p:cNvGrpSpPr>
            <a:grpSpLocks/>
          </p:cNvGrpSpPr>
          <p:nvPr/>
        </p:nvGrpSpPr>
        <p:grpSpPr bwMode="auto">
          <a:xfrm>
            <a:off x="7323276" y="3656950"/>
            <a:ext cx="623887" cy="603250"/>
            <a:chOff x="855" y="3166"/>
            <a:chExt cx="500" cy="524"/>
          </a:xfrm>
        </p:grpSpPr>
        <p:sp>
          <p:nvSpPr>
            <p:cNvPr id="49" name="Line 45">
              <a:extLst>
                <a:ext uri="{FF2B5EF4-FFF2-40B4-BE49-F238E27FC236}">
                  <a16:creationId xmlns:a16="http://schemas.microsoft.com/office/drawing/2014/main" id="{7AF40899-0E10-1389-F806-9D9E8ED50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" y="3166"/>
              <a:ext cx="0" cy="523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46">
              <a:extLst>
                <a:ext uri="{FF2B5EF4-FFF2-40B4-BE49-F238E27FC236}">
                  <a16:creationId xmlns:a16="http://schemas.microsoft.com/office/drawing/2014/main" id="{47429D1C-07CD-F739-ABDD-27C5213A8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3680"/>
              <a:ext cx="500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47">
              <a:extLst>
                <a:ext uri="{FF2B5EF4-FFF2-40B4-BE49-F238E27FC236}">
                  <a16:creationId xmlns:a16="http://schemas.microsoft.com/office/drawing/2014/main" id="{E333842D-E992-8062-8B52-66F7CECF1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3178"/>
              <a:ext cx="489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A82A2E0C-8D7D-4B00-789D-550D24D3F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3180"/>
              <a:ext cx="31" cy="510"/>
            </a:xfrm>
            <a:custGeom>
              <a:avLst/>
              <a:gdLst>
                <a:gd name="T0" fmla="*/ 22 w 31"/>
                <a:gd name="T1" fmla="*/ 0 h 510"/>
                <a:gd name="T2" fmla="*/ 1 w 31"/>
                <a:gd name="T3" fmla="*/ 144 h 510"/>
                <a:gd name="T4" fmla="*/ 13 w 31"/>
                <a:gd name="T5" fmla="*/ 309 h 510"/>
                <a:gd name="T6" fmla="*/ 31 w 31"/>
                <a:gd name="T7" fmla="*/ 510 h 5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510"/>
                <a:gd name="T14" fmla="*/ 31 w 31"/>
                <a:gd name="T15" fmla="*/ 510 h 5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510">
                  <a:moveTo>
                    <a:pt x="22" y="0"/>
                  </a:moveTo>
                  <a:cubicBezTo>
                    <a:pt x="12" y="46"/>
                    <a:pt x="2" y="93"/>
                    <a:pt x="1" y="144"/>
                  </a:cubicBezTo>
                  <a:cubicBezTo>
                    <a:pt x="0" y="195"/>
                    <a:pt x="8" y="248"/>
                    <a:pt x="13" y="309"/>
                  </a:cubicBezTo>
                  <a:cubicBezTo>
                    <a:pt x="18" y="370"/>
                    <a:pt x="31" y="477"/>
                    <a:pt x="31" y="51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3" name="Group 49">
            <a:extLst>
              <a:ext uri="{FF2B5EF4-FFF2-40B4-BE49-F238E27FC236}">
                <a16:creationId xmlns:a16="http://schemas.microsoft.com/office/drawing/2014/main" id="{6C1CFB83-9524-72BF-3A3C-BFC7E6142084}"/>
              </a:ext>
            </a:extLst>
          </p:cNvPr>
          <p:cNvGrpSpPr>
            <a:grpSpLocks/>
          </p:cNvGrpSpPr>
          <p:nvPr/>
        </p:nvGrpSpPr>
        <p:grpSpPr bwMode="auto">
          <a:xfrm>
            <a:off x="8769488" y="3668063"/>
            <a:ext cx="625475" cy="603250"/>
            <a:chOff x="855" y="3166"/>
            <a:chExt cx="500" cy="524"/>
          </a:xfrm>
        </p:grpSpPr>
        <p:sp>
          <p:nvSpPr>
            <p:cNvPr id="54" name="Line 50">
              <a:extLst>
                <a:ext uri="{FF2B5EF4-FFF2-40B4-BE49-F238E27FC236}">
                  <a16:creationId xmlns:a16="http://schemas.microsoft.com/office/drawing/2014/main" id="{E20B8746-E6F8-48A9-A611-EFE90CAC5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" y="3166"/>
              <a:ext cx="0" cy="523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51">
              <a:extLst>
                <a:ext uri="{FF2B5EF4-FFF2-40B4-BE49-F238E27FC236}">
                  <a16:creationId xmlns:a16="http://schemas.microsoft.com/office/drawing/2014/main" id="{C0057356-7AE4-2163-E2D2-8585228D4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3680"/>
              <a:ext cx="500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52">
              <a:extLst>
                <a:ext uri="{FF2B5EF4-FFF2-40B4-BE49-F238E27FC236}">
                  <a16:creationId xmlns:a16="http://schemas.microsoft.com/office/drawing/2014/main" id="{A25649C5-03EA-A02B-196C-E412D5855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3178"/>
              <a:ext cx="489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C37DC8B4-0732-1D65-47A3-CDFB482F9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3180"/>
              <a:ext cx="31" cy="510"/>
            </a:xfrm>
            <a:custGeom>
              <a:avLst/>
              <a:gdLst>
                <a:gd name="T0" fmla="*/ 22 w 31"/>
                <a:gd name="T1" fmla="*/ 0 h 510"/>
                <a:gd name="T2" fmla="*/ 1 w 31"/>
                <a:gd name="T3" fmla="*/ 144 h 510"/>
                <a:gd name="T4" fmla="*/ 13 w 31"/>
                <a:gd name="T5" fmla="*/ 309 h 510"/>
                <a:gd name="T6" fmla="*/ 31 w 31"/>
                <a:gd name="T7" fmla="*/ 510 h 5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510"/>
                <a:gd name="T14" fmla="*/ 31 w 31"/>
                <a:gd name="T15" fmla="*/ 510 h 5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510">
                  <a:moveTo>
                    <a:pt x="22" y="0"/>
                  </a:moveTo>
                  <a:cubicBezTo>
                    <a:pt x="12" y="46"/>
                    <a:pt x="2" y="93"/>
                    <a:pt x="1" y="144"/>
                  </a:cubicBezTo>
                  <a:cubicBezTo>
                    <a:pt x="0" y="195"/>
                    <a:pt x="8" y="248"/>
                    <a:pt x="13" y="309"/>
                  </a:cubicBezTo>
                  <a:cubicBezTo>
                    <a:pt x="18" y="370"/>
                    <a:pt x="31" y="477"/>
                    <a:pt x="31" y="51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8" name="Group 54">
            <a:extLst>
              <a:ext uri="{FF2B5EF4-FFF2-40B4-BE49-F238E27FC236}">
                <a16:creationId xmlns:a16="http://schemas.microsoft.com/office/drawing/2014/main" id="{78E7D747-4A17-DB98-1593-E8FF349B378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7781971" y="5510194"/>
            <a:ext cx="1154112" cy="658813"/>
            <a:chOff x="4272" y="2760"/>
            <a:chExt cx="815" cy="504"/>
          </a:xfrm>
        </p:grpSpPr>
        <p:sp>
          <p:nvSpPr>
            <p:cNvPr id="59" name="Line 55">
              <a:extLst>
                <a:ext uri="{FF2B5EF4-FFF2-40B4-BE49-F238E27FC236}">
                  <a16:creationId xmlns:a16="http://schemas.microsoft.com/office/drawing/2014/main" id="{86391CE3-6CE3-DE29-EF49-7697446A0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778"/>
              <a:ext cx="801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Line 56">
              <a:extLst>
                <a:ext uri="{FF2B5EF4-FFF2-40B4-BE49-F238E27FC236}">
                  <a16:creationId xmlns:a16="http://schemas.microsoft.com/office/drawing/2014/main" id="{71356F81-0B3D-0E00-DECF-74EE9D376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7" y="3007"/>
              <a:ext cx="789" cy="0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57">
              <a:extLst>
                <a:ext uri="{FF2B5EF4-FFF2-40B4-BE49-F238E27FC236}">
                  <a16:creationId xmlns:a16="http://schemas.microsoft.com/office/drawing/2014/main" id="{CDD93460-E285-AC3E-4633-F240C0A06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5" y="3258"/>
              <a:ext cx="789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66977DB3-5EAE-3A91-3A20-A1C84F8EE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2772"/>
              <a:ext cx="26" cy="492"/>
            </a:xfrm>
            <a:custGeom>
              <a:avLst/>
              <a:gdLst>
                <a:gd name="T0" fmla="*/ 0 w 26"/>
                <a:gd name="T1" fmla="*/ 0 h 492"/>
                <a:gd name="T2" fmla="*/ 24 w 26"/>
                <a:gd name="T3" fmla="*/ 126 h 492"/>
                <a:gd name="T4" fmla="*/ 9 w 26"/>
                <a:gd name="T5" fmla="*/ 264 h 492"/>
                <a:gd name="T6" fmla="*/ 9 w 26"/>
                <a:gd name="T7" fmla="*/ 429 h 492"/>
                <a:gd name="T8" fmla="*/ 9 w 26"/>
                <a:gd name="T9" fmla="*/ 492 h 4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492"/>
                <a:gd name="T17" fmla="*/ 26 w 26"/>
                <a:gd name="T18" fmla="*/ 492 h 4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492">
                  <a:moveTo>
                    <a:pt x="0" y="0"/>
                  </a:moveTo>
                  <a:cubicBezTo>
                    <a:pt x="11" y="41"/>
                    <a:pt x="22" y="82"/>
                    <a:pt x="24" y="126"/>
                  </a:cubicBezTo>
                  <a:cubicBezTo>
                    <a:pt x="26" y="170"/>
                    <a:pt x="11" y="214"/>
                    <a:pt x="9" y="264"/>
                  </a:cubicBezTo>
                  <a:cubicBezTo>
                    <a:pt x="7" y="314"/>
                    <a:pt x="9" y="391"/>
                    <a:pt x="9" y="429"/>
                  </a:cubicBezTo>
                  <a:cubicBezTo>
                    <a:pt x="9" y="467"/>
                    <a:pt x="13" y="480"/>
                    <a:pt x="9" y="49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" name="Freeform 59">
              <a:extLst>
                <a:ext uri="{FF2B5EF4-FFF2-40B4-BE49-F238E27FC236}">
                  <a16:creationId xmlns:a16="http://schemas.microsoft.com/office/drawing/2014/main" id="{A7BB10F9-BD4B-74CF-26F2-BB4E6E427C5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61" y="2760"/>
              <a:ext cx="26" cy="492"/>
            </a:xfrm>
            <a:custGeom>
              <a:avLst/>
              <a:gdLst>
                <a:gd name="T0" fmla="*/ 0 w 26"/>
                <a:gd name="T1" fmla="*/ 0 h 492"/>
                <a:gd name="T2" fmla="*/ 24 w 26"/>
                <a:gd name="T3" fmla="*/ 126 h 492"/>
                <a:gd name="T4" fmla="*/ 9 w 26"/>
                <a:gd name="T5" fmla="*/ 264 h 492"/>
                <a:gd name="T6" fmla="*/ 9 w 26"/>
                <a:gd name="T7" fmla="*/ 429 h 492"/>
                <a:gd name="T8" fmla="*/ 9 w 26"/>
                <a:gd name="T9" fmla="*/ 492 h 4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492"/>
                <a:gd name="T17" fmla="*/ 26 w 26"/>
                <a:gd name="T18" fmla="*/ 492 h 4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492">
                  <a:moveTo>
                    <a:pt x="0" y="0"/>
                  </a:moveTo>
                  <a:cubicBezTo>
                    <a:pt x="11" y="41"/>
                    <a:pt x="22" y="82"/>
                    <a:pt x="24" y="126"/>
                  </a:cubicBezTo>
                  <a:cubicBezTo>
                    <a:pt x="26" y="170"/>
                    <a:pt x="11" y="214"/>
                    <a:pt x="9" y="264"/>
                  </a:cubicBezTo>
                  <a:cubicBezTo>
                    <a:pt x="7" y="314"/>
                    <a:pt x="9" y="391"/>
                    <a:pt x="9" y="429"/>
                  </a:cubicBezTo>
                  <a:cubicBezTo>
                    <a:pt x="9" y="467"/>
                    <a:pt x="13" y="480"/>
                    <a:pt x="9" y="49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4" name="Group 60">
              <a:extLst>
                <a:ext uri="{FF2B5EF4-FFF2-40B4-BE49-F238E27FC236}">
                  <a16:creationId xmlns:a16="http://schemas.microsoft.com/office/drawing/2014/main" id="{EE4548A5-1C6B-F894-0550-0E97BDB4F0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6" y="2772"/>
              <a:ext cx="771" cy="231"/>
              <a:chOff x="4296" y="2772"/>
              <a:chExt cx="771" cy="231"/>
            </a:xfrm>
          </p:grpSpPr>
          <p:sp>
            <p:nvSpPr>
              <p:cNvPr id="72" name="Line 61">
                <a:extLst>
                  <a:ext uri="{FF2B5EF4-FFF2-40B4-BE49-F238E27FC236}">
                    <a16:creationId xmlns:a16="http://schemas.microsoft.com/office/drawing/2014/main" id="{0C967A61-147B-B9D2-23D3-FF9CBA87C5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96" y="277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Line 62">
                <a:extLst>
                  <a:ext uri="{FF2B5EF4-FFF2-40B4-BE49-F238E27FC236}">
                    <a16:creationId xmlns:a16="http://schemas.microsoft.com/office/drawing/2014/main" id="{3CED1AE5-D8F1-80C5-9DE3-6BEA8B9D0A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53" y="2775"/>
                <a:ext cx="228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Line 63">
                <a:extLst>
                  <a:ext uri="{FF2B5EF4-FFF2-40B4-BE49-F238E27FC236}">
                    <a16:creationId xmlns:a16="http://schemas.microsoft.com/office/drawing/2014/main" id="{68BEA442-27C6-0F4B-3C2A-943D743BC8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97" y="2772"/>
                <a:ext cx="228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Line 64">
                <a:extLst>
                  <a:ext uri="{FF2B5EF4-FFF2-40B4-BE49-F238E27FC236}">
                    <a16:creationId xmlns:a16="http://schemas.microsoft.com/office/drawing/2014/main" id="{21C2969E-2C68-67E4-4731-3F1E3ED448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35" y="2775"/>
                <a:ext cx="228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" name="Line 65">
                <a:extLst>
                  <a:ext uri="{FF2B5EF4-FFF2-40B4-BE49-F238E27FC236}">
                    <a16:creationId xmlns:a16="http://schemas.microsoft.com/office/drawing/2014/main" id="{FB48DDDD-96D0-941F-7CA8-403D073D8F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79" y="2772"/>
                <a:ext cx="228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Line 66">
                <a:extLst>
                  <a:ext uri="{FF2B5EF4-FFF2-40B4-BE49-F238E27FC236}">
                    <a16:creationId xmlns:a16="http://schemas.microsoft.com/office/drawing/2014/main" id="{5A555874-7D30-F61A-CCBF-3F32ACC68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23" y="2850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5" name="Group 67">
              <a:extLst>
                <a:ext uri="{FF2B5EF4-FFF2-40B4-BE49-F238E27FC236}">
                  <a16:creationId xmlns:a16="http://schemas.microsoft.com/office/drawing/2014/main" id="{8D564219-3536-63B4-5A62-AADA86D740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1" y="3012"/>
              <a:ext cx="798" cy="231"/>
              <a:chOff x="4281" y="3012"/>
              <a:chExt cx="798" cy="231"/>
            </a:xfrm>
          </p:grpSpPr>
          <p:sp>
            <p:nvSpPr>
              <p:cNvPr id="66" name="Line 68">
                <a:extLst>
                  <a:ext uri="{FF2B5EF4-FFF2-40B4-BE49-F238E27FC236}">
                    <a16:creationId xmlns:a16="http://schemas.microsoft.com/office/drawing/2014/main" id="{3E70648B-4036-2E41-6D94-186A974926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281" y="3066"/>
                <a:ext cx="171" cy="17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Line 69">
                <a:extLst>
                  <a:ext uri="{FF2B5EF4-FFF2-40B4-BE49-F238E27FC236}">
                    <a16:creationId xmlns:a16="http://schemas.microsoft.com/office/drawing/2014/main" id="{6C21CCBC-5B36-75E2-995C-9954BF1B7C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65" y="3012"/>
                <a:ext cx="228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Line 70">
                <a:extLst>
                  <a:ext uri="{FF2B5EF4-FFF2-40B4-BE49-F238E27FC236}">
                    <a16:creationId xmlns:a16="http://schemas.microsoft.com/office/drawing/2014/main" id="{B0ACEEA6-3321-D5A0-BFB5-818312C75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09" y="3015"/>
                <a:ext cx="228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Line 71">
                <a:extLst>
                  <a:ext uri="{FF2B5EF4-FFF2-40B4-BE49-F238E27FC236}">
                    <a16:creationId xmlns:a16="http://schemas.microsoft.com/office/drawing/2014/main" id="{1827F437-83EE-1641-C542-4D31803D5D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47" y="3012"/>
                <a:ext cx="228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72">
                <a:extLst>
                  <a:ext uri="{FF2B5EF4-FFF2-40B4-BE49-F238E27FC236}">
                    <a16:creationId xmlns:a16="http://schemas.microsoft.com/office/drawing/2014/main" id="{E2F4064A-43C6-CE29-15AF-6DF10F60B3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791" y="3015"/>
                <a:ext cx="228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73">
                <a:extLst>
                  <a:ext uri="{FF2B5EF4-FFF2-40B4-BE49-F238E27FC236}">
                    <a16:creationId xmlns:a16="http://schemas.microsoft.com/office/drawing/2014/main" id="{FB5AFF8E-E801-8A12-FD5B-BF740901A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35" y="3021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78" name="Group 74">
            <a:extLst>
              <a:ext uri="{FF2B5EF4-FFF2-40B4-BE49-F238E27FC236}">
                <a16:creationId xmlns:a16="http://schemas.microsoft.com/office/drawing/2014/main" id="{61C6E4A1-496F-F380-1F26-00269AA91B90}"/>
              </a:ext>
            </a:extLst>
          </p:cNvPr>
          <p:cNvGrpSpPr>
            <a:grpSpLocks/>
          </p:cNvGrpSpPr>
          <p:nvPr/>
        </p:nvGrpSpPr>
        <p:grpSpPr bwMode="auto">
          <a:xfrm>
            <a:off x="8345533" y="5003782"/>
            <a:ext cx="930275" cy="817562"/>
            <a:chOff x="3445" y="3103"/>
            <a:chExt cx="541" cy="515"/>
          </a:xfrm>
        </p:grpSpPr>
        <p:sp>
          <p:nvSpPr>
            <p:cNvPr id="79" name="Line 75">
              <a:extLst>
                <a:ext uri="{FF2B5EF4-FFF2-40B4-BE49-F238E27FC236}">
                  <a16:creationId xmlns:a16="http://schemas.microsoft.com/office/drawing/2014/main" id="{3AD8D1B3-37AB-0630-6BCE-9AB5A1668A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5" y="3103"/>
              <a:ext cx="278" cy="515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Line 76">
              <a:extLst>
                <a:ext uri="{FF2B5EF4-FFF2-40B4-BE49-F238E27FC236}">
                  <a16:creationId xmlns:a16="http://schemas.microsoft.com/office/drawing/2014/main" id="{7BA406CF-9F6F-02D9-E60C-A3385D7A5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7" y="3105"/>
              <a:ext cx="269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1" name="Text Box 77">
            <a:extLst>
              <a:ext uri="{FF2B5EF4-FFF2-40B4-BE49-F238E27FC236}">
                <a16:creationId xmlns:a16="http://schemas.microsoft.com/office/drawing/2014/main" id="{FA2F133D-3DD7-46AE-5CF9-2E1CE7AE7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3683" y="4537057"/>
            <a:ext cx="612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ISOCPEUR" pitchFamily="34" charset="0"/>
                <a:ea typeface="黑体" panose="02010609060101010101" pitchFamily="49" charset="-122"/>
              </a:rPr>
              <a:t>10 </a:t>
            </a:r>
          </a:p>
        </p:txBody>
      </p:sp>
      <p:sp>
        <p:nvSpPr>
          <p:cNvPr id="82" name="Text Box 78">
            <a:extLst>
              <a:ext uri="{FF2B5EF4-FFF2-40B4-BE49-F238E27FC236}">
                <a16:creationId xmlns:a16="http://schemas.microsoft.com/office/drawing/2014/main" id="{63AEB2D6-332E-B80A-2CAC-94E4B0291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4208" y="5116494"/>
            <a:ext cx="1874838" cy="7016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零件很薄时用箭头指向轮廓</a:t>
            </a:r>
          </a:p>
        </p:txBody>
      </p:sp>
      <p:sp>
        <p:nvSpPr>
          <p:cNvPr id="83" name="Oval 79">
            <a:extLst>
              <a:ext uri="{FF2B5EF4-FFF2-40B4-BE49-F238E27FC236}">
                <a16:creationId xmlns:a16="http://schemas.microsoft.com/office/drawing/2014/main" id="{A7EB17CC-7AAD-2190-DDAE-9C6C2ED88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3771" y="5591157"/>
            <a:ext cx="381000" cy="36195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" name="Text Box 80">
            <a:extLst>
              <a:ext uri="{FF2B5EF4-FFF2-40B4-BE49-F238E27FC236}">
                <a16:creationId xmlns:a16="http://schemas.microsoft.com/office/drawing/2014/main" id="{1BB91F41-1C24-50FA-46A4-9A979098A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08" y="5369065"/>
            <a:ext cx="63182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指引线必须由可见轮廓内引出；</a:t>
            </a:r>
          </a:p>
          <a:p>
            <a:pPr marL="342900" indent="-3429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同一装配图中编注序号的形式应一致。</a:t>
            </a:r>
          </a:p>
        </p:txBody>
      </p:sp>
      <p:sp>
        <p:nvSpPr>
          <p:cNvPr id="85" name="Line 88">
            <a:extLst>
              <a:ext uri="{FF2B5EF4-FFF2-40B4-BE49-F238E27FC236}">
                <a16:creationId xmlns:a16="http://schemas.microsoft.com/office/drawing/2014/main" id="{9E61B173-2ADE-1903-2EA8-6E4BD5C5B0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3476" y="2352025"/>
            <a:ext cx="647700" cy="7667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02206B32-C608-ADDF-0F7E-06AC744F3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356" y="1636062"/>
            <a:ext cx="1498600" cy="7016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水平线 （细实线）</a:t>
            </a:r>
          </a:p>
        </p:txBody>
      </p:sp>
      <p:sp>
        <p:nvSpPr>
          <p:cNvPr id="87" name="Line 90">
            <a:extLst>
              <a:ext uri="{FF2B5EF4-FFF2-40B4-BE49-F238E27FC236}">
                <a16:creationId xmlns:a16="http://schemas.microsoft.com/office/drawing/2014/main" id="{7A1B3281-1EBD-F567-40A8-1EC1C60530D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70501" y="3433113"/>
            <a:ext cx="296862" cy="10191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" name="Line 91">
            <a:extLst>
              <a:ext uri="{FF2B5EF4-FFF2-40B4-BE49-F238E27FC236}">
                <a16:creationId xmlns:a16="http://schemas.microsoft.com/office/drawing/2014/main" id="{DE9840A8-FFFC-BBE3-7958-9E466AE1D9B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35813" y="3082275"/>
            <a:ext cx="327025" cy="13271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5C0C82B-7138-80D0-04EC-206188F399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42001" y="2320275"/>
            <a:ext cx="488950" cy="5461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9E4A7474-8117-B272-E42D-4CCABF3645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851" y="3552175"/>
            <a:ext cx="485775" cy="457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" name="Text Box 94">
            <a:extLst>
              <a:ext uri="{FF2B5EF4-FFF2-40B4-BE49-F238E27FC236}">
                <a16:creationId xmlns:a16="http://schemas.microsoft.com/office/drawing/2014/main" id="{8B1C2352-F97C-937A-C6D2-01E0E531A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0409" y="3139396"/>
            <a:ext cx="700834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黑点</a:t>
            </a:r>
          </a:p>
        </p:txBody>
      </p:sp>
      <p:sp>
        <p:nvSpPr>
          <p:cNvPr id="92" name="Text Box 95">
            <a:extLst>
              <a:ext uri="{FF2B5EF4-FFF2-40B4-BE49-F238E27FC236}">
                <a16:creationId xmlns:a16="http://schemas.microsoft.com/office/drawing/2014/main" id="{80A62BEF-4CEE-DBCA-C74C-D326E2B2D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939" y="1605515"/>
            <a:ext cx="2352675" cy="7016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字体比图中尺寸数字大一号或两号</a:t>
            </a:r>
          </a:p>
        </p:txBody>
      </p:sp>
      <p:sp>
        <p:nvSpPr>
          <p:cNvPr id="93" name="Text Box 96">
            <a:extLst>
              <a:ext uri="{FF2B5EF4-FFF2-40B4-BE49-F238E27FC236}">
                <a16:creationId xmlns:a16="http://schemas.microsoft.com/office/drawing/2014/main" id="{BE4D6BFB-4FFD-C969-192D-362ACA456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738" y="4374500"/>
            <a:ext cx="1503363" cy="7016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指引线  （细实线）</a:t>
            </a:r>
          </a:p>
        </p:txBody>
      </p:sp>
      <p:sp>
        <p:nvSpPr>
          <p:cNvPr id="94" name="Text Box 97">
            <a:extLst>
              <a:ext uri="{FF2B5EF4-FFF2-40B4-BE49-F238E27FC236}">
                <a16:creationId xmlns:a16="http://schemas.microsoft.com/office/drawing/2014/main" id="{4D3EEDFF-1B7D-A21A-BA97-75489C4AE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5426" y="4372913"/>
            <a:ext cx="1474787" cy="7016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圆圈   （细实线）</a:t>
            </a:r>
          </a:p>
        </p:txBody>
      </p:sp>
      <p:sp>
        <p:nvSpPr>
          <p:cNvPr id="95" name="Line 98">
            <a:extLst>
              <a:ext uri="{FF2B5EF4-FFF2-40B4-BE49-F238E27FC236}">
                <a16:creationId xmlns:a16="http://schemas.microsoft.com/office/drawing/2014/main" id="{BE232D39-BFEB-E635-0D89-E67676A3A1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9313" y="2010713"/>
            <a:ext cx="636588" cy="635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Line 99">
            <a:extLst>
              <a:ext uri="{FF2B5EF4-FFF2-40B4-BE49-F238E27FC236}">
                <a16:creationId xmlns:a16="http://schemas.microsoft.com/office/drawing/2014/main" id="{48A92EB4-E661-B152-98F8-9D0E3B7E8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4501" y="2017063"/>
            <a:ext cx="573087" cy="6937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Text Box 100">
            <a:extLst>
              <a:ext uri="{FF2B5EF4-FFF2-40B4-BE49-F238E27FC236}">
                <a16:creationId xmlns:a16="http://schemas.microsoft.com/office/drawing/2014/main" id="{1E841360-BEED-7AD4-D8F5-F69AE9445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1538" y="1282050"/>
            <a:ext cx="2386013" cy="708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连接件或零件组，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可共用指引线</a:t>
            </a:r>
          </a:p>
        </p:txBody>
      </p:sp>
      <p:sp>
        <p:nvSpPr>
          <p:cNvPr id="98" name="Text Box 87">
            <a:extLst>
              <a:ext uri="{FF2B5EF4-FFF2-40B4-BE49-F238E27FC236}">
                <a16:creationId xmlns:a16="http://schemas.microsoft.com/office/drawing/2014/main" id="{916B55B4-AF00-DECC-CE76-18405BA35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8760"/>
            <a:ext cx="279142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装配图的零件序号和明细栏</a:t>
            </a:r>
          </a:p>
        </p:txBody>
      </p:sp>
    </p:spTree>
    <p:extLst>
      <p:ext uri="{BB962C8B-B14F-4D97-AF65-F5344CB8AC3E}">
        <p14:creationId xmlns:p14="http://schemas.microsoft.com/office/powerpoint/2010/main" val="141202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0" grpId="0" autoUpdateAnimBg="0"/>
      <p:bldP spid="31" grpId="0" build="p" autoUpdateAnimBg="0" advAuto="0"/>
      <p:bldP spid="32" grpId="0" build="p" autoUpdateAnimBg="0" advAuto="0"/>
      <p:bldP spid="33" grpId="0" build="p" autoUpdateAnimBg="0" advAuto="0"/>
      <p:bldP spid="34" grpId="0" build="p" autoUpdateAnimBg="0" advAuto="0"/>
      <p:bldP spid="35" grpId="0" build="p" autoUpdateAnimBg="0" advAuto="0"/>
      <p:bldP spid="36" grpId="0" build="p" autoUpdateAnimBg="0" advAuto="0"/>
      <p:bldP spid="81" grpId="0" build="p" autoUpdateAnimBg="0" advAuto="0"/>
      <p:bldP spid="82" grpId="0" animBg="1" autoUpdateAnimBg="0"/>
      <p:bldP spid="83" grpId="0" animBg="1"/>
      <p:bldP spid="84" grpId="0" autoUpdateAnimBg="0"/>
      <p:bldP spid="85" grpId="0" animBg="1"/>
      <p:bldP spid="86" grpId="0" animBg="1" autoUpdateAnimBg="0"/>
      <p:bldP spid="87" grpId="0" animBg="1"/>
      <p:bldP spid="88" grpId="0" animBg="1"/>
      <p:bldP spid="89" grpId="0" animBg="1"/>
      <p:bldP spid="90" grpId="0" animBg="1"/>
      <p:bldP spid="91" grpId="0" animBg="1" autoUpdateAnimBg="0"/>
      <p:bldP spid="92" grpId="0" animBg="1" autoUpdateAnimBg="0"/>
      <p:bldP spid="93" grpId="0" animBg="1" autoUpdateAnimBg="0"/>
      <p:bldP spid="94" grpId="0" animBg="1" autoUpdateAnimBg="0"/>
      <p:bldP spid="95" grpId="0" animBg="1"/>
      <p:bldP spid="96" grpId="0" animBg="1"/>
      <p:bldP spid="97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4DC1B-17D3-422B-1D3D-D54B1E4A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E91A425D-CACA-FF4D-1F67-C37028C37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212039A0-A0AA-366C-F080-C8B07D546F2B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sp>
        <p:nvSpPr>
          <p:cNvPr id="3" name="Text Box 87">
            <a:extLst>
              <a:ext uri="{FF2B5EF4-FFF2-40B4-BE49-F238E27FC236}">
                <a16:creationId xmlns:a16="http://schemas.microsoft.com/office/drawing/2014/main" id="{F74FEC83-3DE4-C9C3-C5BA-3F5FFF319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18214"/>
            <a:ext cx="49552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装配图的零件序号和明细栏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FB506A3E-2171-690F-19AB-18EE42917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636962"/>
              </p:ext>
            </p:extLst>
          </p:nvPr>
        </p:nvGraphicFramePr>
        <p:xfrm>
          <a:off x="1112709" y="2132856"/>
          <a:ext cx="4033838" cy="437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4944165" imgH="5361905" progId="Paint.Picture">
                  <p:embed/>
                </p:oleObj>
              </mc:Choice>
              <mc:Fallback>
                <p:oleObj name="位图图像" r:id="rId3" imgW="4944165" imgH="5361905" progId="Paint.Picture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709" y="2132856"/>
                        <a:ext cx="4033838" cy="437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2">
            <a:extLst>
              <a:ext uri="{FF2B5EF4-FFF2-40B4-BE49-F238E27FC236}">
                <a16:creationId xmlns:a16="http://schemas.microsoft.com/office/drawing/2014/main" id="{BD546E86-9C8A-AB72-A430-D863B408F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136" y="2894151"/>
            <a:ext cx="460793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② </a:t>
            </a: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序号依顺时针或逆时针方向顺次整齐排列；也可按水平或竖直方向顺次排列。</a:t>
            </a:r>
          </a:p>
        </p:txBody>
      </p:sp>
      <p:grpSp>
        <p:nvGrpSpPr>
          <p:cNvPr id="6" name="Group 13">
            <a:extLst>
              <a:ext uri="{FF2B5EF4-FFF2-40B4-BE49-F238E27FC236}">
                <a16:creationId xmlns:a16="http://schemas.microsoft.com/office/drawing/2014/main" id="{E0B5F0BF-EC47-94E0-ABE0-FFE97190EF17}"/>
              </a:ext>
            </a:extLst>
          </p:cNvPr>
          <p:cNvGrpSpPr>
            <a:grpSpLocks/>
          </p:cNvGrpSpPr>
          <p:nvPr/>
        </p:nvGrpSpPr>
        <p:grpSpPr bwMode="auto">
          <a:xfrm>
            <a:off x="2495600" y="1999074"/>
            <a:ext cx="2703512" cy="2070100"/>
            <a:chOff x="1055" y="973"/>
            <a:chExt cx="1703" cy="1304"/>
          </a:xfrm>
        </p:grpSpPr>
        <p:sp>
          <p:nvSpPr>
            <p:cNvPr id="7" name="Line 14">
              <a:extLst>
                <a:ext uri="{FF2B5EF4-FFF2-40B4-BE49-F238E27FC236}">
                  <a16:creationId xmlns:a16="http://schemas.microsoft.com/office/drawing/2014/main" id="{42D5BE07-47C6-4100-1828-5233C8DBA9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58" y="1777"/>
              <a:ext cx="0" cy="50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15">
              <a:extLst>
                <a:ext uri="{FF2B5EF4-FFF2-40B4-BE49-F238E27FC236}">
                  <a16:creationId xmlns:a16="http://schemas.microsoft.com/office/drawing/2014/main" id="{9DE86C64-1914-7EC8-41B0-E6756DF75B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5" y="973"/>
              <a:ext cx="589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Text Box 16">
            <a:extLst>
              <a:ext uri="{FF2B5EF4-FFF2-40B4-BE49-F238E27FC236}">
                <a16:creationId xmlns:a16="http://schemas.microsoft.com/office/drawing/2014/main" id="{126475DE-D1EC-C197-2C55-20D9EABDD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4584" y="5565031"/>
            <a:ext cx="2776538" cy="7016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指引线通过剖面区域时方向不能与剖面线平行</a:t>
            </a:r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F3E0C328-E79A-021F-08D8-124EB5A84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29" y="1800637"/>
            <a:ext cx="248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CC0000"/>
                </a:solidFill>
                <a:ea typeface="黑体" panose="02010609060101010101" pitchFamily="49" charset="-122"/>
              </a:rPr>
              <a:t>顺时针方向顺次排列</a:t>
            </a:r>
          </a:p>
        </p:txBody>
      </p:sp>
      <p:grpSp>
        <p:nvGrpSpPr>
          <p:cNvPr id="11" name="Group 18">
            <a:extLst>
              <a:ext uri="{FF2B5EF4-FFF2-40B4-BE49-F238E27FC236}">
                <a16:creationId xmlns:a16="http://schemas.microsoft.com/office/drawing/2014/main" id="{72D0C666-DDED-7637-7D28-E1AEF7509E12}"/>
              </a:ext>
            </a:extLst>
          </p:cNvPr>
          <p:cNvGrpSpPr>
            <a:grpSpLocks/>
          </p:cNvGrpSpPr>
          <p:nvPr/>
        </p:nvGrpSpPr>
        <p:grpSpPr bwMode="auto">
          <a:xfrm>
            <a:off x="3470147" y="4458544"/>
            <a:ext cx="2478087" cy="1446212"/>
            <a:chOff x="1665" y="2516"/>
            <a:chExt cx="1561" cy="911"/>
          </a:xfrm>
        </p:grpSpPr>
        <p:sp>
          <p:nvSpPr>
            <p:cNvPr id="12" name="Line 19">
              <a:extLst>
                <a:ext uri="{FF2B5EF4-FFF2-40B4-BE49-F238E27FC236}">
                  <a16:creationId xmlns:a16="http://schemas.microsoft.com/office/drawing/2014/main" id="{8E4945A3-4E26-B554-5659-2256AC436A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65" y="2516"/>
              <a:ext cx="1561" cy="91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20">
              <a:extLst>
                <a:ext uri="{FF2B5EF4-FFF2-40B4-BE49-F238E27FC236}">
                  <a16:creationId xmlns:a16="http://schemas.microsoft.com/office/drawing/2014/main" id="{72E4F60B-0762-B407-4B6B-6F9A8A65BC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39" y="3100"/>
              <a:ext cx="980" cy="32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" name="Text Box 21">
            <a:extLst>
              <a:ext uri="{FF2B5EF4-FFF2-40B4-BE49-F238E27FC236}">
                <a16:creationId xmlns:a16="http://schemas.microsoft.com/office/drawing/2014/main" id="{344B5D3D-650B-2341-41CE-E7E1A97E2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034" y="1383832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ea typeface="黑体" panose="02010609060101010101" pitchFamily="49" charset="-122"/>
              </a:rPr>
              <a:t>零件序号</a:t>
            </a:r>
          </a:p>
        </p:txBody>
      </p:sp>
      <p:sp>
        <p:nvSpPr>
          <p:cNvPr id="15" name="Rectangle 22">
            <a:extLst>
              <a:ext uri="{FF2B5EF4-FFF2-40B4-BE49-F238E27FC236}">
                <a16:creationId xmlns:a16="http://schemas.microsoft.com/office/drawing/2014/main" id="{BFA04018-EDCF-20C7-93D1-C07A190B1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930" y="1837203"/>
            <a:ext cx="460952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① </a:t>
            </a: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所有零件必须编写序号；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相同零件用一个序号，只标注一次。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20BB0D94-B259-126E-5A18-64D9616B7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930" y="4320431"/>
            <a:ext cx="484505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③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指引线不能相交，通过剖面区域时指引线方向不能与剖面线平行</a:t>
            </a:r>
            <a:r>
              <a:rPr lang="zh-CN" altLang="en-US" sz="2400" dirty="0">
                <a:solidFill>
                  <a:srgbClr val="000000"/>
                </a:solidFill>
                <a:ea typeface="黑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3277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9" grpId="0" animBg="1" autoUpdateAnimBg="0"/>
      <p:bldP spid="10" grpId="0"/>
      <p:bldP spid="1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B509-0F68-67A5-4CD0-9C0CCF22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CF749138-091A-439C-12E8-98540EBDA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2711D424-839C-8275-6979-848AD852AA4A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sp>
        <p:nvSpPr>
          <p:cNvPr id="3" name="Text Box 87">
            <a:extLst>
              <a:ext uri="{FF2B5EF4-FFF2-40B4-BE49-F238E27FC236}">
                <a16:creationId xmlns:a16="http://schemas.microsoft.com/office/drawing/2014/main" id="{C6852B44-1ADF-0A8C-7474-1C1866448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18214"/>
            <a:ext cx="49552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装配图的零件序号和明细栏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DA5CBA3-B457-398D-E1B1-BF970BADEB4C}"/>
              </a:ext>
            </a:extLst>
          </p:cNvPr>
          <p:cNvGrpSpPr>
            <a:grpSpLocks/>
          </p:cNvGrpSpPr>
          <p:nvPr/>
        </p:nvGrpSpPr>
        <p:grpSpPr bwMode="auto">
          <a:xfrm>
            <a:off x="3639293" y="1741434"/>
            <a:ext cx="8361363" cy="4508500"/>
            <a:chOff x="421" y="1181"/>
            <a:chExt cx="5267" cy="2840"/>
          </a:xfrm>
        </p:grpSpPr>
        <p:graphicFrame>
          <p:nvGraphicFramePr>
            <p:cNvPr id="19" name="Object 4">
              <a:extLst>
                <a:ext uri="{FF2B5EF4-FFF2-40B4-BE49-F238E27FC236}">
                  <a16:creationId xmlns:a16="http://schemas.microsoft.com/office/drawing/2014/main" id="{C262B6A8-3C15-765A-AE53-AD2E6DE7AA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199918"/>
                </p:ext>
              </p:extLst>
            </p:nvPr>
          </p:nvGraphicFramePr>
          <p:xfrm>
            <a:off x="421" y="1181"/>
            <a:ext cx="2164" cy="2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3" imgW="4944165" imgH="5361905" progId="Paint.Picture">
                    <p:embed/>
                  </p:oleObj>
                </mc:Choice>
                <mc:Fallback>
                  <p:oleObj name="位图图像" r:id="rId3" imgW="4944165" imgH="5361905" progId="Paint.Picture">
                    <p:embed/>
                    <p:pic>
                      <p:nvPicPr>
                        <p:cNvPr id="21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" y="1181"/>
                          <a:ext cx="2164" cy="2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5">
              <a:extLst>
                <a:ext uri="{FF2B5EF4-FFF2-40B4-BE49-F238E27FC236}">
                  <a16:creationId xmlns:a16="http://schemas.microsoft.com/office/drawing/2014/main" id="{C2BF97D8-BD4B-87F4-0639-3C58B4D146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63" y="1453"/>
            <a:ext cx="2825" cy="2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5" imgW="4285714" imgH="3895238" progId="Paint.Picture">
                    <p:embed/>
                  </p:oleObj>
                </mc:Choice>
                <mc:Fallback>
                  <p:oleObj name="位图图像" r:id="rId5" imgW="4285714" imgH="3895238" progId="Paint.Picture">
                    <p:embed/>
                    <p:pic>
                      <p:nvPicPr>
                        <p:cNvPr id="2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3" y="1453"/>
                          <a:ext cx="2825" cy="25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13">
            <a:extLst>
              <a:ext uri="{FF2B5EF4-FFF2-40B4-BE49-F238E27FC236}">
                <a16:creationId xmlns:a16="http://schemas.microsoft.com/office/drawing/2014/main" id="{AB8E6804-35DD-E253-8975-622319FD0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2650744"/>
            <a:ext cx="244827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是部件中全部零件的目录，内容包括零件序号、名称、数量、材料等。</a:t>
            </a:r>
          </a:p>
        </p:txBody>
      </p:sp>
      <p:sp>
        <p:nvSpPr>
          <p:cNvPr id="22" name="Line 14">
            <a:extLst>
              <a:ext uri="{FF2B5EF4-FFF2-40B4-BE49-F238E27FC236}">
                <a16:creationId xmlns:a16="http://schemas.microsoft.com/office/drawing/2014/main" id="{FA0D9A97-A181-9CD1-6E8A-157C43C687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82630" y="6419796"/>
            <a:ext cx="4505325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85A3BD52-3849-F657-86A1-1C9F5802D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7730" y="2244671"/>
            <a:ext cx="4256088" cy="2616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618F6032-F8AF-A12F-2BF6-1EA91C3084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85730" y="1997021"/>
            <a:ext cx="1487488" cy="8429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Line 18">
            <a:extLst>
              <a:ext uri="{FF2B5EF4-FFF2-40B4-BE49-F238E27FC236}">
                <a16:creationId xmlns:a16="http://schemas.microsoft.com/office/drawing/2014/main" id="{DC8FF09B-49EA-D2FE-640B-C379DE21E7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81080" y="2011309"/>
            <a:ext cx="569913" cy="14541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Rectangle 19">
            <a:extLst>
              <a:ext uri="{FF2B5EF4-FFF2-40B4-BE49-F238E27FC236}">
                <a16:creationId xmlns:a16="http://schemas.microsoft.com/office/drawing/2014/main" id="{010C4A2D-8975-80A0-4820-CB0D1340E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2152611"/>
            <a:ext cx="125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明细表</a:t>
            </a:r>
          </a:p>
        </p:txBody>
      </p:sp>
      <p:sp>
        <p:nvSpPr>
          <p:cNvPr id="27" name="Rectangle 22">
            <a:extLst>
              <a:ext uri="{FF2B5EF4-FFF2-40B4-BE49-F238E27FC236}">
                <a16:creationId xmlns:a16="http://schemas.microsoft.com/office/drawing/2014/main" id="{2D8A000E-6CE2-CC18-D9BB-7CA23A261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743" y="1193746"/>
            <a:ext cx="3101975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②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 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明细表中零件序号与零件序号一一对应</a:t>
            </a:r>
          </a:p>
        </p:txBody>
      </p:sp>
      <p:sp>
        <p:nvSpPr>
          <p:cNvPr id="28" name="Line 23">
            <a:extLst>
              <a:ext uri="{FF2B5EF4-FFF2-40B4-BE49-F238E27FC236}">
                <a16:creationId xmlns:a16="http://schemas.microsoft.com/office/drawing/2014/main" id="{04C5F68A-EA28-9481-A373-42EF5606F1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7018" y="4616396"/>
            <a:ext cx="1017587" cy="10461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8472796-6BD9-997B-708B-8FE26D750133}"/>
              </a:ext>
            </a:extLst>
          </p:cNvPr>
          <p:cNvGrpSpPr/>
          <p:nvPr/>
        </p:nvGrpSpPr>
        <p:grpSpPr>
          <a:xfrm>
            <a:off x="3567855" y="3184898"/>
            <a:ext cx="3827463" cy="830997"/>
            <a:chOff x="1732973" y="3556637"/>
            <a:chExt cx="3827463" cy="830997"/>
          </a:xfrm>
        </p:grpSpPr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1F471282-FD29-AD51-B235-0029C217D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2973" y="3556637"/>
              <a:ext cx="3165475" cy="83099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③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 </a:t>
              </a: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序号自下向上顺序排列便于添加零件</a:t>
              </a:r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ACD00591-B6DA-D530-6E5D-C95043B4AE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0436" y="3675273"/>
              <a:ext cx="0" cy="63341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" name="Rectangle 25">
            <a:extLst>
              <a:ext uri="{FF2B5EF4-FFF2-40B4-BE49-F238E27FC236}">
                <a16:creationId xmlns:a16="http://schemas.microsoft.com/office/drawing/2014/main" id="{983FB4AB-C73B-183E-E637-8661CD257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080" y="5454596"/>
            <a:ext cx="368935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①</a:t>
            </a:r>
            <a:r>
              <a:rPr kumimoji="1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 </a:t>
            </a:r>
            <a:r>
              <a: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明细表接在标题栏上方</a:t>
            </a:r>
          </a:p>
        </p:txBody>
      </p:sp>
    </p:spTree>
    <p:extLst>
      <p:ext uri="{BB962C8B-B14F-4D97-AF65-F5344CB8AC3E}">
        <p14:creationId xmlns:p14="http://schemas.microsoft.com/office/powerpoint/2010/main" val="350750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3" grpId="0" animBg="1"/>
      <p:bldP spid="23" grpId="1" animBg="1"/>
      <p:bldP spid="24" grpId="0" animBg="1"/>
      <p:bldP spid="25" grpId="0" animBg="1"/>
      <p:bldP spid="27" grpId="0" animBg="1" autoUpdateAnimBg="0"/>
      <p:bldP spid="28" grpId="0" animBg="1"/>
      <p:bldP spid="32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1514C-4346-7AEB-5DAA-5BCF82F2D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EBC6B6BC-C64C-EA0F-CB72-6F36C7D88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8205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视图选择及画图方法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5B2F47B4-1256-5065-EB1B-F6A45D273263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33</a:t>
            </a:fld>
            <a:endParaRPr lang="en-US" altLang="zh-CN" dirty="0"/>
          </a:p>
        </p:txBody>
      </p:sp>
      <p:sp>
        <p:nvSpPr>
          <p:cNvPr id="3" name="Text Box 87">
            <a:extLst>
              <a:ext uri="{FF2B5EF4-FFF2-40B4-BE49-F238E27FC236}">
                <a16:creationId xmlns:a16="http://schemas.microsoft.com/office/drawing/2014/main" id="{53BC9A38-8B48-A3CC-D6CA-F8AB589E4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18214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装配图的技术要求</a:t>
            </a:r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6EC9A546-4D1A-C28F-8E1B-F1C6924BA1AC}"/>
              </a:ext>
            </a:extLst>
          </p:cNvPr>
          <p:cNvGrpSpPr>
            <a:grpSpLocks/>
          </p:cNvGrpSpPr>
          <p:nvPr/>
        </p:nvGrpSpPr>
        <p:grpSpPr bwMode="auto">
          <a:xfrm>
            <a:off x="5663952" y="-9924"/>
            <a:ext cx="5540375" cy="6858000"/>
            <a:chOff x="2264" y="0"/>
            <a:chExt cx="3490" cy="4320"/>
          </a:xfrm>
        </p:grpSpPr>
        <p:grpSp>
          <p:nvGrpSpPr>
            <p:cNvPr id="22" name="Group 11">
              <a:extLst>
                <a:ext uri="{FF2B5EF4-FFF2-40B4-BE49-F238E27FC236}">
                  <a16:creationId xmlns:a16="http://schemas.microsoft.com/office/drawing/2014/main" id="{B8866536-0DCA-9B20-94F6-FFFD7E0D87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4" y="0"/>
              <a:ext cx="3490" cy="4320"/>
              <a:chOff x="2264" y="0"/>
              <a:chExt cx="3490" cy="4320"/>
            </a:xfrm>
          </p:grpSpPr>
          <p:sp>
            <p:nvSpPr>
              <p:cNvPr id="31" name="Rectangle 12">
                <a:extLst>
                  <a:ext uri="{FF2B5EF4-FFF2-40B4-BE49-F238E27FC236}">
                    <a16:creationId xmlns:a16="http://schemas.microsoft.com/office/drawing/2014/main" id="{9C4561BB-498E-A51D-12F1-D0F52CA51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0"/>
                <a:ext cx="3490" cy="4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Rectangle 13">
                <a:extLst>
                  <a:ext uri="{FF2B5EF4-FFF2-40B4-BE49-F238E27FC236}">
                    <a16:creationId xmlns:a16="http://schemas.microsoft.com/office/drawing/2014/main" id="{B471FC6A-8195-DE4E-3A6D-3302A99D6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1" y="84"/>
                <a:ext cx="3311" cy="4164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" name="Group 14">
              <a:extLst>
                <a:ext uri="{FF2B5EF4-FFF2-40B4-BE49-F238E27FC236}">
                  <a16:creationId xmlns:a16="http://schemas.microsoft.com/office/drawing/2014/main" id="{2E8F3E5B-EB0F-81EC-8CF5-1E09A55C28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2" y="109"/>
              <a:ext cx="3285" cy="4163"/>
              <a:chOff x="2402" y="109"/>
              <a:chExt cx="3285" cy="4163"/>
            </a:xfrm>
          </p:grpSpPr>
          <p:grpSp>
            <p:nvGrpSpPr>
              <p:cNvPr id="24" name="Group 15">
                <a:extLst>
                  <a:ext uri="{FF2B5EF4-FFF2-40B4-BE49-F238E27FC236}">
                    <a16:creationId xmlns:a16="http://schemas.microsoft.com/office/drawing/2014/main" id="{97A84E20-F34F-9CAD-B890-0638A4418F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2" y="109"/>
                <a:ext cx="3123" cy="4104"/>
                <a:chOff x="2402" y="109"/>
                <a:chExt cx="3123" cy="4104"/>
              </a:xfrm>
            </p:grpSpPr>
            <p:graphicFrame>
              <p:nvGraphicFramePr>
                <p:cNvPr id="28" name="Object 16">
                  <a:extLst>
                    <a:ext uri="{FF2B5EF4-FFF2-40B4-BE49-F238E27FC236}">
                      <a16:creationId xmlns:a16="http://schemas.microsoft.com/office/drawing/2014/main" id="{7FC5C61F-5051-EC9D-48B8-36C17A22113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12" y="109"/>
                <a:ext cx="1954" cy="211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3" imgW="4944165" imgH="5361905" progId="Paint.Picture">
                        <p:embed/>
                      </p:oleObj>
                    </mc:Choice>
                    <mc:Fallback>
                      <p:oleObj name="位图图像" r:id="rId3" imgW="4944165" imgH="5361905" progId="Paint.Picture">
                        <p:embed/>
                        <p:pic>
                          <p:nvPicPr>
                            <p:cNvPr id="11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12" y="109"/>
                              <a:ext cx="1954" cy="211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" name="Object 17">
                  <a:extLst>
                    <a:ext uri="{FF2B5EF4-FFF2-40B4-BE49-F238E27FC236}">
                      <a16:creationId xmlns:a16="http://schemas.microsoft.com/office/drawing/2014/main" id="{B9867E29-4296-8BD9-4E53-A3387B6724F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02" y="2237"/>
                <a:ext cx="1826" cy="19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5" imgW="4619048" imgH="5001323" progId="Paint.Picture">
                        <p:embed/>
                      </p:oleObj>
                    </mc:Choice>
                    <mc:Fallback>
                      <p:oleObj name="位图图像" r:id="rId5" imgW="4619048" imgH="5001323" progId="Paint.Picture">
                        <p:embed/>
                        <p:pic>
                          <p:nvPicPr>
                            <p:cNvPr id="12" name="Object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02" y="2237"/>
                              <a:ext cx="1826" cy="19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0" name="Object 18">
                  <a:extLst>
                    <a:ext uri="{FF2B5EF4-FFF2-40B4-BE49-F238E27FC236}">
                      <a16:creationId xmlns:a16="http://schemas.microsoft.com/office/drawing/2014/main" id="{07DB770D-C6A6-848A-81D5-9DD59723EA6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40" y="225"/>
                <a:ext cx="1085" cy="167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7" imgW="2742857" imgH="4238095" progId="Paint.Picture">
                        <p:embed/>
                      </p:oleObj>
                    </mc:Choice>
                    <mc:Fallback>
                      <p:oleObj name="位图图像" r:id="rId7" imgW="2742857" imgH="4238095" progId="Paint.Picture">
                        <p:embed/>
                        <p:pic>
                          <p:nvPicPr>
                            <p:cNvPr id="13" name="Object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40" y="225"/>
                              <a:ext cx="1085" cy="167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5" name="Group 19">
                <a:extLst>
                  <a:ext uri="{FF2B5EF4-FFF2-40B4-BE49-F238E27FC236}">
                    <a16:creationId xmlns:a16="http://schemas.microsoft.com/office/drawing/2014/main" id="{E0162A76-FB04-BC81-FF80-F759C23852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80" y="2227"/>
                <a:ext cx="1507" cy="2045"/>
                <a:chOff x="4180" y="2227"/>
                <a:chExt cx="1507" cy="2045"/>
              </a:xfrm>
            </p:grpSpPr>
            <p:graphicFrame>
              <p:nvGraphicFramePr>
                <p:cNvPr id="26" name="Object 20">
                  <a:extLst>
                    <a:ext uri="{FF2B5EF4-FFF2-40B4-BE49-F238E27FC236}">
                      <a16:creationId xmlns:a16="http://schemas.microsoft.com/office/drawing/2014/main" id="{89DD4CF4-9023-1BE3-18D0-0CCA67AC40B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406" y="2227"/>
                <a:ext cx="1152" cy="5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9" imgW="2886478" imgH="1305107" progId="Paint.Picture">
                        <p:embed/>
                      </p:oleObj>
                    </mc:Choice>
                    <mc:Fallback>
                      <p:oleObj name="位图图像" r:id="rId9" imgW="2886478" imgH="1305107" progId="Paint.Picture">
                        <p:embed/>
                        <p:pic>
                          <p:nvPicPr>
                            <p:cNvPr id="9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06" y="2227"/>
                              <a:ext cx="1152" cy="5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" name="Object 21">
                  <a:extLst>
                    <a:ext uri="{FF2B5EF4-FFF2-40B4-BE49-F238E27FC236}">
                      <a16:creationId xmlns:a16="http://schemas.microsoft.com/office/drawing/2014/main" id="{44747485-9AA6-AB0C-7079-F77AE7DFD56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180" y="2867"/>
                <a:ext cx="1507" cy="14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位图图像" r:id="rId11" imgW="3772427" imgH="3514286" progId="Paint.Picture">
                        <p:embed/>
                      </p:oleObj>
                    </mc:Choice>
                    <mc:Fallback>
                      <p:oleObj name="位图图像" r:id="rId11" imgW="3772427" imgH="3514286" progId="Paint.Picture">
                        <p:embed/>
                        <p:pic>
                          <p:nvPicPr>
                            <p:cNvPr id="10" name="Object 2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80" y="2867"/>
                              <a:ext cx="1507" cy="140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sp>
        <p:nvSpPr>
          <p:cNvPr id="33" name="Text Box 22">
            <a:extLst>
              <a:ext uri="{FF2B5EF4-FFF2-40B4-BE49-F238E27FC236}">
                <a16:creationId xmlns:a16="http://schemas.microsoft.com/office/drawing/2014/main" id="{9A20C3DD-1803-F9AE-7F1E-4064EDCA1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947105"/>
            <a:ext cx="4247577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在图纸下方空白处，注写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部件或机器装配时必须遵守的技术要求。</a:t>
            </a:r>
            <a:endParaRPr lang="en-US" altLang="zh-CN" sz="24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z="24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Monotype Sorts" pitchFamily="2" charset="2"/>
            </a:endParaRPr>
          </a:p>
          <a:p>
            <a:pPr marL="342900" indent="-3429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包括对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其质量、装配、检测、调整、安装、使用等的要求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说明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34" name="Rectangle 23">
            <a:extLst>
              <a:ext uri="{FF2B5EF4-FFF2-40B4-BE49-F238E27FC236}">
                <a16:creationId xmlns:a16="http://schemas.microsoft.com/office/drawing/2014/main" id="{E5FDB9AB-5B6B-C67E-9387-30B05334D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1202" y="3471464"/>
            <a:ext cx="1857375" cy="92868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" name="Group 24">
            <a:extLst>
              <a:ext uri="{FF2B5EF4-FFF2-40B4-BE49-F238E27FC236}">
                <a16:creationId xmlns:a16="http://schemas.microsoft.com/office/drawing/2014/main" id="{3DFD3B1D-F024-A2D6-F932-09AD3A7B52D9}"/>
              </a:ext>
            </a:extLst>
          </p:cNvPr>
          <p:cNvGrpSpPr>
            <a:grpSpLocks/>
          </p:cNvGrpSpPr>
          <p:nvPr/>
        </p:nvGrpSpPr>
        <p:grpSpPr bwMode="auto">
          <a:xfrm>
            <a:off x="7384802" y="2450701"/>
            <a:ext cx="3549650" cy="1966913"/>
            <a:chOff x="167" y="2350"/>
            <a:chExt cx="1951" cy="886"/>
          </a:xfrm>
        </p:grpSpPr>
        <p:graphicFrame>
          <p:nvGraphicFramePr>
            <p:cNvPr id="36" name="Object 25">
              <a:extLst>
                <a:ext uri="{FF2B5EF4-FFF2-40B4-BE49-F238E27FC236}">
                  <a16:creationId xmlns:a16="http://schemas.microsoft.com/office/drawing/2014/main" id="{E0DED705-253B-452C-48CE-98958931EC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" y="2356"/>
            <a:ext cx="1947" cy="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3" imgW="2886478" imgH="1305107" progId="Paint.Picture">
                    <p:embed/>
                  </p:oleObj>
                </mc:Choice>
                <mc:Fallback>
                  <p:oleObj name="位图图像" r:id="rId13" imgW="2886478" imgH="1305107" progId="Paint.Picture">
                    <p:embed/>
                    <p:pic>
                      <p:nvPicPr>
                        <p:cNvPr id="2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" y="2356"/>
                          <a:ext cx="1947" cy="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Rectangle 26">
              <a:extLst>
                <a:ext uri="{FF2B5EF4-FFF2-40B4-BE49-F238E27FC236}">
                  <a16:creationId xmlns:a16="http://schemas.microsoft.com/office/drawing/2014/main" id="{94DDEF56-A356-6BC2-DC67-B96215551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" y="2350"/>
              <a:ext cx="1942" cy="88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713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utoUpdateAnimBg="0"/>
      <p:bldP spid="3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9E63-A9C3-BA41-617C-4C36EE3D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>
            <a:extLst>
              <a:ext uri="{FF2B5EF4-FFF2-40B4-BE49-F238E27FC236}">
                <a16:creationId xmlns:a16="http://schemas.microsoft.com/office/drawing/2014/main" id="{424D131C-8BF6-732C-F5C6-E1FF00D6B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194" y="412176"/>
            <a:ext cx="324960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上机实践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91327A-7F73-35AB-B813-D283087F1C04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586440-F139-A547-C525-3B0C4C64F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1772816"/>
            <a:ext cx="4873127" cy="39604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DBED8B7-935C-A3B7-9553-BA0F76DA6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984" y="1700808"/>
            <a:ext cx="5791164" cy="4032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127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1a95fcf66203d38bc361677577eb4a2de51b675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0C0C0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12625</TotalTime>
  <Words>2043</Words>
  <Application>Microsoft Office PowerPoint</Application>
  <PresentationFormat>宽屏</PresentationFormat>
  <Paragraphs>419</Paragraphs>
  <Slides>34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ISOCPEUR</vt:lpstr>
      <vt:lpstr>黑体</vt:lpstr>
      <vt:lpstr>华文细黑</vt:lpstr>
      <vt:lpstr>华文新魏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位图图像</vt:lpstr>
      <vt:lpstr>PowerPoint 演示文稿</vt:lpstr>
      <vt:lpstr>装配图</vt:lpstr>
      <vt:lpstr>PowerPoint 演示文稿</vt:lpstr>
      <vt:lpstr>14.1 装配图概述</vt:lpstr>
      <vt:lpstr>PowerPoint 演示文稿</vt:lpstr>
      <vt:lpstr>PowerPoint 演示文稿</vt:lpstr>
      <vt:lpstr>PowerPoint 演示文稿</vt:lpstr>
      <vt:lpstr>14.2 视图选择及画图方法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14.3 装配图的标注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wyh</dc:creator>
  <cp:lastModifiedBy>Yao Jiang</cp:lastModifiedBy>
  <cp:revision>2355</cp:revision>
  <dcterms:created xsi:type="dcterms:W3CDTF">2013-06-24T05:49:57Z</dcterms:created>
  <dcterms:modified xsi:type="dcterms:W3CDTF">2025-05-11T13:48:27Z</dcterms:modified>
</cp:coreProperties>
</file>