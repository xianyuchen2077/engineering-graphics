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2" r:id="rId2"/>
    <p:sldId id="259" r:id="rId3"/>
    <p:sldId id="262" r:id="rId4"/>
    <p:sldId id="486" r:id="rId5"/>
    <p:sldId id="482" r:id="rId6"/>
    <p:sldId id="483" r:id="rId7"/>
    <p:sldId id="374" r:id="rId8"/>
    <p:sldId id="478" r:id="rId9"/>
    <p:sldId id="484" r:id="rId10"/>
    <p:sldId id="485" r:id="rId11"/>
    <p:sldId id="487" r:id="rId12"/>
    <p:sldId id="489" r:id="rId13"/>
    <p:sldId id="488" r:id="rId14"/>
    <p:sldId id="490" r:id="rId15"/>
    <p:sldId id="491" r:id="rId16"/>
    <p:sldId id="492" r:id="rId17"/>
    <p:sldId id="493" r:id="rId18"/>
    <p:sldId id="494" r:id="rId19"/>
    <p:sldId id="503" r:id="rId20"/>
    <p:sldId id="497" r:id="rId21"/>
    <p:sldId id="499" r:id="rId22"/>
    <p:sldId id="473" r:id="rId23"/>
    <p:sldId id="504" r:id="rId24"/>
    <p:sldId id="372" r:id="rId25"/>
  </p:sldIdLst>
  <p:sldSz cx="9144000" cy="6858000" type="screen4x3"/>
  <p:notesSz cx="6858000" cy="9144000"/>
  <p:custDataLst>
    <p:tags r:id="rId2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049"/>
    <a:srgbClr val="650D67"/>
    <a:srgbClr val="8A12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2B4364-06F7-4C4E-BAD4-126823A0BAB6}" v="12" dt="2025-03-23T15:33:00.8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15" autoAdjust="0"/>
    <p:restoredTop sz="67406" autoAdjust="0"/>
  </p:normalViewPr>
  <p:slideViewPr>
    <p:cSldViewPr>
      <p:cViewPr>
        <p:scale>
          <a:sx n="80" d="100"/>
          <a:sy n="80" d="100"/>
        </p:scale>
        <p:origin x="174" y="-28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o Jiang" userId="19a87579752ee5ee" providerId="LiveId" clId="{1B2B4364-06F7-4C4E-BAD4-126823A0BAB6}"/>
    <pc:docChg chg="modSld">
      <pc:chgData name="Yao Jiang" userId="19a87579752ee5ee" providerId="LiveId" clId="{1B2B4364-06F7-4C4E-BAD4-126823A0BAB6}" dt="2025-03-23T15:33:00.816" v="29"/>
      <pc:docMkLst>
        <pc:docMk/>
      </pc:docMkLst>
      <pc:sldChg chg="modSp mod modAnim">
        <pc:chgData name="Yao Jiang" userId="19a87579752ee5ee" providerId="LiveId" clId="{1B2B4364-06F7-4C4E-BAD4-126823A0BAB6}" dt="2025-03-23T15:29:00.178" v="24"/>
        <pc:sldMkLst>
          <pc:docMk/>
          <pc:sldMk cId="285777950" sldId="490"/>
        </pc:sldMkLst>
        <pc:spChg chg="mod">
          <ac:chgData name="Yao Jiang" userId="19a87579752ee5ee" providerId="LiveId" clId="{1B2B4364-06F7-4C4E-BAD4-126823A0BAB6}" dt="2025-03-23T15:17:13.643" v="21"/>
          <ac:spMkLst>
            <pc:docMk/>
            <pc:sldMk cId="285777950" sldId="490"/>
            <ac:spMk id="171" creationId="{5C4B9B2D-257F-BC1C-6327-1AF515F55891}"/>
          </ac:spMkLst>
        </pc:spChg>
      </pc:sldChg>
      <pc:sldChg chg="modAnim">
        <pc:chgData name="Yao Jiang" userId="19a87579752ee5ee" providerId="LiveId" clId="{1B2B4364-06F7-4C4E-BAD4-126823A0BAB6}" dt="2025-03-23T15:33:00.816" v="29"/>
        <pc:sldMkLst>
          <pc:docMk/>
          <pc:sldMk cId="2715787865" sldId="4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42BA9AD9-FC80-4497-8484-7A4D9608DE10}" type="datetimeFigureOut">
              <a:rPr lang="zh-CN" altLang="en-US"/>
              <a:pPr>
                <a:defRPr/>
              </a:pPr>
              <a:t>2025/3/23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D718B667-CE80-41CC-B4D3-969832BB2FC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6524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平面与立体相交的问题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563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四个内容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回转体</a:t>
            </a:r>
            <a:r>
              <a:rPr lang="en-US" altLang="zh-CN" dirty="0"/>
              <a:t>1</a:t>
            </a:r>
            <a:r>
              <a:rPr lang="zh-CN" altLang="en-US" dirty="0"/>
              <a:t>：圆柱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回转体</a:t>
            </a:r>
            <a:r>
              <a:rPr lang="en-US" altLang="zh-CN" dirty="0"/>
              <a:t>2</a:t>
            </a:r>
            <a:r>
              <a:rPr lang="zh-CN" altLang="en-US" dirty="0"/>
              <a:t>：圆锥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上一节课学习了基本体，基本体的三视图表达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基本体结构简单，难以解决复杂的工程问题，需要构建更为复杂的形体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如何构建更为复杂的形体，从不同的角度思考就有不同的构建方法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上一节课从计算机图形学的角度，可以利用拉伸、旋转、交并叉等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我们从这一讲开始，学习在基本体的基础上，进行截切、相贯、组合的方法，构建复杂的新题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538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这一讲学习通过截切的方法构建复杂形体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何为截切：平面与立体相交，截切立体的一部分称为截切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这几个形体如何由基本体通过截切形成，基本体形状、截切的方式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三个基本的概念：截平面、截断面、截交线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关心的核心问题：立体被截切后如何表达，即如何绘制三视图，切入点为截交线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87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分析截交线的重要性质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截交线一定是截平面与立体表面的公有线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截交线一定是封闭的平面图形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截交线的空间形状取决于被截立体的形状，以及截平面与立体的相对位置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截交线的投影形状取决于截平面与投影面的相对位置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136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先研究平面与平面体相交的问题，也就是平面体被平面截切，构成更为复杂的形体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230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立方体被平面截切，截交线的性质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根据截平面与形体位置的不同，会得到不同的截交线形状，给出四种截交线的形状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观察所得到的截交线形状，总结截交线的性质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截交线都是什么形状：封闭的平面多边形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多边形的边数有什么规律：等于截平面所切到的立体的面数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多边形的顶点有什么规律：等于截平面所切到的立体的棱数</a:t>
            </a:r>
            <a:endParaRPr lang="en-US" altLang="zh-CN" dirty="0"/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dirty="0"/>
              <a:t>截交线是截平面与立体表面的公有线，截平面与立体每个表面都有唯一交线，与每条棱线都有唯一交点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617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求截交线的方法：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可以求各棱线与截平面的交点后连线得到截交线，称为棱线法；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可以分别求出各棱面与截平面的交线，直接得到截交线的各条边，称为棱面法；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求截交线的步骤：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投影分析：也就是读图，确定被截切的基本体形状，以及截平面位置；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空间分析：根据形体和截平面的相对位置，分析确定出截交线的空间形状；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投影分析：截交线在截平面上，所以通过分析截平面与投影面的相对位置关系，就可以确定出截交线的投影特性；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投影作图：采用棱线法求出截平面与棱线的交点、或棱面法求出截平面与棱面的交点，连接成封闭多变形，即可确定出截断面的形状；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最后，补全试图，判断可见性。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824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例题：四棱锥被截切后的俯视图和左视图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投影分析：读图，基本形体 </a:t>
            </a:r>
            <a:r>
              <a:rPr lang="en-US" altLang="zh-CN" dirty="0"/>
              <a:t>– </a:t>
            </a:r>
            <a:r>
              <a:rPr lang="zh-CN" altLang="en-US" dirty="0"/>
              <a:t>棱锥，被一个平面截切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空间分析：红色的平面与四棱锥的四个侧面都相交，因此空间截交线是四边形，四个顶点就是棱线与截平面的交点，四条边就是各个侧棱面与截平面的交线；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投影分析：截平面是一个正垂面，截交线在截平面上，截交线主视图上的投影具有积聚性，俯视图和左视图上的投影具有类似性；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作图步骤：采用棱线法进行作图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先标上四个顶点：</a:t>
            </a:r>
            <a:r>
              <a:rPr lang="en-US" altLang="zh-CN" dirty="0"/>
              <a:t>1,2,3,4</a:t>
            </a:r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确定主视图上截交线的四个顶点投影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利用三等关系，确定出截交线顶点的水平和侧面投影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找出截交线的四个定点后，顺序连接，画出截交线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最后判断可见性，补全棱线的投影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0377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例题：棱柱被截切后的左视图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投影分析：读图几棱柱被截切，截切了几次？</a:t>
            </a:r>
            <a:r>
              <a:rPr lang="en-US" altLang="zh-CN" sz="1400" dirty="0"/>
              <a:t>7</a:t>
            </a:r>
            <a:r>
              <a:rPr lang="zh-CN" altLang="en-US" sz="1400" dirty="0"/>
              <a:t>棱柱被一个平面截切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空间分析：截交线是一个七边形；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投影分析：截平面是一个正垂面，截交线在主视图的投影具有积聚性，在俯视图和左视图的投影具有类似性，为七边形；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作图：棱线法，标注截交线的</a:t>
            </a:r>
            <a:r>
              <a:rPr lang="en-US" altLang="zh-CN" sz="1400" dirty="0"/>
              <a:t>7</a:t>
            </a:r>
            <a:r>
              <a:rPr lang="zh-CN" altLang="en-US" sz="1400" dirty="0"/>
              <a:t>个顶点，利用三等关系，在左视图上找到对应的截交线</a:t>
            </a:r>
            <a:r>
              <a:rPr lang="en-US" altLang="zh-CN" sz="1400" dirty="0"/>
              <a:t>7</a:t>
            </a:r>
            <a:r>
              <a:rPr lang="zh-CN" altLang="en-US" sz="1400" dirty="0"/>
              <a:t>个顶点的位置，依次顺序连接，最后补全棱柱的所有棱线。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例题：复杂的截切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读图：几棱柱被截切了几次？四棱锥被五个平面截切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空间分析：分别找到五个截切面所在的位置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投影分析：分别根据五个截平面相对于投影面的关系，确定各个视图的投影特性，对照主视图和俯视图，分别分析每个截平面的对应关系</a:t>
            </a:r>
            <a:endParaRPr lang="en-US" altLang="zh-CN" sz="1400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P0 – </a:t>
            </a:r>
            <a:r>
              <a:rPr lang="zh-CN" altLang="en-US" sz="1400" dirty="0"/>
              <a:t>截平面为侧平面，在主视图和俯视图上的投影积聚为一条直线，在左视图上的投影是一个四边形</a:t>
            </a:r>
            <a:endParaRPr lang="en-US" altLang="zh-CN" sz="1400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P1 – </a:t>
            </a:r>
            <a:r>
              <a:rPr lang="zh-CN" altLang="en-US" sz="1400" dirty="0"/>
              <a:t>截平面为正垂面，在俯视图和左视图上的投影为类似形，是六边形</a:t>
            </a:r>
            <a:endParaRPr lang="en-US" altLang="zh-CN" sz="1400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P2 – </a:t>
            </a:r>
            <a:r>
              <a:rPr lang="zh-CN" altLang="en-US" sz="1400" dirty="0"/>
              <a:t>截平面为侧平面，左视图投影是四边形</a:t>
            </a:r>
            <a:endParaRPr lang="en-US" altLang="zh-CN" sz="1400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P3 – </a:t>
            </a:r>
            <a:r>
              <a:rPr lang="zh-CN" altLang="en-US" sz="1400" dirty="0"/>
              <a:t>截平面为水平面，俯视图上为六变形，左视图积聚</a:t>
            </a:r>
            <a:endParaRPr lang="en-US" altLang="zh-CN" sz="1400" dirty="0"/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P4 – </a:t>
            </a:r>
            <a:r>
              <a:rPr lang="zh-CN" altLang="en-US" sz="1400" dirty="0"/>
              <a:t>截平面为正垂面，俯视图和左视图上具有类似形，为三角形</a:t>
            </a:r>
            <a:endParaRPr lang="en-US" altLang="zh-CN" sz="1400" dirty="0"/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zh-CN" altLang="en-US" sz="1400" dirty="0"/>
              <a:t>补全所有的棱线，判断可见性</a:t>
            </a:r>
            <a:endParaRPr lang="en-US" altLang="zh-CN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65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平面与回转体相交，圆柱的截切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截交线同样是分析和作图的关键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536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圆柱被截切得到的截交线形状，取决于截平面与圆柱轴线的相对位置关系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情况</a:t>
            </a:r>
            <a:r>
              <a:rPr lang="en-US" altLang="zh-CN" dirty="0"/>
              <a:t>1</a:t>
            </a:r>
            <a:r>
              <a:rPr lang="zh-CN" altLang="en-US" dirty="0"/>
              <a:t>：截平面与圆柱轴线垂直的时候，截交线空间形状是圆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情况</a:t>
            </a:r>
            <a:r>
              <a:rPr lang="en-US" altLang="zh-CN" dirty="0"/>
              <a:t>2</a:t>
            </a:r>
            <a:r>
              <a:rPr lang="zh-CN" altLang="en-US" dirty="0"/>
              <a:t>：截平面与圆柱轴线倾斜的时候，截交线空间形状是椭圆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情况</a:t>
            </a:r>
            <a:r>
              <a:rPr lang="en-US" altLang="zh-CN" dirty="0"/>
              <a:t>3</a:t>
            </a:r>
            <a:r>
              <a:rPr lang="zh-CN" altLang="en-US" dirty="0"/>
              <a:t>：截平面与圆柱轴向平行的时候，截交线上两条直线，如果考虑圆柱上下底面，截交线可以认为是矩形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7097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例题：截平面平行于轴线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读图：圆柱被四个平行于轴线的平面截切，当然还有两个垂直于轴线的平面截切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空间分析：四个平行于轴线的平面截切后，截交线是矩形；垂直于轴线的平面截切后，截交线是圆形，只不过这里不是完整截切，因此截交线只是圆弧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投影分析：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左侧这个平行于轴线的平面截切后，在俯视图上的投影是一个矩形，确定出四个顶点后连接；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右侧这个平面截切后，在俯视图上的投影同样是一个矩形，只不过左侧的边被遮挡，是虚线；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补全轮廓投影；</a:t>
            </a:r>
            <a:endParaRPr lang="en-US" altLang="zh-CN" dirty="0"/>
          </a:p>
          <a:p>
            <a:pPr marL="0" lvl="1" indent="0">
              <a:buFont typeface="Wingdings" panose="05000000000000000000" pitchFamily="2" charset="2"/>
              <a:buNone/>
            </a:pPr>
            <a:endParaRPr lang="en-US" altLang="zh-CN" dirty="0"/>
          </a:p>
          <a:p>
            <a:pPr marL="1714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例题：在左边的基础上，在圆柱上打一个孔，截交线会有什么变化</a:t>
            </a:r>
            <a:endParaRPr lang="en-US" altLang="zh-CN" dirty="0"/>
          </a:p>
          <a:p>
            <a:pPr marL="1714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难点：判断轮廓线是否被切断</a:t>
            </a:r>
            <a:endParaRPr lang="en-US" altLang="zh-CN" dirty="0"/>
          </a:p>
          <a:p>
            <a:pPr marL="0" lvl="1" indent="0">
              <a:buFont typeface="Wingdings" panose="05000000000000000000" pitchFamily="2" charset="2"/>
              <a:buNone/>
            </a:pPr>
            <a:endParaRPr lang="en-US" altLang="zh-CN" dirty="0"/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注意截平面与圆柱的外表面和孔的内表面都要相交，都要产生截交线，在解决这一类问题的时候，需要依次分别的画出。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56213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例题：圆柱被倾斜于轴向的截平面截切，截交线为椭圆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投影分析：截平面为正垂面，截交线在主视图上的投影具有积聚性，在左视图上的投影就是圆柱的表面，就是这个圆，在俯视图上的投影则是椭圆；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作图：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先做特殊点，特殊点就是长短轴的端点，</a:t>
            </a:r>
            <a:r>
              <a:rPr lang="en-US" altLang="zh-CN" dirty="0"/>
              <a:t>ABCD</a:t>
            </a:r>
            <a:r>
              <a:rPr lang="zh-CN" altLang="en-US" dirty="0"/>
              <a:t>，在俯视图上找出对应的特殊点；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再找中间点，利用面上找点的方法，在左视图上找点</a:t>
            </a:r>
            <a:r>
              <a:rPr lang="en-US" altLang="zh-CN" dirty="0"/>
              <a:t>1</a:t>
            </a:r>
            <a:r>
              <a:rPr lang="zh-CN" altLang="en-US" dirty="0"/>
              <a:t>的投影，利用三等关系确定点</a:t>
            </a:r>
            <a:r>
              <a:rPr lang="en-US" altLang="zh-CN" dirty="0"/>
              <a:t>1</a:t>
            </a:r>
            <a:r>
              <a:rPr lang="zh-CN" altLang="en-US" dirty="0"/>
              <a:t>在俯视图上的投影，同理找出另外</a:t>
            </a:r>
            <a:r>
              <a:rPr lang="en-US" altLang="zh-CN" dirty="0"/>
              <a:t>3</a:t>
            </a:r>
            <a:r>
              <a:rPr lang="zh-CN" altLang="en-US" dirty="0"/>
              <a:t>个中间点，光滑连接</a:t>
            </a:r>
            <a:endParaRPr lang="en-US" altLang="zh-CN" dirty="0"/>
          </a:p>
          <a:p>
            <a:pPr marL="628650" lvl="1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补全轮廓线、判断可见性</a:t>
            </a: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如果截平面与圆柱轴线的倾角发生变化后，截交线在俯视图上的投影会有什么变化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倾斜角度较大时，椭圆长轴垂直于轴线，当倾角逐渐减小时，短轴的长度逐渐增加，直至超过圆柱的直径，从而椭圆的长短轴发生变化；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当截平面与圆柱轴线成</a:t>
            </a:r>
            <a:r>
              <a:rPr lang="en-US" altLang="zh-CN" dirty="0"/>
              <a:t>45°</a:t>
            </a:r>
            <a:r>
              <a:rPr lang="zh-CN" altLang="en-US" dirty="0"/>
              <a:t>时，投影就是圆，可以直接画出来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1552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例题：圆柱被多个平面截切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介绍求解过程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依次介绍</a:t>
            </a:r>
            <a:r>
              <a:rPr lang="en-US" altLang="zh-CN" dirty="0"/>
              <a:t>4</a:t>
            </a:r>
            <a:r>
              <a:rPr lang="zh-CN" altLang="en-US" dirty="0"/>
              <a:t>个平面截切的投影作图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3002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27940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根据截平面与圆锥轴线的相对位置不同，圆锥的截交线有五种形状。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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当截平面与圆锥的轴线垂直的时候，得到的截交线是圆；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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当截平面经过圆锥的锥顶的时候，得到的截交线是两条相交的直线；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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当截平面与圆锥的轴线夹角小于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°，大于圆锥顶角一般的时候，得到的截交线是椭圆；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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当截平面与圆锥的素线平行的时候，得到的截交线是抛物线；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"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当截平面与圆锥的轴线平行，或者它与圆锥轴线的小于圆锥顶角的一半时，得到的截交线是双曲线。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8230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C4CB3-BA3D-D1A6-9648-15A146AD1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3A4DFD-8A1B-1749-7C55-6DDC6BE96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59FB9A-D050-4720-AABA-F17FDB13A0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27940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根据截平面与圆锥轴线的相对位置不同，圆锥的截交线有五种形状。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"/>
            </a:pP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当截平面与圆锥的轴线垂直的时候，得到的截交线是圆；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"/>
            </a:pP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当截平面经过圆锥的锥顶的时候，得到的截交线是两条相交的直线；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"/>
            </a:pP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当截平面与圆锥的轴线夹角小于</a:t>
            </a:r>
            <a:r>
              <a:rPr lang="en-US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°，大于圆锥顶角一般的时候，得到的截交线是椭圆；</a:t>
            </a: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"/>
            </a:pP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当截平面与圆锥的素线平行的时候，得到的截交线是抛物线；</a:t>
            </a:r>
          </a:p>
          <a:p>
            <a:pPr marL="342900" lvl="0" indent="-342900" algn="just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"/>
            </a:pPr>
            <a:r>
              <a:rPr lang="zh-CN" altLang="zh-CN" sz="12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当截平面与圆锥的轴线平行，或者它与圆锥轴线的小于圆锥顶角的一半时，得到的截交线是双曲线。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0330C4-073A-54EA-55CA-3E1BC11A7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8022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截交线性质判断即投影分析：属于椭圆，在主视图的投影具有积聚性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找特殊点，椭圆的四个端点，以及圆锥上的轮廓终止点，也是虚实分界点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找中间点：圆锥面上找点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光滑连接，补全轮廓线，判断可见性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4232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读图：被几个面截切，每个截切面的性质</a:t>
            </a:r>
            <a:endParaRPr lang="en-US" altLang="zh-CN" dirty="0"/>
          </a:p>
          <a:p>
            <a:pPr marL="171450" indent="-171450">
              <a:buFont typeface="Wingdings" panose="05000000000000000000" pitchFamily="2" charset="2"/>
              <a:buChar char="l"/>
            </a:pPr>
            <a:r>
              <a:rPr lang="zh-CN" altLang="en-US" dirty="0"/>
              <a:t>分别绘制截交线：找特殊点、中间点、光滑连接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0877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718B667-CE80-41CC-B4D3-969832BB2FCC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380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>
            <a:extLst>
              <a:ext uri="{FF2B5EF4-FFF2-40B4-BE49-F238E27FC236}">
                <a16:creationId xmlns:a16="http://schemas.microsoft.com/office/drawing/2014/main" id="{3FD1ADF5-EE4E-39EE-1BA6-7A74EDA84F58}"/>
              </a:ext>
            </a:extLst>
          </p:cNvPr>
          <p:cNvSpPr>
            <a:spLocks noGrp="1" noChangeArrowheads="1"/>
          </p:cNvSpPr>
          <p:nvPr>
            <p:ph type="ctrTitle" idx="4294967295" hasCustomPrompt="1"/>
          </p:nvPr>
        </p:nvSpPr>
        <p:spPr>
          <a:xfrm>
            <a:off x="539552" y="2420888"/>
            <a:ext cx="784860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b="1" dirty="0">
                <a:latin typeface="黑体" pitchFamily="2" charset="-122"/>
                <a:ea typeface="黑体" pitchFamily="2" charset="-122"/>
              </a:rPr>
              <a:t>第 </a:t>
            </a:r>
            <a:r>
              <a:rPr lang="en-US" altLang="zh-CN" b="1" dirty="0">
                <a:latin typeface="黑体" pitchFamily="2" charset="-122"/>
                <a:ea typeface="黑体" pitchFamily="2" charset="-122"/>
              </a:rPr>
              <a:t># 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讲  标题</a:t>
            </a:r>
            <a:endParaRPr lang="zh-CN" altLang="en-US" sz="20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0EADD4F-B52D-2552-BF53-E0DD1E8958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32148" y="1626923"/>
            <a:ext cx="1189906" cy="45719"/>
          </a:xfrm>
          <a:prstGeom prst="rect">
            <a:avLst/>
          </a:prstGeom>
          <a:gradFill rotWithShape="0">
            <a:gsLst>
              <a:gs pos="0">
                <a:srgbClr val="DCDCEA"/>
              </a:gs>
              <a:gs pos="100000">
                <a:srgbClr val="000066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zh-CN" altLang="en-US" sz="2000"/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78098E69-5CD5-2A70-2A10-E335D62D2D9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53902" y="1056168"/>
            <a:ext cx="156324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3600" b="1" dirty="0">
                <a:solidFill>
                  <a:srgbClr val="010000"/>
                </a:solidFill>
                <a:latin typeface="华文新魏" pitchFamily="2" charset="-122"/>
                <a:ea typeface="华文新魏" pitchFamily="2" charset="-122"/>
              </a:rPr>
              <a:t>第    讲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2F8AE709-BF43-5C8B-DE1E-F391A4678E8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22" y="366323"/>
            <a:ext cx="1366780" cy="1379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每讲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建筑的设计&#10;&#10;描述已自动生成">
            <a:extLst>
              <a:ext uri="{FF2B5EF4-FFF2-40B4-BE49-F238E27FC236}">
                <a16:creationId xmlns:a16="http://schemas.microsoft.com/office/drawing/2014/main" id="{972AEAC3-0302-341E-6F87-50346F1DF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83" r="2347"/>
          <a:stretch/>
        </p:blipFill>
        <p:spPr>
          <a:xfrm>
            <a:off x="5625737" y="3733164"/>
            <a:ext cx="3640183" cy="312483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375B0FB-1E37-B12D-5EFF-9DEEF7C85CB7}"/>
              </a:ext>
            </a:extLst>
          </p:cNvPr>
          <p:cNvSpPr/>
          <p:nvPr userDrawn="1"/>
        </p:nvSpPr>
        <p:spPr>
          <a:xfrm>
            <a:off x="0" y="1624935"/>
            <a:ext cx="9144000" cy="144000"/>
          </a:xfrm>
          <a:prstGeom prst="rect">
            <a:avLst/>
          </a:prstGeom>
          <a:gradFill>
            <a:gsLst>
              <a:gs pos="50000">
                <a:schemeClr val="accent3">
                  <a:lumMod val="20000"/>
                  <a:lumOff val="80000"/>
                </a:schemeClr>
              </a:gs>
              <a:gs pos="0">
                <a:schemeClr val="accent3"/>
              </a:gs>
              <a:gs pos="25000">
                <a:srgbClr val="800D90">
                  <a:alpha val="50000"/>
                  <a:lumMod val="100000"/>
                </a:srgbClr>
              </a:gs>
              <a:gs pos="75000">
                <a:srgbClr val="800D90">
                  <a:alpha val="50000"/>
                  <a:lumMod val="100000"/>
                </a:srgbClr>
              </a:gs>
              <a:gs pos="100000">
                <a:schemeClr val="accent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60874"/>
              </a:solidFill>
            </a:endParaRPr>
          </a:p>
        </p:txBody>
      </p:sp>
      <p:sp>
        <p:nvSpPr>
          <p:cNvPr id="4" name="文本占位符 19">
            <a:extLst>
              <a:ext uri="{FF2B5EF4-FFF2-40B4-BE49-F238E27FC236}">
                <a16:creationId xmlns:a16="http://schemas.microsoft.com/office/drawing/2014/main" id="{5A6056A7-A330-90D3-3148-148D1D9359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4333" y="2817663"/>
            <a:ext cx="7075335" cy="590931"/>
          </a:xfrm>
        </p:spPr>
        <p:txBody>
          <a:bodyPr wrap="none" anchor="ctr" anchorCtr="0">
            <a:spAutoFit/>
          </a:bodyPr>
          <a:lstStyle>
            <a:lvl1pPr marL="0" indent="0" algn="ctr">
              <a:buNone/>
              <a:defRPr sz="3600" b="1" i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标题，微软雅黑，</a:t>
            </a:r>
            <a:r>
              <a:rPr kumimoji="1" lang="en-US" altLang="zh-CN" dirty="0"/>
              <a:t>regular</a:t>
            </a:r>
            <a:r>
              <a:rPr kumimoji="1" lang="zh-CN" altLang="en-US" dirty="0"/>
              <a:t>，</a:t>
            </a:r>
            <a:r>
              <a:rPr kumimoji="1" lang="en-US" altLang="zh-CN" dirty="0"/>
              <a:t>36pt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E72690D-05E7-3DA8-44D6-C8381F4A3F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4075" y="123774"/>
            <a:ext cx="3988851" cy="1348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72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23528" y="1351309"/>
            <a:ext cx="8229600" cy="4525963"/>
          </a:xfrm>
        </p:spPr>
        <p:txBody>
          <a:bodyPr/>
          <a:lstStyle>
            <a:lvl1pPr>
              <a:defRPr b="1">
                <a:latin typeface="黑体" pitchFamily="49" charset="-122"/>
                <a:ea typeface="黑体" pitchFamily="49" charset="-122"/>
              </a:defRPr>
            </a:lvl1pPr>
            <a:lvl2pPr>
              <a:buNone/>
              <a:defRPr>
                <a:latin typeface="黑体" pitchFamily="49" charset="-122"/>
                <a:ea typeface="黑体" pitchFamily="49" charset="-122"/>
              </a:defRPr>
            </a:lvl2pPr>
          </a:lstStyle>
          <a:p>
            <a:pPr lvl="0"/>
            <a:r>
              <a:rPr lang="zh-CN" altLang="en-US" dirty="0"/>
              <a:t>三级标题 黑体 </a:t>
            </a:r>
            <a:r>
              <a:rPr lang="en-US" altLang="zh-CN" dirty="0"/>
              <a:t>30</a:t>
            </a:r>
            <a:r>
              <a:rPr lang="zh-CN" altLang="en-US" dirty="0"/>
              <a:t>磅</a:t>
            </a:r>
          </a:p>
          <a:p>
            <a:pPr lvl="1"/>
            <a:r>
              <a:rPr lang="zh-CN" altLang="en-US" dirty="0"/>
              <a:t>正文 （</a:t>
            </a:r>
            <a:r>
              <a:rPr lang="en-US" altLang="zh-CN" dirty="0"/>
              <a:t>24~30</a:t>
            </a:r>
            <a:r>
              <a:rPr lang="zh-CN" altLang="en-US" dirty="0"/>
              <a:t>磅）</a:t>
            </a:r>
          </a:p>
        </p:txBody>
      </p:sp>
      <p:sp>
        <p:nvSpPr>
          <p:cNvPr id="7" name="矩形 4"/>
          <p:cNvSpPr/>
          <p:nvPr userDrawn="1"/>
        </p:nvSpPr>
        <p:spPr>
          <a:xfrm>
            <a:off x="0" y="332656"/>
            <a:ext cx="9144000" cy="72007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6256" y="6381328"/>
            <a:ext cx="21336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15" name="Rectangle 14"/>
          <p:cNvSpPr>
            <a:spLocks noChangeArrowheads="1"/>
          </p:cNvSpPr>
          <p:nvPr userDrawn="1"/>
        </p:nvSpPr>
        <p:spPr bwMode="auto">
          <a:xfrm flipV="1">
            <a:off x="395049" y="6332237"/>
            <a:ext cx="8748951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95049" y="6433591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876256" y="6381328"/>
            <a:ext cx="21336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sp>
        <p:nvSpPr>
          <p:cNvPr id="6" name="Rectangle 5"/>
          <p:cNvSpPr>
            <a:spLocks noChangeArrowheads="1"/>
          </p:cNvSpPr>
          <p:nvPr userDrawn="1"/>
        </p:nvSpPr>
        <p:spPr bwMode="auto">
          <a:xfrm flipV="1">
            <a:off x="395049" y="6332237"/>
            <a:ext cx="8748951" cy="49091"/>
          </a:xfrm>
          <a:prstGeom prst="rect">
            <a:avLst/>
          </a:prstGeom>
          <a:solidFill>
            <a:schemeClr val="accent6">
              <a:lumMod val="50000"/>
              <a:alpha val="81175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anchor="ctr"/>
          <a:lstStyle/>
          <a:p>
            <a:pPr algn="ctr"/>
            <a:endParaRPr lang="zh-CN" altLang="zh-CN" sz="4400">
              <a:solidFill>
                <a:srgbClr val="1F497D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95049" y="6433591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《</a:t>
            </a:r>
            <a:r>
              <a:rPr lang="zh-CN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工程图学</a:t>
            </a:r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》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F4F1FC-A211-41D3-9527-7868687E14E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占位符 1"/>
          <p:cNvSpPr>
            <a:spLocks noGrp="1"/>
          </p:cNvSpPr>
          <p:nvPr>
            <p:ph type="title"/>
          </p:nvPr>
        </p:nvSpPr>
        <p:spPr bwMode="auto">
          <a:xfrm>
            <a:off x="1763688" y="692696"/>
            <a:ext cx="6923112" cy="724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8435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C7F1263-A734-46DB-B37F-609C84242B91}" type="datetimeFigureOut">
              <a:rPr lang="zh-CN" altLang="en-US"/>
              <a:pPr>
                <a:defRPr/>
              </a:pPr>
              <a:t>2025/3/23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5434602-5AA4-4CE6-AF47-D5586F532B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4" r:id="rId2"/>
    <p:sldLayoutId id="2147483658" r:id="rId3"/>
    <p:sldLayoutId id="2147483660" r:id="rId4"/>
    <p:sldLayoutId id="2147483661" r:id="rId5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1E89DEE-9DA1-3252-8124-710DEFD86A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05146" y="2697631"/>
            <a:ext cx="3733714" cy="830997"/>
          </a:xfrm>
        </p:spPr>
        <p:txBody>
          <a:bodyPr/>
          <a:lstStyle/>
          <a:p>
            <a:r>
              <a:rPr lang="zh-CN" altLang="en-US" sz="4800" spc="600" dirty="0">
                <a:solidFill>
                  <a:srgbClr val="00206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工 程 图 学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6B4EE6F-EAC9-E67A-9242-B328EC12A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5506" y="4218819"/>
            <a:ext cx="249299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姜   峣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副研究员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lnSpc>
                <a:spcPct val="150000"/>
              </a:lnSpc>
              <a:spcBef>
                <a:spcPts val="0"/>
              </a:spcBef>
              <a:buFontTx/>
              <a:buNone/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清华大学，机械工程系</a:t>
            </a:r>
            <a:endParaRPr lang="en-US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10BD971-1F4C-C04A-6CEB-F357AD1D8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040" y="162352"/>
            <a:ext cx="3865161" cy="134038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91440" tIns="60120" rIns="91440" bIns="63720"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等线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联系方式：</a:t>
            </a:r>
            <a:endParaRPr lang="en-US" altLang="zh-CN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办公室：李兆基科技大楼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A1011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手机号：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18210064570</a:t>
            </a:r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jiangyao@mail.tsinghua.edu.cn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346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 idx="4294967295"/>
          </p:nvPr>
        </p:nvSpPr>
        <p:spPr>
          <a:xfrm>
            <a:off x="2325232" y="2727900"/>
            <a:ext cx="4493538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平面与立体相交</a:t>
            </a:r>
          </a:p>
        </p:txBody>
      </p:sp>
      <p:sp>
        <p:nvSpPr>
          <p:cNvPr id="3" name="Rectangle 2"/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7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/>
          <p:cNvSpPr txBox="1">
            <a:spLocks/>
          </p:cNvSpPr>
          <p:nvPr/>
        </p:nvSpPr>
        <p:spPr bwMode="auto">
          <a:xfrm>
            <a:off x="2198594" y="2132856"/>
            <a:ext cx="4746812" cy="260154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7.1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截切的基本概念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7.2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平面与平面体相交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7.3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平面与回转体相交（一）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514350" indent="-514350">
              <a:lnSpc>
                <a:spcPct val="150000"/>
              </a:lnSpc>
              <a:defRPr/>
            </a:pPr>
            <a:r>
              <a:rPr lang="en-US" altLang="zh-CN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7.4 </a:t>
            </a:r>
            <a:r>
              <a:rPr lang="zh-CN" altLang="en-US" sz="2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平面与回转体相交（二）</a:t>
            </a:r>
            <a:endParaRPr lang="en-US" altLang="zh-CN" sz="2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8" name="Title 6"/>
          <p:cNvSpPr txBox="1">
            <a:spLocks/>
          </p:cNvSpPr>
          <p:nvPr/>
        </p:nvSpPr>
        <p:spPr bwMode="auto">
          <a:xfrm>
            <a:off x="3835260" y="454422"/>
            <a:ext cx="1473480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内 容</a:t>
            </a:r>
          </a:p>
        </p:txBody>
      </p:sp>
      <p:grpSp>
        <p:nvGrpSpPr>
          <p:cNvPr id="2" name="组合 12"/>
          <p:cNvGrpSpPr/>
          <p:nvPr/>
        </p:nvGrpSpPr>
        <p:grpSpPr>
          <a:xfrm flipV="1">
            <a:off x="0" y="1412776"/>
            <a:ext cx="9144000" cy="288032"/>
            <a:chOff x="-40060" y="4227605"/>
            <a:chExt cx="15641884" cy="367574"/>
          </a:xfr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0" name="组合 13"/>
            <p:cNvGrpSpPr/>
            <p:nvPr/>
          </p:nvGrpSpPr>
          <p:grpSpPr>
            <a:xfrm>
              <a:off x="-40060" y="4227605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6" name="矩形 18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7" name="矩形 19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8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" fmla="*/ 0 w 364864"/>
                  <a:gd name="connsiteY0" fmla="*/ 0 h 270030"/>
                  <a:gd name="connsiteX1" fmla="*/ 364864 w 364864"/>
                  <a:gd name="connsiteY1" fmla="*/ 72957 h 270030"/>
                  <a:gd name="connsiteX2" fmla="*/ 360000 w 364864"/>
                  <a:gd name="connsiteY2" fmla="*/ 270030 h 270030"/>
                  <a:gd name="connsiteX3" fmla="*/ 0 w 364864"/>
                  <a:gd name="connsiteY3" fmla="*/ 270030 h 270030"/>
                  <a:gd name="connsiteX4" fmla="*/ 0 w 364864"/>
                  <a:gd name="connsiteY4" fmla="*/ 0 h 270030"/>
                  <a:gd name="connsiteX0" fmla="*/ 0 w 364864"/>
                  <a:gd name="connsiteY0" fmla="*/ 0 h 294349"/>
                  <a:gd name="connsiteX1" fmla="*/ 364864 w 364864"/>
                  <a:gd name="connsiteY1" fmla="*/ 72957 h 294349"/>
                  <a:gd name="connsiteX2" fmla="*/ 364864 w 364864"/>
                  <a:gd name="connsiteY2" fmla="*/ 294349 h 294349"/>
                  <a:gd name="connsiteX3" fmla="*/ 0 w 364864"/>
                  <a:gd name="connsiteY3" fmla="*/ 270030 h 294349"/>
                  <a:gd name="connsiteX4" fmla="*/ 0 w 364864"/>
                  <a:gd name="connsiteY4" fmla="*/ 0 h 294349"/>
                  <a:gd name="connsiteX0" fmla="*/ 0 w 364864"/>
                  <a:gd name="connsiteY0" fmla="*/ 0 h 290893"/>
                  <a:gd name="connsiteX1" fmla="*/ 364864 w 364864"/>
                  <a:gd name="connsiteY1" fmla="*/ 72957 h 290893"/>
                  <a:gd name="connsiteX2" fmla="*/ 363396 w 364864"/>
                  <a:gd name="connsiteY2" fmla="*/ 290893 h 290893"/>
                  <a:gd name="connsiteX3" fmla="*/ 358533 w 364864"/>
                  <a:gd name="connsiteY3" fmla="*/ 266574 h 290893"/>
                  <a:gd name="connsiteX4" fmla="*/ 0 w 364864"/>
                  <a:gd name="connsiteY4" fmla="*/ 270030 h 290893"/>
                  <a:gd name="connsiteX5" fmla="*/ 0 w 364864"/>
                  <a:gd name="connsiteY5" fmla="*/ 0 h 290893"/>
                  <a:gd name="connsiteX0" fmla="*/ 0 w 368581"/>
                  <a:gd name="connsiteY0" fmla="*/ 0 h 321274"/>
                  <a:gd name="connsiteX1" fmla="*/ 364864 w 368581"/>
                  <a:gd name="connsiteY1" fmla="*/ 72957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21274"/>
                  <a:gd name="connsiteX1" fmla="*/ 364864 w 368581"/>
                  <a:gd name="connsiteY1" fmla="*/ 87549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64509"/>
                  <a:gd name="connsiteX1" fmla="*/ 364864 w 368581"/>
                  <a:gd name="connsiteY1" fmla="*/ 87549 h 364509"/>
                  <a:gd name="connsiteX2" fmla="*/ 363396 w 368581"/>
                  <a:gd name="connsiteY2" fmla="*/ 290893 h 364509"/>
                  <a:gd name="connsiteX3" fmla="*/ 368261 w 368581"/>
                  <a:gd name="connsiteY3" fmla="*/ 363850 h 364509"/>
                  <a:gd name="connsiteX4" fmla="*/ 0 w 368581"/>
                  <a:gd name="connsiteY4" fmla="*/ 270030 h 364509"/>
                  <a:gd name="connsiteX5" fmla="*/ 0 w 368581"/>
                  <a:gd name="connsiteY5" fmla="*/ 0 h 364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11" name="组合 14"/>
            <p:cNvGrpSpPr/>
            <p:nvPr/>
          </p:nvGrpSpPr>
          <p:grpSpPr>
            <a:xfrm flipH="1">
              <a:off x="7780882" y="4230669"/>
              <a:ext cx="7820942" cy="364510"/>
              <a:chOff x="4635815" y="4227605"/>
              <a:chExt cx="7820942" cy="364510"/>
            </a:xfrm>
            <a:grpFill/>
          </p:grpSpPr>
          <p:sp>
            <p:nvSpPr>
              <p:cNvPr id="13" name="矩形 15"/>
              <p:cNvSpPr/>
              <p:nvPr/>
            </p:nvSpPr>
            <p:spPr>
              <a:xfrm>
                <a:off x="6786027" y="4320679"/>
                <a:ext cx="567073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4" name="矩形 16"/>
              <p:cNvSpPr/>
              <p:nvPr/>
            </p:nvSpPr>
            <p:spPr>
              <a:xfrm>
                <a:off x="4635815" y="4227605"/>
                <a:ext cx="1800000" cy="27003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5" name="矩形 4"/>
              <p:cNvSpPr/>
              <p:nvPr/>
            </p:nvSpPr>
            <p:spPr>
              <a:xfrm>
                <a:off x="6426510" y="4227606"/>
                <a:ext cx="368581" cy="364509"/>
              </a:xfrm>
              <a:custGeom>
                <a:avLst/>
                <a:gdLst>
                  <a:gd name="connsiteX0" fmla="*/ 0 w 360000"/>
                  <a:gd name="connsiteY0" fmla="*/ 0 h 270030"/>
                  <a:gd name="connsiteX1" fmla="*/ 360000 w 360000"/>
                  <a:gd name="connsiteY1" fmla="*/ 0 h 270030"/>
                  <a:gd name="connsiteX2" fmla="*/ 360000 w 360000"/>
                  <a:gd name="connsiteY2" fmla="*/ 270030 h 270030"/>
                  <a:gd name="connsiteX3" fmla="*/ 0 w 360000"/>
                  <a:gd name="connsiteY3" fmla="*/ 270030 h 270030"/>
                  <a:gd name="connsiteX4" fmla="*/ 0 w 360000"/>
                  <a:gd name="connsiteY4" fmla="*/ 0 h 270030"/>
                  <a:gd name="connsiteX0" fmla="*/ 0 w 364864"/>
                  <a:gd name="connsiteY0" fmla="*/ 0 h 270030"/>
                  <a:gd name="connsiteX1" fmla="*/ 364864 w 364864"/>
                  <a:gd name="connsiteY1" fmla="*/ 72957 h 270030"/>
                  <a:gd name="connsiteX2" fmla="*/ 360000 w 364864"/>
                  <a:gd name="connsiteY2" fmla="*/ 270030 h 270030"/>
                  <a:gd name="connsiteX3" fmla="*/ 0 w 364864"/>
                  <a:gd name="connsiteY3" fmla="*/ 270030 h 270030"/>
                  <a:gd name="connsiteX4" fmla="*/ 0 w 364864"/>
                  <a:gd name="connsiteY4" fmla="*/ 0 h 270030"/>
                  <a:gd name="connsiteX0" fmla="*/ 0 w 364864"/>
                  <a:gd name="connsiteY0" fmla="*/ 0 h 294349"/>
                  <a:gd name="connsiteX1" fmla="*/ 364864 w 364864"/>
                  <a:gd name="connsiteY1" fmla="*/ 72957 h 294349"/>
                  <a:gd name="connsiteX2" fmla="*/ 364864 w 364864"/>
                  <a:gd name="connsiteY2" fmla="*/ 294349 h 294349"/>
                  <a:gd name="connsiteX3" fmla="*/ 0 w 364864"/>
                  <a:gd name="connsiteY3" fmla="*/ 270030 h 294349"/>
                  <a:gd name="connsiteX4" fmla="*/ 0 w 364864"/>
                  <a:gd name="connsiteY4" fmla="*/ 0 h 294349"/>
                  <a:gd name="connsiteX0" fmla="*/ 0 w 364864"/>
                  <a:gd name="connsiteY0" fmla="*/ 0 h 290893"/>
                  <a:gd name="connsiteX1" fmla="*/ 364864 w 364864"/>
                  <a:gd name="connsiteY1" fmla="*/ 72957 h 290893"/>
                  <a:gd name="connsiteX2" fmla="*/ 363396 w 364864"/>
                  <a:gd name="connsiteY2" fmla="*/ 290893 h 290893"/>
                  <a:gd name="connsiteX3" fmla="*/ 358533 w 364864"/>
                  <a:gd name="connsiteY3" fmla="*/ 266574 h 290893"/>
                  <a:gd name="connsiteX4" fmla="*/ 0 w 364864"/>
                  <a:gd name="connsiteY4" fmla="*/ 270030 h 290893"/>
                  <a:gd name="connsiteX5" fmla="*/ 0 w 364864"/>
                  <a:gd name="connsiteY5" fmla="*/ 0 h 290893"/>
                  <a:gd name="connsiteX0" fmla="*/ 0 w 368581"/>
                  <a:gd name="connsiteY0" fmla="*/ 0 h 321274"/>
                  <a:gd name="connsiteX1" fmla="*/ 364864 w 368581"/>
                  <a:gd name="connsiteY1" fmla="*/ 72957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21274"/>
                  <a:gd name="connsiteX1" fmla="*/ 364864 w 368581"/>
                  <a:gd name="connsiteY1" fmla="*/ 87549 h 321274"/>
                  <a:gd name="connsiteX2" fmla="*/ 363396 w 368581"/>
                  <a:gd name="connsiteY2" fmla="*/ 290893 h 321274"/>
                  <a:gd name="connsiteX3" fmla="*/ 368261 w 368581"/>
                  <a:gd name="connsiteY3" fmla="*/ 320076 h 321274"/>
                  <a:gd name="connsiteX4" fmla="*/ 0 w 368581"/>
                  <a:gd name="connsiteY4" fmla="*/ 270030 h 321274"/>
                  <a:gd name="connsiteX5" fmla="*/ 0 w 368581"/>
                  <a:gd name="connsiteY5" fmla="*/ 0 h 321274"/>
                  <a:gd name="connsiteX0" fmla="*/ 0 w 368581"/>
                  <a:gd name="connsiteY0" fmla="*/ 0 h 364509"/>
                  <a:gd name="connsiteX1" fmla="*/ 364864 w 368581"/>
                  <a:gd name="connsiteY1" fmla="*/ 87549 h 364509"/>
                  <a:gd name="connsiteX2" fmla="*/ 363396 w 368581"/>
                  <a:gd name="connsiteY2" fmla="*/ 290893 h 364509"/>
                  <a:gd name="connsiteX3" fmla="*/ 368261 w 368581"/>
                  <a:gd name="connsiteY3" fmla="*/ 363850 h 364509"/>
                  <a:gd name="connsiteX4" fmla="*/ 0 w 368581"/>
                  <a:gd name="connsiteY4" fmla="*/ 270030 h 364509"/>
                  <a:gd name="connsiteX5" fmla="*/ 0 w 368581"/>
                  <a:gd name="connsiteY5" fmla="*/ 0 h 3645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8581" h="364509">
                    <a:moveTo>
                      <a:pt x="0" y="0"/>
                    </a:moveTo>
                    <a:lnTo>
                      <a:pt x="364864" y="87549"/>
                    </a:lnTo>
                    <a:cubicBezTo>
                      <a:pt x="364375" y="160194"/>
                      <a:pt x="363885" y="218248"/>
                      <a:pt x="363396" y="290893"/>
                    </a:cubicBezTo>
                    <a:cubicBezTo>
                      <a:pt x="361286" y="281635"/>
                      <a:pt x="370371" y="373108"/>
                      <a:pt x="368261" y="363850"/>
                    </a:cubicBezTo>
                    <a:lnTo>
                      <a:pt x="0" y="27003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1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3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0DE44-CB25-B7E0-C021-70AB5732C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19FDD85A-E770-782D-3F8E-9B56626E5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4</a:t>
            </a:fld>
            <a:endParaRPr lang="en-US" altLang="zh-CN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C44852E-B46B-B54D-70CC-BA129E18C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927" y="2105030"/>
            <a:ext cx="1114163" cy="1513736"/>
          </a:xfrm>
          <a:prstGeom prst="cube">
            <a:avLst>
              <a:gd name="adj" fmla="val 25000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accent5">
                <a:lumMod val="7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75B69CE-128D-D738-8B54-74EA7343A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0249" y="2060848"/>
            <a:ext cx="1001711" cy="1602101"/>
          </a:xfrm>
          <a:prstGeom prst="can">
            <a:avLst>
              <a:gd name="adj" fmla="val 39984"/>
            </a:avLst>
          </a:prstGeom>
          <a:gradFill rotWithShape="0">
            <a:gsLst>
              <a:gs pos="0">
                <a:schemeClr val="accent5">
                  <a:lumMod val="75000"/>
                </a:schemeClr>
              </a:gs>
              <a:gs pos="5000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75000"/>
                </a:schemeClr>
              </a:gs>
            </a:gsLst>
            <a:lin ang="0" scaled="1"/>
          </a:gradFill>
          <a:ln w="9525">
            <a:solidFill>
              <a:schemeClr val="accent5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3858613-51B8-C159-1215-B898A9FD9FD3}"/>
              </a:ext>
            </a:extLst>
          </p:cNvPr>
          <p:cNvGrpSpPr>
            <a:grpSpLocks/>
          </p:cNvGrpSpPr>
          <p:nvPr/>
        </p:nvGrpSpPr>
        <p:grpSpPr bwMode="auto">
          <a:xfrm>
            <a:off x="1438079" y="2069565"/>
            <a:ext cx="1440606" cy="1584667"/>
            <a:chOff x="2160" y="1056"/>
            <a:chExt cx="960" cy="1056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F55BDF4-80A3-C7BF-B923-09A20FC32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1056"/>
              <a:ext cx="624" cy="1056"/>
            </a:xfrm>
            <a:custGeom>
              <a:avLst/>
              <a:gdLst>
                <a:gd name="T0" fmla="*/ 480 w 624"/>
                <a:gd name="T1" fmla="*/ 0 h 960"/>
                <a:gd name="T2" fmla="*/ 0 w 624"/>
                <a:gd name="T3" fmla="*/ 2822 h 960"/>
                <a:gd name="T4" fmla="*/ 624 w 624"/>
                <a:gd name="T5" fmla="*/ 3317 h 960"/>
                <a:gd name="T6" fmla="*/ 480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4" h="960">
                  <a:moveTo>
                    <a:pt x="480" y="0"/>
                  </a:moveTo>
                  <a:lnTo>
                    <a:pt x="0" y="816"/>
                  </a:lnTo>
                  <a:lnTo>
                    <a:pt x="624" y="960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A1ECB140-F780-1646-06F2-A8C689139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1056"/>
              <a:ext cx="480" cy="1056"/>
            </a:xfrm>
            <a:custGeom>
              <a:avLst/>
              <a:gdLst>
                <a:gd name="T0" fmla="*/ 0 w 480"/>
                <a:gd name="T1" fmla="*/ 0 h 960"/>
                <a:gd name="T2" fmla="*/ 480 w 480"/>
                <a:gd name="T3" fmla="*/ 720 h 960"/>
                <a:gd name="T4" fmla="*/ 144 w 480"/>
                <a:gd name="T5" fmla="*/ 960 h 960"/>
                <a:gd name="T6" fmla="*/ 0 w 480"/>
                <a:gd name="T7" fmla="*/ 0 h 9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0" h="960">
                  <a:moveTo>
                    <a:pt x="0" y="0"/>
                  </a:moveTo>
                  <a:lnTo>
                    <a:pt x="480" y="720"/>
                  </a:lnTo>
                  <a:lnTo>
                    <a:pt x="144" y="96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charset="-122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8146D5DD-6FCA-A21D-A241-CF3821B22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410" y="1936362"/>
            <a:ext cx="1592742" cy="1851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3">
            <a:extLst>
              <a:ext uri="{FF2B5EF4-FFF2-40B4-BE49-F238E27FC236}">
                <a16:creationId xmlns:a16="http://schemas.microsoft.com/office/drawing/2014/main" id="{058F8E96-7D70-EB8B-E858-78EB9EA4A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009" y="2261612"/>
            <a:ext cx="1598964" cy="12005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6676ADD-D0F8-E617-6986-76DE9A17E9ED}"/>
              </a:ext>
            </a:extLst>
          </p:cNvPr>
          <p:cNvSpPr txBox="1"/>
          <p:nvPr/>
        </p:nvSpPr>
        <p:spPr>
          <a:xfrm>
            <a:off x="263286" y="1268760"/>
            <a:ext cx="86174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基本体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：单一的几何体，如棱柱、棱锥、圆柱、圆锥、圆球、圆环等。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Oval 9">
            <a:extLst>
              <a:ext uri="{FF2B5EF4-FFF2-40B4-BE49-F238E27FC236}">
                <a16:creationId xmlns:a16="http://schemas.microsoft.com/office/drawing/2014/main" id="{1637F3D4-5DBF-EB38-07A3-CA31E815B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6105" y="2197251"/>
            <a:ext cx="1328913" cy="1329294"/>
          </a:xfrm>
          <a:prstGeom prst="ellipse">
            <a:avLst/>
          </a:prstGeom>
          <a:gradFill rotWithShape="0">
            <a:gsLst>
              <a:gs pos="0">
                <a:schemeClr val="accent5">
                  <a:lumMod val="40000"/>
                  <a:lumOff val="60000"/>
                </a:schemeClr>
              </a:gs>
              <a:gs pos="100000">
                <a:schemeClr val="accent5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accent5">
                <a:lumMod val="75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>
              <a:ea typeface="宋体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B270FDB-7761-366C-432A-E04B1AC9B7D6}"/>
              </a:ext>
            </a:extLst>
          </p:cNvPr>
          <p:cNvSpPr txBox="1"/>
          <p:nvPr/>
        </p:nvSpPr>
        <p:spPr>
          <a:xfrm>
            <a:off x="1719559" y="4383918"/>
            <a:ext cx="35702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如何构建更为复杂的形体？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3C88116-977F-10A3-408F-58655D3CC11C}"/>
              </a:ext>
            </a:extLst>
          </p:cNvPr>
          <p:cNvSpPr txBox="1"/>
          <p:nvPr/>
        </p:nvSpPr>
        <p:spPr>
          <a:xfrm>
            <a:off x="2051720" y="4860457"/>
            <a:ext cx="361188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拉伸、旋转、交并叉 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  <p:sp>
        <p:nvSpPr>
          <p:cNvPr id="20" name="Text Box 18">
            <a:extLst>
              <a:ext uri="{FF2B5EF4-FFF2-40B4-BE49-F238E27FC236}">
                <a16:creationId xmlns:a16="http://schemas.microsoft.com/office/drawing/2014/main" id="{57DED744-89A3-6F16-9996-A0F6F71C7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截切的基本概念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59AA67-008B-0931-06F8-08FC2E0B48A8}"/>
              </a:ext>
            </a:extLst>
          </p:cNvPr>
          <p:cNvSpPr txBox="1"/>
          <p:nvPr/>
        </p:nvSpPr>
        <p:spPr>
          <a:xfrm>
            <a:off x="2051720" y="5445224"/>
            <a:ext cx="332975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截切、相贯、组合 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217954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2643D-07CE-EAE5-8EE2-37D39EC1B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D4BCFECD-E163-6050-2BF0-B345D5497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5</a:t>
            </a:fld>
            <a:endParaRPr lang="en-US" altLang="zh-CN" dirty="0"/>
          </a:p>
        </p:txBody>
      </p:sp>
      <p:sp>
        <p:nvSpPr>
          <p:cNvPr id="144387" name="Text Box 3"/>
          <p:cNvSpPr txBox="1">
            <a:spLocks noChangeArrowheads="1"/>
          </p:cNvSpPr>
          <p:nvPr/>
        </p:nvSpPr>
        <p:spPr bwMode="auto">
          <a:xfrm>
            <a:off x="717550" y="1152674"/>
            <a:ext cx="60324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截切：</a:t>
            </a:r>
            <a:r>
              <a:rPr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平面与立体相交，截去立体的一部分</a:t>
            </a:r>
          </a:p>
        </p:txBody>
      </p:sp>
      <p:grpSp>
        <p:nvGrpSpPr>
          <p:cNvPr id="2" name="Group 4"/>
          <p:cNvGrpSpPr>
            <a:grpSpLocks noChangeAspect="1"/>
          </p:cNvGrpSpPr>
          <p:nvPr/>
        </p:nvGrpSpPr>
        <p:grpSpPr bwMode="auto">
          <a:xfrm>
            <a:off x="207731" y="2005391"/>
            <a:ext cx="1764148" cy="1700212"/>
            <a:chOff x="245" y="1384"/>
            <a:chExt cx="1490" cy="1436"/>
          </a:xfrm>
        </p:grpSpPr>
        <p:pic>
          <p:nvPicPr>
            <p:cNvPr id="4129" name="Picture 5" descr="书4-1切棱锥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045" t="12169" r="15936" b="3790"/>
            <a:stretch>
              <a:fillRect/>
            </a:stretch>
          </p:blipFill>
          <p:spPr bwMode="auto">
            <a:xfrm>
              <a:off x="245" y="1384"/>
              <a:ext cx="1490" cy="1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30" name="Freeform 6"/>
            <p:cNvSpPr>
              <a:spLocks/>
            </p:cNvSpPr>
            <p:nvPr/>
          </p:nvSpPr>
          <p:spPr bwMode="auto">
            <a:xfrm>
              <a:off x="504" y="1399"/>
              <a:ext cx="649" cy="650"/>
            </a:xfrm>
            <a:custGeom>
              <a:avLst/>
              <a:gdLst>
                <a:gd name="T0" fmla="*/ 0 w 649"/>
                <a:gd name="T1" fmla="*/ 650 h 650"/>
                <a:gd name="T2" fmla="*/ 552 w 649"/>
                <a:gd name="T3" fmla="*/ 306 h 650"/>
                <a:gd name="T4" fmla="*/ 649 w 649"/>
                <a:gd name="T5" fmla="*/ 0 h 650"/>
                <a:gd name="T6" fmla="*/ 421 w 649"/>
                <a:gd name="T7" fmla="*/ 21 h 650"/>
                <a:gd name="T8" fmla="*/ 0 w 649"/>
                <a:gd name="T9" fmla="*/ 650 h 6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49"/>
                <a:gd name="T16" fmla="*/ 0 h 650"/>
                <a:gd name="T17" fmla="*/ 649 w 649"/>
                <a:gd name="T18" fmla="*/ 650 h 6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49" h="650">
                  <a:moveTo>
                    <a:pt x="0" y="650"/>
                  </a:moveTo>
                  <a:lnTo>
                    <a:pt x="552" y="306"/>
                  </a:lnTo>
                  <a:lnTo>
                    <a:pt x="649" y="0"/>
                  </a:lnTo>
                  <a:lnTo>
                    <a:pt x="421" y="21"/>
                  </a:lnTo>
                  <a:lnTo>
                    <a:pt x="0" y="650"/>
                  </a:lnTo>
                  <a:close/>
                </a:path>
              </a:pathLst>
            </a:custGeom>
            <a:solidFill>
              <a:srgbClr val="FF00FF"/>
            </a:solidFill>
            <a:ln w="9525">
              <a:solidFill>
                <a:srgbClr val="FF00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>
            <a:grpSpLocks noChangeAspect="1"/>
          </p:cNvGrpSpPr>
          <p:nvPr/>
        </p:nvGrpSpPr>
        <p:grpSpPr bwMode="auto">
          <a:xfrm>
            <a:off x="6603752" y="2005712"/>
            <a:ext cx="2195736" cy="1699571"/>
            <a:chOff x="3937" y="1963"/>
            <a:chExt cx="1602" cy="1240"/>
          </a:xfrm>
        </p:grpSpPr>
        <p:pic>
          <p:nvPicPr>
            <p:cNvPr id="4113" name="Picture 8" descr="书4-1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96" t="9210" r="17729" b="18826"/>
            <a:stretch>
              <a:fillRect/>
            </a:stretch>
          </p:blipFill>
          <p:spPr bwMode="auto">
            <a:xfrm>
              <a:off x="3937" y="1963"/>
              <a:ext cx="1602" cy="1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114" name="Group 9"/>
            <p:cNvGrpSpPr>
              <a:grpSpLocks/>
            </p:cNvGrpSpPr>
            <p:nvPr/>
          </p:nvGrpSpPr>
          <p:grpSpPr bwMode="auto">
            <a:xfrm>
              <a:off x="4167" y="2087"/>
              <a:ext cx="1008" cy="774"/>
              <a:chOff x="4164" y="2078"/>
              <a:chExt cx="1008" cy="774"/>
            </a:xfrm>
          </p:grpSpPr>
          <p:grpSp>
            <p:nvGrpSpPr>
              <p:cNvPr id="4115" name="Group 10"/>
              <p:cNvGrpSpPr>
                <a:grpSpLocks/>
              </p:cNvGrpSpPr>
              <p:nvPr/>
            </p:nvGrpSpPr>
            <p:grpSpPr bwMode="auto">
              <a:xfrm>
                <a:off x="4490" y="2078"/>
                <a:ext cx="682" cy="586"/>
                <a:chOff x="4490" y="2108"/>
                <a:chExt cx="682" cy="586"/>
              </a:xfrm>
            </p:grpSpPr>
            <p:sp>
              <p:nvSpPr>
                <p:cNvPr id="4127" name="Freeform 11"/>
                <p:cNvSpPr>
                  <a:spLocks/>
                </p:cNvSpPr>
                <p:nvPr/>
              </p:nvSpPr>
              <p:spPr bwMode="auto">
                <a:xfrm>
                  <a:off x="4490" y="2108"/>
                  <a:ext cx="682" cy="586"/>
                </a:xfrm>
                <a:custGeom>
                  <a:avLst/>
                  <a:gdLst>
                    <a:gd name="T0" fmla="*/ 1 w 6817"/>
                    <a:gd name="T1" fmla="*/ 1 h 5848"/>
                    <a:gd name="T2" fmla="*/ 1 w 6817"/>
                    <a:gd name="T3" fmla="*/ 1 h 5848"/>
                    <a:gd name="T4" fmla="*/ 1 w 6817"/>
                    <a:gd name="T5" fmla="*/ 1 h 5848"/>
                    <a:gd name="T6" fmla="*/ 1 w 6817"/>
                    <a:gd name="T7" fmla="*/ 1 h 5848"/>
                    <a:gd name="T8" fmla="*/ 1 w 6817"/>
                    <a:gd name="T9" fmla="*/ 0 h 5848"/>
                    <a:gd name="T10" fmla="*/ 1 w 6817"/>
                    <a:gd name="T11" fmla="*/ 0 h 5848"/>
                    <a:gd name="T12" fmla="*/ 1 w 6817"/>
                    <a:gd name="T13" fmla="*/ 0 h 5848"/>
                    <a:gd name="T14" fmla="*/ 1 w 6817"/>
                    <a:gd name="T15" fmla="*/ 0 h 5848"/>
                    <a:gd name="T16" fmla="*/ 1 w 6817"/>
                    <a:gd name="T17" fmla="*/ 0 h 5848"/>
                    <a:gd name="T18" fmla="*/ 1 w 6817"/>
                    <a:gd name="T19" fmla="*/ 0 h 5848"/>
                    <a:gd name="T20" fmla="*/ 1 w 6817"/>
                    <a:gd name="T21" fmla="*/ 0 h 5848"/>
                    <a:gd name="T22" fmla="*/ 1 w 6817"/>
                    <a:gd name="T23" fmla="*/ 0 h 5848"/>
                    <a:gd name="T24" fmla="*/ 1 w 6817"/>
                    <a:gd name="T25" fmla="*/ 0 h 5848"/>
                    <a:gd name="T26" fmla="*/ 1 w 6817"/>
                    <a:gd name="T27" fmla="*/ 0 h 5848"/>
                    <a:gd name="T28" fmla="*/ 1 w 6817"/>
                    <a:gd name="T29" fmla="*/ 0 h 5848"/>
                    <a:gd name="T30" fmla="*/ 1 w 6817"/>
                    <a:gd name="T31" fmla="*/ 0 h 5848"/>
                    <a:gd name="T32" fmla="*/ 1 w 6817"/>
                    <a:gd name="T33" fmla="*/ 0 h 5848"/>
                    <a:gd name="T34" fmla="*/ 1 w 6817"/>
                    <a:gd name="T35" fmla="*/ 0 h 5848"/>
                    <a:gd name="T36" fmla="*/ 1 w 6817"/>
                    <a:gd name="T37" fmla="*/ 0 h 5848"/>
                    <a:gd name="T38" fmla="*/ 1 w 6817"/>
                    <a:gd name="T39" fmla="*/ 0 h 5848"/>
                    <a:gd name="T40" fmla="*/ 1 w 6817"/>
                    <a:gd name="T41" fmla="*/ 0 h 5848"/>
                    <a:gd name="T42" fmla="*/ 1 w 6817"/>
                    <a:gd name="T43" fmla="*/ 0 h 5848"/>
                    <a:gd name="T44" fmla="*/ 1 w 6817"/>
                    <a:gd name="T45" fmla="*/ 0 h 5848"/>
                    <a:gd name="T46" fmla="*/ 0 w 6817"/>
                    <a:gd name="T47" fmla="*/ 0 h 5848"/>
                    <a:gd name="T48" fmla="*/ 0 w 6817"/>
                    <a:gd name="T49" fmla="*/ 0 h 5848"/>
                    <a:gd name="T50" fmla="*/ 0 w 6817"/>
                    <a:gd name="T51" fmla="*/ 0 h 5848"/>
                    <a:gd name="T52" fmla="*/ 0 w 6817"/>
                    <a:gd name="T53" fmla="*/ 0 h 5848"/>
                    <a:gd name="T54" fmla="*/ 0 w 6817"/>
                    <a:gd name="T55" fmla="*/ 0 h 5848"/>
                    <a:gd name="T56" fmla="*/ 0 w 6817"/>
                    <a:gd name="T57" fmla="*/ 0 h 5848"/>
                    <a:gd name="T58" fmla="*/ 0 w 6817"/>
                    <a:gd name="T59" fmla="*/ 0 h 5848"/>
                    <a:gd name="T60" fmla="*/ 0 w 6817"/>
                    <a:gd name="T61" fmla="*/ 0 h 5848"/>
                    <a:gd name="T62" fmla="*/ 0 w 6817"/>
                    <a:gd name="T63" fmla="*/ 0 h 5848"/>
                    <a:gd name="T64" fmla="*/ 0 w 6817"/>
                    <a:gd name="T65" fmla="*/ 0 h 5848"/>
                    <a:gd name="T66" fmla="*/ 0 w 6817"/>
                    <a:gd name="T67" fmla="*/ 0 h 5848"/>
                    <a:gd name="T68" fmla="*/ 0 w 6817"/>
                    <a:gd name="T69" fmla="*/ 0 h 5848"/>
                    <a:gd name="T70" fmla="*/ 0 w 6817"/>
                    <a:gd name="T71" fmla="*/ 0 h 5848"/>
                    <a:gd name="T72" fmla="*/ 0 w 6817"/>
                    <a:gd name="T73" fmla="*/ 0 h 5848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w 6817"/>
                    <a:gd name="T112" fmla="*/ 0 h 5848"/>
                    <a:gd name="T113" fmla="*/ 6817 w 6817"/>
                    <a:gd name="T114" fmla="*/ 5848 h 5848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T111" t="T112" r="T113" b="T114"/>
                  <a:pathLst>
                    <a:path w="6817" h="5848">
                      <a:moveTo>
                        <a:pt x="6358" y="5848"/>
                      </a:moveTo>
                      <a:lnTo>
                        <a:pt x="6422" y="5645"/>
                      </a:lnTo>
                      <a:lnTo>
                        <a:pt x="6481" y="5443"/>
                      </a:lnTo>
                      <a:lnTo>
                        <a:pt x="6536" y="5241"/>
                      </a:lnTo>
                      <a:lnTo>
                        <a:pt x="6586" y="5041"/>
                      </a:lnTo>
                      <a:lnTo>
                        <a:pt x="6632" y="4843"/>
                      </a:lnTo>
                      <a:lnTo>
                        <a:pt x="6672" y="4646"/>
                      </a:lnTo>
                      <a:lnTo>
                        <a:pt x="6708" y="4453"/>
                      </a:lnTo>
                      <a:lnTo>
                        <a:pt x="6738" y="4260"/>
                      </a:lnTo>
                      <a:lnTo>
                        <a:pt x="6764" y="4069"/>
                      </a:lnTo>
                      <a:lnTo>
                        <a:pt x="6784" y="3882"/>
                      </a:lnTo>
                      <a:lnTo>
                        <a:pt x="6800" y="3697"/>
                      </a:lnTo>
                      <a:lnTo>
                        <a:pt x="6810" y="3514"/>
                      </a:lnTo>
                      <a:lnTo>
                        <a:pt x="6816" y="3334"/>
                      </a:lnTo>
                      <a:lnTo>
                        <a:pt x="6817" y="3159"/>
                      </a:lnTo>
                      <a:lnTo>
                        <a:pt x="6812" y="2986"/>
                      </a:lnTo>
                      <a:lnTo>
                        <a:pt x="6802" y="2817"/>
                      </a:lnTo>
                      <a:lnTo>
                        <a:pt x="6788" y="2650"/>
                      </a:lnTo>
                      <a:lnTo>
                        <a:pt x="6768" y="2488"/>
                      </a:lnTo>
                      <a:lnTo>
                        <a:pt x="6744" y="2331"/>
                      </a:lnTo>
                      <a:lnTo>
                        <a:pt x="6714" y="2177"/>
                      </a:lnTo>
                      <a:lnTo>
                        <a:pt x="6680" y="2027"/>
                      </a:lnTo>
                      <a:lnTo>
                        <a:pt x="6640" y="1882"/>
                      </a:lnTo>
                      <a:lnTo>
                        <a:pt x="6597" y="1741"/>
                      </a:lnTo>
                      <a:lnTo>
                        <a:pt x="6547" y="1605"/>
                      </a:lnTo>
                      <a:lnTo>
                        <a:pt x="6493" y="1474"/>
                      </a:lnTo>
                      <a:lnTo>
                        <a:pt x="6435" y="1348"/>
                      </a:lnTo>
                      <a:lnTo>
                        <a:pt x="6371" y="1226"/>
                      </a:lnTo>
                      <a:lnTo>
                        <a:pt x="6303" y="1110"/>
                      </a:lnTo>
                      <a:lnTo>
                        <a:pt x="6231" y="1000"/>
                      </a:lnTo>
                      <a:lnTo>
                        <a:pt x="6154" y="894"/>
                      </a:lnTo>
                      <a:lnTo>
                        <a:pt x="6074" y="794"/>
                      </a:lnTo>
                      <a:lnTo>
                        <a:pt x="5988" y="700"/>
                      </a:lnTo>
                      <a:lnTo>
                        <a:pt x="5898" y="611"/>
                      </a:lnTo>
                      <a:lnTo>
                        <a:pt x="5804" y="527"/>
                      </a:lnTo>
                      <a:lnTo>
                        <a:pt x="5705" y="451"/>
                      </a:lnTo>
                      <a:lnTo>
                        <a:pt x="5603" y="379"/>
                      </a:lnTo>
                      <a:lnTo>
                        <a:pt x="5498" y="315"/>
                      </a:lnTo>
                      <a:lnTo>
                        <a:pt x="5387" y="255"/>
                      </a:lnTo>
                      <a:lnTo>
                        <a:pt x="5274" y="201"/>
                      </a:lnTo>
                      <a:lnTo>
                        <a:pt x="5158" y="155"/>
                      </a:lnTo>
                      <a:lnTo>
                        <a:pt x="5037" y="113"/>
                      </a:lnTo>
                      <a:lnTo>
                        <a:pt x="4913" y="79"/>
                      </a:lnTo>
                      <a:lnTo>
                        <a:pt x="4786" y="51"/>
                      </a:lnTo>
                      <a:lnTo>
                        <a:pt x="4657" y="29"/>
                      </a:lnTo>
                      <a:lnTo>
                        <a:pt x="4523" y="13"/>
                      </a:lnTo>
                      <a:lnTo>
                        <a:pt x="4387" y="3"/>
                      </a:lnTo>
                      <a:lnTo>
                        <a:pt x="4249" y="0"/>
                      </a:lnTo>
                      <a:lnTo>
                        <a:pt x="4107" y="3"/>
                      </a:lnTo>
                      <a:lnTo>
                        <a:pt x="3963" y="13"/>
                      </a:lnTo>
                      <a:lnTo>
                        <a:pt x="3818" y="28"/>
                      </a:lnTo>
                      <a:lnTo>
                        <a:pt x="3670" y="50"/>
                      </a:lnTo>
                      <a:lnTo>
                        <a:pt x="3520" y="79"/>
                      </a:lnTo>
                      <a:lnTo>
                        <a:pt x="3367" y="113"/>
                      </a:lnTo>
                      <a:lnTo>
                        <a:pt x="3214" y="154"/>
                      </a:lnTo>
                      <a:lnTo>
                        <a:pt x="3058" y="201"/>
                      </a:lnTo>
                      <a:lnTo>
                        <a:pt x="2901" y="254"/>
                      </a:lnTo>
                      <a:lnTo>
                        <a:pt x="2742" y="314"/>
                      </a:lnTo>
                      <a:lnTo>
                        <a:pt x="2584" y="378"/>
                      </a:lnTo>
                      <a:lnTo>
                        <a:pt x="2423" y="449"/>
                      </a:lnTo>
                      <a:lnTo>
                        <a:pt x="2262" y="526"/>
                      </a:lnTo>
                      <a:lnTo>
                        <a:pt x="2100" y="610"/>
                      </a:lnTo>
                      <a:lnTo>
                        <a:pt x="1937" y="698"/>
                      </a:lnTo>
                      <a:lnTo>
                        <a:pt x="1774" y="792"/>
                      </a:lnTo>
                      <a:lnTo>
                        <a:pt x="1611" y="893"/>
                      </a:lnTo>
                      <a:lnTo>
                        <a:pt x="1448" y="998"/>
                      </a:lnTo>
                      <a:lnTo>
                        <a:pt x="1284" y="1109"/>
                      </a:lnTo>
                      <a:lnTo>
                        <a:pt x="1121" y="1224"/>
                      </a:lnTo>
                      <a:lnTo>
                        <a:pt x="958" y="1346"/>
                      </a:lnTo>
                      <a:lnTo>
                        <a:pt x="796" y="1472"/>
                      </a:lnTo>
                      <a:lnTo>
                        <a:pt x="635" y="1603"/>
                      </a:lnTo>
                      <a:lnTo>
                        <a:pt x="474" y="1739"/>
                      </a:lnTo>
                      <a:lnTo>
                        <a:pt x="316" y="1880"/>
                      </a:lnTo>
                      <a:lnTo>
                        <a:pt x="157" y="2025"/>
                      </a:lnTo>
                      <a:lnTo>
                        <a:pt x="0" y="2174"/>
                      </a:lnTo>
                    </a:path>
                  </a:pathLst>
                </a:custGeom>
                <a:solidFill>
                  <a:srgbClr val="FF00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28" name="Line 12"/>
                <p:cNvSpPr>
                  <a:spLocks noChangeShapeType="1"/>
                </p:cNvSpPr>
                <p:nvPr/>
              </p:nvSpPr>
              <p:spPr bwMode="auto">
                <a:xfrm>
                  <a:off x="4490" y="2326"/>
                  <a:ext cx="636" cy="367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116" name="Group 13"/>
              <p:cNvGrpSpPr>
                <a:grpSpLocks/>
              </p:cNvGrpSpPr>
              <p:nvPr/>
            </p:nvGrpSpPr>
            <p:grpSpPr bwMode="auto">
              <a:xfrm>
                <a:off x="4164" y="2295"/>
                <a:ext cx="963" cy="557"/>
                <a:chOff x="4164" y="2295"/>
                <a:chExt cx="963" cy="557"/>
              </a:xfrm>
            </p:grpSpPr>
            <p:grpSp>
              <p:nvGrpSpPr>
                <p:cNvPr id="4117" name="Group 14"/>
                <p:cNvGrpSpPr>
                  <a:grpSpLocks/>
                </p:cNvGrpSpPr>
                <p:nvPr/>
              </p:nvGrpSpPr>
              <p:grpSpPr bwMode="auto">
                <a:xfrm>
                  <a:off x="4164" y="2296"/>
                  <a:ext cx="962" cy="556"/>
                  <a:chOff x="4164" y="2326"/>
                  <a:chExt cx="962" cy="556"/>
                </a:xfrm>
              </p:grpSpPr>
              <p:sp>
                <p:nvSpPr>
                  <p:cNvPr id="4119" name="Freeform 15"/>
                  <p:cNvSpPr>
                    <a:spLocks/>
                  </p:cNvSpPr>
                  <p:nvPr/>
                </p:nvSpPr>
                <p:spPr bwMode="auto">
                  <a:xfrm>
                    <a:off x="4164" y="2658"/>
                    <a:ext cx="389" cy="224"/>
                  </a:xfrm>
                  <a:custGeom>
                    <a:avLst/>
                    <a:gdLst>
                      <a:gd name="T0" fmla="*/ 0 w 3881"/>
                      <a:gd name="T1" fmla="*/ 0 h 2242"/>
                      <a:gd name="T2" fmla="*/ 0 w 3881"/>
                      <a:gd name="T3" fmla="*/ 0 h 2242"/>
                      <a:gd name="T4" fmla="*/ 0 w 3881"/>
                      <a:gd name="T5" fmla="*/ 0 h 2242"/>
                      <a:gd name="T6" fmla="*/ 0 w 3881"/>
                      <a:gd name="T7" fmla="*/ 0 h 2242"/>
                      <a:gd name="T8" fmla="*/ 0 w 3881"/>
                      <a:gd name="T9" fmla="*/ 0 h 2242"/>
                      <a:gd name="T10" fmla="*/ 0 w 3881"/>
                      <a:gd name="T11" fmla="*/ 0 h 2242"/>
                      <a:gd name="T12" fmla="*/ 0 w 3881"/>
                      <a:gd name="T13" fmla="*/ 0 h 2242"/>
                      <a:gd name="T14" fmla="*/ 0 w 3881"/>
                      <a:gd name="T15" fmla="*/ 0 h 2242"/>
                      <a:gd name="T16" fmla="*/ 0 w 3881"/>
                      <a:gd name="T17" fmla="*/ 0 h 2242"/>
                      <a:gd name="T18" fmla="*/ 0 w 3881"/>
                      <a:gd name="T19" fmla="*/ 0 h 2242"/>
                      <a:gd name="T20" fmla="*/ 0 w 3881"/>
                      <a:gd name="T21" fmla="*/ 0 h 2242"/>
                      <a:gd name="T22" fmla="*/ 0 w 3881"/>
                      <a:gd name="T23" fmla="*/ 0 h 2242"/>
                      <a:gd name="T24" fmla="*/ 0 w 3881"/>
                      <a:gd name="T25" fmla="*/ 0 h 2242"/>
                      <a:gd name="T26" fmla="*/ 0 w 3881"/>
                      <a:gd name="T27" fmla="*/ 0 h 2242"/>
                      <a:gd name="T28" fmla="*/ 0 w 3881"/>
                      <a:gd name="T29" fmla="*/ 0 h 2242"/>
                      <a:gd name="T30" fmla="*/ 0 w 3881"/>
                      <a:gd name="T31" fmla="*/ 0 h 2242"/>
                      <a:gd name="T32" fmla="*/ 0 w 3881"/>
                      <a:gd name="T33" fmla="*/ 0 h 2242"/>
                      <a:gd name="T34" fmla="*/ 0 w 3881"/>
                      <a:gd name="T35" fmla="*/ 0 h 2242"/>
                      <a:gd name="T36" fmla="*/ 0 w 3881"/>
                      <a:gd name="T37" fmla="*/ 0 h 2242"/>
                      <a:gd name="T38" fmla="*/ 0 w 3881"/>
                      <a:gd name="T39" fmla="*/ 0 h 2242"/>
                      <a:gd name="T40" fmla="*/ 0 w 3881"/>
                      <a:gd name="T41" fmla="*/ 0 h 2242"/>
                      <a:gd name="T42" fmla="*/ 0 w 3881"/>
                      <a:gd name="T43" fmla="*/ 0 h 2242"/>
                      <a:gd name="T44" fmla="*/ 0 w 3881"/>
                      <a:gd name="T45" fmla="*/ 0 h 2242"/>
                      <a:gd name="T46" fmla="*/ 0 w 3881"/>
                      <a:gd name="T47" fmla="*/ 0 h 2242"/>
                      <a:gd name="T48" fmla="*/ 0 w 3881"/>
                      <a:gd name="T49" fmla="*/ 0 h 2242"/>
                      <a:gd name="T50" fmla="*/ 0 w 3881"/>
                      <a:gd name="T51" fmla="*/ 0 h 2242"/>
                      <a:gd name="T52" fmla="*/ 0 w 3881"/>
                      <a:gd name="T53" fmla="*/ 0 h 2242"/>
                      <a:gd name="T54" fmla="*/ 0 w 3881"/>
                      <a:gd name="T55" fmla="*/ 0 h 2242"/>
                      <a:gd name="T56" fmla="*/ 0 w 3881"/>
                      <a:gd name="T57" fmla="*/ 0 h 2242"/>
                      <a:gd name="T58" fmla="*/ 0 w 3881"/>
                      <a:gd name="T59" fmla="*/ 0 h 2242"/>
                      <a:gd name="T60" fmla="*/ 0 w 3881"/>
                      <a:gd name="T61" fmla="*/ 0 h 2242"/>
                      <a:gd name="T62" fmla="*/ 0 w 3881"/>
                      <a:gd name="T63" fmla="*/ 0 h 2242"/>
                      <a:gd name="T64" fmla="*/ 0 w 3881"/>
                      <a:gd name="T65" fmla="*/ 0 h 2242"/>
                      <a:gd name="T66" fmla="*/ 0 w 3881"/>
                      <a:gd name="T67" fmla="*/ 0 h 2242"/>
                      <a:gd name="T68" fmla="*/ 0 w 3881"/>
                      <a:gd name="T69" fmla="*/ 0 h 2242"/>
                      <a:gd name="T70" fmla="*/ 0 w 3881"/>
                      <a:gd name="T71" fmla="*/ 0 h 2242"/>
                      <a:gd name="T72" fmla="*/ 0 w 3881"/>
                      <a:gd name="T73" fmla="*/ 0 h 2242"/>
                      <a:gd name="T74" fmla="*/ 0 w 3881"/>
                      <a:gd name="T75" fmla="*/ 0 h 2242"/>
                      <a:gd name="T76" fmla="*/ 0 w 3881"/>
                      <a:gd name="T77" fmla="*/ 0 h 2242"/>
                      <a:gd name="T78" fmla="*/ 0 w 3881"/>
                      <a:gd name="T79" fmla="*/ 0 h 2242"/>
                      <a:gd name="T80" fmla="*/ 0 w 3881"/>
                      <a:gd name="T81" fmla="*/ 0 h 2242"/>
                      <a:gd name="T82" fmla="*/ 0 w 3881"/>
                      <a:gd name="T83" fmla="*/ 0 h 2242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w 3881"/>
                      <a:gd name="T127" fmla="*/ 0 h 2242"/>
                      <a:gd name="T128" fmla="*/ 3881 w 3881"/>
                      <a:gd name="T129" fmla="*/ 2242 h 2242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T126" t="T127" r="T128" b="T129"/>
                    <a:pathLst>
                      <a:path w="3881" h="2242">
                        <a:moveTo>
                          <a:pt x="3881" y="2104"/>
                        </a:moveTo>
                        <a:lnTo>
                          <a:pt x="3770" y="2115"/>
                        </a:lnTo>
                        <a:lnTo>
                          <a:pt x="3663" y="2126"/>
                        </a:lnTo>
                        <a:lnTo>
                          <a:pt x="3559" y="2137"/>
                        </a:lnTo>
                        <a:lnTo>
                          <a:pt x="3459" y="2147"/>
                        </a:lnTo>
                        <a:lnTo>
                          <a:pt x="3360" y="2157"/>
                        </a:lnTo>
                        <a:lnTo>
                          <a:pt x="3265" y="2165"/>
                        </a:lnTo>
                        <a:lnTo>
                          <a:pt x="3172" y="2174"/>
                        </a:lnTo>
                        <a:lnTo>
                          <a:pt x="3082" y="2181"/>
                        </a:lnTo>
                        <a:lnTo>
                          <a:pt x="2994" y="2188"/>
                        </a:lnTo>
                        <a:lnTo>
                          <a:pt x="2909" y="2195"/>
                        </a:lnTo>
                        <a:lnTo>
                          <a:pt x="2826" y="2201"/>
                        </a:lnTo>
                        <a:lnTo>
                          <a:pt x="2745" y="2206"/>
                        </a:lnTo>
                        <a:lnTo>
                          <a:pt x="2667" y="2212"/>
                        </a:lnTo>
                        <a:lnTo>
                          <a:pt x="2590" y="2217"/>
                        </a:lnTo>
                        <a:lnTo>
                          <a:pt x="2516" y="2221"/>
                        </a:lnTo>
                        <a:lnTo>
                          <a:pt x="2443" y="2226"/>
                        </a:lnTo>
                        <a:lnTo>
                          <a:pt x="2372" y="2229"/>
                        </a:lnTo>
                        <a:lnTo>
                          <a:pt x="2303" y="2232"/>
                        </a:lnTo>
                        <a:lnTo>
                          <a:pt x="2237" y="2234"/>
                        </a:lnTo>
                        <a:lnTo>
                          <a:pt x="2171" y="2236"/>
                        </a:lnTo>
                        <a:lnTo>
                          <a:pt x="2045" y="2240"/>
                        </a:lnTo>
                        <a:lnTo>
                          <a:pt x="1924" y="2241"/>
                        </a:lnTo>
                        <a:lnTo>
                          <a:pt x="1810" y="2242"/>
                        </a:lnTo>
                        <a:lnTo>
                          <a:pt x="1701" y="2241"/>
                        </a:lnTo>
                        <a:lnTo>
                          <a:pt x="1598" y="2238"/>
                        </a:lnTo>
                        <a:lnTo>
                          <a:pt x="1499" y="2235"/>
                        </a:lnTo>
                        <a:lnTo>
                          <a:pt x="1404" y="2230"/>
                        </a:lnTo>
                        <a:lnTo>
                          <a:pt x="1314" y="2223"/>
                        </a:lnTo>
                        <a:lnTo>
                          <a:pt x="1229" y="2216"/>
                        </a:lnTo>
                        <a:lnTo>
                          <a:pt x="1147" y="2206"/>
                        </a:lnTo>
                        <a:lnTo>
                          <a:pt x="1070" y="2196"/>
                        </a:lnTo>
                        <a:lnTo>
                          <a:pt x="995" y="2184"/>
                        </a:lnTo>
                        <a:lnTo>
                          <a:pt x="924" y="2172"/>
                        </a:lnTo>
                        <a:lnTo>
                          <a:pt x="857" y="2158"/>
                        </a:lnTo>
                        <a:lnTo>
                          <a:pt x="792" y="2143"/>
                        </a:lnTo>
                        <a:lnTo>
                          <a:pt x="731" y="2126"/>
                        </a:lnTo>
                        <a:lnTo>
                          <a:pt x="673" y="2108"/>
                        </a:lnTo>
                        <a:lnTo>
                          <a:pt x="617" y="2089"/>
                        </a:lnTo>
                        <a:lnTo>
                          <a:pt x="564" y="2069"/>
                        </a:lnTo>
                        <a:lnTo>
                          <a:pt x="514" y="2047"/>
                        </a:lnTo>
                        <a:lnTo>
                          <a:pt x="466" y="2023"/>
                        </a:lnTo>
                        <a:lnTo>
                          <a:pt x="422" y="1999"/>
                        </a:lnTo>
                        <a:lnTo>
                          <a:pt x="379" y="1972"/>
                        </a:lnTo>
                        <a:lnTo>
                          <a:pt x="339" y="1945"/>
                        </a:lnTo>
                        <a:lnTo>
                          <a:pt x="301" y="1916"/>
                        </a:lnTo>
                        <a:lnTo>
                          <a:pt x="265" y="1886"/>
                        </a:lnTo>
                        <a:lnTo>
                          <a:pt x="232" y="1854"/>
                        </a:lnTo>
                        <a:lnTo>
                          <a:pt x="202" y="1820"/>
                        </a:lnTo>
                        <a:lnTo>
                          <a:pt x="173" y="1785"/>
                        </a:lnTo>
                        <a:lnTo>
                          <a:pt x="147" y="1748"/>
                        </a:lnTo>
                        <a:lnTo>
                          <a:pt x="122" y="1709"/>
                        </a:lnTo>
                        <a:lnTo>
                          <a:pt x="100" y="1668"/>
                        </a:lnTo>
                        <a:lnTo>
                          <a:pt x="80" y="1624"/>
                        </a:lnTo>
                        <a:lnTo>
                          <a:pt x="62" y="1580"/>
                        </a:lnTo>
                        <a:lnTo>
                          <a:pt x="47" y="1532"/>
                        </a:lnTo>
                        <a:lnTo>
                          <a:pt x="33" y="1483"/>
                        </a:lnTo>
                        <a:lnTo>
                          <a:pt x="22" y="1430"/>
                        </a:lnTo>
                        <a:lnTo>
                          <a:pt x="13" y="1376"/>
                        </a:lnTo>
                        <a:lnTo>
                          <a:pt x="7" y="1319"/>
                        </a:lnTo>
                        <a:lnTo>
                          <a:pt x="3" y="1260"/>
                        </a:lnTo>
                        <a:lnTo>
                          <a:pt x="0" y="1196"/>
                        </a:lnTo>
                        <a:lnTo>
                          <a:pt x="1" y="1131"/>
                        </a:lnTo>
                        <a:lnTo>
                          <a:pt x="5" y="1061"/>
                        </a:lnTo>
                        <a:lnTo>
                          <a:pt x="10" y="988"/>
                        </a:lnTo>
                        <a:lnTo>
                          <a:pt x="14" y="951"/>
                        </a:lnTo>
                        <a:lnTo>
                          <a:pt x="18" y="912"/>
                        </a:lnTo>
                        <a:lnTo>
                          <a:pt x="24" y="871"/>
                        </a:lnTo>
                        <a:lnTo>
                          <a:pt x="30" y="831"/>
                        </a:lnTo>
                        <a:lnTo>
                          <a:pt x="36" y="789"/>
                        </a:lnTo>
                        <a:lnTo>
                          <a:pt x="44" y="746"/>
                        </a:lnTo>
                        <a:lnTo>
                          <a:pt x="52" y="702"/>
                        </a:lnTo>
                        <a:lnTo>
                          <a:pt x="62" y="656"/>
                        </a:lnTo>
                        <a:lnTo>
                          <a:pt x="71" y="610"/>
                        </a:lnTo>
                        <a:lnTo>
                          <a:pt x="82" y="562"/>
                        </a:lnTo>
                        <a:lnTo>
                          <a:pt x="94" y="512"/>
                        </a:lnTo>
                        <a:lnTo>
                          <a:pt x="106" y="462"/>
                        </a:lnTo>
                        <a:lnTo>
                          <a:pt x="120" y="410"/>
                        </a:lnTo>
                        <a:lnTo>
                          <a:pt x="134" y="357"/>
                        </a:lnTo>
                        <a:lnTo>
                          <a:pt x="149" y="301"/>
                        </a:lnTo>
                        <a:lnTo>
                          <a:pt x="166" y="244"/>
                        </a:lnTo>
                        <a:lnTo>
                          <a:pt x="183" y="186"/>
                        </a:lnTo>
                        <a:lnTo>
                          <a:pt x="201" y="126"/>
                        </a:lnTo>
                        <a:lnTo>
                          <a:pt x="221" y="64"/>
                        </a:lnTo>
                        <a:lnTo>
                          <a:pt x="241" y="0"/>
                        </a:lnTo>
                      </a:path>
                    </a:pathLst>
                  </a:custGeom>
                  <a:solidFill>
                    <a:srgbClr val="3399F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0" name="Line 1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553" y="2682"/>
                    <a:ext cx="320" cy="186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1" name="Line 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188" y="2472"/>
                    <a:ext cx="321" cy="186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2" name="Line 1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373" y="2393"/>
                    <a:ext cx="136" cy="79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3" name="Line 1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373" y="2326"/>
                    <a:ext cx="117" cy="67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4" name="Line 20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490" y="2326"/>
                    <a:ext cx="636" cy="368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5" name="Line 21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873" y="2682"/>
                    <a:ext cx="137" cy="79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26" name="Line 2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010" y="2694"/>
                    <a:ext cx="116" cy="67"/>
                  </a:xfrm>
                  <a:prstGeom prst="line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91240B29-F687-4F45-9708-019B960494DF}">
                      <a14:hiddenLine xmlns:a14="http://schemas.microsoft.com/office/drawing/2010/main" w="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118" name="Freeform 23"/>
                <p:cNvSpPr>
                  <a:spLocks/>
                </p:cNvSpPr>
                <p:nvPr/>
              </p:nvSpPr>
              <p:spPr bwMode="auto">
                <a:xfrm>
                  <a:off x="4188" y="2295"/>
                  <a:ext cx="939" cy="546"/>
                </a:xfrm>
                <a:custGeom>
                  <a:avLst/>
                  <a:gdLst>
                    <a:gd name="T0" fmla="*/ 0 w 939"/>
                    <a:gd name="T1" fmla="*/ 333 h 546"/>
                    <a:gd name="T2" fmla="*/ 366 w 939"/>
                    <a:gd name="T3" fmla="*/ 546 h 546"/>
                    <a:gd name="T4" fmla="*/ 684 w 939"/>
                    <a:gd name="T5" fmla="*/ 357 h 546"/>
                    <a:gd name="T6" fmla="*/ 816 w 939"/>
                    <a:gd name="T7" fmla="*/ 438 h 546"/>
                    <a:gd name="T8" fmla="*/ 939 w 939"/>
                    <a:gd name="T9" fmla="*/ 369 h 546"/>
                    <a:gd name="T10" fmla="*/ 303 w 939"/>
                    <a:gd name="T11" fmla="*/ 0 h 546"/>
                    <a:gd name="T12" fmla="*/ 183 w 939"/>
                    <a:gd name="T13" fmla="*/ 69 h 546"/>
                    <a:gd name="T14" fmla="*/ 315 w 939"/>
                    <a:gd name="T15" fmla="*/ 147 h 546"/>
                    <a:gd name="T16" fmla="*/ 0 w 939"/>
                    <a:gd name="T17" fmla="*/ 333 h 5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939"/>
                    <a:gd name="T28" fmla="*/ 0 h 546"/>
                    <a:gd name="T29" fmla="*/ 939 w 939"/>
                    <a:gd name="T30" fmla="*/ 546 h 54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939" h="546">
                      <a:moveTo>
                        <a:pt x="0" y="333"/>
                      </a:moveTo>
                      <a:lnTo>
                        <a:pt x="366" y="546"/>
                      </a:lnTo>
                      <a:lnTo>
                        <a:pt x="684" y="357"/>
                      </a:lnTo>
                      <a:lnTo>
                        <a:pt x="816" y="438"/>
                      </a:lnTo>
                      <a:lnTo>
                        <a:pt x="939" y="369"/>
                      </a:lnTo>
                      <a:lnTo>
                        <a:pt x="303" y="0"/>
                      </a:lnTo>
                      <a:lnTo>
                        <a:pt x="183" y="69"/>
                      </a:lnTo>
                      <a:lnTo>
                        <a:pt x="315" y="147"/>
                      </a:lnTo>
                      <a:lnTo>
                        <a:pt x="0" y="333"/>
                      </a:lnTo>
                      <a:close/>
                    </a:path>
                  </a:pathLst>
                </a:custGeom>
                <a:solidFill>
                  <a:srgbClr val="3399FF"/>
                </a:solidFill>
                <a:ln w="6350">
                  <a:solidFill>
                    <a:srgbClr val="3399FF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8" name="Group 24"/>
          <p:cNvGrpSpPr>
            <a:grpSpLocks noChangeAspect="1"/>
          </p:cNvGrpSpPr>
          <p:nvPr/>
        </p:nvGrpSpPr>
        <p:grpSpPr bwMode="auto">
          <a:xfrm>
            <a:off x="2339631" y="1872768"/>
            <a:ext cx="2134146" cy="1965459"/>
            <a:chOff x="1579" y="1697"/>
            <a:chExt cx="1722" cy="1586"/>
          </a:xfrm>
        </p:grpSpPr>
        <p:pic>
          <p:nvPicPr>
            <p:cNvPr id="4111" name="Picture 25" descr="书4-3切八棱柱(1)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77" t="14719" r="29349" b="16119"/>
            <a:stretch>
              <a:fillRect/>
            </a:stretch>
          </p:blipFill>
          <p:spPr bwMode="auto">
            <a:xfrm>
              <a:off x="1579" y="1697"/>
              <a:ext cx="1722" cy="1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12" name="Freeform 26"/>
            <p:cNvSpPr>
              <a:spLocks/>
            </p:cNvSpPr>
            <p:nvPr/>
          </p:nvSpPr>
          <p:spPr bwMode="auto">
            <a:xfrm>
              <a:off x="1589" y="1984"/>
              <a:ext cx="1150" cy="1289"/>
            </a:xfrm>
            <a:custGeom>
              <a:avLst/>
              <a:gdLst>
                <a:gd name="T0" fmla="*/ 316 w 1150"/>
                <a:gd name="T1" fmla="*/ 333 h 1289"/>
                <a:gd name="T2" fmla="*/ 500 w 1150"/>
                <a:gd name="T3" fmla="*/ 441 h 1289"/>
                <a:gd name="T4" fmla="*/ 600 w 1150"/>
                <a:gd name="T5" fmla="*/ 0 h 1289"/>
                <a:gd name="T6" fmla="*/ 1150 w 1150"/>
                <a:gd name="T7" fmla="*/ 308 h 1289"/>
                <a:gd name="T8" fmla="*/ 821 w 1150"/>
                <a:gd name="T9" fmla="*/ 629 h 1289"/>
                <a:gd name="T10" fmla="*/ 999 w 1150"/>
                <a:gd name="T11" fmla="*/ 731 h 1289"/>
                <a:gd name="T12" fmla="*/ 681 w 1150"/>
                <a:gd name="T13" fmla="*/ 1289 h 1289"/>
                <a:gd name="T14" fmla="*/ 0 w 1150"/>
                <a:gd name="T15" fmla="*/ 897 h 1289"/>
                <a:gd name="T16" fmla="*/ 316 w 1150"/>
                <a:gd name="T17" fmla="*/ 333 h 12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50"/>
                <a:gd name="T28" fmla="*/ 0 h 1289"/>
                <a:gd name="T29" fmla="*/ 1150 w 1150"/>
                <a:gd name="T30" fmla="*/ 1289 h 128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50" h="1289">
                  <a:moveTo>
                    <a:pt x="316" y="333"/>
                  </a:moveTo>
                  <a:lnTo>
                    <a:pt x="500" y="441"/>
                  </a:lnTo>
                  <a:lnTo>
                    <a:pt x="600" y="0"/>
                  </a:lnTo>
                  <a:lnTo>
                    <a:pt x="1150" y="308"/>
                  </a:lnTo>
                  <a:lnTo>
                    <a:pt x="821" y="629"/>
                  </a:lnTo>
                  <a:lnTo>
                    <a:pt x="999" y="731"/>
                  </a:lnTo>
                  <a:lnTo>
                    <a:pt x="681" y="1289"/>
                  </a:lnTo>
                  <a:lnTo>
                    <a:pt x="0" y="897"/>
                  </a:lnTo>
                  <a:lnTo>
                    <a:pt x="316" y="333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" name="Group 27"/>
          <p:cNvGrpSpPr>
            <a:grpSpLocks noChangeAspect="1"/>
          </p:cNvGrpSpPr>
          <p:nvPr/>
        </p:nvGrpSpPr>
        <p:grpSpPr bwMode="auto">
          <a:xfrm>
            <a:off x="4841529" y="1808334"/>
            <a:ext cx="1394470" cy="2094326"/>
            <a:chOff x="3161" y="1103"/>
            <a:chExt cx="1064" cy="1598"/>
          </a:xfrm>
        </p:grpSpPr>
        <p:pic>
          <p:nvPicPr>
            <p:cNvPr id="4106" name="Picture 28" descr="书4-11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969" t="4613" r="6227" b="2635"/>
            <a:stretch>
              <a:fillRect/>
            </a:stretch>
          </p:blipFill>
          <p:spPr bwMode="auto">
            <a:xfrm>
              <a:off x="3161" y="1103"/>
              <a:ext cx="1064" cy="1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107" name="Group 29"/>
            <p:cNvGrpSpPr>
              <a:grpSpLocks/>
            </p:cNvGrpSpPr>
            <p:nvPr/>
          </p:nvGrpSpPr>
          <p:grpSpPr bwMode="auto">
            <a:xfrm>
              <a:off x="3188" y="1111"/>
              <a:ext cx="1022" cy="1190"/>
              <a:chOff x="768" y="1420"/>
              <a:chExt cx="1602" cy="1866"/>
            </a:xfrm>
          </p:grpSpPr>
          <p:sp>
            <p:nvSpPr>
              <p:cNvPr id="4108" name="Freeform 30"/>
              <p:cNvSpPr>
                <a:spLocks/>
              </p:cNvSpPr>
              <p:nvPr/>
            </p:nvSpPr>
            <p:spPr bwMode="auto">
              <a:xfrm>
                <a:off x="768" y="1872"/>
                <a:ext cx="1575" cy="1414"/>
              </a:xfrm>
              <a:custGeom>
                <a:avLst/>
                <a:gdLst>
                  <a:gd name="T0" fmla="*/ 3 w 9450"/>
                  <a:gd name="T1" fmla="*/ 0 h 8484"/>
                  <a:gd name="T2" fmla="*/ 3 w 9450"/>
                  <a:gd name="T3" fmla="*/ 0 h 8484"/>
                  <a:gd name="T4" fmla="*/ 2 w 9450"/>
                  <a:gd name="T5" fmla="*/ 0 h 8484"/>
                  <a:gd name="T6" fmla="*/ 2 w 9450"/>
                  <a:gd name="T7" fmla="*/ 1 h 8484"/>
                  <a:gd name="T8" fmla="*/ 2 w 9450"/>
                  <a:gd name="T9" fmla="*/ 1 h 8484"/>
                  <a:gd name="T10" fmla="*/ 2 w 9450"/>
                  <a:gd name="T11" fmla="*/ 1 h 8484"/>
                  <a:gd name="T12" fmla="*/ 1 w 9450"/>
                  <a:gd name="T13" fmla="*/ 1 h 8484"/>
                  <a:gd name="T14" fmla="*/ 1 w 9450"/>
                  <a:gd name="T15" fmla="*/ 1 h 8484"/>
                  <a:gd name="T16" fmla="*/ 1 w 9450"/>
                  <a:gd name="T17" fmla="*/ 2 h 8484"/>
                  <a:gd name="T18" fmla="*/ 1 w 9450"/>
                  <a:gd name="T19" fmla="*/ 2 h 8484"/>
                  <a:gd name="T20" fmla="*/ 1 w 9450"/>
                  <a:gd name="T21" fmla="*/ 2 h 8484"/>
                  <a:gd name="T22" fmla="*/ 1 w 9450"/>
                  <a:gd name="T23" fmla="*/ 2 h 8484"/>
                  <a:gd name="T24" fmla="*/ 0 w 9450"/>
                  <a:gd name="T25" fmla="*/ 3 h 8484"/>
                  <a:gd name="T26" fmla="*/ 0 w 9450"/>
                  <a:gd name="T27" fmla="*/ 3 h 8484"/>
                  <a:gd name="T28" fmla="*/ 0 w 9450"/>
                  <a:gd name="T29" fmla="*/ 3 h 8484"/>
                  <a:gd name="T30" fmla="*/ 0 w 9450"/>
                  <a:gd name="T31" fmla="*/ 3 h 8484"/>
                  <a:gd name="T32" fmla="*/ 0 w 9450"/>
                  <a:gd name="T33" fmla="*/ 4 h 8484"/>
                  <a:gd name="T34" fmla="*/ 0 w 9450"/>
                  <a:gd name="T35" fmla="*/ 4 h 8484"/>
                  <a:gd name="T36" fmla="*/ 0 w 9450"/>
                  <a:gd name="T37" fmla="*/ 4 h 8484"/>
                  <a:gd name="T38" fmla="*/ 0 w 9450"/>
                  <a:gd name="T39" fmla="*/ 4 h 8484"/>
                  <a:gd name="T40" fmla="*/ 0 w 9450"/>
                  <a:gd name="T41" fmla="*/ 5 h 8484"/>
                  <a:gd name="T42" fmla="*/ 0 w 9450"/>
                  <a:gd name="T43" fmla="*/ 5 h 8484"/>
                  <a:gd name="T44" fmla="*/ 0 w 9450"/>
                  <a:gd name="T45" fmla="*/ 5 h 8484"/>
                  <a:gd name="T46" fmla="*/ 0 w 9450"/>
                  <a:gd name="T47" fmla="*/ 5 h 8484"/>
                  <a:gd name="T48" fmla="*/ 0 w 9450"/>
                  <a:gd name="T49" fmla="*/ 6 h 8484"/>
                  <a:gd name="T50" fmla="*/ 1 w 9450"/>
                  <a:gd name="T51" fmla="*/ 6 h 8484"/>
                  <a:gd name="T52" fmla="*/ 1 w 9450"/>
                  <a:gd name="T53" fmla="*/ 6 h 8484"/>
                  <a:gd name="T54" fmla="*/ 1 w 9450"/>
                  <a:gd name="T55" fmla="*/ 6 h 8484"/>
                  <a:gd name="T56" fmla="*/ 1 w 9450"/>
                  <a:gd name="T57" fmla="*/ 6 h 8484"/>
                  <a:gd name="T58" fmla="*/ 1 w 9450"/>
                  <a:gd name="T59" fmla="*/ 6 h 8484"/>
                  <a:gd name="T60" fmla="*/ 1 w 9450"/>
                  <a:gd name="T61" fmla="*/ 6 h 8484"/>
                  <a:gd name="T62" fmla="*/ 2 w 9450"/>
                  <a:gd name="T63" fmla="*/ 6 h 8484"/>
                  <a:gd name="T64" fmla="*/ 2 w 9450"/>
                  <a:gd name="T65" fmla="*/ 7 h 8484"/>
                  <a:gd name="T66" fmla="*/ 2 w 9450"/>
                  <a:gd name="T67" fmla="*/ 7 h 8484"/>
                  <a:gd name="T68" fmla="*/ 2 w 9450"/>
                  <a:gd name="T69" fmla="*/ 7 h 8484"/>
                  <a:gd name="T70" fmla="*/ 3 w 9450"/>
                  <a:gd name="T71" fmla="*/ 7 h 8484"/>
                  <a:gd name="T72" fmla="*/ 3 w 9450"/>
                  <a:gd name="T73" fmla="*/ 7 h 8484"/>
                  <a:gd name="T74" fmla="*/ 3 w 9450"/>
                  <a:gd name="T75" fmla="*/ 7 h 8484"/>
                  <a:gd name="T76" fmla="*/ 3 w 9450"/>
                  <a:gd name="T77" fmla="*/ 7 h 8484"/>
                  <a:gd name="T78" fmla="*/ 4 w 9450"/>
                  <a:gd name="T79" fmla="*/ 6 h 8484"/>
                  <a:gd name="T80" fmla="*/ 4 w 9450"/>
                  <a:gd name="T81" fmla="*/ 6 h 8484"/>
                  <a:gd name="T82" fmla="*/ 4 w 9450"/>
                  <a:gd name="T83" fmla="*/ 6 h 8484"/>
                  <a:gd name="T84" fmla="*/ 4 w 9450"/>
                  <a:gd name="T85" fmla="*/ 6 h 8484"/>
                  <a:gd name="T86" fmla="*/ 5 w 9450"/>
                  <a:gd name="T87" fmla="*/ 6 h 8484"/>
                  <a:gd name="T88" fmla="*/ 5 w 9450"/>
                  <a:gd name="T89" fmla="*/ 6 h 8484"/>
                  <a:gd name="T90" fmla="*/ 5 w 9450"/>
                  <a:gd name="T91" fmla="*/ 6 h 8484"/>
                  <a:gd name="T92" fmla="*/ 5 w 9450"/>
                  <a:gd name="T93" fmla="*/ 6 h 8484"/>
                  <a:gd name="T94" fmla="*/ 6 w 9450"/>
                  <a:gd name="T95" fmla="*/ 5 h 8484"/>
                  <a:gd name="T96" fmla="*/ 6 w 9450"/>
                  <a:gd name="T97" fmla="*/ 5 h 8484"/>
                  <a:gd name="T98" fmla="*/ 6 w 9450"/>
                  <a:gd name="T99" fmla="*/ 5 h 8484"/>
                  <a:gd name="T100" fmla="*/ 6 w 9450"/>
                  <a:gd name="T101" fmla="*/ 5 h 8484"/>
                  <a:gd name="T102" fmla="*/ 6 w 9450"/>
                  <a:gd name="T103" fmla="*/ 5 h 8484"/>
                  <a:gd name="T104" fmla="*/ 7 w 9450"/>
                  <a:gd name="T105" fmla="*/ 4 h 8484"/>
                  <a:gd name="T106" fmla="*/ 7 w 9450"/>
                  <a:gd name="T107" fmla="*/ 4 h 8484"/>
                  <a:gd name="T108" fmla="*/ 7 w 9450"/>
                  <a:gd name="T109" fmla="*/ 4 h 8484"/>
                  <a:gd name="T110" fmla="*/ 7 w 9450"/>
                  <a:gd name="T111" fmla="*/ 4 h 8484"/>
                  <a:gd name="T112" fmla="*/ 7 w 9450"/>
                  <a:gd name="T113" fmla="*/ 3 h 8484"/>
                  <a:gd name="T114" fmla="*/ 7 w 9450"/>
                  <a:gd name="T115" fmla="*/ 3 h 8484"/>
                  <a:gd name="T116" fmla="*/ 7 w 9450"/>
                  <a:gd name="T117" fmla="*/ 3 h 8484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9450"/>
                  <a:gd name="T178" fmla="*/ 0 h 8484"/>
                  <a:gd name="T179" fmla="*/ 9450 w 9450"/>
                  <a:gd name="T180" fmla="*/ 8484 h 8484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9450" h="8484">
                    <a:moveTo>
                      <a:pt x="9450" y="3402"/>
                    </a:moveTo>
                    <a:lnTo>
                      <a:pt x="3563" y="0"/>
                    </a:lnTo>
                    <a:lnTo>
                      <a:pt x="3396" y="100"/>
                    </a:lnTo>
                    <a:lnTo>
                      <a:pt x="3231" y="204"/>
                    </a:lnTo>
                    <a:lnTo>
                      <a:pt x="3068" y="313"/>
                    </a:lnTo>
                    <a:lnTo>
                      <a:pt x="2908" y="426"/>
                    </a:lnTo>
                    <a:lnTo>
                      <a:pt x="2749" y="544"/>
                    </a:lnTo>
                    <a:lnTo>
                      <a:pt x="2594" y="666"/>
                    </a:lnTo>
                    <a:lnTo>
                      <a:pt x="2441" y="792"/>
                    </a:lnTo>
                    <a:lnTo>
                      <a:pt x="2292" y="923"/>
                    </a:lnTo>
                    <a:lnTo>
                      <a:pt x="2146" y="1056"/>
                    </a:lnTo>
                    <a:lnTo>
                      <a:pt x="2003" y="1194"/>
                    </a:lnTo>
                    <a:lnTo>
                      <a:pt x="1864" y="1335"/>
                    </a:lnTo>
                    <a:lnTo>
                      <a:pt x="1728" y="1479"/>
                    </a:lnTo>
                    <a:lnTo>
                      <a:pt x="1596" y="1627"/>
                    </a:lnTo>
                    <a:lnTo>
                      <a:pt x="1470" y="1777"/>
                    </a:lnTo>
                    <a:lnTo>
                      <a:pt x="1346" y="1930"/>
                    </a:lnTo>
                    <a:lnTo>
                      <a:pt x="1229" y="2085"/>
                    </a:lnTo>
                    <a:lnTo>
                      <a:pt x="1115" y="2242"/>
                    </a:lnTo>
                    <a:lnTo>
                      <a:pt x="1006" y="2403"/>
                    </a:lnTo>
                    <a:lnTo>
                      <a:pt x="902" y="2564"/>
                    </a:lnTo>
                    <a:lnTo>
                      <a:pt x="803" y="2727"/>
                    </a:lnTo>
                    <a:lnTo>
                      <a:pt x="711" y="2891"/>
                    </a:lnTo>
                    <a:lnTo>
                      <a:pt x="622" y="3057"/>
                    </a:lnTo>
                    <a:lnTo>
                      <a:pt x="539" y="3224"/>
                    </a:lnTo>
                    <a:lnTo>
                      <a:pt x="463" y="3391"/>
                    </a:lnTo>
                    <a:lnTo>
                      <a:pt x="391" y="3559"/>
                    </a:lnTo>
                    <a:lnTo>
                      <a:pt x="325" y="3728"/>
                    </a:lnTo>
                    <a:lnTo>
                      <a:pt x="265" y="3896"/>
                    </a:lnTo>
                    <a:lnTo>
                      <a:pt x="212" y="4065"/>
                    </a:lnTo>
                    <a:lnTo>
                      <a:pt x="164" y="4233"/>
                    </a:lnTo>
                    <a:lnTo>
                      <a:pt x="121" y="4400"/>
                    </a:lnTo>
                    <a:lnTo>
                      <a:pt x="85" y="4567"/>
                    </a:lnTo>
                    <a:lnTo>
                      <a:pt x="57" y="4732"/>
                    </a:lnTo>
                    <a:lnTo>
                      <a:pt x="33" y="4897"/>
                    </a:lnTo>
                    <a:lnTo>
                      <a:pt x="15" y="5061"/>
                    </a:lnTo>
                    <a:lnTo>
                      <a:pt x="4" y="5222"/>
                    </a:lnTo>
                    <a:lnTo>
                      <a:pt x="0" y="5381"/>
                    </a:lnTo>
                    <a:lnTo>
                      <a:pt x="1" y="5540"/>
                    </a:lnTo>
                    <a:lnTo>
                      <a:pt x="9" y="5695"/>
                    </a:lnTo>
                    <a:lnTo>
                      <a:pt x="24" y="5848"/>
                    </a:lnTo>
                    <a:lnTo>
                      <a:pt x="43" y="5999"/>
                    </a:lnTo>
                    <a:lnTo>
                      <a:pt x="70" y="6146"/>
                    </a:lnTo>
                    <a:lnTo>
                      <a:pt x="103" y="6291"/>
                    </a:lnTo>
                    <a:lnTo>
                      <a:pt x="142" y="6432"/>
                    </a:lnTo>
                    <a:lnTo>
                      <a:pt x="186" y="6569"/>
                    </a:lnTo>
                    <a:lnTo>
                      <a:pt x="238" y="6703"/>
                    </a:lnTo>
                    <a:lnTo>
                      <a:pt x="294" y="6834"/>
                    </a:lnTo>
                    <a:lnTo>
                      <a:pt x="357" y="6960"/>
                    </a:lnTo>
                    <a:lnTo>
                      <a:pt x="426" y="7083"/>
                    </a:lnTo>
                    <a:lnTo>
                      <a:pt x="500" y="7201"/>
                    </a:lnTo>
                    <a:lnTo>
                      <a:pt x="580" y="7315"/>
                    </a:lnTo>
                    <a:lnTo>
                      <a:pt x="665" y="7424"/>
                    </a:lnTo>
                    <a:lnTo>
                      <a:pt x="756" y="7529"/>
                    </a:lnTo>
                    <a:lnTo>
                      <a:pt x="853" y="7629"/>
                    </a:lnTo>
                    <a:lnTo>
                      <a:pt x="953" y="7724"/>
                    </a:lnTo>
                    <a:lnTo>
                      <a:pt x="1060" y="7813"/>
                    </a:lnTo>
                    <a:lnTo>
                      <a:pt x="1172" y="7897"/>
                    </a:lnTo>
                    <a:lnTo>
                      <a:pt x="1287" y="7977"/>
                    </a:lnTo>
                    <a:lnTo>
                      <a:pt x="1408" y="8051"/>
                    </a:lnTo>
                    <a:lnTo>
                      <a:pt x="1533" y="8118"/>
                    </a:lnTo>
                    <a:lnTo>
                      <a:pt x="1662" y="8181"/>
                    </a:lnTo>
                    <a:lnTo>
                      <a:pt x="1795" y="8238"/>
                    </a:lnTo>
                    <a:lnTo>
                      <a:pt x="1933" y="8289"/>
                    </a:lnTo>
                    <a:lnTo>
                      <a:pt x="2074" y="8334"/>
                    </a:lnTo>
                    <a:lnTo>
                      <a:pt x="2218" y="8374"/>
                    </a:lnTo>
                    <a:lnTo>
                      <a:pt x="2366" y="8406"/>
                    </a:lnTo>
                    <a:lnTo>
                      <a:pt x="2517" y="8434"/>
                    </a:lnTo>
                    <a:lnTo>
                      <a:pt x="2671" y="8456"/>
                    </a:lnTo>
                    <a:lnTo>
                      <a:pt x="2828" y="8471"/>
                    </a:lnTo>
                    <a:lnTo>
                      <a:pt x="2987" y="8481"/>
                    </a:lnTo>
                    <a:lnTo>
                      <a:pt x="3149" y="8484"/>
                    </a:lnTo>
                    <a:lnTo>
                      <a:pt x="3313" y="8481"/>
                    </a:lnTo>
                    <a:lnTo>
                      <a:pt x="3480" y="8472"/>
                    </a:lnTo>
                    <a:lnTo>
                      <a:pt x="3647" y="8457"/>
                    </a:lnTo>
                    <a:lnTo>
                      <a:pt x="3816" y="8436"/>
                    </a:lnTo>
                    <a:lnTo>
                      <a:pt x="3987" y="8409"/>
                    </a:lnTo>
                    <a:lnTo>
                      <a:pt x="4158" y="8376"/>
                    </a:lnTo>
                    <a:lnTo>
                      <a:pt x="4330" y="8337"/>
                    </a:lnTo>
                    <a:lnTo>
                      <a:pt x="4503" y="8292"/>
                    </a:lnTo>
                    <a:lnTo>
                      <a:pt x="4677" y="8241"/>
                    </a:lnTo>
                    <a:lnTo>
                      <a:pt x="4851" y="8184"/>
                    </a:lnTo>
                    <a:lnTo>
                      <a:pt x="5024" y="8123"/>
                    </a:lnTo>
                    <a:lnTo>
                      <a:pt x="5197" y="8055"/>
                    </a:lnTo>
                    <a:lnTo>
                      <a:pt x="5370" y="7982"/>
                    </a:lnTo>
                    <a:lnTo>
                      <a:pt x="5542" y="7902"/>
                    </a:lnTo>
                    <a:lnTo>
                      <a:pt x="5713" y="7819"/>
                    </a:lnTo>
                    <a:lnTo>
                      <a:pt x="5882" y="7730"/>
                    </a:lnTo>
                    <a:lnTo>
                      <a:pt x="6051" y="7635"/>
                    </a:lnTo>
                    <a:lnTo>
                      <a:pt x="6218" y="7535"/>
                    </a:lnTo>
                    <a:lnTo>
                      <a:pt x="6383" y="7431"/>
                    </a:lnTo>
                    <a:lnTo>
                      <a:pt x="6546" y="7322"/>
                    </a:lnTo>
                    <a:lnTo>
                      <a:pt x="6706" y="7209"/>
                    </a:lnTo>
                    <a:lnTo>
                      <a:pt x="6865" y="7091"/>
                    </a:lnTo>
                    <a:lnTo>
                      <a:pt x="7020" y="6969"/>
                    </a:lnTo>
                    <a:lnTo>
                      <a:pt x="7173" y="6843"/>
                    </a:lnTo>
                    <a:lnTo>
                      <a:pt x="7322" y="6712"/>
                    </a:lnTo>
                    <a:lnTo>
                      <a:pt x="7468" y="6579"/>
                    </a:lnTo>
                    <a:lnTo>
                      <a:pt x="7611" y="6441"/>
                    </a:lnTo>
                    <a:lnTo>
                      <a:pt x="7750" y="6300"/>
                    </a:lnTo>
                    <a:lnTo>
                      <a:pt x="7886" y="6155"/>
                    </a:lnTo>
                    <a:lnTo>
                      <a:pt x="8018" y="6008"/>
                    </a:lnTo>
                    <a:lnTo>
                      <a:pt x="8144" y="5858"/>
                    </a:lnTo>
                    <a:lnTo>
                      <a:pt x="8268" y="5705"/>
                    </a:lnTo>
                    <a:lnTo>
                      <a:pt x="8385" y="5550"/>
                    </a:lnTo>
                    <a:lnTo>
                      <a:pt x="8499" y="5393"/>
                    </a:lnTo>
                    <a:lnTo>
                      <a:pt x="8608" y="5232"/>
                    </a:lnTo>
                    <a:lnTo>
                      <a:pt x="8712" y="5071"/>
                    </a:lnTo>
                    <a:lnTo>
                      <a:pt x="8811" y="4908"/>
                    </a:lnTo>
                    <a:lnTo>
                      <a:pt x="8903" y="4744"/>
                    </a:lnTo>
                    <a:lnTo>
                      <a:pt x="8992" y="4578"/>
                    </a:lnTo>
                    <a:lnTo>
                      <a:pt x="9075" y="4412"/>
                    </a:lnTo>
                    <a:lnTo>
                      <a:pt x="9151" y="4244"/>
                    </a:lnTo>
                    <a:lnTo>
                      <a:pt x="9223" y="4076"/>
                    </a:lnTo>
                    <a:lnTo>
                      <a:pt x="9289" y="3908"/>
                    </a:lnTo>
                    <a:lnTo>
                      <a:pt x="9349" y="3739"/>
                    </a:lnTo>
                    <a:lnTo>
                      <a:pt x="9402" y="3570"/>
                    </a:lnTo>
                    <a:lnTo>
                      <a:pt x="9450" y="3402"/>
                    </a:lnTo>
                  </a:path>
                </a:pathLst>
              </a:custGeom>
              <a:solidFill>
                <a:srgbClr val="FF00FF"/>
              </a:solidFill>
              <a:ln w="0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9" name="Freeform 31"/>
              <p:cNvSpPr>
                <a:spLocks/>
              </p:cNvSpPr>
              <p:nvPr/>
            </p:nvSpPr>
            <p:spPr bwMode="auto">
              <a:xfrm>
                <a:off x="1362" y="1435"/>
                <a:ext cx="981" cy="1004"/>
              </a:xfrm>
              <a:custGeom>
                <a:avLst/>
                <a:gdLst>
                  <a:gd name="T0" fmla="*/ 4 w 5887"/>
                  <a:gd name="T1" fmla="*/ 5 h 6021"/>
                  <a:gd name="T2" fmla="*/ 4 w 5887"/>
                  <a:gd name="T3" fmla="*/ 3 h 6021"/>
                  <a:gd name="T4" fmla="*/ 0 w 5887"/>
                  <a:gd name="T5" fmla="*/ 0 h 6021"/>
                  <a:gd name="T6" fmla="*/ 0 w 5887"/>
                  <a:gd name="T7" fmla="*/ 2 h 60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87"/>
                  <a:gd name="T13" fmla="*/ 0 h 6021"/>
                  <a:gd name="T14" fmla="*/ 5887 w 5887"/>
                  <a:gd name="T15" fmla="*/ 6021 h 60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87" h="6021">
                    <a:moveTo>
                      <a:pt x="5887" y="6021"/>
                    </a:moveTo>
                    <a:lnTo>
                      <a:pt x="5887" y="3403"/>
                    </a:lnTo>
                    <a:lnTo>
                      <a:pt x="0" y="0"/>
                    </a:lnTo>
                    <a:lnTo>
                      <a:pt x="0" y="2619"/>
                    </a:lnTo>
                  </a:path>
                </a:pathLst>
              </a:custGeom>
              <a:solidFill>
                <a:srgbClr val="FFFF00"/>
              </a:solidFill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10" name="Freeform 32"/>
              <p:cNvSpPr>
                <a:spLocks/>
              </p:cNvSpPr>
              <p:nvPr/>
            </p:nvSpPr>
            <p:spPr bwMode="auto">
              <a:xfrm>
                <a:off x="1362" y="1420"/>
                <a:ext cx="1008" cy="582"/>
              </a:xfrm>
              <a:custGeom>
                <a:avLst/>
                <a:gdLst>
                  <a:gd name="T0" fmla="*/ 0 w 6051"/>
                  <a:gd name="T1" fmla="*/ 0 h 3497"/>
                  <a:gd name="T2" fmla="*/ 0 w 6051"/>
                  <a:gd name="T3" fmla="*/ 0 h 3497"/>
                  <a:gd name="T4" fmla="*/ 1 w 6051"/>
                  <a:gd name="T5" fmla="*/ 0 h 3497"/>
                  <a:gd name="T6" fmla="*/ 1 w 6051"/>
                  <a:gd name="T7" fmla="*/ 0 h 3497"/>
                  <a:gd name="T8" fmla="*/ 1 w 6051"/>
                  <a:gd name="T9" fmla="*/ 0 h 3497"/>
                  <a:gd name="T10" fmla="*/ 1 w 6051"/>
                  <a:gd name="T11" fmla="*/ 0 h 3497"/>
                  <a:gd name="T12" fmla="*/ 1 w 6051"/>
                  <a:gd name="T13" fmla="*/ 0 h 3497"/>
                  <a:gd name="T14" fmla="*/ 2 w 6051"/>
                  <a:gd name="T15" fmla="*/ 0 h 3497"/>
                  <a:gd name="T16" fmla="*/ 2 w 6051"/>
                  <a:gd name="T17" fmla="*/ 0 h 3497"/>
                  <a:gd name="T18" fmla="*/ 2 w 6051"/>
                  <a:gd name="T19" fmla="*/ 0 h 3497"/>
                  <a:gd name="T20" fmla="*/ 2 w 6051"/>
                  <a:gd name="T21" fmla="*/ 0 h 3497"/>
                  <a:gd name="T22" fmla="*/ 3 w 6051"/>
                  <a:gd name="T23" fmla="*/ 0 h 3497"/>
                  <a:gd name="T24" fmla="*/ 3 w 6051"/>
                  <a:gd name="T25" fmla="*/ 0 h 3497"/>
                  <a:gd name="T26" fmla="*/ 3 w 6051"/>
                  <a:gd name="T27" fmla="*/ 0 h 3497"/>
                  <a:gd name="T28" fmla="*/ 3 w 6051"/>
                  <a:gd name="T29" fmla="*/ 0 h 3497"/>
                  <a:gd name="T30" fmla="*/ 3 w 6051"/>
                  <a:gd name="T31" fmla="*/ 1 h 3497"/>
                  <a:gd name="T32" fmla="*/ 4 w 6051"/>
                  <a:gd name="T33" fmla="*/ 1 h 3497"/>
                  <a:gd name="T34" fmla="*/ 4 w 6051"/>
                  <a:gd name="T35" fmla="*/ 1 h 3497"/>
                  <a:gd name="T36" fmla="*/ 4 w 6051"/>
                  <a:gd name="T37" fmla="*/ 1 h 3497"/>
                  <a:gd name="T38" fmla="*/ 4 w 6051"/>
                  <a:gd name="T39" fmla="*/ 1 h 3497"/>
                  <a:gd name="T40" fmla="*/ 4 w 6051"/>
                  <a:gd name="T41" fmla="*/ 1 h 3497"/>
                  <a:gd name="T42" fmla="*/ 4 w 6051"/>
                  <a:gd name="T43" fmla="*/ 1 h 3497"/>
                  <a:gd name="T44" fmla="*/ 4 w 6051"/>
                  <a:gd name="T45" fmla="*/ 1 h 3497"/>
                  <a:gd name="T46" fmla="*/ 4 w 6051"/>
                  <a:gd name="T47" fmla="*/ 1 h 3497"/>
                  <a:gd name="T48" fmla="*/ 4 w 6051"/>
                  <a:gd name="T49" fmla="*/ 2 h 3497"/>
                  <a:gd name="T50" fmla="*/ 5 w 6051"/>
                  <a:gd name="T51" fmla="*/ 2 h 3497"/>
                  <a:gd name="T52" fmla="*/ 5 w 6051"/>
                  <a:gd name="T53" fmla="*/ 2 h 3497"/>
                  <a:gd name="T54" fmla="*/ 5 w 6051"/>
                  <a:gd name="T55" fmla="*/ 2 h 3497"/>
                  <a:gd name="T56" fmla="*/ 5 w 6051"/>
                  <a:gd name="T57" fmla="*/ 2 h 3497"/>
                  <a:gd name="T58" fmla="*/ 5 w 6051"/>
                  <a:gd name="T59" fmla="*/ 2 h 3497"/>
                  <a:gd name="T60" fmla="*/ 4 w 6051"/>
                  <a:gd name="T61" fmla="*/ 2 h 3497"/>
                  <a:gd name="T62" fmla="*/ 4 w 6051"/>
                  <a:gd name="T63" fmla="*/ 3 h 3497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6051"/>
                  <a:gd name="T97" fmla="*/ 0 h 3497"/>
                  <a:gd name="T98" fmla="*/ 6051 w 6051"/>
                  <a:gd name="T99" fmla="*/ 3497 h 3497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6051" h="3497">
                    <a:moveTo>
                      <a:pt x="0" y="94"/>
                    </a:moveTo>
                    <a:lnTo>
                      <a:pt x="155" y="72"/>
                    </a:lnTo>
                    <a:lnTo>
                      <a:pt x="311" y="52"/>
                    </a:lnTo>
                    <a:lnTo>
                      <a:pt x="468" y="36"/>
                    </a:lnTo>
                    <a:lnTo>
                      <a:pt x="626" y="22"/>
                    </a:lnTo>
                    <a:lnTo>
                      <a:pt x="785" y="12"/>
                    </a:lnTo>
                    <a:lnTo>
                      <a:pt x="944" y="5"/>
                    </a:lnTo>
                    <a:lnTo>
                      <a:pt x="1105" y="1"/>
                    </a:lnTo>
                    <a:lnTo>
                      <a:pt x="1264" y="0"/>
                    </a:lnTo>
                    <a:lnTo>
                      <a:pt x="1423" y="2"/>
                    </a:lnTo>
                    <a:lnTo>
                      <a:pt x="1583" y="6"/>
                    </a:lnTo>
                    <a:lnTo>
                      <a:pt x="1742" y="14"/>
                    </a:lnTo>
                    <a:lnTo>
                      <a:pt x="1901" y="25"/>
                    </a:lnTo>
                    <a:lnTo>
                      <a:pt x="2059" y="40"/>
                    </a:lnTo>
                    <a:lnTo>
                      <a:pt x="2217" y="56"/>
                    </a:lnTo>
                    <a:lnTo>
                      <a:pt x="2372" y="77"/>
                    </a:lnTo>
                    <a:lnTo>
                      <a:pt x="2527" y="100"/>
                    </a:lnTo>
                    <a:lnTo>
                      <a:pt x="2680" y="126"/>
                    </a:lnTo>
                    <a:lnTo>
                      <a:pt x="2832" y="155"/>
                    </a:lnTo>
                    <a:lnTo>
                      <a:pt x="2982" y="187"/>
                    </a:lnTo>
                    <a:lnTo>
                      <a:pt x="3130" y="222"/>
                    </a:lnTo>
                    <a:lnTo>
                      <a:pt x="3276" y="260"/>
                    </a:lnTo>
                    <a:lnTo>
                      <a:pt x="3419" y="300"/>
                    </a:lnTo>
                    <a:lnTo>
                      <a:pt x="3561" y="343"/>
                    </a:lnTo>
                    <a:lnTo>
                      <a:pt x="3700" y="388"/>
                    </a:lnTo>
                    <a:lnTo>
                      <a:pt x="3835" y="438"/>
                    </a:lnTo>
                    <a:lnTo>
                      <a:pt x="3968" y="488"/>
                    </a:lnTo>
                    <a:lnTo>
                      <a:pt x="4099" y="542"/>
                    </a:lnTo>
                    <a:lnTo>
                      <a:pt x="4225" y="598"/>
                    </a:lnTo>
                    <a:lnTo>
                      <a:pt x="4350" y="657"/>
                    </a:lnTo>
                    <a:lnTo>
                      <a:pt x="4470" y="718"/>
                    </a:lnTo>
                    <a:lnTo>
                      <a:pt x="4586" y="780"/>
                    </a:lnTo>
                    <a:lnTo>
                      <a:pt x="4699" y="846"/>
                    </a:lnTo>
                    <a:lnTo>
                      <a:pt x="4809" y="913"/>
                    </a:lnTo>
                    <a:lnTo>
                      <a:pt x="4913" y="983"/>
                    </a:lnTo>
                    <a:lnTo>
                      <a:pt x="5015" y="1054"/>
                    </a:lnTo>
                    <a:lnTo>
                      <a:pt x="5112" y="1128"/>
                    </a:lnTo>
                    <a:lnTo>
                      <a:pt x="5205" y="1203"/>
                    </a:lnTo>
                    <a:lnTo>
                      <a:pt x="5293" y="1280"/>
                    </a:lnTo>
                    <a:lnTo>
                      <a:pt x="5377" y="1358"/>
                    </a:lnTo>
                    <a:lnTo>
                      <a:pt x="5457" y="1439"/>
                    </a:lnTo>
                    <a:lnTo>
                      <a:pt x="5531" y="1520"/>
                    </a:lnTo>
                    <a:lnTo>
                      <a:pt x="5601" y="1603"/>
                    </a:lnTo>
                    <a:lnTo>
                      <a:pt x="5666" y="1687"/>
                    </a:lnTo>
                    <a:lnTo>
                      <a:pt x="5726" y="1773"/>
                    </a:lnTo>
                    <a:lnTo>
                      <a:pt x="5782" y="1859"/>
                    </a:lnTo>
                    <a:lnTo>
                      <a:pt x="5832" y="1948"/>
                    </a:lnTo>
                    <a:lnTo>
                      <a:pt x="5877" y="2036"/>
                    </a:lnTo>
                    <a:lnTo>
                      <a:pt x="5917" y="2126"/>
                    </a:lnTo>
                    <a:lnTo>
                      <a:pt x="5952" y="2215"/>
                    </a:lnTo>
                    <a:lnTo>
                      <a:pt x="5982" y="2307"/>
                    </a:lnTo>
                    <a:lnTo>
                      <a:pt x="6006" y="2397"/>
                    </a:lnTo>
                    <a:lnTo>
                      <a:pt x="6025" y="2489"/>
                    </a:lnTo>
                    <a:lnTo>
                      <a:pt x="6040" y="2581"/>
                    </a:lnTo>
                    <a:lnTo>
                      <a:pt x="6048" y="2673"/>
                    </a:lnTo>
                    <a:lnTo>
                      <a:pt x="6051" y="2765"/>
                    </a:lnTo>
                    <a:lnTo>
                      <a:pt x="6049" y="2858"/>
                    </a:lnTo>
                    <a:lnTo>
                      <a:pt x="6042" y="2951"/>
                    </a:lnTo>
                    <a:lnTo>
                      <a:pt x="6029" y="3042"/>
                    </a:lnTo>
                    <a:lnTo>
                      <a:pt x="6012" y="3134"/>
                    </a:lnTo>
                    <a:lnTo>
                      <a:pt x="5988" y="3225"/>
                    </a:lnTo>
                    <a:lnTo>
                      <a:pt x="5959" y="3317"/>
                    </a:lnTo>
                    <a:lnTo>
                      <a:pt x="5927" y="3406"/>
                    </a:lnTo>
                    <a:lnTo>
                      <a:pt x="5887" y="3497"/>
                    </a:lnTo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44417" name="Text Box 33"/>
          <p:cNvSpPr txBox="1">
            <a:spLocks noChangeArrowheads="1"/>
          </p:cNvSpPr>
          <p:nvPr/>
        </p:nvSpPr>
        <p:spPr bwMode="auto">
          <a:xfrm>
            <a:off x="2091193" y="4001502"/>
            <a:ext cx="4961615" cy="1556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marL="342900" indent="-342900"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lvl="1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2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截平面</a:t>
            </a:r>
            <a:r>
              <a:rPr lang="zh-CN" altLang="en-US" sz="2200" b="1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：用来截切立体的平面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2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截断面</a:t>
            </a:r>
            <a:r>
              <a:rPr lang="zh-CN" altLang="en-US" sz="2200" b="1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：立体被截平面切得的平面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2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截交线 </a:t>
            </a:r>
            <a:r>
              <a:rPr lang="zh-CN" altLang="en-US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：截平面与立体表面的交线</a:t>
            </a:r>
          </a:p>
        </p:txBody>
      </p:sp>
      <p:sp>
        <p:nvSpPr>
          <p:cNvPr id="4" name="Text Box 18">
            <a:extLst>
              <a:ext uri="{FF2B5EF4-FFF2-40B4-BE49-F238E27FC236}">
                <a16:creationId xmlns:a16="http://schemas.microsoft.com/office/drawing/2014/main" id="{BF24E94D-3964-209B-C181-3824EA61D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375936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截切的基本概念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222AB2D-83D4-7918-5F70-EB6308E09164}"/>
              </a:ext>
            </a:extLst>
          </p:cNvPr>
          <p:cNvGrpSpPr/>
          <p:nvPr/>
        </p:nvGrpSpPr>
        <p:grpSpPr>
          <a:xfrm>
            <a:off x="517079" y="5757509"/>
            <a:ext cx="8404443" cy="461665"/>
            <a:chOff x="517079" y="5757509"/>
            <a:chExt cx="8404443" cy="461665"/>
          </a:xfrm>
        </p:grpSpPr>
        <p:sp>
          <p:nvSpPr>
            <p:cNvPr id="31" name="Text Box 3">
              <a:extLst>
                <a:ext uri="{FF2B5EF4-FFF2-40B4-BE49-F238E27FC236}">
                  <a16:creationId xmlns:a16="http://schemas.microsoft.com/office/drawing/2014/main" id="{238A977D-E6C7-557E-0230-002FEA6914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079" y="5757509"/>
              <a:ext cx="357020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立体被截切后如何表达？</a:t>
              </a:r>
              <a:endParaRPr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 Box 3">
              <a:extLst>
                <a:ext uri="{FF2B5EF4-FFF2-40B4-BE49-F238E27FC236}">
                  <a16:creationId xmlns:a16="http://schemas.microsoft.com/office/drawing/2014/main" id="{5B6F546F-C23E-311A-E15A-89C3C0A32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984" y="5757509"/>
              <a:ext cx="449353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 i="0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切入点</a:t>
              </a:r>
              <a:r>
                <a:rPr lang="zh-CN" altLang="en-US" sz="2400" i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：截交线的分析和作图！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189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4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4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E8EAD-E145-1EA5-90A1-5C0B288DD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23854C68-E0C2-884E-D692-032522100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6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52C037F2-F4BD-9B62-DDCE-845F1E312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平面与平面体相交</a:t>
            </a:r>
          </a:p>
        </p:txBody>
      </p:sp>
      <p:grpSp>
        <p:nvGrpSpPr>
          <p:cNvPr id="5123" name="Group 197"/>
          <p:cNvGrpSpPr>
            <a:grpSpLocks/>
          </p:cNvGrpSpPr>
          <p:nvPr/>
        </p:nvGrpSpPr>
        <p:grpSpPr bwMode="auto">
          <a:xfrm>
            <a:off x="6883970" y="3501008"/>
            <a:ext cx="1689100" cy="2536825"/>
            <a:chOff x="3161" y="1103"/>
            <a:chExt cx="1064" cy="1598"/>
          </a:xfrm>
        </p:grpSpPr>
        <p:pic>
          <p:nvPicPr>
            <p:cNvPr id="5136" name="Picture 198" descr="书4-11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969" t="4613" r="6227" b="2635"/>
            <a:stretch>
              <a:fillRect/>
            </a:stretch>
          </p:blipFill>
          <p:spPr bwMode="auto">
            <a:xfrm>
              <a:off x="3161" y="1103"/>
              <a:ext cx="1064" cy="1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137" name="Group 199"/>
            <p:cNvGrpSpPr>
              <a:grpSpLocks/>
            </p:cNvGrpSpPr>
            <p:nvPr/>
          </p:nvGrpSpPr>
          <p:grpSpPr bwMode="auto">
            <a:xfrm>
              <a:off x="3188" y="1111"/>
              <a:ext cx="1022" cy="1190"/>
              <a:chOff x="768" y="1420"/>
              <a:chExt cx="1602" cy="1866"/>
            </a:xfrm>
          </p:grpSpPr>
          <p:sp>
            <p:nvSpPr>
              <p:cNvPr id="5138" name="Freeform 200"/>
              <p:cNvSpPr>
                <a:spLocks/>
              </p:cNvSpPr>
              <p:nvPr/>
            </p:nvSpPr>
            <p:spPr bwMode="auto">
              <a:xfrm>
                <a:off x="768" y="1872"/>
                <a:ext cx="1575" cy="1414"/>
              </a:xfrm>
              <a:custGeom>
                <a:avLst/>
                <a:gdLst>
                  <a:gd name="T0" fmla="*/ 3 w 9450"/>
                  <a:gd name="T1" fmla="*/ 0 h 8484"/>
                  <a:gd name="T2" fmla="*/ 3 w 9450"/>
                  <a:gd name="T3" fmla="*/ 0 h 8484"/>
                  <a:gd name="T4" fmla="*/ 2 w 9450"/>
                  <a:gd name="T5" fmla="*/ 0 h 8484"/>
                  <a:gd name="T6" fmla="*/ 2 w 9450"/>
                  <a:gd name="T7" fmla="*/ 1 h 8484"/>
                  <a:gd name="T8" fmla="*/ 2 w 9450"/>
                  <a:gd name="T9" fmla="*/ 1 h 8484"/>
                  <a:gd name="T10" fmla="*/ 2 w 9450"/>
                  <a:gd name="T11" fmla="*/ 1 h 8484"/>
                  <a:gd name="T12" fmla="*/ 1 w 9450"/>
                  <a:gd name="T13" fmla="*/ 1 h 8484"/>
                  <a:gd name="T14" fmla="*/ 1 w 9450"/>
                  <a:gd name="T15" fmla="*/ 1 h 8484"/>
                  <a:gd name="T16" fmla="*/ 1 w 9450"/>
                  <a:gd name="T17" fmla="*/ 2 h 8484"/>
                  <a:gd name="T18" fmla="*/ 1 w 9450"/>
                  <a:gd name="T19" fmla="*/ 2 h 8484"/>
                  <a:gd name="T20" fmla="*/ 1 w 9450"/>
                  <a:gd name="T21" fmla="*/ 2 h 8484"/>
                  <a:gd name="T22" fmla="*/ 1 w 9450"/>
                  <a:gd name="T23" fmla="*/ 2 h 8484"/>
                  <a:gd name="T24" fmla="*/ 0 w 9450"/>
                  <a:gd name="T25" fmla="*/ 3 h 8484"/>
                  <a:gd name="T26" fmla="*/ 0 w 9450"/>
                  <a:gd name="T27" fmla="*/ 3 h 8484"/>
                  <a:gd name="T28" fmla="*/ 0 w 9450"/>
                  <a:gd name="T29" fmla="*/ 3 h 8484"/>
                  <a:gd name="T30" fmla="*/ 0 w 9450"/>
                  <a:gd name="T31" fmla="*/ 3 h 8484"/>
                  <a:gd name="T32" fmla="*/ 0 w 9450"/>
                  <a:gd name="T33" fmla="*/ 4 h 8484"/>
                  <a:gd name="T34" fmla="*/ 0 w 9450"/>
                  <a:gd name="T35" fmla="*/ 4 h 8484"/>
                  <a:gd name="T36" fmla="*/ 0 w 9450"/>
                  <a:gd name="T37" fmla="*/ 4 h 8484"/>
                  <a:gd name="T38" fmla="*/ 0 w 9450"/>
                  <a:gd name="T39" fmla="*/ 4 h 8484"/>
                  <a:gd name="T40" fmla="*/ 0 w 9450"/>
                  <a:gd name="T41" fmla="*/ 5 h 8484"/>
                  <a:gd name="T42" fmla="*/ 0 w 9450"/>
                  <a:gd name="T43" fmla="*/ 5 h 8484"/>
                  <a:gd name="T44" fmla="*/ 0 w 9450"/>
                  <a:gd name="T45" fmla="*/ 5 h 8484"/>
                  <a:gd name="T46" fmla="*/ 0 w 9450"/>
                  <a:gd name="T47" fmla="*/ 5 h 8484"/>
                  <a:gd name="T48" fmla="*/ 0 w 9450"/>
                  <a:gd name="T49" fmla="*/ 6 h 8484"/>
                  <a:gd name="T50" fmla="*/ 1 w 9450"/>
                  <a:gd name="T51" fmla="*/ 6 h 8484"/>
                  <a:gd name="T52" fmla="*/ 1 w 9450"/>
                  <a:gd name="T53" fmla="*/ 6 h 8484"/>
                  <a:gd name="T54" fmla="*/ 1 w 9450"/>
                  <a:gd name="T55" fmla="*/ 6 h 8484"/>
                  <a:gd name="T56" fmla="*/ 1 w 9450"/>
                  <a:gd name="T57" fmla="*/ 6 h 8484"/>
                  <a:gd name="T58" fmla="*/ 1 w 9450"/>
                  <a:gd name="T59" fmla="*/ 6 h 8484"/>
                  <a:gd name="T60" fmla="*/ 1 w 9450"/>
                  <a:gd name="T61" fmla="*/ 6 h 8484"/>
                  <a:gd name="T62" fmla="*/ 2 w 9450"/>
                  <a:gd name="T63" fmla="*/ 6 h 8484"/>
                  <a:gd name="T64" fmla="*/ 2 w 9450"/>
                  <a:gd name="T65" fmla="*/ 7 h 8484"/>
                  <a:gd name="T66" fmla="*/ 2 w 9450"/>
                  <a:gd name="T67" fmla="*/ 7 h 8484"/>
                  <a:gd name="T68" fmla="*/ 2 w 9450"/>
                  <a:gd name="T69" fmla="*/ 7 h 8484"/>
                  <a:gd name="T70" fmla="*/ 3 w 9450"/>
                  <a:gd name="T71" fmla="*/ 7 h 8484"/>
                  <a:gd name="T72" fmla="*/ 3 w 9450"/>
                  <a:gd name="T73" fmla="*/ 7 h 8484"/>
                  <a:gd name="T74" fmla="*/ 3 w 9450"/>
                  <a:gd name="T75" fmla="*/ 7 h 8484"/>
                  <a:gd name="T76" fmla="*/ 3 w 9450"/>
                  <a:gd name="T77" fmla="*/ 7 h 8484"/>
                  <a:gd name="T78" fmla="*/ 4 w 9450"/>
                  <a:gd name="T79" fmla="*/ 6 h 8484"/>
                  <a:gd name="T80" fmla="*/ 4 w 9450"/>
                  <a:gd name="T81" fmla="*/ 6 h 8484"/>
                  <a:gd name="T82" fmla="*/ 4 w 9450"/>
                  <a:gd name="T83" fmla="*/ 6 h 8484"/>
                  <a:gd name="T84" fmla="*/ 4 w 9450"/>
                  <a:gd name="T85" fmla="*/ 6 h 8484"/>
                  <a:gd name="T86" fmla="*/ 5 w 9450"/>
                  <a:gd name="T87" fmla="*/ 6 h 8484"/>
                  <a:gd name="T88" fmla="*/ 5 w 9450"/>
                  <a:gd name="T89" fmla="*/ 6 h 8484"/>
                  <a:gd name="T90" fmla="*/ 5 w 9450"/>
                  <a:gd name="T91" fmla="*/ 6 h 8484"/>
                  <a:gd name="T92" fmla="*/ 5 w 9450"/>
                  <a:gd name="T93" fmla="*/ 6 h 8484"/>
                  <a:gd name="T94" fmla="*/ 6 w 9450"/>
                  <a:gd name="T95" fmla="*/ 5 h 8484"/>
                  <a:gd name="T96" fmla="*/ 6 w 9450"/>
                  <a:gd name="T97" fmla="*/ 5 h 8484"/>
                  <a:gd name="T98" fmla="*/ 6 w 9450"/>
                  <a:gd name="T99" fmla="*/ 5 h 8484"/>
                  <a:gd name="T100" fmla="*/ 6 w 9450"/>
                  <a:gd name="T101" fmla="*/ 5 h 8484"/>
                  <a:gd name="T102" fmla="*/ 6 w 9450"/>
                  <a:gd name="T103" fmla="*/ 5 h 8484"/>
                  <a:gd name="T104" fmla="*/ 7 w 9450"/>
                  <a:gd name="T105" fmla="*/ 4 h 8484"/>
                  <a:gd name="T106" fmla="*/ 7 w 9450"/>
                  <a:gd name="T107" fmla="*/ 4 h 8484"/>
                  <a:gd name="T108" fmla="*/ 7 w 9450"/>
                  <a:gd name="T109" fmla="*/ 4 h 8484"/>
                  <a:gd name="T110" fmla="*/ 7 w 9450"/>
                  <a:gd name="T111" fmla="*/ 4 h 8484"/>
                  <a:gd name="T112" fmla="*/ 7 w 9450"/>
                  <a:gd name="T113" fmla="*/ 3 h 8484"/>
                  <a:gd name="T114" fmla="*/ 7 w 9450"/>
                  <a:gd name="T115" fmla="*/ 3 h 8484"/>
                  <a:gd name="T116" fmla="*/ 7 w 9450"/>
                  <a:gd name="T117" fmla="*/ 3 h 8484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w 9450"/>
                  <a:gd name="T178" fmla="*/ 0 h 8484"/>
                  <a:gd name="T179" fmla="*/ 9450 w 9450"/>
                  <a:gd name="T180" fmla="*/ 8484 h 8484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T177" t="T178" r="T179" b="T180"/>
                <a:pathLst>
                  <a:path w="9450" h="8484">
                    <a:moveTo>
                      <a:pt x="9450" y="3402"/>
                    </a:moveTo>
                    <a:lnTo>
                      <a:pt x="3563" y="0"/>
                    </a:lnTo>
                    <a:lnTo>
                      <a:pt x="3396" y="100"/>
                    </a:lnTo>
                    <a:lnTo>
                      <a:pt x="3231" y="204"/>
                    </a:lnTo>
                    <a:lnTo>
                      <a:pt x="3068" y="313"/>
                    </a:lnTo>
                    <a:lnTo>
                      <a:pt x="2908" y="426"/>
                    </a:lnTo>
                    <a:lnTo>
                      <a:pt x="2749" y="544"/>
                    </a:lnTo>
                    <a:lnTo>
                      <a:pt x="2594" y="666"/>
                    </a:lnTo>
                    <a:lnTo>
                      <a:pt x="2441" y="792"/>
                    </a:lnTo>
                    <a:lnTo>
                      <a:pt x="2292" y="923"/>
                    </a:lnTo>
                    <a:lnTo>
                      <a:pt x="2146" y="1056"/>
                    </a:lnTo>
                    <a:lnTo>
                      <a:pt x="2003" y="1194"/>
                    </a:lnTo>
                    <a:lnTo>
                      <a:pt x="1864" y="1335"/>
                    </a:lnTo>
                    <a:lnTo>
                      <a:pt x="1728" y="1479"/>
                    </a:lnTo>
                    <a:lnTo>
                      <a:pt x="1596" y="1627"/>
                    </a:lnTo>
                    <a:lnTo>
                      <a:pt x="1470" y="1777"/>
                    </a:lnTo>
                    <a:lnTo>
                      <a:pt x="1346" y="1930"/>
                    </a:lnTo>
                    <a:lnTo>
                      <a:pt x="1229" y="2085"/>
                    </a:lnTo>
                    <a:lnTo>
                      <a:pt x="1115" y="2242"/>
                    </a:lnTo>
                    <a:lnTo>
                      <a:pt x="1006" y="2403"/>
                    </a:lnTo>
                    <a:lnTo>
                      <a:pt x="902" y="2564"/>
                    </a:lnTo>
                    <a:lnTo>
                      <a:pt x="803" y="2727"/>
                    </a:lnTo>
                    <a:lnTo>
                      <a:pt x="711" y="2891"/>
                    </a:lnTo>
                    <a:lnTo>
                      <a:pt x="622" y="3057"/>
                    </a:lnTo>
                    <a:lnTo>
                      <a:pt x="539" y="3224"/>
                    </a:lnTo>
                    <a:lnTo>
                      <a:pt x="463" y="3391"/>
                    </a:lnTo>
                    <a:lnTo>
                      <a:pt x="391" y="3559"/>
                    </a:lnTo>
                    <a:lnTo>
                      <a:pt x="325" y="3728"/>
                    </a:lnTo>
                    <a:lnTo>
                      <a:pt x="265" y="3896"/>
                    </a:lnTo>
                    <a:lnTo>
                      <a:pt x="212" y="4065"/>
                    </a:lnTo>
                    <a:lnTo>
                      <a:pt x="164" y="4233"/>
                    </a:lnTo>
                    <a:lnTo>
                      <a:pt x="121" y="4400"/>
                    </a:lnTo>
                    <a:lnTo>
                      <a:pt x="85" y="4567"/>
                    </a:lnTo>
                    <a:lnTo>
                      <a:pt x="57" y="4732"/>
                    </a:lnTo>
                    <a:lnTo>
                      <a:pt x="33" y="4897"/>
                    </a:lnTo>
                    <a:lnTo>
                      <a:pt x="15" y="5061"/>
                    </a:lnTo>
                    <a:lnTo>
                      <a:pt x="4" y="5222"/>
                    </a:lnTo>
                    <a:lnTo>
                      <a:pt x="0" y="5381"/>
                    </a:lnTo>
                    <a:lnTo>
                      <a:pt x="1" y="5540"/>
                    </a:lnTo>
                    <a:lnTo>
                      <a:pt x="9" y="5695"/>
                    </a:lnTo>
                    <a:lnTo>
                      <a:pt x="24" y="5848"/>
                    </a:lnTo>
                    <a:lnTo>
                      <a:pt x="43" y="5999"/>
                    </a:lnTo>
                    <a:lnTo>
                      <a:pt x="70" y="6146"/>
                    </a:lnTo>
                    <a:lnTo>
                      <a:pt x="103" y="6291"/>
                    </a:lnTo>
                    <a:lnTo>
                      <a:pt x="142" y="6432"/>
                    </a:lnTo>
                    <a:lnTo>
                      <a:pt x="186" y="6569"/>
                    </a:lnTo>
                    <a:lnTo>
                      <a:pt x="238" y="6703"/>
                    </a:lnTo>
                    <a:lnTo>
                      <a:pt x="294" y="6834"/>
                    </a:lnTo>
                    <a:lnTo>
                      <a:pt x="357" y="6960"/>
                    </a:lnTo>
                    <a:lnTo>
                      <a:pt x="426" y="7083"/>
                    </a:lnTo>
                    <a:lnTo>
                      <a:pt x="500" y="7201"/>
                    </a:lnTo>
                    <a:lnTo>
                      <a:pt x="580" y="7315"/>
                    </a:lnTo>
                    <a:lnTo>
                      <a:pt x="665" y="7424"/>
                    </a:lnTo>
                    <a:lnTo>
                      <a:pt x="756" y="7529"/>
                    </a:lnTo>
                    <a:lnTo>
                      <a:pt x="853" y="7629"/>
                    </a:lnTo>
                    <a:lnTo>
                      <a:pt x="953" y="7724"/>
                    </a:lnTo>
                    <a:lnTo>
                      <a:pt x="1060" y="7813"/>
                    </a:lnTo>
                    <a:lnTo>
                      <a:pt x="1172" y="7897"/>
                    </a:lnTo>
                    <a:lnTo>
                      <a:pt x="1287" y="7977"/>
                    </a:lnTo>
                    <a:lnTo>
                      <a:pt x="1408" y="8051"/>
                    </a:lnTo>
                    <a:lnTo>
                      <a:pt x="1533" y="8118"/>
                    </a:lnTo>
                    <a:lnTo>
                      <a:pt x="1662" y="8181"/>
                    </a:lnTo>
                    <a:lnTo>
                      <a:pt x="1795" y="8238"/>
                    </a:lnTo>
                    <a:lnTo>
                      <a:pt x="1933" y="8289"/>
                    </a:lnTo>
                    <a:lnTo>
                      <a:pt x="2074" y="8334"/>
                    </a:lnTo>
                    <a:lnTo>
                      <a:pt x="2218" y="8374"/>
                    </a:lnTo>
                    <a:lnTo>
                      <a:pt x="2366" y="8406"/>
                    </a:lnTo>
                    <a:lnTo>
                      <a:pt x="2517" y="8434"/>
                    </a:lnTo>
                    <a:lnTo>
                      <a:pt x="2671" y="8456"/>
                    </a:lnTo>
                    <a:lnTo>
                      <a:pt x="2828" y="8471"/>
                    </a:lnTo>
                    <a:lnTo>
                      <a:pt x="2987" y="8481"/>
                    </a:lnTo>
                    <a:lnTo>
                      <a:pt x="3149" y="8484"/>
                    </a:lnTo>
                    <a:lnTo>
                      <a:pt x="3313" y="8481"/>
                    </a:lnTo>
                    <a:lnTo>
                      <a:pt x="3480" y="8472"/>
                    </a:lnTo>
                    <a:lnTo>
                      <a:pt x="3647" y="8457"/>
                    </a:lnTo>
                    <a:lnTo>
                      <a:pt x="3816" y="8436"/>
                    </a:lnTo>
                    <a:lnTo>
                      <a:pt x="3987" y="8409"/>
                    </a:lnTo>
                    <a:lnTo>
                      <a:pt x="4158" y="8376"/>
                    </a:lnTo>
                    <a:lnTo>
                      <a:pt x="4330" y="8337"/>
                    </a:lnTo>
                    <a:lnTo>
                      <a:pt x="4503" y="8292"/>
                    </a:lnTo>
                    <a:lnTo>
                      <a:pt x="4677" y="8241"/>
                    </a:lnTo>
                    <a:lnTo>
                      <a:pt x="4851" y="8184"/>
                    </a:lnTo>
                    <a:lnTo>
                      <a:pt x="5024" y="8123"/>
                    </a:lnTo>
                    <a:lnTo>
                      <a:pt x="5197" y="8055"/>
                    </a:lnTo>
                    <a:lnTo>
                      <a:pt x="5370" y="7982"/>
                    </a:lnTo>
                    <a:lnTo>
                      <a:pt x="5542" y="7902"/>
                    </a:lnTo>
                    <a:lnTo>
                      <a:pt x="5713" y="7819"/>
                    </a:lnTo>
                    <a:lnTo>
                      <a:pt x="5882" y="7730"/>
                    </a:lnTo>
                    <a:lnTo>
                      <a:pt x="6051" y="7635"/>
                    </a:lnTo>
                    <a:lnTo>
                      <a:pt x="6218" y="7535"/>
                    </a:lnTo>
                    <a:lnTo>
                      <a:pt x="6383" y="7431"/>
                    </a:lnTo>
                    <a:lnTo>
                      <a:pt x="6546" y="7322"/>
                    </a:lnTo>
                    <a:lnTo>
                      <a:pt x="6706" y="7209"/>
                    </a:lnTo>
                    <a:lnTo>
                      <a:pt x="6865" y="7091"/>
                    </a:lnTo>
                    <a:lnTo>
                      <a:pt x="7020" y="6969"/>
                    </a:lnTo>
                    <a:lnTo>
                      <a:pt x="7173" y="6843"/>
                    </a:lnTo>
                    <a:lnTo>
                      <a:pt x="7322" y="6712"/>
                    </a:lnTo>
                    <a:lnTo>
                      <a:pt x="7468" y="6579"/>
                    </a:lnTo>
                    <a:lnTo>
                      <a:pt x="7611" y="6441"/>
                    </a:lnTo>
                    <a:lnTo>
                      <a:pt x="7750" y="6300"/>
                    </a:lnTo>
                    <a:lnTo>
                      <a:pt x="7886" y="6155"/>
                    </a:lnTo>
                    <a:lnTo>
                      <a:pt x="8018" y="6008"/>
                    </a:lnTo>
                    <a:lnTo>
                      <a:pt x="8144" y="5858"/>
                    </a:lnTo>
                    <a:lnTo>
                      <a:pt x="8268" y="5705"/>
                    </a:lnTo>
                    <a:lnTo>
                      <a:pt x="8385" y="5550"/>
                    </a:lnTo>
                    <a:lnTo>
                      <a:pt x="8499" y="5393"/>
                    </a:lnTo>
                    <a:lnTo>
                      <a:pt x="8608" y="5232"/>
                    </a:lnTo>
                    <a:lnTo>
                      <a:pt x="8712" y="5071"/>
                    </a:lnTo>
                    <a:lnTo>
                      <a:pt x="8811" y="4908"/>
                    </a:lnTo>
                    <a:lnTo>
                      <a:pt x="8903" y="4744"/>
                    </a:lnTo>
                    <a:lnTo>
                      <a:pt x="8992" y="4578"/>
                    </a:lnTo>
                    <a:lnTo>
                      <a:pt x="9075" y="4412"/>
                    </a:lnTo>
                    <a:lnTo>
                      <a:pt x="9151" y="4244"/>
                    </a:lnTo>
                    <a:lnTo>
                      <a:pt x="9223" y="4076"/>
                    </a:lnTo>
                    <a:lnTo>
                      <a:pt x="9289" y="3908"/>
                    </a:lnTo>
                    <a:lnTo>
                      <a:pt x="9349" y="3739"/>
                    </a:lnTo>
                    <a:lnTo>
                      <a:pt x="9402" y="3570"/>
                    </a:lnTo>
                    <a:lnTo>
                      <a:pt x="9450" y="3402"/>
                    </a:lnTo>
                  </a:path>
                </a:pathLst>
              </a:custGeom>
              <a:solidFill>
                <a:srgbClr val="FF00FF"/>
              </a:solidFill>
              <a:ln w="0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39" name="Freeform 201"/>
              <p:cNvSpPr>
                <a:spLocks/>
              </p:cNvSpPr>
              <p:nvPr/>
            </p:nvSpPr>
            <p:spPr bwMode="auto">
              <a:xfrm>
                <a:off x="1362" y="1435"/>
                <a:ext cx="981" cy="1004"/>
              </a:xfrm>
              <a:custGeom>
                <a:avLst/>
                <a:gdLst>
                  <a:gd name="T0" fmla="*/ 4 w 5887"/>
                  <a:gd name="T1" fmla="*/ 5 h 6021"/>
                  <a:gd name="T2" fmla="*/ 4 w 5887"/>
                  <a:gd name="T3" fmla="*/ 3 h 6021"/>
                  <a:gd name="T4" fmla="*/ 0 w 5887"/>
                  <a:gd name="T5" fmla="*/ 0 h 6021"/>
                  <a:gd name="T6" fmla="*/ 0 w 5887"/>
                  <a:gd name="T7" fmla="*/ 2 h 602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887"/>
                  <a:gd name="T13" fmla="*/ 0 h 6021"/>
                  <a:gd name="T14" fmla="*/ 5887 w 5887"/>
                  <a:gd name="T15" fmla="*/ 6021 h 602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887" h="6021">
                    <a:moveTo>
                      <a:pt x="5887" y="6021"/>
                    </a:moveTo>
                    <a:lnTo>
                      <a:pt x="5887" y="3403"/>
                    </a:lnTo>
                    <a:lnTo>
                      <a:pt x="0" y="0"/>
                    </a:lnTo>
                    <a:lnTo>
                      <a:pt x="0" y="2619"/>
                    </a:lnTo>
                  </a:path>
                </a:pathLst>
              </a:custGeom>
              <a:solidFill>
                <a:srgbClr val="FFFF00"/>
              </a:solidFill>
              <a:ln w="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40" name="Freeform 202"/>
              <p:cNvSpPr>
                <a:spLocks/>
              </p:cNvSpPr>
              <p:nvPr/>
            </p:nvSpPr>
            <p:spPr bwMode="auto">
              <a:xfrm>
                <a:off x="1362" y="1420"/>
                <a:ext cx="1008" cy="582"/>
              </a:xfrm>
              <a:custGeom>
                <a:avLst/>
                <a:gdLst>
                  <a:gd name="T0" fmla="*/ 0 w 6051"/>
                  <a:gd name="T1" fmla="*/ 0 h 3497"/>
                  <a:gd name="T2" fmla="*/ 0 w 6051"/>
                  <a:gd name="T3" fmla="*/ 0 h 3497"/>
                  <a:gd name="T4" fmla="*/ 1 w 6051"/>
                  <a:gd name="T5" fmla="*/ 0 h 3497"/>
                  <a:gd name="T6" fmla="*/ 1 w 6051"/>
                  <a:gd name="T7" fmla="*/ 0 h 3497"/>
                  <a:gd name="T8" fmla="*/ 1 w 6051"/>
                  <a:gd name="T9" fmla="*/ 0 h 3497"/>
                  <a:gd name="T10" fmla="*/ 1 w 6051"/>
                  <a:gd name="T11" fmla="*/ 0 h 3497"/>
                  <a:gd name="T12" fmla="*/ 1 w 6051"/>
                  <a:gd name="T13" fmla="*/ 0 h 3497"/>
                  <a:gd name="T14" fmla="*/ 2 w 6051"/>
                  <a:gd name="T15" fmla="*/ 0 h 3497"/>
                  <a:gd name="T16" fmla="*/ 2 w 6051"/>
                  <a:gd name="T17" fmla="*/ 0 h 3497"/>
                  <a:gd name="T18" fmla="*/ 2 w 6051"/>
                  <a:gd name="T19" fmla="*/ 0 h 3497"/>
                  <a:gd name="T20" fmla="*/ 2 w 6051"/>
                  <a:gd name="T21" fmla="*/ 0 h 3497"/>
                  <a:gd name="T22" fmla="*/ 3 w 6051"/>
                  <a:gd name="T23" fmla="*/ 0 h 3497"/>
                  <a:gd name="T24" fmla="*/ 3 w 6051"/>
                  <a:gd name="T25" fmla="*/ 0 h 3497"/>
                  <a:gd name="T26" fmla="*/ 3 w 6051"/>
                  <a:gd name="T27" fmla="*/ 0 h 3497"/>
                  <a:gd name="T28" fmla="*/ 3 w 6051"/>
                  <a:gd name="T29" fmla="*/ 0 h 3497"/>
                  <a:gd name="T30" fmla="*/ 3 w 6051"/>
                  <a:gd name="T31" fmla="*/ 1 h 3497"/>
                  <a:gd name="T32" fmla="*/ 4 w 6051"/>
                  <a:gd name="T33" fmla="*/ 1 h 3497"/>
                  <a:gd name="T34" fmla="*/ 4 w 6051"/>
                  <a:gd name="T35" fmla="*/ 1 h 3497"/>
                  <a:gd name="T36" fmla="*/ 4 w 6051"/>
                  <a:gd name="T37" fmla="*/ 1 h 3497"/>
                  <a:gd name="T38" fmla="*/ 4 w 6051"/>
                  <a:gd name="T39" fmla="*/ 1 h 3497"/>
                  <a:gd name="T40" fmla="*/ 4 w 6051"/>
                  <a:gd name="T41" fmla="*/ 1 h 3497"/>
                  <a:gd name="T42" fmla="*/ 4 w 6051"/>
                  <a:gd name="T43" fmla="*/ 1 h 3497"/>
                  <a:gd name="T44" fmla="*/ 4 w 6051"/>
                  <a:gd name="T45" fmla="*/ 1 h 3497"/>
                  <a:gd name="T46" fmla="*/ 4 w 6051"/>
                  <a:gd name="T47" fmla="*/ 1 h 3497"/>
                  <a:gd name="T48" fmla="*/ 4 w 6051"/>
                  <a:gd name="T49" fmla="*/ 2 h 3497"/>
                  <a:gd name="T50" fmla="*/ 5 w 6051"/>
                  <a:gd name="T51" fmla="*/ 2 h 3497"/>
                  <a:gd name="T52" fmla="*/ 5 w 6051"/>
                  <a:gd name="T53" fmla="*/ 2 h 3497"/>
                  <a:gd name="T54" fmla="*/ 5 w 6051"/>
                  <a:gd name="T55" fmla="*/ 2 h 3497"/>
                  <a:gd name="T56" fmla="*/ 5 w 6051"/>
                  <a:gd name="T57" fmla="*/ 2 h 3497"/>
                  <a:gd name="T58" fmla="*/ 5 w 6051"/>
                  <a:gd name="T59" fmla="*/ 2 h 3497"/>
                  <a:gd name="T60" fmla="*/ 4 w 6051"/>
                  <a:gd name="T61" fmla="*/ 2 h 3497"/>
                  <a:gd name="T62" fmla="*/ 4 w 6051"/>
                  <a:gd name="T63" fmla="*/ 3 h 3497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6051"/>
                  <a:gd name="T97" fmla="*/ 0 h 3497"/>
                  <a:gd name="T98" fmla="*/ 6051 w 6051"/>
                  <a:gd name="T99" fmla="*/ 3497 h 3497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6051" h="3497">
                    <a:moveTo>
                      <a:pt x="0" y="94"/>
                    </a:moveTo>
                    <a:lnTo>
                      <a:pt x="155" y="72"/>
                    </a:lnTo>
                    <a:lnTo>
                      <a:pt x="311" y="52"/>
                    </a:lnTo>
                    <a:lnTo>
                      <a:pt x="468" y="36"/>
                    </a:lnTo>
                    <a:lnTo>
                      <a:pt x="626" y="22"/>
                    </a:lnTo>
                    <a:lnTo>
                      <a:pt x="785" y="12"/>
                    </a:lnTo>
                    <a:lnTo>
                      <a:pt x="944" y="5"/>
                    </a:lnTo>
                    <a:lnTo>
                      <a:pt x="1105" y="1"/>
                    </a:lnTo>
                    <a:lnTo>
                      <a:pt x="1264" y="0"/>
                    </a:lnTo>
                    <a:lnTo>
                      <a:pt x="1423" y="2"/>
                    </a:lnTo>
                    <a:lnTo>
                      <a:pt x="1583" y="6"/>
                    </a:lnTo>
                    <a:lnTo>
                      <a:pt x="1742" y="14"/>
                    </a:lnTo>
                    <a:lnTo>
                      <a:pt x="1901" y="25"/>
                    </a:lnTo>
                    <a:lnTo>
                      <a:pt x="2059" y="40"/>
                    </a:lnTo>
                    <a:lnTo>
                      <a:pt x="2217" y="56"/>
                    </a:lnTo>
                    <a:lnTo>
                      <a:pt x="2372" y="77"/>
                    </a:lnTo>
                    <a:lnTo>
                      <a:pt x="2527" y="100"/>
                    </a:lnTo>
                    <a:lnTo>
                      <a:pt x="2680" y="126"/>
                    </a:lnTo>
                    <a:lnTo>
                      <a:pt x="2832" y="155"/>
                    </a:lnTo>
                    <a:lnTo>
                      <a:pt x="2982" y="187"/>
                    </a:lnTo>
                    <a:lnTo>
                      <a:pt x="3130" y="222"/>
                    </a:lnTo>
                    <a:lnTo>
                      <a:pt x="3276" y="260"/>
                    </a:lnTo>
                    <a:lnTo>
                      <a:pt x="3419" y="300"/>
                    </a:lnTo>
                    <a:lnTo>
                      <a:pt x="3561" y="343"/>
                    </a:lnTo>
                    <a:lnTo>
                      <a:pt x="3700" y="388"/>
                    </a:lnTo>
                    <a:lnTo>
                      <a:pt x="3835" y="438"/>
                    </a:lnTo>
                    <a:lnTo>
                      <a:pt x="3968" y="488"/>
                    </a:lnTo>
                    <a:lnTo>
                      <a:pt x="4099" y="542"/>
                    </a:lnTo>
                    <a:lnTo>
                      <a:pt x="4225" y="598"/>
                    </a:lnTo>
                    <a:lnTo>
                      <a:pt x="4350" y="657"/>
                    </a:lnTo>
                    <a:lnTo>
                      <a:pt x="4470" y="718"/>
                    </a:lnTo>
                    <a:lnTo>
                      <a:pt x="4586" y="780"/>
                    </a:lnTo>
                    <a:lnTo>
                      <a:pt x="4699" y="846"/>
                    </a:lnTo>
                    <a:lnTo>
                      <a:pt x="4809" y="913"/>
                    </a:lnTo>
                    <a:lnTo>
                      <a:pt x="4913" y="983"/>
                    </a:lnTo>
                    <a:lnTo>
                      <a:pt x="5015" y="1054"/>
                    </a:lnTo>
                    <a:lnTo>
                      <a:pt x="5112" y="1128"/>
                    </a:lnTo>
                    <a:lnTo>
                      <a:pt x="5205" y="1203"/>
                    </a:lnTo>
                    <a:lnTo>
                      <a:pt x="5293" y="1280"/>
                    </a:lnTo>
                    <a:lnTo>
                      <a:pt x="5377" y="1358"/>
                    </a:lnTo>
                    <a:lnTo>
                      <a:pt x="5457" y="1439"/>
                    </a:lnTo>
                    <a:lnTo>
                      <a:pt x="5531" y="1520"/>
                    </a:lnTo>
                    <a:lnTo>
                      <a:pt x="5601" y="1603"/>
                    </a:lnTo>
                    <a:lnTo>
                      <a:pt x="5666" y="1687"/>
                    </a:lnTo>
                    <a:lnTo>
                      <a:pt x="5726" y="1773"/>
                    </a:lnTo>
                    <a:lnTo>
                      <a:pt x="5782" y="1859"/>
                    </a:lnTo>
                    <a:lnTo>
                      <a:pt x="5832" y="1948"/>
                    </a:lnTo>
                    <a:lnTo>
                      <a:pt x="5877" y="2036"/>
                    </a:lnTo>
                    <a:lnTo>
                      <a:pt x="5917" y="2126"/>
                    </a:lnTo>
                    <a:lnTo>
                      <a:pt x="5952" y="2215"/>
                    </a:lnTo>
                    <a:lnTo>
                      <a:pt x="5982" y="2307"/>
                    </a:lnTo>
                    <a:lnTo>
                      <a:pt x="6006" y="2397"/>
                    </a:lnTo>
                    <a:lnTo>
                      <a:pt x="6025" y="2489"/>
                    </a:lnTo>
                    <a:lnTo>
                      <a:pt x="6040" y="2581"/>
                    </a:lnTo>
                    <a:lnTo>
                      <a:pt x="6048" y="2673"/>
                    </a:lnTo>
                    <a:lnTo>
                      <a:pt x="6051" y="2765"/>
                    </a:lnTo>
                    <a:lnTo>
                      <a:pt x="6049" y="2858"/>
                    </a:lnTo>
                    <a:lnTo>
                      <a:pt x="6042" y="2951"/>
                    </a:lnTo>
                    <a:lnTo>
                      <a:pt x="6029" y="3042"/>
                    </a:lnTo>
                    <a:lnTo>
                      <a:pt x="6012" y="3134"/>
                    </a:lnTo>
                    <a:lnTo>
                      <a:pt x="5988" y="3225"/>
                    </a:lnTo>
                    <a:lnTo>
                      <a:pt x="5959" y="3317"/>
                    </a:lnTo>
                    <a:lnTo>
                      <a:pt x="5927" y="3406"/>
                    </a:lnTo>
                    <a:lnTo>
                      <a:pt x="5887" y="3497"/>
                    </a:lnTo>
                  </a:path>
                </a:pathLst>
              </a:custGeom>
              <a:solidFill>
                <a:srgbClr val="FF0000"/>
              </a:solidFill>
              <a:ln w="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124" name="Text Box 203"/>
          <p:cNvSpPr txBox="1">
            <a:spLocks noChangeArrowheads="1"/>
          </p:cNvSpPr>
          <p:nvPr/>
        </p:nvSpPr>
        <p:spPr bwMode="auto">
          <a:xfrm>
            <a:off x="469118" y="1268760"/>
            <a:ext cx="23775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marL="342900" indent="-342900" eaLnBrk="1" hangingPunct="1">
              <a:spcBef>
                <a:spcPct val="0"/>
              </a:spcBef>
              <a:buClrTx/>
              <a:buFont typeface="Wingdings" panose="05000000000000000000" pitchFamily="2" charset="2"/>
              <a:buChar char="n"/>
            </a:pPr>
            <a:r>
              <a: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  <a:sym typeface="CommercialPi BT" pitchFamily="18" charset="2"/>
              </a:rPr>
              <a:t>截交线的性质</a:t>
            </a:r>
            <a:endParaRPr lang="zh-CN" altLang="en-US" sz="2400" b="1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24" name="Text Box 204"/>
          <p:cNvSpPr txBox="1">
            <a:spLocks noChangeArrowheads="1"/>
          </p:cNvSpPr>
          <p:nvPr/>
        </p:nvSpPr>
        <p:spPr bwMode="auto">
          <a:xfrm>
            <a:off x="290466" y="2813377"/>
            <a:ext cx="300434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(2) </a:t>
            </a:r>
            <a:r>
              <a:rPr lang="zh-CN" altLang="en-US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封闭的</a:t>
            </a:r>
            <a:r>
              <a:rPr lang="zh-CN" altLang="en-US" sz="22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平面图形</a:t>
            </a:r>
            <a:r>
              <a:rPr lang="zh-CN" altLang="en-US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325" name="Text Box 205"/>
          <p:cNvSpPr txBox="1">
            <a:spLocks noChangeArrowheads="1"/>
          </p:cNvSpPr>
          <p:nvPr/>
        </p:nvSpPr>
        <p:spPr bwMode="auto">
          <a:xfrm>
            <a:off x="290466" y="3683648"/>
            <a:ext cx="517733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截交线的</a:t>
            </a:r>
            <a:r>
              <a:rPr lang="zh-CN" altLang="en-US" sz="22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空间形状</a:t>
            </a:r>
            <a:r>
              <a:rPr lang="zh-CN" altLang="en-US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取决于被截立体的形状及截平面与立体的相对位置。 </a:t>
            </a:r>
          </a:p>
        </p:txBody>
      </p:sp>
      <p:sp>
        <p:nvSpPr>
          <p:cNvPr id="5326" name="Text Box 206"/>
          <p:cNvSpPr txBox="1">
            <a:spLocks noChangeArrowheads="1"/>
          </p:cNvSpPr>
          <p:nvPr/>
        </p:nvSpPr>
        <p:spPr bwMode="auto">
          <a:xfrm>
            <a:off x="290466" y="1937240"/>
            <a:ext cx="527523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截交线是截平面与立体表面的</a:t>
            </a:r>
            <a:r>
              <a:rPr lang="zh-CN" altLang="en-US" sz="22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共有线</a:t>
            </a:r>
            <a:r>
              <a:rPr lang="zh-CN" altLang="en-US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5128" name="Group 207"/>
          <p:cNvGrpSpPr>
            <a:grpSpLocks/>
          </p:cNvGrpSpPr>
          <p:nvPr/>
        </p:nvGrpSpPr>
        <p:grpSpPr bwMode="auto">
          <a:xfrm>
            <a:off x="5530224" y="1161047"/>
            <a:ext cx="2651125" cy="2441575"/>
            <a:chOff x="3816" y="391"/>
            <a:chExt cx="1670" cy="1538"/>
          </a:xfrm>
        </p:grpSpPr>
        <p:pic>
          <p:nvPicPr>
            <p:cNvPr id="5134" name="Picture 208" descr="书4-3切八棱柱(1)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77" t="14719" r="29349" b="16119"/>
            <a:stretch>
              <a:fillRect/>
            </a:stretch>
          </p:blipFill>
          <p:spPr bwMode="auto">
            <a:xfrm>
              <a:off x="3816" y="391"/>
              <a:ext cx="1670" cy="1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35" name="Freeform 209"/>
            <p:cNvSpPr>
              <a:spLocks/>
            </p:cNvSpPr>
            <p:nvPr/>
          </p:nvSpPr>
          <p:spPr bwMode="auto">
            <a:xfrm>
              <a:off x="3826" y="669"/>
              <a:ext cx="1115" cy="1250"/>
            </a:xfrm>
            <a:custGeom>
              <a:avLst/>
              <a:gdLst>
                <a:gd name="T0" fmla="*/ 279 w 1150"/>
                <a:gd name="T1" fmla="*/ 295 h 1289"/>
                <a:gd name="T2" fmla="*/ 442 w 1150"/>
                <a:gd name="T3" fmla="*/ 390 h 1289"/>
                <a:gd name="T4" fmla="*/ 530 w 1150"/>
                <a:gd name="T5" fmla="*/ 0 h 1289"/>
                <a:gd name="T6" fmla="*/ 1016 w 1150"/>
                <a:gd name="T7" fmla="*/ 272 h 1289"/>
                <a:gd name="T8" fmla="*/ 726 w 1150"/>
                <a:gd name="T9" fmla="*/ 557 h 1289"/>
                <a:gd name="T10" fmla="*/ 883 w 1150"/>
                <a:gd name="T11" fmla="*/ 647 h 1289"/>
                <a:gd name="T12" fmla="*/ 602 w 1150"/>
                <a:gd name="T13" fmla="*/ 1139 h 1289"/>
                <a:gd name="T14" fmla="*/ 0 w 1150"/>
                <a:gd name="T15" fmla="*/ 793 h 1289"/>
                <a:gd name="T16" fmla="*/ 279 w 1150"/>
                <a:gd name="T17" fmla="*/ 295 h 12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50"/>
                <a:gd name="T28" fmla="*/ 0 h 1289"/>
                <a:gd name="T29" fmla="*/ 1150 w 1150"/>
                <a:gd name="T30" fmla="*/ 1289 h 128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50" h="1289">
                  <a:moveTo>
                    <a:pt x="316" y="333"/>
                  </a:moveTo>
                  <a:lnTo>
                    <a:pt x="500" y="441"/>
                  </a:lnTo>
                  <a:lnTo>
                    <a:pt x="600" y="0"/>
                  </a:lnTo>
                  <a:lnTo>
                    <a:pt x="1150" y="308"/>
                  </a:lnTo>
                  <a:lnTo>
                    <a:pt x="821" y="629"/>
                  </a:lnTo>
                  <a:lnTo>
                    <a:pt x="999" y="731"/>
                  </a:lnTo>
                  <a:lnTo>
                    <a:pt x="681" y="1289"/>
                  </a:lnTo>
                  <a:lnTo>
                    <a:pt x="0" y="897"/>
                  </a:lnTo>
                  <a:lnTo>
                    <a:pt x="316" y="333"/>
                  </a:lnTo>
                  <a:close/>
                </a:path>
              </a:pathLst>
            </a:custGeom>
            <a:solidFill>
              <a:srgbClr val="FF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330" name="Freeform 210"/>
          <p:cNvSpPr>
            <a:spLocks/>
          </p:cNvSpPr>
          <p:nvPr/>
        </p:nvSpPr>
        <p:spPr bwMode="auto">
          <a:xfrm>
            <a:off x="5533399" y="1602372"/>
            <a:ext cx="1770063" cy="1984375"/>
          </a:xfrm>
          <a:custGeom>
            <a:avLst/>
            <a:gdLst>
              <a:gd name="T0" fmla="*/ 2147483647 w 1150"/>
              <a:gd name="T1" fmla="*/ 2147483647 h 1289"/>
              <a:gd name="T2" fmla="*/ 2147483647 w 1150"/>
              <a:gd name="T3" fmla="*/ 2147483647 h 1289"/>
              <a:gd name="T4" fmla="*/ 2147483647 w 1150"/>
              <a:gd name="T5" fmla="*/ 0 h 1289"/>
              <a:gd name="T6" fmla="*/ 2147483647 w 1150"/>
              <a:gd name="T7" fmla="*/ 2147483647 h 1289"/>
              <a:gd name="T8" fmla="*/ 2147483647 w 1150"/>
              <a:gd name="T9" fmla="*/ 2147483647 h 1289"/>
              <a:gd name="T10" fmla="*/ 2147483647 w 1150"/>
              <a:gd name="T11" fmla="*/ 2147483647 h 1289"/>
              <a:gd name="T12" fmla="*/ 2147483647 w 1150"/>
              <a:gd name="T13" fmla="*/ 2147483647 h 1289"/>
              <a:gd name="T14" fmla="*/ 0 w 1150"/>
              <a:gd name="T15" fmla="*/ 2147483647 h 1289"/>
              <a:gd name="T16" fmla="*/ 2147483647 w 1150"/>
              <a:gd name="T17" fmla="*/ 2147483647 h 128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150"/>
              <a:gd name="T28" fmla="*/ 0 h 1289"/>
              <a:gd name="T29" fmla="*/ 1150 w 1150"/>
              <a:gd name="T30" fmla="*/ 1289 h 128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150" h="1289">
                <a:moveTo>
                  <a:pt x="316" y="333"/>
                </a:moveTo>
                <a:lnTo>
                  <a:pt x="500" y="441"/>
                </a:lnTo>
                <a:lnTo>
                  <a:pt x="600" y="0"/>
                </a:lnTo>
                <a:lnTo>
                  <a:pt x="1150" y="308"/>
                </a:lnTo>
                <a:lnTo>
                  <a:pt x="821" y="629"/>
                </a:lnTo>
                <a:lnTo>
                  <a:pt x="999" y="731"/>
                </a:lnTo>
                <a:lnTo>
                  <a:pt x="681" y="1289"/>
                </a:lnTo>
                <a:lnTo>
                  <a:pt x="0" y="897"/>
                </a:lnTo>
                <a:lnTo>
                  <a:pt x="316" y="333"/>
                </a:lnTo>
                <a:close/>
              </a:path>
            </a:pathLst>
          </a:cu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331" name="Freeform 211"/>
          <p:cNvSpPr>
            <a:spLocks/>
          </p:cNvSpPr>
          <p:nvPr/>
        </p:nvSpPr>
        <p:spPr bwMode="auto">
          <a:xfrm>
            <a:off x="6925245" y="3982021"/>
            <a:ext cx="1581150" cy="1419225"/>
          </a:xfrm>
          <a:custGeom>
            <a:avLst/>
            <a:gdLst>
              <a:gd name="T0" fmla="*/ 2147483647 w 9450"/>
              <a:gd name="T1" fmla="*/ 0 h 8484"/>
              <a:gd name="T2" fmla="*/ 2147483647 w 9450"/>
              <a:gd name="T3" fmla="*/ 2147483647 h 8484"/>
              <a:gd name="T4" fmla="*/ 2147483647 w 9450"/>
              <a:gd name="T5" fmla="*/ 2147483647 h 8484"/>
              <a:gd name="T6" fmla="*/ 2147483647 w 9450"/>
              <a:gd name="T7" fmla="*/ 2147483647 h 8484"/>
              <a:gd name="T8" fmla="*/ 2147483647 w 9450"/>
              <a:gd name="T9" fmla="*/ 2147483647 h 8484"/>
              <a:gd name="T10" fmla="*/ 2147483647 w 9450"/>
              <a:gd name="T11" fmla="*/ 2147483647 h 8484"/>
              <a:gd name="T12" fmla="*/ 2147483647 w 9450"/>
              <a:gd name="T13" fmla="*/ 2147483647 h 8484"/>
              <a:gd name="T14" fmla="*/ 2147483647 w 9450"/>
              <a:gd name="T15" fmla="*/ 2147483647 h 8484"/>
              <a:gd name="T16" fmla="*/ 2147483647 w 9450"/>
              <a:gd name="T17" fmla="*/ 2147483647 h 8484"/>
              <a:gd name="T18" fmla="*/ 2147483647 w 9450"/>
              <a:gd name="T19" fmla="*/ 2147483647 h 8484"/>
              <a:gd name="T20" fmla="*/ 2147483647 w 9450"/>
              <a:gd name="T21" fmla="*/ 2147483647 h 8484"/>
              <a:gd name="T22" fmla="*/ 2147483647 w 9450"/>
              <a:gd name="T23" fmla="*/ 2147483647 h 8484"/>
              <a:gd name="T24" fmla="*/ 2147483647 w 9450"/>
              <a:gd name="T25" fmla="*/ 2147483647 h 8484"/>
              <a:gd name="T26" fmla="*/ 2147483647 w 9450"/>
              <a:gd name="T27" fmla="*/ 2147483647 h 8484"/>
              <a:gd name="T28" fmla="*/ 2147483647 w 9450"/>
              <a:gd name="T29" fmla="*/ 2147483647 h 8484"/>
              <a:gd name="T30" fmla="*/ 2147483647 w 9450"/>
              <a:gd name="T31" fmla="*/ 2147483647 h 8484"/>
              <a:gd name="T32" fmla="*/ 2147483647 w 9450"/>
              <a:gd name="T33" fmla="*/ 2147483647 h 8484"/>
              <a:gd name="T34" fmla="*/ 2147483647 w 9450"/>
              <a:gd name="T35" fmla="*/ 2147483647 h 8484"/>
              <a:gd name="T36" fmla="*/ 0 w 9450"/>
              <a:gd name="T37" fmla="*/ 2147483647 h 8484"/>
              <a:gd name="T38" fmla="*/ 2147483647 w 9450"/>
              <a:gd name="T39" fmla="*/ 2147483647 h 8484"/>
              <a:gd name="T40" fmla="*/ 2147483647 w 9450"/>
              <a:gd name="T41" fmla="*/ 2147483647 h 8484"/>
              <a:gd name="T42" fmla="*/ 2147483647 w 9450"/>
              <a:gd name="T43" fmla="*/ 2147483647 h 8484"/>
              <a:gd name="T44" fmla="*/ 2147483647 w 9450"/>
              <a:gd name="T45" fmla="*/ 2147483647 h 8484"/>
              <a:gd name="T46" fmla="*/ 2147483647 w 9450"/>
              <a:gd name="T47" fmla="*/ 2147483647 h 8484"/>
              <a:gd name="T48" fmla="*/ 2147483647 w 9450"/>
              <a:gd name="T49" fmla="*/ 2147483647 h 8484"/>
              <a:gd name="T50" fmla="*/ 2147483647 w 9450"/>
              <a:gd name="T51" fmla="*/ 2147483647 h 8484"/>
              <a:gd name="T52" fmla="*/ 2147483647 w 9450"/>
              <a:gd name="T53" fmla="*/ 2147483647 h 8484"/>
              <a:gd name="T54" fmla="*/ 2147483647 w 9450"/>
              <a:gd name="T55" fmla="*/ 2147483647 h 8484"/>
              <a:gd name="T56" fmla="*/ 2147483647 w 9450"/>
              <a:gd name="T57" fmla="*/ 2147483647 h 8484"/>
              <a:gd name="T58" fmla="*/ 2147483647 w 9450"/>
              <a:gd name="T59" fmla="*/ 2147483647 h 8484"/>
              <a:gd name="T60" fmla="*/ 2147483647 w 9450"/>
              <a:gd name="T61" fmla="*/ 2147483647 h 8484"/>
              <a:gd name="T62" fmla="*/ 2147483647 w 9450"/>
              <a:gd name="T63" fmla="*/ 2147483647 h 8484"/>
              <a:gd name="T64" fmla="*/ 2147483647 w 9450"/>
              <a:gd name="T65" fmla="*/ 2147483647 h 8484"/>
              <a:gd name="T66" fmla="*/ 2147483647 w 9450"/>
              <a:gd name="T67" fmla="*/ 2147483647 h 8484"/>
              <a:gd name="T68" fmla="*/ 2147483647 w 9450"/>
              <a:gd name="T69" fmla="*/ 2147483647 h 8484"/>
              <a:gd name="T70" fmla="*/ 2147483647 w 9450"/>
              <a:gd name="T71" fmla="*/ 2147483647 h 8484"/>
              <a:gd name="T72" fmla="*/ 2147483647 w 9450"/>
              <a:gd name="T73" fmla="*/ 2147483647 h 8484"/>
              <a:gd name="T74" fmla="*/ 2147483647 w 9450"/>
              <a:gd name="T75" fmla="*/ 2147483647 h 8484"/>
              <a:gd name="T76" fmla="*/ 2147483647 w 9450"/>
              <a:gd name="T77" fmla="*/ 2147483647 h 8484"/>
              <a:gd name="T78" fmla="*/ 2147483647 w 9450"/>
              <a:gd name="T79" fmla="*/ 2147483647 h 8484"/>
              <a:gd name="T80" fmla="*/ 2147483647 w 9450"/>
              <a:gd name="T81" fmla="*/ 2147483647 h 8484"/>
              <a:gd name="T82" fmla="*/ 2147483647 w 9450"/>
              <a:gd name="T83" fmla="*/ 2147483647 h 8484"/>
              <a:gd name="T84" fmla="*/ 2147483647 w 9450"/>
              <a:gd name="T85" fmla="*/ 2147483647 h 8484"/>
              <a:gd name="T86" fmla="*/ 2147483647 w 9450"/>
              <a:gd name="T87" fmla="*/ 2147483647 h 8484"/>
              <a:gd name="T88" fmla="*/ 2147483647 w 9450"/>
              <a:gd name="T89" fmla="*/ 2147483647 h 8484"/>
              <a:gd name="T90" fmla="*/ 2147483647 w 9450"/>
              <a:gd name="T91" fmla="*/ 2147483647 h 8484"/>
              <a:gd name="T92" fmla="*/ 2147483647 w 9450"/>
              <a:gd name="T93" fmla="*/ 2147483647 h 8484"/>
              <a:gd name="T94" fmla="*/ 2147483647 w 9450"/>
              <a:gd name="T95" fmla="*/ 2147483647 h 8484"/>
              <a:gd name="T96" fmla="*/ 2147483647 w 9450"/>
              <a:gd name="T97" fmla="*/ 2147483647 h 8484"/>
              <a:gd name="T98" fmla="*/ 2147483647 w 9450"/>
              <a:gd name="T99" fmla="*/ 2147483647 h 8484"/>
              <a:gd name="T100" fmla="*/ 2147483647 w 9450"/>
              <a:gd name="T101" fmla="*/ 2147483647 h 8484"/>
              <a:gd name="T102" fmla="*/ 2147483647 w 9450"/>
              <a:gd name="T103" fmla="*/ 2147483647 h 8484"/>
              <a:gd name="T104" fmla="*/ 2147483647 w 9450"/>
              <a:gd name="T105" fmla="*/ 2147483647 h 8484"/>
              <a:gd name="T106" fmla="*/ 2147483647 w 9450"/>
              <a:gd name="T107" fmla="*/ 2147483647 h 8484"/>
              <a:gd name="T108" fmla="*/ 2147483647 w 9450"/>
              <a:gd name="T109" fmla="*/ 2147483647 h 8484"/>
              <a:gd name="T110" fmla="*/ 2147483647 w 9450"/>
              <a:gd name="T111" fmla="*/ 2147483647 h 8484"/>
              <a:gd name="T112" fmla="*/ 2147483647 w 9450"/>
              <a:gd name="T113" fmla="*/ 2147483647 h 8484"/>
              <a:gd name="T114" fmla="*/ 2147483647 w 9450"/>
              <a:gd name="T115" fmla="*/ 2147483647 h 8484"/>
              <a:gd name="T116" fmla="*/ 2147483647 w 9450"/>
              <a:gd name="T117" fmla="*/ 2147483647 h 8484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w 9450"/>
              <a:gd name="T178" fmla="*/ 0 h 8484"/>
              <a:gd name="T179" fmla="*/ 9450 w 9450"/>
              <a:gd name="T180" fmla="*/ 8484 h 8484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T177" t="T178" r="T179" b="T180"/>
            <a:pathLst>
              <a:path w="9450" h="8484">
                <a:moveTo>
                  <a:pt x="9450" y="3402"/>
                </a:moveTo>
                <a:lnTo>
                  <a:pt x="3563" y="0"/>
                </a:lnTo>
                <a:lnTo>
                  <a:pt x="3396" y="100"/>
                </a:lnTo>
                <a:lnTo>
                  <a:pt x="3231" y="204"/>
                </a:lnTo>
                <a:lnTo>
                  <a:pt x="3068" y="313"/>
                </a:lnTo>
                <a:lnTo>
                  <a:pt x="2908" y="426"/>
                </a:lnTo>
                <a:lnTo>
                  <a:pt x="2749" y="544"/>
                </a:lnTo>
                <a:lnTo>
                  <a:pt x="2594" y="666"/>
                </a:lnTo>
                <a:lnTo>
                  <a:pt x="2441" y="792"/>
                </a:lnTo>
                <a:lnTo>
                  <a:pt x="2292" y="923"/>
                </a:lnTo>
                <a:lnTo>
                  <a:pt x="2146" y="1056"/>
                </a:lnTo>
                <a:lnTo>
                  <a:pt x="2003" y="1194"/>
                </a:lnTo>
                <a:lnTo>
                  <a:pt x="1864" y="1335"/>
                </a:lnTo>
                <a:lnTo>
                  <a:pt x="1728" y="1479"/>
                </a:lnTo>
                <a:lnTo>
                  <a:pt x="1596" y="1627"/>
                </a:lnTo>
                <a:lnTo>
                  <a:pt x="1470" y="1777"/>
                </a:lnTo>
                <a:lnTo>
                  <a:pt x="1346" y="1930"/>
                </a:lnTo>
                <a:lnTo>
                  <a:pt x="1229" y="2085"/>
                </a:lnTo>
                <a:lnTo>
                  <a:pt x="1115" y="2242"/>
                </a:lnTo>
                <a:lnTo>
                  <a:pt x="1006" y="2403"/>
                </a:lnTo>
                <a:lnTo>
                  <a:pt x="902" y="2564"/>
                </a:lnTo>
                <a:lnTo>
                  <a:pt x="803" y="2727"/>
                </a:lnTo>
                <a:lnTo>
                  <a:pt x="711" y="2891"/>
                </a:lnTo>
                <a:lnTo>
                  <a:pt x="622" y="3057"/>
                </a:lnTo>
                <a:lnTo>
                  <a:pt x="539" y="3224"/>
                </a:lnTo>
                <a:lnTo>
                  <a:pt x="463" y="3391"/>
                </a:lnTo>
                <a:lnTo>
                  <a:pt x="391" y="3559"/>
                </a:lnTo>
                <a:lnTo>
                  <a:pt x="325" y="3728"/>
                </a:lnTo>
                <a:lnTo>
                  <a:pt x="265" y="3896"/>
                </a:lnTo>
                <a:lnTo>
                  <a:pt x="212" y="4065"/>
                </a:lnTo>
                <a:lnTo>
                  <a:pt x="164" y="4233"/>
                </a:lnTo>
                <a:lnTo>
                  <a:pt x="121" y="4400"/>
                </a:lnTo>
                <a:lnTo>
                  <a:pt x="85" y="4567"/>
                </a:lnTo>
                <a:lnTo>
                  <a:pt x="57" y="4732"/>
                </a:lnTo>
                <a:lnTo>
                  <a:pt x="33" y="4897"/>
                </a:lnTo>
                <a:lnTo>
                  <a:pt x="15" y="5061"/>
                </a:lnTo>
                <a:lnTo>
                  <a:pt x="4" y="5222"/>
                </a:lnTo>
                <a:lnTo>
                  <a:pt x="0" y="5381"/>
                </a:lnTo>
                <a:lnTo>
                  <a:pt x="1" y="5540"/>
                </a:lnTo>
                <a:lnTo>
                  <a:pt x="9" y="5695"/>
                </a:lnTo>
                <a:lnTo>
                  <a:pt x="24" y="5848"/>
                </a:lnTo>
                <a:lnTo>
                  <a:pt x="43" y="5999"/>
                </a:lnTo>
                <a:lnTo>
                  <a:pt x="70" y="6146"/>
                </a:lnTo>
                <a:lnTo>
                  <a:pt x="103" y="6291"/>
                </a:lnTo>
                <a:lnTo>
                  <a:pt x="142" y="6432"/>
                </a:lnTo>
                <a:lnTo>
                  <a:pt x="186" y="6569"/>
                </a:lnTo>
                <a:lnTo>
                  <a:pt x="238" y="6703"/>
                </a:lnTo>
                <a:lnTo>
                  <a:pt x="294" y="6834"/>
                </a:lnTo>
                <a:lnTo>
                  <a:pt x="357" y="6960"/>
                </a:lnTo>
                <a:lnTo>
                  <a:pt x="426" y="7083"/>
                </a:lnTo>
                <a:lnTo>
                  <a:pt x="500" y="7201"/>
                </a:lnTo>
                <a:lnTo>
                  <a:pt x="580" y="7315"/>
                </a:lnTo>
                <a:lnTo>
                  <a:pt x="665" y="7424"/>
                </a:lnTo>
                <a:lnTo>
                  <a:pt x="756" y="7529"/>
                </a:lnTo>
                <a:lnTo>
                  <a:pt x="853" y="7629"/>
                </a:lnTo>
                <a:lnTo>
                  <a:pt x="953" y="7724"/>
                </a:lnTo>
                <a:lnTo>
                  <a:pt x="1060" y="7813"/>
                </a:lnTo>
                <a:lnTo>
                  <a:pt x="1172" y="7897"/>
                </a:lnTo>
                <a:lnTo>
                  <a:pt x="1287" y="7977"/>
                </a:lnTo>
                <a:lnTo>
                  <a:pt x="1408" y="8051"/>
                </a:lnTo>
                <a:lnTo>
                  <a:pt x="1533" y="8118"/>
                </a:lnTo>
                <a:lnTo>
                  <a:pt x="1662" y="8181"/>
                </a:lnTo>
                <a:lnTo>
                  <a:pt x="1795" y="8238"/>
                </a:lnTo>
                <a:lnTo>
                  <a:pt x="1933" y="8289"/>
                </a:lnTo>
                <a:lnTo>
                  <a:pt x="2074" y="8334"/>
                </a:lnTo>
                <a:lnTo>
                  <a:pt x="2218" y="8374"/>
                </a:lnTo>
                <a:lnTo>
                  <a:pt x="2366" y="8406"/>
                </a:lnTo>
                <a:lnTo>
                  <a:pt x="2517" y="8434"/>
                </a:lnTo>
                <a:lnTo>
                  <a:pt x="2671" y="8456"/>
                </a:lnTo>
                <a:lnTo>
                  <a:pt x="2828" y="8471"/>
                </a:lnTo>
                <a:lnTo>
                  <a:pt x="2987" y="8481"/>
                </a:lnTo>
                <a:lnTo>
                  <a:pt x="3149" y="8484"/>
                </a:lnTo>
                <a:lnTo>
                  <a:pt x="3313" y="8481"/>
                </a:lnTo>
                <a:lnTo>
                  <a:pt x="3480" y="8472"/>
                </a:lnTo>
                <a:lnTo>
                  <a:pt x="3647" y="8457"/>
                </a:lnTo>
                <a:lnTo>
                  <a:pt x="3816" y="8436"/>
                </a:lnTo>
                <a:lnTo>
                  <a:pt x="3987" y="8409"/>
                </a:lnTo>
                <a:lnTo>
                  <a:pt x="4158" y="8376"/>
                </a:lnTo>
                <a:lnTo>
                  <a:pt x="4330" y="8337"/>
                </a:lnTo>
                <a:lnTo>
                  <a:pt x="4503" y="8292"/>
                </a:lnTo>
                <a:lnTo>
                  <a:pt x="4677" y="8241"/>
                </a:lnTo>
                <a:lnTo>
                  <a:pt x="4851" y="8184"/>
                </a:lnTo>
                <a:lnTo>
                  <a:pt x="5024" y="8123"/>
                </a:lnTo>
                <a:lnTo>
                  <a:pt x="5197" y="8055"/>
                </a:lnTo>
                <a:lnTo>
                  <a:pt x="5370" y="7982"/>
                </a:lnTo>
                <a:lnTo>
                  <a:pt x="5542" y="7902"/>
                </a:lnTo>
                <a:lnTo>
                  <a:pt x="5713" y="7819"/>
                </a:lnTo>
                <a:lnTo>
                  <a:pt x="5882" y="7730"/>
                </a:lnTo>
                <a:lnTo>
                  <a:pt x="6051" y="7635"/>
                </a:lnTo>
                <a:lnTo>
                  <a:pt x="6218" y="7535"/>
                </a:lnTo>
                <a:lnTo>
                  <a:pt x="6383" y="7431"/>
                </a:lnTo>
                <a:lnTo>
                  <a:pt x="6546" y="7322"/>
                </a:lnTo>
                <a:lnTo>
                  <a:pt x="6706" y="7209"/>
                </a:lnTo>
                <a:lnTo>
                  <a:pt x="6865" y="7091"/>
                </a:lnTo>
                <a:lnTo>
                  <a:pt x="7020" y="6969"/>
                </a:lnTo>
                <a:lnTo>
                  <a:pt x="7173" y="6843"/>
                </a:lnTo>
                <a:lnTo>
                  <a:pt x="7322" y="6712"/>
                </a:lnTo>
                <a:lnTo>
                  <a:pt x="7468" y="6579"/>
                </a:lnTo>
                <a:lnTo>
                  <a:pt x="7611" y="6441"/>
                </a:lnTo>
                <a:lnTo>
                  <a:pt x="7750" y="6300"/>
                </a:lnTo>
                <a:lnTo>
                  <a:pt x="7886" y="6155"/>
                </a:lnTo>
                <a:lnTo>
                  <a:pt x="8018" y="6008"/>
                </a:lnTo>
                <a:lnTo>
                  <a:pt x="8144" y="5858"/>
                </a:lnTo>
                <a:lnTo>
                  <a:pt x="8268" y="5705"/>
                </a:lnTo>
                <a:lnTo>
                  <a:pt x="8385" y="5550"/>
                </a:lnTo>
                <a:lnTo>
                  <a:pt x="8499" y="5393"/>
                </a:lnTo>
                <a:lnTo>
                  <a:pt x="8608" y="5232"/>
                </a:lnTo>
                <a:lnTo>
                  <a:pt x="8712" y="5071"/>
                </a:lnTo>
                <a:lnTo>
                  <a:pt x="8811" y="4908"/>
                </a:lnTo>
                <a:lnTo>
                  <a:pt x="8903" y="4744"/>
                </a:lnTo>
                <a:lnTo>
                  <a:pt x="8992" y="4578"/>
                </a:lnTo>
                <a:lnTo>
                  <a:pt x="9075" y="4412"/>
                </a:lnTo>
                <a:lnTo>
                  <a:pt x="9151" y="4244"/>
                </a:lnTo>
                <a:lnTo>
                  <a:pt x="9223" y="4076"/>
                </a:lnTo>
                <a:lnTo>
                  <a:pt x="9289" y="3908"/>
                </a:lnTo>
                <a:lnTo>
                  <a:pt x="9349" y="3739"/>
                </a:lnTo>
                <a:lnTo>
                  <a:pt x="9402" y="3570"/>
                </a:lnTo>
                <a:lnTo>
                  <a:pt x="9450" y="3402"/>
                </a:lnTo>
              </a:path>
            </a:pathLst>
          </a:custGeom>
          <a:noFill/>
          <a:ln w="381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212"/>
          <p:cNvGrpSpPr>
            <a:grpSpLocks/>
          </p:cNvGrpSpPr>
          <p:nvPr/>
        </p:nvGrpSpPr>
        <p:grpSpPr bwMode="auto">
          <a:xfrm>
            <a:off x="7518970" y="3537521"/>
            <a:ext cx="990600" cy="1012825"/>
            <a:chOff x="4480" y="2209"/>
            <a:chExt cx="630" cy="643"/>
          </a:xfrm>
        </p:grpSpPr>
        <p:sp>
          <p:nvSpPr>
            <p:cNvPr id="5132" name="Freeform 213"/>
            <p:cNvSpPr>
              <a:spLocks/>
            </p:cNvSpPr>
            <p:nvPr/>
          </p:nvSpPr>
          <p:spPr bwMode="auto">
            <a:xfrm>
              <a:off x="4484" y="2209"/>
              <a:ext cx="626" cy="640"/>
            </a:xfrm>
            <a:custGeom>
              <a:avLst/>
              <a:gdLst>
                <a:gd name="T0" fmla="*/ 1 w 5887"/>
                <a:gd name="T1" fmla="*/ 1 h 6021"/>
                <a:gd name="T2" fmla="*/ 1 w 5887"/>
                <a:gd name="T3" fmla="*/ 0 h 6021"/>
                <a:gd name="T4" fmla="*/ 0 w 5887"/>
                <a:gd name="T5" fmla="*/ 0 h 6021"/>
                <a:gd name="T6" fmla="*/ 0 w 5887"/>
                <a:gd name="T7" fmla="*/ 0 h 60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887"/>
                <a:gd name="T13" fmla="*/ 0 h 6021"/>
                <a:gd name="T14" fmla="*/ 5887 w 5887"/>
                <a:gd name="T15" fmla="*/ 6021 h 60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887" h="6021">
                  <a:moveTo>
                    <a:pt x="5887" y="6021"/>
                  </a:moveTo>
                  <a:lnTo>
                    <a:pt x="5887" y="3403"/>
                  </a:lnTo>
                  <a:lnTo>
                    <a:pt x="0" y="0"/>
                  </a:lnTo>
                  <a:lnTo>
                    <a:pt x="0" y="2619"/>
                  </a:lnTo>
                </a:path>
              </a:pathLst>
            </a:cu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3" name="Line 214"/>
            <p:cNvSpPr>
              <a:spLocks noChangeShapeType="1"/>
            </p:cNvSpPr>
            <p:nvPr/>
          </p:nvSpPr>
          <p:spPr bwMode="auto">
            <a:xfrm>
              <a:off x="4480" y="2488"/>
              <a:ext cx="628" cy="36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" name="Text Box 205">
            <a:extLst>
              <a:ext uri="{FF2B5EF4-FFF2-40B4-BE49-F238E27FC236}">
                <a16:creationId xmlns:a16="http://schemas.microsoft.com/office/drawing/2014/main" id="{F5C33444-6BC8-4FA4-3994-A6FC401CB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466" y="4749717"/>
            <a:ext cx="517733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(4) </a:t>
            </a:r>
            <a:r>
              <a:rPr lang="zh-CN" altLang="en-US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截交线的</a:t>
            </a:r>
            <a:r>
              <a:rPr lang="zh-CN" altLang="en-US" sz="22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投影形状</a:t>
            </a:r>
            <a:r>
              <a:rPr lang="zh-CN" altLang="en-US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取决于截平面与投影面的相对位置。</a:t>
            </a:r>
          </a:p>
        </p:txBody>
      </p:sp>
    </p:spTree>
    <p:extLst>
      <p:ext uri="{BB962C8B-B14F-4D97-AF65-F5344CB8AC3E}">
        <p14:creationId xmlns:p14="http://schemas.microsoft.com/office/powerpoint/2010/main" val="83529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5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4" grpId="0"/>
      <p:bldP spid="5325" grpId="0"/>
      <p:bldP spid="5326" grpId="0"/>
      <p:bldP spid="5330" grpId="0" animBg="1"/>
      <p:bldP spid="5331" grpId="0" animBg="1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5939C-FDDB-2267-0005-AA9E4D2D7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991B867-7032-343B-F88B-740300D07381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91672" y="2727900"/>
            <a:ext cx="6160662" cy="830997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平面与平面体相交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A6EFC0-EF48-EF6C-3B51-41E6426927BE}"/>
              </a:ext>
            </a:extLst>
          </p:cNvPr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7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29683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39C24-2525-2989-E85B-B8C268691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F09A6C58-35F4-7488-907E-D82A0A49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8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C691E32E-08D2-8E50-54DF-1B7B8C920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平面与平面体相交</a:t>
            </a:r>
          </a:p>
        </p:txBody>
      </p:sp>
      <p:grpSp>
        <p:nvGrpSpPr>
          <p:cNvPr id="16" name="Group 3"/>
          <p:cNvGrpSpPr>
            <a:grpSpLocks/>
          </p:cNvGrpSpPr>
          <p:nvPr/>
        </p:nvGrpSpPr>
        <p:grpSpPr bwMode="auto">
          <a:xfrm>
            <a:off x="4077442" y="1772816"/>
            <a:ext cx="1214438" cy="1214438"/>
            <a:chOff x="1908" y="2896"/>
            <a:chExt cx="765" cy="765"/>
          </a:xfrm>
        </p:grpSpPr>
        <p:sp>
          <p:nvSpPr>
            <p:cNvPr id="143364" name="Freeform 4"/>
            <p:cNvSpPr>
              <a:spLocks/>
            </p:cNvSpPr>
            <p:nvPr/>
          </p:nvSpPr>
          <p:spPr bwMode="auto">
            <a:xfrm>
              <a:off x="1908" y="2896"/>
              <a:ext cx="765" cy="763"/>
            </a:xfrm>
            <a:custGeom>
              <a:avLst/>
              <a:gdLst/>
              <a:ahLst/>
              <a:cxnLst>
                <a:cxn ang="0">
                  <a:pos x="0" y="403"/>
                </a:cxn>
                <a:cxn ang="0">
                  <a:pos x="90" y="99"/>
                </a:cxn>
                <a:cxn ang="0">
                  <a:pos x="188" y="0"/>
                </a:cxn>
                <a:cxn ang="0">
                  <a:pos x="765" y="0"/>
                </a:cxn>
                <a:cxn ang="0">
                  <a:pos x="765" y="575"/>
                </a:cxn>
                <a:cxn ang="0">
                  <a:pos x="577" y="763"/>
                </a:cxn>
                <a:cxn ang="0">
                  <a:pos x="0" y="763"/>
                </a:cxn>
                <a:cxn ang="0">
                  <a:pos x="0" y="403"/>
                </a:cxn>
              </a:cxnLst>
              <a:rect l="0" t="0" r="r" b="b"/>
              <a:pathLst>
                <a:path w="765" h="763">
                  <a:moveTo>
                    <a:pt x="0" y="403"/>
                  </a:moveTo>
                  <a:lnTo>
                    <a:pt x="90" y="99"/>
                  </a:lnTo>
                  <a:lnTo>
                    <a:pt x="188" y="0"/>
                  </a:lnTo>
                  <a:lnTo>
                    <a:pt x="765" y="0"/>
                  </a:lnTo>
                  <a:lnTo>
                    <a:pt x="765" y="575"/>
                  </a:lnTo>
                  <a:lnTo>
                    <a:pt x="577" y="763"/>
                  </a:lnTo>
                  <a:lnTo>
                    <a:pt x="0" y="763"/>
                  </a:lnTo>
                  <a:lnTo>
                    <a:pt x="0" y="403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176" name="Freeform 5"/>
            <p:cNvSpPr>
              <a:spLocks/>
            </p:cNvSpPr>
            <p:nvPr/>
          </p:nvSpPr>
          <p:spPr bwMode="auto">
            <a:xfrm>
              <a:off x="1908" y="2932"/>
              <a:ext cx="730" cy="539"/>
            </a:xfrm>
            <a:custGeom>
              <a:avLst/>
              <a:gdLst>
                <a:gd name="T0" fmla="*/ 0 w 730"/>
                <a:gd name="T1" fmla="*/ 367 h 539"/>
                <a:gd name="T2" fmla="*/ 90 w 730"/>
                <a:gd name="T3" fmla="*/ 63 h 539"/>
                <a:gd name="T4" fmla="*/ 730 w 730"/>
                <a:gd name="T5" fmla="*/ 0 h 539"/>
                <a:gd name="T6" fmla="*/ 574 w 730"/>
                <a:gd name="T7" fmla="*/ 539 h 539"/>
                <a:gd name="T8" fmla="*/ 0 w 730"/>
                <a:gd name="T9" fmla="*/ 367 h 5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30"/>
                <a:gd name="T16" fmla="*/ 0 h 539"/>
                <a:gd name="T17" fmla="*/ 730 w 730"/>
                <a:gd name="T18" fmla="*/ 539 h 53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30" h="539">
                  <a:moveTo>
                    <a:pt x="0" y="367"/>
                  </a:moveTo>
                  <a:lnTo>
                    <a:pt x="90" y="63"/>
                  </a:lnTo>
                  <a:lnTo>
                    <a:pt x="730" y="0"/>
                  </a:lnTo>
                  <a:lnTo>
                    <a:pt x="574" y="539"/>
                  </a:lnTo>
                  <a:lnTo>
                    <a:pt x="0" y="367"/>
                  </a:lnTo>
                  <a:close/>
                </a:path>
              </a:pathLst>
            </a:custGeom>
            <a:solidFill>
              <a:srgbClr val="8969FD"/>
            </a:solidFill>
            <a:ln w="95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77" name="AutoShape 6"/>
            <p:cNvSpPr>
              <a:spLocks noChangeArrowheads="1"/>
            </p:cNvSpPr>
            <p:nvPr/>
          </p:nvSpPr>
          <p:spPr bwMode="auto">
            <a:xfrm>
              <a:off x="1908" y="2896"/>
              <a:ext cx="765" cy="765"/>
            </a:xfrm>
            <a:prstGeom prst="cube">
              <a:avLst>
                <a:gd name="adj" fmla="val 25000"/>
              </a:avLst>
            </a:prstGeom>
            <a:noFill/>
            <a:ln w="3175">
              <a:solidFill>
                <a:schemeClr val="tx1"/>
              </a:solidFill>
              <a:miter lim="800000"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6178" name="Line 7"/>
            <p:cNvSpPr>
              <a:spLocks noChangeShapeType="1"/>
            </p:cNvSpPr>
            <p:nvPr/>
          </p:nvSpPr>
          <p:spPr bwMode="auto">
            <a:xfrm flipH="1">
              <a:off x="2636" y="2903"/>
              <a:ext cx="34" cy="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79" name="Line 8"/>
            <p:cNvSpPr>
              <a:spLocks noChangeShapeType="1"/>
            </p:cNvSpPr>
            <p:nvPr/>
          </p:nvSpPr>
          <p:spPr bwMode="auto">
            <a:xfrm flipV="1">
              <a:off x="2484" y="3471"/>
              <a:ext cx="0" cy="1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7" name="Group 9"/>
          <p:cNvGrpSpPr>
            <a:grpSpLocks/>
          </p:cNvGrpSpPr>
          <p:nvPr/>
        </p:nvGrpSpPr>
        <p:grpSpPr bwMode="auto">
          <a:xfrm>
            <a:off x="5694486" y="1783929"/>
            <a:ext cx="1214438" cy="1214437"/>
            <a:chOff x="3082" y="2903"/>
            <a:chExt cx="765" cy="765"/>
          </a:xfrm>
        </p:grpSpPr>
        <p:sp>
          <p:nvSpPr>
            <p:cNvPr id="6169" name="Line 10"/>
            <p:cNvSpPr>
              <a:spLocks noChangeShapeType="1"/>
            </p:cNvSpPr>
            <p:nvPr/>
          </p:nvSpPr>
          <p:spPr bwMode="auto">
            <a:xfrm flipV="1">
              <a:off x="3084" y="3558"/>
              <a:ext cx="108" cy="10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371" name="Freeform 11"/>
            <p:cNvSpPr>
              <a:spLocks/>
            </p:cNvSpPr>
            <p:nvPr/>
          </p:nvSpPr>
          <p:spPr bwMode="auto">
            <a:xfrm>
              <a:off x="3240" y="2904"/>
              <a:ext cx="606" cy="762"/>
            </a:xfrm>
            <a:custGeom>
              <a:avLst/>
              <a:gdLst/>
              <a:ahLst/>
              <a:cxnLst>
                <a:cxn ang="0">
                  <a:pos x="0" y="36"/>
                </a:cxn>
                <a:cxn ang="0">
                  <a:pos x="36" y="0"/>
                </a:cxn>
                <a:cxn ang="0">
                  <a:pos x="606" y="0"/>
                </a:cxn>
                <a:cxn ang="0">
                  <a:pos x="606" y="574"/>
                </a:cxn>
                <a:cxn ang="0">
                  <a:pos x="418" y="762"/>
                </a:cxn>
                <a:cxn ang="0">
                  <a:pos x="248" y="762"/>
                </a:cxn>
                <a:cxn ang="0">
                  <a:pos x="416" y="608"/>
                </a:cxn>
                <a:cxn ang="0">
                  <a:pos x="486" y="120"/>
                </a:cxn>
                <a:cxn ang="0">
                  <a:pos x="0" y="36"/>
                </a:cxn>
              </a:cxnLst>
              <a:rect l="0" t="0" r="r" b="b"/>
              <a:pathLst>
                <a:path w="606" h="762">
                  <a:moveTo>
                    <a:pt x="0" y="36"/>
                  </a:moveTo>
                  <a:lnTo>
                    <a:pt x="36" y="0"/>
                  </a:lnTo>
                  <a:lnTo>
                    <a:pt x="606" y="0"/>
                  </a:lnTo>
                  <a:lnTo>
                    <a:pt x="606" y="574"/>
                  </a:lnTo>
                  <a:lnTo>
                    <a:pt x="418" y="762"/>
                  </a:lnTo>
                  <a:lnTo>
                    <a:pt x="248" y="762"/>
                  </a:lnTo>
                  <a:lnTo>
                    <a:pt x="416" y="608"/>
                  </a:lnTo>
                  <a:lnTo>
                    <a:pt x="486" y="120"/>
                  </a:lnTo>
                  <a:lnTo>
                    <a:pt x="0" y="36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171" name="Freeform 12"/>
            <p:cNvSpPr>
              <a:spLocks/>
            </p:cNvSpPr>
            <p:nvPr/>
          </p:nvSpPr>
          <p:spPr bwMode="auto">
            <a:xfrm>
              <a:off x="3142" y="2940"/>
              <a:ext cx="584" cy="728"/>
            </a:xfrm>
            <a:custGeom>
              <a:avLst/>
              <a:gdLst>
                <a:gd name="T0" fmla="*/ 98 w 584"/>
                <a:gd name="T1" fmla="*/ 0 h 728"/>
                <a:gd name="T2" fmla="*/ 584 w 584"/>
                <a:gd name="T3" fmla="*/ 84 h 728"/>
                <a:gd name="T4" fmla="*/ 512 w 584"/>
                <a:gd name="T5" fmla="*/ 572 h 728"/>
                <a:gd name="T6" fmla="*/ 336 w 584"/>
                <a:gd name="T7" fmla="*/ 728 h 728"/>
                <a:gd name="T8" fmla="*/ 0 w 584"/>
                <a:gd name="T9" fmla="*/ 666 h 728"/>
                <a:gd name="T10" fmla="*/ 98 w 584"/>
                <a:gd name="T11" fmla="*/ 0 h 7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84"/>
                <a:gd name="T19" fmla="*/ 0 h 728"/>
                <a:gd name="T20" fmla="*/ 584 w 584"/>
                <a:gd name="T21" fmla="*/ 728 h 7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84" h="728">
                  <a:moveTo>
                    <a:pt x="98" y="0"/>
                  </a:moveTo>
                  <a:lnTo>
                    <a:pt x="584" y="84"/>
                  </a:lnTo>
                  <a:lnTo>
                    <a:pt x="512" y="572"/>
                  </a:lnTo>
                  <a:lnTo>
                    <a:pt x="336" y="728"/>
                  </a:lnTo>
                  <a:lnTo>
                    <a:pt x="0" y="666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8969FD"/>
            </a:solidFill>
            <a:ln w="95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72" name="AutoShape 13"/>
            <p:cNvSpPr>
              <a:spLocks noChangeArrowheads="1"/>
            </p:cNvSpPr>
            <p:nvPr/>
          </p:nvSpPr>
          <p:spPr bwMode="auto">
            <a:xfrm>
              <a:off x="3082" y="2903"/>
              <a:ext cx="765" cy="765"/>
            </a:xfrm>
            <a:prstGeom prst="cube">
              <a:avLst>
                <a:gd name="adj" fmla="val 25000"/>
              </a:avLst>
            </a:prstGeom>
            <a:noFill/>
            <a:ln w="3175">
              <a:solidFill>
                <a:schemeClr val="tx1"/>
              </a:solidFill>
              <a:miter lim="800000"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6173" name="Line 14"/>
            <p:cNvSpPr>
              <a:spLocks noChangeShapeType="1"/>
            </p:cNvSpPr>
            <p:nvPr/>
          </p:nvSpPr>
          <p:spPr bwMode="auto">
            <a:xfrm flipH="1">
              <a:off x="3726" y="2904"/>
              <a:ext cx="120" cy="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74" name="Line 15"/>
            <p:cNvSpPr>
              <a:spLocks noChangeShapeType="1"/>
            </p:cNvSpPr>
            <p:nvPr/>
          </p:nvSpPr>
          <p:spPr bwMode="auto">
            <a:xfrm flipV="1">
              <a:off x="3658" y="3510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Group 16"/>
          <p:cNvGrpSpPr>
            <a:grpSpLocks/>
          </p:cNvGrpSpPr>
          <p:nvPr/>
        </p:nvGrpSpPr>
        <p:grpSpPr bwMode="auto">
          <a:xfrm>
            <a:off x="7311529" y="1760116"/>
            <a:ext cx="1222375" cy="1216025"/>
            <a:chOff x="4201" y="2132"/>
            <a:chExt cx="770" cy="766"/>
          </a:xfrm>
        </p:grpSpPr>
        <p:sp>
          <p:nvSpPr>
            <p:cNvPr id="6159" name="Line 17"/>
            <p:cNvSpPr>
              <a:spLocks noChangeShapeType="1"/>
            </p:cNvSpPr>
            <p:nvPr/>
          </p:nvSpPr>
          <p:spPr bwMode="auto">
            <a:xfrm flipH="1">
              <a:off x="4775" y="2241"/>
              <a:ext cx="84" cy="44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0" name="Line 18"/>
            <p:cNvSpPr>
              <a:spLocks noChangeShapeType="1"/>
            </p:cNvSpPr>
            <p:nvPr/>
          </p:nvSpPr>
          <p:spPr bwMode="auto">
            <a:xfrm flipV="1">
              <a:off x="4202" y="2592"/>
              <a:ext cx="303" cy="303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1" name="Line 19"/>
            <p:cNvSpPr>
              <a:spLocks noChangeShapeType="1"/>
            </p:cNvSpPr>
            <p:nvPr/>
          </p:nvSpPr>
          <p:spPr bwMode="auto">
            <a:xfrm>
              <a:off x="4395" y="2132"/>
              <a:ext cx="0" cy="38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2" name="Line 20"/>
            <p:cNvSpPr>
              <a:spLocks noChangeShapeType="1"/>
            </p:cNvSpPr>
            <p:nvPr/>
          </p:nvSpPr>
          <p:spPr bwMode="auto">
            <a:xfrm flipV="1">
              <a:off x="4577" y="2685"/>
              <a:ext cx="198" cy="21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3" name="Line 21"/>
            <p:cNvSpPr>
              <a:spLocks noChangeShapeType="1"/>
            </p:cNvSpPr>
            <p:nvPr/>
          </p:nvSpPr>
          <p:spPr bwMode="auto">
            <a:xfrm flipV="1">
              <a:off x="4395" y="2132"/>
              <a:ext cx="220" cy="23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382" name="Freeform 22"/>
            <p:cNvSpPr>
              <a:spLocks/>
            </p:cNvSpPr>
            <p:nvPr/>
          </p:nvSpPr>
          <p:spPr bwMode="auto">
            <a:xfrm>
              <a:off x="4581" y="2132"/>
              <a:ext cx="390" cy="764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90" y="0"/>
                </a:cxn>
                <a:cxn ang="0">
                  <a:pos x="390" y="574"/>
                </a:cxn>
                <a:cxn ang="0">
                  <a:pos x="200" y="764"/>
                </a:cxn>
                <a:cxn ang="0">
                  <a:pos x="0" y="764"/>
                </a:cxn>
                <a:cxn ang="0">
                  <a:pos x="200" y="552"/>
                </a:cxn>
                <a:cxn ang="0">
                  <a:pos x="284" y="108"/>
                </a:cxn>
                <a:cxn ang="0">
                  <a:pos x="38" y="0"/>
                </a:cxn>
              </a:cxnLst>
              <a:rect l="0" t="0" r="r" b="b"/>
              <a:pathLst>
                <a:path w="390" h="764">
                  <a:moveTo>
                    <a:pt x="38" y="0"/>
                  </a:moveTo>
                  <a:lnTo>
                    <a:pt x="390" y="0"/>
                  </a:lnTo>
                  <a:lnTo>
                    <a:pt x="390" y="574"/>
                  </a:lnTo>
                  <a:lnTo>
                    <a:pt x="200" y="764"/>
                  </a:lnTo>
                  <a:lnTo>
                    <a:pt x="0" y="764"/>
                  </a:lnTo>
                  <a:lnTo>
                    <a:pt x="200" y="552"/>
                  </a:lnTo>
                  <a:lnTo>
                    <a:pt x="284" y="108"/>
                  </a:lnTo>
                  <a:lnTo>
                    <a:pt x="38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165" name="Freeform 23"/>
            <p:cNvSpPr>
              <a:spLocks/>
            </p:cNvSpPr>
            <p:nvPr/>
          </p:nvSpPr>
          <p:spPr bwMode="auto">
            <a:xfrm>
              <a:off x="4323" y="2132"/>
              <a:ext cx="542" cy="766"/>
            </a:xfrm>
            <a:custGeom>
              <a:avLst/>
              <a:gdLst>
                <a:gd name="T0" fmla="*/ 78 w 542"/>
                <a:gd name="T1" fmla="*/ 234 h 766"/>
                <a:gd name="T2" fmla="*/ 298 w 542"/>
                <a:gd name="T3" fmla="*/ 0 h 766"/>
                <a:gd name="T4" fmla="*/ 542 w 542"/>
                <a:gd name="T5" fmla="*/ 108 h 766"/>
                <a:gd name="T6" fmla="*/ 458 w 542"/>
                <a:gd name="T7" fmla="*/ 552 h 766"/>
                <a:gd name="T8" fmla="*/ 258 w 542"/>
                <a:gd name="T9" fmla="*/ 766 h 766"/>
                <a:gd name="T10" fmla="*/ 0 w 542"/>
                <a:gd name="T11" fmla="*/ 650 h 766"/>
                <a:gd name="T12" fmla="*/ 78 w 542"/>
                <a:gd name="T13" fmla="*/ 234 h 7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42"/>
                <a:gd name="T22" fmla="*/ 0 h 766"/>
                <a:gd name="T23" fmla="*/ 542 w 542"/>
                <a:gd name="T24" fmla="*/ 766 h 76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42" h="766">
                  <a:moveTo>
                    <a:pt x="78" y="234"/>
                  </a:moveTo>
                  <a:lnTo>
                    <a:pt x="298" y="0"/>
                  </a:lnTo>
                  <a:lnTo>
                    <a:pt x="542" y="108"/>
                  </a:lnTo>
                  <a:lnTo>
                    <a:pt x="458" y="552"/>
                  </a:lnTo>
                  <a:lnTo>
                    <a:pt x="258" y="766"/>
                  </a:lnTo>
                  <a:lnTo>
                    <a:pt x="0" y="650"/>
                  </a:lnTo>
                  <a:lnTo>
                    <a:pt x="78" y="234"/>
                  </a:lnTo>
                  <a:close/>
                </a:path>
              </a:pathLst>
            </a:custGeom>
            <a:solidFill>
              <a:srgbClr val="8969FD"/>
            </a:solidFill>
            <a:ln w="95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6" name="Line 24"/>
            <p:cNvSpPr>
              <a:spLocks noChangeShapeType="1"/>
            </p:cNvSpPr>
            <p:nvPr/>
          </p:nvSpPr>
          <p:spPr bwMode="auto">
            <a:xfrm flipV="1">
              <a:off x="4775" y="2684"/>
              <a:ext cx="0" cy="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7" name="Line 25"/>
            <p:cNvSpPr>
              <a:spLocks noChangeShapeType="1"/>
            </p:cNvSpPr>
            <p:nvPr/>
          </p:nvSpPr>
          <p:spPr bwMode="auto">
            <a:xfrm flipH="1">
              <a:off x="4859" y="2132"/>
              <a:ext cx="106" cy="1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68" name="AutoShape 26"/>
            <p:cNvSpPr>
              <a:spLocks noChangeArrowheads="1"/>
            </p:cNvSpPr>
            <p:nvPr/>
          </p:nvSpPr>
          <p:spPr bwMode="auto">
            <a:xfrm>
              <a:off x="4201" y="2132"/>
              <a:ext cx="765" cy="765"/>
            </a:xfrm>
            <a:prstGeom prst="cube">
              <a:avLst>
                <a:gd name="adj" fmla="val 25000"/>
              </a:avLst>
            </a:prstGeom>
            <a:noFill/>
            <a:ln w="3175">
              <a:solidFill>
                <a:schemeClr val="tx1"/>
              </a:solidFill>
              <a:miter lim="800000"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</p:grpSp>
      <p:grpSp>
        <p:nvGrpSpPr>
          <p:cNvPr id="19" name="Group 27"/>
          <p:cNvGrpSpPr>
            <a:grpSpLocks/>
          </p:cNvGrpSpPr>
          <p:nvPr/>
        </p:nvGrpSpPr>
        <p:grpSpPr bwMode="auto">
          <a:xfrm>
            <a:off x="2458811" y="1718841"/>
            <a:ext cx="1216025" cy="1220788"/>
            <a:chOff x="633" y="2862"/>
            <a:chExt cx="766" cy="769"/>
          </a:xfrm>
        </p:grpSpPr>
        <p:sp>
          <p:nvSpPr>
            <p:cNvPr id="143388" name="Freeform 28"/>
            <p:cNvSpPr>
              <a:spLocks/>
            </p:cNvSpPr>
            <p:nvPr/>
          </p:nvSpPr>
          <p:spPr bwMode="auto">
            <a:xfrm>
              <a:off x="633" y="2862"/>
              <a:ext cx="765" cy="768"/>
            </a:xfrm>
            <a:custGeom>
              <a:avLst/>
              <a:gdLst/>
              <a:ahLst/>
              <a:cxnLst>
                <a:cxn ang="0">
                  <a:pos x="0" y="768"/>
                </a:cxn>
                <a:cxn ang="0">
                  <a:pos x="0" y="192"/>
                </a:cxn>
                <a:cxn ang="0">
                  <a:pos x="192" y="0"/>
                </a:cxn>
                <a:cxn ang="0">
                  <a:pos x="765" y="0"/>
                </a:cxn>
                <a:cxn ang="0">
                  <a:pos x="765" y="579"/>
                </a:cxn>
                <a:cxn ang="0">
                  <a:pos x="576" y="768"/>
                </a:cxn>
                <a:cxn ang="0">
                  <a:pos x="0" y="768"/>
                </a:cxn>
              </a:cxnLst>
              <a:rect l="0" t="0" r="r" b="b"/>
              <a:pathLst>
                <a:path w="765" h="768">
                  <a:moveTo>
                    <a:pt x="0" y="768"/>
                  </a:moveTo>
                  <a:lnTo>
                    <a:pt x="0" y="192"/>
                  </a:lnTo>
                  <a:lnTo>
                    <a:pt x="192" y="0"/>
                  </a:lnTo>
                  <a:lnTo>
                    <a:pt x="765" y="0"/>
                  </a:lnTo>
                  <a:lnTo>
                    <a:pt x="765" y="579"/>
                  </a:lnTo>
                  <a:lnTo>
                    <a:pt x="576" y="768"/>
                  </a:lnTo>
                  <a:lnTo>
                    <a:pt x="0" y="768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ffectLst/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154" name="Line 29"/>
            <p:cNvSpPr>
              <a:spLocks noChangeShapeType="1"/>
            </p:cNvSpPr>
            <p:nvPr/>
          </p:nvSpPr>
          <p:spPr bwMode="auto">
            <a:xfrm>
              <a:off x="633" y="3054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5" name="Line 30"/>
            <p:cNvSpPr>
              <a:spLocks noChangeShapeType="1"/>
            </p:cNvSpPr>
            <p:nvPr/>
          </p:nvSpPr>
          <p:spPr bwMode="auto">
            <a:xfrm flipH="1">
              <a:off x="1303" y="2864"/>
              <a:ext cx="95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6" name="Line 31"/>
            <p:cNvSpPr>
              <a:spLocks noChangeShapeType="1"/>
            </p:cNvSpPr>
            <p:nvPr/>
          </p:nvSpPr>
          <p:spPr bwMode="auto">
            <a:xfrm flipV="1">
              <a:off x="1208" y="3336"/>
              <a:ext cx="0" cy="2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7" name="Freeform 32"/>
            <p:cNvSpPr>
              <a:spLocks/>
            </p:cNvSpPr>
            <p:nvPr/>
          </p:nvSpPr>
          <p:spPr bwMode="auto">
            <a:xfrm>
              <a:off x="800" y="2942"/>
              <a:ext cx="522" cy="428"/>
            </a:xfrm>
            <a:custGeom>
              <a:avLst/>
              <a:gdLst>
                <a:gd name="T0" fmla="*/ 0 w 522"/>
                <a:gd name="T1" fmla="*/ 112 h 428"/>
                <a:gd name="T2" fmla="*/ 522 w 522"/>
                <a:gd name="T3" fmla="*/ 0 h 428"/>
                <a:gd name="T4" fmla="*/ 408 w 522"/>
                <a:gd name="T5" fmla="*/ 428 h 428"/>
                <a:gd name="T6" fmla="*/ 0 w 522"/>
                <a:gd name="T7" fmla="*/ 112 h 4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2"/>
                <a:gd name="T13" fmla="*/ 0 h 428"/>
                <a:gd name="T14" fmla="*/ 522 w 522"/>
                <a:gd name="T15" fmla="*/ 428 h 4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2" h="428">
                  <a:moveTo>
                    <a:pt x="0" y="112"/>
                  </a:moveTo>
                  <a:lnTo>
                    <a:pt x="522" y="0"/>
                  </a:lnTo>
                  <a:lnTo>
                    <a:pt x="408" y="428"/>
                  </a:lnTo>
                  <a:lnTo>
                    <a:pt x="0" y="112"/>
                  </a:lnTo>
                  <a:close/>
                </a:path>
              </a:pathLst>
            </a:custGeom>
            <a:solidFill>
              <a:srgbClr val="8969FD"/>
            </a:solidFill>
            <a:ln w="9525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58" name="AutoShape 33"/>
            <p:cNvSpPr>
              <a:spLocks noChangeArrowheads="1"/>
            </p:cNvSpPr>
            <p:nvPr/>
          </p:nvSpPr>
          <p:spPr bwMode="auto">
            <a:xfrm>
              <a:off x="634" y="2863"/>
              <a:ext cx="765" cy="768"/>
            </a:xfrm>
            <a:prstGeom prst="cube">
              <a:avLst>
                <a:gd name="adj" fmla="val 25000"/>
              </a:avLst>
            </a:prstGeom>
            <a:noFill/>
            <a:ln w="3175">
              <a:solidFill>
                <a:schemeClr val="tx1"/>
              </a:solidFill>
              <a:miter lim="800000"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</p:grpSp>
      <p:sp>
        <p:nvSpPr>
          <p:cNvPr id="143395" name="Text Box 35"/>
          <p:cNvSpPr txBox="1">
            <a:spLocks noChangeArrowheads="1"/>
          </p:cNvSpPr>
          <p:nvPr/>
        </p:nvSpPr>
        <p:spPr bwMode="auto">
          <a:xfrm>
            <a:off x="1612696" y="3544255"/>
            <a:ext cx="5918608" cy="2212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marL="342900" indent="-342900"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lvl="1" eaLnBrk="1" hangingPunct="1"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</a:pPr>
            <a:r>
              <a: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平面立体的 </a:t>
            </a:r>
            <a:r>
              <a:rPr lang="zh-CN" altLang="en-US" sz="24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截交线</a:t>
            </a:r>
            <a:r>
              <a: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的性质：</a:t>
            </a:r>
          </a:p>
          <a:p>
            <a:pPr marL="914400" lvl="1" indent="-45720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封闭平面多边形</a:t>
            </a:r>
          </a:p>
          <a:p>
            <a:pPr marL="914400" lvl="1" indent="-45720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多边形的边数 </a:t>
            </a:r>
            <a:r>
              <a:rPr lang="en-US" altLang="zh-CN" sz="24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切到立体的面数</a:t>
            </a:r>
          </a:p>
          <a:p>
            <a:pPr marL="914400" lvl="1" indent="-457200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多边形的顶点数 </a:t>
            </a:r>
            <a:r>
              <a:rPr lang="en-US" altLang="zh-CN" sz="24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切到立体的棱数</a:t>
            </a:r>
          </a:p>
        </p:txBody>
      </p:sp>
      <p:sp>
        <p:nvSpPr>
          <p:cNvPr id="2" name="立方体 1">
            <a:extLst>
              <a:ext uri="{FF2B5EF4-FFF2-40B4-BE49-F238E27FC236}">
                <a16:creationId xmlns:a16="http://schemas.microsoft.com/office/drawing/2014/main" id="{0EF93B4F-85B2-48C9-79E6-CB50EBC72DD4}"/>
              </a:ext>
            </a:extLst>
          </p:cNvPr>
          <p:cNvSpPr/>
          <p:nvPr/>
        </p:nvSpPr>
        <p:spPr>
          <a:xfrm>
            <a:off x="433636" y="1718841"/>
            <a:ext cx="1368152" cy="1209675"/>
          </a:xfrm>
          <a:prstGeom prst="cube">
            <a:avLst>
              <a:gd name="adj" fmla="val 275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079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3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3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3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3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8ABF2-DA48-13DF-DAB4-D7CCF7FA2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9D9804BE-B021-5BC0-086E-53164560E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9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E11A1BA1-85DE-C422-8037-31B7D6339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平面与平面体相交</a:t>
            </a:r>
          </a:p>
        </p:txBody>
      </p:sp>
      <p:sp>
        <p:nvSpPr>
          <p:cNvPr id="2" name="Text Box 35">
            <a:extLst>
              <a:ext uri="{FF2B5EF4-FFF2-40B4-BE49-F238E27FC236}">
                <a16:creationId xmlns:a16="http://schemas.microsoft.com/office/drawing/2014/main" id="{476129A3-2A73-BD62-4762-F3D8301B9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850" y="1185817"/>
            <a:ext cx="36583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(1) </a:t>
            </a:r>
            <a:r>
              <a: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求截交线的两种方法</a:t>
            </a:r>
          </a:p>
        </p:txBody>
      </p:sp>
      <p:sp>
        <p:nvSpPr>
          <p:cNvPr id="3" name="Text Box 36">
            <a:extLst>
              <a:ext uri="{FF2B5EF4-FFF2-40B4-BE49-F238E27FC236}">
                <a16:creationId xmlns:a16="http://schemas.microsoft.com/office/drawing/2014/main" id="{A89424CA-66B1-9181-6171-F94DEC15A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636" y="1675486"/>
            <a:ext cx="365356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 求各棱线与截平面的交点</a:t>
            </a:r>
          </a:p>
        </p:txBody>
      </p:sp>
      <p:sp>
        <p:nvSpPr>
          <p:cNvPr id="4" name="Text Box 37">
            <a:extLst>
              <a:ext uri="{FF2B5EF4-FFF2-40B4-BE49-F238E27FC236}">
                <a16:creationId xmlns:a16="http://schemas.microsoft.com/office/drawing/2014/main" id="{4D0E0A9F-51CC-F9D4-1DD8-7CD0B13A0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636" y="2121194"/>
            <a:ext cx="365356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 求各棱面与截平面的交线</a:t>
            </a:r>
            <a:endParaRPr lang="zh-CN" altLang="en-US" sz="2200" i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38">
            <a:extLst>
              <a:ext uri="{FF2B5EF4-FFF2-40B4-BE49-F238E27FC236}">
                <a16:creationId xmlns:a16="http://schemas.microsoft.com/office/drawing/2014/main" id="{C5A42EE1-0C55-DC60-EB9E-B7C04E60C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8899" y="1660097"/>
            <a:ext cx="15071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zh-CN" altLang="en-US" sz="24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棱线法</a:t>
            </a:r>
          </a:p>
        </p:txBody>
      </p:sp>
      <p:sp>
        <p:nvSpPr>
          <p:cNvPr id="6" name="Text Box 39">
            <a:extLst>
              <a:ext uri="{FF2B5EF4-FFF2-40B4-BE49-F238E27FC236}">
                <a16:creationId xmlns:a16="http://schemas.microsoft.com/office/drawing/2014/main" id="{A311BC37-CABA-3297-F167-A899F5BDA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6362" y="2105805"/>
            <a:ext cx="15071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zh-CN" altLang="en-US" sz="24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棱面法</a:t>
            </a:r>
          </a:p>
        </p:txBody>
      </p:sp>
      <p:sp>
        <p:nvSpPr>
          <p:cNvPr id="7" name="Text Box 40">
            <a:extLst>
              <a:ext uri="{FF2B5EF4-FFF2-40B4-BE49-F238E27FC236}">
                <a16:creationId xmlns:a16="http://schemas.microsoft.com/office/drawing/2014/main" id="{060CF5D5-E81C-C5F4-BE1C-DAA8B9B19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377" y="3851139"/>
            <a:ext cx="431560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立体形状、截切位置 </a:t>
            </a:r>
            <a:r>
              <a:rPr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 截交线形状</a:t>
            </a:r>
          </a:p>
        </p:txBody>
      </p:sp>
      <p:sp>
        <p:nvSpPr>
          <p:cNvPr id="8" name="Text Box 41">
            <a:extLst>
              <a:ext uri="{FF2B5EF4-FFF2-40B4-BE49-F238E27FC236}">
                <a16:creationId xmlns:a16="http://schemas.microsoft.com/office/drawing/2014/main" id="{A96482F6-DFD1-03E0-9640-D74C3A757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377" y="4405176"/>
            <a:ext cx="586410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截平面与投影面的相对位置 </a:t>
            </a:r>
            <a:r>
              <a:rPr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 截交线的投影特性</a:t>
            </a:r>
          </a:p>
        </p:txBody>
      </p:sp>
      <p:sp>
        <p:nvSpPr>
          <p:cNvPr id="9" name="Text Box 42">
            <a:extLst>
              <a:ext uri="{FF2B5EF4-FFF2-40B4-BE49-F238E27FC236}">
                <a16:creationId xmlns:a16="http://schemas.microsoft.com/office/drawing/2014/main" id="{902FD523-569A-6A17-14D3-6C1AB47E5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672" y="3848258"/>
            <a:ext cx="15199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</a:p>
        </p:txBody>
      </p:sp>
      <p:sp>
        <p:nvSpPr>
          <p:cNvPr id="10" name="Text Box 43">
            <a:extLst>
              <a:ext uri="{FF2B5EF4-FFF2-40B4-BE49-F238E27FC236}">
                <a16:creationId xmlns:a16="http://schemas.microsoft.com/office/drawing/2014/main" id="{AE000B4D-95CB-EABD-8529-79929EAF3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4995726"/>
            <a:ext cx="15199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20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投影作图</a:t>
            </a:r>
          </a:p>
        </p:txBody>
      </p:sp>
      <p:sp>
        <p:nvSpPr>
          <p:cNvPr id="12" name="Text Box 44">
            <a:extLst>
              <a:ext uri="{FF2B5EF4-FFF2-40B4-BE49-F238E27FC236}">
                <a16:creationId xmlns:a16="http://schemas.microsoft.com/office/drawing/2014/main" id="{B9DAD849-24C1-697A-155E-DC4005ACB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377" y="5009456"/>
            <a:ext cx="590802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求出截平面与棱面的交线，或与棱线的交点，连接成多边形，即为截断面的形状。</a:t>
            </a:r>
          </a:p>
        </p:txBody>
      </p:sp>
      <p:sp>
        <p:nvSpPr>
          <p:cNvPr id="13" name="Text Box 45">
            <a:extLst>
              <a:ext uri="{FF2B5EF4-FFF2-40B4-BE49-F238E27FC236}">
                <a16:creationId xmlns:a16="http://schemas.microsoft.com/office/drawing/2014/main" id="{197EEC2A-D633-ED91-1D39-B3B3F391D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447" y="4405176"/>
            <a:ext cx="15199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0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投影分析</a:t>
            </a:r>
          </a:p>
        </p:txBody>
      </p:sp>
      <p:sp>
        <p:nvSpPr>
          <p:cNvPr id="14" name="Text Box 47">
            <a:extLst>
              <a:ext uri="{FF2B5EF4-FFF2-40B4-BE49-F238E27FC236}">
                <a16:creationId xmlns:a16="http://schemas.microsoft.com/office/drawing/2014/main" id="{28372680-1C00-FC53-1C02-5DBAF9B4A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744" y="5811902"/>
            <a:ext cx="274947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补全视图，判断可见性</a:t>
            </a:r>
          </a:p>
        </p:txBody>
      </p:sp>
      <p:sp>
        <p:nvSpPr>
          <p:cNvPr id="15" name="Text Box 41">
            <a:extLst>
              <a:ext uri="{FF2B5EF4-FFF2-40B4-BE49-F238E27FC236}">
                <a16:creationId xmlns:a16="http://schemas.microsoft.com/office/drawing/2014/main" id="{D0C53367-FC47-2D1B-FBAD-CB8946E0DD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4377" y="3315932"/>
            <a:ext cx="56044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根据已知条件，确定基本体形状和截平面位置。</a:t>
            </a:r>
            <a:endParaRPr lang="zh-CN" altLang="en-US" sz="20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45">
            <a:extLst>
              <a:ext uri="{FF2B5EF4-FFF2-40B4-BE49-F238E27FC236}">
                <a16:creationId xmlns:a16="http://schemas.microsoft.com/office/drawing/2014/main" id="{C0F0DBE5-21DD-CA6E-6C3E-B632083AB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68" y="3314246"/>
            <a:ext cx="15199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i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投影分析</a:t>
            </a:r>
          </a:p>
        </p:txBody>
      </p:sp>
      <p:sp>
        <p:nvSpPr>
          <p:cNvPr id="17" name="Text Box 35">
            <a:extLst>
              <a:ext uri="{FF2B5EF4-FFF2-40B4-BE49-F238E27FC236}">
                <a16:creationId xmlns:a16="http://schemas.microsoft.com/office/drawing/2014/main" id="{EF638C8E-EEE2-0E4E-B355-9B907D642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000" y="2777288"/>
            <a:ext cx="30428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(2) </a:t>
            </a:r>
            <a:r>
              <a: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求截交线的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endParaRPr lang="zh-CN" altLang="en-US" sz="2400" b="1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8924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utoUpdateAnimBg="0"/>
      <p:bldP spid="6" grpId="0" autoUpdateAnimBg="0"/>
      <p:bldP spid="7" grpId="0"/>
      <p:bldP spid="8" grpId="0"/>
      <p:bldP spid="9" grpId="0"/>
      <p:bldP spid="10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15433-7A35-45F8-3AA0-F63A09E8D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02238BD3-6A20-4FBB-7623-C3641D34D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10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F2FB37F4-81EB-5264-1350-E8EC47B16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平面与平面体相交</a:t>
            </a:r>
          </a:p>
        </p:txBody>
      </p:sp>
      <p:sp>
        <p:nvSpPr>
          <p:cNvPr id="4" name="Text Box 127">
            <a:extLst>
              <a:ext uri="{FF2B5EF4-FFF2-40B4-BE49-F238E27FC236}">
                <a16:creationId xmlns:a16="http://schemas.microsoft.com/office/drawing/2014/main" id="{B4624CEB-066C-EC93-1AAF-9D4532993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3573016"/>
            <a:ext cx="147508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2400" b="1">
                <a:latin typeface="黑体" pitchFamily="2" charset="-122"/>
                <a:ea typeface="黑体" pitchFamily="2" charset="-122"/>
              </a:defRPr>
            </a:lvl1pPr>
          </a:lstStyle>
          <a:p>
            <a:r>
              <a:rPr lang="zh-CN" altLang="en-US" sz="2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作图步骤：</a:t>
            </a:r>
          </a:p>
        </p:txBody>
      </p:sp>
      <p:sp>
        <p:nvSpPr>
          <p:cNvPr id="5" name="Text Box 128">
            <a:extLst>
              <a:ext uri="{FF2B5EF4-FFF2-40B4-BE49-F238E27FC236}">
                <a16:creationId xmlns:a16="http://schemas.microsoft.com/office/drawing/2014/main" id="{DC39989B-2DE0-02C6-7A69-537B10AAB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197" y="3945250"/>
            <a:ext cx="391668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000" b="1">
                <a:latin typeface="黑体" pitchFamily="2" charset="-122"/>
                <a:ea typeface="黑体" pitchFamily="2" charset="-122"/>
              </a:defRPr>
            </a:lvl1pPr>
          </a:lstStyle>
          <a:p>
            <a:pPr algn="just"/>
            <a:r>
              <a:rPr lang="zh-CN" altLang="en-US" b="0" dirty="0"/>
              <a:t>* 利用主视图中截平面的积聚性，找出截交线</a:t>
            </a:r>
            <a:r>
              <a:rPr lang="en-US" altLang="zh-CN" b="0" dirty="0"/>
              <a:t>4</a:t>
            </a:r>
            <a:r>
              <a:rPr lang="zh-CN" altLang="en-US" b="0" dirty="0"/>
              <a:t>个顶点的正面投影：</a:t>
            </a:r>
          </a:p>
        </p:txBody>
      </p:sp>
      <p:sp>
        <p:nvSpPr>
          <p:cNvPr id="6" name="Text Box 130">
            <a:extLst>
              <a:ext uri="{FF2B5EF4-FFF2-40B4-BE49-F238E27FC236}">
                <a16:creationId xmlns:a16="http://schemas.microsoft.com/office/drawing/2014/main" id="{FBBDA1DE-41F8-23CD-5B61-BF6EF3099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196" y="4653136"/>
            <a:ext cx="401957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000" b="1">
                <a:latin typeface="黑体" pitchFamily="2" charset="-122"/>
                <a:ea typeface="黑体" pitchFamily="2" charset="-122"/>
              </a:defRPr>
            </a:lvl1pPr>
          </a:lstStyle>
          <a:p>
            <a:pPr algn="just"/>
            <a:r>
              <a:rPr lang="en-US" altLang="zh-CN" b="0" dirty="0"/>
              <a:t>* </a:t>
            </a:r>
            <a:r>
              <a:rPr lang="zh-CN" altLang="en-US" b="0" dirty="0"/>
              <a:t>利用“三等”关系，在棱线上作出截交线顶点的侧面和水平投影；</a:t>
            </a:r>
          </a:p>
        </p:txBody>
      </p:sp>
      <p:sp>
        <p:nvSpPr>
          <p:cNvPr id="7" name="Text Box 131">
            <a:extLst>
              <a:ext uri="{FF2B5EF4-FFF2-40B4-BE49-F238E27FC236}">
                <a16:creationId xmlns:a16="http://schemas.microsoft.com/office/drawing/2014/main" id="{97F01669-C5EC-4AC8-DE4C-125269767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196" y="5373216"/>
            <a:ext cx="40318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2000" b="1">
                <a:latin typeface="黑体" pitchFamily="2" charset="-122"/>
                <a:ea typeface="黑体" pitchFamily="2" charset="-122"/>
              </a:defRPr>
            </a:lvl1pPr>
          </a:lstStyle>
          <a:p>
            <a:r>
              <a:rPr lang="zh-CN" altLang="en-US" b="0" dirty="0"/>
              <a:t>* 顺序连接各顶点，画出截交线；</a:t>
            </a:r>
          </a:p>
        </p:txBody>
      </p:sp>
      <p:sp>
        <p:nvSpPr>
          <p:cNvPr id="8" name="Line 14">
            <a:extLst>
              <a:ext uri="{FF2B5EF4-FFF2-40B4-BE49-F238E27FC236}">
                <a16:creationId xmlns:a16="http://schemas.microsoft.com/office/drawing/2014/main" id="{30A56453-3500-A8D5-F4FE-B5A727BF00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3364" y="4136249"/>
            <a:ext cx="6762" cy="2088233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9" name="Line 16">
            <a:extLst>
              <a:ext uri="{FF2B5EF4-FFF2-40B4-BE49-F238E27FC236}">
                <a16:creationId xmlns:a16="http://schemas.microsoft.com/office/drawing/2014/main" id="{B8AD1CD4-B841-1131-4F96-E14F32AE355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6227" y="2403406"/>
            <a:ext cx="2029235" cy="1112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0" name="Line 17">
            <a:extLst>
              <a:ext uri="{FF2B5EF4-FFF2-40B4-BE49-F238E27FC236}">
                <a16:creationId xmlns:a16="http://schemas.microsoft.com/office/drawing/2014/main" id="{BC1596CD-AA0D-CF2A-BDE8-6BBD2737A9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2900" y="2796276"/>
            <a:ext cx="2766762" cy="0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" name="Line 18">
            <a:extLst>
              <a:ext uri="{FF2B5EF4-FFF2-40B4-BE49-F238E27FC236}">
                <a16:creationId xmlns:a16="http://schemas.microsoft.com/office/drawing/2014/main" id="{0FAB94F6-27DC-7E76-2698-722D3AE8B6E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55756" y="2534309"/>
            <a:ext cx="2648747" cy="821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13" name="Group 23">
            <a:extLst>
              <a:ext uri="{FF2B5EF4-FFF2-40B4-BE49-F238E27FC236}">
                <a16:creationId xmlns:a16="http://schemas.microsoft.com/office/drawing/2014/main" id="{59CE4D15-388D-9E40-D052-DB87F31FF406}"/>
              </a:ext>
            </a:extLst>
          </p:cNvPr>
          <p:cNvGrpSpPr>
            <a:grpSpLocks/>
          </p:cNvGrpSpPr>
          <p:nvPr/>
        </p:nvGrpSpPr>
        <p:grpSpPr bwMode="auto">
          <a:xfrm>
            <a:off x="5637149" y="2534836"/>
            <a:ext cx="2662238" cy="2978151"/>
            <a:chOff x="1325" y="974"/>
            <a:chExt cx="1677" cy="1876"/>
          </a:xfrm>
        </p:grpSpPr>
        <p:sp>
          <p:nvSpPr>
            <p:cNvPr id="14" name="Line 24">
              <a:extLst>
                <a:ext uri="{FF2B5EF4-FFF2-40B4-BE49-F238E27FC236}">
                  <a16:creationId xmlns:a16="http://schemas.microsoft.com/office/drawing/2014/main" id="{AD4DF5D1-29BC-3581-D68B-389CBE741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1" y="974"/>
              <a:ext cx="211" cy="0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25">
              <a:extLst>
                <a:ext uri="{FF2B5EF4-FFF2-40B4-BE49-F238E27FC236}">
                  <a16:creationId xmlns:a16="http://schemas.microsoft.com/office/drawing/2014/main" id="{498BEEDA-D2B3-F340-EDB5-00F8B593542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225" y="2750"/>
              <a:ext cx="200" cy="0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6" name="Freeform 28">
            <a:extLst>
              <a:ext uri="{FF2B5EF4-FFF2-40B4-BE49-F238E27FC236}">
                <a16:creationId xmlns:a16="http://schemas.microsoft.com/office/drawing/2014/main" id="{0B6E477F-C905-A40D-4C0C-577F5EA4942B}"/>
              </a:ext>
            </a:extLst>
          </p:cNvPr>
          <p:cNvSpPr>
            <a:spLocks/>
          </p:cNvSpPr>
          <p:nvPr/>
        </p:nvSpPr>
        <p:spPr bwMode="auto">
          <a:xfrm flipV="1">
            <a:off x="4604903" y="5144362"/>
            <a:ext cx="2088232" cy="45719"/>
          </a:xfrm>
          <a:custGeom>
            <a:avLst/>
            <a:gdLst>
              <a:gd name="T0" fmla="*/ 0 w 1850"/>
              <a:gd name="T1" fmla="*/ 0 h 1"/>
              <a:gd name="T2" fmla="*/ 2147483647 w 1850"/>
              <a:gd name="T3" fmla="*/ 0 h 1"/>
              <a:gd name="T4" fmla="*/ 0 60000 65536"/>
              <a:gd name="T5" fmla="*/ 0 60000 65536"/>
              <a:gd name="T6" fmla="*/ 0 w 1850"/>
              <a:gd name="T7" fmla="*/ 0 h 1"/>
              <a:gd name="T8" fmla="*/ 1850 w 1850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50" h="1">
                <a:moveTo>
                  <a:pt x="0" y="0"/>
                </a:moveTo>
                <a:lnTo>
                  <a:pt x="1850" y="0"/>
                </a:lnTo>
              </a:path>
            </a:pathLst>
          </a:cu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7" name="Freeform 29">
            <a:extLst>
              <a:ext uri="{FF2B5EF4-FFF2-40B4-BE49-F238E27FC236}">
                <a16:creationId xmlns:a16="http://schemas.microsoft.com/office/drawing/2014/main" id="{95791BE1-E58E-4FEB-DEC5-926BCBC650A5}"/>
              </a:ext>
            </a:extLst>
          </p:cNvPr>
          <p:cNvSpPr>
            <a:spLocks/>
          </p:cNvSpPr>
          <p:nvPr/>
        </p:nvSpPr>
        <p:spPr bwMode="auto">
          <a:xfrm>
            <a:off x="4768400" y="4286684"/>
            <a:ext cx="877282" cy="903542"/>
          </a:xfrm>
          <a:custGeom>
            <a:avLst/>
            <a:gdLst>
              <a:gd name="T0" fmla="*/ 0 w 819"/>
              <a:gd name="T1" fmla="*/ 2147483647 h 819"/>
              <a:gd name="T2" fmla="*/ 2147483647 w 819"/>
              <a:gd name="T3" fmla="*/ 0 h 819"/>
              <a:gd name="T4" fmla="*/ 0 60000 65536"/>
              <a:gd name="T5" fmla="*/ 0 60000 65536"/>
              <a:gd name="T6" fmla="*/ 0 w 819"/>
              <a:gd name="T7" fmla="*/ 0 h 819"/>
              <a:gd name="T8" fmla="*/ 819 w 819"/>
              <a:gd name="T9" fmla="*/ 819 h 81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19" h="819">
                <a:moveTo>
                  <a:pt x="0" y="819"/>
                </a:moveTo>
                <a:lnTo>
                  <a:pt x="819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8" name="Freeform 30">
            <a:extLst>
              <a:ext uri="{FF2B5EF4-FFF2-40B4-BE49-F238E27FC236}">
                <a16:creationId xmlns:a16="http://schemas.microsoft.com/office/drawing/2014/main" id="{1D12E128-1F9A-F5FC-42CF-B1465B336C94}"/>
              </a:ext>
            </a:extLst>
          </p:cNvPr>
          <p:cNvSpPr>
            <a:spLocks/>
          </p:cNvSpPr>
          <p:nvPr/>
        </p:nvSpPr>
        <p:spPr bwMode="auto">
          <a:xfrm>
            <a:off x="5640126" y="5173388"/>
            <a:ext cx="919019" cy="897103"/>
          </a:xfrm>
          <a:custGeom>
            <a:avLst/>
            <a:gdLst>
              <a:gd name="T0" fmla="*/ 0 w 819"/>
              <a:gd name="T1" fmla="*/ 2147483647 h 819"/>
              <a:gd name="T2" fmla="*/ 2147483647 w 819"/>
              <a:gd name="T3" fmla="*/ 0 h 819"/>
              <a:gd name="T4" fmla="*/ 0 60000 65536"/>
              <a:gd name="T5" fmla="*/ 0 60000 65536"/>
              <a:gd name="T6" fmla="*/ 0 w 819"/>
              <a:gd name="T7" fmla="*/ 0 h 819"/>
              <a:gd name="T8" fmla="*/ 819 w 819"/>
              <a:gd name="T9" fmla="*/ 819 h 81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19" h="819">
                <a:moveTo>
                  <a:pt x="0" y="819"/>
                </a:moveTo>
                <a:lnTo>
                  <a:pt x="819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2DE84DF1-5342-D778-109B-B5B3AC9EF60E}"/>
              </a:ext>
            </a:extLst>
          </p:cNvPr>
          <p:cNvSpPr>
            <a:spLocks/>
          </p:cNvSpPr>
          <p:nvPr/>
        </p:nvSpPr>
        <p:spPr bwMode="auto">
          <a:xfrm>
            <a:off x="4768400" y="5173388"/>
            <a:ext cx="864963" cy="897103"/>
          </a:xfrm>
          <a:custGeom>
            <a:avLst/>
            <a:gdLst>
              <a:gd name="T0" fmla="*/ 0 w 819"/>
              <a:gd name="T1" fmla="*/ 0 h 819"/>
              <a:gd name="T2" fmla="*/ 2147483647 w 819"/>
              <a:gd name="T3" fmla="*/ 2147483647 h 819"/>
              <a:gd name="T4" fmla="*/ 0 60000 65536"/>
              <a:gd name="T5" fmla="*/ 0 60000 65536"/>
              <a:gd name="T6" fmla="*/ 0 w 819"/>
              <a:gd name="T7" fmla="*/ 0 h 819"/>
              <a:gd name="T8" fmla="*/ 819 w 819"/>
              <a:gd name="T9" fmla="*/ 819 h 81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19" h="819">
                <a:moveTo>
                  <a:pt x="0" y="0"/>
                </a:moveTo>
                <a:lnTo>
                  <a:pt x="819" y="819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0" name="Freeform 32">
            <a:extLst>
              <a:ext uri="{FF2B5EF4-FFF2-40B4-BE49-F238E27FC236}">
                <a16:creationId xmlns:a16="http://schemas.microsoft.com/office/drawing/2014/main" id="{418B7BF7-2C2F-2D99-0A8E-AC2D9F70005B}"/>
              </a:ext>
            </a:extLst>
          </p:cNvPr>
          <p:cNvSpPr>
            <a:spLocks/>
          </p:cNvSpPr>
          <p:nvPr/>
        </p:nvSpPr>
        <p:spPr bwMode="auto">
          <a:xfrm>
            <a:off x="5633364" y="4286684"/>
            <a:ext cx="919686" cy="886704"/>
          </a:xfrm>
          <a:custGeom>
            <a:avLst/>
            <a:gdLst>
              <a:gd name="T0" fmla="*/ 0 w 819"/>
              <a:gd name="T1" fmla="*/ 0 h 819"/>
              <a:gd name="T2" fmla="*/ 2147483647 w 819"/>
              <a:gd name="T3" fmla="*/ 2147483647 h 819"/>
              <a:gd name="T4" fmla="*/ 0 60000 65536"/>
              <a:gd name="T5" fmla="*/ 0 60000 65536"/>
              <a:gd name="T6" fmla="*/ 0 w 819"/>
              <a:gd name="T7" fmla="*/ 0 h 819"/>
              <a:gd name="T8" fmla="*/ 819 w 819"/>
              <a:gd name="T9" fmla="*/ 819 h 81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19" h="819">
                <a:moveTo>
                  <a:pt x="0" y="0"/>
                </a:moveTo>
                <a:lnTo>
                  <a:pt x="819" y="819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1" name="Line 33">
            <a:extLst>
              <a:ext uri="{FF2B5EF4-FFF2-40B4-BE49-F238E27FC236}">
                <a16:creationId xmlns:a16="http://schemas.microsoft.com/office/drawing/2014/main" id="{9B7D272F-14A6-8A06-1609-00B3E12410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52365" y="3647175"/>
            <a:ext cx="180678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2" name="Line 34">
            <a:extLst>
              <a:ext uri="{FF2B5EF4-FFF2-40B4-BE49-F238E27FC236}">
                <a16:creationId xmlns:a16="http://schemas.microsoft.com/office/drawing/2014/main" id="{2E6F5E9D-4B3F-D1B0-8DFD-C38B13F665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5205" y="1904100"/>
            <a:ext cx="929957" cy="1753808"/>
          </a:xfrm>
          <a:custGeom>
            <a:avLst/>
            <a:gdLst>
              <a:gd name="connsiteX0" fmla="*/ 0 w 935037"/>
              <a:gd name="connsiteY0" fmla="*/ 0 h 1766508"/>
              <a:gd name="connsiteX1" fmla="*/ 935037 w 935037"/>
              <a:gd name="connsiteY1" fmla="*/ 1766508 h 1766508"/>
              <a:gd name="connsiteX0" fmla="*/ 0 w 929957"/>
              <a:gd name="connsiteY0" fmla="*/ 0 h 1753808"/>
              <a:gd name="connsiteX1" fmla="*/ 929957 w 929957"/>
              <a:gd name="connsiteY1" fmla="*/ 1753808 h 1753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29957" h="1753808">
                <a:moveTo>
                  <a:pt x="0" y="0"/>
                </a:moveTo>
                <a:lnTo>
                  <a:pt x="929957" y="1753808"/>
                </a:lnTo>
              </a:path>
            </a:pathLst>
          </a:custGeom>
          <a:noFill/>
          <a:ln w="9525">
            <a:solidFill>
              <a:schemeClr val="tx1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3" name="Line 35">
            <a:extLst>
              <a:ext uri="{FF2B5EF4-FFF2-40B4-BE49-F238E27FC236}">
                <a16:creationId xmlns:a16="http://schemas.microsoft.com/office/drawing/2014/main" id="{61CB0114-13FE-7C1C-7288-ECA3B5EBF6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47952" y="1904100"/>
            <a:ext cx="896459" cy="1743075"/>
          </a:xfrm>
          <a:custGeom>
            <a:avLst/>
            <a:gdLst>
              <a:gd name="connsiteX0" fmla="*/ 0 w 904079"/>
              <a:gd name="connsiteY0" fmla="*/ 0 h 1755775"/>
              <a:gd name="connsiteX1" fmla="*/ 904079 w 904079"/>
              <a:gd name="connsiteY1" fmla="*/ 1755775 h 1755775"/>
              <a:gd name="connsiteX0" fmla="*/ 0 w 896459"/>
              <a:gd name="connsiteY0" fmla="*/ 0 h 1743075"/>
              <a:gd name="connsiteX1" fmla="*/ 896459 w 896459"/>
              <a:gd name="connsiteY1" fmla="*/ 1743075 h 1743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96459" h="1743075">
                <a:moveTo>
                  <a:pt x="0" y="0"/>
                </a:moveTo>
                <a:lnTo>
                  <a:pt x="896459" y="1743075"/>
                </a:lnTo>
              </a:path>
            </a:pathLst>
          </a:custGeom>
          <a:noFill/>
          <a:ln w="9525">
            <a:solidFill>
              <a:schemeClr val="tx1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4" name="Line 36">
            <a:extLst>
              <a:ext uri="{FF2B5EF4-FFF2-40B4-BE49-F238E27FC236}">
                <a16:creationId xmlns:a16="http://schemas.microsoft.com/office/drawing/2014/main" id="{25AD5E7E-8B43-690A-0A19-1A265C31D3B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3743" y="3657908"/>
            <a:ext cx="1800684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5" name="Line 37">
            <a:extLst>
              <a:ext uri="{FF2B5EF4-FFF2-40B4-BE49-F238E27FC236}">
                <a16:creationId xmlns:a16="http://schemas.microsoft.com/office/drawing/2014/main" id="{1A795F72-A9EA-B4A5-BAE3-33F38E353FC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90029" y="1874452"/>
            <a:ext cx="884869" cy="1773932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6" name="Line 38">
            <a:extLst>
              <a:ext uri="{FF2B5EF4-FFF2-40B4-BE49-F238E27FC236}">
                <a16:creationId xmlns:a16="http://schemas.microsoft.com/office/drawing/2014/main" id="{DD9B6B1D-C125-F49F-0EB9-A45CBF7ED1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4900" y="1874451"/>
            <a:ext cx="864127" cy="1773932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7" name="Freeform 39">
            <a:extLst>
              <a:ext uri="{FF2B5EF4-FFF2-40B4-BE49-F238E27FC236}">
                <a16:creationId xmlns:a16="http://schemas.microsoft.com/office/drawing/2014/main" id="{0B88BA2D-9712-3BAF-15D1-60627C6AF213}"/>
              </a:ext>
            </a:extLst>
          </p:cNvPr>
          <p:cNvSpPr>
            <a:spLocks/>
          </p:cNvSpPr>
          <p:nvPr/>
        </p:nvSpPr>
        <p:spPr bwMode="auto">
          <a:xfrm>
            <a:off x="4764128" y="2755001"/>
            <a:ext cx="446088" cy="892175"/>
          </a:xfrm>
          <a:custGeom>
            <a:avLst/>
            <a:gdLst>
              <a:gd name="T0" fmla="*/ 2147483647 w 307"/>
              <a:gd name="T1" fmla="*/ 0 h 615"/>
              <a:gd name="T2" fmla="*/ 0 w 307"/>
              <a:gd name="T3" fmla="*/ 2147483647 h 615"/>
              <a:gd name="T4" fmla="*/ 0 60000 65536"/>
              <a:gd name="T5" fmla="*/ 0 60000 65536"/>
              <a:gd name="T6" fmla="*/ 0 w 307"/>
              <a:gd name="T7" fmla="*/ 0 h 615"/>
              <a:gd name="T8" fmla="*/ 307 w 307"/>
              <a:gd name="T9" fmla="*/ 615 h 61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07" h="615">
                <a:moveTo>
                  <a:pt x="307" y="0"/>
                </a:moveTo>
                <a:lnTo>
                  <a:pt x="0" y="615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" name="Freeform 40">
            <a:extLst>
              <a:ext uri="{FF2B5EF4-FFF2-40B4-BE49-F238E27FC236}">
                <a16:creationId xmlns:a16="http://schemas.microsoft.com/office/drawing/2014/main" id="{ABE3BC0F-F0ED-6C2A-62DF-21624D1B3385}"/>
              </a:ext>
            </a:extLst>
          </p:cNvPr>
          <p:cNvSpPr>
            <a:spLocks/>
          </p:cNvSpPr>
          <p:nvPr/>
        </p:nvSpPr>
        <p:spPr bwMode="auto">
          <a:xfrm>
            <a:off x="5920572" y="2393025"/>
            <a:ext cx="638573" cy="1255359"/>
          </a:xfrm>
          <a:custGeom>
            <a:avLst/>
            <a:gdLst>
              <a:gd name="T0" fmla="*/ 0 w 662"/>
              <a:gd name="T1" fmla="*/ 0 h 1268"/>
              <a:gd name="T2" fmla="*/ 2147483647 w 662"/>
              <a:gd name="T3" fmla="*/ 2147483647 h 1268"/>
              <a:gd name="T4" fmla="*/ 0 60000 65536"/>
              <a:gd name="T5" fmla="*/ 0 60000 65536"/>
              <a:gd name="T6" fmla="*/ 0 w 662"/>
              <a:gd name="T7" fmla="*/ 0 h 1268"/>
              <a:gd name="T8" fmla="*/ 662 w 662"/>
              <a:gd name="T9" fmla="*/ 1268 h 126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62" h="1268">
                <a:moveTo>
                  <a:pt x="0" y="0"/>
                </a:moveTo>
                <a:lnTo>
                  <a:pt x="662" y="1268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9" name="Freeform 41">
            <a:extLst>
              <a:ext uri="{FF2B5EF4-FFF2-40B4-BE49-F238E27FC236}">
                <a16:creationId xmlns:a16="http://schemas.microsoft.com/office/drawing/2014/main" id="{1FADA202-2612-5986-B26E-782913D1E438}"/>
              </a:ext>
            </a:extLst>
          </p:cNvPr>
          <p:cNvSpPr>
            <a:spLocks/>
          </p:cNvSpPr>
          <p:nvPr/>
        </p:nvSpPr>
        <p:spPr bwMode="auto">
          <a:xfrm>
            <a:off x="5182737" y="2388289"/>
            <a:ext cx="743931" cy="396875"/>
          </a:xfrm>
          <a:custGeom>
            <a:avLst/>
            <a:gdLst>
              <a:gd name="T0" fmla="*/ 0 w 606"/>
              <a:gd name="T1" fmla="*/ 2147483647 h 622"/>
              <a:gd name="T2" fmla="*/ 2147483647 w 606"/>
              <a:gd name="T3" fmla="*/ 0 h 622"/>
              <a:gd name="T4" fmla="*/ 0 60000 65536"/>
              <a:gd name="T5" fmla="*/ 0 60000 65536"/>
              <a:gd name="T6" fmla="*/ 0 w 606"/>
              <a:gd name="T7" fmla="*/ 0 h 622"/>
              <a:gd name="T8" fmla="*/ 606 w 606"/>
              <a:gd name="T9" fmla="*/ 622 h 62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06" h="622">
                <a:moveTo>
                  <a:pt x="0" y="622"/>
                </a:moveTo>
                <a:lnTo>
                  <a:pt x="606" y="0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30" name="Line 42">
            <a:extLst>
              <a:ext uri="{FF2B5EF4-FFF2-40B4-BE49-F238E27FC236}">
                <a16:creationId xmlns:a16="http://schemas.microsoft.com/office/drawing/2014/main" id="{A12DC0EB-7F2C-CEC4-79DE-AA73E8E6963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2900" y="2754207"/>
            <a:ext cx="0" cy="2417763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1" name="Line 43">
            <a:extLst>
              <a:ext uri="{FF2B5EF4-FFF2-40B4-BE49-F238E27FC236}">
                <a16:creationId xmlns:a16="http://schemas.microsoft.com/office/drawing/2014/main" id="{8C04199D-7671-27D7-82B3-58AAB8915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4890" y="2426644"/>
            <a:ext cx="0" cy="2741226"/>
          </a:xfrm>
          <a:prstGeom prst="line">
            <a:avLst/>
          </a:prstGeom>
          <a:noFill/>
          <a:ln w="127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32" name="Text Box 44">
            <a:extLst>
              <a:ext uri="{FF2B5EF4-FFF2-40B4-BE49-F238E27FC236}">
                <a16:creationId xmlns:a16="http://schemas.microsoft.com/office/drawing/2014/main" id="{98081613-B2F0-0FC9-3BEC-CF9F1D1A3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3513" y="2596221"/>
            <a:ext cx="4460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defPPr>
              <a:defRPr lang="zh-CN"/>
            </a:defPPr>
            <a:lvl1pPr>
              <a:defRPr kumimoji="1" sz="2000" b="1" i="1">
                <a:latin typeface="ISOCP" panose="00000400000000000000" pitchFamily="2" charset="0"/>
                <a:ea typeface="宋体" charset="-122"/>
                <a:cs typeface="ISOCP" panose="00000400000000000000" pitchFamily="2" charset="0"/>
              </a:defRPr>
            </a:lvl1pPr>
            <a:lvl2pPr marL="742950" indent="-285750" eaLnBrk="0" hangingPunct="0">
              <a:defRPr sz="2400" i="1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 i="1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 i="1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 i="1"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9pPr>
          </a:lstStyle>
          <a:p>
            <a:r>
              <a:rPr lang="en-US" altLang="zh-CN" dirty="0"/>
              <a:t>3</a:t>
            </a:r>
            <a:r>
              <a:rPr lang="en-US" altLang="zh-CN" dirty="0">
                <a:sym typeface="Symbol" pitchFamily="18" charset="2"/>
              </a:rPr>
              <a:t></a:t>
            </a:r>
          </a:p>
        </p:txBody>
      </p:sp>
      <p:sp>
        <p:nvSpPr>
          <p:cNvPr id="33" name="Text Box 45">
            <a:extLst>
              <a:ext uri="{FF2B5EF4-FFF2-40B4-BE49-F238E27FC236}">
                <a16:creationId xmlns:a16="http://schemas.microsoft.com/office/drawing/2014/main" id="{9B706B55-1472-CA47-F175-2A8B93F8D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943" y="2450738"/>
            <a:ext cx="3786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1" sz="2000" b="1" i="1">
                <a:latin typeface="ISOCP" panose="00000400000000000000" pitchFamily="2" charset="0"/>
                <a:ea typeface="宋体" charset="-122"/>
                <a:cs typeface="ISOCP" panose="00000400000000000000" pitchFamily="2" charset="0"/>
              </a:defRPr>
            </a:lvl1pPr>
            <a:lvl2pPr marL="742950" indent="-285750" eaLnBrk="0" hangingPunct="0">
              <a:defRPr sz="2400" i="1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 i="1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 i="1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 i="1"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9pPr>
          </a:lstStyle>
          <a:p>
            <a:r>
              <a:rPr lang="en-US" altLang="zh-CN" dirty="0">
                <a:sym typeface="CommercialPi BT" pitchFamily="18" charset="2"/>
              </a:rPr>
              <a:t>2</a:t>
            </a:r>
            <a:r>
              <a:rPr lang="en-US" altLang="zh-CN" dirty="0">
                <a:sym typeface="Symbol" pitchFamily="18" charset="2"/>
              </a:rPr>
              <a:t></a:t>
            </a:r>
          </a:p>
        </p:txBody>
      </p:sp>
      <p:sp>
        <p:nvSpPr>
          <p:cNvPr id="34" name="Text Box 46">
            <a:extLst>
              <a:ext uri="{FF2B5EF4-FFF2-40B4-BE49-F238E27FC236}">
                <a16:creationId xmlns:a16="http://schemas.microsoft.com/office/drawing/2014/main" id="{D688EF0D-075C-D278-7848-6A4EF071A7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8155" y="2034950"/>
            <a:ext cx="5175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b="1" dirty="0">
                <a:latin typeface="ISOCP" panose="00000400000000000000" pitchFamily="2" charset="0"/>
                <a:cs typeface="ISOCP" panose="00000400000000000000" pitchFamily="2" charset="0"/>
              </a:rPr>
              <a:t>1</a:t>
            </a:r>
            <a:r>
              <a:rPr kumimoji="1" lang="en-US" altLang="zh-CN" sz="2000" b="1" dirty="0">
                <a:latin typeface="ISOCP" panose="00000400000000000000" pitchFamily="2" charset="0"/>
                <a:cs typeface="ISOCP" panose="00000400000000000000" pitchFamily="2" charset="0"/>
                <a:sym typeface="Symbol" pitchFamily="18" charset="2"/>
              </a:rPr>
              <a:t></a:t>
            </a:r>
            <a:endParaRPr kumimoji="1" lang="en-US" altLang="zh-CN" sz="2000" b="1" dirty="0">
              <a:latin typeface="ISOCP" panose="00000400000000000000" pitchFamily="2" charset="0"/>
              <a:cs typeface="ISOCP" panose="00000400000000000000" pitchFamily="2" charset="0"/>
            </a:endParaRPr>
          </a:p>
        </p:txBody>
      </p:sp>
      <p:sp>
        <p:nvSpPr>
          <p:cNvPr id="35" name="Text Box 47">
            <a:extLst>
              <a:ext uri="{FF2B5EF4-FFF2-40B4-BE49-F238E27FC236}">
                <a16:creationId xmlns:a16="http://schemas.microsoft.com/office/drawing/2014/main" id="{95C6523F-465E-E283-06D5-12450F60D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9214" y="2149632"/>
            <a:ext cx="53893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defPPr>
              <a:defRPr lang="zh-CN"/>
            </a:defPPr>
            <a:lvl1pPr>
              <a:defRPr kumimoji="1" sz="2000" b="1" i="1">
                <a:latin typeface="ISOCP" panose="00000400000000000000" pitchFamily="2" charset="0"/>
                <a:ea typeface="宋体" charset="-122"/>
                <a:cs typeface="ISOCP" panose="00000400000000000000" pitchFamily="2" charset="0"/>
              </a:defRPr>
            </a:lvl1pPr>
            <a:lvl2pPr marL="742950" indent="-285750" eaLnBrk="0" hangingPunct="0">
              <a:defRPr sz="2400" i="1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 i="1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 i="1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 i="1"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9pPr>
          </a:lstStyle>
          <a:p>
            <a:r>
              <a:rPr lang="en-US" altLang="zh-CN" dirty="0"/>
              <a:t>(4</a:t>
            </a:r>
            <a:r>
              <a:rPr lang="en-US" altLang="zh-CN" dirty="0">
                <a:sym typeface="Symbol" pitchFamily="18" charset="2"/>
              </a:rPr>
              <a:t></a:t>
            </a:r>
            <a:r>
              <a:rPr lang="en-US" altLang="zh-CN" dirty="0">
                <a:sym typeface="CommercialPi BT" pitchFamily="18" charset="2"/>
              </a:rPr>
              <a:t>)</a:t>
            </a:r>
          </a:p>
        </p:txBody>
      </p:sp>
      <p:sp>
        <p:nvSpPr>
          <p:cNvPr id="36" name="Text Box 49">
            <a:extLst>
              <a:ext uri="{FF2B5EF4-FFF2-40B4-BE49-F238E27FC236}">
                <a16:creationId xmlns:a16="http://schemas.microsoft.com/office/drawing/2014/main" id="{0F537FEF-41D7-0E8E-D5AC-8AEAE9D76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0232" y="2034285"/>
            <a:ext cx="47552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1" sz="2000" b="1" i="1">
                <a:latin typeface="ISOCP" panose="00000400000000000000" pitchFamily="2" charset="0"/>
                <a:ea typeface="宋体" charset="-122"/>
                <a:cs typeface="ISOCP" panose="00000400000000000000" pitchFamily="2" charset="0"/>
              </a:defRPr>
            </a:lvl1pPr>
            <a:lvl2pPr marL="742950" indent="-285750" eaLnBrk="0" hangingPunct="0">
              <a:defRPr sz="2400" i="1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 i="1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 i="1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 i="1"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9pPr>
          </a:lstStyle>
          <a:p>
            <a:r>
              <a:rPr lang="en-US" altLang="zh-CN" dirty="0"/>
              <a:t>1</a:t>
            </a:r>
            <a:r>
              <a:rPr lang="en-US" altLang="zh-CN" dirty="0">
                <a:sym typeface="Symbol" pitchFamily="18" charset="2"/>
              </a:rPr>
              <a:t></a:t>
            </a:r>
            <a:endParaRPr lang="en-US" altLang="zh-CN" dirty="0"/>
          </a:p>
        </p:txBody>
      </p:sp>
      <p:sp>
        <p:nvSpPr>
          <p:cNvPr id="38" name="Text Box 52">
            <a:extLst>
              <a:ext uri="{FF2B5EF4-FFF2-40B4-BE49-F238E27FC236}">
                <a16:creationId xmlns:a16="http://schemas.microsoft.com/office/drawing/2014/main" id="{93713DC0-91D6-B086-6EF7-AD45F9109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0252" y="2259730"/>
            <a:ext cx="6287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1" sz="2000" b="1" i="1">
                <a:latin typeface="ISOCP" panose="00000400000000000000" pitchFamily="2" charset="0"/>
                <a:ea typeface="宋体" charset="-122"/>
                <a:cs typeface="ISOCP" panose="00000400000000000000" pitchFamily="2" charset="0"/>
              </a:defRPr>
            </a:lvl1pPr>
            <a:lvl2pPr marL="742950" indent="-285750" eaLnBrk="0" hangingPunct="0">
              <a:defRPr sz="2400" i="1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 i="1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 i="1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 i="1"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9pPr>
          </a:lstStyle>
          <a:p>
            <a:r>
              <a:rPr lang="en-US" altLang="zh-CN" dirty="0"/>
              <a:t> 2</a:t>
            </a:r>
            <a:r>
              <a:rPr lang="en-US" altLang="zh-CN" dirty="0">
                <a:sym typeface="Symbol" pitchFamily="18" charset="2"/>
              </a:rPr>
              <a:t></a:t>
            </a:r>
          </a:p>
        </p:txBody>
      </p:sp>
      <p:sp>
        <p:nvSpPr>
          <p:cNvPr id="39" name="Text Box 55">
            <a:extLst>
              <a:ext uri="{FF2B5EF4-FFF2-40B4-BE49-F238E27FC236}">
                <a16:creationId xmlns:a16="http://schemas.microsoft.com/office/drawing/2014/main" id="{5C022807-E3C2-82C7-1811-AE4D509E0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7279" y="2470497"/>
            <a:ext cx="5683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1" sz="2000" b="1" i="1">
                <a:latin typeface="ISOCP" panose="00000400000000000000" pitchFamily="2" charset="0"/>
                <a:ea typeface="宋体" charset="-122"/>
                <a:cs typeface="ISOCP" panose="00000400000000000000" pitchFamily="2" charset="0"/>
              </a:defRPr>
            </a:lvl1pPr>
            <a:lvl2pPr marL="742950" indent="-285750" eaLnBrk="0" hangingPunct="0">
              <a:defRPr sz="2400" i="1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 i="1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 i="1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 i="1"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9pPr>
          </a:lstStyle>
          <a:p>
            <a:r>
              <a:rPr lang="en-US" altLang="zh-CN" dirty="0"/>
              <a:t>4</a:t>
            </a:r>
            <a:r>
              <a:rPr lang="en-US" altLang="zh-CN" dirty="0">
                <a:sym typeface="Symbol" pitchFamily="18" charset="2"/>
              </a:rPr>
              <a:t></a:t>
            </a:r>
          </a:p>
        </p:txBody>
      </p:sp>
      <p:sp>
        <p:nvSpPr>
          <p:cNvPr id="40" name="Text Box 58">
            <a:extLst>
              <a:ext uri="{FF2B5EF4-FFF2-40B4-BE49-F238E27FC236}">
                <a16:creationId xmlns:a16="http://schemas.microsoft.com/office/drawing/2014/main" id="{2DE02938-A3A1-BFEA-832C-41B62453D0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2018" y="2691878"/>
            <a:ext cx="5480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1" sz="2000" b="1" i="1">
                <a:latin typeface="ISOCP" panose="00000400000000000000" pitchFamily="2" charset="0"/>
                <a:ea typeface="宋体" charset="-122"/>
                <a:cs typeface="ISOCP" panose="00000400000000000000" pitchFamily="2" charset="0"/>
              </a:defRPr>
            </a:lvl1pPr>
            <a:lvl2pPr marL="742950" indent="-285750" eaLnBrk="0" hangingPunct="0">
              <a:defRPr sz="2400" i="1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 i="1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 i="1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 i="1"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9pPr>
          </a:lstStyle>
          <a:p>
            <a:r>
              <a:rPr lang="en-US" altLang="zh-CN" dirty="0"/>
              <a:t>3</a:t>
            </a:r>
            <a:r>
              <a:rPr lang="en-US" altLang="zh-CN" dirty="0">
                <a:sym typeface="Symbol" pitchFamily="18" charset="2"/>
              </a:rPr>
              <a:t></a:t>
            </a:r>
          </a:p>
        </p:txBody>
      </p:sp>
      <p:sp>
        <p:nvSpPr>
          <p:cNvPr id="41" name="Text Box 61">
            <a:extLst>
              <a:ext uri="{FF2B5EF4-FFF2-40B4-BE49-F238E27FC236}">
                <a16:creationId xmlns:a16="http://schemas.microsoft.com/office/drawing/2014/main" id="{0DBA18E3-05BE-2273-BAD2-F4AFE433B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2258" y="5150985"/>
            <a:ext cx="3244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1" sz="2000" b="1" i="1">
                <a:latin typeface="ISOCP" panose="00000400000000000000" pitchFamily="2" charset="0"/>
                <a:ea typeface="宋体" charset="-122"/>
                <a:cs typeface="ISOCP" panose="00000400000000000000" pitchFamily="2" charset="0"/>
              </a:defRPr>
            </a:lvl1pPr>
            <a:lvl2pPr marL="742950" indent="-285750" eaLnBrk="0" hangingPunct="0">
              <a:defRPr sz="2400" i="1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 i="1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 i="1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 i="1"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9pPr>
          </a:lstStyle>
          <a:p>
            <a:r>
              <a:rPr lang="en-US" altLang="zh-CN" dirty="0"/>
              <a:t>1</a:t>
            </a:r>
          </a:p>
        </p:txBody>
      </p:sp>
      <p:sp>
        <p:nvSpPr>
          <p:cNvPr id="42" name="Text Box 64">
            <a:extLst>
              <a:ext uri="{FF2B5EF4-FFF2-40B4-BE49-F238E27FC236}">
                <a16:creationId xmlns:a16="http://schemas.microsoft.com/office/drawing/2014/main" id="{14B72209-6DB2-4D14-9C54-B520BDB5C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9451" y="5354237"/>
            <a:ext cx="3206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1" sz="2000" b="1" i="1">
                <a:latin typeface="ISOCP" panose="00000400000000000000" pitchFamily="2" charset="0"/>
                <a:ea typeface="宋体" charset="-122"/>
                <a:cs typeface="ISOCP" panose="00000400000000000000" pitchFamily="2" charset="0"/>
              </a:defRPr>
            </a:lvl1pPr>
            <a:lvl2pPr marL="742950" indent="-285750" eaLnBrk="0" hangingPunct="0">
              <a:defRPr sz="2400" i="1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 i="1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 i="1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 i="1"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9pPr>
          </a:lstStyle>
          <a:p>
            <a:r>
              <a:rPr lang="en-US" altLang="zh-CN" dirty="0"/>
              <a:t>2</a:t>
            </a:r>
          </a:p>
        </p:txBody>
      </p:sp>
      <p:sp>
        <p:nvSpPr>
          <p:cNvPr id="43" name="Text Box 67">
            <a:extLst>
              <a:ext uri="{FF2B5EF4-FFF2-40B4-BE49-F238E27FC236}">
                <a16:creationId xmlns:a16="http://schemas.microsoft.com/office/drawing/2014/main" id="{0AFF6D57-7784-F41F-B7E1-BE8C16B71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4533" y="4620326"/>
            <a:ext cx="3238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1" sz="2000" b="1" i="1">
                <a:latin typeface="ISOCP" panose="00000400000000000000" pitchFamily="2" charset="0"/>
                <a:ea typeface="宋体" charset="-122"/>
                <a:cs typeface="ISOCP" panose="00000400000000000000" pitchFamily="2" charset="0"/>
              </a:defRPr>
            </a:lvl1pPr>
            <a:lvl2pPr marL="742950" indent="-285750" eaLnBrk="0" hangingPunct="0">
              <a:defRPr sz="2400" i="1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 i="1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 i="1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 i="1"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9pPr>
          </a:lstStyle>
          <a:p>
            <a:r>
              <a:rPr lang="en-US" altLang="zh-CN" dirty="0"/>
              <a:t>4</a:t>
            </a:r>
          </a:p>
        </p:txBody>
      </p:sp>
      <p:sp>
        <p:nvSpPr>
          <p:cNvPr id="44" name="Text Box 70">
            <a:extLst>
              <a:ext uri="{FF2B5EF4-FFF2-40B4-BE49-F238E27FC236}">
                <a16:creationId xmlns:a16="http://schemas.microsoft.com/office/drawing/2014/main" id="{90238571-7D24-F5A4-A8D8-0038F25E5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6412" y="5167870"/>
            <a:ext cx="3254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defPPr>
              <a:defRPr lang="zh-CN"/>
            </a:defPPr>
            <a:lvl1pPr>
              <a:defRPr kumimoji="1" sz="2000" b="1" i="1">
                <a:latin typeface="ISOCP" panose="00000400000000000000" pitchFamily="2" charset="0"/>
                <a:ea typeface="宋体" charset="-122"/>
                <a:cs typeface="ISOCP" panose="00000400000000000000" pitchFamily="2" charset="0"/>
              </a:defRPr>
            </a:lvl1pPr>
            <a:lvl2pPr marL="742950" indent="-285750" eaLnBrk="0" hangingPunct="0">
              <a:defRPr sz="2400" i="1"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 i="1"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 i="1"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 i="1"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latin typeface="Times New Roman" pitchFamily="18" charset="0"/>
                <a:ea typeface="宋体" charset="-122"/>
              </a:defRPr>
            </a:lvl9pPr>
          </a:lstStyle>
          <a:p>
            <a:r>
              <a:rPr lang="en-US" altLang="zh-CN" dirty="0"/>
              <a:t>3       </a:t>
            </a:r>
          </a:p>
        </p:txBody>
      </p:sp>
      <p:grpSp>
        <p:nvGrpSpPr>
          <p:cNvPr id="45" name="Group 72">
            <a:extLst>
              <a:ext uri="{FF2B5EF4-FFF2-40B4-BE49-F238E27FC236}">
                <a16:creationId xmlns:a16="http://schemas.microsoft.com/office/drawing/2014/main" id="{CE286F8C-54D2-C189-1D39-938FF4B66037}"/>
              </a:ext>
            </a:extLst>
          </p:cNvPr>
          <p:cNvGrpSpPr>
            <a:grpSpLocks/>
          </p:cNvGrpSpPr>
          <p:nvPr/>
        </p:nvGrpSpPr>
        <p:grpSpPr bwMode="auto">
          <a:xfrm>
            <a:off x="5181149" y="4929838"/>
            <a:ext cx="723955" cy="539291"/>
            <a:chOff x="1553" y="2846"/>
            <a:chExt cx="499" cy="372"/>
          </a:xfrm>
        </p:grpSpPr>
        <p:sp>
          <p:nvSpPr>
            <p:cNvPr id="46" name="Line 73">
              <a:extLst>
                <a:ext uri="{FF2B5EF4-FFF2-40B4-BE49-F238E27FC236}">
                  <a16:creationId xmlns:a16="http://schemas.microsoft.com/office/drawing/2014/main" id="{E8F6092B-AA24-64CC-FBF3-443031D43A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53" y="2846"/>
              <a:ext cx="294" cy="16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Line 74">
              <a:extLst>
                <a:ext uri="{FF2B5EF4-FFF2-40B4-BE49-F238E27FC236}">
                  <a16:creationId xmlns:a16="http://schemas.microsoft.com/office/drawing/2014/main" id="{3F153EF7-0583-6FE1-6DC9-4AE9CB1A6B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6" y="2846"/>
              <a:ext cx="161" cy="18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Line 75">
              <a:extLst>
                <a:ext uri="{FF2B5EF4-FFF2-40B4-BE49-F238E27FC236}">
                  <a16:creationId xmlns:a16="http://schemas.microsoft.com/office/drawing/2014/main" id="{E626BE8E-9122-79AE-6B69-03BB73A26B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4" y="3029"/>
              <a:ext cx="178" cy="189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Line 76">
              <a:extLst>
                <a:ext uri="{FF2B5EF4-FFF2-40B4-BE49-F238E27FC236}">
                  <a16:creationId xmlns:a16="http://schemas.microsoft.com/office/drawing/2014/main" id="{07A94C8C-C425-B2EB-6C0E-4A04A68210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3" y="3014"/>
              <a:ext cx="289" cy="18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0" name="Line 77">
            <a:extLst>
              <a:ext uri="{FF2B5EF4-FFF2-40B4-BE49-F238E27FC236}">
                <a16:creationId xmlns:a16="http://schemas.microsoft.com/office/drawing/2014/main" id="{588AB0C1-C6C2-F331-5222-110A7290264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8400" y="5190226"/>
            <a:ext cx="41275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" name="Line 78">
            <a:extLst>
              <a:ext uri="{FF2B5EF4-FFF2-40B4-BE49-F238E27FC236}">
                <a16:creationId xmlns:a16="http://schemas.microsoft.com/office/drawing/2014/main" id="{8FE4C3F6-3105-E8AB-8798-21AD3015C7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7850" y="5190226"/>
            <a:ext cx="655199" cy="558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52" name="Line 79">
            <a:extLst>
              <a:ext uri="{FF2B5EF4-FFF2-40B4-BE49-F238E27FC236}">
                <a16:creationId xmlns:a16="http://schemas.microsoft.com/office/drawing/2014/main" id="{236D3A39-53A8-DE48-8C66-1AD1DA244D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3362" y="4286684"/>
            <a:ext cx="1" cy="66728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53" name="Line 80">
            <a:extLst>
              <a:ext uri="{FF2B5EF4-FFF2-40B4-BE49-F238E27FC236}">
                <a16:creationId xmlns:a16="http://schemas.microsoft.com/office/drawing/2014/main" id="{9EDED8EB-ACA5-E7E3-5926-4B52A80748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9332" y="5414156"/>
            <a:ext cx="794" cy="655291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54" name="Line 81">
            <a:extLst>
              <a:ext uri="{FF2B5EF4-FFF2-40B4-BE49-F238E27FC236}">
                <a16:creationId xmlns:a16="http://schemas.microsoft.com/office/drawing/2014/main" id="{C9B855FB-C27B-08CB-F1F0-810737E2DF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90030" y="2512524"/>
            <a:ext cx="545585" cy="1145383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55" name="Line 82">
            <a:extLst>
              <a:ext uri="{FF2B5EF4-FFF2-40B4-BE49-F238E27FC236}">
                <a16:creationId xmlns:a16="http://schemas.microsoft.com/office/drawing/2014/main" id="{DF2B7536-B23A-AD4E-1A47-1CFA775D03BC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4006" y="2512524"/>
            <a:ext cx="535021" cy="1135859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56" name="Line 83">
            <a:extLst>
              <a:ext uri="{FF2B5EF4-FFF2-40B4-BE49-F238E27FC236}">
                <a16:creationId xmlns:a16="http://schemas.microsoft.com/office/drawing/2014/main" id="{613D42F1-CEF4-16AD-A379-19FBB8C0079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79661" y="2762558"/>
            <a:ext cx="0" cy="88582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57" name="Group 84">
            <a:extLst>
              <a:ext uri="{FF2B5EF4-FFF2-40B4-BE49-F238E27FC236}">
                <a16:creationId xmlns:a16="http://schemas.microsoft.com/office/drawing/2014/main" id="{7C8384E9-A8C2-BC6F-5D62-C86B24158998}"/>
              </a:ext>
            </a:extLst>
          </p:cNvPr>
          <p:cNvGrpSpPr>
            <a:grpSpLocks/>
          </p:cNvGrpSpPr>
          <p:nvPr/>
        </p:nvGrpSpPr>
        <p:grpSpPr bwMode="auto">
          <a:xfrm>
            <a:off x="5637334" y="2534310"/>
            <a:ext cx="2333626" cy="2663826"/>
            <a:chOff x="2607" y="897"/>
            <a:chExt cx="1470" cy="1678"/>
          </a:xfrm>
        </p:grpSpPr>
        <p:sp>
          <p:nvSpPr>
            <p:cNvPr id="58" name="Line 85">
              <a:extLst>
                <a:ext uri="{FF2B5EF4-FFF2-40B4-BE49-F238E27FC236}">
                  <a16:creationId xmlns:a16="http://schemas.microsoft.com/office/drawing/2014/main" id="{2429AC20-5A28-B86F-4B45-33F3489BB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897"/>
              <a:ext cx="189" cy="0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" name="Line 86">
              <a:extLst>
                <a:ext uri="{FF2B5EF4-FFF2-40B4-BE49-F238E27FC236}">
                  <a16:creationId xmlns:a16="http://schemas.microsoft.com/office/drawing/2014/main" id="{D6F6BD79-1A41-87F6-ED73-5CD154933CD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2507" y="2475"/>
              <a:ext cx="200" cy="0"/>
            </a:xfrm>
            <a:prstGeom prst="line">
              <a:avLst/>
            </a:prstGeom>
            <a:noFill/>
            <a:ln w="38100">
              <a:solidFill>
                <a:srgbClr val="99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0" name="Group 87">
            <a:extLst>
              <a:ext uri="{FF2B5EF4-FFF2-40B4-BE49-F238E27FC236}">
                <a16:creationId xmlns:a16="http://schemas.microsoft.com/office/drawing/2014/main" id="{BFE23F7A-EAED-46CA-8D8E-60809DC59760}"/>
              </a:ext>
            </a:extLst>
          </p:cNvPr>
          <p:cNvGrpSpPr>
            <a:grpSpLocks/>
          </p:cNvGrpSpPr>
          <p:nvPr/>
        </p:nvGrpSpPr>
        <p:grpSpPr bwMode="auto">
          <a:xfrm>
            <a:off x="7263705" y="4488702"/>
            <a:ext cx="1257644" cy="1326820"/>
            <a:chOff x="4721" y="1416"/>
            <a:chExt cx="704" cy="743"/>
          </a:xfrm>
        </p:grpSpPr>
        <p:sp>
          <p:nvSpPr>
            <p:cNvPr id="61" name="Freeform 88">
              <a:extLst>
                <a:ext uri="{FF2B5EF4-FFF2-40B4-BE49-F238E27FC236}">
                  <a16:creationId xmlns:a16="http://schemas.microsoft.com/office/drawing/2014/main" id="{3C2FFCC1-61F9-0F4F-D62F-1BD0A3F01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1" y="1568"/>
              <a:ext cx="430" cy="591"/>
            </a:xfrm>
            <a:custGeom>
              <a:avLst/>
              <a:gdLst>
                <a:gd name="T0" fmla="*/ 0 w 822"/>
                <a:gd name="T1" fmla="*/ 765 h 966"/>
                <a:gd name="T2" fmla="*/ 822 w 822"/>
                <a:gd name="T3" fmla="*/ 966 h 966"/>
                <a:gd name="T4" fmla="*/ 789 w 822"/>
                <a:gd name="T5" fmla="*/ 0 h 966"/>
                <a:gd name="T6" fmla="*/ 244 w 822"/>
                <a:gd name="T7" fmla="*/ 291 h 966"/>
                <a:gd name="T8" fmla="*/ 0 w 822"/>
                <a:gd name="T9" fmla="*/ 765 h 9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22"/>
                <a:gd name="T16" fmla="*/ 0 h 966"/>
                <a:gd name="T17" fmla="*/ 822 w 822"/>
                <a:gd name="T18" fmla="*/ 966 h 966"/>
                <a:gd name="connsiteX0" fmla="*/ 1806 w 7032"/>
                <a:gd name="connsiteY0" fmla="*/ 8920 h 10000"/>
                <a:gd name="connsiteX1" fmla="*/ 7032 w 7032"/>
                <a:gd name="connsiteY1" fmla="*/ 10000 h 10000"/>
                <a:gd name="connsiteX2" fmla="*/ 6631 w 7032"/>
                <a:gd name="connsiteY2" fmla="*/ 0 h 10000"/>
                <a:gd name="connsiteX3" fmla="*/ 0 w 7032"/>
                <a:gd name="connsiteY3" fmla="*/ 3012 h 10000"/>
                <a:gd name="connsiteX4" fmla="*/ 1806 w 7032"/>
                <a:gd name="connsiteY4" fmla="*/ 8920 h 10000"/>
                <a:gd name="connsiteX0" fmla="*/ 0 w 7432"/>
                <a:gd name="connsiteY0" fmla="*/ 8920 h 10000"/>
                <a:gd name="connsiteX1" fmla="*/ 7432 w 7432"/>
                <a:gd name="connsiteY1" fmla="*/ 10000 h 10000"/>
                <a:gd name="connsiteX2" fmla="*/ 6862 w 7432"/>
                <a:gd name="connsiteY2" fmla="*/ 0 h 10000"/>
                <a:gd name="connsiteX3" fmla="*/ 1565 w 7432"/>
                <a:gd name="connsiteY3" fmla="*/ 5162 h 10000"/>
                <a:gd name="connsiteX4" fmla="*/ 0 w 7432"/>
                <a:gd name="connsiteY4" fmla="*/ 8920 h 10000"/>
                <a:gd name="connsiteX0" fmla="*/ 0 w 10000"/>
                <a:gd name="connsiteY0" fmla="*/ 5033 h 6113"/>
                <a:gd name="connsiteX1" fmla="*/ 10000 w 10000"/>
                <a:gd name="connsiteY1" fmla="*/ 6113 h 6113"/>
                <a:gd name="connsiteX2" fmla="*/ 8241 w 10000"/>
                <a:gd name="connsiteY2" fmla="*/ 0 h 6113"/>
                <a:gd name="connsiteX3" fmla="*/ 2106 w 10000"/>
                <a:gd name="connsiteY3" fmla="*/ 1275 h 6113"/>
                <a:gd name="connsiteX4" fmla="*/ 0 w 10000"/>
                <a:gd name="connsiteY4" fmla="*/ 5033 h 6113"/>
                <a:gd name="connsiteX0" fmla="*/ 0 w 10000"/>
                <a:gd name="connsiteY0" fmla="*/ 8233 h 10000"/>
                <a:gd name="connsiteX1" fmla="*/ 10000 w 10000"/>
                <a:gd name="connsiteY1" fmla="*/ 10000 h 10000"/>
                <a:gd name="connsiteX2" fmla="*/ 8241 w 10000"/>
                <a:gd name="connsiteY2" fmla="*/ 0 h 10000"/>
                <a:gd name="connsiteX3" fmla="*/ 2106 w 10000"/>
                <a:gd name="connsiteY3" fmla="*/ 2086 h 10000"/>
                <a:gd name="connsiteX4" fmla="*/ 0 w 10000"/>
                <a:gd name="connsiteY4" fmla="*/ 8233 h 10000"/>
                <a:gd name="connsiteX0" fmla="*/ 0 w 10000"/>
                <a:gd name="connsiteY0" fmla="*/ 8233 h 10000"/>
                <a:gd name="connsiteX1" fmla="*/ 10000 w 10000"/>
                <a:gd name="connsiteY1" fmla="*/ 10000 h 10000"/>
                <a:gd name="connsiteX2" fmla="*/ 8241 w 10000"/>
                <a:gd name="connsiteY2" fmla="*/ 0 h 10000"/>
                <a:gd name="connsiteX3" fmla="*/ 2106 w 10000"/>
                <a:gd name="connsiteY3" fmla="*/ 2086 h 10000"/>
                <a:gd name="connsiteX4" fmla="*/ 0 w 10000"/>
                <a:gd name="connsiteY4" fmla="*/ 8233 h 10000"/>
                <a:gd name="connsiteX0" fmla="*/ 0 w 10000"/>
                <a:gd name="connsiteY0" fmla="*/ 8233 h 10000"/>
                <a:gd name="connsiteX1" fmla="*/ 10000 w 10000"/>
                <a:gd name="connsiteY1" fmla="*/ 10000 h 10000"/>
                <a:gd name="connsiteX2" fmla="*/ 8241 w 10000"/>
                <a:gd name="connsiteY2" fmla="*/ 0 h 10000"/>
                <a:gd name="connsiteX3" fmla="*/ 1643 w 10000"/>
                <a:gd name="connsiteY3" fmla="*/ 3482 h 10000"/>
                <a:gd name="connsiteX4" fmla="*/ 0 w 10000"/>
                <a:gd name="connsiteY4" fmla="*/ 8233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8233"/>
                  </a:moveTo>
                  <a:lnTo>
                    <a:pt x="10000" y="10000"/>
                  </a:lnTo>
                  <a:cubicBezTo>
                    <a:pt x="9743" y="4548"/>
                    <a:pt x="8166" y="-35"/>
                    <a:pt x="8241" y="0"/>
                  </a:cubicBezTo>
                  <a:lnTo>
                    <a:pt x="1643" y="3482"/>
                  </a:lnTo>
                  <a:lnTo>
                    <a:pt x="0" y="8233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Freeform 90">
              <a:extLst>
                <a:ext uri="{FF2B5EF4-FFF2-40B4-BE49-F238E27FC236}">
                  <a16:creationId xmlns:a16="http://schemas.microsoft.com/office/drawing/2014/main" id="{A1DF6873-FF01-5343-A496-41F8939E5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7" y="1423"/>
              <a:ext cx="358" cy="736"/>
            </a:xfrm>
            <a:custGeom>
              <a:avLst/>
              <a:gdLst>
                <a:gd name="T0" fmla="*/ 0 w 523"/>
                <a:gd name="T1" fmla="*/ 340 h 1129"/>
                <a:gd name="T2" fmla="*/ 124 w 523"/>
                <a:gd name="T3" fmla="*/ 1129 h 1129"/>
                <a:gd name="T4" fmla="*/ 523 w 523"/>
                <a:gd name="T5" fmla="*/ 928 h 1129"/>
                <a:gd name="T6" fmla="*/ 87 w 523"/>
                <a:gd name="T7" fmla="*/ 0 h 1129"/>
                <a:gd name="T8" fmla="*/ 0 w 523"/>
                <a:gd name="T9" fmla="*/ 340 h 11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3"/>
                <a:gd name="T16" fmla="*/ 0 h 1129"/>
                <a:gd name="T17" fmla="*/ 523 w 523"/>
                <a:gd name="T18" fmla="*/ 1129 h 1129"/>
                <a:gd name="connsiteX0" fmla="*/ 0 w 9021"/>
                <a:gd name="connsiteY0" fmla="*/ 5859 h 10000"/>
                <a:gd name="connsiteX1" fmla="*/ 1392 w 9021"/>
                <a:gd name="connsiteY1" fmla="*/ 10000 h 10000"/>
                <a:gd name="connsiteX2" fmla="*/ 9021 w 9021"/>
                <a:gd name="connsiteY2" fmla="*/ 8220 h 10000"/>
                <a:gd name="connsiteX3" fmla="*/ 684 w 9021"/>
                <a:gd name="connsiteY3" fmla="*/ 0 h 10000"/>
                <a:gd name="connsiteX4" fmla="*/ 0 w 9021"/>
                <a:gd name="connsiteY4" fmla="*/ 5859 h 10000"/>
                <a:gd name="connsiteX0" fmla="*/ 0 w 7349"/>
                <a:gd name="connsiteY0" fmla="*/ 5859 h 10000"/>
                <a:gd name="connsiteX1" fmla="*/ 1543 w 7349"/>
                <a:gd name="connsiteY1" fmla="*/ 10000 h 10000"/>
                <a:gd name="connsiteX2" fmla="*/ 7349 w 7349"/>
                <a:gd name="connsiteY2" fmla="*/ 8800 h 10000"/>
                <a:gd name="connsiteX3" fmla="*/ 758 w 7349"/>
                <a:gd name="connsiteY3" fmla="*/ 0 h 10000"/>
                <a:gd name="connsiteX4" fmla="*/ 0 w 7349"/>
                <a:gd name="connsiteY4" fmla="*/ 5859 h 10000"/>
                <a:gd name="connsiteX0" fmla="*/ 0 w 10000"/>
                <a:gd name="connsiteY0" fmla="*/ 5859 h 10000"/>
                <a:gd name="connsiteX1" fmla="*/ 2100 w 10000"/>
                <a:gd name="connsiteY1" fmla="*/ 10000 h 10000"/>
                <a:gd name="connsiteX2" fmla="*/ 10000 w 10000"/>
                <a:gd name="connsiteY2" fmla="*/ 8800 h 10000"/>
                <a:gd name="connsiteX3" fmla="*/ 1031 w 10000"/>
                <a:gd name="connsiteY3" fmla="*/ 0 h 10000"/>
                <a:gd name="connsiteX4" fmla="*/ 0 w 10000"/>
                <a:gd name="connsiteY4" fmla="*/ 5859 h 10000"/>
                <a:gd name="connsiteX0" fmla="*/ 0 w 10000"/>
                <a:gd name="connsiteY0" fmla="*/ 5859 h 10000"/>
                <a:gd name="connsiteX1" fmla="*/ 2100 w 10000"/>
                <a:gd name="connsiteY1" fmla="*/ 10000 h 10000"/>
                <a:gd name="connsiteX2" fmla="*/ 10000 w 10000"/>
                <a:gd name="connsiteY2" fmla="*/ 8800 h 10000"/>
                <a:gd name="connsiteX3" fmla="*/ 1031 w 10000"/>
                <a:gd name="connsiteY3" fmla="*/ 0 h 10000"/>
                <a:gd name="connsiteX4" fmla="*/ 0 w 10000"/>
                <a:gd name="connsiteY4" fmla="*/ 5859 h 10000"/>
                <a:gd name="connsiteX0" fmla="*/ 0 w 10000"/>
                <a:gd name="connsiteY0" fmla="*/ 5859 h 10000"/>
                <a:gd name="connsiteX1" fmla="*/ 2100 w 10000"/>
                <a:gd name="connsiteY1" fmla="*/ 10000 h 10000"/>
                <a:gd name="connsiteX2" fmla="*/ 10000 w 10000"/>
                <a:gd name="connsiteY2" fmla="*/ 8800 h 10000"/>
                <a:gd name="connsiteX3" fmla="*/ 1031 w 10000"/>
                <a:gd name="connsiteY3" fmla="*/ 0 h 10000"/>
                <a:gd name="connsiteX4" fmla="*/ 0 w 10000"/>
                <a:gd name="connsiteY4" fmla="*/ 5859 h 10000"/>
                <a:gd name="connsiteX0" fmla="*/ 0 w 10000"/>
                <a:gd name="connsiteY0" fmla="*/ 2433 h 6574"/>
                <a:gd name="connsiteX1" fmla="*/ 2100 w 10000"/>
                <a:gd name="connsiteY1" fmla="*/ 6574 h 6574"/>
                <a:gd name="connsiteX2" fmla="*/ 10000 w 10000"/>
                <a:gd name="connsiteY2" fmla="*/ 5374 h 6574"/>
                <a:gd name="connsiteX3" fmla="*/ 4473 w 10000"/>
                <a:gd name="connsiteY3" fmla="*/ 1 h 6574"/>
                <a:gd name="connsiteX4" fmla="*/ 0 w 10000"/>
                <a:gd name="connsiteY4" fmla="*/ 2433 h 6574"/>
                <a:gd name="connsiteX0" fmla="*/ 0 w 10328"/>
                <a:gd name="connsiteY0" fmla="*/ 3087 h 9999"/>
                <a:gd name="connsiteX1" fmla="*/ 2428 w 10328"/>
                <a:gd name="connsiteY1" fmla="*/ 9999 h 9999"/>
                <a:gd name="connsiteX2" fmla="*/ 10328 w 10328"/>
                <a:gd name="connsiteY2" fmla="*/ 8174 h 9999"/>
                <a:gd name="connsiteX3" fmla="*/ 4801 w 10328"/>
                <a:gd name="connsiteY3" fmla="*/ 1 h 9999"/>
                <a:gd name="connsiteX4" fmla="*/ 0 w 10328"/>
                <a:gd name="connsiteY4" fmla="*/ 3087 h 9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28" h="9999">
                  <a:moveTo>
                    <a:pt x="0" y="3087"/>
                  </a:moveTo>
                  <a:lnTo>
                    <a:pt x="2428" y="9999"/>
                  </a:lnTo>
                  <a:lnTo>
                    <a:pt x="10328" y="8174"/>
                  </a:lnTo>
                  <a:cubicBezTo>
                    <a:pt x="7338" y="3712"/>
                    <a:pt x="4431" y="-60"/>
                    <a:pt x="4801" y="1"/>
                  </a:cubicBezTo>
                  <a:cubicBezTo>
                    <a:pt x="4621" y="20"/>
                    <a:pt x="344" y="116"/>
                    <a:pt x="0" y="3087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Freeform 89">
              <a:extLst>
                <a:ext uri="{FF2B5EF4-FFF2-40B4-BE49-F238E27FC236}">
                  <a16:creationId xmlns:a16="http://schemas.microsoft.com/office/drawing/2014/main" id="{5A00DD7A-C119-971F-8CF9-25FCD8602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2" y="1416"/>
              <a:ext cx="441" cy="361"/>
            </a:xfrm>
            <a:custGeom>
              <a:avLst/>
              <a:gdLst>
                <a:gd name="T0" fmla="*/ 0 w 567"/>
                <a:gd name="T1" fmla="*/ 471 h 471"/>
                <a:gd name="T2" fmla="*/ 480 w 567"/>
                <a:gd name="T3" fmla="*/ 340 h 471"/>
                <a:gd name="T4" fmla="*/ 567 w 567"/>
                <a:gd name="T5" fmla="*/ 0 h 471"/>
                <a:gd name="T6" fmla="*/ 279 w 567"/>
                <a:gd name="T7" fmla="*/ 105 h 471"/>
                <a:gd name="T8" fmla="*/ 0 w 567"/>
                <a:gd name="T9" fmla="*/ 471 h 4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7"/>
                <a:gd name="T16" fmla="*/ 0 h 471"/>
                <a:gd name="T17" fmla="*/ 567 w 567"/>
                <a:gd name="T18" fmla="*/ 471 h 471"/>
                <a:gd name="connsiteX0" fmla="*/ 0 w 11354"/>
                <a:gd name="connsiteY0" fmla="*/ 8732 h 8732"/>
                <a:gd name="connsiteX1" fmla="*/ 8466 w 11354"/>
                <a:gd name="connsiteY1" fmla="*/ 5951 h 8732"/>
                <a:gd name="connsiteX2" fmla="*/ 11354 w 11354"/>
                <a:gd name="connsiteY2" fmla="*/ 0 h 8732"/>
                <a:gd name="connsiteX3" fmla="*/ 4921 w 11354"/>
                <a:gd name="connsiteY3" fmla="*/ 961 h 8732"/>
                <a:gd name="connsiteX4" fmla="*/ 0 w 11354"/>
                <a:gd name="connsiteY4" fmla="*/ 8732 h 8732"/>
                <a:gd name="connsiteX0" fmla="*/ 0 w 7262"/>
                <a:gd name="connsiteY0" fmla="*/ 9931 h 9931"/>
                <a:gd name="connsiteX1" fmla="*/ 4718 w 7262"/>
                <a:gd name="connsiteY1" fmla="*/ 6815 h 9931"/>
                <a:gd name="connsiteX2" fmla="*/ 7262 w 7262"/>
                <a:gd name="connsiteY2" fmla="*/ 0 h 9931"/>
                <a:gd name="connsiteX3" fmla="*/ 1596 w 7262"/>
                <a:gd name="connsiteY3" fmla="*/ 1101 h 9931"/>
                <a:gd name="connsiteX4" fmla="*/ 0 w 7262"/>
                <a:gd name="connsiteY4" fmla="*/ 9931 h 9931"/>
                <a:gd name="connsiteX0" fmla="*/ 0 w 10000"/>
                <a:gd name="connsiteY0" fmla="*/ 10000 h 10000"/>
                <a:gd name="connsiteX1" fmla="*/ 6497 w 10000"/>
                <a:gd name="connsiteY1" fmla="*/ 6862 h 10000"/>
                <a:gd name="connsiteX2" fmla="*/ 10000 w 10000"/>
                <a:gd name="connsiteY2" fmla="*/ 0 h 10000"/>
                <a:gd name="connsiteX3" fmla="*/ 4203 w 10000"/>
                <a:gd name="connsiteY3" fmla="*/ 4037 h 10000"/>
                <a:gd name="connsiteX4" fmla="*/ 0 w 10000"/>
                <a:gd name="connsiteY4" fmla="*/ 10000 h 10000"/>
                <a:gd name="connsiteX0" fmla="*/ 0 w 10000"/>
                <a:gd name="connsiteY0" fmla="*/ 10000 h 10000"/>
                <a:gd name="connsiteX1" fmla="*/ 6497 w 10000"/>
                <a:gd name="connsiteY1" fmla="*/ 6862 h 10000"/>
                <a:gd name="connsiteX2" fmla="*/ 10000 w 10000"/>
                <a:gd name="connsiteY2" fmla="*/ 0 h 10000"/>
                <a:gd name="connsiteX3" fmla="*/ 4203 w 10000"/>
                <a:gd name="connsiteY3" fmla="*/ 3061 h 10000"/>
                <a:gd name="connsiteX4" fmla="*/ 0 w 10000"/>
                <a:gd name="connsiteY4" fmla="*/ 10000 h 10000"/>
                <a:gd name="connsiteX0" fmla="*/ 0 w 9635"/>
                <a:gd name="connsiteY0" fmla="*/ 9163 h 9163"/>
                <a:gd name="connsiteX1" fmla="*/ 6497 w 9635"/>
                <a:gd name="connsiteY1" fmla="*/ 6025 h 9163"/>
                <a:gd name="connsiteX2" fmla="*/ 9635 w 9635"/>
                <a:gd name="connsiteY2" fmla="*/ 0 h 9163"/>
                <a:gd name="connsiteX3" fmla="*/ 4203 w 9635"/>
                <a:gd name="connsiteY3" fmla="*/ 2224 h 9163"/>
                <a:gd name="connsiteX4" fmla="*/ 0 w 9635"/>
                <a:gd name="connsiteY4" fmla="*/ 9163 h 9163"/>
                <a:gd name="connsiteX0" fmla="*/ 0 w 10197"/>
                <a:gd name="connsiteY0" fmla="*/ 10231 h 10231"/>
                <a:gd name="connsiteX1" fmla="*/ 6940 w 10197"/>
                <a:gd name="connsiteY1" fmla="*/ 6575 h 10231"/>
                <a:gd name="connsiteX2" fmla="*/ 10197 w 10197"/>
                <a:gd name="connsiteY2" fmla="*/ 0 h 10231"/>
                <a:gd name="connsiteX3" fmla="*/ 4559 w 10197"/>
                <a:gd name="connsiteY3" fmla="*/ 2427 h 10231"/>
                <a:gd name="connsiteX4" fmla="*/ 0 w 10197"/>
                <a:gd name="connsiteY4" fmla="*/ 10231 h 10231"/>
                <a:gd name="connsiteX0" fmla="*/ 0 w 10197"/>
                <a:gd name="connsiteY0" fmla="*/ 10231 h 10231"/>
                <a:gd name="connsiteX1" fmla="*/ 6414 w 10197"/>
                <a:gd name="connsiteY1" fmla="*/ 7037 h 10231"/>
                <a:gd name="connsiteX2" fmla="*/ 10197 w 10197"/>
                <a:gd name="connsiteY2" fmla="*/ 0 h 10231"/>
                <a:gd name="connsiteX3" fmla="*/ 4559 w 10197"/>
                <a:gd name="connsiteY3" fmla="*/ 2427 h 10231"/>
                <a:gd name="connsiteX4" fmla="*/ 0 w 10197"/>
                <a:gd name="connsiteY4" fmla="*/ 10231 h 1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97" h="10231">
                  <a:moveTo>
                    <a:pt x="0" y="10231"/>
                  </a:moveTo>
                  <a:lnTo>
                    <a:pt x="6414" y="7037"/>
                  </a:lnTo>
                  <a:lnTo>
                    <a:pt x="10197" y="0"/>
                  </a:lnTo>
                  <a:lnTo>
                    <a:pt x="4559" y="2427"/>
                  </a:lnTo>
                  <a:lnTo>
                    <a:pt x="0" y="1023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4" name="Text Box 91">
            <a:extLst>
              <a:ext uri="{FF2B5EF4-FFF2-40B4-BE49-F238E27FC236}">
                <a16:creationId xmlns:a16="http://schemas.microsoft.com/office/drawing/2014/main" id="{D1573EF0-C959-6B35-14C7-1FC3CFA01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1918" y="4223267"/>
            <a:ext cx="3145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b="1" dirty="0">
                <a:latin typeface="ISOCP" panose="00000400000000000000" pitchFamily="2" charset="0"/>
                <a:cs typeface="ISOCP" panose="00000400000000000000" pitchFamily="2" charset="0"/>
              </a:rPr>
              <a:t>1</a:t>
            </a:r>
          </a:p>
        </p:txBody>
      </p:sp>
      <p:sp>
        <p:nvSpPr>
          <p:cNvPr id="65" name="Text Box 92">
            <a:extLst>
              <a:ext uri="{FF2B5EF4-FFF2-40B4-BE49-F238E27FC236}">
                <a16:creationId xmlns:a16="http://schemas.microsoft.com/office/drawing/2014/main" id="{A4F77B55-F16E-1AF5-E740-AB3132C94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6057" y="4840935"/>
            <a:ext cx="3145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b="1" dirty="0">
                <a:latin typeface="ISOCP" panose="00000400000000000000" pitchFamily="2" charset="0"/>
                <a:cs typeface="ISOCP" panose="00000400000000000000" pitchFamily="2" charset="0"/>
              </a:rPr>
              <a:t>2</a:t>
            </a:r>
          </a:p>
        </p:txBody>
      </p:sp>
      <p:sp>
        <p:nvSpPr>
          <p:cNvPr id="66" name="Text Box 93">
            <a:extLst>
              <a:ext uri="{FF2B5EF4-FFF2-40B4-BE49-F238E27FC236}">
                <a16:creationId xmlns:a16="http://schemas.microsoft.com/office/drawing/2014/main" id="{2D0E4224-CEB9-A44C-2D0D-2C43AA014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1318" y="4940702"/>
            <a:ext cx="3145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b="1" dirty="0">
                <a:latin typeface="ISOCP" panose="00000400000000000000" pitchFamily="2" charset="0"/>
                <a:cs typeface="ISOCP" panose="00000400000000000000" pitchFamily="2" charset="0"/>
              </a:rPr>
              <a:t>3</a:t>
            </a:r>
          </a:p>
        </p:txBody>
      </p:sp>
      <p:sp>
        <p:nvSpPr>
          <p:cNvPr id="67" name="Text Box 94">
            <a:extLst>
              <a:ext uri="{FF2B5EF4-FFF2-40B4-BE49-F238E27FC236}">
                <a16:creationId xmlns:a16="http://schemas.microsoft.com/office/drawing/2014/main" id="{929CFDDA-DB30-9637-E1E3-475444F61C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6502" y="4395286"/>
            <a:ext cx="3145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kumimoji="1" lang="en-US" altLang="zh-CN" sz="2000" b="1" dirty="0">
                <a:latin typeface="ISOCP" panose="00000400000000000000" pitchFamily="2" charset="0"/>
                <a:cs typeface="ISOCP" panose="00000400000000000000" pitchFamily="2" charset="0"/>
              </a:rPr>
              <a:t>4</a:t>
            </a:r>
          </a:p>
        </p:txBody>
      </p:sp>
      <p:grpSp>
        <p:nvGrpSpPr>
          <p:cNvPr id="68" name="Group 107">
            <a:extLst>
              <a:ext uri="{FF2B5EF4-FFF2-40B4-BE49-F238E27FC236}">
                <a16:creationId xmlns:a16="http://schemas.microsoft.com/office/drawing/2014/main" id="{7E6ADA3E-A3C8-AA84-C636-C749D30C4783}"/>
              </a:ext>
            </a:extLst>
          </p:cNvPr>
          <p:cNvGrpSpPr>
            <a:grpSpLocks/>
          </p:cNvGrpSpPr>
          <p:nvPr/>
        </p:nvGrpSpPr>
        <p:grpSpPr bwMode="auto">
          <a:xfrm>
            <a:off x="7619821" y="2370235"/>
            <a:ext cx="684682" cy="391216"/>
            <a:chOff x="3696" y="1294"/>
            <a:chExt cx="472" cy="270"/>
          </a:xfrm>
        </p:grpSpPr>
        <p:sp>
          <p:nvSpPr>
            <p:cNvPr id="69" name="Line 108">
              <a:extLst>
                <a:ext uri="{FF2B5EF4-FFF2-40B4-BE49-F238E27FC236}">
                  <a16:creationId xmlns:a16="http://schemas.microsoft.com/office/drawing/2014/main" id="{1C7D6640-0DF3-A0C9-B17F-E2CF18E3F2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1294"/>
              <a:ext cx="256" cy="10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0" name="Line 109">
              <a:extLst>
                <a:ext uri="{FF2B5EF4-FFF2-40B4-BE49-F238E27FC236}">
                  <a16:creationId xmlns:a16="http://schemas.microsoft.com/office/drawing/2014/main" id="{05A2C50F-1644-B77F-6BC9-B1A570B1F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7" y="1396"/>
              <a:ext cx="214" cy="16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1" name="Line 110">
              <a:extLst>
                <a:ext uri="{FF2B5EF4-FFF2-40B4-BE49-F238E27FC236}">
                  <a16:creationId xmlns:a16="http://schemas.microsoft.com/office/drawing/2014/main" id="{1FC0BEC2-5015-10A7-F4FA-453526D9A0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62" y="1392"/>
              <a:ext cx="206" cy="16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" name="Line 111">
              <a:extLst>
                <a:ext uri="{FF2B5EF4-FFF2-40B4-BE49-F238E27FC236}">
                  <a16:creationId xmlns:a16="http://schemas.microsoft.com/office/drawing/2014/main" id="{5B584590-4D88-E78F-FDF8-5CB3A4602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" y="1294"/>
              <a:ext cx="229" cy="10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3" name="Oval 151">
            <a:extLst>
              <a:ext uri="{FF2B5EF4-FFF2-40B4-BE49-F238E27FC236}">
                <a16:creationId xmlns:a16="http://schemas.microsoft.com/office/drawing/2014/main" id="{3D81D2C0-F7BD-3E15-89F3-BC98CA99A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150" y="5142431"/>
            <a:ext cx="63500" cy="6191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endParaRPr kumimoji="1" lang="zh-CN" altLang="zh-CN" sz="3200" b="0" i="0"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74" name="Oval 151">
            <a:extLst>
              <a:ext uri="{FF2B5EF4-FFF2-40B4-BE49-F238E27FC236}">
                <a16:creationId xmlns:a16="http://schemas.microsoft.com/office/drawing/2014/main" id="{1F41B017-54AA-E834-553E-3359597B5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6790" y="5166890"/>
            <a:ext cx="63500" cy="6191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endParaRPr kumimoji="1" lang="zh-CN" altLang="zh-CN" sz="3200" b="0" i="0"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75" name="Oval 151">
            <a:extLst>
              <a:ext uri="{FF2B5EF4-FFF2-40B4-BE49-F238E27FC236}">
                <a16:creationId xmlns:a16="http://schemas.microsoft.com/office/drawing/2014/main" id="{3280614F-F08B-7C85-814B-19BA40055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1123" y="5437959"/>
            <a:ext cx="63500" cy="6191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endParaRPr kumimoji="1" lang="zh-CN" altLang="zh-CN" sz="3200" b="0" i="0"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76" name="Oval 151">
            <a:extLst>
              <a:ext uri="{FF2B5EF4-FFF2-40B4-BE49-F238E27FC236}">
                <a16:creationId xmlns:a16="http://schemas.microsoft.com/office/drawing/2014/main" id="{37640302-DDDD-B542-6E39-75A8CDF5B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993" y="4868376"/>
            <a:ext cx="63500" cy="6191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endParaRPr kumimoji="1" lang="zh-CN" altLang="zh-CN" sz="3200" b="0" i="0">
              <a:latin typeface="ISOCPEUR" pitchFamily="34" charset="0"/>
              <a:ea typeface="黑体" pitchFamily="2" charset="-122"/>
            </a:endParaRPr>
          </a:p>
        </p:txBody>
      </p: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E6AA3B82-C060-416A-B936-FFE023FEA42F}"/>
              </a:ext>
            </a:extLst>
          </p:cNvPr>
          <p:cNvCxnSpPr/>
          <p:nvPr/>
        </p:nvCxnSpPr>
        <p:spPr>
          <a:xfrm>
            <a:off x="5643476" y="2540701"/>
            <a:ext cx="0" cy="110196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2FEF2E12-734C-C601-0586-1861030B108F}"/>
              </a:ext>
            </a:extLst>
          </p:cNvPr>
          <p:cNvCxnSpPr/>
          <p:nvPr/>
        </p:nvCxnSpPr>
        <p:spPr>
          <a:xfrm>
            <a:off x="5644094" y="1815201"/>
            <a:ext cx="0" cy="2039932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151">
            <a:extLst>
              <a:ext uri="{FF2B5EF4-FFF2-40B4-BE49-F238E27FC236}">
                <a16:creationId xmlns:a16="http://schemas.microsoft.com/office/drawing/2014/main" id="{504F130F-25DC-F16A-8284-14EC29959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9131" y="2754207"/>
            <a:ext cx="63500" cy="6191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endParaRPr kumimoji="1" lang="zh-CN" altLang="zh-CN" sz="3200" b="0" i="0"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80" name="Oval 151">
            <a:extLst>
              <a:ext uri="{FF2B5EF4-FFF2-40B4-BE49-F238E27FC236}">
                <a16:creationId xmlns:a16="http://schemas.microsoft.com/office/drawing/2014/main" id="{B18B9418-80B0-0C45-4106-93BC5D4F9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7979" y="2504175"/>
            <a:ext cx="63500" cy="6191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endParaRPr kumimoji="1" lang="zh-CN" altLang="zh-CN" sz="3200" b="0" i="0"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81" name="Oval 151">
            <a:extLst>
              <a:ext uri="{FF2B5EF4-FFF2-40B4-BE49-F238E27FC236}">
                <a16:creationId xmlns:a16="http://schemas.microsoft.com/office/drawing/2014/main" id="{514D5FD0-5453-78F9-F34D-C6547DE53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2726" y="2372450"/>
            <a:ext cx="63500" cy="6191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endParaRPr kumimoji="1" lang="zh-CN" altLang="zh-CN" sz="3200" b="0" i="0">
              <a:latin typeface="ISOCPEUR" pitchFamily="34" charset="0"/>
              <a:ea typeface="黑体" pitchFamily="2" charset="-122"/>
            </a:endParaRPr>
          </a:p>
        </p:txBody>
      </p: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64B241B2-22EF-BC48-3DD3-D951D0902997}"/>
              </a:ext>
            </a:extLst>
          </p:cNvPr>
          <p:cNvCxnSpPr/>
          <p:nvPr/>
        </p:nvCxnSpPr>
        <p:spPr>
          <a:xfrm>
            <a:off x="7971405" y="1759257"/>
            <a:ext cx="0" cy="2039932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151">
            <a:extLst>
              <a:ext uri="{FF2B5EF4-FFF2-40B4-BE49-F238E27FC236}">
                <a16:creationId xmlns:a16="http://schemas.microsoft.com/office/drawing/2014/main" id="{E36AA790-D4FE-81B9-A1F0-DBEDFC03B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028" y="2502991"/>
            <a:ext cx="63500" cy="6191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endParaRPr kumimoji="1" lang="zh-CN" altLang="zh-CN" sz="3200" b="0" i="0"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84" name="Oval 151">
            <a:extLst>
              <a:ext uri="{FF2B5EF4-FFF2-40B4-BE49-F238E27FC236}">
                <a16:creationId xmlns:a16="http://schemas.microsoft.com/office/drawing/2014/main" id="{81B8681A-C373-27DF-ABAC-CBC1B517D8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2256" y="2502991"/>
            <a:ext cx="63500" cy="6191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endParaRPr kumimoji="1" lang="zh-CN" altLang="zh-CN" sz="3200" b="0" i="0">
              <a:latin typeface="ISOCPEUR" pitchFamily="34" charset="0"/>
              <a:ea typeface="黑体" pitchFamily="2" charset="-122"/>
            </a:endParaRPr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DDAC24C5-F6B2-258B-1D52-5BC308B4E069}"/>
              </a:ext>
            </a:extLst>
          </p:cNvPr>
          <p:cNvCxnSpPr>
            <a:cxnSpLocks noChangeShapeType="1"/>
            <a:endCxn id="71" idx="0"/>
          </p:cNvCxnSpPr>
          <p:nvPr/>
        </p:nvCxnSpPr>
        <p:spPr bwMode="auto">
          <a:xfrm>
            <a:off x="7974900" y="2418326"/>
            <a:ext cx="30319" cy="336674"/>
          </a:xfrm>
          <a:prstGeom prst="line">
            <a:avLst/>
          </a:prstGeom>
          <a:noFill/>
          <a:ln w="15875" algn="ctr">
            <a:solidFill>
              <a:schemeClr val="bg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6" name="Oval 151">
            <a:extLst>
              <a:ext uri="{FF2B5EF4-FFF2-40B4-BE49-F238E27FC236}">
                <a16:creationId xmlns:a16="http://schemas.microsoft.com/office/drawing/2014/main" id="{B1F53965-80A7-10D9-8BA1-655465C40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1719" y="2354702"/>
            <a:ext cx="63500" cy="6191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endParaRPr kumimoji="1" lang="zh-CN" altLang="zh-CN" sz="3200" b="0" i="0">
              <a:latin typeface="ISOCPEUR" pitchFamily="34" charset="0"/>
              <a:ea typeface="黑体" pitchFamily="2" charset="-122"/>
            </a:endParaRPr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DE532A8C-11FD-F8F3-686F-3BDB7E14E0EE}"/>
              </a:ext>
            </a:extLst>
          </p:cNvPr>
          <p:cNvCxnSpPr>
            <a:endCxn id="88" idx="0"/>
          </p:cNvCxnSpPr>
          <p:nvPr/>
        </p:nvCxnSpPr>
        <p:spPr bwMode="auto">
          <a:xfrm>
            <a:off x="7975462" y="2416615"/>
            <a:ext cx="2612" cy="338294"/>
          </a:xfrm>
          <a:prstGeom prst="line">
            <a:avLst/>
          </a:prstGeom>
          <a:solidFill>
            <a:srgbClr val="CCECFF"/>
          </a:solidFill>
          <a:ln w="158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sm" len="lg"/>
          </a:ln>
          <a:effectLst/>
        </p:spPr>
      </p:cxnSp>
      <p:sp>
        <p:nvSpPr>
          <p:cNvPr id="88" name="Oval 151">
            <a:extLst>
              <a:ext uri="{FF2B5EF4-FFF2-40B4-BE49-F238E27FC236}">
                <a16:creationId xmlns:a16="http://schemas.microsoft.com/office/drawing/2014/main" id="{CBD39BB6-EE31-014F-312F-BFC00EFD0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6324" y="2754909"/>
            <a:ext cx="63500" cy="61913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66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endParaRPr kumimoji="1" lang="zh-CN" altLang="zh-CN" sz="3200" b="0" i="0"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89" name="Text Box 131">
            <a:extLst>
              <a:ext uri="{FF2B5EF4-FFF2-40B4-BE49-F238E27FC236}">
                <a16:creationId xmlns:a16="http://schemas.microsoft.com/office/drawing/2014/main" id="{7ADF45DA-2D8B-03A7-AE3C-D7AF8ECB2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196" y="5786160"/>
            <a:ext cx="24929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>
              <a:defRPr kumimoji="1" sz="2000" b="1">
                <a:latin typeface="黑体" pitchFamily="2" charset="-122"/>
                <a:ea typeface="黑体" pitchFamily="2" charset="-122"/>
              </a:defRPr>
            </a:lvl1pPr>
          </a:lstStyle>
          <a:p>
            <a:r>
              <a:rPr lang="zh-CN" altLang="en-US" b="0" dirty="0"/>
              <a:t>* 补全棱线的投影。</a:t>
            </a:r>
          </a:p>
        </p:txBody>
      </p:sp>
      <p:sp>
        <p:nvSpPr>
          <p:cNvPr id="92" name="Text Box 35">
            <a:extLst>
              <a:ext uri="{FF2B5EF4-FFF2-40B4-BE49-F238E27FC236}">
                <a16:creationId xmlns:a16="http://schemas.microsoft.com/office/drawing/2014/main" id="{926FF6C9-D25E-31CF-8DD1-207D1CD13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850" y="1154981"/>
            <a:ext cx="521649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r>
              <a:rPr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求四棱锥被截切后的俯视图和左视图</a:t>
            </a:r>
            <a:endParaRPr lang="zh-CN" altLang="en-US" sz="2000" b="1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3CD6868E-7B73-5C5F-1AFD-78884E9DC5AE}"/>
              </a:ext>
            </a:extLst>
          </p:cNvPr>
          <p:cNvGrpSpPr/>
          <p:nvPr/>
        </p:nvGrpSpPr>
        <p:grpSpPr>
          <a:xfrm>
            <a:off x="323528" y="1549673"/>
            <a:ext cx="4361554" cy="707886"/>
            <a:chOff x="395536" y="1549673"/>
            <a:chExt cx="4361554" cy="707886"/>
          </a:xfrm>
        </p:grpSpPr>
        <p:sp>
          <p:nvSpPr>
            <p:cNvPr id="2" name="Text Box 87">
              <a:extLst>
                <a:ext uri="{FF2B5EF4-FFF2-40B4-BE49-F238E27FC236}">
                  <a16:creationId xmlns:a16="http://schemas.microsoft.com/office/drawing/2014/main" id="{946DFF88-E87D-2E61-7D3F-8E7FBC7732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536" y="1549673"/>
              <a:ext cx="707800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空间分析</a:t>
              </a:r>
            </a:p>
          </p:txBody>
        </p:sp>
        <p:sp>
          <p:nvSpPr>
            <p:cNvPr id="90" name="Text Box 88">
              <a:extLst>
                <a:ext uri="{FF2B5EF4-FFF2-40B4-BE49-F238E27FC236}">
                  <a16:creationId xmlns:a16="http://schemas.microsoft.com/office/drawing/2014/main" id="{944FCC01-042A-5472-B115-02262E79C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093" y="1549673"/>
              <a:ext cx="3744997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kumimoji="1" sz="2000" b="1">
                  <a:latin typeface="黑体" pitchFamily="2" charset="-122"/>
                  <a:ea typeface="黑体" pitchFamily="2" charset="-122"/>
                </a:defRPr>
              </a:lvl1pPr>
            </a:lstStyle>
            <a:p>
              <a:pPr algn="just"/>
              <a:r>
                <a:rPr lang="zh-CN" altLang="en-US" b="0" dirty="0"/>
                <a:t>截平面与四棱柱的四条棱线相交，截交线为四边形。</a:t>
              </a:r>
            </a:p>
          </p:txBody>
        </p: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09ECEEDC-C44B-1B92-B31E-E693C2A5DFD5}"/>
              </a:ext>
            </a:extLst>
          </p:cNvPr>
          <p:cNvGrpSpPr/>
          <p:nvPr/>
        </p:nvGrpSpPr>
        <p:grpSpPr>
          <a:xfrm>
            <a:off x="323528" y="2410778"/>
            <a:ext cx="4382579" cy="1015663"/>
            <a:chOff x="395536" y="2410778"/>
            <a:chExt cx="4382579" cy="1015663"/>
          </a:xfrm>
        </p:grpSpPr>
        <p:sp>
          <p:nvSpPr>
            <p:cNvPr id="3" name="Text Box 88">
              <a:extLst>
                <a:ext uri="{FF2B5EF4-FFF2-40B4-BE49-F238E27FC236}">
                  <a16:creationId xmlns:a16="http://schemas.microsoft.com/office/drawing/2014/main" id="{F83F3D46-ADE0-7C55-1479-4EC22410CC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2093" y="2410778"/>
              <a:ext cx="3766022" cy="1015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kumimoji="1" sz="2000" b="1">
                  <a:latin typeface="黑体" pitchFamily="2" charset="-122"/>
                  <a:ea typeface="黑体" pitchFamily="2" charset="-122"/>
                </a:defRPr>
              </a:lvl1pPr>
            </a:lstStyle>
            <a:p>
              <a:pPr algn="just"/>
              <a:r>
                <a:rPr lang="zh-CN" altLang="en-US" b="0" dirty="0"/>
                <a:t>截平面为正垂面，截交线的正面投影积聚，水平投影、侧面投影为类似的四边形图形。</a:t>
              </a:r>
            </a:p>
          </p:txBody>
        </p:sp>
        <p:sp>
          <p:nvSpPr>
            <p:cNvPr id="91" name="Text Box 87">
              <a:extLst>
                <a:ext uri="{FF2B5EF4-FFF2-40B4-BE49-F238E27FC236}">
                  <a16:creationId xmlns:a16="http://schemas.microsoft.com/office/drawing/2014/main" id="{B6BC6594-F7E0-2F83-0E03-FC7D41478D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536" y="2410778"/>
              <a:ext cx="707800" cy="7078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kumimoji="1" lang="zh-CN" altLang="en-US" sz="20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投影分析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4224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75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5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75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5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25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75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7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2" dur="2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 animBg="1"/>
      <p:bldP spid="10" grpId="0" animBg="1"/>
      <p:bldP spid="12" grpId="0" animBg="1"/>
      <p:bldP spid="30" grpId="0" animBg="1"/>
      <p:bldP spid="31" grpId="0" animBg="1"/>
      <p:bldP spid="32" grpId="0" build="p" autoUpdateAnimBg="0"/>
      <p:bldP spid="33" grpId="0" build="p" autoUpdateAnimBg="0"/>
      <p:bldP spid="34" grpId="0"/>
      <p:bldP spid="35" grpId="0" build="p" autoUpdateAnimBg="0"/>
      <p:bldP spid="36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64" grpId="0" build="p" autoUpdateAnimBg="0"/>
      <p:bldP spid="65" grpId="0" autoUpdateAnimBg="0"/>
      <p:bldP spid="66" grpId="0" autoUpdateAnimBg="0"/>
      <p:bldP spid="67" grpId="0" autoUpdateAnimBg="0"/>
      <p:bldP spid="73" grpId="0" animBg="1"/>
      <p:bldP spid="74" grpId="0" animBg="1"/>
      <p:bldP spid="75" grpId="0" animBg="1"/>
      <p:bldP spid="76" grpId="0" animBg="1"/>
      <p:bldP spid="79" grpId="0" animBg="1"/>
      <p:bldP spid="80" grpId="0" animBg="1"/>
      <p:bldP spid="81" grpId="0" animBg="1"/>
      <p:bldP spid="83" grpId="0" animBg="1"/>
      <p:bldP spid="84" grpId="0" animBg="1"/>
      <p:bldP spid="86" grpId="0" animBg="1"/>
      <p:bldP spid="88" grpId="0" animBg="1"/>
      <p:bldP spid="8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45E93-0E57-9390-CCC9-78182E0E3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FA8EBE53-D52D-3EC4-DD97-63A948693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11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5CC0A398-B6C3-DB57-8465-7B29FDD3C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4169731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平面与平面体相交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310C0661-8083-60B4-0015-2CCA02205542}"/>
              </a:ext>
            </a:extLst>
          </p:cNvPr>
          <p:cNvSpPr>
            <a:spLocks/>
          </p:cNvSpPr>
          <p:nvPr/>
        </p:nvSpPr>
        <p:spPr bwMode="auto">
          <a:xfrm>
            <a:off x="5762149" y="4112482"/>
            <a:ext cx="587375" cy="1155700"/>
          </a:xfrm>
          <a:custGeom>
            <a:avLst/>
            <a:gdLst>
              <a:gd name="T0" fmla="*/ 0 w 370"/>
              <a:gd name="T1" fmla="*/ 2147483647 h 728"/>
              <a:gd name="T2" fmla="*/ 2147483647 w 370"/>
              <a:gd name="T3" fmla="*/ 0 h 728"/>
              <a:gd name="T4" fmla="*/ 2147483647 w 370"/>
              <a:gd name="T5" fmla="*/ 2147483647 h 728"/>
              <a:gd name="T6" fmla="*/ 2147483647 w 370"/>
              <a:gd name="T7" fmla="*/ 2147483647 h 728"/>
              <a:gd name="T8" fmla="*/ 2147483647 w 370"/>
              <a:gd name="T9" fmla="*/ 2147483647 h 728"/>
              <a:gd name="T10" fmla="*/ 0 w 370"/>
              <a:gd name="T11" fmla="*/ 2147483647 h 728"/>
              <a:gd name="T12" fmla="*/ 0 w 370"/>
              <a:gd name="T13" fmla="*/ 2147483647 h 7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70"/>
              <a:gd name="T22" fmla="*/ 0 h 728"/>
              <a:gd name="T23" fmla="*/ 370 w 370"/>
              <a:gd name="T24" fmla="*/ 728 h 72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70" h="728">
                <a:moveTo>
                  <a:pt x="0" y="232"/>
                </a:moveTo>
                <a:lnTo>
                  <a:pt x="232" y="0"/>
                </a:lnTo>
                <a:lnTo>
                  <a:pt x="370" y="136"/>
                </a:lnTo>
                <a:lnTo>
                  <a:pt x="370" y="592"/>
                </a:lnTo>
                <a:lnTo>
                  <a:pt x="234" y="728"/>
                </a:lnTo>
                <a:lnTo>
                  <a:pt x="0" y="494"/>
                </a:lnTo>
                <a:lnTo>
                  <a:pt x="0" y="232"/>
                </a:lnTo>
                <a:close/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7A5DB91-2B64-D46B-7391-1EC505FFE5D2}"/>
              </a:ext>
            </a:extLst>
          </p:cNvPr>
          <p:cNvSpPr>
            <a:spLocks/>
          </p:cNvSpPr>
          <p:nvPr/>
        </p:nvSpPr>
        <p:spPr bwMode="auto">
          <a:xfrm>
            <a:off x="6038374" y="4112482"/>
            <a:ext cx="323850" cy="1155700"/>
          </a:xfrm>
          <a:custGeom>
            <a:avLst/>
            <a:gdLst>
              <a:gd name="T0" fmla="*/ 0 w 204"/>
              <a:gd name="T1" fmla="*/ 2147483647 h 728"/>
              <a:gd name="T2" fmla="*/ 0 w 204"/>
              <a:gd name="T3" fmla="*/ 2147483647 h 728"/>
              <a:gd name="T4" fmla="*/ 2147483647 w 204"/>
              <a:gd name="T5" fmla="*/ 0 h 728"/>
              <a:gd name="T6" fmla="*/ 2147483647 w 204"/>
              <a:gd name="T7" fmla="*/ 2147483647 h 728"/>
              <a:gd name="T8" fmla="*/ 2147483647 w 204"/>
              <a:gd name="T9" fmla="*/ 2147483647 h 728"/>
              <a:gd name="T10" fmla="*/ 2147483647 w 204"/>
              <a:gd name="T11" fmla="*/ 2147483647 h 728"/>
              <a:gd name="T12" fmla="*/ 0 w 204"/>
              <a:gd name="T13" fmla="*/ 2147483647 h 7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04"/>
              <a:gd name="T22" fmla="*/ 0 h 728"/>
              <a:gd name="T23" fmla="*/ 204 w 204"/>
              <a:gd name="T24" fmla="*/ 728 h 72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04" h="728">
                <a:moveTo>
                  <a:pt x="0" y="660"/>
                </a:moveTo>
                <a:lnTo>
                  <a:pt x="0" y="72"/>
                </a:lnTo>
                <a:lnTo>
                  <a:pt x="72" y="0"/>
                </a:lnTo>
                <a:lnTo>
                  <a:pt x="204" y="132"/>
                </a:lnTo>
                <a:lnTo>
                  <a:pt x="204" y="596"/>
                </a:lnTo>
                <a:lnTo>
                  <a:pt x="72" y="728"/>
                </a:lnTo>
                <a:lnTo>
                  <a:pt x="0" y="660"/>
                </a:lnTo>
                <a:close/>
              </a:path>
            </a:pathLst>
          </a:custGeom>
          <a:noFill/>
          <a:ln w="38100">
            <a:solidFill>
              <a:srgbClr val="9900CC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1B9AB84-A882-C857-74FC-A7775CD69477}"/>
              </a:ext>
            </a:extLst>
          </p:cNvPr>
          <p:cNvSpPr>
            <a:spLocks/>
          </p:cNvSpPr>
          <p:nvPr/>
        </p:nvSpPr>
        <p:spPr bwMode="auto">
          <a:xfrm>
            <a:off x="5558949" y="4223607"/>
            <a:ext cx="463550" cy="936625"/>
          </a:xfrm>
          <a:custGeom>
            <a:avLst/>
            <a:gdLst>
              <a:gd name="T0" fmla="*/ 0 w 292"/>
              <a:gd name="T1" fmla="*/ 2147483647 h 590"/>
              <a:gd name="T2" fmla="*/ 2147483647 w 292"/>
              <a:gd name="T3" fmla="*/ 0 h 590"/>
              <a:gd name="T4" fmla="*/ 2147483647 w 292"/>
              <a:gd name="T5" fmla="*/ 2147483647 h 590"/>
              <a:gd name="T6" fmla="*/ 0 w 292"/>
              <a:gd name="T7" fmla="*/ 2147483647 h 590"/>
              <a:gd name="T8" fmla="*/ 0 60000 65536"/>
              <a:gd name="T9" fmla="*/ 0 60000 65536"/>
              <a:gd name="T10" fmla="*/ 0 60000 65536"/>
              <a:gd name="T11" fmla="*/ 0 60000 65536"/>
              <a:gd name="T12" fmla="*/ 0 w 292"/>
              <a:gd name="T13" fmla="*/ 0 h 590"/>
              <a:gd name="T14" fmla="*/ 292 w 292"/>
              <a:gd name="T15" fmla="*/ 590 h 59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92" h="590">
                <a:moveTo>
                  <a:pt x="0" y="292"/>
                </a:moveTo>
                <a:lnTo>
                  <a:pt x="292" y="0"/>
                </a:lnTo>
                <a:lnTo>
                  <a:pt x="292" y="590"/>
                </a:lnTo>
                <a:lnTo>
                  <a:pt x="0" y="292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1A035E17-3F6E-C368-49A5-703EF345444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54174" y="4688745"/>
            <a:ext cx="1400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A9CEF3DF-823E-7F35-438B-89189ABC6CD1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8237" y="3045682"/>
            <a:ext cx="0" cy="1262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BC38CD29-F421-DB47-19DE-33F5D47AFCF5}"/>
              </a:ext>
            </a:extLst>
          </p:cNvPr>
          <p:cNvSpPr>
            <a:spLocks noChangeShapeType="1"/>
          </p:cNvSpPr>
          <p:nvPr/>
        </p:nvSpPr>
        <p:spPr bwMode="auto">
          <a:xfrm>
            <a:off x="8425974" y="3045682"/>
            <a:ext cx="0" cy="1281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1A068041-36A7-97A5-43CD-181CD6F3CFE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9724" y="1964595"/>
            <a:ext cx="0" cy="225107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DDE58D25-AF9D-4035-A3B2-8005F80AC82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16362" y="1916970"/>
            <a:ext cx="0" cy="2257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A940AD29-3FF7-41DC-FE49-41FAF32C3738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7774" y="2278920"/>
            <a:ext cx="0" cy="1952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DB904CEB-1C37-6025-68D5-7A70BF1CCCE6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3562" y="1940782"/>
            <a:ext cx="0" cy="2257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490B6ED9-5C91-3872-B01A-1CF1CB98810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11674" y="2269395"/>
            <a:ext cx="0" cy="19859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6E5476F1-A06A-1EA5-6211-4C2C7ABD8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1774" y="3860070"/>
            <a:ext cx="3390900" cy="0"/>
          </a:xfrm>
          <a:prstGeom prst="line">
            <a:avLst/>
          </a:prstGeom>
          <a:noFill/>
          <a:ln w="317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" name="Line 14">
            <a:extLst>
              <a:ext uri="{FF2B5EF4-FFF2-40B4-BE49-F238E27FC236}">
                <a16:creationId xmlns:a16="http://schemas.microsoft.com/office/drawing/2014/main" id="{AC89D2E4-33D4-E492-0D82-88C804A183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8924" y="2097945"/>
            <a:ext cx="3419475" cy="0"/>
          </a:xfrm>
          <a:prstGeom prst="line">
            <a:avLst/>
          </a:prstGeom>
          <a:noFill/>
          <a:ln w="317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" name="Line 15">
            <a:extLst>
              <a:ext uri="{FF2B5EF4-FFF2-40B4-BE49-F238E27FC236}">
                <a16:creationId xmlns:a16="http://schemas.microsoft.com/office/drawing/2014/main" id="{8673E3EC-AC28-B21D-0D2C-5E24FAC1F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8024" y="2336070"/>
            <a:ext cx="300037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" name="Line 16">
            <a:extLst>
              <a:ext uri="{FF2B5EF4-FFF2-40B4-BE49-F238E27FC236}">
                <a16:creationId xmlns:a16="http://schemas.microsoft.com/office/drawing/2014/main" id="{D896FE0D-E402-9EC3-2823-C2421148180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3812" y="2812320"/>
            <a:ext cx="2414587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A875F05E-CA5E-92A3-E90D-E6BEB778D40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3812" y="3307620"/>
            <a:ext cx="2414587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" name="Line 18">
            <a:extLst>
              <a:ext uri="{FF2B5EF4-FFF2-40B4-BE49-F238E27FC236}">
                <a16:creationId xmlns:a16="http://schemas.microsoft.com/office/drawing/2014/main" id="{3BCBC047-DC8D-8271-A52E-7F5B7BA331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8949" y="3640995"/>
            <a:ext cx="3267075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" name="Line 19">
            <a:extLst>
              <a:ext uri="{FF2B5EF4-FFF2-40B4-BE49-F238E27FC236}">
                <a16:creationId xmlns:a16="http://schemas.microsoft.com/office/drawing/2014/main" id="{6628ED83-299F-74C2-13EC-C3C57C4075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8699" y="1983645"/>
            <a:ext cx="0" cy="2124075"/>
          </a:xfrm>
          <a:prstGeom prst="line">
            <a:avLst/>
          </a:prstGeom>
          <a:noFill/>
          <a:ln w="317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913BF577-94EA-45C8-7650-DFC577DCF67E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0749" y="1964595"/>
            <a:ext cx="0" cy="2124075"/>
          </a:xfrm>
          <a:prstGeom prst="line">
            <a:avLst/>
          </a:prstGeom>
          <a:noFill/>
          <a:ln w="317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F1573562-DFC3-905D-DEE6-ABD3F0108D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0449" y="2626582"/>
            <a:ext cx="26479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CFD43FFB-B062-3787-D735-C4E22F45F7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22124" y="2047200"/>
            <a:ext cx="0" cy="158115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" name="Line 24">
            <a:extLst>
              <a:ext uri="{FF2B5EF4-FFF2-40B4-BE49-F238E27FC236}">
                <a16:creationId xmlns:a16="http://schemas.microsoft.com/office/drawing/2014/main" id="{352B1024-0B88-3DB4-6E5C-C69300DCE4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8224" y="2034500"/>
            <a:ext cx="0" cy="161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8F5B3308-DA22-2740-0ACF-20794D4C6C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30174" y="2021800"/>
            <a:ext cx="0" cy="16002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5E09D0FF-6614-3098-03D2-38FD70630C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5674" y="3410862"/>
            <a:ext cx="2074863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62E65C64-8CDF-E0BE-23C1-1B7DD0EAFED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324" y="2345650"/>
            <a:ext cx="196215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8A215860-13CF-3BE1-431C-7387B27679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124" y="2517100"/>
            <a:ext cx="2451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" name="Line 29">
            <a:extLst>
              <a:ext uri="{FF2B5EF4-FFF2-40B4-BE49-F238E27FC236}">
                <a16:creationId xmlns:a16="http://schemas.microsoft.com/office/drawing/2014/main" id="{DCBDD81C-10F2-4CE4-05C8-D5D6AA39F6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8274" y="2644100"/>
            <a:ext cx="2787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0" name="Line 30">
            <a:extLst>
              <a:ext uri="{FF2B5EF4-FFF2-40B4-BE49-F238E27FC236}">
                <a16:creationId xmlns:a16="http://schemas.microsoft.com/office/drawing/2014/main" id="{245FF60E-9FE8-D6F2-CEA8-B212AFA83E9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1524" y="2885400"/>
            <a:ext cx="345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32" name="Group 35">
            <a:extLst>
              <a:ext uri="{FF2B5EF4-FFF2-40B4-BE49-F238E27FC236}">
                <a16:creationId xmlns:a16="http://schemas.microsoft.com/office/drawing/2014/main" id="{DFAA2EA5-A29E-3ABC-5672-1FB5936EAD47}"/>
              </a:ext>
            </a:extLst>
          </p:cNvPr>
          <p:cNvGrpSpPr>
            <a:grpSpLocks/>
          </p:cNvGrpSpPr>
          <p:nvPr/>
        </p:nvGrpSpPr>
        <p:grpSpPr bwMode="auto">
          <a:xfrm>
            <a:off x="761524" y="2352000"/>
            <a:ext cx="1447800" cy="1060450"/>
            <a:chOff x="844" y="2200"/>
            <a:chExt cx="912" cy="668"/>
          </a:xfrm>
        </p:grpSpPr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B9B67B8E-0E60-10D0-B476-CCC420167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" y="2200"/>
              <a:ext cx="912" cy="668"/>
            </a:xfrm>
            <a:custGeom>
              <a:avLst/>
              <a:gdLst>
                <a:gd name="T0" fmla="*/ 0 w 912"/>
                <a:gd name="T1" fmla="*/ 668 h 668"/>
                <a:gd name="T2" fmla="*/ 0 w 912"/>
                <a:gd name="T3" fmla="*/ 336 h 668"/>
                <a:gd name="T4" fmla="*/ 912 w 912"/>
                <a:gd name="T5" fmla="*/ 0 h 668"/>
                <a:gd name="T6" fmla="*/ 912 w 912"/>
                <a:gd name="T7" fmla="*/ 668 h 668"/>
                <a:gd name="T8" fmla="*/ 0 w 912"/>
                <a:gd name="T9" fmla="*/ 668 h 6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12"/>
                <a:gd name="T16" fmla="*/ 0 h 668"/>
                <a:gd name="T17" fmla="*/ 912 w 912"/>
                <a:gd name="T18" fmla="*/ 668 h 6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12" h="668">
                  <a:moveTo>
                    <a:pt x="0" y="668"/>
                  </a:moveTo>
                  <a:lnTo>
                    <a:pt x="0" y="336"/>
                  </a:lnTo>
                  <a:lnTo>
                    <a:pt x="912" y="0"/>
                  </a:lnTo>
                  <a:lnTo>
                    <a:pt x="912" y="668"/>
                  </a:lnTo>
                  <a:lnTo>
                    <a:pt x="0" y="668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37">
              <a:extLst>
                <a:ext uri="{FF2B5EF4-FFF2-40B4-BE49-F238E27FC236}">
                  <a16:creationId xmlns:a16="http://schemas.microsoft.com/office/drawing/2014/main" id="{9B1EB4DF-6F29-26D2-AEF3-F601DA8AF8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4" y="2380"/>
              <a:ext cx="0" cy="4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38">
              <a:extLst>
                <a:ext uri="{FF2B5EF4-FFF2-40B4-BE49-F238E27FC236}">
                  <a16:creationId xmlns:a16="http://schemas.microsoft.com/office/drawing/2014/main" id="{DD3ED23D-7AA9-BA5B-5C67-4E36AF20F0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68" y="2308"/>
              <a:ext cx="0" cy="5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6" name="Text Box 39">
            <a:extLst>
              <a:ext uri="{FF2B5EF4-FFF2-40B4-BE49-F238E27FC236}">
                <a16:creationId xmlns:a16="http://schemas.microsoft.com/office/drawing/2014/main" id="{F8FCD5DF-F75E-3503-CD21-887DDAAB2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487" y="3647182"/>
            <a:ext cx="16732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 dirty="0">
                <a:latin typeface="ISOCPEUR" pitchFamily="34" charset="0"/>
              </a:rPr>
              <a:t>1                    2  </a:t>
            </a:r>
            <a:endParaRPr kumimoji="0" lang="en-US" altLang="zh-CN" sz="2400" b="1" dirty="0">
              <a:latin typeface="ISOCPEUR" pitchFamily="34" charset="0"/>
            </a:endParaRPr>
          </a:p>
        </p:txBody>
      </p:sp>
      <p:sp>
        <p:nvSpPr>
          <p:cNvPr id="38" name="Text Box 40">
            <a:extLst>
              <a:ext uri="{FF2B5EF4-FFF2-40B4-BE49-F238E27FC236}">
                <a16:creationId xmlns:a16="http://schemas.microsoft.com/office/drawing/2014/main" id="{3666B892-CD36-385B-0DEF-DFEB39282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9474" y="4216299"/>
            <a:ext cx="306388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3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en-US" altLang="zh-CN" sz="1800" b="1">
              <a:latin typeface="ISOCPEUR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4</a:t>
            </a:r>
          </a:p>
        </p:txBody>
      </p:sp>
      <p:sp>
        <p:nvSpPr>
          <p:cNvPr id="39" name="Text Box 41">
            <a:extLst>
              <a:ext uri="{FF2B5EF4-FFF2-40B4-BE49-F238E27FC236}">
                <a16:creationId xmlns:a16="http://schemas.microsoft.com/office/drawing/2014/main" id="{55F9A9CA-A0B2-40F2-EEBD-FCF8CB706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2549" y="4228999"/>
            <a:ext cx="344488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 dirty="0">
                <a:latin typeface="ISOCPEUR" pitchFamily="34" charset="0"/>
              </a:rPr>
              <a:t>6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en-US" altLang="zh-CN" sz="1800" b="1" dirty="0">
              <a:latin typeface="ISOCPEUR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 dirty="0">
                <a:latin typeface="ISOCPEUR" pitchFamily="34" charset="0"/>
              </a:rPr>
              <a:t>5</a:t>
            </a:r>
          </a:p>
        </p:txBody>
      </p:sp>
      <p:sp>
        <p:nvSpPr>
          <p:cNvPr id="40" name="Text Box 42">
            <a:extLst>
              <a:ext uri="{FF2B5EF4-FFF2-40B4-BE49-F238E27FC236}">
                <a16:creationId xmlns:a16="http://schemas.microsoft.com/office/drawing/2014/main" id="{BE03B64E-DA9E-08CF-1F67-43C240456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499" y="4248049"/>
            <a:ext cx="3635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7</a:t>
            </a:r>
          </a:p>
        </p:txBody>
      </p:sp>
      <p:sp>
        <p:nvSpPr>
          <p:cNvPr id="41" name="Text Box 43">
            <a:extLst>
              <a:ext uri="{FF2B5EF4-FFF2-40B4-BE49-F238E27FC236}">
                <a16:creationId xmlns:a16="http://schemas.microsoft.com/office/drawing/2014/main" id="{81769BE6-2C4F-1CFC-96D5-D4617F31A1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037" y="2694900"/>
            <a:ext cx="6207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1’, 7’</a:t>
            </a:r>
          </a:p>
        </p:txBody>
      </p:sp>
      <p:sp>
        <p:nvSpPr>
          <p:cNvPr id="42" name="Freeform 44">
            <a:extLst>
              <a:ext uri="{FF2B5EF4-FFF2-40B4-BE49-F238E27FC236}">
                <a16:creationId xmlns:a16="http://schemas.microsoft.com/office/drawing/2014/main" id="{E354A1AA-D265-0539-75F7-DC1601CFB598}"/>
              </a:ext>
            </a:extLst>
          </p:cNvPr>
          <p:cNvSpPr>
            <a:spLocks/>
          </p:cNvSpPr>
          <p:nvPr/>
        </p:nvSpPr>
        <p:spPr bwMode="auto">
          <a:xfrm>
            <a:off x="761524" y="3949599"/>
            <a:ext cx="1447800" cy="914400"/>
          </a:xfrm>
          <a:custGeom>
            <a:avLst/>
            <a:gdLst>
              <a:gd name="T0" fmla="*/ 0 w 912"/>
              <a:gd name="T1" fmla="*/ 2147483647 h 576"/>
              <a:gd name="T2" fmla="*/ 0 w 912"/>
              <a:gd name="T3" fmla="*/ 0 h 576"/>
              <a:gd name="T4" fmla="*/ 2147483647 w 912"/>
              <a:gd name="T5" fmla="*/ 0 h 576"/>
              <a:gd name="T6" fmla="*/ 2147483647 w 912"/>
              <a:gd name="T7" fmla="*/ 2147483647 h 576"/>
              <a:gd name="T8" fmla="*/ 2147483647 w 912"/>
              <a:gd name="T9" fmla="*/ 2147483647 h 576"/>
              <a:gd name="T10" fmla="*/ 2147483647 w 912"/>
              <a:gd name="T11" fmla="*/ 2147483647 h 576"/>
              <a:gd name="T12" fmla="*/ 2147483647 w 912"/>
              <a:gd name="T13" fmla="*/ 2147483647 h 576"/>
              <a:gd name="T14" fmla="*/ 0 w 912"/>
              <a:gd name="T15" fmla="*/ 2147483647 h 57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912"/>
              <a:gd name="T25" fmla="*/ 0 h 576"/>
              <a:gd name="T26" fmla="*/ 912 w 912"/>
              <a:gd name="T27" fmla="*/ 576 h 57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912" h="576">
                <a:moveTo>
                  <a:pt x="0" y="348"/>
                </a:moveTo>
                <a:lnTo>
                  <a:pt x="0" y="0"/>
                </a:lnTo>
                <a:lnTo>
                  <a:pt x="632" y="0"/>
                </a:lnTo>
                <a:lnTo>
                  <a:pt x="912" y="348"/>
                </a:lnTo>
                <a:lnTo>
                  <a:pt x="912" y="576"/>
                </a:lnTo>
                <a:lnTo>
                  <a:pt x="420" y="576"/>
                </a:lnTo>
                <a:lnTo>
                  <a:pt x="420" y="348"/>
                </a:lnTo>
                <a:lnTo>
                  <a:pt x="0" y="348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" name="Text Box 45">
            <a:extLst>
              <a:ext uri="{FF2B5EF4-FFF2-40B4-BE49-F238E27FC236}">
                <a16:creationId xmlns:a16="http://schemas.microsoft.com/office/drawing/2014/main" id="{43B29108-F932-5743-D9CC-A0DBEC83E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6625" y="2344856"/>
            <a:ext cx="6508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5’, 6’</a:t>
            </a:r>
          </a:p>
        </p:txBody>
      </p:sp>
      <p:sp>
        <p:nvSpPr>
          <p:cNvPr id="44" name="Text Box 46">
            <a:extLst>
              <a:ext uri="{FF2B5EF4-FFF2-40B4-BE49-F238E27FC236}">
                <a16:creationId xmlns:a16="http://schemas.microsoft.com/office/drawing/2014/main" id="{CC4AEE3D-8240-431A-6DF2-26449CA32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7499" y="2231350"/>
            <a:ext cx="3444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2’</a:t>
            </a:r>
          </a:p>
        </p:txBody>
      </p:sp>
      <p:sp>
        <p:nvSpPr>
          <p:cNvPr id="45" name="Text Box 47">
            <a:extLst>
              <a:ext uri="{FF2B5EF4-FFF2-40B4-BE49-F238E27FC236}">
                <a16:creationId xmlns:a16="http://schemas.microsoft.com/office/drawing/2014/main" id="{C7D31DF4-F0FF-18C7-0C95-48F1B7862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5962" y="2040850"/>
            <a:ext cx="666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3’, 4’</a:t>
            </a:r>
          </a:p>
        </p:txBody>
      </p:sp>
      <p:sp>
        <p:nvSpPr>
          <p:cNvPr id="46" name="Text Box 48">
            <a:extLst>
              <a:ext uri="{FF2B5EF4-FFF2-40B4-BE49-F238E27FC236}">
                <a16:creationId xmlns:a16="http://schemas.microsoft.com/office/drawing/2014/main" id="{33B93C19-1719-87C4-6C01-59DE61841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9212" y="2726650"/>
            <a:ext cx="555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1”</a:t>
            </a:r>
          </a:p>
        </p:txBody>
      </p:sp>
      <p:sp>
        <p:nvSpPr>
          <p:cNvPr id="47" name="Text Box 49">
            <a:extLst>
              <a:ext uri="{FF2B5EF4-FFF2-40B4-BE49-F238E27FC236}">
                <a16:creationId xmlns:a16="http://schemas.microsoft.com/office/drawing/2014/main" id="{0E816F9B-154C-FC38-735E-B4D3AEB58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224" y="2352000"/>
            <a:ext cx="3825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2”</a:t>
            </a:r>
          </a:p>
        </p:txBody>
      </p:sp>
      <p:sp>
        <p:nvSpPr>
          <p:cNvPr id="48" name="Text Box 50">
            <a:extLst>
              <a:ext uri="{FF2B5EF4-FFF2-40B4-BE49-F238E27FC236}">
                <a16:creationId xmlns:a16="http://schemas.microsoft.com/office/drawing/2014/main" id="{75B4D0ED-029E-783C-BB69-EEFEB2F1D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324" y="2040850"/>
            <a:ext cx="3825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3”</a:t>
            </a:r>
          </a:p>
        </p:txBody>
      </p:sp>
      <p:sp>
        <p:nvSpPr>
          <p:cNvPr id="49" name="Text Box 51">
            <a:extLst>
              <a:ext uri="{FF2B5EF4-FFF2-40B4-BE49-F238E27FC236}">
                <a16:creationId xmlns:a16="http://schemas.microsoft.com/office/drawing/2014/main" id="{618D067B-9983-09AE-3D97-EE766FD15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087" y="2028150"/>
            <a:ext cx="3984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4”</a:t>
            </a:r>
          </a:p>
        </p:txBody>
      </p:sp>
      <p:sp>
        <p:nvSpPr>
          <p:cNvPr id="50" name="Text Box 52">
            <a:extLst>
              <a:ext uri="{FF2B5EF4-FFF2-40B4-BE49-F238E27FC236}">
                <a16:creationId xmlns:a16="http://schemas.microsoft.com/office/drawing/2014/main" id="{D551C915-64EE-B71B-C99F-ACDF20ED0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1924" y="2548850"/>
            <a:ext cx="3825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5”</a:t>
            </a:r>
          </a:p>
        </p:txBody>
      </p:sp>
      <p:sp>
        <p:nvSpPr>
          <p:cNvPr id="51" name="Text Box 53">
            <a:extLst>
              <a:ext uri="{FF2B5EF4-FFF2-40B4-BE49-F238E27FC236}">
                <a16:creationId xmlns:a16="http://schemas.microsoft.com/office/drawing/2014/main" id="{B588D07A-5933-A270-7421-503B25C6E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8224" y="2593300"/>
            <a:ext cx="3825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6”</a:t>
            </a:r>
          </a:p>
        </p:txBody>
      </p:sp>
      <p:sp>
        <p:nvSpPr>
          <p:cNvPr id="52" name="Freeform 54">
            <a:extLst>
              <a:ext uri="{FF2B5EF4-FFF2-40B4-BE49-F238E27FC236}">
                <a16:creationId xmlns:a16="http://schemas.microsoft.com/office/drawing/2014/main" id="{EEB18B47-3F5B-018E-3727-89901E6D7B45}"/>
              </a:ext>
            </a:extLst>
          </p:cNvPr>
          <p:cNvSpPr>
            <a:spLocks/>
          </p:cNvSpPr>
          <p:nvPr/>
        </p:nvSpPr>
        <p:spPr bwMode="auto">
          <a:xfrm>
            <a:off x="3022124" y="2345650"/>
            <a:ext cx="908050" cy="539750"/>
          </a:xfrm>
          <a:custGeom>
            <a:avLst/>
            <a:gdLst>
              <a:gd name="T0" fmla="*/ 0 w 572"/>
              <a:gd name="T1" fmla="*/ 2147483647 h 340"/>
              <a:gd name="T2" fmla="*/ 0 w 572"/>
              <a:gd name="T3" fmla="*/ 2147483647 h 340"/>
              <a:gd name="T4" fmla="*/ 2147483647 w 572"/>
              <a:gd name="T5" fmla="*/ 0 h 340"/>
              <a:gd name="T6" fmla="*/ 2147483647 w 572"/>
              <a:gd name="T7" fmla="*/ 0 h 340"/>
              <a:gd name="T8" fmla="*/ 2147483647 w 572"/>
              <a:gd name="T9" fmla="*/ 2147483647 h 340"/>
              <a:gd name="T10" fmla="*/ 2147483647 w 572"/>
              <a:gd name="T11" fmla="*/ 2147483647 h 340"/>
              <a:gd name="T12" fmla="*/ 2147483647 w 572"/>
              <a:gd name="T13" fmla="*/ 2147483647 h 340"/>
              <a:gd name="T14" fmla="*/ 0 w 572"/>
              <a:gd name="T15" fmla="*/ 2147483647 h 34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572"/>
              <a:gd name="T25" fmla="*/ 0 h 340"/>
              <a:gd name="T26" fmla="*/ 572 w 572"/>
              <a:gd name="T27" fmla="*/ 340 h 34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572" h="340">
                <a:moveTo>
                  <a:pt x="0" y="340"/>
                </a:moveTo>
                <a:lnTo>
                  <a:pt x="0" y="108"/>
                </a:lnTo>
                <a:lnTo>
                  <a:pt x="344" y="0"/>
                </a:lnTo>
                <a:lnTo>
                  <a:pt x="572" y="0"/>
                </a:lnTo>
                <a:lnTo>
                  <a:pt x="572" y="188"/>
                </a:lnTo>
                <a:lnTo>
                  <a:pt x="344" y="188"/>
                </a:lnTo>
                <a:lnTo>
                  <a:pt x="344" y="340"/>
                </a:lnTo>
                <a:lnTo>
                  <a:pt x="0" y="34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3" name="Text Box 55">
            <a:extLst>
              <a:ext uri="{FF2B5EF4-FFF2-40B4-BE49-F238E27FC236}">
                <a16:creationId xmlns:a16="http://schemas.microsoft.com/office/drawing/2014/main" id="{29DECA1E-3624-6725-5BC8-28984C76D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9174" y="2847300"/>
            <a:ext cx="3825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7”</a:t>
            </a:r>
          </a:p>
        </p:txBody>
      </p:sp>
      <p:sp>
        <p:nvSpPr>
          <p:cNvPr id="54" name="Line 56">
            <a:extLst>
              <a:ext uri="{FF2B5EF4-FFF2-40B4-BE49-F238E27FC236}">
                <a16:creationId xmlns:a16="http://schemas.microsoft.com/office/drawing/2014/main" id="{A5B73380-0093-E4D4-2C7D-48456259C2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2124" y="2885400"/>
            <a:ext cx="0" cy="527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5" name="Line 57">
            <a:extLst>
              <a:ext uri="{FF2B5EF4-FFF2-40B4-BE49-F238E27FC236}">
                <a16:creationId xmlns:a16="http://schemas.microsoft.com/office/drawing/2014/main" id="{8CE45D07-7FCF-0EDE-4A4B-FDD5055237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9424" y="3412450"/>
            <a:ext cx="920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6" name="AutoShape 58">
            <a:extLst>
              <a:ext uri="{FF2B5EF4-FFF2-40B4-BE49-F238E27FC236}">
                <a16:creationId xmlns:a16="http://schemas.microsoft.com/office/drawing/2014/main" id="{77E826B4-08F1-F1CD-EEA0-8EE73DF7E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024" y="2853650"/>
            <a:ext cx="74613" cy="74612"/>
          </a:xfrm>
          <a:prstGeom prst="flowChartConnector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57" name="AutoShape 59">
            <a:extLst>
              <a:ext uri="{FF2B5EF4-FFF2-40B4-BE49-F238E27FC236}">
                <a16:creationId xmlns:a16="http://schemas.microsoft.com/office/drawing/2014/main" id="{52C1F15F-FC70-DD3B-E1B5-3CA85EBCC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4024" y="2479000"/>
            <a:ext cx="74613" cy="74612"/>
          </a:xfrm>
          <a:prstGeom prst="flowChartConnector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58" name="AutoShape 60">
            <a:extLst>
              <a:ext uri="{FF2B5EF4-FFF2-40B4-BE49-F238E27FC236}">
                <a16:creationId xmlns:a16="http://schemas.microsoft.com/office/drawing/2014/main" id="{E9E92053-AFCD-5CCA-BE47-DF066F6C8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0124" y="2307550"/>
            <a:ext cx="74613" cy="74612"/>
          </a:xfrm>
          <a:prstGeom prst="flowChartConnector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59" name="AutoShape 61">
            <a:extLst>
              <a:ext uri="{FF2B5EF4-FFF2-40B4-BE49-F238E27FC236}">
                <a16:creationId xmlns:a16="http://schemas.microsoft.com/office/drawing/2014/main" id="{7EEC756E-5512-872F-27B9-EFBD42C9B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0124" y="2606000"/>
            <a:ext cx="74613" cy="74612"/>
          </a:xfrm>
          <a:prstGeom prst="flowChartConnector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60" name="Line 62">
            <a:extLst>
              <a:ext uri="{FF2B5EF4-FFF2-40B4-BE49-F238E27FC236}">
                <a16:creationId xmlns:a16="http://schemas.microsoft.com/office/drawing/2014/main" id="{820D9AC6-315D-CFC0-D384-D1203E189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8224" y="2885400"/>
            <a:ext cx="0" cy="527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" name="AutoShape 63">
            <a:extLst>
              <a:ext uri="{FF2B5EF4-FFF2-40B4-BE49-F238E27FC236}">
                <a16:creationId xmlns:a16="http://schemas.microsoft.com/office/drawing/2014/main" id="{A3DEF94B-903F-1684-A8A6-BAA2E354A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2074" y="2307550"/>
            <a:ext cx="74613" cy="74612"/>
          </a:xfrm>
          <a:prstGeom prst="flowChartConnector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62" name="Line 64">
            <a:extLst>
              <a:ext uri="{FF2B5EF4-FFF2-40B4-BE49-F238E27FC236}">
                <a16:creationId xmlns:a16="http://schemas.microsoft.com/office/drawing/2014/main" id="{6294CD5C-8985-8F6D-0932-2A2D5212B5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0174" y="2650450"/>
            <a:ext cx="0" cy="768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3" name="AutoShape 65">
            <a:extLst>
              <a:ext uri="{FF2B5EF4-FFF2-40B4-BE49-F238E27FC236}">
                <a16:creationId xmlns:a16="http://schemas.microsoft.com/office/drawing/2014/main" id="{87407380-9816-469D-571C-9198659F3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0124" y="2840950"/>
            <a:ext cx="74613" cy="74612"/>
          </a:xfrm>
          <a:prstGeom prst="flowChartConnector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64" name="AutoShape 66">
            <a:extLst>
              <a:ext uri="{FF2B5EF4-FFF2-40B4-BE49-F238E27FC236}">
                <a16:creationId xmlns:a16="http://schemas.microsoft.com/office/drawing/2014/main" id="{DF5B204A-C7FE-B093-4C7B-914897793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2074" y="2606000"/>
            <a:ext cx="74613" cy="74612"/>
          </a:xfrm>
          <a:prstGeom prst="flowChartConnector">
            <a:avLst/>
          </a:prstGeom>
          <a:solidFill>
            <a:srgbClr val="FFFFCC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grpSp>
        <p:nvGrpSpPr>
          <p:cNvPr id="65" name="Group 67">
            <a:extLst>
              <a:ext uri="{FF2B5EF4-FFF2-40B4-BE49-F238E27FC236}">
                <a16:creationId xmlns:a16="http://schemas.microsoft.com/office/drawing/2014/main" id="{60BB87E8-F9FD-8DB2-4797-3D979FC35093}"/>
              </a:ext>
            </a:extLst>
          </p:cNvPr>
          <p:cNvGrpSpPr>
            <a:grpSpLocks/>
          </p:cNvGrpSpPr>
          <p:nvPr/>
        </p:nvGrpSpPr>
        <p:grpSpPr bwMode="auto">
          <a:xfrm>
            <a:off x="5558949" y="4107720"/>
            <a:ext cx="1162050" cy="1166812"/>
            <a:chOff x="3612" y="3318"/>
            <a:chExt cx="732" cy="735"/>
          </a:xfrm>
        </p:grpSpPr>
        <p:sp>
          <p:nvSpPr>
            <p:cNvPr id="66" name="Freeform 68">
              <a:extLst>
                <a:ext uri="{FF2B5EF4-FFF2-40B4-BE49-F238E27FC236}">
                  <a16:creationId xmlns:a16="http://schemas.microsoft.com/office/drawing/2014/main" id="{78E767CA-06BD-0044-3957-B4CF9D90F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" y="3318"/>
              <a:ext cx="732" cy="735"/>
            </a:xfrm>
            <a:custGeom>
              <a:avLst/>
              <a:gdLst>
                <a:gd name="T0" fmla="*/ 0 w 732"/>
                <a:gd name="T1" fmla="*/ 366 h 735"/>
                <a:gd name="T2" fmla="*/ 366 w 732"/>
                <a:gd name="T3" fmla="*/ 0 h 735"/>
                <a:gd name="T4" fmla="*/ 732 w 732"/>
                <a:gd name="T5" fmla="*/ 366 h 735"/>
                <a:gd name="T6" fmla="*/ 366 w 732"/>
                <a:gd name="T7" fmla="*/ 735 h 735"/>
                <a:gd name="T8" fmla="*/ 0 w 732"/>
                <a:gd name="T9" fmla="*/ 366 h 7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32"/>
                <a:gd name="T16" fmla="*/ 0 h 735"/>
                <a:gd name="T17" fmla="*/ 732 w 732"/>
                <a:gd name="T18" fmla="*/ 735 h 7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32" h="735">
                  <a:moveTo>
                    <a:pt x="0" y="366"/>
                  </a:moveTo>
                  <a:lnTo>
                    <a:pt x="366" y="0"/>
                  </a:lnTo>
                  <a:lnTo>
                    <a:pt x="732" y="366"/>
                  </a:lnTo>
                  <a:lnTo>
                    <a:pt x="366" y="735"/>
                  </a:lnTo>
                  <a:lnTo>
                    <a:pt x="0" y="366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7" name="Line 69">
              <a:extLst>
                <a:ext uri="{FF2B5EF4-FFF2-40B4-BE49-F238E27FC236}">
                  <a16:creationId xmlns:a16="http://schemas.microsoft.com/office/drawing/2014/main" id="{CAC25411-816A-90EE-32C5-A10469F870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7" y="3549"/>
              <a:ext cx="0" cy="27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8" name="Line 70">
              <a:extLst>
                <a:ext uri="{FF2B5EF4-FFF2-40B4-BE49-F238E27FC236}">
                  <a16:creationId xmlns:a16="http://schemas.microsoft.com/office/drawing/2014/main" id="{D8AF3B0C-4127-2C4C-8442-000038D7B1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9" y="3388"/>
              <a:ext cx="0" cy="5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9" name="Line 71">
              <a:extLst>
                <a:ext uri="{FF2B5EF4-FFF2-40B4-BE49-F238E27FC236}">
                  <a16:creationId xmlns:a16="http://schemas.microsoft.com/office/drawing/2014/main" id="{D2E5DCD0-820E-9F3E-5750-1C5C86B452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6" y="3453"/>
              <a:ext cx="0" cy="4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0" name="Group 72">
            <a:extLst>
              <a:ext uri="{FF2B5EF4-FFF2-40B4-BE49-F238E27FC236}">
                <a16:creationId xmlns:a16="http://schemas.microsoft.com/office/drawing/2014/main" id="{577402E3-B18D-6258-FB5C-EA9F93E1257A}"/>
              </a:ext>
            </a:extLst>
          </p:cNvPr>
          <p:cNvGrpSpPr>
            <a:grpSpLocks/>
          </p:cNvGrpSpPr>
          <p:nvPr/>
        </p:nvGrpSpPr>
        <p:grpSpPr bwMode="auto">
          <a:xfrm>
            <a:off x="5554187" y="2097945"/>
            <a:ext cx="1166812" cy="1762125"/>
            <a:chOff x="3609" y="2052"/>
            <a:chExt cx="735" cy="1110"/>
          </a:xfrm>
        </p:grpSpPr>
        <p:sp>
          <p:nvSpPr>
            <p:cNvPr id="71" name="Freeform 73">
              <a:extLst>
                <a:ext uri="{FF2B5EF4-FFF2-40B4-BE49-F238E27FC236}">
                  <a16:creationId xmlns:a16="http://schemas.microsoft.com/office/drawing/2014/main" id="{9CE1889F-1219-96DB-C542-BE915D2A1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9" y="2052"/>
              <a:ext cx="735" cy="1110"/>
            </a:xfrm>
            <a:custGeom>
              <a:avLst/>
              <a:gdLst>
                <a:gd name="T0" fmla="*/ 138 w 735"/>
                <a:gd name="T1" fmla="*/ 0 h 1110"/>
                <a:gd name="T2" fmla="*/ 735 w 735"/>
                <a:gd name="T3" fmla="*/ 0 h 1110"/>
                <a:gd name="T4" fmla="*/ 735 w 735"/>
                <a:gd name="T5" fmla="*/ 1110 h 1110"/>
                <a:gd name="T6" fmla="*/ 3 w 735"/>
                <a:gd name="T7" fmla="*/ 1110 h 1110"/>
                <a:gd name="T8" fmla="*/ 0 w 735"/>
                <a:gd name="T9" fmla="*/ 972 h 1110"/>
                <a:gd name="T10" fmla="*/ 300 w 735"/>
                <a:gd name="T11" fmla="*/ 762 h 1110"/>
                <a:gd name="T12" fmla="*/ 507 w 735"/>
                <a:gd name="T13" fmla="*/ 762 h 1110"/>
                <a:gd name="T14" fmla="*/ 507 w 735"/>
                <a:gd name="T15" fmla="*/ 453 h 1110"/>
                <a:gd name="T16" fmla="*/ 138 w 735"/>
                <a:gd name="T17" fmla="*/ 150 h 1110"/>
                <a:gd name="T18" fmla="*/ 138 w 735"/>
                <a:gd name="T19" fmla="*/ 0 h 11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35"/>
                <a:gd name="T31" fmla="*/ 0 h 1110"/>
                <a:gd name="T32" fmla="*/ 735 w 735"/>
                <a:gd name="T33" fmla="*/ 1110 h 111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35" h="1110">
                  <a:moveTo>
                    <a:pt x="138" y="0"/>
                  </a:moveTo>
                  <a:lnTo>
                    <a:pt x="735" y="0"/>
                  </a:lnTo>
                  <a:lnTo>
                    <a:pt x="735" y="1110"/>
                  </a:lnTo>
                  <a:lnTo>
                    <a:pt x="3" y="1110"/>
                  </a:lnTo>
                  <a:lnTo>
                    <a:pt x="0" y="972"/>
                  </a:lnTo>
                  <a:lnTo>
                    <a:pt x="300" y="762"/>
                  </a:lnTo>
                  <a:lnTo>
                    <a:pt x="507" y="762"/>
                  </a:lnTo>
                  <a:lnTo>
                    <a:pt x="507" y="453"/>
                  </a:lnTo>
                  <a:lnTo>
                    <a:pt x="138" y="150"/>
                  </a:lnTo>
                  <a:lnTo>
                    <a:pt x="138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2" name="Line 74">
              <a:extLst>
                <a:ext uri="{FF2B5EF4-FFF2-40B4-BE49-F238E27FC236}">
                  <a16:creationId xmlns:a16="http://schemas.microsoft.com/office/drawing/2014/main" id="{D904936E-E4A8-ED99-282B-EE981E76A3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8" y="2052"/>
              <a:ext cx="0" cy="33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73" name="Line 75">
              <a:extLst>
                <a:ext uri="{FF2B5EF4-FFF2-40B4-BE49-F238E27FC236}">
                  <a16:creationId xmlns:a16="http://schemas.microsoft.com/office/drawing/2014/main" id="{8085DABB-7E31-CE5F-7BA5-B93DDB2484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8" y="2814"/>
              <a:ext cx="0" cy="3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4" name="Group 76">
            <a:extLst>
              <a:ext uri="{FF2B5EF4-FFF2-40B4-BE49-F238E27FC236}">
                <a16:creationId xmlns:a16="http://schemas.microsoft.com/office/drawing/2014/main" id="{93819852-58E5-CA16-8348-DB2E3C355EF3}"/>
              </a:ext>
            </a:extLst>
          </p:cNvPr>
          <p:cNvGrpSpPr>
            <a:grpSpLocks/>
          </p:cNvGrpSpPr>
          <p:nvPr/>
        </p:nvGrpSpPr>
        <p:grpSpPr bwMode="auto">
          <a:xfrm>
            <a:off x="5230337" y="2336070"/>
            <a:ext cx="771525" cy="366712"/>
            <a:chOff x="3516" y="2213"/>
            <a:chExt cx="366" cy="231"/>
          </a:xfrm>
        </p:grpSpPr>
        <p:sp>
          <p:nvSpPr>
            <p:cNvPr id="75" name="Text Box 77">
              <a:extLst>
                <a:ext uri="{FF2B5EF4-FFF2-40B4-BE49-F238E27FC236}">
                  <a16:creationId xmlns:a16="http://schemas.microsoft.com/office/drawing/2014/main" id="{393A9B9F-EEAE-6D37-97D3-FCA6900F01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6" y="2213"/>
              <a:ext cx="36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1</a:t>
              </a:r>
              <a:r>
                <a:rPr kumimoji="0" lang="en-US" altLang="zh-CN" sz="1800" b="1">
                  <a:latin typeface="ISOCPEUR" pitchFamily="34" charset="0"/>
                </a:rPr>
                <a:t>’</a:t>
              </a:r>
            </a:p>
          </p:txBody>
        </p:sp>
        <p:sp>
          <p:nvSpPr>
            <p:cNvPr id="76" name="Freeform 78">
              <a:extLst>
                <a:ext uri="{FF2B5EF4-FFF2-40B4-BE49-F238E27FC236}">
                  <a16:creationId xmlns:a16="http://schemas.microsoft.com/office/drawing/2014/main" id="{82F884E1-9CE7-AB30-AB0F-FEAE4E009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2339"/>
              <a:ext cx="144" cy="42"/>
            </a:xfrm>
            <a:custGeom>
              <a:avLst/>
              <a:gdLst>
                <a:gd name="T0" fmla="*/ 0 w 144"/>
                <a:gd name="T1" fmla="*/ 36 h 42"/>
                <a:gd name="T2" fmla="*/ 96 w 144"/>
                <a:gd name="T3" fmla="*/ 36 h 42"/>
                <a:gd name="T4" fmla="*/ 144 w 144"/>
                <a:gd name="T5" fmla="*/ 0 h 42"/>
                <a:gd name="T6" fmla="*/ 0 60000 65536"/>
                <a:gd name="T7" fmla="*/ 0 60000 65536"/>
                <a:gd name="T8" fmla="*/ 0 60000 65536"/>
                <a:gd name="T9" fmla="*/ 0 w 144"/>
                <a:gd name="T10" fmla="*/ 0 h 42"/>
                <a:gd name="T11" fmla="*/ 144 w 144"/>
                <a:gd name="T12" fmla="*/ 42 h 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4" h="42">
                  <a:moveTo>
                    <a:pt x="0" y="36"/>
                  </a:moveTo>
                  <a:cubicBezTo>
                    <a:pt x="36" y="39"/>
                    <a:pt x="72" y="42"/>
                    <a:pt x="96" y="36"/>
                  </a:cubicBezTo>
                  <a:cubicBezTo>
                    <a:pt x="120" y="30"/>
                    <a:pt x="136" y="6"/>
                    <a:pt x="144" y="0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7" name="Group 79">
            <a:extLst>
              <a:ext uri="{FF2B5EF4-FFF2-40B4-BE49-F238E27FC236}">
                <a16:creationId xmlns:a16="http://schemas.microsoft.com/office/drawing/2014/main" id="{1FBDD4FF-29CC-2F94-6C18-41DDF21D8011}"/>
              </a:ext>
            </a:extLst>
          </p:cNvPr>
          <p:cNvGrpSpPr>
            <a:grpSpLocks/>
          </p:cNvGrpSpPr>
          <p:nvPr/>
        </p:nvGrpSpPr>
        <p:grpSpPr bwMode="auto">
          <a:xfrm>
            <a:off x="5803424" y="2702782"/>
            <a:ext cx="600075" cy="366713"/>
            <a:chOff x="3766" y="2444"/>
            <a:chExt cx="378" cy="231"/>
          </a:xfrm>
        </p:grpSpPr>
        <p:sp>
          <p:nvSpPr>
            <p:cNvPr id="78" name="Text Box 80">
              <a:extLst>
                <a:ext uri="{FF2B5EF4-FFF2-40B4-BE49-F238E27FC236}">
                  <a16:creationId xmlns:a16="http://schemas.microsoft.com/office/drawing/2014/main" id="{A6D896B2-710E-2A98-1AAD-208119F0B9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6" y="2444"/>
              <a:ext cx="37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2</a:t>
              </a:r>
              <a:r>
                <a:rPr kumimoji="0" lang="en-US" altLang="zh-CN" sz="1800" b="1">
                  <a:latin typeface="ISOCPEUR" pitchFamily="34" charset="0"/>
                </a:rPr>
                <a:t>’  </a:t>
              </a:r>
            </a:p>
          </p:txBody>
        </p:sp>
        <p:sp>
          <p:nvSpPr>
            <p:cNvPr id="79" name="Freeform 81">
              <a:extLst>
                <a:ext uri="{FF2B5EF4-FFF2-40B4-BE49-F238E27FC236}">
                  <a16:creationId xmlns:a16="http://schemas.microsoft.com/office/drawing/2014/main" id="{9430542F-D7F2-F98F-3E5F-05DFD6E01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8" y="2574"/>
              <a:ext cx="138" cy="41"/>
            </a:xfrm>
            <a:custGeom>
              <a:avLst/>
              <a:gdLst>
                <a:gd name="T0" fmla="*/ 0 w 138"/>
                <a:gd name="T1" fmla="*/ 11 h 41"/>
                <a:gd name="T2" fmla="*/ 72 w 138"/>
                <a:gd name="T3" fmla="*/ 5 h 41"/>
                <a:gd name="T4" fmla="*/ 138 w 138"/>
                <a:gd name="T5" fmla="*/ 41 h 41"/>
                <a:gd name="T6" fmla="*/ 0 60000 65536"/>
                <a:gd name="T7" fmla="*/ 0 60000 65536"/>
                <a:gd name="T8" fmla="*/ 0 60000 65536"/>
                <a:gd name="T9" fmla="*/ 0 w 138"/>
                <a:gd name="T10" fmla="*/ 0 h 41"/>
                <a:gd name="T11" fmla="*/ 138 w 138"/>
                <a:gd name="T12" fmla="*/ 41 h 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8" h="41">
                  <a:moveTo>
                    <a:pt x="0" y="11"/>
                  </a:moveTo>
                  <a:cubicBezTo>
                    <a:pt x="24" y="5"/>
                    <a:pt x="49" y="0"/>
                    <a:pt x="72" y="5"/>
                  </a:cubicBezTo>
                  <a:cubicBezTo>
                    <a:pt x="95" y="10"/>
                    <a:pt x="116" y="25"/>
                    <a:pt x="138" y="41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0" name="Group 82">
            <a:extLst>
              <a:ext uri="{FF2B5EF4-FFF2-40B4-BE49-F238E27FC236}">
                <a16:creationId xmlns:a16="http://schemas.microsoft.com/office/drawing/2014/main" id="{0CC463CB-9224-DF7A-BC01-4D8B9A4DA994}"/>
              </a:ext>
            </a:extLst>
          </p:cNvPr>
          <p:cNvGrpSpPr>
            <a:grpSpLocks/>
          </p:cNvGrpSpPr>
          <p:nvPr/>
        </p:nvGrpSpPr>
        <p:grpSpPr bwMode="auto">
          <a:xfrm>
            <a:off x="5755799" y="2940907"/>
            <a:ext cx="600075" cy="366713"/>
            <a:chOff x="3736" y="2594"/>
            <a:chExt cx="378" cy="231"/>
          </a:xfrm>
        </p:grpSpPr>
        <p:sp>
          <p:nvSpPr>
            <p:cNvPr id="81" name="Text Box 83">
              <a:extLst>
                <a:ext uri="{FF2B5EF4-FFF2-40B4-BE49-F238E27FC236}">
                  <a16:creationId xmlns:a16="http://schemas.microsoft.com/office/drawing/2014/main" id="{FF0876B1-AABB-4F10-AB6E-0A15CCB131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6" y="2594"/>
              <a:ext cx="37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3</a:t>
              </a:r>
              <a:r>
                <a:rPr kumimoji="0" lang="en-US" altLang="zh-CN" sz="1800" b="1">
                  <a:latin typeface="ISOCPEUR" pitchFamily="34" charset="0"/>
                </a:rPr>
                <a:t>’  </a:t>
              </a:r>
            </a:p>
          </p:txBody>
        </p:sp>
        <p:sp>
          <p:nvSpPr>
            <p:cNvPr id="82" name="Freeform 84">
              <a:extLst>
                <a:ext uri="{FF2B5EF4-FFF2-40B4-BE49-F238E27FC236}">
                  <a16:creationId xmlns:a16="http://schemas.microsoft.com/office/drawing/2014/main" id="{56C8382D-75DF-E86B-C109-210DC6806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729"/>
              <a:ext cx="114" cy="96"/>
            </a:xfrm>
            <a:custGeom>
              <a:avLst/>
              <a:gdLst>
                <a:gd name="T0" fmla="*/ 0 w 114"/>
                <a:gd name="T1" fmla="*/ 0 h 96"/>
                <a:gd name="T2" fmla="*/ 78 w 114"/>
                <a:gd name="T3" fmla="*/ 18 h 96"/>
                <a:gd name="T4" fmla="*/ 114 w 114"/>
                <a:gd name="T5" fmla="*/ 96 h 96"/>
                <a:gd name="T6" fmla="*/ 0 60000 65536"/>
                <a:gd name="T7" fmla="*/ 0 60000 65536"/>
                <a:gd name="T8" fmla="*/ 0 60000 65536"/>
                <a:gd name="T9" fmla="*/ 0 w 114"/>
                <a:gd name="T10" fmla="*/ 0 h 96"/>
                <a:gd name="T11" fmla="*/ 114 w 114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4" h="96">
                  <a:moveTo>
                    <a:pt x="0" y="0"/>
                  </a:moveTo>
                  <a:cubicBezTo>
                    <a:pt x="29" y="1"/>
                    <a:pt x="59" y="2"/>
                    <a:pt x="78" y="18"/>
                  </a:cubicBezTo>
                  <a:cubicBezTo>
                    <a:pt x="97" y="34"/>
                    <a:pt x="105" y="65"/>
                    <a:pt x="114" y="96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3" name="Group 85">
            <a:extLst>
              <a:ext uri="{FF2B5EF4-FFF2-40B4-BE49-F238E27FC236}">
                <a16:creationId xmlns:a16="http://schemas.microsoft.com/office/drawing/2014/main" id="{29D2F3D2-0681-A99D-A90C-204C8F102FF4}"/>
              </a:ext>
            </a:extLst>
          </p:cNvPr>
          <p:cNvGrpSpPr>
            <a:grpSpLocks/>
          </p:cNvGrpSpPr>
          <p:nvPr/>
        </p:nvGrpSpPr>
        <p:grpSpPr bwMode="auto">
          <a:xfrm>
            <a:off x="5149374" y="3193320"/>
            <a:ext cx="885825" cy="366713"/>
            <a:chOff x="3354" y="2753"/>
            <a:chExt cx="558" cy="231"/>
          </a:xfrm>
        </p:grpSpPr>
        <p:sp>
          <p:nvSpPr>
            <p:cNvPr id="84" name="Text Box 86">
              <a:extLst>
                <a:ext uri="{FF2B5EF4-FFF2-40B4-BE49-F238E27FC236}">
                  <a16:creationId xmlns:a16="http://schemas.microsoft.com/office/drawing/2014/main" id="{04D48720-C37E-B53F-DFD5-35443E34D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4" y="2753"/>
              <a:ext cx="55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 dirty="0">
                  <a:latin typeface="ISOCPEUR" pitchFamily="34" charset="0"/>
                </a:rPr>
                <a:t>p</a:t>
              </a:r>
              <a:r>
                <a:rPr kumimoji="0" lang="en-US" altLang="zh-CN" sz="1800" b="1" baseline="-10000" dirty="0">
                  <a:latin typeface="ISOCPEUR" pitchFamily="34" charset="0"/>
                </a:rPr>
                <a:t>4</a:t>
              </a:r>
              <a:r>
                <a:rPr kumimoji="0" lang="en-US" altLang="zh-CN" sz="1800" b="1" dirty="0">
                  <a:latin typeface="ISOCPEUR" pitchFamily="34" charset="0"/>
                </a:rPr>
                <a:t>’     </a:t>
              </a:r>
            </a:p>
          </p:txBody>
        </p:sp>
        <p:sp>
          <p:nvSpPr>
            <p:cNvPr id="85" name="Freeform 87">
              <a:extLst>
                <a:ext uri="{FF2B5EF4-FFF2-40B4-BE49-F238E27FC236}">
                  <a16:creationId xmlns:a16="http://schemas.microsoft.com/office/drawing/2014/main" id="{8ED82FC9-B9C2-A365-EB5C-5F890D792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2" y="2885"/>
              <a:ext cx="114" cy="42"/>
            </a:xfrm>
            <a:custGeom>
              <a:avLst/>
              <a:gdLst>
                <a:gd name="T0" fmla="*/ 0 w 114"/>
                <a:gd name="T1" fmla="*/ 6 h 42"/>
                <a:gd name="T2" fmla="*/ 36 w 114"/>
                <a:gd name="T3" fmla="*/ 6 h 42"/>
                <a:gd name="T4" fmla="*/ 114 w 114"/>
                <a:gd name="T5" fmla="*/ 42 h 42"/>
                <a:gd name="T6" fmla="*/ 0 60000 65536"/>
                <a:gd name="T7" fmla="*/ 0 60000 65536"/>
                <a:gd name="T8" fmla="*/ 0 60000 65536"/>
                <a:gd name="T9" fmla="*/ 0 w 114"/>
                <a:gd name="T10" fmla="*/ 0 h 42"/>
                <a:gd name="T11" fmla="*/ 114 w 114"/>
                <a:gd name="T12" fmla="*/ 42 h 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4" h="42">
                  <a:moveTo>
                    <a:pt x="0" y="6"/>
                  </a:moveTo>
                  <a:cubicBezTo>
                    <a:pt x="8" y="3"/>
                    <a:pt x="17" y="0"/>
                    <a:pt x="36" y="6"/>
                  </a:cubicBezTo>
                  <a:cubicBezTo>
                    <a:pt x="55" y="12"/>
                    <a:pt x="84" y="27"/>
                    <a:pt x="114" y="42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86" name="Freeform 88">
            <a:extLst>
              <a:ext uri="{FF2B5EF4-FFF2-40B4-BE49-F238E27FC236}">
                <a16:creationId xmlns:a16="http://schemas.microsoft.com/office/drawing/2014/main" id="{A8AA8617-C758-BD2F-38D2-261D553DB68C}"/>
              </a:ext>
            </a:extLst>
          </p:cNvPr>
          <p:cNvSpPr>
            <a:spLocks/>
          </p:cNvSpPr>
          <p:nvPr/>
        </p:nvSpPr>
        <p:spPr bwMode="auto">
          <a:xfrm>
            <a:off x="7368699" y="2336070"/>
            <a:ext cx="1162050" cy="476250"/>
          </a:xfrm>
          <a:custGeom>
            <a:avLst/>
            <a:gdLst>
              <a:gd name="T0" fmla="*/ 2147483647 w 732"/>
              <a:gd name="T1" fmla="*/ 0 h 300"/>
              <a:gd name="T2" fmla="*/ 2147483647 w 732"/>
              <a:gd name="T3" fmla="*/ 0 h 300"/>
              <a:gd name="T4" fmla="*/ 2147483647 w 732"/>
              <a:gd name="T5" fmla="*/ 2147483647 h 300"/>
              <a:gd name="T6" fmla="*/ 2147483647 w 732"/>
              <a:gd name="T7" fmla="*/ 2147483647 h 300"/>
              <a:gd name="T8" fmla="*/ 2147483647 w 732"/>
              <a:gd name="T9" fmla="*/ 2147483647 h 300"/>
              <a:gd name="T10" fmla="*/ 0 w 732"/>
              <a:gd name="T11" fmla="*/ 2147483647 h 300"/>
              <a:gd name="T12" fmla="*/ 2147483647 w 732"/>
              <a:gd name="T13" fmla="*/ 0 h 3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32"/>
              <a:gd name="T22" fmla="*/ 0 h 300"/>
              <a:gd name="T23" fmla="*/ 732 w 732"/>
              <a:gd name="T24" fmla="*/ 300 h 3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32" h="300">
                <a:moveTo>
                  <a:pt x="222" y="0"/>
                </a:moveTo>
                <a:lnTo>
                  <a:pt x="504" y="0"/>
                </a:lnTo>
                <a:lnTo>
                  <a:pt x="732" y="186"/>
                </a:lnTo>
                <a:lnTo>
                  <a:pt x="600" y="300"/>
                </a:lnTo>
                <a:lnTo>
                  <a:pt x="138" y="300"/>
                </a:lnTo>
                <a:lnTo>
                  <a:pt x="0" y="180"/>
                </a:lnTo>
                <a:lnTo>
                  <a:pt x="222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7" name="Freeform 89">
            <a:extLst>
              <a:ext uri="{FF2B5EF4-FFF2-40B4-BE49-F238E27FC236}">
                <a16:creationId xmlns:a16="http://schemas.microsoft.com/office/drawing/2014/main" id="{9B41C95E-AD1B-3D45-C0A9-98E43AFCCC6D}"/>
              </a:ext>
            </a:extLst>
          </p:cNvPr>
          <p:cNvSpPr>
            <a:spLocks/>
          </p:cNvSpPr>
          <p:nvPr/>
        </p:nvSpPr>
        <p:spPr bwMode="auto">
          <a:xfrm>
            <a:off x="7597299" y="2812320"/>
            <a:ext cx="723900" cy="495300"/>
          </a:xfrm>
          <a:custGeom>
            <a:avLst/>
            <a:gdLst>
              <a:gd name="T0" fmla="*/ 0 w 456"/>
              <a:gd name="T1" fmla="*/ 0 h 312"/>
              <a:gd name="T2" fmla="*/ 0 w 456"/>
              <a:gd name="T3" fmla="*/ 2147483647 h 312"/>
              <a:gd name="T4" fmla="*/ 2147483647 w 456"/>
              <a:gd name="T5" fmla="*/ 2147483647 h 312"/>
              <a:gd name="T6" fmla="*/ 2147483647 w 456"/>
              <a:gd name="T7" fmla="*/ 0 h 312"/>
              <a:gd name="T8" fmla="*/ 0 w 456"/>
              <a:gd name="T9" fmla="*/ 0 h 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56"/>
              <a:gd name="T16" fmla="*/ 0 h 312"/>
              <a:gd name="T17" fmla="*/ 456 w 456"/>
              <a:gd name="T18" fmla="*/ 312 h 3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56" h="312">
                <a:moveTo>
                  <a:pt x="0" y="0"/>
                </a:moveTo>
                <a:lnTo>
                  <a:pt x="0" y="312"/>
                </a:lnTo>
                <a:lnTo>
                  <a:pt x="456" y="312"/>
                </a:lnTo>
                <a:lnTo>
                  <a:pt x="45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8" name="Line 90">
            <a:extLst>
              <a:ext uri="{FF2B5EF4-FFF2-40B4-BE49-F238E27FC236}">
                <a16:creationId xmlns:a16="http://schemas.microsoft.com/office/drawing/2014/main" id="{01AF6699-5263-4AD6-25A7-389404EC4D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8699" y="3307620"/>
            <a:ext cx="11620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9" name="Freeform 91">
            <a:extLst>
              <a:ext uri="{FF2B5EF4-FFF2-40B4-BE49-F238E27FC236}">
                <a16:creationId xmlns:a16="http://schemas.microsoft.com/office/drawing/2014/main" id="{1FA5ABD1-E655-DEDC-FD21-9EB2D73EEDEA}"/>
              </a:ext>
            </a:extLst>
          </p:cNvPr>
          <p:cNvSpPr>
            <a:spLocks/>
          </p:cNvSpPr>
          <p:nvPr/>
        </p:nvSpPr>
        <p:spPr bwMode="auto">
          <a:xfrm>
            <a:off x="7473474" y="3307620"/>
            <a:ext cx="942975" cy="333375"/>
          </a:xfrm>
          <a:custGeom>
            <a:avLst/>
            <a:gdLst>
              <a:gd name="T0" fmla="*/ 0 w 594"/>
              <a:gd name="T1" fmla="*/ 0 h 210"/>
              <a:gd name="T2" fmla="*/ 2147483647 w 594"/>
              <a:gd name="T3" fmla="*/ 2147483647 h 210"/>
              <a:gd name="T4" fmla="*/ 2147483647 w 594"/>
              <a:gd name="T5" fmla="*/ 0 h 210"/>
              <a:gd name="T6" fmla="*/ 0 w 594"/>
              <a:gd name="T7" fmla="*/ 0 h 210"/>
              <a:gd name="T8" fmla="*/ 0 60000 65536"/>
              <a:gd name="T9" fmla="*/ 0 60000 65536"/>
              <a:gd name="T10" fmla="*/ 0 60000 65536"/>
              <a:gd name="T11" fmla="*/ 0 60000 65536"/>
              <a:gd name="T12" fmla="*/ 0 w 594"/>
              <a:gd name="T13" fmla="*/ 0 h 210"/>
              <a:gd name="T14" fmla="*/ 594 w 594"/>
              <a:gd name="T15" fmla="*/ 210 h 2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94" h="210">
                <a:moveTo>
                  <a:pt x="0" y="0"/>
                </a:moveTo>
                <a:lnTo>
                  <a:pt x="300" y="210"/>
                </a:lnTo>
                <a:lnTo>
                  <a:pt x="59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0" name="Line 92">
            <a:extLst>
              <a:ext uri="{FF2B5EF4-FFF2-40B4-BE49-F238E27FC236}">
                <a16:creationId xmlns:a16="http://schemas.microsoft.com/office/drawing/2014/main" id="{7379E31C-C95B-EA12-E1BF-B4D08731313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8699" y="2097945"/>
            <a:ext cx="11620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1" name="Line 93">
            <a:extLst>
              <a:ext uri="{FF2B5EF4-FFF2-40B4-BE49-F238E27FC236}">
                <a16:creationId xmlns:a16="http://schemas.microsoft.com/office/drawing/2014/main" id="{58920464-7084-8ED4-8B07-E5B2914ACAE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8699" y="2097945"/>
            <a:ext cx="0" cy="5286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2" name="Line 94">
            <a:extLst>
              <a:ext uri="{FF2B5EF4-FFF2-40B4-BE49-F238E27FC236}">
                <a16:creationId xmlns:a16="http://schemas.microsoft.com/office/drawing/2014/main" id="{1FAC3564-0D9C-F378-5F66-8C0BEAE4ADD6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0749" y="2097945"/>
            <a:ext cx="0" cy="5381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3" name="Line 95">
            <a:extLst>
              <a:ext uri="{FF2B5EF4-FFF2-40B4-BE49-F238E27FC236}">
                <a16:creationId xmlns:a16="http://schemas.microsoft.com/office/drawing/2014/main" id="{1C0B8937-BA9B-65DD-F743-2B126EF9F09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8699" y="3860070"/>
            <a:ext cx="11620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4" name="Line 96">
            <a:extLst>
              <a:ext uri="{FF2B5EF4-FFF2-40B4-BE49-F238E27FC236}">
                <a16:creationId xmlns:a16="http://schemas.microsoft.com/office/drawing/2014/main" id="{17B2F2EF-C361-241D-68B9-C464227343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68699" y="3307620"/>
            <a:ext cx="0" cy="552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" name="Line 97">
            <a:extLst>
              <a:ext uri="{FF2B5EF4-FFF2-40B4-BE49-F238E27FC236}">
                <a16:creationId xmlns:a16="http://schemas.microsoft.com/office/drawing/2014/main" id="{5CDC5D56-36CD-4668-5198-1410657EDA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30749" y="3307620"/>
            <a:ext cx="0" cy="552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6" name="Line 98">
            <a:extLst>
              <a:ext uri="{FF2B5EF4-FFF2-40B4-BE49-F238E27FC236}">
                <a16:creationId xmlns:a16="http://schemas.microsoft.com/office/drawing/2014/main" id="{16DC6739-65C2-47DD-007E-0EE082B503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49724" y="3640995"/>
            <a:ext cx="0" cy="2190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7" name="Line 99">
            <a:extLst>
              <a:ext uri="{FF2B5EF4-FFF2-40B4-BE49-F238E27FC236}">
                <a16:creationId xmlns:a16="http://schemas.microsoft.com/office/drawing/2014/main" id="{BB791EE0-8EDF-E297-01F5-11E4E7A8252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2899" y="2097945"/>
            <a:ext cx="0" cy="176212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8" name="AutoShape 100">
            <a:extLst>
              <a:ext uri="{FF2B5EF4-FFF2-40B4-BE49-F238E27FC236}">
                <a16:creationId xmlns:a16="http://schemas.microsoft.com/office/drawing/2014/main" id="{D83588DE-94EC-1961-92F1-D49F393B2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2187" y="2588482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9" name="AutoShape 101">
            <a:extLst>
              <a:ext uri="{FF2B5EF4-FFF2-40B4-BE49-F238E27FC236}">
                <a16:creationId xmlns:a16="http://schemas.microsoft.com/office/drawing/2014/main" id="{C58056A6-3404-4E81-9671-FCD972BD6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7887" y="2594832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0" name="AutoShape 102">
            <a:extLst>
              <a:ext uri="{FF2B5EF4-FFF2-40B4-BE49-F238E27FC236}">
                <a16:creationId xmlns:a16="http://schemas.microsoft.com/office/drawing/2014/main" id="{20EC675F-8095-000E-B461-04FD8878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8337" y="2778982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1" name="AutoShape 103">
            <a:extLst>
              <a:ext uri="{FF2B5EF4-FFF2-40B4-BE49-F238E27FC236}">
                <a16:creationId xmlns:a16="http://schemas.microsoft.com/office/drawing/2014/main" id="{D62B588A-0C39-1319-EDC4-7B8ACF7CF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8087" y="2772632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2" name="Text Box 104">
            <a:extLst>
              <a:ext uri="{FF2B5EF4-FFF2-40B4-BE49-F238E27FC236}">
                <a16:creationId xmlns:a16="http://schemas.microsoft.com/office/drawing/2014/main" id="{DB58CBA9-4974-BA57-5316-E750F56CD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3474" y="2383695"/>
            <a:ext cx="9794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1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</a:p>
        </p:txBody>
      </p:sp>
      <p:sp>
        <p:nvSpPr>
          <p:cNvPr id="103" name="Text Box 105">
            <a:extLst>
              <a:ext uri="{FF2B5EF4-FFF2-40B4-BE49-F238E27FC236}">
                <a16:creationId xmlns:a16="http://schemas.microsoft.com/office/drawing/2014/main" id="{C0516D9C-3244-81D8-671E-C88751967D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6987" y="2912332"/>
            <a:ext cx="5111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2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  <a:endParaRPr kumimoji="0" lang="en-US" altLang="zh-CN" sz="2400" b="1">
              <a:latin typeface="ISOCPEUR" pitchFamily="34" charset="0"/>
            </a:endParaRPr>
          </a:p>
        </p:txBody>
      </p:sp>
      <p:sp>
        <p:nvSpPr>
          <p:cNvPr id="104" name="Text Box 106">
            <a:extLst>
              <a:ext uri="{FF2B5EF4-FFF2-40B4-BE49-F238E27FC236}">
                <a16:creationId xmlns:a16="http://schemas.microsoft.com/office/drawing/2014/main" id="{7B9D5CC1-2D16-F9AE-CA87-98B6A6DB6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4937" y="3236182"/>
            <a:ext cx="549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4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  <a:endParaRPr kumimoji="0" lang="en-US" altLang="zh-CN" sz="1800" b="1">
              <a:latin typeface="ISOCPEUR" pitchFamily="34" charset="0"/>
            </a:endParaRPr>
          </a:p>
        </p:txBody>
      </p:sp>
      <p:grpSp>
        <p:nvGrpSpPr>
          <p:cNvPr id="105" name="Group 107">
            <a:extLst>
              <a:ext uri="{FF2B5EF4-FFF2-40B4-BE49-F238E27FC236}">
                <a16:creationId xmlns:a16="http://schemas.microsoft.com/office/drawing/2014/main" id="{E6ECD11E-59E6-4C87-1D83-09F5A70DE81F}"/>
              </a:ext>
            </a:extLst>
          </p:cNvPr>
          <p:cNvGrpSpPr>
            <a:grpSpLocks/>
          </p:cNvGrpSpPr>
          <p:nvPr/>
        </p:nvGrpSpPr>
        <p:grpSpPr bwMode="auto">
          <a:xfrm>
            <a:off x="6868637" y="2937732"/>
            <a:ext cx="563562" cy="366713"/>
            <a:chOff x="4437" y="2592"/>
            <a:chExt cx="355" cy="231"/>
          </a:xfrm>
        </p:grpSpPr>
        <p:sp>
          <p:nvSpPr>
            <p:cNvPr id="106" name="Text Box 108">
              <a:extLst>
                <a:ext uri="{FF2B5EF4-FFF2-40B4-BE49-F238E27FC236}">
                  <a16:creationId xmlns:a16="http://schemas.microsoft.com/office/drawing/2014/main" id="{E5B5A86D-BED2-B838-03C6-6F4F703B6C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7" y="2592"/>
              <a:ext cx="31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3</a:t>
              </a:r>
              <a:r>
                <a:rPr kumimoji="0" lang="en-US" altLang="zh-CN" sz="1800" b="1">
                  <a:latin typeface="ISOCPEUR" pitchFamily="34" charset="0"/>
                  <a:sym typeface="CommercialPi BT" pitchFamily="18" charset="2"/>
                </a:rPr>
                <a:t>”</a:t>
              </a:r>
              <a:endParaRPr kumimoji="0" lang="en-US" altLang="zh-CN" sz="2400" b="1">
                <a:latin typeface="ISOCPEUR" pitchFamily="34" charset="0"/>
              </a:endParaRPr>
            </a:p>
          </p:txBody>
        </p:sp>
        <p:sp>
          <p:nvSpPr>
            <p:cNvPr id="107" name="Freeform 109">
              <a:extLst>
                <a:ext uri="{FF2B5EF4-FFF2-40B4-BE49-F238E27FC236}">
                  <a16:creationId xmlns:a16="http://schemas.microsoft.com/office/drawing/2014/main" id="{7E33C0B8-9F8F-4C64-1C07-8AB31E5B3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" y="2743"/>
              <a:ext cx="128" cy="72"/>
            </a:xfrm>
            <a:custGeom>
              <a:avLst/>
              <a:gdLst>
                <a:gd name="T0" fmla="*/ 0 w 128"/>
                <a:gd name="T1" fmla="*/ 0 h 72"/>
                <a:gd name="T2" fmla="*/ 108 w 128"/>
                <a:gd name="T3" fmla="*/ 28 h 72"/>
                <a:gd name="T4" fmla="*/ 120 w 128"/>
                <a:gd name="T5" fmla="*/ 72 h 72"/>
                <a:gd name="T6" fmla="*/ 0 60000 65536"/>
                <a:gd name="T7" fmla="*/ 0 60000 65536"/>
                <a:gd name="T8" fmla="*/ 0 60000 65536"/>
                <a:gd name="T9" fmla="*/ 0 w 128"/>
                <a:gd name="T10" fmla="*/ 0 h 72"/>
                <a:gd name="T11" fmla="*/ 128 w 128"/>
                <a:gd name="T12" fmla="*/ 72 h 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8" h="72">
                  <a:moveTo>
                    <a:pt x="0" y="0"/>
                  </a:moveTo>
                  <a:cubicBezTo>
                    <a:pt x="44" y="8"/>
                    <a:pt x="88" y="16"/>
                    <a:pt x="108" y="28"/>
                  </a:cubicBezTo>
                  <a:cubicBezTo>
                    <a:pt x="128" y="40"/>
                    <a:pt x="118" y="65"/>
                    <a:pt x="120" y="72"/>
                  </a:cubicBezTo>
                </a:path>
              </a:pathLst>
            </a:custGeom>
            <a:noFill/>
            <a:ln w="19050">
              <a:solidFill>
                <a:srgbClr val="3333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8" name="Text Box 110">
            <a:extLst>
              <a:ext uri="{FF2B5EF4-FFF2-40B4-BE49-F238E27FC236}">
                <a16:creationId xmlns:a16="http://schemas.microsoft.com/office/drawing/2014/main" id="{71103239-5AB6-00F2-292E-F62BA6769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0037" y="1929670"/>
            <a:ext cx="415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0</a:t>
            </a:r>
            <a:r>
              <a:rPr kumimoji="0" lang="en-US" altLang="zh-CN" sz="1800" b="1">
                <a:latin typeface="ISOCPEUR" pitchFamily="34" charset="0"/>
              </a:rPr>
              <a:t>’</a:t>
            </a:r>
          </a:p>
        </p:txBody>
      </p:sp>
      <p:sp>
        <p:nvSpPr>
          <p:cNvPr id="109" name="Text Box 111">
            <a:extLst>
              <a:ext uri="{FF2B5EF4-FFF2-40B4-BE49-F238E27FC236}">
                <a16:creationId xmlns:a16="http://schemas.microsoft.com/office/drawing/2014/main" id="{D902C491-51F3-40C5-8FBA-FA3A300E4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5412" y="2005870"/>
            <a:ext cx="615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0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  <a:endParaRPr kumimoji="0" lang="en-US" altLang="zh-CN" sz="1800" b="1">
              <a:latin typeface="ISOCPEUR" pitchFamily="34" charset="0"/>
            </a:endParaRPr>
          </a:p>
        </p:txBody>
      </p:sp>
      <p:sp>
        <p:nvSpPr>
          <p:cNvPr id="110" name="Rectangle 112">
            <a:extLst>
              <a:ext uri="{FF2B5EF4-FFF2-40B4-BE49-F238E27FC236}">
                <a16:creationId xmlns:a16="http://schemas.microsoft.com/office/drawing/2014/main" id="{0B785226-448D-3773-361A-6DB9D70FB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1599" y="2097945"/>
            <a:ext cx="450850" cy="24130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11" name="AutoShape 113">
            <a:extLst>
              <a:ext uri="{FF2B5EF4-FFF2-40B4-BE49-F238E27FC236}">
                <a16:creationId xmlns:a16="http://schemas.microsoft.com/office/drawing/2014/main" id="{5A7C25C0-E433-8B05-DF05-1D9FDECD2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1912" y="2296382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12" name="AutoShape 114">
            <a:extLst>
              <a:ext uri="{FF2B5EF4-FFF2-40B4-BE49-F238E27FC236}">
                <a16:creationId xmlns:a16="http://schemas.microsoft.com/office/drawing/2014/main" id="{C7FFA49C-2FBF-79F4-3B92-F75DAE7A2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2762" y="2296382"/>
            <a:ext cx="74612" cy="74613"/>
          </a:xfrm>
          <a:prstGeom prst="flowChartConnector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grpSp>
        <p:nvGrpSpPr>
          <p:cNvPr id="114" name="Group 116">
            <a:extLst>
              <a:ext uri="{FF2B5EF4-FFF2-40B4-BE49-F238E27FC236}">
                <a16:creationId xmlns:a16="http://schemas.microsoft.com/office/drawing/2014/main" id="{807F9FA4-FE66-0803-F71E-E30BE95582E5}"/>
              </a:ext>
            </a:extLst>
          </p:cNvPr>
          <p:cNvGrpSpPr>
            <a:grpSpLocks/>
          </p:cNvGrpSpPr>
          <p:nvPr/>
        </p:nvGrpSpPr>
        <p:grpSpPr bwMode="auto">
          <a:xfrm>
            <a:off x="5225574" y="4126770"/>
            <a:ext cx="538163" cy="506412"/>
            <a:chOff x="3402" y="3341"/>
            <a:chExt cx="339" cy="319"/>
          </a:xfrm>
        </p:grpSpPr>
        <p:sp>
          <p:nvSpPr>
            <p:cNvPr id="115" name="Text Box 117">
              <a:extLst>
                <a:ext uri="{FF2B5EF4-FFF2-40B4-BE49-F238E27FC236}">
                  <a16:creationId xmlns:a16="http://schemas.microsoft.com/office/drawing/2014/main" id="{EE233E8F-E751-41CD-F26C-6345B86F4D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2" y="3341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0</a:t>
              </a:r>
            </a:p>
          </p:txBody>
        </p:sp>
        <p:sp>
          <p:nvSpPr>
            <p:cNvPr id="116" name="Freeform 118">
              <a:extLst>
                <a:ext uri="{FF2B5EF4-FFF2-40B4-BE49-F238E27FC236}">
                  <a16:creationId xmlns:a16="http://schemas.microsoft.com/office/drawing/2014/main" id="{4420B60E-BAA6-98A0-C985-A33465786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4" y="3495"/>
              <a:ext cx="147" cy="165"/>
            </a:xfrm>
            <a:custGeom>
              <a:avLst/>
              <a:gdLst>
                <a:gd name="T0" fmla="*/ 0 w 147"/>
                <a:gd name="T1" fmla="*/ 0 h 165"/>
                <a:gd name="T2" fmla="*/ 66 w 147"/>
                <a:gd name="T3" fmla="*/ 63 h 165"/>
                <a:gd name="T4" fmla="*/ 69 w 147"/>
                <a:gd name="T5" fmla="*/ 114 h 165"/>
                <a:gd name="T6" fmla="*/ 147 w 147"/>
                <a:gd name="T7" fmla="*/ 165 h 1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7"/>
                <a:gd name="T13" fmla="*/ 0 h 165"/>
                <a:gd name="T14" fmla="*/ 147 w 147"/>
                <a:gd name="T15" fmla="*/ 165 h 1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7" h="165">
                  <a:moveTo>
                    <a:pt x="0" y="0"/>
                  </a:moveTo>
                  <a:cubicBezTo>
                    <a:pt x="27" y="22"/>
                    <a:pt x="55" y="44"/>
                    <a:pt x="66" y="63"/>
                  </a:cubicBezTo>
                  <a:cubicBezTo>
                    <a:pt x="77" y="82"/>
                    <a:pt x="56" y="97"/>
                    <a:pt x="69" y="114"/>
                  </a:cubicBezTo>
                  <a:cubicBezTo>
                    <a:pt x="82" y="131"/>
                    <a:pt x="134" y="156"/>
                    <a:pt x="147" y="165"/>
                  </a:cubicBezTo>
                </a:path>
              </a:pathLst>
            </a:custGeom>
            <a:noFill/>
            <a:ln w="19050">
              <a:solidFill>
                <a:srgbClr val="0033CC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17" name="Group 119">
            <a:extLst>
              <a:ext uri="{FF2B5EF4-FFF2-40B4-BE49-F238E27FC236}">
                <a16:creationId xmlns:a16="http://schemas.microsoft.com/office/drawing/2014/main" id="{5247C51B-F151-3A15-05DC-DBB3BFF3EC23}"/>
              </a:ext>
            </a:extLst>
          </p:cNvPr>
          <p:cNvGrpSpPr>
            <a:grpSpLocks/>
          </p:cNvGrpSpPr>
          <p:nvPr/>
        </p:nvGrpSpPr>
        <p:grpSpPr bwMode="auto">
          <a:xfrm>
            <a:off x="6130449" y="3829907"/>
            <a:ext cx="361950" cy="684213"/>
            <a:chOff x="3972" y="3154"/>
            <a:chExt cx="228" cy="431"/>
          </a:xfrm>
        </p:grpSpPr>
        <p:sp>
          <p:nvSpPr>
            <p:cNvPr id="118" name="Text Box 120">
              <a:extLst>
                <a:ext uri="{FF2B5EF4-FFF2-40B4-BE49-F238E27FC236}">
                  <a16:creationId xmlns:a16="http://schemas.microsoft.com/office/drawing/2014/main" id="{AC79DAF2-762D-84FB-94FE-E19FE2AF5D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2" y="3154"/>
              <a:ext cx="2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2</a:t>
              </a:r>
            </a:p>
          </p:txBody>
        </p:sp>
        <p:sp>
          <p:nvSpPr>
            <p:cNvPr id="119" name="Freeform 121">
              <a:extLst>
                <a:ext uri="{FF2B5EF4-FFF2-40B4-BE49-F238E27FC236}">
                  <a16:creationId xmlns:a16="http://schemas.microsoft.com/office/drawing/2014/main" id="{7DADB39C-6FB0-5CD0-AAB1-D465CCBA5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3341"/>
              <a:ext cx="56" cy="244"/>
            </a:xfrm>
            <a:custGeom>
              <a:avLst/>
              <a:gdLst>
                <a:gd name="T0" fmla="*/ 20 w 56"/>
                <a:gd name="T1" fmla="*/ 0 h 244"/>
                <a:gd name="T2" fmla="*/ 46 w 56"/>
                <a:gd name="T3" fmla="*/ 70 h 244"/>
                <a:gd name="T4" fmla="*/ 2 w 56"/>
                <a:gd name="T5" fmla="*/ 162 h 244"/>
                <a:gd name="T6" fmla="*/ 56 w 56"/>
                <a:gd name="T7" fmla="*/ 244 h 2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"/>
                <a:gd name="T13" fmla="*/ 0 h 244"/>
                <a:gd name="T14" fmla="*/ 56 w 56"/>
                <a:gd name="T15" fmla="*/ 244 h 2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" h="244">
                  <a:moveTo>
                    <a:pt x="20" y="0"/>
                  </a:moveTo>
                  <a:cubicBezTo>
                    <a:pt x="34" y="21"/>
                    <a:pt x="49" y="43"/>
                    <a:pt x="46" y="70"/>
                  </a:cubicBezTo>
                  <a:cubicBezTo>
                    <a:pt x="43" y="97"/>
                    <a:pt x="0" y="133"/>
                    <a:pt x="2" y="162"/>
                  </a:cubicBezTo>
                  <a:cubicBezTo>
                    <a:pt x="4" y="191"/>
                    <a:pt x="30" y="217"/>
                    <a:pt x="56" y="244"/>
                  </a:cubicBezTo>
                </a:path>
              </a:pathLst>
            </a:custGeom>
            <a:noFill/>
            <a:ln w="19050">
              <a:solidFill>
                <a:srgbClr val="3333CC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20" name="Text Box 122">
            <a:extLst>
              <a:ext uri="{FF2B5EF4-FFF2-40B4-BE49-F238E27FC236}">
                <a16:creationId xmlns:a16="http://schemas.microsoft.com/office/drawing/2014/main" id="{32778FCF-EA31-C1DA-65D4-10CD830BF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9312" y="4282345"/>
            <a:ext cx="3413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1</a:t>
            </a:r>
          </a:p>
        </p:txBody>
      </p:sp>
      <p:sp>
        <p:nvSpPr>
          <p:cNvPr id="121" name="Text Box 123">
            <a:extLst>
              <a:ext uri="{FF2B5EF4-FFF2-40B4-BE49-F238E27FC236}">
                <a16:creationId xmlns:a16="http://schemas.microsoft.com/office/drawing/2014/main" id="{14875457-7C77-1ECC-B005-B3F5BCF6D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8212" y="4615720"/>
            <a:ext cx="361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3</a:t>
            </a:r>
          </a:p>
        </p:txBody>
      </p:sp>
      <p:sp>
        <p:nvSpPr>
          <p:cNvPr id="122" name="Text Box 124">
            <a:extLst>
              <a:ext uri="{FF2B5EF4-FFF2-40B4-BE49-F238E27FC236}">
                <a16:creationId xmlns:a16="http://schemas.microsoft.com/office/drawing/2014/main" id="{F3468352-8AB1-C48A-C348-52C84059D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7062" y="4525232"/>
            <a:ext cx="371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4</a:t>
            </a:r>
          </a:p>
        </p:txBody>
      </p:sp>
      <p:sp>
        <p:nvSpPr>
          <p:cNvPr id="123" name="Line 126">
            <a:extLst>
              <a:ext uri="{FF2B5EF4-FFF2-40B4-BE49-F238E27FC236}">
                <a16:creationId xmlns:a16="http://schemas.microsoft.com/office/drawing/2014/main" id="{D50A7C9C-ECDC-EB3B-6294-71D09F65E6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5049" y="2356762"/>
            <a:ext cx="0" cy="300038"/>
          </a:xfrm>
          <a:prstGeom prst="line">
            <a:avLst/>
          </a:prstGeom>
          <a:noFill/>
          <a:ln w="28575">
            <a:solidFill>
              <a:srgbClr val="FFFF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124" name="Line 32">
            <a:extLst>
              <a:ext uri="{FF2B5EF4-FFF2-40B4-BE49-F238E27FC236}">
                <a16:creationId xmlns:a16="http://schemas.microsoft.com/office/drawing/2014/main" id="{C8B393DB-83F5-FE1F-2686-43C38180F8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6637" y="2371050"/>
            <a:ext cx="3175" cy="25082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5" name="Text Box 35">
            <a:extLst>
              <a:ext uri="{FF2B5EF4-FFF2-40B4-BE49-F238E27FC236}">
                <a16:creationId xmlns:a16="http://schemas.microsoft.com/office/drawing/2014/main" id="{7458B72F-B86B-78F6-247D-8D1CA3FD6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1268760"/>
            <a:ext cx="23952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r>
              <a:rPr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绘制左视图</a:t>
            </a:r>
          </a:p>
        </p:txBody>
      </p:sp>
      <p:sp>
        <p:nvSpPr>
          <p:cNvPr id="126" name="Text Box 87">
            <a:extLst>
              <a:ext uri="{FF2B5EF4-FFF2-40B4-BE49-F238E27FC236}">
                <a16:creationId xmlns:a16="http://schemas.microsoft.com/office/drawing/2014/main" id="{641BAB19-C54B-D223-2C77-F4DF08452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3390" y="5593916"/>
            <a:ext cx="38972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截交线投影具有类似性！！</a:t>
            </a:r>
          </a:p>
        </p:txBody>
      </p:sp>
      <p:sp>
        <p:nvSpPr>
          <p:cNvPr id="127" name="Text Box 35">
            <a:extLst>
              <a:ext uri="{FF2B5EF4-FFF2-40B4-BE49-F238E27FC236}">
                <a16:creationId xmlns:a16="http://schemas.microsoft.com/office/drawing/2014/main" id="{A46886E1-7888-A3EE-3607-A75702573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3227" y="1271313"/>
            <a:ext cx="23952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3】</a:t>
            </a:r>
            <a:r>
              <a:rPr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绘制左视图</a:t>
            </a:r>
          </a:p>
        </p:txBody>
      </p:sp>
    </p:spTree>
    <p:extLst>
      <p:ext uri="{BB962C8B-B14F-4D97-AF65-F5344CB8AC3E}">
        <p14:creationId xmlns:p14="http://schemas.microsoft.com/office/powerpoint/2010/main" val="1859751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"/>
                            </p:stCondLst>
                            <p:childTnLst>
                              <p:par>
                                <p:cTn id="1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2" dur="5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500"/>
                            </p:stCondLst>
                            <p:childTnLst>
                              <p:par>
                                <p:cTn id="2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500"/>
                            </p:stCondLst>
                            <p:childTnLst>
                              <p:par>
                                <p:cTn id="28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500"/>
                            </p:stCondLst>
                            <p:childTnLst>
                              <p:par>
                                <p:cTn id="2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1000"/>
                            </p:stCondLst>
                            <p:childTnLst>
                              <p:par>
                                <p:cTn id="29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1500"/>
                            </p:stCondLst>
                            <p:childTnLst>
                              <p:par>
                                <p:cTn id="3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2000"/>
                            </p:stCondLst>
                            <p:childTnLst>
                              <p:par>
                                <p:cTn id="3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500"/>
                            </p:stCondLst>
                            <p:childTnLst>
                              <p:par>
                                <p:cTn id="3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7" dur="5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3" fill="hold">
                            <p:stCondLst>
                              <p:cond delay="500"/>
                            </p:stCondLst>
                            <p:childTnLst>
                              <p:par>
                                <p:cTn id="3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indefinite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>
                            <p:stCondLst>
                              <p:cond delay="500"/>
                            </p:stCondLst>
                            <p:childTnLst>
                              <p:par>
                                <p:cTn id="40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fill="hold">
                      <p:stCondLst>
                        <p:cond delay="indefinite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indefinite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>
                      <p:stCondLst>
                        <p:cond delay="indefinite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id="4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8" grpId="1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6" grpId="0" autoUpdateAnimBg="0"/>
      <p:bldP spid="38" grpId="0" autoUpdateAnimBg="0"/>
      <p:bldP spid="39" grpId="0" autoUpdateAnimBg="0"/>
      <p:bldP spid="40" grpId="0" autoUpdateAnimBg="0"/>
      <p:bldP spid="41" grpId="0" autoUpdateAnimBg="0"/>
      <p:bldP spid="43" grpId="0" autoUpdateAnimBg="0"/>
      <p:bldP spid="44" grpId="0" autoUpdateAnimBg="0"/>
      <p:bldP spid="45" grpId="0" autoUpdateAnimBg="0"/>
      <p:bldP spid="46" grpId="0" autoUpdateAnimBg="0"/>
      <p:bldP spid="47" grpId="0" autoUpdateAnimBg="0"/>
      <p:bldP spid="48" grpId="0" autoUpdateAnimBg="0"/>
      <p:bldP spid="49" grpId="0" autoUpdateAnimBg="0"/>
      <p:bldP spid="50" grpId="0" autoUpdateAnimBg="0"/>
      <p:bldP spid="51" grpId="0" autoUpdateAnimBg="0"/>
      <p:bldP spid="52" grpId="0" animBg="1"/>
      <p:bldP spid="53" grpId="0" autoUpdateAnimBg="0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utoUpdateAnimBg="0"/>
      <p:bldP spid="103" grpId="0" autoUpdateAnimBg="0"/>
      <p:bldP spid="104" grpId="0" autoUpdateAnimBg="0"/>
      <p:bldP spid="108" grpId="0" build="p" autoUpdateAnimBg="0"/>
      <p:bldP spid="109" grpId="0" build="p" autoUpdateAnimBg="0"/>
      <p:bldP spid="110" grpId="0" animBg="1"/>
      <p:bldP spid="111" grpId="0" animBg="1"/>
      <p:bldP spid="112" grpId="0" animBg="1"/>
      <p:bldP spid="120" grpId="0"/>
      <p:bldP spid="121" grpId="0"/>
      <p:bldP spid="122" grpId="0"/>
      <p:bldP spid="123" grpId="0" animBg="1"/>
      <p:bldP spid="124" grpId="0" animBg="1"/>
      <p:bldP spid="126" grpId="0"/>
      <p:bldP spid="1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71726-E9D2-298E-9A61-F3196AC0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326456-BF6A-669E-E4D1-76065B84507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68344" y="2420123"/>
            <a:ext cx="8007320" cy="1446550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平面与回转体相交（一）</a:t>
            </a:r>
            <a:b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40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（圆柱的截切）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67DB83-8EE7-57B9-0C18-30212111B1FA}"/>
              </a:ext>
            </a:extLst>
          </p:cNvPr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7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176475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324AF-59C2-317F-6B8C-4BA6E77FA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32C65584-45EB-9564-7FD5-31B5C544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13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43348EC3-41BB-D595-47AB-319EC6087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540083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平面与回转体相交（一）</a:t>
            </a:r>
          </a:p>
        </p:txBody>
      </p:sp>
      <p:graphicFrame>
        <p:nvGraphicFramePr>
          <p:cNvPr id="2" name="Group 111">
            <a:extLst>
              <a:ext uri="{FF2B5EF4-FFF2-40B4-BE49-F238E27FC236}">
                <a16:creationId xmlns:a16="http://schemas.microsoft.com/office/drawing/2014/main" id="{C2093F7E-0072-23CD-AF72-F18BCD1C9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033253"/>
              </p:ext>
            </p:extLst>
          </p:nvPr>
        </p:nvGraphicFramePr>
        <p:xfrm>
          <a:off x="355600" y="1772816"/>
          <a:ext cx="8367713" cy="4392613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5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87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0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位置关系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P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⊥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轴线</a:t>
                      </a:r>
                      <a:endParaRPr kumimoji="1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P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　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轴线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P∥</a:t>
                      </a: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轴线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6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图例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5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断面形状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3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交线形状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Group 74">
            <a:extLst>
              <a:ext uri="{FF2B5EF4-FFF2-40B4-BE49-F238E27FC236}">
                <a16:creationId xmlns:a16="http://schemas.microsoft.com/office/drawing/2014/main" id="{4FFFDE61-DADD-BEB5-5EA8-9F3B64D3AFF0}"/>
              </a:ext>
            </a:extLst>
          </p:cNvPr>
          <p:cNvGrpSpPr>
            <a:grpSpLocks/>
          </p:cNvGrpSpPr>
          <p:nvPr/>
        </p:nvGrpSpPr>
        <p:grpSpPr bwMode="auto">
          <a:xfrm>
            <a:off x="4584700" y="2029991"/>
            <a:ext cx="173038" cy="120650"/>
            <a:chOff x="2734" y="1631"/>
            <a:chExt cx="163" cy="118"/>
          </a:xfrm>
        </p:grpSpPr>
        <p:sp>
          <p:nvSpPr>
            <p:cNvPr id="4" name="Line 72">
              <a:extLst>
                <a:ext uri="{FF2B5EF4-FFF2-40B4-BE49-F238E27FC236}">
                  <a16:creationId xmlns:a16="http://schemas.microsoft.com/office/drawing/2014/main" id="{C4516B55-07B9-8505-BD3D-422BA2AD31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05" y="1631"/>
              <a:ext cx="56" cy="1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" name="Line 73">
              <a:extLst>
                <a:ext uri="{FF2B5EF4-FFF2-40B4-BE49-F238E27FC236}">
                  <a16:creationId xmlns:a16="http://schemas.microsoft.com/office/drawing/2014/main" id="{DD176EAE-9EC0-F7D4-6C0E-E915A1D551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4" y="1747"/>
              <a:ext cx="163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6" name="Rectangle 75">
            <a:extLst>
              <a:ext uri="{FF2B5EF4-FFF2-40B4-BE49-F238E27FC236}">
                <a16:creationId xmlns:a16="http://schemas.microsoft.com/office/drawing/2014/main" id="{6C4A6D37-D585-C968-C3E5-2F668724B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8188" y="5592341"/>
            <a:ext cx="4111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i="0" dirty="0">
                <a:latin typeface="黑体" pitchFamily="2" charset="-122"/>
                <a:ea typeface="黑体" pitchFamily="2" charset="-122"/>
              </a:rPr>
              <a:t>圆</a:t>
            </a:r>
          </a:p>
        </p:txBody>
      </p:sp>
      <p:sp>
        <p:nvSpPr>
          <p:cNvPr id="7" name="Rectangle 76">
            <a:extLst>
              <a:ext uri="{FF2B5EF4-FFF2-40B4-BE49-F238E27FC236}">
                <a16:creationId xmlns:a16="http://schemas.microsoft.com/office/drawing/2014/main" id="{947E3FF2-2026-12F3-44D1-E96DA4DAD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3275" y="5592341"/>
            <a:ext cx="641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i="0" dirty="0">
                <a:latin typeface="黑体" pitchFamily="2" charset="-122"/>
                <a:ea typeface="黑体" pitchFamily="2" charset="-122"/>
              </a:rPr>
              <a:t>椭圆</a:t>
            </a:r>
          </a:p>
        </p:txBody>
      </p:sp>
      <p:sp>
        <p:nvSpPr>
          <p:cNvPr id="8" name="Rectangle 77">
            <a:extLst>
              <a:ext uri="{FF2B5EF4-FFF2-40B4-BE49-F238E27FC236}">
                <a16:creationId xmlns:a16="http://schemas.microsoft.com/office/drawing/2014/main" id="{6E55A236-5DBF-16D2-2D5D-C91AA44B1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6425" y="5592341"/>
            <a:ext cx="641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 i="0" dirty="0">
                <a:latin typeface="黑体" pitchFamily="2" charset="-122"/>
                <a:ea typeface="黑体" pitchFamily="2" charset="-122"/>
              </a:rPr>
              <a:t>直线</a:t>
            </a:r>
          </a:p>
        </p:txBody>
      </p:sp>
      <p:sp>
        <p:nvSpPr>
          <p:cNvPr id="9" name="Line 78">
            <a:extLst>
              <a:ext uri="{FF2B5EF4-FFF2-40B4-BE49-F238E27FC236}">
                <a16:creationId xmlns:a16="http://schemas.microsoft.com/office/drawing/2014/main" id="{0E9C64E2-7BF1-83F6-2158-7D69EDF91C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8375" y="2630066"/>
            <a:ext cx="0" cy="13573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Line 79">
            <a:extLst>
              <a:ext uri="{FF2B5EF4-FFF2-40B4-BE49-F238E27FC236}">
                <a16:creationId xmlns:a16="http://schemas.microsoft.com/office/drawing/2014/main" id="{E7720013-6150-BBED-54F0-875DA4429E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9763" y="2595141"/>
            <a:ext cx="828675" cy="14287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" name="Line 80">
            <a:extLst>
              <a:ext uri="{FF2B5EF4-FFF2-40B4-BE49-F238E27FC236}">
                <a16:creationId xmlns:a16="http://schemas.microsoft.com/office/drawing/2014/main" id="{FF410E19-A9F3-6030-1407-972126DB1B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5263" y="3052341"/>
            <a:ext cx="169386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" name="Text Box 81">
            <a:extLst>
              <a:ext uri="{FF2B5EF4-FFF2-40B4-BE49-F238E27FC236}">
                <a16:creationId xmlns:a16="http://schemas.microsoft.com/office/drawing/2014/main" id="{12143526-C567-1465-6F4B-6CB01A940C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3613" y="2445916"/>
            <a:ext cx="3984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V</a:t>
            </a:r>
          </a:p>
        </p:txBody>
      </p:sp>
      <p:sp>
        <p:nvSpPr>
          <p:cNvPr id="14" name="Text Box 82">
            <a:extLst>
              <a:ext uri="{FF2B5EF4-FFF2-40B4-BE49-F238E27FC236}">
                <a16:creationId xmlns:a16="http://schemas.microsoft.com/office/drawing/2014/main" id="{7E7C97C6-7A4E-D6A9-9372-28A32742E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0763" y="2410991"/>
            <a:ext cx="3984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V</a:t>
            </a:r>
          </a:p>
        </p:txBody>
      </p:sp>
      <p:sp>
        <p:nvSpPr>
          <p:cNvPr id="15" name="Text Box 83">
            <a:extLst>
              <a:ext uri="{FF2B5EF4-FFF2-40B4-BE49-F238E27FC236}">
                <a16:creationId xmlns:a16="http://schemas.microsoft.com/office/drawing/2014/main" id="{A5D0E022-C38A-C143-C1A1-A1E1C1F6C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3075" y="2711029"/>
            <a:ext cx="3984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V</a:t>
            </a:r>
          </a:p>
        </p:txBody>
      </p:sp>
      <p:sp>
        <p:nvSpPr>
          <p:cNvPr id="16" name="Oval 84">
            <a:extLst>
              <a:ext uri="{FF2B5EF4-FFF2-40B4-BE49-F238E27FC236}">
                <a16:creationId xmlns:a16="http://schemas.microsoft.com/office/drawing/2014/main" id="{615DD8DD-7EE4-968C-3F97-F19CF7CC4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5775" y="4271541"/>
            <a:ext cx="987425" cy="987425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7" name="Oval 85">
            <a:extLst>
              <a:ext uri="{FF2B5EF4-FFF2-40B4-BE49-F238E27FC236}">
                <a16:creationId xmlns:a16="http://schemas.microsoft.com/office/drawing/2014/main" id="{2FB78F40-55F2-44D8-7A0C-7597F6BF1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0296" y="4384911"/>
            <a:ext cx="1121271" cy="81121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no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8" name="Rectangle 86">
            <a:extLst>
              <a:ext uri="{FF2B5EF4-FFF2-40B4-BE49-F238E27FC236}">
                <a16:creationId xmlns:a16="http://schemas.microsoft.com/office/drawing/2014/main" id="{B95658FD-B95C-BD25-DBDD-8FECC8411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6550" y="4365204"/>
            <a:ext cx="1357313" cy="81121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grpSp>
        <p:nvGrpSpPr>
          <p:cNvPr id="19" name="Group 87">
            <a:extLst>
              <a:ext uri="{FF2B5EF4-FFF2-40B4-BE49-F238E27FC236}">
                <a16:creationId xmlns:a16="http://schemas.microsoft.com/office/drawing/2014/main" id="{28C5AEF5-9981-5E4E-0876-36A1EB90CF6A}"/>
              </a:ext>
            </a:extLst>
          </p:cNvPr>
          <p:cNvGrpSpPr>
            <a:grpSpLocks/>
          </p:cNvGrpSpPr>
          <p:nvPr/>
        </p:nvGrpSpPr>
        <p:grpSpPr bwMode="auto">
          <a:xfrm>
            <a:off x="1444625" y="2788816"/>
            <a:ext cx="1622425" cy="987425"/>
            <a:chOff x="778" y="2138"/>
            <a:chExt cx="1022" cy="622"/>
          </a:xfrm>
        </p:grpSpPr>
        <p:sp>
          <p:nvSpPr>
            <p:cNvPr id="20" name="Rectangle 88">
              <a:extLst>
                <a:ext uri="{FF2B5EF4-FFF2-40B4-BE49-F238E27FC236}">
                  <a16:creationId xmlns:a16="http://schemas.microsoft.com/office/drawing/2014/main" id="{2CFE4678-1CDC-1EFB-6FAD-5B7F466FD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" y="2138"/>
              <a:ext cx="855" cy="62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1" name="Line 89">
              <a:extLst>
                <a:ext uri="{FF2B5EF4-FFF2-40B4-BE49-F238E27FC236}">
                  <a16:creationId xmlns:a16="http://schemas.microsoft.com/office/drawing/2014/main" id="{1C6BFA84-DB09-5A23-B151-67F457F6EC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8" y="2449"/>
              <a:ext cx="10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2" name="Group 90">
            <a:extLst>
              <a:ext uri="{FF2B5EF4-FFF2-40B4-BE49-F238E27FC236}">
                <a16:creationId xmlns:a16="http://schemas.microsoft.com/office/drawing/2014/main" id="{2819DE1E-184C-7FAE-90C3-71BF8123B763}"/>
              </a:ext>
            </a:extLst>
          </p:cNvPr>
          <p:cNvGrpSpPr>
            <a:grpSpLocks/>
          </p:cNvGrpSpPr>
          <p:nvPr/>
        </p:nvGrpSpPr>
        <p:grpSpPr bwMode="auto">
          <a:xfrm>
            <a:off x="4125913" y="2784054"/>
            <a:ext cx="1622425" cy="987425"/>
            <a:chOff x="2419" y="2135"/>
            <a:chExt cx="1022" cy="622"/>
          </a:xfrm>
        </p:grpSpPr>
        <p:sp>
          <p:nvSpPr>
            <p:cNvPr id="23" name="Rectangle 91">
              <a:extLst>
                <a:ext uri="{FF2B5EF4-FFF2-40B4-BE49-F238E27FC236}">
                  <a16:creationId xmlns:a16="http://schemas.microsoft.com/office/drawing/2014/main" id="{B004C2ED-55CE-A423-6760-70D23F3B6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6" y="2135"/>
              <a:ext cx="855" cy="62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4" name="Line 92">
              <a:extLst>
                <a:ext uri="{FF2B5EF4-FFF2-40B4-BE49-F238E27FC236}">
                  <a16:creationId xmlns:a16="http://schemas.microsoft.com/office/drawing/2014/main" id="{CC3C324D-6F59-7966-D344-97E1BBB956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9" y="2446"/>
              <a:ext cx="10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5" name="Group 93">
            <a:extLst>
              <a:ext uri="{FF2B5EF4-FFF2-40B4-BE49-F238E27FC236}">
                <a16:creationId xmlns:a16="http://schemas.microsoft.com/office/drawing/2014/main" id="{553C4200-5AB4-3690-1F77-2202396DDBA5}"/>
              </a:ext>
            </a:extLst>
          </p:cNvPr>
          <p:cNvGrpSpPr>
            <a:grpSpLocks/>
          </p:cNvGrpSpPr>
          <p:nvPr/>
        </p:nvGrpSpPr>
        <p:grpSpPr bwMode="auto">
          <a:xfrm>
            <a:off x="6584950" y="2793579"/>
            <a:ext cx="1622425" cy="987425"/>
            <a:chOff x="4148" y="2141"/>
            <a:chExt cx="1022" cy="622"/>
          </a:xfrm>
        </p:grpSpPr>
        <p:sp>
          <p:nvSpPr>
            <p:cNvPr id="26" name="Rectangle 94">
              <a:extLst>
                <a:ext uri="{FF2B5EF4-FFF2-40B4-BE49-F238E27FC236}">
                  <a16:creationId xmlns:a16="http://schemas.microsoft.com/office/drawing/2014/main" id="{BF27251F-0157-76E1-CE72-A3875A5FB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2141"/>
              <a:ext cx="855" cy="62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7" name="Line 95">
              <a:extLst>
                <a:ext uri="{FF2B5EF4-FFF2-40B4-BE49-F238E27FC236}">
                  <a16:creationId xmlns:a16="http://schemas.microsoft.com/office/drawing/2014/main" id="{B52D72B5-159E-6C5F-CBFD-DC142DDADC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8" y="2452"/>
              <a:ext cx="10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8" name="Rectangle 108">
            <a:extLst>
              <a:ext uri="{FF2B5EF4-FFF2-40B4-BE49-F238E27FC236}">
                <a16:creationId xmlns:a16="http://schemas.microsoft.com/office/drawing/2014/main" id="{D09607D3-EDFA-5DF2-C73B-BC7CD8EF7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492" y="1182443"/>
            <a:ext cx="69910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i="0" dirty="0">
                <a:latin typeface="黑体" pitchFamily="2" charset="-122"/>
                <a:ea typeface="黑体" pitchFamily="2" charset="-122"/>
              </a:rPr>
              <a:t>截切平面与轴线的相互位置关系、及截断面的形状</a:t>
            </a:r>
          </a:p>
        </p:txBody>
      </p:sp>
    </p:spTree>
    <p:extLst>
      <p:ext uri="{BB962C8B-B14F-4D97-AF65-F5344CB8AC3E}">
        <p14:creationId xmlns:p14="http://schemas.microsoft.com/office/powerpoint/2010/main" val="1228964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 animBg="1"/>
      <p:bldP spid="10" grpId="0" animBg="1"/>
      <p:bldP spid="12" grpId="0" animBg="1"/>
      <p:bldP spid="13" grpId="0" autoUpdateAnimBg="0"/>
      <p:bldP spid="14" grpId="0" autoUpdateAnimBg="0"/>
      <p:bldP spid="15" grpId="0" autoUpdateAnimBg="0"/>
      <p:bldP spid="16" grpId="0" animBg="1"/>
      <p:bldP spid="17" grpId="0" animBg="1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5DE20-03F3-CF06-C24F-686BF0E96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2791FDFA-846D-82AD-A5F5-17244436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14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F37E2B6D-0AB5-4EB3-DA3E-5DB0BB8CB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540083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平面与回转体相交（一）</a:t>
            </a:r>
          </a:p>
        </p:txBody>
      </p:sp>
      <p:sp>
        <p:nvSpPr>
          <p:cNvPr id="146" name="Oval 309">
            <a:extLst>
              <a:ext uri="{FF2B5EF4-FFF2-40B4-BE49-F238E27FC236}">
                <a16:creationId xmlns:a16="http://schemas.microsoft.com/office/drawing/2014/main" id="{8F5E5355-B7AE-FA09-DC58-6664D749F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822" y="5537696"/>
            <a:ext cx="374650" cy="889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7" name="Line 245">
            <a:extLst>
              <a:ext uri="{FF2B5EF4-FFF2-40B4-BE49-F238E27FC236}">
                <a16:creationId xmlns:a16="http://schemas.microsoft.com/office/drawing/2014/main" id="{D71C3876-6714-521E-6142-76EC2C3A2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1888" y="2672259"/>
            <a:ext cx="2687637" cy="3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8" name="Oval 310">
            <a:extLst>
              <a:ext uri="{FF2B5EF4-FFF2-40B4-BE49-F238E27FC236}">
                <a16:creationId xmlns:a16="http://schemas.microsoft.com/office/drawing/2014/main" id="{F44F00A2-2A7E-A114-AFD3-D6B9D925C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797" y="5494834"/>
            <a:ext cx="106363" cy="74612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9" name="Oval 306">
            <a:extLst>
              <a:ext uri="{FF2B5EF4-FFF2-40B4-BE49-F238E27FC236}">
                <a16:creationId xmlns:a16="http://schemas.microsoft.com/office/drawing/2014/main" id="{4489F300-9492-D748-1D71-B5C222D68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097" y="4304209"/>
            <a:ext cx="131763" cy="74612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0" name="Oval 308">
            <a:extLst>
              <a:ext uri="{FF2B5EF4-FFF2-40B4-BE49-F238E27FC236}">
                <a16:creationId xmlns:a16="http://schemas.microsoft.com/office/drawing/2014/main" id="{30BB06CA-6E0A-5438-A438-C45586652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822" y="4254996"/>
            <a:ext cx="374650" cy="889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1" name="Oval 304">
            <a:extLst>
              <a:ext uri="{FF2B5EF4-FFF2-40B4-BE49-F238E27FC236}">
                <a16:creationId xmlns:a16="http://schemas.microsoft.com/office/drawing/2014/main" id="{7165EA2A-A48E-218A-1896-1E88ECFD4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258171"/>
            <a:ext cx="476250" cy="74613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2" name="Oval 305">
            <a:extLst>
              <a:ext uri="{FF2B5EF4-FFF2-40B4-BE49-F238E27FC236}">
                <a16:creationId xmlns:a16="http://schemas.microsoft.com/office/drawing/2014/main" id="{4EDE88FC-777F-EA56-57AF-144F37F64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2275" y="5544046"/>
            <a:ext cx="476250" cy="74613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3" name="Rectangle 224">
            <a:extLst>
              <a:ext uri="{FF2B5EF4-FFF2-40B4-BE49-F238E27FC236}">
                <a16:creationId xmlns:a16="http://schemas.microsoft.com/office/drawing/2014/main" id="{A6DE20D3-568D-70AC-0BBF-CD758D72F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3813" y="4293096"/>
            <a:ext cx="2205037" cy="1287463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4" name="Line 221">
            <a:extLst>
              <a:ext uri="{FF2B5EF4-FFF2-40B4-BE49-F238E27FC236}">
                <a16:creationId xmlns:a16="http://schemas.microsoft.com/office/drawing/2014/main" id="{41283B21-DDF0-A617-2D83-880BD7BCCC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5400" y="4640759"/>
            <a:ext cx="0" cy="571500"/>
          </a:xfrm>
          <a:prstGeom prst="line">
            <a:avLst/>
          </a:prstGeom>
          <a:noFill/>
          <a:ln w="317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5" name="Oval 300">
            <a:extLst>
              <a:ext uri="{FF2B5EF4-FFF2-40B4-BE49-F238E27FC236}">
                <a16:creationId xmlns:a16="http://schemas.microsoft.com/office/drawing/2014/main" id="{926863BD-FD8A-C4B8-7B4C-9B112CA85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8938" y="4453434"/>
            <a:ext cx="352425" cy="762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6" name="Oval 301">
            <a:extLst>
              <a:ext uri="{FF2B5EF4-FFF2-40B4-BE49-F238E27FC236}">
                <a16:creationId xmlns:a16="http://schemas.microsoft.com/office/drawing/2014/main" id="{91DE187E-78CA-8DFE-E304-E6E6703A8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3225" y="5334496"/>
            <a:ext cx="352425" cy="76200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7" name="Oval 302">
            <a:extLst>
              <a:ext uri="{FF2B5EF4-FFF2-40B4-BE49-F238E27FC236}">
                <a16:creationId xmlns:a16="http://schemas.microsoft.com/office/drawing/2014/main" id="{0C78DD10-7377-3A91-0BFE-265899225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8438" y="4762996"/>
            <a:ext cx="104775" cy="300038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8" name="Oval 303">
            <a:extLst>
              <a:ext uri="{FF2B5EF4-FFF2-40B4-BE49-F238E27FC236}">
                <a16:creationId xmlns:a16="http://schemas.microsoft.com/office/drawing/2014/main" id="{3466D1DD-D1F5-1C26-A195-C2A5B73EC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3013" y="4772521"/>
            <a:ext cx="104775" cy="300038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9" name="Line 299">
            <a:extLst>
              <a:ext uri="{FF2B5EF4-FFF2-40B4-BE49-F238E27FC236}">
                <a16:creationId xmlns:a16="http://schemas.microsoft.com/office/drawing/2014/main" id="{CC4CB45E-B82A-A6E6-2A18-118E8B7F88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9238" y="2305546"/>
            <a:ext cx="0" cy="337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0" name="Line 298">
            <a:extLst>
              <a:ext uri="{FF2B5EF4-FFF2-40B4-BE49-F238E27FC236}">
                <a16:creationId xmlns:a16="http://schemas.microsoft.com/office/drawing/2014/main" id="{F9856315-1360-427B-FFBB-0922D0339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9300" y="2324596"/>
            <a:ext cx="0" cy="3371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1" name="Rectangle 54">
            <a:extLst>
              <a:ext uri="{FF2B5EF4-FFF2-40B4-BE49-F238E27FC236}">
                <a16:creationId xmlns:a16="http://schemas.microsoft.com/office/drawing/2014/main" id="{787BB4CB-B0FD-E421-3799-90A319BB1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397" y="4418509"/>
            <a:ext cx="711200" cy="1041400"/>
          </a:xfrm>
          <a:prstGeom prst="rect">
            <a:avLst/>
          </a:prstGeom>
          <a:solidFill>
            <a:srgbClr val="FF3300"/>
          </a:solidFill>
          <a:ln w="19050">
            <a:solidFill>
              <a:srgbClr val="FF3300"/>
            </a:solidFill>
            <a:miter lim="800000"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62" name="Line 295">
            <a:extLst>
              <a:ext uri="{FF2B5EF4-FFF2-40B4-BE49-F238E27FC236}">
                <a16:creationId xmlns:a16="http://schemas.microsoft.com/office/drawing/2014/main" id="{8773F0F6-AFAA-990E-E158-C7EA386ED2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2050" y="5461496"/>
            <a:ext cx="2476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3" name="Line 294">
            <a:extLst>
              <a:ext uri="{FF2B5EF4-FFF2-40B4-BE49-F238E27FC236}">
                <a16:creationId xmlns:a16="http://schemas.microsoft.com/office/drawing/2014/main" id="{3DE87518-49DD-73AD-0F6F-239D096C8C8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2850" y="4394696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4" name="Line 31">
            <a:extLst>
              <a:ext uri="{FF2B5EF4-FFF2-40B4-BE49-F238E27FC236}">
                <a16:creationId xmlns:a16="http://schemas.microsoft.com/office/drawing/2014/main" id="{773363DB-27F6-B2F9-0C4F-12C1BC3A82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872" y="4407396"/>
            <a:ext cx="24574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5" name="Line 32">
            <a:extLst>
              <a:ext uri="{FF2B5EF4-FFF2-40B4-BE49-F238E27FC236}">
                <a16:creationId xmlns:a16="http://schemas.microsoft.com/office/drawing/2014/main" id="{E98FBF9F-E86F-6AE5-0580-0E5CE0ECD1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822" y="5464671"/>
            <a:ext cx="2471738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6" name="Line 33">
            <a:extLst>
              <a:ext uri="{FF2B5EF4-FFF2-40B4-BE49-F238E27FC236}">
                <a16:creationId xmlns:a16="http://schemas.microsoft.com/office/drawing/2014/main" id="{26182686-D3B7-AB71-5435-E829014FCE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0360" y="3516809"/>
            <a:ext cx="0" cy="2138362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7" name="Line 34">
            <a:extLst>
              <a:ext uri="{FF2B5EF4-FFF2-40B4-BE49-F238E27FC236}">
                <a16:creationId xmlns:a16="http://schemas.microsoft.com/office/drawing/2014/main" id="{1B28F338-157B-63C0-1F2B-69B1B1CBC5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2360" y="3373934"/>
            <a:ext cx="0" cy="2352675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8" name="Rectangle 4">
            <a:extLst>
              <a:ext uri="{FF2B5EF4-FFF2-40B4-BE49-F238E27FC236}">
                <a16:creationId xmlns:a16="http://schemas.microsoft.com/office/drawing/2014/main" id="{308DB971-EE5B-42FC-11DA-A47CD1B81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572" y="2389684"/>
            <a:ext cx="2205038" cy="1287462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69" name="Rectangle 5">
            <a:extLst>
              <a:ext uri="{FF2B5EF4-FFF2-40B4-BE49-F238E27FC236}">
                <a16:creationId xmlns:a16="http://schemas.microsoft.com/office/drawing/2014/main" id="{D22742BA-06E2-C39D-1B6F-B76CAD9B2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222" y="4293096"/>
            <a:ext cx="2205038" cy="1287463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70" name="Rectangle 8">
            <a:extLst>
              <a:ext uri="{FF2B5EF4-FFF2-40B4-BE49-F238E27FC236}">
                <a16:creationId xmlns:a16="http://schemas.microsoft.com/office/drawing/2014/main" id="{4F561330-0E8C-40A5-4161-69DABF51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29" y="3997821"/>
            <a:ext cx="3352343" cy="195158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no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71" name="Text Box 3">
            <a:extLst>
              <a:ext uri="{FF2B5EF4-FFF2-40B4-BE49-F238E27FC236}">
                <a16:creationId xmlns:a16="http://schemas.microsoft.com/office/drawing/2014/main" id="{5C4B9B2D-257F-BC1C-6327-1AF515F55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1169044"/>
            <a:ext cx="42370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截切平面平行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垂直</a:t>
            </a:r>
            <a:r>
              <a: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于轴线</a:t>
            </a:r>
          </a:p>
        </p:txBody>
      </p:sp>
      <p:sp>
        <p:nvSpPr>
          <p:cNvPr id="172" name="Line 6">
            <a:extLst>
              <a:ext uri="{FF2B5EF4-FFF2-40B4-BE49-F238E27FC236}">
                <a16:creationId xmlns:a16="http://schemas.microsoft.com/office/drawing/2014/main" id="{9C56B1B4-BBD8-7BBC-1701-48D9E6CA7A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822" y="4934446"/>
            <a:ext cx="2540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3" name="Line 7">
            <a:extLst>
              <a:ext uri="{FF2B5EF4-FFF2-40B4-BE49-F238E27FC236}">
                <a16:creationId xmlns:a16="http://schemas.microsoft.com/office/drawing/2014/main" id="{44166C33-6D72-2EF6-D1EF-88B8FA29F0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472" y="3040559"/>
            <a:ext cx="24161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74" name="Group 42">
            <a:extLst>
              <a:ext uri="{FF2B5EF4-FFF2-40B4-BE49-F238E27FC236}">
                <a16:creationId xmlns:a16="http://schemas.microsoft.com/office/drawing/2014/main" id="{77CEC3B2-0ADC-CBF2-2E41-6AB343E8E059}"/>
              </a:ext>
            </a:extLst>
          </p:cNvPr>
          <p:cNvGrpSpPr>
            <a:grpSpLocks/>
          </p:cNvGrpSpPr>
          <p:nvPr/>
        </p:nvGrpSpPr>
        <p:grpSpPr bwMode="auto">
          <a:xfrm>
            <a:off x="2707710" y="2200771"/>
            <a:ext cx="1887537" cy="1763713"/>
            <a:chOff x="2447" y="989"/>
            <a:chExt cx="1189" cy="1111"/>
          </a:xfrm>
        </p:grpSpPr>
        <p:sp>
          <p:nvSpPr>
            <p:cNvPr id="175" name="Line 9">
              <a:extLst>
                <a:ext uri="{FF2B5EF4-FFF2-40B4-BE49-F238E27FC236}">
                  <a16:creationId xmlns:a16="http://schemas.microsoft.com/office/drawing/2014/main" id="{CEF302C7-2900-CCA6-1E2B-C8500CB5B4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7" y="1518"/>
              <a:ext cx="11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6" name="Line 10">
              <a:extLst>
                <a:ext uri="{FF2B5EF4-FFF2-40B4-BE49-F238E27FC236}">
                  <a16:creationId xmlns:a16="http://schemas.microsoft.com/office/drawing/2014/main" id="{DF0A87BB-4137-48C5-77AA-BB490278E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9" y="989"/>
              <a:ext cx="0" cy="11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7" name="Oval 11">
              <a:extLst>
                <a:ext uri="{FF2B5EF4-FFF2-40B4-BE49-F238E27FC236}">
                  <a16:creationId xmlns:a16="http://schemas.microsoft.com/office/drawing/2014/main" id="{7E5FA112-7934-4598-1344-2EA4036AB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0" y="1107"/>
              <a:ext cx="811" cy="81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</p:grpSp>
      <p:sp>
        <p:nvSpPr>
          <p:cNvPr id="178" name="Freeform 26">
            <a:extLst>
              <a:ext uri="{FF2B5EF4-FFF2-40B4-BE49-F238E27FC236}">
                <a16:creationId xmlns:a16="http://schemas.microsoft.com/office/drawing/2014/main" id="{6EF75344-4443-860C-7746-A681DCBEF8D5}"/>
              </a:ext>
            </a:extLst>
          </p:cNvPr>
          <p:cNvSpPr>
            <a:spLocks/>
          </p:cNvSpPr>
          <p:nvPr/>
        </p:nvSpPr>
        <p:spPr bwMode="auto">
          <a:xfrm>
            <a:off x="342335" y="2388096"/>
            <a:ext cx="2205037" cy="1290638"/>
          </a:xfrm>
          <a:custGeom>
            <a:avLst/>
            <a:gdLst>
              <a:gd name="T0" fmla="*/ 0 w 1389"/>
              <a:gd name="T1" fmla="*/ 2147483647 h 813"/>
              <a:gd name="T2" fmla="*/ 2147483647 w 1389"/>
              <a:gd name="T3" fmla="*/ 2147483647 h 813"/>
              <a:gd name="T4" fmla="*/ 2147483647 w 1389"/>
              <a:gd name="T5" fmla="*/ 0 h 813"/>
              <a:gd name="T6" fmla="*/ 2147483647 w 1389"/>
              <a:gd name="T7" fmla="*/ 0 h 813"/>
              <a:gd name="T8" fmla="*/ 2147483647 w 1389"/>
              <a:gd name="T9" fmla="*/ 2147483647 h 813"/>
              <a:gd name="T10" fmla="*/ 2147483647 w 1389"/>
              <a:gd name="T11" fmla="*/ 2147483647 h 813"/>
              <a:gd name="T12" fmla="*/ 2147483647 w 1389"/>
              <a:gd name="T13" fmla="*/ 2147483647 h 813"/>
              <a:gd name="T14" fmla="*/ 2147483647 w 1389"/>
              <a:gd name="T15" fmla="*/ 2147483647 h 813"/>
              <a:gd name="T16" fmla="*/ 2147483647 w 1389"/>
              <a:gd name="T17" fmla="*/ 2147483647 h 813"/>
              <a:gd name="T18" fmla="*/ 2147483647 w 1389"/>
              <a:gd name="T19" fmla="*/ 2147483647 h 813"/>
              <a:gd name="T20" fmla="*/ 2147483647 w 1389"/>
              <a:gd name="T21" fmla="*/ 2147483647 h 813"/>
              <a:gd name="T22" fmla="*/ 0 w 1389"/>
              <a:gd name="T23" fmla="*/ 2147483647 h 813"/>
              <a:gd name="T24" fmla="*/ 0 w 1389"/>
              <a:gd name="T25" fmla="*/ 2147483647 h 813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389"/>
              <a:gd name="T40" fmla="*/ 0 h 813"/>
              <a:gd name="T41" fmla="*/ 1389 w 1389"/>
              <a:gd name="T42" fmla="*/ 813 h 813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389" h="813">
                <a:moveTo>
                  <a:pt x="0" y="183"/>
                </a:moveTo>
                <a:lnTo>
                  <a:pt x="450" y="183"/>
                </a:lnTo>
                <a:lnTo>
                  <a:pt x="450" y="0"/>
                </a:lnTo>
                <a:lnTo>
                  <a:pt x="1389" y="0"/>
                </a:lnTo>
                <a:lnTo>
                  <a:pt x="1389" y="183"/>
                </a:lnTo>
                <a:lnTo>
                  <a:pt x="936" y="183"/>
                </a:lnTo>
                <a:lnTo>
                  <a:pt x="936" y="636"/>
                </a:lnTo>
                <a:lnTo>
                  <a:pt x="1389" y="636"/>
                </a:lnTo>
                <a:lnTo>
                  <a:pt x="1389" y="813"/>
                </a:lnTo>
                <a:lnTo>
                  <a:pt x="450" y="813"/>
                </a:lnTo>
                <a:lnTo>
                  <a:pt x="450" y="639"/>
                </a:lnTo>
                <a:lnTo>
                  <a:pt x="0" y="636"/>
                </a:lnTo>
                <a:lnTo>
                  <a:pt x="0" y="183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9" name="Line 27">
            <a:extLst>
              <a:ext uri="{FF2B5EF4-FFF2-40B4-BE49-F238E27FC236}">
                <a16:creationId xmlns:a16="http://schemas.microsoft.com/office/drawing/2014/main" id="{6E0A90FE-249D-C3E4-D3FC-86518F4C9B10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6972" y="2678609"/>
            <a:ext cx="1076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0" name="Line 28">
            <a:extLst>
              <a:ext uri="{FF2B5EF4-FFF2-40B4-BE49-F238E27FC236}">
                <a16:creationId xmlns:a16="http://schemas.microsoft.com/office/drawing/2014/main" id="{81CAF4D2-14E2-2984-FF64-F0F0F184BA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6497" y="3397746"/>
            <a:ext cx="10525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1" name="Freeform 35">
            <a:extLst>
              <a:ext uri="{FF2B5EF4-FFF2-40B4-BE49-F238E27FC236}">
                <a16:creationId xmlns:a16="http://schemas.microsoft.com/office/drawing/2014/main" id="{C8F503C7-77AC-A07D-655F-0A6BEE19C826}"/>
              </a:ext>
            </a:extLst>
          </p:cNvPr>
          <p:cNvSpPr>
            <a:spLocks/>
          </p:cNvSpPr>
          <p:nvPr/>
        </p:nvSpPr>
        <p:spPr bwMode="auto">
          <a:xfrm>
            <a:off x="329635" y="4408984"/>
            <a:ext cx="719137" cy="1057275"/>
          </a:xfrm>
          <a:custGeom>
            <a:avLst/>
            <a:gdLst>
              <a:gd name="T0" fmla="*/ 0 w 453"/>
              <a:gd name="T1" fmla="*/ 0 h 666"/>
              <a:gd name="T2" fmla="*/ 2147483647 w 453"/>
              <a:gd name="T3" fmla="*/ 0 h 666"/>
              <a:gd name="T4" fmla="*/ 2147483647 w 453"/>
              <a:gd name="T5" fmla="*/ 2147483647 h 666"/>
              <a:gd name="T6" fmla="*/ 0 w 453"/>
              <a:gd name="T7" fmla="*/ 2147483647 h 666"/>
              <a:gd name="T8" fmla="*/ 0 60000 65536"/>
              <a:gd name="T9" fmla="*/ 0 60000 65536"/>
              <a:gd name="T10" fmla="*/ 0 60000 65536"/>
              <a:gd name="T11" fmla="*/ 0 60000 65536"/>
              <a:gd name="T12" fmla="*/ 0 w 453"/>
              <a:gd name="T13" fmla="*/ 0 h 666"/>
              <a:gd name="T14" fmla="*/ 453 w 453"/>
              <a:gd name="T15" fmla="*/ 666 h 6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53" h="666">
                <a:moveTo>
                  <a:pt x="0" y="0"/>
                </a:moveTo>
                <a:lnTo>
                  <a:pt x="453" y="0"/>
                </a:lnTo>
                <a:lnTo>
                  <a:pt x="453" y="666"/>
                </a:lnTo>
                <a:lnTo>
                  <a:pt x="0" y="666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2" name="Line 40">
            <a:extLst>
              <a:ext uri="{FF2B5EF4-FFF2-40B4-BE49-F238E27FC236}">
                <a16:creationId xmlns:a16="http://schemas.microsoft.com/office/drawing/2014/main" id="{BB59676A-FF5D-F950-DD1C-646B8EB3DC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6260" y="4402634"/>
            <a:ext cx="0" cy="1062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3" name="Text Box 43">
            <a:extLst>
              <a:ext uri="{FF2B5EF4-FFF2-40B4-BE49-F238E27FC236}">
                <a16:creationId xmlns:a16="http://schemas.microsoft.com/office/drawing/2014/main" id="{B649589B-D459-4466-C6D8-6DA21178D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1660" y="2353171"/>
            <a:ext cx="5508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V</a:t>
            </a:r>
            <a:r>
              <a:rPr kumimoji="0" lang="zh-CN" altLang="en-US" sz="1800" b="1" baseline="-10000">
                <a:latin typeface="ISOCPEUR" pitchFamily="34" charset="0"/>
              </a:rPr>
              <a:t>　</a:t>
            </a:r>
            <a:endParaRPr kumimoji="0" lang="zh-CN" altLang="en-US" sz="2400" b="1" i="0">
              <a:latin typeface="ISOCPEUR" pitchFamily="34" charset="0"/>
            </a:endParaRPr>
          </a:p>
        </p:txBody>
      </p:sp>
      <p:sp>
        <p:nvSpPr>
          <p:cNvPr id="184" name="Line 44">
            <a:extLst>
              <a:ext uri="{FF2B5EF4-FFF2-40B4-BE49-F238E27FC236}">
                <a16:creationId xmlns:a16="http://schemas.microsoft.com/office/drawing/2014/main" id="{5803AE76-0FC0-10B9-48E8-51F316AB22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56972" y="2678609"/>
            <a:ext cx="10763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5" name="Line 65">
            <a:extLst>
              <a:ext uri="{FF2B5EF4-FFF2-40B4-BE49-F238E27FC236}">
                <a16:creationId xmlns:a16="http://schemas.microsoft.com/office/drawing/2014/main" id="{D7E6CA98-2075-DE34-906C-6A7F79E89F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7122" y="4402634"/>
            <a:ext cx="7191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6" name="Line 66">
            <a:extLst>
              <a:ext uri="{FF2B5EF4-FFF2-40B4-BE49-F238E27FC236}">
                <a16:creationId xmlns:a16="http://schemas.microsoft.com/office/drawing/2014/main" id="{74910C3B-59B7-6729-51A5-6F26B50E0D6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1885" y="5464671"/>
            <a:ext cx="7096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7" name="Line 67">
            <a:extLst>
              <a:ext uri="{FF2B5EF4-FFF2-40B4-BE49-F238E27FC236}">
                <a16:creationId xmlns:a16="http://schemas.microsoft.com/office/drawing/2014/main" id="{EB927D17-C60C-5856-634D-65F9DDE7AB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7122" y="4293096"/>
            <a:ext cx="0" cy="1190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8" name="Line 68">
            <a:extLst>
              <a:ext uri="{FF2B5EF4-FFF2-40B4-BE49-F238E27FC236}">
                <a16:creationId xmlns:a16="http://schemas.microsoft.com/office/drawing/2014/main" id="{8E27FDB9-25D1-4667-D8C3-67F6EDE0B4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1885" y="5464671"/>
            <a:ext cx="0" cy="114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9" name="Line 41">
            <a:extLst>
              <a:ext uri="{FF2B5EF4-FFF2-40B4-BE49-F238E27FC236}">
                <a16:creationId xmlns:a16="http://schemas.microsoft.com/office/drawing/2014/main" id="{A839B064-9F33-247F-F2ED-A9204812BD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060" y="4402634"/>
            <a:ext cx="0" cy="1062037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0" name="Line 69">
            <a:extLst>
              <a:ext uri="{FF2B5EF4-FFF2-40B4-BE49-F238E27FC236}">
                <a16:creationId xmlns:a16="http://schemas.microsoft.com/office/drawing/2014/main" id="{5B4AF374-8E55-CEE7-1473-E98496D3F9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1222" y="4293096"/>
            <a:ext cx="14906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1" name="Line 70">
            <a:extLst>
              <a:ext uri="{FF2B5EF4-FFF2-40B4-BE49-F238E27FC236}">
                <a16:creationId xmlns:a16="http://schemas.microsoft.com/office/drawing/2014/main" id="{B2ECADB2-D561-7B10-7B8E-C0E737639CC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222" y="5578971"/>
            <a:ext cx="1495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2" name="Line 71">
            <a:extLst>
              <a:ext uri="{FF2B5EF4-FFF2-40B4-BE49-F238E27FC236}">
                <a16:creationId xmlns:a16="http://schemas.microsoft.com/office/drawing/2014/main" id="{14BA4E7B-B078-F837-1737-DC70E80C56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9160" y="4285159"/>
            <a:ext cx="0" cy="139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3" name="Line 22">
            <a:extLst>
              <a:ext uri="{FF2B5EF4-FFF2-40B4-BE49-F238E27FC236}">
                <a16:creationId xmlns:a16="http://schemas.microsoft.com/office/drawing/2014/main" id="{062C09A6-B029-840D-E061-3FD754B66F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947" y="2673846"/>
            <a:ext cx="29543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4" name="Line 217">
            <a:extLst>
              <a:ext uri="{FF2B5EF4-FFF2-40B4-BE49-F238E27FC236}">
                <a16:creationId xmlns:a16="http://schemas.microsoft.com/office/drawing/2014/main" id="{53F828ED-C487-3609-E870-3FDF2285AE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0463" y="5207496"/>
            <a:ext cx="2471737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5" name="Line 218">
            <a:extLst>
              <a:ext uri="{FF2B5EF4-FFF2-40B4-BE49-F238E27FC236}">
                <a16:creationId xmlns:a16="http://schemas.microsoft.com/office/drawing/2014/main" id="{24642FC8-723A-A123-3444-0DFE593AA5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4275" y="4650284"/>
            <a:ext cx="2457450" cy="0"/>
          </a:xfrm>
          <a:prstGeom prst="line">
            <a:avLst/>
          </a:prstGeom>
          <a:noFill/>
          <a:ln w="31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6" name="Rectangle 219">
            <a:extLst>
              <a:ext uri="{FF2B5EF4-FFF2-40B4-BE49-F238E27FC236}">
                <a16:creationId xmlns:a16="http://schemas.microsoft.com/office/drawing/2014/main" id="{2EAA8342-A467-2FAF-68E5-E736F5221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0163" y="2389684"/>
            <a:ext cx="2205037" cy="1287462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97" name="Line 220">
            <a:extLst>
              <a:ext uri="{FF2B5EF4-FFF2-40B4-BE49-F238E27FC236}">
                <a16:creationId xmlns:a16="http://schemas.microsoft.com/office/drawing/2014/main" id="{F46B8EB4-D804-F571-48A4-3CBD63146B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2888" y="4650284"/>
            <a:ext cx="0" cy="552450"/>
          </a:xfrm>
          <a:prstGeom prst="line">
            <a:avLst/>
          </a:prstGeom>
          <a:noFill/>
          <a:ln w="10160">
            <a:solidFill>
              <a:srgbClr val="FF33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8" name="Line 222">
            <a:extLst>
              <a:ext uri="{FF2B5EF4-FFF2-40B4-BE49-F238E27FC236}">
                <a16:creationId xmlns:a16="http://schemas.microsoft.com/office/drawing/2014/main" id="{EF6C9F27-4F28-A1A7-5AA5-835D8AE2F6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8125" y="4488359"/>
            <a:ext cx="723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9" name="Line 223">
            <a:extLst>
              <a:ext uri="{FF2B5EF4-FFF2-40B4-BE49-F238E27FC236}">
                <a16:creationId xmlns:a16="http://schemas.microsoft.com/office/drawing/2014/main" id="{55D1AB30-F339-244E-31CF-4C6CDA446C1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2888" y="5378946"/>
            <a:ext cx="7143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0" name="Rectangle 225">
            <a:extLst>
              <a:ext uri="{FF2B5EF4-FFF2-40B4-BE49-F238E27FC236}">
                <a16:creationId xmlns:a16="http://schemas.microsoft.com/office/drawing/2014/main" id="{037DFF48-3B57-63F6-BD59-39F997EBF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4725" y="2132981"/>
            <a:ext cx="4359275" cy="403244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no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01" name="Line 226">
            <a:extLst>
              <a:ext uri="{FF2B5EF4-FFF2-40B4-BE49-F238E27FC236}">
                <a16:creationId xmlns:a16="http://schemas.microsoft.com/office/drawing/2014/main" id="{80F288C4-AA5F-C77C-5286-32F2D85552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8575" y="5445621"/>
            <a:ext cx="0" cy="141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2" name="Line 227">
            <a:extLst>
              <a:ext uri="{FF2B5EF4-FFF2-40B4-BE49-F238E27FC236}">
                <a16:creationId xmlns:a16="http://schemas.microsoft.com/office/drawing/2014/main" id="{DF8A84CE-2241-62C4-877B-06CA88360BB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1413" y="4934446"/>
            <a:ext cx="2540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3" name="Line 228">
            <a:extLst>
              <a:ext uri="{FF2B5EF4-FFF2-40B4-BE49-F238E27FC236}">
                <a16:creationId xmlns:a16="http://schemas.microsoft.com/office/drawing/2014/main" id="{D3C36DF8-9A72-81BE-7008-EE976C0203F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45063" y="3040559"/>
            <a:ext cx="24590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4" name="Freeform 229">
            <a:extLst>
              <a:ext uri="{FF2B5EF4-FFF2-40B4-BE49-F238E27FC236}">
                <a16:creationId xmlns:a16="http://schemas.microsoft.com/office/drawing/2014/main" id="{71B35AB9-839F-138E-0E71-01D6BC10F2A7}"/>
              </a:ext>
            </a:extLst>
          </p:cNvPr>
          <p:cNvSpPr>
            <a:spLocks/>
          </p:cNvSpPr>
          <p:nvPr/>
        </p:nvSpPr>
        <p:spPr bwMode="auto">
          <a:xfrm>
            <a:off x="5114925" y="2388096"/>
            <a:ext cx="2205038" cy="1290638"/>
          </a:xfrm>
          <a:custGeom>
            <a:avLst/>
            <a:gdLst>
              <a:gd name="T0" fmla="*/ 0 w 1389"/>
              <a:gd name="T1" fmla="*/ 2147483647 h 813"/>
              <a:gd name="T2" fmla="*/ 2147483647 w 1389"/>
              <a:gd name="T3" fmla="*/ 2147483647 h 813"/>
              <a:gd name="T4" fmla="*/ 2147483647 w 1389"/>
              <a:gd name="T5" fmla="*/ 0 h 813"/>
              <a:gd name="T6" fmla="*/ 2147483647 w 1389"/>
              <a:gd name="T7" fmla="*/ 0 h 813"/>
              <a:gd name="T8" fmla="*/ 2147483647 w 1389"/>
              <a:gd name="T9" fmla="*/ 2147483647 h 813"/>
              <a:gd name="T10" fmla="*/ 2147483647 w 1389"/>
              <a:gd name="T11" fmla="*/ 2147483647 h 813"/>
              <a:gd name="T12" fmla="*/ 2147483647 w 1389"/>
              <a:gd name="T13" fmla="*/ 2147483647 h 813"/>
              <a:gd name="T14" fmla="*/ 2147483647 w 1389"/>
              <a:gd name="T15" fmla="*/ 2147483647 h 813"/>
              <a:gd name="T16" fmla="*/ 2147483647 w 1389"/>
              <a:gd name="T17" fmla="*/ 2147483647 h 813"/>
              <a:gd name="T18" fmla="*/ 2147483647 w 1389"/>
              <a:gd name="T19" fmla="*/ 2147483647 h 813"/>
              <a:gd name="T20" fmla="*/ 2147483647 w 1389"/>
              <a:gd name="T21" fmla="*/ 2147483647 h 813"/>
              <a:gd name="T22" fmla="*/ 0 w 1389"/>
              <a:gd name="T23" fmla="*/ 2147483647 h 813"/>
              <a:gd name="T24" fmla="*/ 0 w 1389"/>
              <a:gd name="T25" fmla="*/ 2147483647 h 813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389"/>
              <a:gd name="T40" fmla="*/ 0 h 813"/>
              <a:gd name="T41" fmla="*/ 1389 w 1389"/>
              <a:gd name="T42" fmla="*/ 813 h 813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389" h="813">
                <a:moveTo>
                  <a:pt x="0" y="183"/>
                </a:moveTo>
                <a:lnTo>
                  <a:pt x="450" y="183"/>
                </a:lnTo>
                <a:lnTo>
                  <a:pt x="450" y="0"/>
                </a:lnTo>
                <a:lnTo>
                  <a:pt x="1389" y="0"/>
                </a:lnTo>
                <a:lnTo>
                  <a:pt x="1389" y="183"/>
                </a:lnTo>
                <a:lnTo>
                  <a:pt x="936" y="183"/>
                </a:lnTo>
                <a:lnTo>
                  <a:pt x="936" y="636"/>
                </a:lnTo>
                <a:lnTo>
                  <a:pt x="1389" y="636"/>
                </a:lnTo>
                <a:lnTo>
                  <a:pt x="1389" y="813"/>
                </a:lnTo>
                <a:lnTo>
                  <a:pt x="450" y="813"/>
                </a:lnTo>
                <a:lnTo>
                  <a:pt x="450" y="639"/>
                </a:lnTo>
                <a:lnTo>
                  <a:pt x="0" y="636"/>
                </a:lnTo>
                <a:lnTo>
                  <a:pt x="0" y="183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5" name="Line 230">
            <a:extLst>
              <a:ext uri="{FF2B5EF4-FFF2-40B4-BE49-F238E27FC236}">
                <a16:creationId xmlns:a16="http://schemas.microsoft.com/office/drawing/2014/main" id="{BF1BD05C-0B98-AF33-DAF9-ADE03EB944F3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2678609"/>
            <a:ext cx="2857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6" name="Line 231">
            <a:extLst>
              <a:ext uri="{FF2B5EF4-FFF2-40B4-BE49-F238E27FC236}">
                <a16:creationId xmlns:a16="http://schemas.microsoft.com/office/drawing/2014/main" id="{91BF8BB9-4A53-F74C-A8B1-ED5FB382B1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3397746"/>
            <a:ext cx="2714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7" name="Line 232">
            <a:extLst>
              <a:ext uri="{FF2B5EF4-FFF2-40B4-BE49-F238E27FC236}">
                <a16:creationId xmlns:a16="http://schemas.microsoft.com/office/drawing/2014/main" id="{6C09FE4D-820B-7D27-8B1C-89F8E8643E6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7263" y="4402634"/>
            <a:ext cx="0" cy="2524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8" name="Text Box 233">
            <a:extLst>
              <a:ext uri="{FF2B5EF4-FFF2-40B4-BE49-F238E27FC236}">
                <a16:creationId xmlns:a16="http://schemas.microsoft.com/office/drawing/2014/main" id="{636CD0B2-B0B7-11ED-5B01-185184F5D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0" y="2353171"/>
            <a:ext cx="550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V</a:t>
            </a:r>
            <a:r>
              <a:rPr kumimoji="0" lang="zh-CN" altLang="en-US" sz="1800" b="1" baseline="-10000">
                <a:latin typeface="ISOCPEUR" pitchFamily="34" charset="0"/>
              </a:rPr>
              <a:t>　</a:t>
            </a:r>
            <a:endParaRPr kumimoji="0" lang="zh-CN" altLang="en-US" sz="2400" b="1" i="0">
              <a:latin typeface="ISOCPEUR" pitchFamily="34" charset="0"/>
            </a:endParaRPr>
          </a:p>
        </p:txBody>
      </p:sp>
      <p:sp>
        <p:nvSpPr>
          <p:cNvPr id="209" name="Line 234">
            <a:extLst>
              <a:ext uri="{FF2B5EF4-FFF2-40B4-BE49-F238E27FC236}">
                <a16:creationId xmlns:a16="http://schemas.microsoft.com/office/drawing/2014/main" id="{F925E108-3F10-0771-B7B0-FDACB7825A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6988" y="2680196"/>
            <a:ext cx="711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0" name="Line 236">
            <a:extLst>
              <a:ext uri="{FF2B5EF4-FFF2-40B4-BE49-F238E27FC236}">
                <a16:creationId xmlns:a16="http://schemas.microsoft.com/office/drawing/2014/main" id="{8B8D1C8C-56B1-F45A-16CB-54931E65EF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9713" y="4402634"/>
            <a:ext cx="7191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1" name="Line 238">
            <a:extLst>
              <a:ext uri="{FF2B5EF4-FFF2-40B4-BE49-F238E27FC236}">
                <a16:creationId xmlns:a16="http://schemas.microsoft.com/office/drawing/2014/main" id="{EA7CE99C-DFBC-1F52-74C1-58957C43B0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4475" y="5464671"/>
            <a:ext cx="7096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2" name="Line 240">
            <a:extLst>
              <a:ext uri="{FF2B5EF4-FFF2-40B4-BE49-F238E27FC236}">
                <a16:creationId xmlns:a16="http://schemas.microsoft.com/office/drawing/2014/main" id="{153DB25F-D8CE-0EF5-D65C-DC6DAAC437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89713" y="4293096"/>
            <a:ext cx="0" cy="1190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3" name="Line 241">
            <a:extLst>
              <a:ext uri="{FF2B5EF4-FFF2-40B4-BE49-F238E27FC236}">
                <a16:creationId xmlns:a16="http://schemas.microsoft.com/office/drawing/2014/main" id="{B4EA0E7E-1CB4-1CB8-CA29-2CA14B47A8F8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4475" y="5464671"/>
            <a:ext cx="0" cy="1143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4" name="Line 242">
            <a:extLst>
              <a:ext uri="{FF2B5EF4-FFF2-40B4-BE49-F238E27FC236}">
                <a16:creationId xmlns:a16="http://schemas.microsoft.com/office/drawing/2014/main" id="{ABEAC917-8774-A60B-2AD4-14879C442C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3813" y="4293096"/>
            <a:ext cx="14906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5" name="Line 243">
            <a:extLst>
              <a:ext uri="{FF2B5EF4-FFF2-40B4-BE49-F238E27FC236}">
                <a16:creationId xmlns:a16="http://schemas.microsoft.com/office/drawing/2014/main" id="{B094C66F-7E73-9BD9-F636-9463382B15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3813" y="5578971"/>
            <a:ext cx="14954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6" name="Line 244">
            <a:extLst>
              <a:ext uri="{FF2B5EF4-FFF2-40B4-BE49-F238E27FC236}">
                <a16:creationId xmlns:a16="http://schemas.microsoft.com/office/drawing/2014/main" id="{14381BED-A7F7-171C-15E0-A9F7F7150A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6988" y="4283571"/>
            <a:ext cx="1587" cy="1317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17" name="Line 250">
            <a:extLst>
              <a:ext uri="{FF2B5EF4-FFF2-40B4-BE49-F238E27FC236}">
                <a16:creationId xmlns:a16="http://schemas.microsoft.com/office/drawing/2014/main" id="{FCA35D48-61B8-F4A6-427C-8944AA2D06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0888" y="2588121"/>
            <a:ext cx="1485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8" name="Line 251">
            <a:extLst>
              <a:ext uri="{FF2B5EF4-FFF2-40B4-BE49-F238E27FC236}">
                <a16:creationId xmlns:a16="http://schemas.microsoft.com/office/drawing/2014/main" id="{6B30C8F4-BEBE-383C-2BAE-B0341BEE4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0888" y="3478709"/>
            <a:ext cx="1485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9" name="Line 252">
            <a:extLst>
              <a:ext uri="{FF2B5EF4-FFF2-40B4-BE49-F238E27FC236}">
                <a16:creationId xmlns:a16="http://schemas.microsoft.com/office/drawing/2014/main" id="{322C0571-15BE-C457-43B5-156DF787EF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6988" y="4488359"/>
            <a:ext cx="14811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0" name="Line 253">
            <a:extLst>
              <a:ext uri="{FF2B5EF4-FFF2-40B4-BE49-F238E27FC236}">
                <a16:creationId xmlns:a16="http://schemas.microsoft.com/office/drawing/2014/main" id="{ED3C0824-286B-5F72-CD72-313413E115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7463" y="5378946"/>
            <a:ext cx="149066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1" name="Line 254">
            <a:extLst>
              <a:ext uri="{FF2B5EF4-FFF2-40B4-BE49-F238E27FC236}">
                <a16:creationId xmlns:a16="http://schemas.microsoft.com/office/drawing/2014/main" id="{E9CF2AA5-665B-B6C2-637B-5ADD2F17909C}"/>
              </a:ext>
            </a:extLst>
          </p:cNvPr>
          <p:cNvSpPr>
            <a:spLocks noChangeShapeType="1"/>
          </p:cNvSpPr>
          <p:nvPr/>
        </p:nvSpPr>
        <p:spPr bwMode="auto">
          <a:xfrm>
            <a:off x="7753350" y="3397746"/>
            <a:ext cx="2571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2" name="Line 255">
            <a:extLst>
              <a:ext uri="{FF2B5EF4-FFF2-40B4-BE49-F238E27FC236}">
                <a16:creationId xmlns:a16="http://schemas.microsoft.com/office/drawing/2014/main" id="{32D317F3-07D8-9018-D042-3537787E916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39063" y="2678609"/>
            <a:ext cx="2762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3" name="Line 256">
            <a:extLst>
              <a:ext uri="{FF2B5EF4-FFF2-40B4-BE49-F238E27FC236}">
                <a16:creationId xmlns:a16="http://schemas.microsoft.com/office/drawing/2014/main" id="{94CE3178-8277-CA39-5CC9-B73B99C3A171}"/>
              </a:ext>
            </a:extLst>
          </p:cNvPr>
          <p:cNvSpPr>
            <a:spLocks noChangeShapeType="1"/>
          </p:cNvSpPr>
          <p:nvPr/>
        </p:nvSpPr>
        <p:spPr bwMode="auto">
          <a:xfrm>
            <a:off x="7735888" y="2678609"/>
            <a:ext cx="266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4" name="Line 257">
            <a:extLst>
              <a:ext uri="{FF2B5EF4-FFF2-40B4-BE49-F238E27FC236}">
                <a16:creationId xmlns:a16="http://schemas.microsoft.com/office/drawing/2014/main" id="{4A3C8077-4520-07A4-9049-DC20DEB9C78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55038" y="2672259"/>
            <a:ext cx="266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25" name="Group 258">
            <a:extLst>
              <a:ext uri="{FF2B5EF4-FFF2-40B4-BE49-F238E27FC236}">
                <a16:creationId xmlns:a16="http://schemas.microsoft.com/office/drawing/2014/main" id="{8D483AC5-B5E7-0F02-DC41-65C17C95D131}"/>
              </a:ext>
            </a:extLst>
          </p:cNvPr>
          <p:cNvGrpSpPr>
            <a:grpSpLocks/>
          </p:cNvGrpSpPr>
          <p:nvPr/>
        </p:nvGrpSpPr>
        <p:grpSpPr bwMode="auto">
          <a:xfrm>
            <a:off x="7470775" y="2272209"/>
            <a:ext cx="1568450" cy="1516062"/>
            <a:chOff x="4464" y="1023"/>
            <a:chExt cx="988" cy="955"/>
          </a:xfrm>
        </p:grpSpPr>
        <p:sp>
          <p:nvSpPr>
            <p:cNvPr id="226" name="Line 259">
              <a:extLst>
                <a:ext uri="{FF2B5EF4-FFF2-40B4-BE49-F238E27FC236}">
                  <a16:creationId xmlns:a16="http://schemas.microsoft.com/office/drawing/2014/main" id="{68E6D814-7CC2-D8E5-01E7-445F20A815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507"/>
              <a:ext cx="9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7" name="Line 260">
              <a:extLst>
                <a:ext uri="{FF2B5EF4-FFF2-40B4-BE49-F238E27FC236}">
                  <a16:creationId xmlns:a16="http://schemas.microsoft.com/office/drawing/2014/main" id="{494A0829-6CFE-8FF9-76CF-94C270BCD3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5" y="1023"/>
              <a:ext cx="1" cy="95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28" name="Oval 261">
              <a:extLst>
                <a:ext uri="{FF2B5EF4-FFF2-40B4-BE49-F238E27FC236}">
                  <a16:creationId xmlns:a16="http://schemas.microsoft.com/office/drawing/2014/main" id="{5CA326E4-9F21-AD2F-54E9-B6A9C06A2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6" y="1096"/>
              <a:ext cx="811" cy="81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</p:grpSp>
      <p:sp>
        <p:nvSpPr>
          <p:cNvPr id="229" name="Oval 262">
            <a:extLst>
              <a:ext uri="{FF2B5EF4-FFF2-40B4-BE49-F238E27FC236}">
                <a16:creationId xmlns:a16="http://schemas.microsoft.com/office/drawing/2014/main" id="{D3961BE1-829C-6532-AC62-B7848C5DD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2725" y="2588121"/>
            <a:ext cx="890588" cy="89058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30" name="Rectangle 267">
            <a:extLst>
              <a:ext uri="{FF2B5EF4-FFF2-40B4-BE49-F238E27FC236}">
                <a16:creationId xmlns:a16="http://schemas.microsoft.com/office/drawing/2014/main" id="{132EABC1-FE22-A6ED-8476-314026CE4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4407396"/>
            <a:ext cx="714375" cy="2428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31" name="Rectangle 268">
            <a:extLst>
              <a:ext uri="{FF2B5EF4-FFF2-40B4-BE49-F238E27FC236}">
                <a16:creationId xmlns:a16="http://schemas.microsoft.com/office/drawing/2014/main" id="{069270BE-E262-B24A-E801-F9BD7F65C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5217021"/>
            <a:ext cx="714375" cy="24288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32" name="Line 269">
            <a:extLst>
              <a:ext uri="{FF2B5EF4-FFF2-40B4-BE49-F238E27FC236}">
                <a16:creationId xmlns:a16="http://schemas.microsoft.com/office/drawing/2014/main" id="{11FA56D9-3312-70B4-7B09-37ACECF452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1363" y="4645521"/>
            <a:ext cx="0" cy="5715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3" name="Line 279">
            <a:extLst>
              <a:ext uri="{FF2B5EF4-FFF2-40B4-BE49-F238E27FC236}">
                <a16:creationId xmlns:a16="http://schemas.microsoft.com/office/drawing/2014/main" id="{2D7A7E5E-D97C-AC15-8078-5892C373117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8125" y="4643934"/>
            <a:ext cx="71437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4" name="Line 280">
            <a:extLst>
              <a:ext uri="{FF2B5EF4-FFF2-40B4-BE49-F238E27FC236}">
                <a16:creationId xmlns:a16="http://schemas.microsoft.com/office/drawing/2014/main" id="{F95DB1C1-8142-2887-3F27-427DBF9D1EB6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9713" y="5212259"/>
            <a:ext cx="7239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5" name="Line 283">
            <a:extLst>
              <a:ext uri="{FF2B5EF4-FFF2-40B4-BE49-F238E27FC236}">
                <a16:creationId xmlns:a16="http://schemas.microsoft.com/office/drawing/2014/main" id="{DA4C60B9-EDCF-330D-6011-D85C45B0F4F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9713" y="4399459"/>
            <a:ext cx="0" cy="242887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6" name="Line 287">
            <a:extLst>
              <a:ext uri="{FF2B5EF4-FFF2-40B4-BE49-F238E27FC236}">
                <a16:creationId xmlns:a16="http://schemas.microsoft.com/office/drawing/2014/main" id="{8E88AA75-41B6-DBFC-B1C2-CBD6EC225D4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89713" y="5212259"/>
            <a:ext cx="0" cy="27622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7" name="Line 292">
            <a:extLst>
              <a:ext uri="{FF2B5EF4-FFF2-40B4-BE49-F238E27FC236}">
                <a16:creationId xmlns:a16="http://schemas.microsoft.com/office/drawing/2014/main" id="{8291B6B1-A4B2-0CBC-BC30-20B661EA659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5207496"/>
            <a:ext cx="0" cy="257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8" name="Line 293">
            <a:extLst>
              <a:ext uri="{FF2B5EF4-FFF2-40B4-BE49-F238E27FC236}">
                <a16:creationId xmlns:a16="http://schemas.microsoft.com/office/drawing/2014/main" id="{D0A35638-B34E-E1B8-8107-E9A1698BFF2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850" y="4650284"/>
            <a:ext cx="0" cy="561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9" name="Line 296">
            <a:extLst>
              <a:ext uri="{FF2B5EF4-FFF2-40B4-BE49-F238E27FC236}">
                <a16:creationId xmlns:a16="http://schemas.microsoft.com/office/drawing/2014/main" id="{FBD6891F-13BE-A950-12C4-435F095DDD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572" y="4405809"/>
            <a:ext cx="0" cy="1062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0" name="Line 297">
            <a:extLst>
              <a:ext uri="{FF2B5EF4-FFF2-40B4-BE49-F238E27FC236}">
                <a16:creationId xmlns:a16="http://schemas.microsoft.com/office/drawing/2014/main" id="{E75C4EE7-1885-C7C4-26EF-10E51F7D55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9160" y="5458321"/>
            <a:ext cx="0" cy="1349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1" name="Line 235">
            <a:extLst>
              <a:ext uri="{FF2B5EF4-FFF2-40B4-BE49-F238E27FC236}">
                <a16:creationId xmlns:a16="http://schemas.microsoft.com/office/drawing/2014/main" id="{CFADDD97-AF59-FAA8-11BA-AD9680F29A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2888" y="2670671"/>
            <a:ext cx="7239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2" name="Text Box 313">
            <a:extLst>
              <a:ext uri="{FF2B5EF4-FFF2-40B4-BE49-F238E27FC236}">
                <a16:creationId xmlns:a16="http://schemas.microsoft.com/office/drawing/2014/main" id="{4A0CA9CB-4D63-1776-8521-4986D5B0C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346" y="1758316"/>
            <a:ext cx="1205779" cy="430887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2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2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2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endParaRPr lang="zh-CN" altLang="en-US" sz="2200" b="1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Text Box 314">
            <a:extLst>
              <a:ext uri="{FF2B5EF4-FFF2-40B4-BE49-F238E27FC236}">
                <a16:creationId xmlns:a16="http://schemas.microsoft.com/office/drawing/2014/main" id="{2847C9B1-1A87-F914-BB39-5EA8E0548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861" y="1758316"/>
            <a:ext cx="1205779" cy="430887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2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2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2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  <a:endParaRPr lang="zh-CN" altLang="en-US" sz="2200" b="1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4" name="Line 45">
            <a:extLst>
              <a:ext uri="{FF2B5EF4-FFF2-40B4-BE49-F238E27FC236}">
                <a16:creationId xmlns:a16="http://schemas.microsoft.com/office/drawing/2014/main" id="{6DFEFD0E-7E52-A38F-233A-F1FC93CA63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397" y="2680196"/>
            <a:ext cx="711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5" name="Line 64">
            <a:extLst>
              <a:ext uri="{FF2B5EF4-FFF2-40B4-BE49-F238E27FC236}">
                <a16:creationId xmlns:a16="http://schemas.microsoft.com/office/drawing/2014/main" id="{4675B200-78C2-525B-5F54-050253031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3947" y="2680196"/>
            <a:ext cx="7239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6" name="AutoShape 263">
            <a:extLst>
              <a:ext uri="{FF2B5EF4-FFF2-40B4-BE49-F238E27FC236}">
                <a16:creationId xmlns:a16="http://schemas.microsoft.com/office/drawing/2014/main" id="{28D3AB1F-5580-9ED7-A154-2562F72F2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2637334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47" name="AutoShape 265">
            <a:extLst>
              <a:ext uri="{FF2B5EF4-FFF2-40B4-BE49-F238E27FC236}">
                <a16:creationId xmlns:a16="http://schemas.microsoft.com/office/drawing/2014/main" id="{38A04BBF-397F-A2D1-D8FE-23062F1AA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700" y="2637334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48" name="AutoShape 288">
            <a:extLst>
              <a:ext uri="{FF2B5EF4-FFF2-40B4-BE49-F238E27FC236}">
                <a16:creationId xmlns:a16="http://schemas.microsoft.com/office/drawing/2014/main" id="{96E0F613-07BD-FA0F-C766-A21202212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4488" y="2643684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49" name="AutoShape 289">
            <a:extLst>
              <a:ext uri="{FF2B5EF4-FFF2-40B4-BE49-F238E27FC236}">
                <a16:creationId xmlns:a16="http://schemas.microsoft.com/office/drawing/2014/main" id="{F0684EDE-A6FD-89B9-F9F5-C0CD1E84B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6938" y="2637334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50" name="AutoShape 58">
            <a:extLst>
              <a:ext uri="{FF2B5EF4-FFF2-40B4-BE49-F238E27FC236}">
                <a16:creationId xmlns:a16="http://schemas.microsoft.com/office/drawing/2014/main" id="{3C9F1F96-0BC3-DF39-F457-9328813C9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9797" y="2637334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51" name="AutoShape 48">
            <a:extLst>
              <a:ext uri="{FF2B5EF4-FFF2-40B4-BE49-F238E27FC236}">
                <a16:creationId xmlns:a16="http://schemas.microsoft.com/office/drawing/2014/main" id="{FEC43BB2-387E-CB5D-89CA-736AA4178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5697" y="2637334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52" name="AutoShape 49">
            <a:extLst>
              <a:ext uri="{FF2B5EF4-FFF2-40B4-BE49-F238E27FC236}">
                <a16:creationId xmlns:a16="http://schemas.microsoft.com/office/drawing/2014/main" id="{52F7A77A-D0D3-C94F-D866-D90B0D50E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9797" y="2637334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53" name="AutoShape 53">
            <a:extLst>
              <a:ext uri="{FF2B5EF4-FFF2-40B4-BE49-F238E27FC236}">
                <a16:creationId xmlns:a16="http://schemas.microsoft.com/office/drawing/2014/main" id="{BAC0546C-58DD-040B-EFB9-C212FBEFD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672" y="4374059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54" name="AutoShape 52">
            <a:extLst>
              <a:ext uri="{FF2B5EF4-FFF2-40B4-BE49-F238E27FC236}">
                <a16:creationId xmlns:a16="http://schemas.microsoft.com/office/drawing/2014/main" id="{6D68C903-C104-703A-2AC0-2198D6670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847" y="5426571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55" name="AutoShape 57">
            <a:extLst>
              <a:ext uri="{FF2B5EF4-FFF2-40B4-BE49-F238E27FC236}">
                <a16:creationId xmlns:a16="http://schemas.microsoft.com/office/drawing/2014/main" id="{ADEE9195-37A6-3CAB-495C-16C675D0C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5697" y="2637334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56" name="AutoShape 60">
            <a:extLst>
              <a:ext uri="{FF2B5EF4-FFF2-40B4-BE49-F238E27FC236}">
                <a16:creationId xmlns:a16="http://schemas.microsoft.com/office/drawing/2014/main" id="{DDEC8B77-C225-B567-7667-2A01190ED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9747" y="4370884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57" name="AutoShape 62">
            <a:extLst>
              <a:ext uri="{FF2B5EF4-FFF2-40B4-BE49-F238E27FC236}">
                <a16:creationId xmlns:a16="http://schemas.microsoft.com/office/drawing/2014/main" id="{837CE515-2E62-BBD3-2C56-9631AF059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3397" y="5424984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58" name="AutoShape 59">
            <a:extLst>
              <a:ext uri="{FF2B5EF4-FFF2-40B4-BE49-F238E27FC236}">
                <a16:creationId xmlns:a16="http://schemas.microsoft.com/office/drawing/2014/main" id="{847037DD-6300-CA43-2E1D-B1DAC8224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2197" y="4367709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59" name="AutoShape 61">
            <a:extLst>
              <a:ext uri="{FF2B5EF4-FFF2-40B4-BE49-F238E27FC236}">
                <a16:creationId xmlns:a16="http://schemas.microsoft.com/office/drawing/2014/main" id="{2F430547-28A1-41B8-C33A-9870EF088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372" y="5424984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60" name="AutoShape 56">
            <a:extLst>
              <a:ext uri="{FF2B5EF4-FFF2-40B4-BE49-F238E27FC236}">
                <a16:creationId xmlns:a16="http://schemas.microsoft.com/office/drawing/2014/main" id="{E185665A-59B7-0E28-8728-8535DCD6B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4510" y="2638921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61" name="AutoShape 55">
            <a:extLst>
              <a:ext uri="{FF2B5EF4-FFF2-40B4-BE49-F238E27FC236}">
                <a16:creationId xmlns:a16="http://schemas.microsoft.com/office/drawing/2014/main" id="{8C3F85C0-2356-8356-3A9D-5F5949EFA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135" y="2642096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62" name="AutoShape 47">
            <a:extLst>
              <a:ext uri="{FF2B5EF4-FFF2-40B4-BE49-F238E27FC236}">
                <a16:creationId xmlns:a16="http://schemas.microsoft.com/office/drawing/2014/main" id="{9F387786-DD82-1583-823C-C5D502539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797" y="2637334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63" name="AutoShape 46">
            <a:extLst>
              <a:ext uri="{FF2B5EF4-FFF2-40B4-BE49-F238E27FC236}">
                <a16:creationId xmlns:a16="http://schemas.microsoft.com/office/drawing/2014/main" id="{BC310CC5-C7FD-8E15-F669-6FEBF949B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060" y="2634159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64" name="AutoShape 50">
            <a:extLst>
              <a:ext uri="{FF2B5EF4-FFF2-40B4-BE49-F238E27FC236}">
                <a16:creationId xmlns:a16="http://schemas.microsoft.com/office/drawing/2014/main" id="{039F65BD-FF7A-ED38-C4A1-F5E2A1C59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647" y="4372471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65" name="AutoShape 51">
            <a:extLst>
              <a:ext uri="{FF2B5EF4-FFF2-40B4-BE49-F238E27FC236}">
                <a16:creationId xmlns:a16="http://schemas.microsoft.com/office/drawing/2014/main" id="{6A211A0A-ECF4-EC00-8B2A-C6BC4CFC9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710" y="5428159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66" name="AutoShape 237">
            <a:extLst>
              <a:ext uri="{FF2B5EF4-FFF2-40B4-BE49-F238E27FC236}">
                <a16:creationId xmlns:a16="http://schemas.microsoft.com/office/drawing/2014/main" id="{5985840D-7E14-2D6E-A5BE-3F262E882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9163" y="4367709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67" name="AutoShape 248">
            <a:extLst>
              <a:ext uri="{FF2B5EF4-FFF2-40B4-BE49-F238E27FC236}">
                <a16:creationId xmlns:a16="http://schemas.microsoft.com/office/drawing/2014/main" id="{FDA09EEB-20E4-6244-8911-99628D0F8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9613" y="2637334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68" name="AutoShape 249">
            <a:extLst>
              <a:ext uri="{FF2B5EF4-FFF2-40B4-BE49-F238E27FC236}">
                <a16:creationId xmlns:a16="http://schemas.microsoft.com/office/drawing/2014/main" id="{5963C7F9-A796-C200-852E-323EBD2E4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3650" y="2634159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69" name="AutoShape 264">
            <a:extLst>
              <a:ext uri="{FF2B5EF4-FFF2-40B4-BE49-F238E27FC236}">
                <a16:creationId xmlns:a16="http://schemas.microsoft.com/office/drawing/2014/main" id="{0AF26492-DE1A-8E03-B14F-FEB2DE281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7788" y="2637334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70" name="AutoShape 266">
            <a:extLst>
              <a:ext uri="{FF2B5EF4-FFF2-40B4-BE49-F238E27FC236}">
                <a16:creationId xmlns:a16="http://schemas.microsoft.com/office/drawing/2014/main" id="{6BC9BF9D-9F12-4CC1-B7D1-863EA1043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700" y="2638921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71" name="AutoShape 270">
            <a:extLst>
              <a:ext uri="{FF2B5EF4-FFF2-40B4-BE49-F238E27FC236}">
                <a16:creationId xmlns:a16="http://schemas.microsoft.com/office/drawing/2014/main" id="{35122A11-787D-D586-DAD8-57E92C8F7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5" y="4367709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72" name="AutoShape 271">
            <a:extLst>
              <a:ext uri="{FF2B5EF4-FFF2-40B4-BE49-F238E27FC236}">
                <a16:creationId xmlns:a16="http://schemas.microsoft.com/office/drawing/2014/main" id="{886D1438-1183-E09D-B3D6-B1B167153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5" y="4605834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73" name="AutoShape 272">
            <a:extLst>
              <a:ext uri="{FF2B5EF4-FFF2-40B4-BE49-F238E27FC236}">
                <a16:creationId xmlns:a16="http://schemas.microsoft.com/office/drawing/2014/main" id="{7EA4C9F5-5D19-90FE-77CD-D01C59736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300" y="5418634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74" name="AutoShape 273">
            <a:extLst>
              <a:ext uri="{FF2B5EF4-FFF2-40B4-BE49-F238E27FC236}">
                <a16:creationId xmlns:a16="http://schemas.microsoft.com/office/drawing/2014/main" id="{243C6DAE-FAA6-C8E8-EB5F-AA496DECD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300" y="5166221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75" name="AutoShape 274">
            <a:extLst>
              <a:ext uri="{FF2B5EF4-FFF2-40B4-BE49-F238E27FC236}">
                <a16:creationId xmlns:a16="http://schemas.microsoft.com/office/drawing/2014/main" id="{19110A3D-5E16-4CFC-9478-E82EB2353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5" y="4366121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76" name="AutoShape 275">
            <a:extLst>
              <a:ext uri="{FF2B5EF4-FFF2-40B4-BE49-F238E27FC236}">
                <a16:creationId xmlns:a16="http://schemas.microsoft.com/office/drawing/2014/main" id="{6246C783-3979-8BEB-B58F-304E8248A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5" y="4604246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77" name="AutoShape 276">
            <a:extLst>
              <a:ext uri="{FF2B5EF4-FFF2-40B4-BE49-F238E27FC236}">
                <a16:creationId xmlns:a16="http://schemas.microsoft.com/office/drawing/2014/main" id="{3D084D9D-DD1E-DF04-1910-547092FB9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5" y="5420221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78" name="AutoShape 277">
            <a:extLst>
              <a:ext uri="{FF2B5EF4-FFF2-40B4-BE49-F238E27FC236}">
                <a16:creationId xmlns:a16="http://schemas.microsoft.com/office/drawing/2014/main" id="{1DF7E3A4-4D8D-1AB0-AA3C-E1713E471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1675" y="5167809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79" name="AutoShape 284">
            <a:extLst>
              <a:ext uri="{FF2B5EF4-FFF2-40B4-BE49-F238E27FC236}">
                <a16:creationId xmlns:a16="http://schemas.microsoft.com/office/drawing/2014/main" id="{68ED9620-9A76-B7E2-A94E-078C594A8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4788" y="4356596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80" name="AutoShape 285">
            <a:extLst>
              <a:ext uri="{FF2B5EF4-FFF2-40B4-BE49-F238E27FC236}">
                <a16:creationId xmlns:a16="http://schemas.microsoft.com/office/drawing/2014/main" id="{95912FB5-A0AE-0266-BAB1-6818786E3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9550" y="4609009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81" name="AutoShape 290">
            <a:extLst>
              <a:ext uri="{FF2B5EF4-FFF2-40B4-BE49-F238E27FC236}">
                <a16:creationId xmlns:a16="http://schemas.microsoft.com/office/drawing/2014/main" id="{B947839A-B8D0-3506-4817-41C41E299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4488" y="2643684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82" name="AutoShape 291">
            <a:extLst>
              <a:ext uri="{FF2B5EF4-FFF2-40B4-BE49-F238E27FC236}">
                <a16:creationId xmlns:a16="http://schemas.microsoft.com/office/drawing/2014/main" id="{CEC2CAE6-1E7F-331B-AE60-5610698B2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6938" y="2637334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83" name="AutoShape 281">
            <a:extLst>
              <a:ext uri="{FF2B5EF4-FFF2-40B4-BE49-F238E27FC236}">
                <a16:creationId xmlns:a16="http://schemas.microsoft.com/office/drawing/2014/main" id="{C7CFF3CC-011C-A802-9E34-0772E0E48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2338" y="4613771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84" name="AutoShape 282">
            <a:extLst>
              <a:ext uri="{FF2B5EF4-FFF2-40B4-BE49-F238E27FC236}">
                <a16:creationId xmlns:a16="http://schemas.microsoft.com/office/drawing/2014/main" id="{47414164-28D8-6AB8-A7E7-D81F5686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5513" y="5163046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85" name="AutoShape 286">
            <a:extLst>
              <a:ext uri="{FF2B5EF4-FFF2-40B4-BE49-F238E27FC236}">
                <a16:creationId xmlns:a16="http://schemas.microsoft.com/office/drawing/2014/main" id="{3E61E98B-3297-B5A0-EA5F-8067E6B7D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313" y="5167809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86" name="AutoShape 278">
            <a:extLst>
              <a:ext uri="{FF2B5EF4-FFF2-40B4-BE49-F238E27FC236}">
                <a16:creationId xmlns:a16="http://schemas.microsoft.com/office/drawing/2014/main" id="{24F58F9D-83BE-299F-36F7-7FC013377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313" y="5429746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87" name="AutoShape 239">
            <a:extLst>
              <a:ext uri="{FF2B5EF4-FFF2-40B4-BE49-F238E27FC236}">
                <a16:creationId xmlns:a16="http://schemas.microsoft.com/office/drawing/2014/main" id="{850891C6-41DA-B8F8-7E20-B40CBDD2B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0" y="5424984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88" name="AutoShape 247">
            <a:extLst>
              <a:ext uri="{FF2B5EF4-FFF2-40B4-BE49-F238E27FC236}">
                <a16:creationId xmlns:a16="http://schemas.microsoft.com/office/drawing/2014/main" id="{3181E5CC-91ED-6AFA-5C06-F04A47A85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2725" y="2642096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89" name="AutoShape 246">
            <a:extLst>
              <a:ext uri="{FF2B5EF4-FFF2-40B4-BE49-F238E27FC236}">
                <a16:creationId xmlns:a16="http://schemas.microsoft.com/office/drawing/2014/main" id="{1A690203-876D-1821-A132-B99013259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7100" y="2638921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85777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25"/>
                                            </p:cond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"/>
                            </p:stCondLst>
                            <p:childTnLst>
                              <p:par>
                                <p:cTn id="1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000"/>
                            </p:stCondLst>
                            <p:childTnLst>
                              <p:par>
                                <p:cTn id="1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500"/>
                            </p:stCondLst>
                            <p:childTnLst>
                              <p:par>
                                <p:cTn id="1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00"/>
                            </p:stCondLst>
                            <p:childTnLst>
                              <p:par>
                                <p:cTn id="1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0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500"/>
                            </p:stCondLst>
                            <p:childTnLst>
                              <p:par>
                                <p:cTn id="2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500"/>
                            </p:stCondLst>
                            <p:childTnLst>
                              <p:par>
                                <p:cTn id="2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1000"/>
                            </p:stCondLst>
                            <p:childTnLst>
                              <p:par>
                                <p:cTn id="2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1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0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500"/>
                            </p:stCondLst>
                            <p:childTnLst>
                              <p:par>
                                <p:cTn id="2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4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1000"/>
                            </p:stCondLst>
                            <p:childTnLst>
                              <p:par>
                                <p:cTn id="2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1500"/>
                            </p:stCondLst>
                            <p:childTnLst>
                              <p:par>
                                <p:cTn id="26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2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2000"/>
                            </p:stCondLst>
                            <p:childTnLst>
                              <p:par>
                                <p:cTn id="2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6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1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500"/>
                            </p:stCondLst>
                            <p:childTnLst>
                              <p:par>
                                <p:cTn id="2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0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500"/>
                            </p:stCondLst>
                            <p:childTnLst>
                              <p:par>
                                <p:cTn id="2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500"/>
                            </p:stCondLst>
                            <p:childTnLst>
                              <p:par>
                                <p:cTn id="3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8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1000"/>
                            </p:stCondLst>
                            <p:childTnLst>
                              <p:par>
                                <p:cTn id="3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2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1500"/>
                            </p:stCondLst>
                            <p:childTnLst>
                              <p:par>
                                <p:cTn id="3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6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2000"/>
                            </p:stCondLst>
                            <p:childTnLst>
                              <p:par>
                                <p:cTn id="3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0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5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>
                            <p:stCondLst>
                              <p:cond delay="500"/>
                            </p:stCondLst>
                            <p:childTnLst>
                              <p:par>
                                <p:cTn id="3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9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4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9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500"/>
                            </p:stCondLst>
                            <p:childTnLst>
                              <p:par>
                                <p:cTn id="3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3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1000"/>
                            </p:stCondLst>
                            <p:childTnLst>
                              <p:par>
                                <p:cTn id="3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7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1500"/>
                            </p:stCondLst>
                            <p:childTnLst>
                              <p:par>
                                <p:cTn id="3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1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7" fill="hold">
                            <p:stCondLst>
                              <p:cond delay="500"/>
                            </p:stCondLst>
                            <p:childTnLst>
                              <p:par>
                                <p:cTn id="3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5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6" fill="hold">
                            <p:stCondLst>
                              <p:cond delay="500"/>
                            </p:stCondLst>
                            <p:childTnLst>
                              <p:par>
                                <p:cTn id="3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indefinite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4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9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500"/>
                            </p:stCondLst>
                            <p:childTnLst>
                              <p:par>
                                <p:cTn id="3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3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1000"/>
                            </p:stCondLst>
                            <p:childTnLst>
                              <p:par>
                                <p:cTn id="3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1500"/>
                            </p:stCondLst>
                            <p:childTnLst>
                              <p:par>
                                <p:cTn id="3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1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indefinite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6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7" fill="hold">
                            <p:stCondLst>
                              <p:cond delay="500"/>
                            </p:stCondLst>
                            <p:childTnLst>
                              <p:par>
                                <p:cTn id="3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0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" fill="hold">
                            <p:stCondLst>
                              <p:cond delay="500"/>
                            </p:stCondLst>
                            <p:childTnLst>
                              <p:par>
                                <p:cTn id="4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9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4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500"/>
                            </p:stCondLst>
                            <p:childTnLst>
                              <p:par>
                                <p:cTn id="4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8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9" fill="hold">
                            <p:stCondLst>
                              <p:cond delay="1000"/>
                            </p:stCondLst>
                            <p:childTnLst>
                              <p:par>
                                <p:cTn id="4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2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3" fill="hold">
                            <p:stCondLst>
                              <p:cond delay="1500"/>
                            </p:stCondLst>
                            <p:childTnLst>
                              <p:par>
                                <p:cTn id="4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6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1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2" fill="hold">
                            <p:stCondLst>
                              <p:cond delay="500"/>
                            </p:stCondLst>
                            <p:childTnLst>
                              <p:par>
                                <p:cTn id="4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indefinite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0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6" fill="hold">
                      <p:stCondLst>
                        <p:cond delay="indefinite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id="4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5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6" fill="hold">
                      <p:stCondLst>
                        <p:cond delay="indefinite"/>
                      </p:stCondLst>
                      <p:childTnLst>
                        <p:par>
                          <p:cTn id="457" fill="hold">
                            <p:stCondLst>
                              <p:cond delay="0"/>
                            </p:stCondLst>
                            <p:childTnLst>
                              <p:par>
                                <p:cTn id="4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0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1" fill="hold">
                            <p:stCondLst>
                              <p:cond delay="500"/>
                            </p:stCondLst>
                            <p:childTnLst>
                              <p:par>
                                <p:cTn id="4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4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9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0" fill="hold">
                            <p:stCondLst>
                              <p:cond delay="500"/>
                            </p:stCondLst>
                            <p:childTnLst>
                              <p:par>
                                <p:cTn id="4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3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4" fill="hold">
                            <p:stCondLst>
                              <p:cond delay="1000"/>
                            </p:stCondLst>
                            <p:childTnLst>
                              <p:par>
                                <p:cTn id="4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7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8" fill="hold">
                            <p:stCondLst>
                              <p:cond delay="1500"/>
                            </p:stCondLst>
                            <p:childTnLst>
                              <p:par>
                                <p:cTn id="4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1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2" fill="hold">
                      <p:stCondLst>
                        <p:cond delay="indefinite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indefinite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1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2" fill="hold">
                            <p:stCondLst>
                              <p:cond delay="500"/>
                            </p:stCondLst>
                            <p:childTnLst>
                              <p:par>
                                <p:cTn id="4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5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6" fill="hold">
                            <p:stCondLst>
                              <p:cond delay="1000"/>
                            </p:stCondLst>
                            <p:childTnLst>
                              <p:par>
                                <p:cTn id="4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9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0" fill="hold">
                            <p:stCondLst>
                              <p:cond delay="1500"/>
                            </p:stCondLst>
                            <p:childTnLst>
                              <p:par>
                                <p:cTn id="5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3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4" fill="hold">
                      <p:stCondLst>
                        <p:cond delay="indefinite"/>
                      </p:stCondLst>
                      <p:childTnLst>
                        <p:par>
                          <p:cTn id="505" fill="hold">
                            <p:stCondLst>
                              <p:cond delay="0"/>
                            </p:stCondLst>
                            <p:childTnLst>
                              <p:par>
                                <p:cTn id="5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8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9" fill="hold">
                            <p:stCondLst>
                              <p:cond delay="500"/>
                            </p:stCondLst>
                            <p:childTnLst>
                              <p:par>
                                <p:cTn id="5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2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3" fill="hold">
                            <p:stCondLst>
                              <p:cond delay="1000"/>
                            </p:stCondLst>
                            <p:childTnLst>
                              <p:par>
                                <p:cTn id="5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6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7" fill="hold">
                            <p:stCondLst>
                              <p:cond delay="1500"/>
                            </p:stCondLst>
                            <p:childTnLst>
                              <p:par>
                                <p:cTn id="5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0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indefinite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5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6" fill="hold">
                      <p:stCondLst>
                        <p:cond delay="indefinite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id="5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0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5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6" fill="hold">
                      <p:stCondLst>
                        <p:cond delay="indefinite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id="5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1" fill="hold">
                      <p:stCondLst>
                        <p:cond delay="indefinite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5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6" fill="hold">
                            <p:stCondLst>
                              <p:cond delay="500"/>
                            </p:stCondLst>
                            <p:childTnLst>
                              <p:par>
                                <p:cTn id="54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9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3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8" fill="hold">
                      <p:stCondLst>
                        <p:cond delay="indefinite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3" fill="hold">
                      <p:stCondLst>
                        <p:cond delay="indefinite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8" fill="hold">
                      <p:stCondLst>
                        <p:cond delay="indefinite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2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indefinite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8" fill="hold">
                            <p:stCondLst>
                              <p:cond delay="500"/>
                            </p:stCondLst>
                            <p:childTnLst>
                              <p:par>
                                <p:cTn id="5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1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2" fill="hold">
                      <p:stCondLst>
                        <p:cond delay="indefinite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6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7" fill="hold">
                            <p:stCondLst>
                              <p:cond delay="500"/>
                            </p:stCondLst>
                            <p:childTnLst>
                              <p:par>
                                <p:cTn id="5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1" fill="hold">
                      <p:stCondLst>
                        <p:cond delay="indefinite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6" fill="hold">
                            <p:stCondLst>
                              <p:cond delay="500"/>
                            </p:stCondLst>
                            <p:childTnLst>
                              <p:par>
                                <p:cTn id="5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9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0" fill="hold">
                      <p:stCondLst>
                        <p:cond delay="indefinite"/>
                      </p:stCondLst>
                      <p:childTnLst>
                        <p:par>
                          <p:cTn id="601" fill="hold">
                            <p:stCondLst>
                              <p:cond delay="0"/>
                            </p:stCondLst>
                            <p:childTnLst>
                              <p:par>
                                <p:cTn id="6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5" fill="hold">
                            <p:stCondLst>
                              <p:cond delay="500"/>
                            </p:stCondLst>
                            <p:childTnLst>
                              <p:par>
                                <p:cTn id="60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" fill="hold">
                      <p:stCondLst>
                        <p:cond delay="indefinite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4" fill="hold">
                            <p:stCondLst>
                              <p:cond delay="500"/>
                            </p:stCondLst>
                            <p:childTnLst>
                              <p:par>
                                <p:cTn id="6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8" fill="hold">
                      <p:stCondLst>
                        <p:cond delay="indefinite"/>
                      </p:stCondLst>
                      <p:childTnLst>
                        <p:par>
                          <p:cTn id="619" fill="hold">
                            <p:stCondLst>
                              <p:cond delay="0"/>
                            </p:stCondLst>
                            <p:childTnLst>
                              <p:par>
                                <p:cTn id="6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 animBg="1"/>
      <p:bldP spid="147" grpId="0" animBg="1"/>
      <p:bldP spid="148" grpId="0" animBg="1"/>
      <p:bldP spid="149" grpId="0" animBg="1"/>
      <p:bldP spid="150" grpId="0" animBg="1"/>
      <p:bldP spid="151" grpId="0" animBg="1"/>
      <p:bldP spid="152" grpId="0" animBg="1"/>
      <p:bldP spid="153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 animBg="1"/>
      <p:bldP spid="167" grpId="0" animBg="1"/>
      <p:bldP spid="168" grpId="0" animBg="1"/>
      <p:bldP spid="169" grpId="0" animBg="1"/>
      <p:bldP spid="170" grpId="0" animBg="1"/>
      <p:bldP spid="172" grpId="0" animBg="1"/>
      <p:bldP spid="173" grpId="0" animBg="1"/>
      <p:bldP spid="178" grpId="0" animBg="1"/>
      <p:bldP spid="179" grpId="0" animBg="1"/>
      <p:bldP spid="180" grpId="0" animBg="1"/>
      <p:bldP spid="181" grpId="0" animBg="1"/>
      <p:bldP spid="182" grpId="0" animBg="1"/>
      <p:bldP spid="183" grpId="0" autoUpdateAnimBg="0"/>
      <p:bldP spid="184" grpId="0" animBg="1"/>
      <p:bldP spid="185" grpId="0" animBg="1"/>
      <p:bldP spid="186" grpId="0" animBg="1"/>
      <p:bldP spid="187" grpId="0" animBg="1"/>
      <p:bldP spid="188" grpId="0" animBg="1"/>
      <p:bldP spid="189" grpId="0" animBg="1"/>
      <p:bldP spid="190" grpId="0" animBg="1"/>
      <p:bldP spid="191" grpId="0" animBg="1"/>
      <p:bldP spid="192" grpId="0" animBg="1"/>
      <p:bldP spid="193" grpId="0" animBg="1"/>
      <p:bldP spid="194" grpId="0" animBg="1"/>
      <p:bldP spid="195" grpId="0" animBg="1"/>
      <p:bldP spid="196" grpId="0" animBg="1"/>
      <p:bldP spid="197" grpId="0" animBg="1"/>
      <p:bldP spid="198" grpId="0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7" grpId="0" animBg="1"/>
      <p:bldP spid="208" grpId="0" autoUpdateAnimBg="0"/>
      <p:bldP spid="209" grpId="0" animBg="1"/>
      <p:bldP spid="210" grpId="0" animBg="1"/>
      <p:bldP spid="211" grpId="0" animBg="1"/>
      <p:bldP spid="212" grpId="0" animBg="1"/>
      <p:bldP spid="213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9" grpId="0" animBg="1"/>
      <p:bldP spid="230" grpId="0" animBg="1"/>
      <p:bldP spid="231" grpId="0" animBg="1"/>
      <p:bldP spid="232" grpId="0" animBg="1"/>
      <p:bldP spid="233" grpId="0" animBg="1"/>
      <p:bldP spid="234" grpId="0" animBg="1"/>
      <p:bldP spid="235" grpId="0" animBg="1"/>
      <p:bldP spid="236" grpId="0" animBg="1"/>
      <p:bldP spid="237" grpId="0" animBg="1"/>
      <p:bldP spid="238" grpId="0" animBg="1"/>
      <p:bldP spid="239" grpId="0" animBg="1"/>
      <p:bldP spid="240" grpId="0" animBg="1"/>
      <p:bldP spid="241" grpId="0" animBg="1"/>
      <p:bldP spid="242" grpId="0"/>
      <p:bldP spid="243" grpId="0"/>
      <p:bldP spid="244" grpId="0" animBg="1"/>
      <p:bldP spid="245" grpId="0" animBg="1"/>
      <p:bldP spid="246" grpId="0" animBg="1"/>
      <p:bldP spid="247" grpId="0" animBg="1"/>
      <p:bldP spid="248" grpId="0" animBg="1"/>
      <p:bldP spid="249" grpId="0" animBg="1"/>
      <p:bldP spid="250" grpId="0" animBg="1"/>
      <p:bldP spid="251" grpId="0" animBg="1"/>
      <p:bldP spid="252" grpId="0" animBg="1"/>
      <p:bldP spid="253" grpId="0" animBg="1"/>
      <p:bldP spid="254" grpId="0" animBg="1"/>
      <p:bldP spid="255" grpId="0" animBg="1"/>
      <p:bldP spid="256" grpId="0" animBg="1"/>
      <p:bldP spid="257" grpId="0" animBg="1"/>
      <p:bldP spid="258" grpId="0" animBg="1"/>
      <p:bldP spid="259" grpId="0" animBg="1"/>
      <p:bldP spid="260" grpId="0" animBg="1"/>
      <p:bldP spid="261" grpId="0" animBg="1"/>
      <p:bldP spid="262" grpId="0" animBg="1"/>
      <p:bldP spid="263" grpId="0" animBg="1"/>
      <p:bldP spid="264" grpId="0" animBg="1"/>
      <p:bldP spid="265" grpId="0" animBg="1"/>
      <p:bldP spid="266" grpId="0" animBg="1"/>
      <p:bldP spid="267" grpId="0" animBg="1"/>
      <p:bldP spid="268" grpId="0" animBg="1"/>
      <p:bldP spid="269" grpId="0" animBg="1"/>
      <p:bldP spid="270" grpId="0" animBg="1"/>
      <p:bldP spid="271" grpId="0" animBg="1"/>
      <p:bldP spid="272" grpId="0" animBg="1"/>
      <p:bldP spid="273" grpId="0" animBg="1"/>
      <p:bldP spid="274" grpId="0" animBg="1"/>
      <p:bldP spid="275" grpId="0" animBg="1"/>
      <p:bldP spid="276" grpId="0" animBg="1"/>
      <p:bldP spid="277" grpId="0" animBg="1"/>
      <p:bldP spid="278" grpId="0" animBg="1"/>
      <p:bldP spid="279" grpId="0" animBg="1"/>
      <p:bldP spid="280" grpId="0" animBg="1"/>
      <p:bldP spid="281" grpId="0" animBg="1"/>
      <p:bldP spid="282" grpId="0" animBg="1"/>
      <p:bldP spid="283" grpId="0" animBg="1"/>
      <p:bldP spid="284" grpId="0" animBg="1"/>
      <p:bldP spid="285" grpId="0" animBg="1"/>
      <p:bldP spid="286" grpId="0" animBg="1"/>
      <p:bldP spid="287" grpId="0" animBg="1"/>
      <p:bldP spid="288" grpId="0" animBg="1"/>
      <p:bldP spid="28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BDCE3-730C-4109-6199-6C3E01CD8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3F39D72D-8553-763D-74EE-9E45C3228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15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F05F845A-1256-5428-4173-B669960CF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540083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平面与回转体相交（一）</a:t>
            </a:r>
          </a:p>
        </p:txBody>
      </p:sp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23E5B91A-FF8F-6A84-2B80-A5F4DACBEDFC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l" rtl="0" eaLnBrk="0" fontAlgn="auto" hangingPunct="0">
              <a:spcBef>
                <a:spcPct val="20000"/>
              </a:spcBef>
              <a:spcAft>
                <a:spcPts val="0"/>
              </a:spcAft>
              <a:buClr>
                <a:schemeClr val="bg2"/>
              </a:buClr>
              <a:buFont typeface="Monotype Sorts" pitchFamily="2" charset="2"/>
              <a:buChar char="§"/>
              <a:defRPr kumimoji="1" sz="32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4B3A5BC1-BAA9-4275-A4E8-13764499685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15</a:t>
            </a:fld>
            <a:endParaRPr lang="en-US" altLang="zh-CN" sz="1400">
              <a:solidFill>
                <a:schemeClr val="bg2"/>
              </a:solidFill>
            </a:endParaRPr>
          </a:p>
        </p:txBody>
      </p:sp>
      <p:sp>
        <p:nvSpPr>
          <p:cNvPr id="3" name="Line 85">
            <a:extLst>
              <a:ext uri="{FF2B5EF4-FFF2-40B4-BE49-F238E27FC236}">
                <a16:creationId xmlns:a16="http://schemas.microsoft.com/office/drawing/2014/main" id="{89C6B37C-A3A4-E4F0-4588-F01C958BE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851" y="2984258"/>
            <a:ext cx="0" cy="1166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Line 86">
            <a:extLst>
              <a:ext uri="{FF2B5EF4-FFF2-40B4-BE49-F238E27FC236}">
                <a16:creationId xmlns:a16="http://schemas.microsoft.com/office/drawing/2014/main" id="{385F2566-7F71-D89E-3D69-3DBDD8C700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352938" y="3103321"/>
            <a:ext cx="28575" cy="47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" name="Line 87">
            <a:extLst>
              <a:ext uri="{FF2B5EF4-FFF2-40B4-BE49-F238E27FC236}">
                <a16:creationId xmlns:a16="http://schemas.microsoft.com/office/drawing/2014/main" id="{6870DCCE-4B27-9A4F-4FFB-233D9F74954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0563" y="3103321"/>
            <a:ext cx="28575" cy="52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" name="Line 88">
            <a:extLst>
              <a:ext uri="{FF2B5EF4-FFF2-40B4-BE49-F238E27FC236}">
                <a16:creationId xmlns:a16="http://schemas.microsoft.com/office/drawing/2014/main" id="{B6D09F8B-CA7E-8462-074C-B075B147B3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688" y="3098558"/>
            <a:ext cx="28575" cy="47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" name="Line 89">
            <a:extLst>
              <a:ext uri="{FF2B5EF4-FFF2-40B4-BE49-F238E27FC236}">
                <a16:creationId xmlns:a16="http://schemas.microsoft.com/office/drawing/2014/main" id="{B9F6A349-7C90-B722-BC89-714CF72CC4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6313" y="3098558"/>
            <a:ext cx="28575" cy="52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Line 90">
            <a:extLst>
              <a:ext uri="{FF2B5EF4-FFF2-40B4-BE49-F238E27FC236}">
                <a16:creationId xmlns:a16="http://schemas.microsoft.com/office/drawing/2014/main" id="{D4F0FEE3-AD3C-4D5D-D45D-D958DD59E6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3351" y="4027246"/>
            <a:ext cx="1495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" name="Line 91">
            <a:extLst>
              <a:ext uri="{FF2B5EF4-FFF2-40B4-BE49-F238E27FC236}">
                <a16:creationId xmlns:a16="http://schemas.microsoft.com/office/drawing/2014/main" id="{6D71DDC5-7652-83F2-C4B4-30C2CAB6C8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8113" y="3122371"/>
            <a:ext cx="1495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Oval 95">
            <a:extLst>
              <a:ext uri="{FF2B5EF4-FFF2-40B4-BE49-F238E27FC236}">
                <a16:creationId xmlns:a16="http://schemas.microsoft.com/office/drawing/2014/main" id="{5B1635B6-130B-B011-C572-4CD07E1FE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126" y="2946158"/>
            <a:ext cx="376237" cy="74613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2" name="Oval 96">
            <a:extLst>
              <a:ext uri="{FF2B5EF4-FFF2-40B4-BE49-F238E27FC236}">
                <a16:creationId xmlns:a16="http://schemas.microsoft.com/office/drawing/2014/main" id="{16540742-508F-597B-3CF8-141204A6F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4313" y="4112971"/>
            <a:ext cx="376238" cy="74612"/>
          </a:xfrm>
          <a:prstGeom prst="ellipse">
            <a:avLst/>
          </a:prstGeom>
          <a:noFill/>
          <a:ln w="19050">
            <a:solidFill>
              <a:srgbClr val="FF33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" name="Rectangle 97">
            <a:extLst>
              <a:ext uri="{FF2B5EF4-FFF2-40B4-BE49-F238E27FC236}">
                <a16:creationId xmlns:a16="http://schemas.microsoft.com/office/drawing/2014/main" id="{8C6D4E6A-40E1-F801-64FE-B6181E65A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8113" y="1526933"/>
            <a:ext cx="1498600" cy="116522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" name="Rectangle 98">
            <a:extLst>
              <a:ext uri="{FF2B5EF4-FFF2-40B4-BE49-F238E27FC236}">
                <a16:creationId xmlns:a16="http://schemas.microsoft.com/office/drawing/2014/main" id="{E657B7E7-01A3-1F66-CD52-B9AC940ED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763" y="2984258"/>
            <a:ext cx="1498600" cy="116522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7" name="Line 92">
            <a:extLst>
              <a:ext uri="{FF2B5EF4-FFF2-40B4-BE49-F238E27FC236}">
                <a16:creationId xmlns:a16="http://schemas.microsoft.com/office/drawing/2014/main" id="{C06DA58C-69D8-7953-30E0-33C9A11D98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7776" y="1526933"/>
            <a:ext cx="3175" cy="20367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" name="Line 93">
            <a:extLst>
              <a:ext uri="{FF2B5EF4-FFF2-40B4-BE49-F238E27FC236}">
                <a16:creationId xmlns:a16="http://schemas.microsoft.com/office/drawing/2014/main" id="{BB7AEB51-C267-0213-8F77-DC867059E3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3913" y="2123833"/>
            <a:ext cx="0" cy="747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" name="Line 94">
            <a:extLst>
              <a:ext uri="{FF2B5EF4-FFF2-40B4-BE49-F238E27FC236}">
                <a16:creationId xmlns:a16="http://schemas.microsoft.com/office/drawing/2014/main" id="{DD2A2724-F781-A624-ED27-C06C20C421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14813" y="2693746"/>
            <a:ext cx="0" cy="862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" name="Line 99">
            <a:extLst>
              <a:ext uri="{FF2B5EF4-FFF2-40B4-BE49-F238E27FC236}">
                <a16:creationId xmlns:a16="http://schemas.microsoft.com/office/drawing/2014/main" id="{35B86851-6518-142C-5E28-28848A90C067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673613" y="1241183"/>
            <a:ext cx="0" cy="1752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1" name="Line 100">
            <a:extLst>
              <a:ext uri="{FF2B5EF4-FFF2-40B4-BE49-F238E27FC236}">
                <a16:creationId xmlns:a16="http://schemas.microsoft.com/office/drawing/2014/main" id="{6F122133-74A2-E95A-96AE-58515B230B3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3376" y="1365008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" name="Line 101">
            <a:extLst>
              <a:ext uri="{FF2B5EF4-FFF2-40B4-BE49-F238E27FC236}">
                <a16:creationId xmlns:a16="http://schemas.microsoft.com/office/drawing/2014/main" id="{8AE9C7C4-86C1-7A0C-9AD7-7A93AAC34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8676" y="2109546"/>
            <a:ext cx="15351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" name="Oval 102">
            <a:extLst>
              <a:ext uri="{FF2B5EF4-FFF2-40B4-BE49-F238E27FC236}">
                <a16:creationId xmlns:a16="http://schemas.microsoft.com/office/drawing/2014/main" id="{D0B69528-A1D6-E0D8-83F3-A8DF56BD2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2351" y="1526933"/>
            <a:ext cx="1165225" cy="116522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4" name="Line 103">
            <a:extLst>
              <a:ext uri="{FF2B5EF4-FFF2-40B4-BE49-F238E27FC236}">
                <a16:creationId xmlns:a16="http://schemas.microsoft.com/office/drawing/2014/main" id="{D4A6DCD3-E50D-6BEE-5ABF-72890DB3E68D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662501" y="2693745"/>
            <a:ext cx="0" cy="176212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5" name="AutoShape 104">
            <a:extLst>
              <a:ext uri="{FF2B5EF4-FFF2-40B4-BE49-F238E27FC236}">
                <a16:creationId xmlns:a16="http://schemas.microsoft.com/office/drawing/2014/main" id="{313B09D4-00A1-53ED-A730-22EC08247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2663" y="2066683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6" name="Freeform 105">
            <a:extLst>
              <a:ext uri="{FF2B5EF4-FFF2-40B4-BE49-F238E27FC236}">
                <a16:creationId xmlns:a16="http://schemas.microsoft.com/office/drawing/2014/main" id="{1FF0BA84-FF67-FB0C-4912-A27790DED8C5}"/>
              </a:ext>
            </a:extLst>
          </p:cNvPr>
          <p:cNvSpPr>
            <a:spLocks/>
          </p:cNvSpPr>
          <p:nvPr/>
        </p:nvSpPr>
        <p:spPr bwMode="auto">
          <a:xfrm>
            <a:off x="5108463" y="1528521"/>
            <a:ext cx="1244600" cy="1168400"/>
          </a:xfrm>
          <a:custGeom>
            <a:avLst/>
            <a:gdLst>
              <a:gd name="T0" fmla="*/ 0 w 784"/>
              <a:gd name="T1" fmla="*/ 2147483647 h 736"/>
              <a:gd name="T2" fmla="*/ 2147483647 w 784"/>
              <a:gd name="T3" fmla="*/ 0 h 736"/>
              <a:gd name="T4" fmla="*/ 2147483647 w 784"/>
              <a:gd name="T5" fmla="*/ 0 h 736"/>
              <a:gd name="T6" fmla="*/ 2147483647 w 784"/>
              <a:gd name="T7" fmla="*/ 2147483647 h 736"/>
              <a:gd name="T8" fmla="*/ 0 w 784"/>
              <a:gd name="T9" fmla="*/ 2147483647 h 73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84"/>
              <a:gd name="T16" fmla="*/ 0 h 736"/>
              <a:gd name="T17" fmla="*/ 784 w 784"/>
              <a:gd name="T18" fmla="*/ 736 h 7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84" h="736">
                <a:moveTo>
                  <a:pt x="0" y="736"/>
                </a:moveTo>
                <a:lnTo>
                  <a:pt x="532" y="0"/>
                </a:lnTo>
                <a:lnTo>
                  <a:pt x="784" y="0"/>
                </a:lnTo>
                <a:lnTo>
                  <a:pt x="784" y="736"/>
                </a:lnTo>
                <a:lnTo>
                  <a:pt x="0" y="736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" name="Line 106">
            <a:extLst>
              <a:ext uri="{FF2B5EF4-FFF2-40B4-BE49-F238E27FC236}">
                <a16:creationId xmlns:a16="http://schemas.microsoft.com/office/drawing/2014/main" id="{2CA011CF-1B03-39B3-0723-FE112EE734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10051" y="1523758"/>
            <a:ext cx="841375" cy="1168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" name="Text Box 107">
            <a:extLst>
              <a:ext uri="{FF2B5EF4-FFF2-40B4-BE49-F238E27FC236}">
                <a16:creationId xmlns:a16="http://schemas.microsoft.com/office/drawing/2014/main" id="{4A3F565B-8C14-89EF-62CB-3CCA36348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9863" y="1828558"/>
            <a:ext cx="544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 o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</a:p>
        </p:txBody>
      </p:sp>
      <p:sp>
        <p:nvSpPr>
          <p:cNvPr id="29" name="Text Box 108">
            <a:extLst>
              <a:ext uri="{FF2B5EF4-FFF2-40B4-BE49-F238E27FC236}">
                <a16:creationId xmlns:a16="http://schemas.microsoft.com/office/drawing/2014/main" id="{DEA86CE2-9A44-283B-10BE-22626E6D6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3238" y="1771408"/>
            <a:ext cx="749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a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  </a:t>
            </a:r>
          </a:p>
        </p:txBody>
      </p:sp>
      <p:sp>
        <p:nvSpPr>
          <p:cNvPr id="30" name="AutoShape 109">
            <a:extLst>
              <a:ext uri="{FF2B5EF4-FFF2-40B4-BE49-F238E27FC236}">
                <a16:creationId xmlns:a16="http://schemas.microsoft.com/office/drawing/2014/main" id="{BA3B8250-8D26-EB7B-70FD-41BFB74D4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9476" y="2061921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31" name="AutoShape 110">
            <a:extLst>
              <a:ext uri="{FF2B5EF4-FFF2-40B4-BE49-F238E27FC236}">
                <a16:creationId xmlns:a16="http://schemas.microsoft.com/office/drawing/2014/main" id="{147A80FE-ED87-B16A-07D6-0A0AEE084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688" y="1485658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32" name="AutoShape 111">
            <a:extLst>
              <a:ext uri="{FF2B5EF4-FFF2-40B4-BE49-F238E27FC236}">
                <a16:creationId xmlns:a16="http://schemas.microsoft.com/office/drawing/2014/main" id="{308A62F9-47FE-B347-2801-D6D5A8D0E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8926" y="2657233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33" name="Text Box 112">
            <a:extLst>
              <a:ext uri="{FF2B5EF4-FFF2-40B4-BE49-F238E27FC236}">
                <a16:creationId xmlns:a16="http://schemas.microsoft.com/office/drawing/2014/main" id="{3FE3AE65-95F9-A8D0-3A3E-3121E829F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6151" y="1853958"/>
            <a:ext cx="5159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c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  <a:endParaRPr kumimoji="0" lang="en-US" altLang="zh-CN" sz="2400" b="1">
              <a:latin typeface="ISOCPEUR" pitchFamily="34" charset="0"/>
            </a:endParaRPr>
          </a:p>
        </p:txBody>
      </p:sp>
      <p:sp>
        <p:nvSpPr>
          <p:cNvPr id="34" name="Text Box 113">
            <a:extLst>
              <a:ext uri="{FF2B5EF4-FFF2-40B4-BE49-F238E27FC236}">
                <a16:creationId xmlns:a16="http://schemas.microsoft.com/office/drawing/2014/main" id="{8813FDE0-8263-8872-1DEF-5AC5BD666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4613" y="1790458"/>
            <a:ext cx="850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o’,a’,c’ </a:t>
            </a:r>
          </a:p>
        </p:txBody>
      </p:sp>
      <p:sp>
        <p:nvSpPr>
          <p:cNvPr id="35" name="Text Box 114">
            <a:extLst>
              <a:ext uri="{FF2B5EF4-FFF2-40B4-BE49-F238E27FC236}">
                <a16:creationId xmlns:a16="http://schemas.microsoft.com/office/drawing/2014/main" id="{814CDE8E-888A-6AC7-2573-CAD176033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4401" y="1309446"/>
            <a:ext cx="3444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b’</a:t>
            </a:r>
          </a:p>
        </p:txBody>
      </p:sp>
      <p:sp>
        <p:nvSpPr>
          <p:cNvPr id="36" name="Text Box 115">
            <a:extLst>
              <a:ext uri="{FF2B5EF4-FFF2-40B4-BE49-F238E27FC236}">
                <a16:creationId xmlns:a16="http://schemas.microsoft.com/office/drawing/2014/main" id="{F5A13191-4007-DBB0-0B65-2A04370DD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6201" y="2461971"/>
            <a:ext cx="3444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d’</a:t>
            </a:r>
          </a:p>
        </p:txBody>
      </p:sp>
      <p:sp>
        <p:nvSpPr>
          <p:cNvPr id="38" name="Text Box 116">
            <a:extLst>
              <a:ext uri="{FF2B5EF4-FFF2-40B4-BE49-F238E27FC236}">
                <a16:creationId xmlns:a16="http://schemas.microsoft.com/office/drawing/2014/main" id="{FD69186A-ABA0-AEBD-ECA9-2FCAB233F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6888" y="2666758"/>
            <a:ext cx="290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a</a:t>
            </a:r>
          </a:p>
        </p:txBody>
      </p:sp>
      <p:sp>
        <p:nvSpPr>
          <p:cNvPr id="39" name="Text Box 117">
            <a:extLst>
              <a:ext uri="{FF2B5EF4-FFF2-40B4-BE49-F238E27FC236}">
                <a16:creationId xmlns:a16="http://schemas.microsoft.com/office/drawing/2014/main" id="{EEEC83E5-7B0F-7893-747F-C201EB227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1026" y="4201082"/>
            <a:ext cx="276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c</a:t>
            </a:r>
          </a:p>
        </p:txBody>
      </p:sp>
      <p:sp>
        <p:nvSpPr>
          <p:cNvPr id="40" name="Text Box 118">
            <a:extLst>
              <a:ext uri="{FF2B5EF4-FFF2-40B4-BE49-F238E27FC236}">
                <a16:creationId xmlns:a16="http://schemas.microsoft.com/office/drawing/2014/main" id="{1C0FC41B-0BB0-0166-15C0-25D63E5AD6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5938" y="3300171"/>
            <a:ext cx="474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 o </a:t>
            </a:r>
          </a:p>
        </p:txBody>
      </p:sp>
      <p:sp>
        <p:nvSpPr>
          <p:cNvPr id="41" name="Line 128">
            <a:extLst>
              <a:ext uri="{FF2B5EF4-FFF2-40B4-BE49-F238E27FC236}">
                <a16:creationId xmlns:a16="http://schemas.microsoft.com/office/drawing/2014/main" id="{F7F50B93-F8CE-D9AB-4FEF-A783D0612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3913" y="4151071"/>
            <a:ext cx="804863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2" name="Line 127">
            <a:extLst>
              <a:ext uri="{FF2B5EF4-FFF2-40B4-BE49-F238E27FC236}">
                <a16:creationId xmlns:a16="http://schemas.microsoft.com/office/drawing/2014/main" id="{22E357BD-E522-2992-F767-A06E31EABF34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9151" y="2979496"/>
            <a:ext cx="81280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3" name="Oval 119">
            <a:extLst>
              <a:ext uri="{FF2B5EF4-FFF2-40B4-BE49-F238E27FC236}">
                <a16:creationId xmlns:a16="http://schemas.microsoft.com/office/drawing/2014/main" id="{F3947B4D-CE25-8902-02D2-DBB7A248B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813" y="2984258"/>
            <a:ext cx="838200" cy="1166813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44" name="Text Box 120">
            <a:extLst>
              <a:ext uri="{FF2B5EF4-FFF2-40B4-BE49-F238E27FC236}">
                <a16:creationId xmlns:a16="http://schemas.microsoft.com/office/drawing/2014/main" id="{B65021B9-90E1-01A6-DE40-A9A230DF3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3826" y="2190508"/>
            <a:ext cx="704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 dirty="0">
                <a:latin typeface="ISOCPEUR" pitchFamily="34" charset="0"/>
              </a:rPr>
              <a:t>1’</a:t>
            </a:r>
          </a:p>
        </p:txBody>
      </p:sp>
      <p:sp>
        <p:nvSpPr>
          <p:cNvPr id="45" name="Text Box 121">
            <a:extLst>
              <a:ext uri="{FF2B5EF4-FFF2-40B4-BE49-F238E27FC236}">
                <a16:creationId xmlns:a16="http://schemas.microsoft.com/office/drawing/2014/main" id="{63451237-5F9A-4DD3-0CC4-E2A0A05E7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9451" y="2352433"/>
            <a:ext cx="6334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1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“</a:t>
            </a:r>
          </a:p>
        </p:txBody>
      </p:sp>
      <p:sp>
        <p:nvSpPr>
          <p:cNvPr id="46" name="Text Box 122">
            <a:extLst>
              <a:ext uri="{FF2B5EF4-FFF2-40B4-BE49-F238E27FC236}">
                <a16:creationId xmlns:a16="http://schemas.microsoft.com/office/drawing/2014/main" id="{88A3B68D-034D-68C9-AD31-C571964C6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013" y="3739908"/>
            <a:ext cx="352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1 </a:t>
            </a:r>
            <a:endParaRPr kumimoji="0" lang="en-US" altLang="zh-CN" sz="2400" b="1">
              <a:latin typeface="ISOCPEUR" pitchFamily="34" charset="0"/>
            </a:endParaRPr>
          </a:p>
        </p:txBody>
      </p:sp>
      <p:sp>
        <p:nvSpPr>
          <p:cNvPr id="47" name="AutoShape 123">
            <a:extLst>
              <a:ext uri="{FF2B5EF4-FFF2-40B4-BE49-F238E27FC236}">
                <a16:creationId xmlns:a16="http://schemas.microsoft.com/office/drawing/2014/main" id="{73E56B83-64A2-23A3-7219-CABA8BB61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151" y="3533533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48" name="AutoShape 124">
            <a:extLst>
              <a:ext uri="{FF2B5EF4-FFF2-40B4-BE49-F238E27FC236}">
                <a16:creationId xmlns:a16="http://schemas.microsoft.com/office/drawing/2014/main" id="{3B223F2A-6C5F-765C-6E4E-8D635C207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713" y="3533533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49" name="AutoShape 125">
            <a:extLst>
              <a:ext uri="{FF2B5EF4-FFF2-40B4-BE49-F238E27FC236}">
                <a16:creationId xmlns:a16="http://schemas.microsoft.com/office/drawing/2014/main" id="{3567856E-7C37-06E3-DBA6-2C0F9B8AC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7751" y="3081096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50" name="AutoShape 126">
            <a:extLst>
              <a:ext uri="{FF2B5EF4-FFF2-40B4-BE49-F238E27FC236}">
                <a16:creationId xmlns:a16="http://schemas.microsoft.com/office/drawing/2014/main" id="{8C0408C0-5E43-A3ED-AF5F-39AB414D4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513" y="3990733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51" name="Line 129">
            <a:extLst>
              <a:ext uri="{FF2B5EF4-FFF2-40B4-BE49-F238E27FC236}">
                <a16:creationId xmlns:a16="http://schemas.microsoft.com/office/drawing/2014/main" id="{FE2BE994-5A13-89A6-0CE1-10F2E248A3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8776" y="2971558"/>
            <a:ext cx="0" cy="1196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2" name="AutoShape 130">
            <a:extLst>
              <a:ext uri="{FF2B5EF4-FFF2-40B4-BE49-F238E27FC236}">
                <a16:creationId xmlns:a16="http://schemas.microsoft.com/office/drawing/2014/main" id="{D8BF5F81-BB0D-DD61-E88F-A6965B662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288" y="2080971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53" name="AutoShape 131">
            <a:extLst>
              <a:ext uri="{FF2B5EF4-FFF2-40B4-BE49-F238E27FC236}">
                <a16:creationId xmlns:a16="http://schemas.microsoft.com/office/drawing/2014/main" id="{7B74BCEA-0739-3514-2C3D-29A71D065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4913" y="1492008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54" name="AutoShape 132">
            <a:extLst>
              <a:ext uri="{FF2B5EF4-FFF2-40B4-BE49-F238E27FC236}">
                <a16:creationId xmlns:a16="http://schemas.microsoft.com/office/drawing/2014/main" id="{319B1C2E-CC86-F5C4-942F-53102E130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713" y="2657233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55" name="Text Box 133">
            <a:extLst>
              <a:ext uri="{FF2B5EF4-FFF2-40B4-BE49-F238E27FC236}">
                <a16:creationId xmlns:a16="http://schemas.microsoft.com/office/drawing/2014/main" id="{E1A76B49-3400-3AB5-2369-77A6A321E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675" y="2106868"/>
            <a:ext cx="364555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r>
              <a:rPr kumimoji="0"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找特殊点</a:t>
            </a:r>
            <a:r>
              <a:rPr kumimoji="0" lang="zh-CN" altLang="en-US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eaLnBrk="1" hangingPunct="1">
              <a:spcBef>
                <a:spcPct val="0"/>
              </a:spcBef>
              <a:spcAft>
                <a:spcPts val="400"/>
              </a:spcAft>
              <a:buClrTx/>
              <a:buFontTx/>
              <a:buChar char="•"/>
            </a:pPr>
            <a:r>
              <a:rPr kumimoji="0"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长短轴的端点：</a:t>
            </a:r>
            <a:r>
              <a:rPr kumimoji="0" lang="en-US" altLang="zh-CN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0"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altLang="zh-CN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kumimoji="0"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altLang="zh-CN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0"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0" lang="en-US" altLang="zh-CN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</a:p>
        </p:txBody>
      </p:sp>
      <p:sp>
        <p:nvSpPr>
          <p:cNvPr id="56" name="Text Box 134">
            <a:extLst>
              <a:ext uri="{FF2B5EF4-FFF2-40B4-BE49-F238E27FC236}">
                <a16:creationId xmlns:a16="http://schemas.microsoft.com/office/drawing/2014/main" id="{7A16B358-65DD-888F-2D2B-4B1825AA8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7751" y="3270078"/>
            <a:ext cx="199902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 i="0" dirty="0">
                <a:latin typeface="黑体" pitchFamily="2" charset="-122"/>
                <a:ea typeface="黑体" pitchFamily="2" charset="-122"/>
              </a:rPr>
              <a:t>绘制曲线时</a:t>
            </a:r>
            <a:endParaRPr kumimoji="0" lang="en-US" altLang="zh-CN" sz="2000" i="0" dirty="0">
              <a:latin typeface="黑体" pitchFamily="2" charset="-122"/>
              <a:ea typeface="黑体" pitchFamily="2" charset="-122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 i="0" dirty="0">
                <a:latin typeface="黑体" pitchFamily="2" charset="-122"/>
                <a:ea typeface="黑体" pitchFamily="2" charset="-122"/>
              </a:rPr>
              <a:t>务必确定</a:t>
            </a:r>
            <a:r>
              <a:rPr kumimoji="0" lang="zh-CN" altLang="en-US" sz="2000" i="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中间点</a:t>
            </a:r>
          </a:p>
        </p:txBody>
      </p:sp>
      <p:sp>
        <p:nvSpPr>
          <p:cNvPr id="57" name="Text Box 135">
            <a:extLst>
              <a:ext uri="{FF2B5EF4-FFF2-40B4-BE49-F238E27FC236}">
                <a16:creationId xmlns:a16="http://schemas.microsoft.com/office/drawing/2014/main" id="{41E3D3C3-67E7-CC70-53EC-11EBC119A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3643568"/>
            <a:ext cx="1911101" cy="2221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r>
              <a:rPr kumimoji="0" lang="zh-CN" altLang="en-US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画图步骤：</a:t>
            </a:r>
          </a:p>
          <a:p>
            <a:pPr eaLnBrk="1" hangingPunct="1">
              <a:spcBef>
                <a:spcPct val="0"/>
              </a:spcBef>
              <a:spcAft>
                <a:spcPts val="400"/>
              </a:spcAft>
              <a:buClrTx/>
              <a:buFontTx/>
              <a:buChar char="•"/>
            </a:pPr>
            <a:r>
              <a:rPr kumimoji="0"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找全特殊点</a:t>
            </a:r>
          </a:p>
          <a:p>
            <a:pPr eaLnBrk="1" hangingPunct="1">
              <a:spcBef>
                <a:spcPct val="0"/>
              </a:spcBef>
              <a:spcAft>
                <a:spcPts val="400"/>
              </a:spcAft>
              <a:buClrTx/>
              <a:buFontTx/>
              <a:buChar char="•"/>
            </a:pPr>
            <a:r>
              <a:rPr kumimoji="0" lang="zh-CN" altLang="en-US" sz="20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适当的中间点</a:t>
            </a:r>
          </a:p>
          <a:p>
            <a:pPr eaLnBrk="1" hangingPunct="1">
              <a:spcBef>
                <a:spcPct val="0"/>
              </a:spcBef>
              <a:spcAft>
                <a:spcPts val="400"/>
              </a:spcAft>
              <a:buClrTx/>
              <a:buFontTx/>
              <a:buChar char="•"/>
            </a:pPr>
            <a:r>
              <a:rPr kumimoji="0"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光滑连线</a:t>
            </a:r>
          </a:p>
          <a:p>
            <a:pPr eaLnBrk="1" hangingPunct="1">
              <a:spcBef>
                <a:spcPct val="0"/>
              </a:spcBef>
              <a:spcAft>
                <a:spcPts val="400"/>
              </a:spcAft>
              <a:buClrTx/>
              <a:buFontTx/>
              <a:buChar char="•"/>
            </a:pPr>
            <a:r>
              <a:rPr kumimoji="0"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补充轮廓线</a:t>
            </a:r>
          </a:p>
          <a:p>
            <a:pPr eaLnBrk="1" hangingPunct="1">
              <a:spcBef>
                <a:spcPct val="0"/>
              </a:spcBef>
              <a:spcAft>
                <a:spcPts val="400"/>
              </a:spcAft>
              <a:buClrTx/>
              <a:buFontTx/>
              <a:buChar char="•"/>
            </a:pPr>
            <a:r>
              <a:rPr kumimoji="0"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判断可见性</a:t>
            </a:r>
          </a:p>
        </p:txBody>
      </p:sp>
      <p:sp>
        <p:nvSpPr>
          <p:cNvPr id="58" name="Text Box 136">
            <a:extLst>
              <a:ext uri="{FF2B5EF4-FFF2-40B4-BE49-F238E27FC236}">
                <a16:creationId xmlns:a16="http://schemas.microsoft.com/office/drawing/2014/main" id="{B8CD63F5-BB34-CD82-77AA-015B22F13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5251" y="3295408"/>
            <a:ext cx="3825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d </a:t>
            </a:r>
          </a:p>
        </p:txBody>
      </p:sp>
      <p:sp>
        <p:nvSpPr>
          <p:cNvPr id="59" name="Text Box 137">
            <a:extLst>
              <a:ext uri="{FF2B5EF4-FFF2-40B4-BE49-F238E27FC236}">
                <a16:creationId xmlns:a16="http://schemas.microsoft.com/office/drawing/2014/main" id="{F912229A-A735-7A92-DFA9-BCF4FA238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5538" y="3257308"/>
            <a:ext cx="4746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  b</a:t>
            </a:r>
          </a:p>
        </p:txBody>
      </p:sp>
      <p:sp>
        <p:nvSpPr>
          <p:cNvPr id="60" name="Text Box 138">
            <a:extLst>
              <a:ext uri="{FF2B5EF4-FFF2-40B4-BE49-F238E27FC236}">
                <a16:creationId xmlns:a16="http://schemas.microsoft.com/office/drawing/2014/main" id="{41E49C63-7C4F-1638-6F63-6B66D4BAD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3802" y="1301448"/>
            <a:ext cx="5667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b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  </a:t>
            </a:r>
            <a:endParaRPr kumimoji="0" lang="en-US" altLang="zh-CN" sz="2400" b="1">
              <a:latin typeface="ISOCPEUR" pitchFamily="34" charset="0"/>
            </a:endParaRPr>
          </a:p>
        </p:txBody>
      </p:sp>
      <p:sp>
        <p:nvSpPr>
          <p:cNvPr id="61" name="Text Box 139">
            <a:extLst>
              <a:ext uri="{FF2B5EF4-FFF2-40B4-BE49-F238E27FC236}">
                <a16:creationId xmlns:a16="http://schemas.microsoft.com/office/drawing/2014/main" id="{0AAE35E7-6F1E-03AD-01C2-CB1D25C0D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3188" y="2735021"/>
            <a:ext cx="5159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d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  <a:endParaRPr kumimoji="0" lang="en-US" altLang="zh-CN" sz="2400" b="1">
              <a:latin typeface="ISOCPEUR" pitchFamily="34" charset="0"/>
            </a:endParaRPr>
          </a:p>
        </p:txBody>
      </p:sp>
      <p:sp>
        <p:nvSpPr>
          <p:cNvPr id="62" name="Line 140">
            <a:extLst>
              <a:ext uri="{FF2B5EF4-FFF2-40B4-BE49-F238E27FC236}">
                <a16:creationId xmlns:a16="http://schemas.microsoft.com/office/drawing/2014/main" id="{178A6230-34AC-A455-D6DF-26303D5497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33913" y="2879483"/>
            <a:ext cx="0" cy="1385888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3" name="AutoShape 141">
            <a:extLst>
              <a:ext uri="{FF2B5EF4-FFF2-40B4-BE49-F238E27FC236}">
                <a16:creationId xmlns:a16="http://schemas.microsoft.com/office/drawing/2014/main" id="{C700709F-7E4C-A06B-205E-A9750D7A3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5813" y="4114558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64" name="AutoShape 142">
            <a:extLst>
              <a:ext uri="{FF2B5EF4-FFF2-40B4-BE49-F238E27FC236}">
                <a16:creationId xmlns:a16="http://schemas.microsoft.com/office/drawing/2014/main" id="{762650F2-A475-BA88-0FFE-C903EAC0F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1051" y="2947746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65" name="Line 143">
            <a:extLst>
              <a:ext uri="{FF2B5EF4-FFF2-40B4-BE49-F238E27FC236}">
                <a16:creationId xmlns:a16="http://schemas.microsoft.com/office/drawing/2014/main" id="{611CDFFB-F9BA-155D-D4CF-37207AB5036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6576" y="2431808"/>
            <a:ext cx="52387" cy="809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6" name="Line 144">
            <a:extLst>
              <a:ext uri="{FF2B5EF4-FFF2-40B4-BE49-F238E27FC236}">
                <a16:creationId xmlns:a16="http://schemas.microsoft.com/office/drawing/2014/main" id="{6776BAED-AA83-9FE3-59FB-3F0D4AFA4E3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388" y="2471496"/>
            <a:ext cx="2778125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7" name="AutoShape 145">
            <a:extLst>
              <a:ext uri="{FF2B5EF4-FFF2-40B4-BE49-F238E27FC236}">
                <a16:creationId xmlns:a16="http://schemas.microsoft.com/office/drawing/2014/main" id="{CA884C73-05FC-7242-2A7A-0E3FEA882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1726" y="2433396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68" name="AutoShape 146">
            <a:extLst>
              <a:ext uri="{FF2B5EF4-FFF2-40B4-BE49-F238E27FC236}">
                <a16:creationId xmlns:a16="http://schemas.microsoft.com/office/drawing/2014/main" id="{04A4C715-11FA-D6C6-04D0-4820D76AD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413" y="2433396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69" name="Line 147">
            <a:extLst>
              <a:ext uri="{FF2B5EF4-FFF2-40B4-BE49-F238E27FC236}">
                <a16:creationId xmlns:a16="http://schemas.microsoft.com/office/drawing/2014/main" id="{0FA5B039-04C1-3A43-26F4-E3FC09F54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8638" y="3770071"/>
            <a:ext cx="61913" cy="428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" name="Line 148">
            <a:extLst>
              <a:ext uri="{FF2B5EF4-FFF2-40B4-BE49-F238E27FC236}">
                <a16:creationId xmlns:a16="http://schemas.microsoft.com/office/drawing/2014/main" id="{97DDFC69-A7DF-A89D-09CB-B0A8D0E03BE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3876" y="3308108"/>
            <a:ext cx="52387" cy="428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" name="Line 149">
            <a:extLst>
              <a:ext uri="{FF2B5EF4-FFF2-40B4-BE49-F238E27FC236}">
                <a16:creationId xmlns:a16="http://schemas.microsoft.com/office/drawing/2014/main" id="{6F1D891D-9CE4-0119-756D-03DA6924B4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1976" y="2469908"/>
            <a:ext cx="0" cy="1552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2" name="AutoShape 150">
            <a:extLst>
              <a:ext uri="{FF2B5EF4-FFF2-40B4-BE49-F238E27FC236}">
                <a16:creationId xmlns:a16="http://schemas.microsoft.com/office/drawing/2014/main" id="{50800A33-6DAD-2005-E970-59F2D3FFD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3876" y="3085858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3" name="AutoShape 151">
            <a:extLst>
              <a:ext uri="{FF2B5EF4-FFF2-40B4-BE49-F238E27FC236}">
                <a16:creationId xmlns:a16="http://schemas.microsoft.com/office/drawing/2014/main" id="{DCF8003F-F2E0-351B-D1B0-5D9DFD741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113" y="3985971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4" name="AutoShape 152">
            <a:extLst>
              <a:ext uri="{FF2B5EF4-FFF2-40B4-BE49-F238E27FC236}">
                <a16:creationId xmlns:a16="http://schemas.microsoft.com/office/drawing/2014/main" id="{CB501E53-C592-0D50-EBC2-0EFE44035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113" y="2433396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 type="none" w="sm" len="lg"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6" name="Text Box 179">
            <a:extLst>
              <a:ext uri="{FF2B5EF4-FFF2-40B4-BE49-F238E27FC236}">
                <a16:creationId xmlns:a16="http://schemas.microsoft.com/office/drawing/2014/main" id="{1F67E5C4-8364-0477-9D11-AD4196058E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4433" y="1137017"/>
            <a:ext cx="1112805" cy="40011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2000" b="1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Text Box 3">
            <a:extLst>
              <a:ext uri="{FF2B5EF4-FFF2-40B4-BE49-F238E27FC236}">
                <a16:creationId xmlns:a16="http://schemas.microsoft.com/office/drawing/2014/main" id="{E642DE72-CF3D-529E-1AE9-1AFBBC7C3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1169044"/>
            <a:ext cx="34756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截切平面倾斜于轴线</a:t>
            </a:r>
          </a:p>
        </p:txBody>
      </p:sp>
      <p:sp>
        <p:nvSpPr>
          <p:cNvPr id="99" name="Line 160">
            <a:extLst>
              <a:ext uri="{FF2B5EF4-FFF2-40B4-BE49-F238E27FC236}">
                <a16:creationId xmlns:a16="http://schemas.microsoft.com/office/drawing/2014/main" id="{9614BE50-5121-F6BD-0633-1E7DE4E626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34777" y="5010976"/>
            <a:ext cx="154305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0" name="Line 161">
            <a:extLst>
              <a:ext uri="{FF2B5EF4-FFF2-40B4-BE49-F238E27FC236}">
                <a16:creationId xmlns:a16="http://schemas.microsoft.com/office/drawing/2014/main" id="{22B28FC4-58FD-0020-2502-73227A85A1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17315" y="5850763"/>
            <a:ext cx="15621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01" name="Group 174">
            <a:extLst>
              <a:ext uri="{FF2B5EF4-FFF2-40B4-BE49-F238E27FC236}">
                <a16:creationId xmlns:a16="http://schemas.microsoft.com/office/drawing/2014/main" id="{C442F7B7-34C0-8285-2582-916B844020F9}"/>
              </a:ext>
            </a:extLst>
          </p:cNvPr>
          <p:cNvGrpSpPr>
            <a:grpSpLocks/>
          </p:cNvGrpSpPr>
          <p:nvPr/>
        </p:nvGrpSpPr>
        <p:grpSpPr bwMode="auto">
          <a:xfrm>
            <a:off x="6452452" y="4552188"/>
            <a:ext cx="1022350" cy="917575"/>
            <a:chOff x="4192" y="2900"/>
            <a:chExt cx="644" cy="578"/>
          </a:xfrm>
        </p:grpSpPr>
        <p:sp>
          <p:nvSpPr>
            <p:cNvPr id="102" name="Line 158">
              <a:extLst>
                <a:ext uri="{FF2B5EF4-FFF2-40B4-BE49-F238E27FC236}">
                  <a16:creationId xmlns:a16="http://schemas.microsoft.com/office/drawing/2014/main" id="{3E0B5182-3343-8D8E-052C-31AC36616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5" y="2900"/>
              <a:ext cx="0" cy="5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3" name="Line 159">
              <a:extLst>
                <a:ext uri="{FF2B5EF4-FFF2-40B4-BE49-F238E27FC236}">
                  <a16:creationId xmlns:a16="http://schemas.microsoft.com/office/drawing/2014/main" id="{A0C987C4-7408-DAFC-40BC-36A8B243DE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2" y="3189"/>
              <a:ext cx="6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" name="Oval 162">
              <a:extLst>
                <a:ext uri="{FF2B5EF4-FFF2-40B4-BE49-F238E27FC236}">
                  <a16:creationId xmlns:a16="http://schemas.microsoft.com/office/drawing/2014/main" id="{C206D1CB-165A-23F6-EFF9-45C51F7FD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2" y="2973"/>
              <a:ext cx="424" cy="42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</p:grpSp>
      <p:sp>
        <p:nvSpPr>
          <p:cNvPr id="105" name="Rectangle 163">
            <a:extLst>
              <a:ext uri="{FF2B5EF4-FFF2-40B4-BE49-F238E27FC236}">
                <a16:creationId xmlns:a16="http://schemas.microsoft.com/office/drawing/2014/main" id="{C7FF6C26-A0A4-E603-DC1C-306A622C7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0502" y="4668076"/>
            <a:ext cx="1168400" cy="673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6" name="Rectangle 164">
            <a:extLst>
              <a:ext uri="{FF2B5EF4-FFF2-40B4-BE49-F238E27FC236}">
                <a16:creationId xmlns:a16="http://schemas.microsoft.com/office/drawing/2014/main" id="{56F49633-40AE-7FC7-1471-9ABADD711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0502" y="5512626"/>
            <a:ext cx="1168400" cy="673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7" name="Freeform 166">
            <a:extLst>
              <a:ext uri="{FF2B5EF4-FFF2-40B4-BE49-F238E27FC236}">
                <a16:creationId xmlns:a16="http://schemas.microsoft.com/office/drawing/2014/main" id="{2111436F-9920-2865-57E3-F6CD01833FB0}"/>
              </a:ext>
            </a:extLst>
          </p:cNvPr>
          <p:cNvSpPr>
            <a:spLocks/>
          </p:cNvSpPr>
          <p:nvPr/>
        </p:nvSpPr>
        <p:spPr bwMode="auto">
          <a:xfrm>
            <a:off x="4909402" y="4668076"/>
            <a:ext cx="1079500" cy="673100"/>
          </a:xfrm>
          <a:custGeom>
            <a:avLst/>
            <a:gdLst>
              <a:gd name="T0" fmla="*/ 0 w 680"/>
              <a:gd name="T1" fmla="*/ 2147483647 h 424"/>
              <a:gd name="T2" fmla="*/ 2147483647 w 680"/>
              <a:gd name="T3" fmla="*/ 0 h 424"/>
              <a:gd name="T4" fmla="*/ 2147483647 w 680"/>
              <a:gd name="T5" fmla="*/ 0 h 424"/>
              <a:gd name="T6" fmla="*/ 2147483647 w 680"/>
              <a:gd name="T7" fmla="*/ 2147483647 h 424"/>
              <a:gd name="T8" fmla="*/ 0 w 680"/>
              <a:gd name="T9" fmla="*/ 2147483647 h 42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80"/>
              <a:gd name="T16" fmla="*/ 0 h 424"/>
              <a:gd name="T17" fmla="*/ 680 w 680"/>
              <a:gd name="T18" fmla="*/ 424 h 42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80" h="424">
                <a:moveTo>
                  <a:pt x="0" y="424"/>
                </a:moveTo>
                <a:lnTo>
                  <a:pt x="424" y="0"/>
                </a:lnTo>
                <a:lnTo>
                  <a:pt x="680" y="0"/>
                </a:lnTo>
                <a:lnTo>
                  <a:pt x="680" y="424"/>
                </a:lnTo>
                <a:lnTo>
                  <a:pt x="0" y="424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8" name="Line 167">
            <a:extLst>
              <a:ext uri="{FF2B5EF4-FFF2-40B4-BE49-F238E27FC236}">
                <a16:creationId xmlns:a16="http://schemas.microsoft.com/office/drawing/2014/main" id="{FE4FDD25-6611-E026-7959-BACD2A729D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5952" y="5010976"/>
            <a:ext cx="0" cy="444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9" name="Line 168">
            <a:extLst>
              <a:ext uri="{FF2B5EF4-FFF2-40B4-BE49-F238E27FC236}">
                <a16:creationId xmlns:a16="http://schemas.microsoft.com/office/drawing/2014/main" id="{68343E62-7F6D-A756-88A8-F90EF856AB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5952" y="5461826"/>
            <a:ext cx="0" cy="7683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0" name="Line 170">
            <a:extLst>
              <a:ext uri="{FF2B5EF4-FFF2-40B4-BE49-F238E27FC236}">
                <a16:creationId xmlns:a16="http://schemas.microsoft.com/office/drawing/2014/main" id="{CAE55AB6-9365-876C-2D14-83DB620EF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9402" y="5341176"/>
            <a:ext cx="0" cy="508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1" name="Line 171">
            <a:extLst>
              <a:ext uri="{FF2B5EF4-FFF2-40B4-BE49-F238E27FC236}">
                <a16:creationId xmlns:a16="http://schemas.microsoft.com/office/drawing/2014/main" id="{02104360-D11F-4B51-5167-43B3785E67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2502" y="4668076"/>
            <a:ext cx="0" cy="1181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" name="Line 165">
            <a:extLst>
              <a:ext uri="{FF2B5EF4-FFF2-40B4-BE49-F238E27FC236}">
                <a16:creationId xmlns:a16="http://schemas.microsoft.com/office/drawing/2014/main" id="{94387955-FDC6-BD16-85C7-2E3E863C5F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09402" y="4668076"/>
            <a:ext cx="673100" cy="6731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3" name="Freeform 173">
            <a:extLst>
              <a:ext uri="{FF2B5EF4-FFF2-40B4-BE49-F238E27FC236}">
                <a16:creationId xmlns:a16="http://schemas.microsoft.com/office/drawing/2014/main" id="{14741ADC-4C8B-B185-DBCE-11A505AD97B6}"/>
              </a:ext>
            </a:extLst>
          </p:cNvPr>
          <p:cNvSpPr>
            <a:spLocks/>
          </p:cNvSpPr>
          <p:nvPr/>
        </p:nvSpPr>
        <p:spPr bwMode="auto">
          <a:xfrm>
            <a:off x="5245952" y="5506276"/>
            <a:ext cx="742950" cy="681037"/>
          </a:xfrm>
          <a:custGeom>
            <a:avLst/>
            <a:gdLst>
              <a:gd name="T0" fmla="*/ 0 w 468"/>
              <a:gd name="T1" fmla="*/ 0 h 429"/>
              <a:gd name="T2" fmla="*/ 2147483647 w 468"/>
              <a:gd name="T3" fmla="*/ 0 h 429"/>
              <a:gd name="T4" fmla="*/ 2147483647 w 468"/>
              <a:gd name="T5" fmla="*/ 2147483647 h 429"/>
              <a:gd name="T6" fmla="*/ 0 w 468"/>
              <a:gd name="T7" fmla="*/ 2147483647 h 429"/>
              <a:gd name="T8" fmla="*/ 0 60000 65536"/>
              <a:gd name="T9" fmla="*/ 0 60000 65536"/>
              <a:gd name="T10" fmla="*/ 0 60000 65536"/>
              <a:gd name="T11" fmla="*/ 0 60000 65536"/>
              <a:gd name="T12" fmla="*/ 0 w 468"/>
              <a:gd name="T13" fmla="*/ 0 h 429"/>
              <a:gd name="T14" fmla="*/ 468 w 468"/>
              <a:gd name="T15" fmla="*/ 429 h 42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68" h="429">
                <a:moveTo>
                  <a:pt x="0" y="0"/>
                </a:moveTo>
                <a:lnTo>
                  <a:pt x="468" y="0"/>
                </a:lnTo>
                <a:lnTo>
                  <a:pt x="468" y="429"/>
                </a:lnTo>
                <a:lnTo>
                  <a:pt x="0" y="429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4" name="Oval 169">
            <a:extLst>
              <a:ext uri="{FF2B5EF4-FFF2-40B4-BE49-F238E27FC236}">
                <a16:creationId xmlns:a16="http://schemas.microsoft.com/office/drawing/2014/main" id="{2993CA42-524F-355D-6AAF-F7392EEEB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052" y="5512626"/>
            <a:ext cx="673100" cy="6731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15" name="Arc 176">
            <a:extLst>
              <a:ext uri="{FF2B5EF4-FFF2-40B4-BE49-F238E27FC236}">
                <a16:creationId xmlns:a16="http://schemas.microsoft.com/office/drawing/2014/main" id="{1B9D60E3-0C88-9859-BE97-845A51B385A4}"/>
              </a:ext>
            </a:extLst>
          </p:cNvPr>
          <p:cNvSpPr>
            <a:spLocks/>
          </p:cNvSpPr>
          <p:nvPr/>
        </p:nvSpPr>
        <p:spPr bwMode="auto">
          <a:xfrm flipH="1">
            <a:off x="5295165" y="4669663"/>
            <a:ext cx="292100" cy="187325"/>
          </a:xfrm>
          <a:custGeom>
            <a:avLst/>
            <a:gdLst>
              <a:gd name="T0" fmla="*/ 2147483647 w 21598"/>
              <a:gd name="T1" fmla="*/ 120219090 h 14303"/>
              <a:gd name="T2" fmla="*/ 2147483647 w 21598"/>
              <a:gd name="T3" fmla="*/ 2147483647 h 14303"/>
              <a:gd name="T4" fmla="*/ 0 w 21598"/>
              <a:gd name="T5" fmla="*/ 0 h 14303"/>
              <a:gd name="T6" fmla="*/ 0 60000 65536"/>
              <a:gd name="T7" fmla="*/ 0 60000 65536"/>
              <a:gd name="T8" fmla="*/ 0 60000 65536"/>
              <a:gd name="T9" fmla="*/ 0 w 21598"/>
              <a:gd name="T10" fmla="*/ 0 h 14303"/>
              <a:gd name="T11" fmla="*/ 21598 w 21598"/>
              <a:gd name="T12" fmla="*/ 14303 h 1430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98" h="14303" fill="none" extrusionOk="0">
                <a:moveTo>
                  <a:pt x="21597" y="311"/>
                </a:moveTo>
                <a:cubicBezTo>
                  <a:pt x="21523" y="5472"/>
                  <a:pt x="19603" y="10435"/>
                  <a:pt x="16185" y="14302"/>
                </a:cubicBezTo>
              </a:path>
              <a:path w="21598" h="14303" stroke="0" extrusionOk="0">
                <a:moveTo>
                  <a:pt x="21597" y="311"/>
                </a:moveTo>
                <a:cubicBezTo>
                  <a:pt x="21523" y="5472"/>
                  <a:pt x="19603" y="10435"/>
                  <a:pt x="16185" y="14302"/>
                </a:cubicBezTo>
                <a:lnTo>
                  <a:pt x="0" y="0"/>
                </a:lnTo>
                <a:lnTo>
                  <a:pt x="21597" y="31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6" name="Text Box 177">
            <a:extLst>
              <a:ext uri="{FF2B5EF4-FFF2-40B4-BE49-F238E27FC236}">
                <a16:creationId xmlns:a16="http://schemas.microsoft.com/office/drawing/2014/main" id="{F1A17988-2A02-0104-5862-07809A4BF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4952" y="4669663"/>
            <a:ext cx="592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ISOCPEUR" pitchFamily="34" charset="0"/>
              </a:rPr>
              <a:t>45°</a:t>
            </a:r>
            <a:endParaRPr kumimoji="0" lang="en-US" altLang="zh-CN" sz="2400" b="1">
              <a:latin typeface="ISOCPEUR" pitchFamily="34" charset="0"/>
            </a:endParaRPr>
          </a:p>
        </p:txBody>
      </p:sp>
      <p:sp>
        <p:nvSpPr>
          <p:cNvPr id="117" name="Text Box 179">
            <a:extLst>
              <a:ext uri="{FF2B5EF4-FFF2-40B4-BE49-F238E27FC236}">
                <a16:creationId xmlns:a16="http://schemas.microsoft.com/office/drawing/2014/main" id="{599E09FC-B553-B8BF-45DD-46F4E92EF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2976" y="4591113"/>
            <a:ext cx="1112805" cy="40011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2000" b="1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Text Box 134">
            <a:extLst>
              <a:ext uri="{FF2B5EF4-FFF2-40B4-BE49-F238E27FC236}">
                <a16:creationId xmlns:a16="http://schemas.microsoft.com/office/drawing/2014/main" id="{CF429D9F-A43F-F1B3-6399-504F0D0C5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6770" y="5518236"/>
            <a:ext cx="251131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 i="0" dirty="0">
                <a:latin typeface="黑体" pitchFamily="2" charset="-122"/>
                <a:ea typeface="黑体" pitchFamily="2" charset="-122"/>
              </a:rPr>
              <a:t>截平面与轴向成</a:t>
            </a:r>
            <a:r>
              <a:rPr kumimoji="0" lang="en-US" altLang="zh-CN" sz="2000" i="0" dirty="0">
                <a:latin typeface="黑体" pitchFamily="2" charset="-122"/>
                <a:ea typeface="黑体" pitchFamily="2" charset="-122"/>
              </a:rPr>
              <a:t>45</a:t>
            </a:r>
            <a:r>
              <a:rPr kumimoji="0" lang="en-US" altLang="zh-CN" sz="2000" i="0" dirty="0">
                <a:ea typeface="黑体" pitchFamily="2" charset="-122"/>
                <a:cs typeface="Times New Roman" panose="02020603050405020304" pitchFamily="18" charset="0"/>
              </a:rPr>
              <a:t>°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 i="0" dirty="0">
                <a:latin typeface="黑体" pitchFamily="2" charset="-122"/>
                <a:ea typeface="黑体" pitchFamily="2" charset="-122"/>
              </a:rPr>
              <a:t>则椭圆投影为</a:t>
            </a:r>
            <a:r>
              <a:rPr kumimoji="0" lang="zh-CN" altLang="en-US" sz="2000" i="0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圆</a:t>
            </a:r>
          </a:p>
        </p:txBody>
      </p:sp>
    </p:spTree>
    <p:extLst>
      <p:ext uri="{BB962C8B-B14F-4D97-AF65-F5344CB8AC3E}">
        <p14:creationId xmlns:p14="http://schemas.microsoft.com/office/powerpoint/2010/main" val="2715787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500"/>
                            </p:stCondLst>
                            <p:childTnLst>
                              <p:par>
                                <p:cTn id="1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500"/>
                            </p:stCondLst>
                            <p:childTnLst>
                              <p:par>
                                <p:cTn id="1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500"/>
                            </p:stCondLst>
                            <p:childTnLst>
                              <p:par>
                                <p:cTn id="2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500"/>
                            </p:stCondLst>
                            <p:childTnLst>
                              <p:par>
                                <p:cTn id="2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500"/>
                            </p:stCondLst>
                            <p:childTnLst>
                              <p:par>
                                <p:cTn id="2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1000"/>
                            </p:stCondLst>
                            <p:childTnLst>
                              <p:par>
                                <p:cTn id="2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1500"/>
                            </p:stCondLst>
                            <p:childTnLst>
                              <p:par>
                                <p:cTn id="2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500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500"/>
                                        <p:tgtEl>
                                          <p:spTgt spid="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500"/>
                                        <p:tgtEl>
                                          <p:spTgt spid="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indefinite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500"/>
                                        <p:tgtEl>
                                          <p:spTgt spid="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6" fill="hold">
                      <p:stCondLst>
                        <p:cond delay="indefinite"/>
                      </p:stCondLst>
                      <p:childTnLst>
                        <p:par>
                          <p:cTn id="357" fill="hold">
                            <p:stCondLst>
                              <p:cond delay="0"/>
                            </p:stCondLst>
                            <p:childTnLst>
                              <p:par>
                                <p:cTn id="3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1" fill="hold">
                            <p:stCondLst>
                              <p:cond delay="500"/>
                            </p:stCondLst>
                            <p:childTnLst>
                              <p:par>
                                <p:cTn id="36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9" fill="hold">
                            <p:stCondLst>
                              <p:cond delay="1500"/>
                            </p:stCondLst>
                            <p:childTnLst>
                              <p:par>
                                <p:cTn id="3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3" fill="hold">
                            <p:stCondLst>
                              <p:cond delay="2000"/>
                            </p:stCondLst>
                            <p:childTnLst>
                              <p:par>
                                <p:cTn id="3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7" fill="hold">
                            <p:stCondLst>
                              <p:cond delay="500"/>
                            </p:stCondLst>
                            <p:childTnLst>
                              <p:par>
                                <p:cTn id="3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1" fill="hold">
                            <p:stCondLst>
                              <p:cond delay="1000"/>
                            </p:stCondLst>
                            <p:childTnLst>
                              <p:par>
                                <p:cTn id="3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500"/>
                            </p:stCondLst>
                            <p:childTnLst>
                              <p:par>
                                <p:cTn id="4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indefinite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9" fill="hold">
                            <p:stCondLst>
                              <p:cond delay="500"/>
                            </p:stCondLst>
                            <p:childTnLst>
                              <p:par>
                                <p:cTn id="4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utoUpdateAnimBg="0"/>
      <p:bldP spid="29" grpId="0" autoUpdateAnimBg="0"/>
      <p:bldP spid="30" grpId="0" animBg="1"/>
      <p:bldP spid="31" grpId="0" animBg="1"/>
      <p:bldP spid="32" grpId="0" animBg="1"/>
      <p:bldP spid="33" grpId="0" autoUpdateAnimBg="0"/>
      <p:bldP spid="34" grpId="0" autoUpdateAnimBg="0"/>
      <p:bldP spid="35" grpId="0" autoUpdateAnimBg="0"/>
      <p:bldP spid="36" grpId="0" autoUpdateAnimBg="0"/>
      <p:bldP spid="38" grpId="0" autoUpdateAnimBg="0"/>
      <p:bldP spid="39" grpId="0" autoUpdateAnimBg="0"/>
      <p:bldP spid="40" grpId="0" autoUpdateAnimBg="0"/>
      <p:bldP spid="41" grpId="0" animBg="1"/>
      <p:bldP spid="42" grpId="0" animBg="1"/>
      <p:bldP spid="43" grpId="0" animBg="1"/>
      <p:bldP spid="44" grpId="0" autoUpdateAnimBg="0"/>
      <p:bldP spid="45" grpId="0" autoUpdateAnimBg="0"/>
      <p:bldP spid="46" grpId="0" autoUpdateAnimBg="0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/>
      <p:bldP spid="56" grpId="0"/>
      <p:bldP spid="57" grpId="0" build="p"/>
      <p:bldP spid="58" grpId="0" autoUpdateAnimBg="0"/>
      <p:bldP spid="59" grpId="0" autoUpdateAnimBg="0"/>
      <p:bldP spid="60" grpId="0"/>
      <p:bldP spid="61" grpId="0" autoUpdateAnimBg="0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96" grpId="0"/>
      <p:bldP spid="99" grpId="0" animBg="1"/>
      <p:bldP spid="100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utoUpdateAnimBg="0"/>
      <p:bldP spid="117" grpId="0"/>
      <p:bldP spid="1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BB548-9E07-9BBE-E416-B6921B449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A8F066D5-0868-FEB7-1C1B-3CF2187C1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16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5CA060CE-8565-2776-693C-C66C22D43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540083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平面与回转体相交（一）</a:t>
            </a:r>
          </a:p>
        </p:txBody>
      </p:sp>
      <p:sp>
        <p:nvSpPr>
          <p:cNvPr id="2" name="Line 11">
            <a:extLst>
              <a:ext uri="{FF2B5EF4-FFF2-40B4-BE49-F238E27FC236}">
                <a16:creationId xmlns:a16="http://schemas.microsoft.com/office/drawing/2014/main" id="{D320EFE4-1211-06E4-8036-DF50E79200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11713" y="2686993"/>
            <a:ext cx="1157287" cy="1157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" name="Line 20">
            <a:extLst>
              <a:ext uri="{FF2B5EF4-FFF2-40B4-BE49-F238E27FC236}">
                <a16:creationId xmlns:a16="http://schemas.microsoft.com/office/drawing/2014/main" id="{08E1F10E-DBE1-A09C-BBDB-DAA00E025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8575" y="3555355"/>
            <a:ext cx="0" cy="1758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" name="Line 21">
            <a:extLst>
              <a:ext uri="{FF2B5EF4-FFF2-40B4-BE49-F238E27FC236}">
                <a16:creationId xmlns:a16="http://schemas.microsoft.com/office/drawing/2014/main" id="{CC9A3450-F994-87CA-4A87-3D6334771B3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6125" y="2837805"/>
            <a:ext cx="0" cy="2476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" name="Line 22">
            <a:extLst>
              <a:ext uri="{FF2B5EF4-FFF2-40B4-BE49-F238E27FC236}">
                <a16:creationId xmlns:a16="http://schemas.microsoft.com/office/drawing/2014/main" id="{01C29DD8-8C03-2B75-0285-3B92D05693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9025" y="2837805"/>
            <a:ext cx="0" cy="2476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" name="Line 23">
            <a:extLst>
              <a:ext uri="{FF2B5EF4-FFF2-40B4-BE49-F238E27FC236}">
                <a16:creationId xmlns:a16="http://schemas.microsoft.com/office/drawing/2014/main" id="{43189F1D-5AF6-C23A-347E-5449067D36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7975" y="3282305"/>
            <a:ext cx="0" cy="768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D4B1DC2-AD3C-CB6A-72CA-70C6E1D34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149080"/>
            <a:ext cx="2184400" cy="116522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08059F7-C2FB-85F1-6A60-F91C505C4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8350" y="2691755"/>
            <a:ext cx="2184400" cy="116522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" name="Oval 25">
            <a:extLst>
              <a:ext uri="{FF2B5EF4-FFF2-40B4-BE49-F238E27FC236}">
                <a16:creationId xmlns:a16="http://schemas.microsoft.com/office/drawing/2014/main" id="{0268398A-1B74-E3E9-4887-1A64E0B3E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475" y="4152255"/>
            <a:ext cx="1155700" cy="11557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2" name="Line 5">
            <a:extLst>
              <a:ext uri="{FF2B5EF4-FFF2-40B4-BE49-F238E27FC236}">
                <a16:creationId xmlns:a16="http://schemas.microsoft.com/office/drawing/2014/main" id="{3F5BE175-EA87-4932-C720-816CC81E09C8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720557" y="2035323"/>
            <a:ext cx="0" cy="2493963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" name="Line 6">
            <a:extLst>
              <a:ext uri="{FF2B5EF4-FFF2-40B4-BE49-F238E27FC236}">
                <a16:creationId xmlns:a16="http://schemas.microsoft.com/office/drawing/2014/main" id="{CDDF162C-029F-CE41-C85D-BB8873292CB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8613" y="2529830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4" name="Line 7">
            <a:extLst>
              <a:ext uri="{FF2B5EF4-FFF2-40B4-BE49-F238E27FC236}">
                <a16:creationId xmlns:a16="http://schemas.microsoft.com/office/drawing/2014/main" id="{33DFB689-DD2A-DF9D-A0EB-C206015B1A8B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3913" y="3274368"/>
            <a:ext cx="1535112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" name="Oval 8">
            <a:extLst>
              <a:ext uri="{FF2B5EF4-FFF2-40B4-BE49-F238E27FC236}">
                <a16:creationId xmlns:a16="http://schemas.microsoft.com/office/drawing/2014/main" id="{F644C213-C4F7-3A99-9E70-A326A8472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7588" y="2691755"/>
            <a:ext cx="1165225" cy="1165225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6" name="Line 9">
            <a:extLst>
              <a:ext uri="{FF2B5EF4-FFF2-40B4-BE49-F238E27FC236}">
                <a16:creationId xmlns:a16="http://schemas.microsoft.com/office/drawing/2014/main" id="{66DDD0DB-EC8E-2960-B8D0-A47C40878A42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709444" y="3524399"/>
            <a:ext cx="0" cy="2430462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2CC06D87-6927-3E2B-6CE9-3ECD84A888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39025" y="3555355"/>
            <a:ext cx="1016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B7BDB923-1313-59CA-940B-B378891EA23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3325" y="2837805"/>
            <a:ext cx="7810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" name="Line 24">
            <a:extLst>
              <a:ext uri="{FF2B5EF4-FFF2-40B4-BE49-F238E27FC236}">
                <a16:creationId xmlns:a16="http://schemas.microsoft.com/office/drawing/2014/main" id="{5142F287-F46B-F6EB-2585-D5B57BA5D8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7975" y="4057005"/>
            <a:ext cx="0" cy="13271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" name="Rectangle 28">
            <a:extLst>
              <a:ext uri="{FF2B5EF4-FFF2-40B4-BE49-F238E27FC236}">
                <a16:creationId xmlns:a16="http://schemas.microsoft.com/office/drawing/2014/main" id="{B5A07C20-6BF7-A309-420A-3D6DD592A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5175" y="4228455"/>
            <a:ext cx="533400" cy="10096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1" name="Rectangle 29">
            <a:extLst>
              <a:ext uri="{FF2B5EF4-FFF2-40B4-BE49-F238E27FC236}">
                <a16:creationId xmlns:a16="http://schemas.microsoft.com/office/drawing/2014/main" id="{693E4E81-AB51-6978-3A31-163A2A9D9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6125" y="4349105"/>
            <a:ext cx="342900" cy="76835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2" name="Arc 30">
            <a:extLst>
              <a:ext uri="{FF2B5EF4-FFF2-40B4-BE49-F238E27FC236}">
                <a16:creationId xmlns:a16="http://schemas.microsoft.com/office/drawing/2014/main" id="{EC1616A6-8579-06A6-853B-B0DE3731D906}"/>
              </a:ext>
            </a:extLst>
          </p:cNvPr>
          <p:cNvSpPr>
            <a:spLocks/>
          </p:cNvSpPr>
          <p:nvPr/>
        </p:nvSpPr>
        <p:spPr bwMode="auto">
          <a:xfrm>
            <a:off x="5102225" y="4153843"/>
            <a:ext cx="736600" cy="588962"/>
          </a:xfrm>
          <a:custGeom>
            <a:avLst/>
            <a:gdLst>
              <a:gd name="T0" fmla="*/ 0 w 26981"/>
              <a:gd name="T1" fmla="*/ 2147483647 h 21600"/>
              <a:gd name="T2" fmla="*/ 2147483647 w 26981"/>
              <a:gd name="T3" fmla="*/ 2147483647 h 21600"/>
              <a:gd name="T4" fmla="*/ 2147483647 w 26981"/>
              <a:gd name="T5" fmla="*/ 2147483647 h 21600"/>
              <a:gd name="T6" fmla="*/ 0 60000 65536"/>
              <a:gd name="T7" fmla="*/ 0 60000 65536"/>
              <a:gd name="T8" fmla="*/ 0 60000 65536"/>
              <a:gd name="T9" fmla="*/ 0 w 26981"/>
              <a:gd name="T10" fmla="*/ 0 h 21600"/>
              <a:gd name="T11" fmla="*/ 26981 w 2698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981" h="21600" fill="none" extrusionOk="0">
                <a:moveTo>
                  <a:pt x="0" y="2847"/>
                </a:moveTo>
                <a:cubicBezTo>
                  <a:pt x="3264" y="981"/>
                  <a:pt x="6959" y="-1"/>
                  <a:pt x="10719" y="0"/>
                </a:cubicBezTo>
                <a:cubicBezTo>
                  <a:pt x="16950" y="0"/>
                  <a:pt x="22879" y="2691"/>
                  <a:pt x="26980" y="7383"/>
                </a:cubicBezTo>
              </a:path>
              <a:path w="26981" h="21600" stroke="0" extrusionOk="0">
                <a:moveTo>
                  <a:pt x="0" y="2847"/>
                </a:moveTo>
                <a:cubicBezTo>
                  <a:pt x="3264" y="981"/>
                  <a:pt x="6959" y="-1"/>
                  <a:pt x="10719" y="0"/>
                </a:cubicBezTo>
                <a:cubicBezTo>
                  <a:pt x="16950" y="0"/>
                  <a:pt x="22879" y="2691"/>
                  <a:pt x="26980" y="7383"/>
                </a:cubicBezTo>
                <a:lnTo>
                  <a:pt x="10719" y="21600"/>
                </a:lnTo>
                <a:lnTo>
                  <a:pt x="0" y="2847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3" name="Arc 31">
            <a:extLst>
              <a:ext uri="{FF2B5EF4-FFF2-40B4-BE49-F238E27FC236}">
                <a16:creationId xmlns:a16="http://schemas.microsoft.com/office/drawing/2014/main" id="{532A7C64-B097-1011-DA38-08A5F6FA4147}"/>
              </a:ext>
            </a:extLst>
          </p:cNvPr>
          <p:cNvSpPr>
            <a:spLocks/>
          </p:cNvSpPr>
          <p:nvPr/>
        </p:nvSpPr>
        <p:spPr bwMode="auto">
          <a:xfrm>
            <a:off x="5111750" y="4725343"/>
            <a:ext cx="719138" cy="584200"/>
          </a:xfrm>
          <a:custGeom>
            <a:avLst/>
            <a:gdLst>
              <a:gd name="T0" fmla="*/ 2147483647 w 26620"/>
              <a:gd name="T1" fmla="*/ 2147483647 h 21600"/>
              <a:gd name="T2" fmla="*/ 0 w 26620"/>
              <a:gd name="T3" fmla="*/ 2147483647 h 21600"/>
              <a:gd name="T4" fmla="*/ 2147483647 w 26620"/>
              <a:gd name="T5" fmla="*/ 0 h 21600"/>
              <a:gd name="T6" fmla="*/ 0 60000 65536"/>
              <a:gd name="T7" fmla="*/ 0 60000 65536"/>
              <a:gd name="T8" fmla="*/ 0 60000 65536"/>
              <a:gd name="T9" fmla="*/ 0 w 26620"/>
              <a:gd name="T10" fmla="*/ 0 h 21600"/>
              <a:gd name="T11" fmla="*/ 26620 w 2662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6620" h="21600" fill="none" extrusionOk="0">
                <a:moveTo>
                  <a:pt x="26619" y="14382"/>
                </a:moveTo>
                <a:cubicBezTo>
                  <a:pt x="22521" y="18974"/>
                  <a:pt x="16659" y="21599"/>
                  <a:pt x="10505" y="21600"/>
                </a:cubicBezTo>
                <a:cubicBezTo>
                  <a:pt x="6828" y="21600"/>
                  <a:pt x="3212" y="20661"/>
                  <a:pt x="-1" y="18873"/>
                </a:cubicBezTo>
              </a:path>
              <a:path w="26620" h="21600" stroke="0" extrusionOk="0">
                <a:moveTo>
                  <a:pt x="26619" y="14382"/>
                </a:moveTo>
                <a:cubicBezTo>
                  <a:pt x="22521" y="18974"/>
                  <a:pt x="16659" y="21599"/>
                  <a:pt x="10505" y="21600"/>
                </a:cubicBezTo>
                <a:cubicBezTo>
                  <a:pt x="6828" y="21600"/>
                  <a:pt x="3212" y="20661"/>
                  <a:pt x="-1" y="18873"/>
                </a:cubicBezTo>
                <a:lnTo>
                  <a:pt x="10505" y="0"/>
                </a:lnTo>
                <a:lnTo>
                  <a:pt x="26619" y="14382"/>
                </a:lnTo>
                <a:close/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" name="Line 32">
            <a:extLst>
              <a:ext uri="{FF2B5EF4-FFF2-40B4-BE49-F238E27FC236}">
                <a16:creationId xmlns:a16="http://schemas.microsoft.com/office/drawing/2014/main" id="{0AEC1936-3301-EA1B-C31F-94172ACEB4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7975" y="4155430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5" name="Line 33">
            <a:extLst>
              <a:ext uri="{FF2B5EF4-FFF2-40B4-BE49-F238E27FC236}">
                <a16:creationId xmlns:a16="http://schemas.microsoft.com/office/drawing/2014/main" id="{6C028D2B-12CF-A51B-1C60-9448879C50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7975" y="5307955"/>
            <a:ext cx="1371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6" name="Line 34">
            <a:extLst>
              <a:ext uri="{FF2B5EF4-FFF2-40B4-BE49-F238E27FC236}">
                <a16:creationId xmlns:a16="http://schemas.microsoft.com/office/drawing/2014/main" id="{A96F83CF-6133-D300-9DF9-E3BF955834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9575" y="4152255"/>
            <a:ext cx="0" cy="1162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" name="Rectangle 38">
            <a:extLst>
              <a:ext uri="{FF2B5EF4-FFF2-40B4-BE49-F238E27FC236}">
                <a16:creationId xmlns:a16="http://schemas.microsoft.com/office/drawing/2014/main" id="{A544C8C8-3ECE-2F78-642F-E4ABED104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5988" y="3218805"/>
            <a:ext cx="3952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1</a:t>
            </a:r>
            <a:r>
              <a:rPr kumimoji="0" lang="en-US" altLang="zh-CN" sz="1800" b="1">
                <a:latin typeface="ISOCPEUR" pitchFamily="34" charset="0"/>
              </a:rPr>
              <a:t>’</a:t>
            </a:r>
          </a:p>
        </p:txBody>
      </p:sp>
      <p:sp>
        <p:nvSpPr>
          <p:cNvPr id="28" name="Text Box 39">
            <a:extLst>
              <a:ext uri="{FF2B5EF4-FFF2-40B4-BE49-F238E27FC236}">
                <a16:creationId xmlns:a16="http://schemas.microsoft.com/office/drawing/2014/main" id="{644282BB-7F9F-6EC2-AE51-70B1FDDA1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3338" y="2894955"/>
            <a:ext cx="508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2</a:t>
            </a:r>
            <a:r>
              <a:rPr kumimoji="0" lang="en-US" altLang="zh-CN" sz="1800" b="1">
                <a:latin typeface="ISOCPEUR" pitchFamily="34" charset="0"/>
              </a:rPr>
              <a:t>’ </a:t>
            </a:r>
          </a:p>
        </p:txBody>
      </p:sp>
      <p:sp>
        <p:nvSpPr>
          <p:cNvPr id="29" name="Text Box 43">
            <a:extLst>
              <a:ext uri="{FF2B5EF4-FFF2-40B4-BE49-F238E27FC236}">
                <a16:creationId xmlns:a16="http://schemas.microsoft.com/office/drawing/2014/main" id="{F61257EF-DA10-FA8D-5C4C-20FDDB401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1413" y="2939405"/>
            <a:ext cx="5286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2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“</a:t>
            </a:r>
          </a:p>
        </p:txBody>
      </p:sp>
      <p:sp>
        <p:nvSpPr>
          <p:cNvPr id="30" name="Text Box 56">
            <a:extLst>
              <a:ext uri="{FF2B5EF4-FFF2-40B4-BE49-F238E27FC236}">
                <a16:creationId xmlns:a16="http://schemas.microsoft.com/office/drawing/2014/main" id="{F38A8C22-5A23-7962-EB84-D8B584B4E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8825" y="4433243"/>
            <a:ext cx="393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1</a:t>
            </a:r>
          </a:p>
        </p:txBody>
      </p:sp>
      <p:sp>
        <p:nvSpPr>
          <p:cNvPr id="31" name="Text Box 57">
            <a:extLst>
              <a:ext uri="{FF2B5EF4-FFF2-40B4-BE49-F238E27FC236}">
                <a16:creationId xmlns:a16="http://schemas.microsoft.com/office/drawing/2014/main" id="{62BE90FD-08F1-CD29-AEA1-C8452FC15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5588" y="4398318"/>
            <a:ext cx="4270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2</a:t>
            </a:r>
          </a:p>
        </p:txBody>
      </p:sp>
      <p:sp>
        <p:nvSpPr>
          <p:cNvPr id="32" name="Text Box 58">
            <a:extLst>
              <a:ext uri="{FF2B5EF4-FFF2-40B4-BE49-F238E27FC236}">
                <a16:creationId xmlns:a16="http://schemas.microsoft.com/office/drawing/2014/main" id="{854A69AA-B13C-BA32-B738-B7B97DC16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0" y="4407843"/>
            <a:ext cx="446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3</a:t>
            </a:r>
          </a:p>
        </p:txBody>
      </p:sp>
      <p:grpSp>
        <p:nvGrpSpPr>
          <p:cNvPr id="33" name="Group 65">
            <a:extLst>
              <a:ext uri="{FF2B5EF4-FFF2-40B4-BE49-F238E27FC236}">
                <a16:creationId xmlns:a16="http://schemas.microsoft.com/office/drawing/2014/main" id="{CC5BBDE2-9EFD-40C8-495F-063C19DBF9D7}"/>
              </a:ext>
            </a:extLst>
          </p:cNvPr>
          <p:cNvGrpSpPr>
            <a:grpSpLocks/>
          </p:cNvGrpSpPr>
          <p:nvPr/>
        </p:nvGrpSpPr>
        <p:grpSpPr bwMode="auto">
          <a:xfrm>
            <a:off x="5475288" y="3048943"/>
            <a:ext cx="488950" cy="274637"/>
            <a:chOff x="3531" y="1293"/>
            <a:chExt cx="308" cy="173"/>
          </a:xfrm>
        </p:grpSpPr>
        <p:sp>
          <p:nvSpPr>
            <p:cNvPr id="34" name="Arc 63">
              <a:extLst>
                <a:ext uri="{FF2B5EF4-FFF2-40B4-BE49-F238E27FC236}">
                  <a16:creationId xmlns:a16="http://schemas.microsoft.com/office/drawing/2014/main" id="{AADEA784-3D97-97EE-7328-CAEDEFBB4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3" y="1357"/>
              <a:ext cx="57" cy="86"/>
            </a:xfrm>
            <a:custGeom>
              <a:avLst/>
              <a:gdLst>
                <a:gd name="T0" fmla="*/ 0 w 21522"/>
                <a:gd name="T1" fmla="*/ 0 h 19635"/>
                <a:gd name="T2" fmla="*/ 0 w 21522"/>
                <a:gd name="T3" fmla="*/ 0 h 19635"/>
                <a:gd name="T4" fmla="*/ 0 w 21522"/>
                <a:gd name="T5" fmla="*/ 0 h 19635"/>
                <a:gd name="T6" fmla="*/ 0 60000 65536"/>
                <a:gd name="T7" fmla="*/ 0 60000 65536"/>
                <a:gd name="T8" fmla="*/ 0 60000 65536"/>
                <a:gd name="T9" fmla="*/ 0 w 21522"/>
                <a:gd name="T10" fmla="*/ 0 h 19635"/>
                <a:gd name="T11" fmla="*/ 21522 w 21522"/>
                <a:gd name="T12" fmla="*/ 19635 h 196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22" h="19635" fill="none" extrusionOk="0">
                  <a:moveTo>
                    <a:pt x="9001" y="-1"/>
                  </a:moveTo>
                  <a:cubicBezTo>
                    <a:pt x="16079" y="3244"/>
                    <a:pt x="20863" y="10048"/>
                    <a:pt x="21522" y="17806"/>
                  </a:cubicBezTo>
                </a:path>
                <a:path w="21522" h="19635" stroke="0" extrusionOk="0">
                  <a:moveTo>
                    <a:pt x="9001" y="-1"/>
                  </a:moveTo>
                  <a:cubicBezTo>
                    <a:pt x="16079" y="3244"/>
                    <a:pt x="20863" y="10048"/>
                    <a:pt x="21522" y="17806"/>
                  </a:cubicBezTo>
                  <a:lnTo>
                    <a:pt x="0" y="19635"/>
                  </a:lnTo>
                  <a:lnTo>
                    <a:pt x="9001" y="-1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Text Box 64">
              <a:extLst>
                <a:ext uri="{FF2B5EF4-FFF2-40B4-BE49-F238E27FC236}">
                  <a16:creationId xmlns:a16="http://schemas.microsoft.com/office/drawing/2014/main" id="{6B17C4FB-7798-BC61-C588-41F09E60C0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1" y="1293"/>
              <a:ext cx="30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200" b="1">
                  <a:latin typeface="ISOCPEUR" pitchFamily="34" charset="0"/>
                </a:rPr>
                <a:t>45°</a:t>
              </a:r>
              <a:endParaRPr kumimoji="0" lang="en-US" altLang="zh-CN" sz="1800" b="1">
                <a:latin typeface="ISOCPEUR" pitchFamily="34" charset="0"/>
              </a:endParaRPr>
            </a:p>
          </p:txBody>
        </p:sp>
      </p:grpSp>
      <p:sp>
        <p:nvSpPr>
          <p:cNvPr id="36" name="Freeform 67">
            <a:extLst>
              <a:ext uri="{FF2B5EF4-FFF2-40B4-BE49-F238E27FC236}">
                <a16:creationId xmlns:a16="http://schemas.microsoft.com/office/drawing/2014/main" id="{4C9BE505-E6EA-6D8D-DD00-BE67F14B5711}"/>
              </a:ext>
            </a:extLst>
          </p:cNvPr>
          <p:cNvSpPr>
            <a:spLocks/>
          </p:cNvSpPr>
          <p:nvPr/>
        </p:nvSpPr>
        <p:spPr bwMode="auto">
          <a:xfrm>
            <a:off x="4584700" y="2686993"/>
            <a:ext cx="2185988" cy="1166812"/>
          </a:xfrm>
          <a:custGeom>
            <a:avLst/>
            <a:gdLst>
              <a:gd name="T0" fmla="*/ 0 w 1377"/>
              <a:gd name="T1" fmla="*/ 2147483647 h 735"/>
              <a:gd name="T2" fmla="*/ 0 w 1377"/>
              <a:gd name="T3" fmla="*/ 2147483647 h 735"/>
              <a:gd name="T4" fmla="*/ 2147483647 w 1377"/>
              <a:gd name="T5" fmla="*/ 2147483647 h 735"/>
              <a:gd name="T6" fmla="*/ 2147483647 w 1377"/>
              <a:gd name="T7" fmla="*/ 2147483647 h 735"/>
              <a:gd name="T8" fmla="*/ 2147483647 w 1377"/>
              <a:gd name="T9" fmla="*/ 2147483647 h 735"/>
              <a:gd name="T10" fmla="*/ 2147483647 w 1377"/>
              <a:gd name="T11" fmla="*/ 0 h 735"/>
              <a:gd name="T12" fmla="*/ 2147483647 w 1377"/>
              <a:gd name="T13" fmla="*/ 0 h 735"/>
              <a:gd name="T14" fmla="*/ 2147483647 w 1377"/>
              <a:gd name="T15" fmla="*/ 2147483647 h 735"/>
              <a:gd name="T16" fmla="*/ 0 w 1377"/>
              <a:gd name="T17" fmla="*/ 2147483647 h 73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377"/>
              <a:gd name="T28" fmla="*/ 0 h 735"/>
              <a:gd name="T29" fmla="*/ 1377 w 1377"/>
              <a:gd name="T30" fmla="*/ 735 h 735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377" h="735">
                <a:moveTo>
                  <a:pt x="0" y="735"/>
                </a:moveTo>
                <a:lnTo>
                  <a:pt x="0" y="543"/>
                </a:lnTo>
                <a:lnTo>
                  <a:pt x="330" y="543"/>
                </a:lnTo>
                <a:lnTo>
                  <a:pt x="783" y="90"/>
                </a:lnTo>
                <a:lnTo>
                  <a:pt x="1002" y="90"/>
                </a:lnTo>
                <a:lnTo>
                  <a:pt x="1002" y="0"/>
                </a:lnTo>
                <a:lnTo>
                  <a:pt x="1377" y="0"/>
                </a:lnTo>
                <a:lnTo>
                  <a:pt x="1377" y="735"/>
                </a:lnTo>
                <a:lnTo>
                  <a:pt x="0" y="735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8" name="Text Box 68">
            <a:extLst>
              <a:ext uri="{FF2B5EF4-FFF2-40B4-BE49-F238E27FC236}">
                <a16:creationId xmlns:a16="http://schemas.microsoft.com/office/drawing/2014/main" id="{4480F4E0-347B-74F9-58B5-C499D77C6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546" y="2103671"/>
            <a:ext cx="3193503" cy="2292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None/>
            </a:pPr>
            <a:r>
              <a:rPr kumimoji="0"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求解过程：</a:t>
            </a:r>
            <a:endParaRPr kumimoji="0" lang="en-US" altLang="zh-CN" sz="2400" b="1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endParaRPr kumimoji="0" lang="en-US" altLang="zh-CN" sz="2400" b="1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Tx/>
              <a:buChar char="•"/>
            </a:pPr>
            <a:r>
              <a:rPr kumimoji="0" lang="en-US" altLang="zh-CN" sz="20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几个</a:t>
            </a:r>
            <a:r>
              <a:rPr kumimoji="0"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截平面？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Tx/>
              <a:buChar char="•"/>
            </a:pPr>
            <a:r>
              <a:rPr kumimoji="0"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每个截断面的形状？</a:t>
            </a:r>
            <a:endParaRPr kumimoji="0" lang="en-US" altLang="zh-CN" sz="20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Tx/>
              <a:buChar char="•"/>
            </a:pPr>
            <a:r>
              <a:rPr kumimoji="0"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每个截断面的投影形状？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r>
              <a:rPr kumimoji="0"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（是否 </a:t>
            </a:r>
            <a:r>
              <a:rPr kumimoji="0" lang="en-US" altLang="zh-CN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45°</a:t>
            </a:r>
            <a:r>
              <a:rPr kumimoji="0" lang="zh-CN" altLang="en-US" sz="20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？）</a:t>
            </a:r>
          </a:p>
        </p:txBody>
      </p:sp>
      <p:grpSp>
        <p:nvGrpSpPr>
          <p:cNvPr id="39" name="Group 75">
            <a:extLst>
              <a:ext uri="{FF2B5EF4-FFF2-40B4-BE49-F238E27FC236}">
                <a16:creationId xmlns:a16="http://schemas.microsoft.com/office/drawing/2014/main" id="{64D01A1B-B104-E61C-6632-F8016C563CE5}"/>
              </a:ext>
            </a:extLst>
          </p:cNvPr>
          <p:cNvGrpSpPr>
            <a:grpSpLocks/>
          </p:cNvGrpSpPr>
          <p:nvPr/>
        </p:nvGrpSpPr>
        <p:grpSpPr bwMode="auto">
          <a:xfrm>
            <a:off x="5475288" y="2502843"/>
            <a:ext cx="784225" cy="366712"/>
            <a:chOff x="3534" y="949"/>
            <a:chExt cx="494" cy="231"/>
          </a:xfrm>
        </p:grpSpPr>
        <p:sp>
          <p:nvSpPr>
            <p:cNvPr id="40" name="Text Box 76">
              <a:extLst>
                <a:ext uri="{FF2B5EF4-FFF2-40B4-BE49-F238E27FC236}">
                  <a16:creationId xmlns:a16="http://schemas.microsoft.com/office/drawing/2014/main" id="{80972CAE-570F-5FF7-B1A9-90B15D6138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4" y="949"/>
              <a:ext cx="4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3</a:t>
              </a:r>
              <a:r>
                <a:rPr kumimoji="0" lang="en-US" altLang="zh-CN" sz="1800" b="1">
                  <a:latin typeface="ISOCPEUR" pitchFamily="34" charset="0"/>
                </a:rPr>
                <a:t>’    </a:t>
              </a:r>
              <a:endParaRPr kumimoji="0" lang="en-US" altLang="zh-CN" sz="1400" b="1">
                <a:latin typeface="ISOCPEUR" pitchFamily="34" charset="0"/>
              </a:endParaRPr>
            </a:p>
          </p:txBody>
        </p:sp>
        <p:sp>
          <p:nvSpPr>
            <p:cNvPr id="41" name="Freeform 77">
              <a:extLst>
                <a:ext uri="{FF2B5EF4-FFF2-40B4-BE49-F238E27FC236}">
                  <a16:creationId xmlns:a16="http://schemas.microsoft.com/office/drawing/2014/main" id="{55D9DC31-A77F-6F3C-6A3A-78670AFAF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" y="1088"/>
              <a:ext cx="96" cy="60"/>
            </a:xfrm>
            <a:custGeom>
              <a:avLst/>
              <a:gdLst>
                <a:gd name="T0" fmla="*/ 0 w 96"/>
                <a:gd name="T1" fmla="*/ 0 h 60"/>
                <a:gd name="T2" fmla="*/ 40 w 96"/>
                <a:gd name="T3" fmla="*/ 4 h 60"/>
                <a:gd name="T4" fmla="*/ 68 w 96"/>
                <a:gd name="T5" fmla="*/ 16 h 60"/>
                <a:gd name="T6" fmla="*/ 96 w 96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60"/>
                <a:gd name="T14" fmla="*/ 96 w 96"/>
                <a:gd name="T15" fmla="*/ 60 h 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60">
                  <a:moveTo>
                    <a:pt x="0" y="0"/>
                  </a:moveTo>
                  <a:cubicBezTo>
                    <a:pt x="14" y="0"/>
                    <a:pt x="29" y="1"/>
                    <a:pt x="40" y="4"/>
                  </a:cubicBezTo>
                  <a:cubicBezTo>
                    <a:pt x="51" y="7"/>
                    <a:pt x="59" y="7"/>
                    <a:pt x="68" y="16"/>
                  </a:cubicBezTo>
                  <a:cubicBezTo>
                    <a:pt x="77" y="25"/>
                    <a:pt x="91" y="53"/>
                    <a:pt x="96" y="60"/>
                  </a:cubicBezTo>
                </a:path>
              </a:pathLst>
            </a:custGeom>
            <a:noFill/>
            <a:ln w="12700">
              <a:solidFill>
                <a:srgbClr val="3333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2" name="Group 78">
            <a:extLst>
              <a:ext uri="{FF2B5EF4-FFF2-40B4-BE49-F238E27FC236}">
                <a16:creationId xmlns:a16="http://schemas.microsoft.com/office/drawing/2014/main" id="{F8E31ACB-9E1D-0C10-6760-C96178A65C41}"/>
              </a:ext>
            </a:extLst>
          </p:cNvPr>
          <p:cNvGrpSpPr>
            <a:grpSpLocks/>
          </p:cNvGrpSpPr>
          <p:nvPr/>
        </p:nvGrpSpPr>
        <p:grpSpPr bwMode="auto">
          <a:xfrm>
            <a:off x="5907088" y="2245668"/>
            <a:ext cx="517525" cy="522287"/>
            <a:chOff x="3803" y="787"/>
            <a:chExt cx="326" cy="329"/>
          </a:xfrm>
        </p:grpSpPr>
        <p:sp>
          <p:nvSpPr>
            <p:cNvPr id="43" name="Text Box 79">
              <a:extLst>
                <a:ext uri="{FF2B5EF4-FFF2-40B4-BE49-F238E27FC236}">
                  <a16:creationId xmlns:a16="http://schemas.microsoft.com/office/drawing/2014/main" id="{E0BE71D8-38C1-BEDA-22D2-0203633699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3" y="787"/>
              <a:ext cx="3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 p</a:t>
              </a:r>
              <a:r>
                <a:rPr kumimoji="0" lang="en-US" altLang="zh-CN" sz="1800" b="1" baseline="-10000">
                  <a:latin typeface="ISOCPEUR" pitchFamily="34" charset="0"/>
                </a:rPr>
                <a:t>4</a:t>
              </a:r>
              <a:r>
                <a:rPr kumimoji="0" lang="en-US" altLang="zh-CN" sz="1800" b="1">
                  <a:latin typeface="ISOCPEUR" pitchFamily="34" charset="0"/>
                </a:rPr>
                <a:t>‘</a:t>
              </a:r>
            </a:p>
          </p:txBody>
        </p:sp>
        <p:sp>
          <p:nvSpPr>
            <p:cNvPr id="44" name="Freeform 80">
              <a:extLst>
                <a:ext uri="{FF2B5EF4-FFF2-40B4-BE49-F238E27FC236}">
                  <a16:creationId xmlns:a16="http://schemas.microsoft.com/office/drawing/2014/main" id="{6EB6792E-EA8B-93E8-3ECA-8162944F2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" y="976"/>
              <a:ext cx="72" cy="140"/>
            </a:xfrm>
            <a:custGeom>
              <a:avLst/>
              <a:gdLst>
                <a:gd name="T0" fmla="*/ 0 w 72"/>
                <a:gd name="T1" fmla="*/ 0 h 140"/>
                <a:gd name="T2" fmla="*/ 12 w 72"/>
                <a:gd name="T3" fmla="*/ 64 h 140"/>
                <a:gd name="T4" fmla="*/ 36 w 72"/>
                <a:gd name="T5" fmla="*/ 124 h 140"/>
                <a:gd name="T6" fmla="*/ 72 w 72"/>
                <a:gd name="T7" fmla="*/ 140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"/>
                <a:gd name="T13" fmla="*/ 0 h 140"/>
                <a:gd name="T14" fmla="*/ 72 w 72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" h="140">
                  <a:moveTo>
                    <a:pt x="0" y="0"/>
                  </a:moveTo>
                  <a:cubicBezTo>
                    <a:pt x="3" y="21"/>
                    <a:pt x="6" y="43"/>
                    <a:pt x="12" y="64"/>
                  </a:cubicBezTo>
                  <a:cubicBezTo>
                    <a:pt x="18" y="85"/>
                    <a:pt x="26" y="111"/>
                    <a:pt x="36" y="124"/>
                  </a:cubicBezTo>
                  <a:cubicBezTo>
                    <a:pt x="46" y="137"/>
                    <a:pt x="66" y="137"/>
                    <a:pt x="72" y="140"/>
                  </a:cubicBezTo>
                </a:path>
              </a:pathLst>
            </a:custGeom>
            <a:noFill/>
            <a:ln w="12700">
              <a:solidFill>
                <a:srgbClr val="3333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5" name="Group 81">
            <a:extLst>
              <a:ext uri="{FF2B5EF4-FFF2-40B4-BE49-F238E27FC236}">
                <a16:creationId xmlns:a16="http://schemas.microsoft.com/office/drawing/2014/main" id="{976796EB-1738-E4E4-3104-0727FD740697}"/>
              </a:ext>
            </a:extLst>
          </p:cNvPr>
          <p:cNvGrpSpPr>
            <a:grpSpLocks/>
          </p:cNvGrpSpPr>
          <p:nvPr/>
        </p:nvGrpSpPr>
        <p:grpSpPr bwMode="auto">
          <a:xfrm>
            <a:off x="6907213" y="3194993"/>
            <a:ext cx="817562" cy="366712"/>
            <a:chOff x="4433" y="1385"/>
            <a:chExt cx="515" cy="231"/>
          </a:xfrm>
        </p:grpSpPr>
        <p:sp>
          <p:nvSpPr>
            <p:cNvPr id="46" name="Text Box 82">
              <a:extLst>
                <a:ext uri="{FF2B5EF4-FFF2-40B4-BE49-F238E27FC236}">
                  <a16:creationId xmlns:a16="http://schemas.microsoft.com/office/drawing/2014/main" id="{E5417637-E98F-61AB-F98A-9A7F285813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3" y="1385"/>
              <a:ext cx="2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1</a:t>
              </a:r>
              <a:r>
                <a:rPr kumimoji="0" lang="en-US" altLang="zh-CN" sz="1800" b="1">
                  <a:latin typeface="ISOCPEUR" pitchFamily="34" charset="0"/>
                  <a:sym typeface="CommercialPi BT" pitchFamily="18" charset="2"/>
                </a:rPr>
                <a:t>”</a:t>
              </a:r>
            </a:p>
          </p:txBody>
        </p:sp>
        <p:sp>
          <p:nvSpPr>
            <p:cNvPr id="47" name="Freeform 83">
              <a:extLst>
                <a:ext uri="{FF2B5EF4-FFF2-40B4-BE49-F238E27FC236}">
                  <a16:creationId xmlns:a16="http://schemas.microsoft.com/office/drawing/2014/main" id="{4A021DCE-38CD-0D4D-F62E-19C3DD199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9" y="1509"/>
              <a:ext cx="269" cy="91"/>
            </a:xfrm>
            <a:custGeom>
              <a:avLst/>
              <a:gdLst>
                <a:gd name="T0" fmla="*/ 0 w 252"/>
                <a:gd name="T1" fmla="*/ 3 h 91"/>
                <a:gd name="T2" fmla="*/ 98 w 252"/>
                <a:gd name="T3" fmla="*/ 3 h 91"/>
                <a:gd name="T4" fmla="*/ 213 w 252"/>
                <a:gd name="T5" fmla="*/ 19 h 91"/>
                <a:gd name="T6" fmla="*/ 286 w 252"/>
                <a:gd name="T7" fmla="*/ 59 h 91"/>
                <a:gd name="T8" fmla="*/ 327 w 252"/>
                <a:gd name="T9" fmla="*/ 91 h 9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"/>
                <a:gd name="T16" fmla="*/ 0 h 91"/>
                <a:gd name="T17" fmla="*/ 252 w 252"/>
                <a:gd name="T18" fmla="*/ 91 h 9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" h="91">
                  <a:moveTo>
                    <a:pt x="0" y="3"/>
                  </a:moveTo>
                  <a:cubicBezTo>
                    <a:pt x="24" y="1"/>
                    <a:pt x="49" y="0"/>
                    <a:pt x="76" y="3"/>
                  </a:cubicBezTo>
                  <a:cubicBezTo>
                    <a:pt x="103" y="6"/>
                    <a:pt x="140" y="10"/>
                    <a:pt x="164" y="19"/>
                  </a:cubicBezTo>
                  <a:cubicBezTo>
                    <a:pt x="188" y="28"/>
                    <a:pt x="205" y="47"/>
                    <a:pt x="220" y="59"/>
                  </a:cubicBezTo>
                  <a:cubicBezTo>
                    <a:pt x="235" y="71"/>
                    <a:pt x="247" y="86"/>
                    <a:pt x="252" y="91"/>
                  </a:cubicBezTo>
                </a:path>
              </a:pathLst>
            </a:custGeom>
            <a:noFill/>
            <a:ln w="12700">
              <a:solidFill>
                <a:srgbClr val="3333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8" name="Group 84">
            <a:extLst>
              <a:ext uri="{FF2B5EF4-FFF2-40B4-BE49-F238E27FC236}">
                <a16:creationId xmlns:a16="http://schemas.microsoft.com/office/drawing/2014/main" id="{F0539BF2-5B29-0619-E023-01187D5CA91F}"/>
              </a:ext>
            </a:extLst>
          </p:cNvPr>
          <p:cNvGrpSpPr>
            <a:grpSpLocks/>
          </p:cNvGrpSpPr>
          <p:nvPr/>
        </p:nvGrpSpPr>
        <p:grpSpPr bwMode="auto">
          <a:xfrm>
            <a:off x="7354888" y="2421880"/>
            <a:ext cx="466725" cy="403225"/>
            <a:chOff x="4715" y="898"/>
            <a:chExt cx="294" cy="254"/>
          </a:xfrm>
        </p:grpSpPr>
        <p:sp>
          <p:nvSpPr>
            <p:cNvPr id="49" name="Text Box 85">
              <a:extLst>
                <a:ext uri="{FF2B5EF4-FFF2-40B4-BE49-F238E27FC236}">
                  <a16:creationId xmlns:a16="http://schemas.microsoft.com/office/drawing/2014/main" id="{105517B9-A9A9-F4B6-D658-982B61257E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5" y="898"/>
              <a:ext cx="28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3</a:t>
              </a:r>
              <a:r>
                <a:rPr kumimoji="0" lang="en-US" altLang="zh-CN" sz="1800" b="1">
                  <a:latin typeface="ISOCPEUR" pitchFamily="34" charset="0"/>
                  <a:sym typeface="CommercialPi BT" pitchFamily="18" charset="2"/>
                </a:rPr>
                <a:t>”</a:t>
              </a:r>
            </a:p>
          </p:txBody>
        </p:sp>
        <p:sp>
          <p:nvSpPr>
            <p:cNvPr id="50" name="Freeform 86">
              <a:extLst>
                <a:ext uri="{FF2B5EF4-FFF2-40B4-BE49-F238E27FC236}">
                  <a16:creationId xmlns:a16="http://schemas.microsoft.com/office/drawing/2014/main" id="{94AE5473-55B2-6405-CC46-E0FC81372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6" y="1052"/>
              <a:ext cx="93" cy="100"/>
            </a:xfrm>
            <a:custGeom>
              <a:avLst/>
              <a:gdLst>
                <a:gd name="T0" fmla="*/ 0 w 88"/>
                <a:gd name="T1" fmla="*/ 0 h 100"/>
                <a:gd name="T2" fmla="*/ 40 w 88"/>
                <a:gd name="T3" fmla="*/ 20 h 100"/>
                <a:gd name="T4" fmla="*/ 85 w 88"/>
                <a:gd name="T5" fmla="*/ 56 h 100"/>
                <a:gd name="T6" fmla="*/ 110 w 88"/>
                <a:gd name="T7" fmla="*/ 100 h 1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8"/>
                <a:gd name="T13" fmla="*/ 0 h 100"/>
                <a:gd name="T14" fmla="*/ 88 w 88"/>
                <a:gd name="T15" fmla="*/ 100 h 1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8" h="100">
                  <a:moveTo>
                    <a:pt x="0" y="0"/>
                  </a:moveTo>
                  <a:cubicBezTo>
                    <a:pt x="10" y="5"/>
                    <a:pt x="21" y="11"/>
                    <a:pt x="32" y="20"/>
                  </a:cubicBezTo>
                  <a:cubicBezTo>
                    <a:pt x="43" y="29"/>
                    <a:pt x="59" y="43"/>
                    <a:pt x="68" y="56"/>
                  </a:cubicBezTo>
                  <a:cubicBezTo>
                    <a:pt x="77" y="69"/>
                    <a:pt x="85" y="93"/>
                    <a:pt x="88" y="100"/>
                  </a:cubicBezTo>
                </a:path>
              </a:pathLst>
            </a:custGeom>
            <a:noFill/>
            <a:ln w="12700">
              <a:solidFill>
                <a:srgbClr val="3333FF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1" name="Group 87">
            <a:extLst>
              <a:ext uri="{FF2B5EF4-FFF2-40B4-BE49-F238E27FC236}">
                <a16:creationId xmlns:a16="http://schemas.microsoft.com/office/drawing/2014/main" id="{372EFAC5-211A-FA81-71D6-4CE1DCA0CD70}"/>
              </a:ext>
            </a:extLst>
          </p:cNvPr>
          <p:cNvGrpSpPr>
            <a:grpSpLocks/>
          </p:cNvGrpSpPr>
          <p:nvPr/>
        </p:nvGrpSpPr>
        <p:grpSpPr bwMode="auto">
          <a:xfrm>
            <a:off x="7874000" y="2288530"/>
            <a:ext cx="463550" cy="473075"/>
            <a:chOff x="5042" y="814"/>
            <a:chExt cx="292" cy="298"/>
          </a:xfrm>
        </p:grpSpPr>
        <p:sp>
          <p:nvSpPr>
            <p:cNvPr id="52" name="Text Box 88">
              <a:extLst>
                <a:ext uri="{FF2B5EF4-FFF2-40B4-BE49-F238E27FC236}">
                  <a16:creationId xmlns:a16="http://schemas.microsoft.com/office/drawing/2014/main" id="{03859EDF-BD91-C4BC-9B41-E2F1F8EADF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2" y="814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4</a:t>
              </a:r>
              <a:r>
                <a:rPr kumimoji="0" lang="en-US" altLang="zh-CN" sz="1800" b="1">
                  <a:latin typeface="ISOCPEUR" pitchFamily="34" charset="0"/>
                  <a:sym typeface="CommercialPi BT" pitchFamily="18" charset="2"/>
                </a:rPr>
                <a:t>“</a:t>
              </a:r>
            </a:p>
          </p:txBody>
        </p:sp>
        <p:sp>
          <p:nvSpPr>
            <p:cNvPr id="53" name="Freeform 89">
              <a:extLst>
                <a:ext uri="{FF2B5EF4-FFF2-40B4-BE49-F238E27FC236}">
                  <a16:creationId xmlns:a16="http://schemas.microsoft.com/office/drawing/2014/main" id="{12BAC37E-510A-AB6D-A95D-61C1CC883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8" y="1000"/>
              <a:ext cx="12" cy="112"/>
            </a:xfrm>
            <a:custGeom>
              <a:avLst/>
              <a:gdLst>
                <a:gd name="T0" fmla="*/ 12 w 12"/>
                <a:gd name="T1" fmla="*/ 0 h 112"/>
                <a:gd name="T2" fmla="*/ 0 w 12"/>
                <a:gd name="T3" fmla="*/ 112 h 112"/>
                <a:gd name="T4" fmla="*/ 0 60000 65536"/>
                <a:gd name="T5" fmla="*/ 0 60000 65536"/>
                <a:gd name="T6" fmla="*/ 0 w 12"/>
                <a:gd name="T7" fmla="*/ 0 h 112"/>
                <a:gd name="T8" fmla="*/ 12 w 12"/>
                <a:gd name="T9" fmla="*/ 112 h 1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" h="112">
                  <a:moveTo>
                    <a:pt x="12" y="0"/>
                  </a:moveTo>
                  <a:cubicBezTo>
                    <a:pt x="12" y="0"/>
                    <a:pt x="6" y="56"/>
                    <a:pt x="0" y="112"/>
                  </a:cubicBezTo>
                </a:path>
              </a:pathLst>
            </a:custGeom>
            <a:noFill/>
            <a:ln w="127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4" name="Group 90">
            <a:extLst>
              <a:ext uri="{FF2B5EF4-FFF2-40B4-BE49-F238E27FC236}">
                <a16:creationId xmlns:a16="http://schemas.microsoft.com/office/drawing/2014/main" id="{451A9F6C-C993-7855-DB63-765FC42FF9AD}"/>
              </a:ext>
            </a:extLst>
          </p:cNvPr>
          <p:cNvGrpSpPr>
            <a:grpSpLocks/>
          </p:cNvGrpSpPr>
          <p:nvPr/>
        </p:nvGrpSpPr>
        <p:grpSpPr bwMode="auto">
          <a:xfrm>
            <a:off x="5702300" y="3774430"/>
            <a:ext cx="463550" cy="754063"/>
            <a:chOff x="3674" y="1750"/>
            <a:chExt cx="292" cy="475"/>
          </a:xfrm>
        </p:grpSpPr>
        <p:sp>
          <p:nvSpPr>
            <p:cNvPr id="55" name="Text Box 91">
              <a:extLst>
                <a:ext uri="{FF2B5EF4-FFF2-40B4-BE49-F238E27FC236}">
                  <a16:creationId xmlns:a16="http://schemas.microsoft.com/office/drawing/2014/main" id="{831D6C3A-D0A0-FD50-5D86-CF17F10BEF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4" y="1750"/>
              <a:ext cx="2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1800" b="1">
                  <a:latin typeface="ISOCPEUR" pitchFamily="34" charset="0"/>
                </a:rPr>
                <a:t>p</a:t>
              </a:r>
              <a:r>
                <a:rPr kumimoji="0" lang="en-US" altLang="zh-CN" sz="1800" b="1" baseline="-10000">
                  <a:latin typeface="ISOCPEUR" pitchFamily="34" charset="0"/>
                </a:rPr>
                <a:t>4</a:t>
              </a:r>
            </a:p>
          </p:txBody>
        </p:sp>
        <p:sp>
          <p:nvSpPr>
            <p:cNvPr id="56" name="Line 92">
              <a:extLst>
                <a:ext uri="{FF2B5EF4-FFF2-40B4-BE49-F238E27FC236}">
                  <a16:creationId xmlns:a16="http://schemas.microsoft.com/office/drawing/2014/main" id="{F644260C-B4A6-1856-B6C3-8290F5821C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20" y="1937"/>
              <a:ext cx="136" cy="288"/>
            </a:xfrm>
            <a:prstGeom prst="line">
              <a:avLst/>
            </a:prstGeom>
            <a:noFill/>
            <a:ln w="12700">
              <a:solidFill>
                <a:srgbClr val="3333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8" name="Text Box 3">
            <a:extLst>
              <a:ext uri="{FF2B5EF4-FFF2-40B4-BE49-F238E27FC236}">
                <a16:creationId xmlns:a16="http://schemas.microsoft.com/office/drawing/2014/main" id="{BC5175D0-4D70-0824-9CFE-D63E36AF1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1169044"/>
            <a:ext cx="31678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多平面截切圆柱体</a:t>
            </a:r>
            <a:endParaRPr lang="zh-CN" altLang="en-US" sz="2400" b="1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Text Box 179">
            <a:extLst>
              <a:ext uri="{FF2B5EF4-FFF2-40B4-BE49-F238E27FC236}">
                <a16:creationId xmlns:a16="http://schemas.microsoft.com/office/drawing/2014/main" id="{6EE1533B-1C7B-63A2-238A-9713AA8AB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9283" y="1860684"/>
            <a:ext cx="1205779" cy="430887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2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2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zh-CN" altLang="en-US" sz="2200" b="1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557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utoUpdateAnimBg="0"/>
      <p:bldP spid="28" grpId="0" autoUpdateAnimBg="0"/>
      <p:bldP spid="29" grpId="0" autoUpdateAnimBg="0"/>
      <p:bldP spid="30" grpId="0" autoUpdateAnimBg="0"/>
      <p:bldP spid="31" grpId="0" autoUpdateAnimBg="0"/>
      <p:bldP spid="32" grpId="0" autoUpdateAnimBg="0"/>
      <p:bldP spid="36" grpId="0" animBg="1"/>
      <p:bldP spid="38" grpId="0" build="p"/>
      <p:bldP spid="5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4E3A2-D37E-8466-B363-E61BCEA6E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8C70F0-2BAC-A8D2-2738-7F73814FA5D2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68343" y="2420123"/>
            <a:ext cx="8007321" cy="1446550"/>
          </a:xfr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</a:t>
            </a:r>
            <a:r>
              <a:rPr lang="zh-CN" altLang="en-US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平面与回转体相交（二）</a:t>
            </a:r>
            <a:br>
              <a:rPr lang="en-US" altLang="zh-CN" sz="48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40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（圆锥的截切）</a:t>
            </a:r>
            <a:endParaRPr lang="zh-CN" altLang="en-US" sz="4800" dirty="0">
              <a:solidFill>
                <a:schemeClr val="accent6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B98DAA-29F4-A25C-15BC-6BA234C9C27A}"/>
              </a:ext>
            </a:extLst>
          </p:cNvPr>
          <p:cNvSpPr/>
          <p:nvPr/>
        </p:nvSpPr>
        <p:spPr>
          <a:xfrm>
            <a:off x="2237300" y="1136814"/>
            <a:ext cx="41870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A50021"/>
                </a:solidFill>
                <a:latin typeface="华文新魏" pitchFamily="2" charset="-122"/>
                <a:ea typeface="华文新魏" pitchFamily="2" charset="-122"/>
              </a:rPr>
              <a:t>7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345333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9D6C4-08F4-B270-A2D6-DF7E52B06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0A10B6B5-D077-F22D-8667-B7E1E32D9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18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B70ABB4C-D2C8-50AB-EB84-3F8822F92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540083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平面与回转体相交（二）</a:t>
            </a:r>
          </a:p>
        </p:txBody>
      </p:sp>
      <p:grpSp>
        <p:nvGrpSpPr>
          <p:cNvPr id="58" name="Group 209">
            <a:extLst>
              <a:ext uri="{FF2B5EF4-FFF2-40B4-BE49-F238E27FC236}">
                <a16:creationId xmlns:a16="http://schemas.microsoft.com/office/drawing/2014/main" id="{08509EE7-BE0F-3985-FA37-66CC407DE9B3}"/>
              </a:ext>
            </a:extLst>
          </p:cNvPr>
          <p:cNvGrpSpPr>
            <a:grpSpLocks/>
          </p:cNvGrpSpPr>
          <p:nvPr/>
        </p:nvGrpSpPr>
        <p:grpSpPr bwMode="auto">
          <a:xfrm>
            <a:off x="790858" y="1435467"/>
            <a:ext cx="2857500" cy="3314700"/>
            <a:chOff x="576" y="696"/>
            <a:chExt cx="1800" cy="2088"/>
          </a:xfrm>
        </p:grpSpPr>
        <p:grpSp>
          <p:nvGrpSpPr>
            <p:cNvPr id="59" name="Group 210">
              <a:extLst>
                <a:ext uri="{FF2B5EF4-FFF2-40B4-BE49-F238E27FC236}">
                  <a16:creationId xmlns:a16="http://schemas.microsoft.com/office/drawing/2014/main" id="{3D06BAC3-58A6-5A29-8E57-E8A92BE0A5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800"/>
              <a:ext cx="968" cy="984"/>
              <a:chOff x="576" y="1800"/>
              <a:chExt cx="968" cy="984"/>
            </a:xfrm>
          </p:grpSpPr>
          <p:sp>
            <p:nvSpPr>
              <p:cNvPr id="70" name="Oval 211">
                <a:extLst>
                  <a:ext uri="{FF2B5EF4-FFF2-40B4-BE49-F238E27FC236}">
                    <a16:creationId xmlns:a16="http://schemas.microsoft.com/office/drawing/2014/main" id="{027F3DDF-58EA-903D-06F2-E697E90996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" y="1888"/>
                <a:ext cx="800" cy="8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  <p:sp>
            <p:nvSpPr>
              <p:cNvPr id="71" name="Line 212">
                <a:extLst>
                  <a:ext uri="{FF2B5EF4-FFF2-40B4-BE49-F238E27FC236}">
                    <a16:creationId xmlns:a16="http://schemas.microsoft.com/office/drawing/2014/main" id="{687B9D54-80D6-386F-89AB-5FC45CD34F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288"/>
                <a:ext cx="96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" name="Line 213">
                <a:extLst>
                  <a:ext uri="{FF2B5EF4-FFF2-40B4-BE49-F238E27FC236}">
                    <a16:creationId xmlns:a16="http://schemas.microsoft.com/office/drawing/2014/main" id="{44556DF0-9D51-793B-C994-4D0DB8ABE4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64" y="1800"/>
                <a:ext cx="0" cy="9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60" name="Group 214">
              <a:extLst>
                <a:ext uri="{FF2B5EF4-FFF2-40B4-BE49-F238E27FC236}">
                  <a16:creationId xmlns:a16="http://schemas.microsoft.com/office/drawing/2014/main" id="{4E80989A-DE7A-19ED-939D-F0E22A14EB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6" y="696"/>
              <a:ext cx="808" cy="1032"/>
              <a:chOff x="656" y="696"/>
              <a:chExt cx="808" cy="1032"/>
            </a:xfrm>
          </p:grpSpPr>
          <p:sp>
            <p:nvSpPr>
              <p:cNvPr id="66" name="Line 215">
                <a:extLst>
                  <a:ext uri="{FF2B5EF4-FFF2-40B4-BE49-F238E27FC236}">
                    <a16:creationId xmlns:a16="http://schemas.microsoft.com/office/drawing/2014/main" id="{A0085225-AB6B-1AF4-6F6E-B95B6DA912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4" y="696"/>
                <a:ext cx="0" cy="10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" name="Line 216">
                <a:extLst>
                  <a:ext uri="{FF2B5EF4-FFF2-40B4-BE49-F238E27FC236}">
                    <a16:creationId xmlns:a16="http://schemas.microsoft.com/office/drawing/2014/main" id="{6808854D-4E2C-21DC-36DE-0F3010535E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6" y="1608"/>
                <a:ext cx="80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8" name="Line 217">
                <a:extLst>
                  <a:ext uri="{FF2B5EF4-FFF2-40B4-BE49-F238E27FC236}">
                    <a16:creationId xmlns:a16="http://schemas.microsoft.com/office/drawing/2014/main" id="{B8BEA27C-5A85-2DF9-EE7D-4AE21A6BD4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4" y="784"/>
                <a:ext cx="400" cy="8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9" name="Line 218">
                <a:extLst>
                  <a:ext uri="{FF2B5EF4-FFF2-40B4-BE49-F238E27FC236}">
                    <a16:creationId xmlns:a16="http://schemas.microsoft.com/office/drawing/2014/main" id="{10A55610-4295-1AD6-C405-1E9F34086B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56" y="792"/>
                <a:ext cx="408" cy="8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61" name="Group 219">
              <a:extLst>
                <a:ext uri="{FF2B5EF4-FFF2-40B4-BE49-F238E27FC236}">
                  <a16:creationId xmlns:a16="http://schemas.microsoft.com/office/drawing/2014/main" id="{8DCB0716-6F79-60A5-CFB9-A05FDE95FE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8" y="696"/>
              <a:ext cx="808" cy="1032"/>
              <a:chOff x="656" y="696"/>
              <a:chExt cx="808" cy="1032"/>
            </a:xfrm>
          </p:grpSpPr>
          <p:sp>
            <p:nvSpPr>
              <p:cNvPr id="62" name="Line 220">
                <a:extLst>
                  <a:ext uri="{FF2B5EF4-FFF2-40B4-BE49-F238E27FC236}">
                    <a16:creationId xmlns:a16="http://schemas.microsoft.com/office/drawing/2014/main" id="{5D42891B-439D-7211-1F51-EA755C41B0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4" y="696"/>
                <a:ext cx="0" cy="10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3" name="Line 221">
                <a:extLst>
                  <a:ext uri="{FF2B5EF4-FFF2-40B4-BE49-F238E27FC236}">
                    <a16:creationId xmlns:a16="http://schemas.microsoft.com/office/drawing/2014/main" id="{90031963-A5AF-6109-8ED4-E0C354A675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6" y="1608"/>
                <a:ext cx="80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4" name="Line 222">
                <a:extLst>
                  <a:ext uri="{FF2B5EF4-FFF2-40B4-BE49-F238E27FC236}">
                    <a16:creationId xmlns:a16="http://schemas.microsoft.com/office/drawing/2014/main" id="{DE0094DB-4E1F-CF6C-374A-83F22BCC02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4" y="784"/>
                <a:ext cx="400" cy="8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5" name="Line 223">
                <a:extLst>
                  <a:ext uri="{FF2B5EF4-FFF2-40B4-BE49-F238E27FC236}">
                    <a16:creationId xmlns:a16="http://schemas.microsoft.com/office/drawing/2014/main" id="{EF07E71A-65C8-D46C-6772-812CA7BB28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56" y="792"/>
                <a:ext cx="408" cy="8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73" name="Line 224">
            <a:extLst>
              <a:ext uri="{FF2B5EF4-FFF2-40B4-BE49-F238E27FC236}">
                <a16:creationId xmlns:a16="http://schemas.microsoft.com/office/drawing/2014/main" id="{6B880672-3688-3743-E8F7-84AE9960F1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3608" y="2353042"/>
            <a:ext cx="749300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4" name="Oval 225">
            <a:extLst>
              <a:ext uri="{FF2B5EF4-FFF2-40B4-BE49-F238E27FC236}">
                <a16:creationId xmlns:a16="http://schemas.microsoft.com/office/drawing/2014/main" id="{7EA1A000-547D-91E9-6942-343E58C3C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558" y="3581767"/>
            <a:ext cx="749300" cy="749300"/>
          </a:xfrm>
          <a:prstGeom prst="ellipse">
            <a:avLst/>
          </a:prstGeom>
          <a:solidFill>
            <a:srgbClr val="FFFFCC">
              <a:alpha val="50195"/>
            </a:srgbClr>
          </a:solidFill>
          <a:ln w="38100">
            <a:solidFill>
              <a:srgbClr val="A5002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5" name="Line 226">
            <a:extLst>
              <a:ext uri="{FF2B5EF4-FFF2-40B4-BE49-F238E27FC236}">
                <a16:creationId xmlns:a16="http://schemas.microsoft.com/office/drawing/2014/main" id="{B6F68F3B-AB89-A1B7-4677-528B19A8EC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3858" y="2349867"/>
            <a:ext cx="0" cy="160020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6" name="Freeform 227">
            <a:extLst>
              <a:ext uri="{FF2B5EF4-FFF2-40B4-BE49-F238E27FC236}">
                <a16:creationId xmlns:a16="http://schemas.microsoft.com/office/drawing/2014/main" id="{424B0D55-F0F8-ED97-C22B-F81839A97AD0}"/>
              </a:ext>
            </a:extLst>
          </p:cNvPr>
          <p:cNvSpPr>
            <a:spLocks/>
          </p:cNvSpPr>
          <p:nvPr/>
        </p:nvSpPr>
        <p:spPr bwMode="auto">
          <a:xfrm>
            <a:off x="1082958" y="1410067"/>
            <a:ext cx="1054100" cy="968375"/>
          </a:xfrm>
          <a:custGeom>
            <a:avLst/>
            <a:gdLst>
              <a:gd name="T0" fmla="*/ 0 w 664"/>
              <a:gd name="T1" fmla="*/ 2147483647 h 610"/>
              <a:gd name="T2" fmla="*/ 2147483647 w 664"/>
              <a:gd name="T3" fmla="*/ 2147483647 h 610"/>
              <a:gd name="T4" fmla="*/ 2147483647 w 664"/>
              <a:gd name="T5" fmla="*/ 2147483647 h 610"/>
              <a:gd name="T6" fmla="*/ 2147483647 w 664"/>
              <a:gd name="T7" fmla="*/ 2147483647 h 610"/>
              <a:gd name="T8" fmla="*/ 2147483647 w 664"/>
              <a:gd name="T9" fmla="*/ 2147483647 h 610"/>
              <a:gd name="T10" fmla="*/ 2147483647 w 664"/>
              <a:gd name="T11" fmla="*/ 2147483647 h 610"/>
              <a:gd name="T12" fmla="*/ 2147483647 w 664"/>
              <a:gd name="T13" fmla="*/ 0 h 610"/>
              <a:gd name="T14" fmla="*/ 0 w 664"/>
              <a:gd name="T15" fmla="*/ 0 h 610"/>
              <a:gd name="T16" fmla="*/ 0 w 664"/>
              <a:gd name="T17" fmla="*/ 2147483647 h 61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664"/>
              <a:gd name="T28" fmla="*/ 0 h 610"/>
              <a:gd name="T29" fmla="*/ 664 w 664"/>
              <a:gd name="T30" fmla="*/ 610 h 61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664" h="610">
                <a:moveTo>
                  <a:pt x="0" y="576"/>
                </a:moveTo>
                <a:lnTo>
                  <a:pt x="260" y="574"/>
                </a:lnTo>
                <a:lnTo>
                  <a:pt x="260" y="448"/>
                </a:lnTo>
                <a:lnTo>
                  <a:pt x="374" y="448"/>
                </a:lnTo>
                <a:cubicBezTo>
                  <a:pt x="363" y="610"/>
                  <a:pt x="338" y="553"/>
                  <a:pt x="386" y="574"/>
                </a:cubicBezTo>
                <a:lnTo>
                  <a:pt x="664" y="576"/>
                </a:lnTo>
                <a:lnTo>
                  <a:pt x="664" y="0"/>
                </a:lnTo>
                <a:lnTo>
                  <a:pt x="0" y="0"/>
                </a:lnTo>
                <a:lnTo>
                  <a:pt x="0" y="576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7" name="Line 228">
            <a:extLst>
              <a:ext uri="{FF2B5EF4-FFF2-40B4-BE49-F238E27FC236}">
                <a16:creationId xmlns:a16="http://schemas.microsoft.com/office/drawing/2014/main" id="{0B26CF59-414A-97EA-2304-9770A4548C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2433" y="2349867"/>
            <a:ext cx="676275" cy="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" name="Line 229">
            <a:extLst>
              <a:ext uri="{FF2B5EF4-FFF2-40B4-BE49-F238E27FC236}">
                <a16:creationId xmlns:a16="http://schemas.microsoft.com/office/drawing/2014/main" id="{371FC37A-4759-F485-1B49-69555D90B1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9183" y="2349867"/>
            <a:ext cx="771525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9" name="Freeform 230">
            <a:extLst>
              <a:ext uri="{FF2B5EF4-FFF2-40B4-BE49-F238E27FC236}">
                <a16:creationId xmlns:a16="http://schemas.microsoft.com/office/drawing/2014/main" id="{5F1E68E5-5C0B-59E2-E308-CC4E8811099D}"/>
              </a:ext>
            </a:extLst>
          </p:cNvPr>
          <p:cNvSpPr>
            <a:spLocks/>
          </p:cNvSpPr>
          <p:nvPr/>
        </p:nvSpPr>
        <p:spPr bwMode="auto">
          <a:xfrm>
            <a:off x="2473608" y="1410067"/>
            <a:ext cx="1054100" cy="968375"/>
          </a:xfrm>
          <a:custGeom>
            <a:avLst/>
            <a:gdLst>
              <a:gd name="T0" fmla="*/ 0 w 664"/>
              <a:gd name="T1" fmla="*/ 2147483647 h 610"/>
              <a:gd name="T2" fmla="*/ 2147483647 w 664"/>
              <a:gd name="T3" fmla="*/ 2147483647 h 610"/>
              <a:gd name="T4" fmla="*/ 2147483647 w 664"/>
              <a:gd name="T5" fmla="*/ 2147483647 h 610"/>
              <a:gd name="T6" fmla="*/ 2147483647 w 664"/>
              <a:gd name="T7" fmla="*/ 2147483647 h 610"/>
              <a:gd name="T8" fmla="*/ 2147483647 w 664"/>
              <a:gd name="T9" fmla="*/ 2147483647 h 610"/>
              <a:gd name="T10" fmla="*/ 2147483647 w 664"/>
              <a:gd name="T11" fmla="*/ 2147483647 h 610"/>
              <a:gd name="T12" fmla="*/ 2147483647 w 664"/>
              <a:gd name="T13" fmla="*/ 0 h 610"/>
              <a:gd name="T14" fmla="*/ 0 w 664"/>
              <a:gd name="T15" fmla="*/ 0 h 610"/>
              <a:gd name="T16" fmla="*/ 0 w 664"/>
              <a:gd name="T17" fmla="*/ 2147483647 h 61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664"/>
              <a:gd name="T28" fmla="*/ 0 h 610"/>
              <a:gd name="T29" fmla="*/ 664 w 664"/>
              <a:gd name="T30" fmla="*/ 610 h 61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664" h="610">
                <a:moveTo>
                  <a:pt x="0" y="576"/>
                </a:moveTo>
                <a:lnTo>
                  <a:pt x="260" y="574"/>
                </a:lnTo>
                <a:lnTo>
                  <a:pt x="260" y="448"/>
                </a:lnTo>
                <a:lnTo>
                  <a:pt x="374" y="448"/>
                </a:lnTo>
                <a:cubicBezTo>
                  <a:pt x="363" y="610"/>
                  <a:pt x="338" y="553"/>
                  <a:pt x="386" y="574"/>
                </a:cubicBezTo>
                <a:lnTo>
                  <a:pt x="664" y="576"/>
                </a:lnTo>
                <a:lnTo>
                  <a:pt x="664" y="0"/>
                </a:lnTo>
                <a:lnTo>
                  <a:pt x="0" y="0"/>
                </a:lnTo>
                <a:lnTo>
                  <a:pt x="0" y="576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FFFFFF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" name="Text Box 231">
            <a:extLst>
              <a:ext uri="{FF2B5EF4-FFF2-40B4-BE49-F238E27FC236}">
                <a16:creationId xmlns:a16="http://schemas.microsoft.com/office/drawing/2014/main" id="{29E127C7-089F-09EB-C404-58788D2BE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508" y="1814879"/>
            <a:ext cx="401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solidFill>
                  <a:srgbClr val="990033"/>
                </a:solidFill>
              </a:rPr>
              <a:t>P</a:t>
            </a:r>
          </a:p>
        </p:txBody>
      </p:sp>
      <p:sp>
        <p:nvSpPr>
          <p:cNvPr id="81" name="Line 232">
            <a:extLst>
              <a:ext uri="{FF2B5EF4-FFF2-40B4-BE49-F238E27FC236}">
                <a16:creationId xmlns:a16="http://schemas.microsoft.com/office/drawing/2014/main" id="{AD5BFCAD-B6A2-64E2-3470-505F059F1B5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05208" y="2149842"/>
            <a:ext cx="152400" cy="17145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" name="Text Box 233">
            <a:extLst>
              <a:ext uri="{FF2B5EF4-FFF2-40B4-BE49-F238E27FC236}">
                <a16:creationId xmlns:a16="http://schemas.microsoft.com/office/drawing/2014/main" id="{A3033D1D-F747-DE72-ABAB-0D8AF4623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672" y="5085184"/>
            <a:ext cx="1415772" cy="90794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lang="en-US" altLang="zh-CN" sz="2400" b="1" i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 </a:t>
            </a:r>
            <a:r>
              <a:rPr lang="zh-CN" altLang="zh-CN" sz="2400" b="1" i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轴线</a:t>
            </a:r>
          </a:p>
          <a:p>
            <a:pPr algn="ctr" eaLnBrk="1" hangingPunct="1">
              <a:spcBef>
                <a:spcPts val="600"/>
              </a:spcBef>
              <a:buClrTx/>
              <a:buFontTx/>
              <a:buNone/>
            </a:pPr>
            <a:r>
              <a:rPr lang="zh-CN" altLang="zh-CN" sz="2400" i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rPr>
              <a:t>交线为圆</a:t>
            </a:r>
            <a:endParaRPr lang="zh-CN" altLang="en-US" sz="24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0C7D581F-8B0F-668D-116B-91D32A9789B4}"/>
              </a:ext>
            </a:extLst>
          </p:cNvPr>
          <p:cNvGrpSpPr/>
          <p:nvPr/>
        </p:nvGrpSpPr>
        <p:grpSpPr>
          <a:xfrm>
            <a:off x="4745331" y="1443405"/>
            <a:ext cx="2967037" cy="4468704"/>
            <a:chOff x="4745331" y="1443405"/>
            <a:chExt cx="2967037" cy="446870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23E2103-A4E0-841E-B213-ABC9B7B22F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54868" y="1443405"/>
              <a:ext cx="2857500" cy="3314700"/>
              <a:chOff x="576" y="696"/>
              <a:chExt cx="1800" cy="2088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B4064585-A43E-8386-48FA-33218CC18E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1800"/>
                <a:ext cx="968" cy="984"/>
                <a:chOff x="576" y="1800"/>
                <a:chExt cx="968" cy="984"/>
              </a:xfrm>
            </p:grpSpPr>
            <p:sp>
              <p:nvSpPr>
                <p:cNvPr id="16" name="Oval 4">
                  <a:extLst>
                    <a:ext uri="{FF2B5EF4-FFF2-40B4-BE49-F238E27FC236}">
                      <a16:creationId xmlns:a16="http://schemas.microsoft.com/office/drawing/2014/main" id="{5F419A7A-E153-CF08-45FF-FB3FD5AD25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2" y="1888"/>
                  <a:ext cx="800" cy="800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/>
                </a:p>
              </p:txBody>
            </p:sp>
            <p:sp>
              <p:nvSpPr>
                <p:cNvPr id="17" name="Line 5">
                  <a:extLst>
                    <a:ext uri="{FF2B5EF4-FFF2-40B4-BE49-F238E27FC236}">
                      <a16:creationId xmlns:a16="http://schemas.microsoft.com/office/drawing/2014/main" id="{2D2ACCC1-5F64-3E82-9FB9-A76AC294F2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288"/>
                  <a:ext cx="96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" name="Line 6">
                  <a:extLst>
                    <a:ext uri="{FF2B5EF4-FFF2-40B4-BE49-F238E27FC236}">
                      <a16:creationId xmlns:a16="http://schemas.microsoft.com/office/drawing/2014/main" id="{954C8E1F-1E1A-2646-9567-E37094B67A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64" y="1800"/>
                  <a:ext cx="0" cy="984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" name="Group 7">
                <a:extLst>
                  <a:ext uri="{FF2B5EF4-FFF2-40B4-BE49-F238E27FC236}">
                    <a16:creationId xmlns:a16="http://schemas.microsoft.com/office/drawing/2014/main" id="{7A08DBAF-7A2D-5E61-CFB8-F9A0E629AD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6" y="696"/>
                <a:ext cx="808" cy="1032"/>
                <a:chOff x="656" y="696"/>
                <a:chExt cx="808" cy="1032"/>
              </a:xfrm>
            </p:grpSpPr>
            <p:sp>
              <p:nvSpPr>
                <p:cNvPr id="12" name="Line 8">
                  <a:extLst>
                    <a:ext uri="{FF2B5EF4-FFF2-40B4-BE49-F238E27FC236}">
                      <a16:creationId xmlns:a16="http://schemas.microsoft.com/office/drawing/2014/main" id="{42EA3176-9836-6D7E-6E64-7BF014AA6F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064" y="696"/>
                  <a:ext cx="0" cy="103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" name="Line 9">
                  <a:extLst>
                    <a:ext uri="{FF2B5EF4-FFF2-40B4-BE49-F238E27FC236}">
                      <a16:creationId xmlns:a16="http://schemas.microsoft.com/office/drawing/2014/main" id="{C5BAE1F4-498E-4BF6-D972-493936FB37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6" y="1608"/>
                  <a:ext cx="808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" name="Line 10">
                  <a:extLst>
                    <a:ext uri="{FF2B5EF4-FFF2-40B4-BE49-F238E27FC236}">
                      <a16:creationId xmlns:a16="http://schemas.microsoft.com/office/drawing/2014/main" id="{1A86B580-9758-5B71-66B3-D86FF22CE2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64" y="784"/>
                  <a:ext cx="400" cy="82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" name="Line 11">
                  <a:extLst>
                    <a:ext uri="{FF2B5EF4-FFF2-40B4-BE49-F238E27FC236}">
                      <a16:creationId xmlns:a16="http://schemas.microsoft.com/office/drawing/2014/main" id="{EBCD548B-43A5-B842-FA98-02ED687A4F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56" y="792"/>
                  <a:ext cx="408" cy="81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" name="Group 12">
                <a:extLst>
                  <a:ext uri="{FF2B5EF4-FFF2-40B4-BE49-F238E27FC236}">
                    <a16:creationId xmlns:a16="http://schemas.microsoft.com/office/drawing/2014/main" id="{9C21D6D5-4BE9-46B8-CE80-2010D2714A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8" y="696"/>
                <a:ext cx="808" cy="1032"/>
                <a:chOff x="656" y="696"/>
                <a:chExt cx="808" cy="1032"/>
              </a:xfrm>
            </p:grpSpPr>
            <p:sp>
              <p:nvSpPr>
                <p:cNvPr id="7" name="Line 13">
                  <a:extLst>
                    <a:ext uri="{FF2B5EF4-FFF2-40B4-BE49-F238E27FC236}">
                      <a16:creationId xmlns:a16="http://schemas.microsoft.com/office/drawing/2014/main" id="{EEC9355D-F1E5-EB24-9B0F-C11C68E554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064" y="696"/>
                  <a:ext cx="0" cy="103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" name="Line 14">
                  <a:extLst>
                    <a:ext uri="{FF2B5EF4-FFF2-40B4-BE49-F238E27FC236}">
                      <a16:creationId xmlns:a16="http://schemas.microsoft.com/office/drawing/2014/main" id="{8C283143-85C2-171A-833D-573E813144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6" y="1608"/>
                  <a:ext cx="808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" name="Line 15">
                  <a:extLst>
                    <a:ext uri="{FF2B5EF4-FFF2-40B4-BE49-F238E27FC236}">
                      <a16:creationId xmlns:a16="http://schemas.microsoft.com/office/drawing/2014/main" id="{D74C9066-9112-3D5F-CE32-B6D6B0FC8A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64" y="784"/>
                  <a:ext cx="400" cy="82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" name="Line 16">
                  <a:extLst>
                    <a:ext uri="{FF2B5EF4-FFF2-40B4-BE49-F238E27FC236}">
                      <a16:creationId xmlns:a16="http://schemas.microsoft.com/office/drawing/2014/main" id="{C375A90A-F0D8-E3EC-E495-B68EA242DB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56" y="792"/>
                  <a:ext cx="408" cy="81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409CD2DA-EBC4-650F-F299-F85B1B0226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08893" y="1597392"/>
              <a:ext cx="333375" cy="129540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F5CB665-8879-18E5-46B2-CA89CC96E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9318" y="1568817"/>
              <a:ext cx="714375" cy="1419225"/>
            </a:xfrm>
            <a:custGeom>
              <a:avLst/>
              <a:gdLst>
                <a:gd name="T0" fmla="*/ 2147483647 w 450"/>
                <a:gd name="T1" fmla="*/ 0 h 894"/>
                <a:gd name="T2" fmla="*/ 2147483647 w 450"/>
                <a:gd name="T3" fmla="*/ 2147483647 h 894"/>
                <a:gd name="T4" fmla="*/ 0 w 450"/>
                <a:gd name="T5" fmla="*/ 2147483647 h 894"/>
                <a:gd name="T6" fmla="*/ 2147483647 w 450"/>
                <a:gd name="T7" fmla="*/ 2147483647 h 894"/>
                <a:gd name="T8" fmla="*/ 2147483647 w 450"/>
                <a:gd name="T9" fmla="*/ 0 h 8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0"/>
                <a:gd name="T16" fmla="*/ 0 h 894"/>
                <a:gd name="T17" fmla="*/ 450 w 450"/>
                <a:gd name="T18" fmla="*/ 894 h 8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50" h="894">
                  <a:moveTo>
                    <a:pt x="450" y="0"/>
                  </a:moveTo>
                  <a:lnTo>
                    <a:pt x="222" y="894"/>
                  </a:lnTo>
                  <a:lnTo>
                    <a:pt x="0" y="882"/>
                  </a:lnTo>
                  <a:lnTo>
                    <a:pt x="342" y="6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2E9337D2-DFA3-4D6B-4FFB-0C0DEC8663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9318" y="1738680"/>
              <a:ext cx="401638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 i="0">
                  <a:solidFill>
                    <a:srgbClr val="990033"/>
                  </a:solidFill>
                </a:rPr>
                <a:t>P</a:t>
              </a:r>
            </a:p>
          </p:txBody>
        </p:sp>
        <p:sp>
          <p:nvSpPr>
            <p:cNvPr id="22" name="Line 21">
              <a:extLst>
                <a:ext uri="{FF2B5EF4-FFF2-40B4-BE49-F238E27FC236}">
                  <a16:creationId xmlns:a16="http://schemas.microsoft.com/office/drawing/2014/main" id="{7128F455-A5B5-8CEE-7D3F-456461C035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75543" y="2073642"/>
              <a:ext cx="257175" cy="257175"/>
            </a:xfrm>
            <a:prstGeom prst="line">
              <a:avLst/>
            </a:prstGeom>
            <a:noFill/>
            <a:ln w="127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22">
              <a:extLst>
                <a:ext uri="{FF2B5EF4-FFF2-40B4-BE49-F238E27FC236}">
                  <a16:creationId xmlns:a16="http://schemas.microsoft.com/office/drawing/2014/main" id="{8FCA651A-64B7-B82B-EFF5-024F461A83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9368" y="2883267"/>
              <a:ext cx="0" cy="552450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23">
              <a:extLst>
                <a:ext uri="{FF2B5EF4-FFF2-40B4-BE49-F238E27FC236}">
                  <a16:creationId xmlns:a16="http://schemas.microsoft.com/office/drawing/2014/main" id="{BBA727E7-3CDF-E98F-2441-AF743220B9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9368" y="3426192"/>
              <a:ext cx="0" cy="1095375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A11A904-9296-4BFA-1B97-E1C761DEA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5331" y="3378567"/>
              <a:ext cx="514350" cy="1219200"/>
            </a:xfrm>
            <a:custGeom>
              <a:avLst/>
              <a:gdLst>
                <a:gd name="T0" fmla="*/ 2147483647 w 324"/>
                <a:gd name="T1" fmla="*/ 0 h 768"/>
                <a:gd name="T2" fmla="*/ 2147483647 w 324"/>
                <a:gd name="T3" fmla="*/ 2147483647 h 768"/>
                <a:gd name="T4" fmla="*/ 2147483647 w 324"/>
                <a:gd name="T5" fmla="*/ 2147483647 h 768"/>
                <a:gd name="T6" fmla="*/ 2147483647 w 324"/>
                <a:gd name="T7" fmla="*/ 2147483647 h 768"/>
                <a:gd name="T8" fmla="*/ 2147483647 w 324"/>
                <a:gd name="T9" fmla="*/ 2147483647 h 768"/>
                <a:gd name="T10" fmla="*/ 2147483647 w 324"/>
                <a:gd name="T11" fmla="*/ 2147483647 h 768"/>
                <a:gd name="T12" fmla="*/ 0 w 324"/>
                <a:gd name="T13" fmla="*/ 2147483647 h 768"/>
                <a:gd name="T14" fmla="*/ 0 w 324"/>
                <a:gd name="T15" fmla="*/ 2147483647 h 768"/>
                <a:gd name="T16" fmla="*/ 2147483647 w 324"/>
                <a:gd name="T17" fmla="*/ 0 h 76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24"/>
                <a:gd name="T28" fmla="*/ 0 h 768"/>
                <a:gd name="T29" fmla="*/ 324 w 324"/>
                <a:gd name="T30" fmla="*/ 768 h 76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24" h="768">
                  <a:moveTo>
                    <a:pt x="324" y="0"/>
                  </a:moveTo>
                  <a:lnTo>
                    <a:pt x="324" y="348"/>
                  </a:lnTo>
                  <a:lnTo>
                    <a:pt x="228" y="348"/>
                  </a:lnTo>
                  <a:lnTo>
                    <a:pt x="228" y="408"/>
                  </a:lnTo>
                  <a:lnTo>
                    <a:pt x="324" y="408"/>
                  </a:lnTo>
                  <a:lnTo>
                    <a:pt x="324" y="768"/>
                  </a:lnTo>
                  <a:lnTo>
                    <a:pt x="0" y="768"/>
                  </a:lnTo>
                  <a:lnTo>
                    <a:pt x="0" y="6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25">
              <a:extLst>
                <a:ext uri="{FF2B5EF4-FFF2-40B4-BE49-F238E27FC236}">
                  <a16:creationId xmlns:a16="http://schemas.microsoft.com/office/drawing/2014/main" id="{913C4ACB-AEF3-50D6-C1F2-E2A299E935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89843" y="3435717"/>
              <a:ext cx="342900" cy="53340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B408D64B-B5D1-DA01-B5A6-C89A241AAC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99368" y="3959592"/>
              <a:ext cx="333375" cy="57150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E4E7A8CB-130F-0548-16A3-A634ABE988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3168" y="3759567"/>
              <a:ext cx="152400" cy="28575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0785339C-DFD6-EFC3-6915-4DAEE55C13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04118" y="4169142"/>
              <a:ext cx="152400" cy="28575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CB860C3D-6CB7-425C-7E8A-1BADF09B0E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13843" y="2816592"/>
              <a:ext cx="47625" cy="142875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7E3EEAF1-2297-ADC9-2E36-47CDCA758F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99618" y="2816592"/>
              <a:ext cx="47625" cy="142875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2D2140B1-11BE-F881-C3B6-CBFF38BFB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6318" y="2835642"/>
              <a:ext cx="85725" cy="85725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D9CEC003-2C55-0F77-BB2D-3CD462D02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9993" y="2845167"/>
              <a:ext cx="85725" cy="85725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3C07CE1A-EAD6-0081-4381-7B4E50DEAC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28093" y="1587867"/>
              <a:ext cx="561975" cy="1304925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1F984857-E7ED-BDE3-B9FD-E717E747CB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80543" y="1606917"/>
              <a:ext cx="533400" cy="1266825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62797973-822C-B1EB-FC38-399C5FD14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7618" y="3394442"/>
              <a:ext cx="85725" cy="85725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38" name="Oval 36">
              <a:extLst>
                <a:ext uri="{FF2B5EF4-FFF2-40B4-BE49-F238E27FC236}">
                  <a16:creationId xmlns:a16="http://schemas.microsoft.com/office/drawing/2014/main" id="{709B4538-3D89-17D1-45EF-AABEA572D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2218" y="4461242"/>
              <a:ext cx="85725" cy="85725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39" name="Text Box 37">
              <a:extLst>
                <a:ext uri="{FF2B5EF4-FFF2-40B4-BE49-F238E27FC236}">
                  <a16:creationId xmlns:a16="http://schemas.microsoft.com/office/drawing/2014/main" id="{32E09853-2069-836D-A247-3E0E9A695C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9793" y="5004168"/>
              <a:ext cx="1723549" cy="9079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ts val="600"/>
                </a:spcBef>
                <a:buClrTx/>
                <a:buFontTx/>
                <a:buNone/>
              </a:pPr>
              <a:r>
                <a:rPr lang="en-US" altLang="zh-CN" sz="2400" b="1" i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 </a:t>
              </a:r>
              <a:r>
                <a:rPr lang="zh-CN" altLang="en-US" sz="2400" b="1" i="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过锥顶</a:t>
              </a:r>
              <a:endParaRPr lang="zh-CN" altLang="zh-CN" sz="2400" b="1" i="0" dirty="0">
                <a:latin typeface="微软雅黑" panose="020B0503020204020204" pitchFamily="34" charset="-122"/>
                <a:ea typeface="微软雅黑" panose="020B0503020204020204" pitchFamily="34" charset="-122"/>
                <a:sym typeface="Symbol" pitchFamily="18" charset="2"/>
              </a:endParaRPr>
            </a:p>
            <a:p>
              <a:pPr algn="ctr" eaLnBrk="1" hangingPunct="1">
                <a:spcBef>
                  <a:spcPts val="600"/>
                </a:spcBef>
                <a:buClrTx/>
                <a:buFontTx/>
                <a:buNone/>
              </a:pPr>
              <a:r>
                <a:rPr lang="zh-CN" altLang="zh-CN" sz="2400" i="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交线为直线</a:t>
              </a:r>
              <a:endParaRPr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7091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6F2B5-8647-FAB5-F00A-9B9391582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3B12A90D-5EFE-8669-C625-1E269A766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19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2936E5A5-7741-3A73-E009-886A6B99C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540083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平面与回转体相交（二）</a:t>
            </a:r>
          </a:p>
        </p:txBody>
      </p:sp>
      <p:grpSp>
        <p:nvGrpSpPr>
          <p:cNvPr id="83" name="Group 234">
            <a:extLst>
              <a:ext uri="{FF2B5EF4-FFF2-40B4-BE49-F238E27FC236}">
                <a16:creationId xmlns:a16="http://schemas.microsoft.com/office/drawing/2014/main" id="{4E667518-27C9-2758-8C18-AB4DCF5441BB}"/>
              </a:ext>
            </a:extLst>
          </p:cNvPr>
          <p:cNvGrpSpPr>
            <a:grpSpLocks/>
          </p:cNvGrpSpPr>
          <p:nvPr/>
        </p:nvGrpSpPr>
        <p:grpSpPr bwMode="auto">
          <a:xfrm>
            <a:off x="74238" y="1537742"/>
            <a:ext cx="2857500" cy="3314700"/>
            <a:chOff x="576" y="696"/>
            <a:chExt cx="1800" cy="2088"/>
          </a:xfrm>
        </p:grpSpPr>
        <p:grpSp>
          <p:nvGrpSpPr>
            <p:cNvPr id="84" name="Group 235">
              <a:extLst>
                <a:ext uri="{FF2B5EF4-FFF2-40B4-BE49-F238E27FC236}">
                  <a16:creationId xmlns:a16="http://schemas.microsoft.com/office/drawing/2014/main" id="{3B2E6839-647C-DDF4-39FD-5E758818F1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800"/>
              <a:ext cx="968" cy="984"/>
              <a:chOff x="576" y="1800"/>
              <a:chExt cx="968" cy="984"/>
            </a:xfrm>
          </p:grpSpPr>
          <p:sp>
            <p:nvSpPr>
              <p:cNvPr id="95" name="Oval 236">
                <a:extLst>
                  <a:ext uri="{FF2B5EF4-FFF2-40B4-BE49-F238E27FC236}">
                    <a16:creationId xmlns:a16="http://schemas.microsoft.com/office/drawing/2014/main" id="{6896F07C-7B79-0DDF-8222-0E2814F00D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2" y="1888"/>
                <a:ext cx="800" cy="800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  <p:sp>
            <p:nvSpPr>
              <p:cNvPr id="96" name="Line 237">
                <a:extLst>
                  <a:ext uri="{FF2B5EF4-FFF2-40B4-BE49-F238E27FC236}">
                    <a16:creationId xmlns:a16="http://schemas.microsoft.com/office/drawing/2014/main" id="{8AB08F58-E15E-DD9A-16DE-F89F02A9B3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2288"/>
                <a:ext cx="968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7" name="Line 238">
                <a:extLst>
                  <a:ext uri="{FF2B5EF4-FFF2-40B4-BE49-F238E27FC236}">
                    <a16:creationId xmlns:a16="http://schemas.microsoft.com/office/drawing/2014/main" id="{26878271-6B98-4E94-61BE-8CCCDD5E8C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64" y="1800"/>
                <a:ext cx="0" cy="9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5" name="Group 239">
              <a:extLst>
                <a:ext uri="{FF2B5EF4-FFF2-40B4-BE49-F238E27FC236}">
                  <a16:creationId xmlns:a16="http://schemas.microsoft.com/office/drawing/2014/main" id="{3E59003B-F54E-FEE3-7E3C-B9E3840D76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6" y="696"/>
              <a:ext cx="808" cy="1032"/>
              <a:chOff x="656" y="696"/>
              <a:chExt cx="808" cy="1032"/>
            </a:xfrm>
          </p:grpSpPr>
          <p:sp>
            <p:nvSpPr>
              <p:cNvPr id="91" name="Line 240">
                <a:extLst>
                  <a:ext uri="{FF2B5EF4-FFF2-40B4-BE49-F238E27FC236}">
                    <a16:creationId xmlns:a16="http://schemas.microsoft.com/office/drawing/2014/main" id="{7A585014-A023-814A-9F40-94A5B52F3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4" y="696"/>
                <a:ext cx="0" cy="10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2" name="Line 241">
                <a:extLst>
                  <a:ext uri="{FF2B5EF4-FFF2-40B4-BE49-F238E27FC236}">
                    <a16:creationId xmlns:a16="http://schemas.microsoft.com/office/drawing/2014/main" id="{554EB7BF-8E2B-AC14-21A8-1810632047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6" y="1608"/>
                <a:ext cx="80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3" name="Line 242">
                <a:extLst>
                  <a:ext uri="{FF2B5EF4-FFF2-40B4-BE49-F238E27FC236}">
                    <a16:creationId xmlns:a16="http://schemas.microsoft.com/office/drawing/2014/main" id="{CCD3E220-EF47-3DA6-5DDF-4070B73DD6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4" y="784"/>
                <a:ext cx="400" cy="8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4" name="Line 243">
                <a:extLst>
                  <a:ext uri="{FF2B5EF4-FFF2-40B4-BE49-F238E27FC236}">
                    <a16:creationId xmlns:a16="http://schemas.microsoft.com/office/drawing/2014/main" id="{648663B7-9BB7-CB05-52D2-408850A1AB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56" y="792"/>
                <a:ext cx="408" cy="8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86" name="Group 244">
              <a:extLst>
                <a:ext uri="{FF2B5EF4-FFF2-40B4-BE49-F238E27FC236}">
                  <a16:creationId xmlns:a16="http://schemas.microsoft.com/office/drawing/2014/main" id="{76C511B7-704B-8437-EF79-A014A659A9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8" y="696"/>
              <a:ext cx="808" cy="1032"/>
              <a:chOff x="656" y="696"/>
              <a:chExt cx="808" cy="1032"/>
            </a:xfrm>
          </p:grpSpPr>
          <p:sp>
            <p:nvSpPr>
              <p:cNvPr id="87" name="Line 245">
                <a:extLst>
                  <a:ext uri="{FF2B5EF4-FFF2-40B4-BE49-F238E27FC236}">
                    <a16:creationId xmlns:a16="http://schemas.microsoft.com/office/drawing/2014/main" id="{2881E0A3-011B-25D4-66FA-5046764083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64" y="696"/>
                <a:ext cx="0" cy="10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8" name="Line 246">
                <a:extLst>
                  <a:ext uri="{FF2B5EF4-FFF2-40B4-BE49-F238E27FC236}">
                    <a16:creationId xmlns:a16="http://schemas.microsoft.com/office/drawing/2014/main" id="{F38CD175-3C8E-A487-B426-B34E45FE93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6" y="1608"/>
                <a:ext cx="80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9" name="Line 247">
                <a:extLst>
                  <a:ext uri="{FF2B5EF4-FFF2-40B4-BE49-F238E27FC236}">
                    <a16:creationId xmlns:a16="http://schemas.microsoft.com/office/drawing/2014/main" id="{D9957BE0-81CF-1804-ACC9-8562AECD4F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064" y="784"/>
                <a:ext cx="400" cy="82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90" name="Line 248">
                <a:extLst>
                  <a:ext uri="{FF2B5EF4-FFF2-40B4-BE49-F238E27FC236}">
                    <a16:creationId xmlns:a16="http://schemas.microsoft.com/office/drawing/2014/main" id="{0E131460-81DF-EF7B-73B7-FA01248B91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56" y="792"/>
                <a:ext cx="408" cy="81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98" name="Line 249">
            <a:extLst>
              <a:ext uri="{FF2B5EF4-FFF2-40B4-BE49-F238E27FC236}">
                <a16:creationId xmlns:a16="http://schemas.microsoft.com/office/drawing/2014/main" id="{4CE6F8F7-86A3-C2D5-1E03-E2AA6A1C394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9663" y="1674267"/>
            <a:ext cx="558800" cy="113030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9" name="Line 250">
            <a:extLst>
              <a:ext uri="{FF2B5EF4-FFF2-40B4-BE49-F238E27FC236}">
                <a16:creationId xmlns:a16="http://schemas.microsoft.com/office/drawing/2014/main" id="{2D82E85E-9EA1-AF0E-08B4-47CEBEF0763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6875" y="1659979"/>
            <a:ext cx="163513" cy="39370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0" name="Line 251">
            <a:extLst>
              <a:ext uri="{FF2B5EF4-FFF2-40B4-BE49-F238E27FC236}">
                <a16:creationId xmlns:a16="http://schemas.microsoft.com/office/drawing/2014/main" id="{12705A71-5E31-E873-51B8-D9AA10B9BAD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6875" y="1637754"/>
            <a:ext cx="168275" cy="398463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1" name="Line 252">
            <a:extLst>
              <a:ext uri="{FF2B5EF4-FFF2-40B4-BE49-F238E27FC236}">
                <a16:creationId xmlns:a16="http://schemas.microsoft.com/office/drawing/2014/main" id="{9F57C875-0FA7-4052-E2EC-4A5EE76BF3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2838" y="1648867"/>
            <a:ext cx="539750" cy="11303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2" name="Line 253">
            <a:extLst>
              <a:ext uri="{FF2B5EF4-FFF2-40B4-BE49-F238E27FC236}">
                <a16:creationId xmlns:a16="http://schemas.microsoft.com/office/drawing/2014/main" id="{FCD35842-DED9-29A8-9F24-C4BA733B4E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1088" y="2082254"/>
            <a:ext cx="765175" cy="765175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3" name="Text Box 254">
            <a:extLst>
              <a:ext uri="{FF2B5EF4-FFF2-40B4-BE49-F238E27FC236}">
                <a16:creationId xmlns:a16="http://schemas.microsoft.com/office/drawing/2014/main" id="{6A9B651E-73FC-2632-88C7-A827B891B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438" y="2290217"/>
            <a:ext cx="376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0">
                <a:solidFill>
                  <a:srgbClr val="A50021"/>
                </a:solidFill>
                <a:sym typeface="Symbol" pitchFamily="18" charset="2"/>
              </a:rPr>
              <a:t></a:t>
            </a:r>
            <a:endParaRPr lang="en-US" altLang="zh-CN" sz="2400" b="1" i="0">
              <a:solidFill>
                <a:srgbClr val="A50021"/>
              </a:solidFill>
            </a:endParaRPr>
          </a:p>
        </p:txBody>
      </p:sp>
      <p:sp>
        <p:nvSpPr>
          <p:cNvPr id="104" name="Arc 255">
            <a:extLst>
              <a:ext uri="{FF2B5EF4-FFF2-40B4-BE49-F238E27FC236}">
                <a16:creationId xmlns:a16="http://schemas.microsoft.com/office/drawing/2014/main" id="{0EF6BBDB-729C-C751-2718-303A7CA3214A}"/>
              </a:ext>
            </a:extLst>
          </p:cNvPr>
          <p:cNvSpPr>
            <a:spLocks/>
          </p:cNvSpPr>
          <p:nvPr/>
        </p:nvSpPr>
        <p:spPr bwMode="auto">
          <a:xfrm rot="2930715" flipV="1">
            <a:off x="581444" y="2522785"/>
            <a:ext cx="300038" cy="200025"/>
          </a:xfrm>
          <a:custGeom>
            <a:avLst/>
            <a:gdLst>
              <a:gd name="T0" fmla="*/ 0 w 20640"/>
              <a:gd name="T1" fmla="*/ 0 h 21600"/>
              <a:gd name="T2" fmla="*/ 2147483647 w 20640"/>
              <a:gd name="T3" fmla="*/ 1037314833 h 21600"/>
              <a:gd name="T4" fmla="*/ 0 w 20640"/>
              <a:gd name="T5" fmla="*/ 1470978877 h 21600"/>
              <a:gd name="T6" fmla="*/ 0 60000 65536"/>
              <a:gd name="T7" fmla="*/ 0 60000 65536"/>
              <a:gd name="T8" fmla="*/ 0 60000 65536"/>
              <a:gd name="T9" fmla="*/ 0 w 20640"/>
              <a:gd name="T10" fmla="*/ 0 h 21600"/>
              <a:gd name="T11" fmla="*/ 20640 w 2064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640" h="21600" fill="none" extrusionOk="0">
                <a:moveTo>
                  <a:pt x="-1" y="0"/>
                </a:moveTo>
                <a:cubicBezTo>
                  <a:pt x="9476" y="0"/>
                  <a:pt x="17846" y="6176"/>
                  <a:pt x="20639" y="15232"/>
                </a:cubicBezTo>
              </a:path>
              <a:path w="20640" h="21600" stroke="0" extrusionOk="0">
                <a:moveTo>
                  <a:pt x="-1" y="0"/>
                </a:moveTo>
                <a:cubicBezTo>
                  <a:pt x="9476" y="0"/>
                  <a:pt x="17846" y="6176"/>
                  <a:pt x="20639" y="15232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5" name="Text Box 256">
            <a:extLst>
              <a:ext uri="{FF2B5EF4-FFF2-40B4-BE49-F238E27FC236}">
                <a16:creationId xmlns:a16="http://schemas.microsoft.com/office/drawing/2014/main" id="{606634FA-476F-7123-77FF-4D8277E5C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000" y="1813967"/>
            <a:ext cx="34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0">
                <a:solidFill>
                  <a:srgbClr val="A50021"/>
                </a:solidFill>
                <a:sym typeface="Symbol" pitchFamily="18" charset="2"/>
              </a:rPr>
              <a:t></a:t>
            </a:r>
            <a:endParaRPr lang="en-US" altLang="zh-CN" sz="2400" b="1" i="0">
              <a:solidFill>
                <a:srgbClr val="A50021"/>
              </a:solidFill>
            </a:endParaRPr>
          </a:p>
        </p:txBody>
      </p:sp>
      <p:sp>
        <p:nvSpPr>
          <p:cNvPr id="106" name="Arc 257">
            <a:extLst>
              <a:ext uri="{FF2B5EF4-FFF2-40B4-BE49-F238E27FC236}">
                <a16:creationId xmlns:a16="http://schemas.microsoft.com/office/drawing/2014/main" id="{FD7DD3DB-5786-D448-107E-0C7729411937}"/>
              </a:ext>
            </a:extLst>
          </p:cNvPr>
          <p:cNvSpPr>
            <a:spLocks/>
          </p:cNvSpPr>
          <p:nvPr/>
        </p:nvSpPr>
        <p:spPr bwMode="auto">
          <a:xfrm rot="2234214" flipV="1">
            <a:off x="636213" y="2023517"/>
            <a:ext cx="250825" cy="200025"/>
          </a:xfrm>
          <a:custGeom>
            <a:avLst/>
            <a:gdLst>
              <a:gd name="T0" fmla="*/ 0 w 17241"/>
              <a:gd name="T1" fmla="*/ 0 h 21600"/>
              <a:gd name="T2" fmla="*/ 2147483647 w 17241"/>
              <a:gd name="T3" fmla="*/ 584846541 h 21600"/>
              <a:gd name="T4" fmla="*/ 0 w 17241"/>
              <a:gd name="T5" fmla="*/ 1470978877 h 21600"/>
              <a:gd name="T6" fmla="*/ 0 60000 65536"/>
              <a:gd name="T7" fmla="*/ 0 60000 65536"/>
              <a:gd name="T8" fmla="*/ 0 60000 65536"/>
              <a:gd name="T9" fmla="*/ 0 w 17241"/>
              <a:gd name="T10" fmla="*/ 0 h 21600"/>
              <a:gd name="T11" fmla="*/ 17241 w 1724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241" h="21600" fill="none" extrusionOk="0">
                <a:moveTo>
                  <a:pt x="-1" y="0"/>
                </a:moveTo>
                <a:cubicBezTo>
                  <a:pt x="6775" y="0"/>
                  <a:pt x="13159" y="3179"/>
                  <a:pt x="17240" y="8588"/>
                </a:cubicBezTo>
              </a:path>
              <a:path w="17241" h="21600" stroke="0" extrusionOk="0">
                <a:moveTo>
                  <a:pt x="-1" y="0"/>
                </a:moveTo>
                <a:cubicBezTo>
                  <a:pt x="6775" y="0"/>
                  <a:pt x="13159" y="3179"/>
                  <a:pt x="17240" y="8588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7" name="Line 258">
            <a:extLst>
              <a:ext uri="{FF2B5EF4-FFF2-40B4-BE49-F238E27FC236}">
                <a16:creationId xmlns:a16="http://schemas.microsoft.com/office/drawing/2014/main" id="{2679ADC4-0887-1A64-0F8C-2B214AFB87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200" y="2080667"/>
            <a:ext cx="0" cy="198120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8" name="Line 259">
            <a:extLst>
              <a:ext uri="{FF2B5EF4-FFF2-40B4-BE49-F238E27FC236}">
                <a16:creationId xmlns:a16="http://schemas.microsoft.com/office/drawing/2014/main" id="{59C193A4-FA86-DBFC-6D72-6DA4DA40368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200" y="2833142"/>
            <a:ext cx="0" cy="1228725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09" name="Oval 260">
            <a:extLst>
              <a:ext uri="{FF2B5EF4-FFF2-40B4-BE49-F238E27FC236}">
                <a16:creationId xmlns:a16="http://schemas.microsoft.com/office/drawing/2014/main" id="{C06B8B50-922D-B1F8-B99E-44D445A4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250" y="3718967"/>
            <a:ext cx="742950" cy="676275"/>
          </a:xfrm>
          <a:prstGeom prst="ellipse">
            <a:avLst/>
          </a:prstGeom>
          <a:solidFill>
            <a:srgbClr val="FFFFCC">
              <a:alpha val="50195"/>
            </a:srgbClr>
          </a:solidFill>
          <a:ln w="38100">
            <a:solidFill>
              <a:srgbClr val="A5002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10" name="Line 261">
            <a:extLst>
              <a:ext uri="{FF2B5EF4-FFF2-40B4-BE49-F238E27FC236}">
                <a16:creationId xmlns:a16="http://schemas.microsoft.com/office/drawing/2014/main" id="{50225230-B6AC-DE2E-A70A-B473B394479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150" y="2842667"/>
            <a:ext cx="2019300" cy="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1" name="Line 262">
            <a:extLst>
              <a:ext uri="{FF2B5EF4-FFF2-40B4-BE49-F238E27FC236}">
                <a16:creationId xmlns:a16="http://schemas.microsoft.com/office/drawing/2014/main" id="{9D17F0D8-A2F1-EB21-A2C5-1140DD52149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4650" y="2280692"/>
            <a:ext cx="1752600" cy="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2" name="Line 263">
            <a:extLst>
              <a:ext uri="{FF2B5EF4-FFF2-40B4-BE49-F238E27FC236}">
                <a16:creationId xmlns:a16="http://schemas.microsoft.com/office/drawing/2014/main" id="{AB46E5FC-6777-F551-3518-29900D90B49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12575" y="1666329"/>
            <a:ext cx="301625" cy="604838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3" name="Line 264">
            <a:extLst>
              <a:ext uri="{FF2B5EF4-FFF2-40B4-BE49-F238E27FC236}">
                <a16:creationId xmlns:a16="http://schemas.microsoft.com/office/drawing/2014/main" id="{7D2FBC40-8C94-7A85-BADC-4D677BE1BB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6738" y="1685379"/>
            <a:ext cx="290512" cy="595313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4" name="Oval 265">
            <a:extLst>
              <a:ext uri="{FF2B5EF4-FFF2-40B4-BE49-F238E27FC236}">
                <a16:creationId xmlns:a16="http://schemas.microsoft.com/office/drawing/2014/main" id="{1FF9E021-D263-5103-B7AB-16D7C9411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9075" y="2090192"/>
            <a:ext cx="685800" cy="742950"/>
          </a:xfrm>
          <a:prstGeom prst="ellipse">
            <a:avLst/>
          </a:prstGeom>
          <a:solidFill>
            <a:srgbClr val="FFFFCC">
              <a:alpha val="50195"/>
            </a:srgbClr>
          </a:solidFill>
          <a:ln w="38100">
            <a:solidFill>
              <a:srgbClr val="A50021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15" name="Line 266">
            <a:extLst>
              <a:ext uri="{FF2B5EF4-FFF2-40B4-BE49-F238E27FC236}">
                <a16:creationId xmlns:a16="http://schemas.microsoft.com/office/drawing/2014/main" id="{380823E0-0516-F723-3EAB-926163FC65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3725" y="2080667"/>
            <a:ext cx="1228725" cy="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16" name="Text Box 267">
            <a:extLst>
              <a:ext uri="{FF2B5EF4-FFF2-40B4-BE49-F238E27FC236}">
                <a16:creationId xmlns:a16="http://schemas.microsoft.com/office/drawing/2014/main" id="{6B457E63-2C63-59F3-1DC5-AE3C4F330F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25" y="1850479"/>
            <a:ext cx="401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i="0">
                <a:solidFill>
                  <a:srgbClr val="990033"/>
                </a:solidFill>
              </a:rPr>
              <a:t>P</a:t>
            </a:r>
          </a:p>
        </p:txBody>
      </p:sp>
      <p:sp>
        <p:nvSpPr>
          <p:cNvPr id="117" name="Line 268">
            <a:extLst>
              <a:ext uri="{FF2B5EF4-FFF2-40B4-BE49-F238E27FC236}">
                <a16:creationId xmlns:a16="http://schemas.microsoft.com/office/drawing/2014/main" id="{8E5AD4E7-7DF0-0A63-885C-867390E74A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975" y="2185442"/>
            <a:ext cx="304800" cy="22860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198" name="组合 197">
            <a:extLst>
              <a:ext uri="{FF2B5EF4-FFF2-40B4-BE49-F238E27FC236}">
                <a16:creationId xmlns:a16="http://schemas.microsoft.com/office/drawing/2014/main" id="{9FB391D8-D294-D747-E53D-AA7841891ABD}"/>
              </a:ext>
            </a:extLst>
          </p:cNvPr>
          <p:cNvGrpSpPr/>
          <p:nvPr/>
        </p:nvGrpSpPr>
        <p:grpSpPr>
          <a:xfrm>
            <a:off x="587520" y="5182697"/>
            <a:ext cx="2047355" cy="907941"/>
            <a:chOff x="764267" y="5182697"/>
            <a:chExt cx="2047355" cy="907941"/>
          </a:xfrm>
        </p:grpSpPr>
        <p:sp>
          <p:nvSpPr>
            <p:cNvPr id="118" name="Text Box 269">
              <a:extLst>
                <a:ext uri="{FF2B5EF4-FFF2-40B4-BE49-F238E27FC236}">
                  <a16:creationId xmlns:a16="http://schemas.microsoft.com/office/drawing/2014/main" id="{59F0CDF8-D19F-7DC5-6CBC-E4277A20DE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267" y="5182697"/>
              <a:ext cx="2047355" cy="90794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    </a:t>
              </a:r>
              <a:r>
                <a:rPr lang="zh-CN" altLang="zh-CN" sz="2400" b="1" i="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轴线 </a:t>
              </a:r>
              <a:r>
                <a:rPr lang="zh-CN" altLang="zh-CN" sz="2400" i="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</a:t>
              </a:r>
              <a:r>
                <a:rPr lang="en-US" altLang="zh-CN" sz="2400" i="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&gt;</a:t>
              </a:r>
              <a:r>
                <a:rPr lang="zh-CN" altLang="zh-CN" sz="2400" i="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</a:t>
              </a:r>
            </a:p>
            <a:p>
              <a:pPr algn="ctr" eaLnBrk="1" hangingPunct="1">
                <a:spcBef>
                  <a:spcPts val="600"/>
                </a:spcBef>
                <a:buClrTx/>
                <a:buFontTx/>
                <a:buNone/>
              </a:pPr>
              <a:r>
                <a:rPr lang="zh-CN" altLang="zh-CN" sz="2400" i="0" dirty="0">
                  <a:latin typeface="微软雅黑" panose="020B0503020204020204" pitchFamily="34" charset="-122"/>
                  <a:ea typeface="微软雅黑" panose="020B0503020204020204" pitchFamily="34" charset="-122"/>
                  <a:sym typeface="Symbol" pitchFamily="18" charset="2"/>
                </a:rPr>
                <a:t>交线为椭圆</a:t>
              </a:r>
              <a:endParaRPr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9" name="Group 270">
              <a:extLst>
                <a:ext uri="{FF2B5EF4-FFF2-40B4-BE49-F238E27FC236}">
                  <a16:creationId xmlns:a16="http://schemas.microsoft.com/office/drawing/2014/main" id="{F432BA1C-FBD1-7991-1B45-247C7A79F6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62467" y="5301208"/>
              <a:ext cx="265112" cy="217487"/>
              <a:chOff x="5026" y="3694"/>
              <a:chExt cx="248" cy="208"/>
            </a:xfrm>
          </p:grpSpPr>
          <p:sp>
            <p:nvSpPr>
              <p:cNvPr id="120" name="Line 271">
                <a:extLst>
                  <a:ext uri="{FF2B5EF4-FFF2-40B4-BE49-F238E27FC236}">
                    <a16:creationId xmlns:a16="http://schemas.microsoft.com/office/drawing/2014/main" id="{F3910ABB-2BB9-29CC-B27D-ED053E7CD6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134" y="3694"/>
                <a:ext cx="116" cy="20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1" name="Line 272">
                <a:extLst>
                  <a:ext uri="{FF2B5EF4-FFF2-40B4-BE49-F238E27FC236}">
                    <a16:creationId xmlns:a16="http://schemas.microsoft.com/office/drawing/2014/main" id="{9015D8A3-3C99-3CC3-8F12-C0C017AEB0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6" y="3902"/>
                <a:ext cx="24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22" name="Oval 274">
            <a:extLst>
              <a:ext uri="{FF2B5EF4-FFF2-40B4-BE49-F238E27FC236}">
                <a16:creationId xmlns:a16="http://schemas.microsoft.com/office/drawing/2014/main" id="{90ABB4E8-D258-CE6D-2419-8876BA453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050" y="2013992"/>
            <a:ext cx="104775" cy="1047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23" name="Oval 275">
            <a:extLst>
              <a:ext uri="{FF2B5EF4-FFF2-40B4-BE49-F238E27FC236}">
                <a16:creationId xmlns:a16="http://schemas.microsoft.com/office/drawing/2014/main" id="{507C25FB-0D54-4FE4-DB80-97D09165D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050" y="4014242"/>
            <a:ext cx="104775" cy="1047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24" name="Oval 276">
            <a:extLst>
              <a:ext uri="{FF2B5EF4-FFF2-40B4-BE49-F238E27FC236}">
                <a16:creationId xmlns:a16="http://schemas.microsoft.com/office/drawing/2014/main" id="{24D64FAD-EDC2-F30B-D02D-81B7D67A88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25" y="2785517"/>
            <a:ext cx="104775" cy="1047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25" name="Oval 277">
            <a:extLst>
              <a:ext uri="{FF2B5EF4-FFF2-40B4-BE49-F238E27FC236}">
                <a16:creationId xmlns:a16="http://schemas.microsoft.com/office/drawing/2014/main" id="{120A9560-6A29-69F9-076E-5FEC48E83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575" y="4004717"/>
            <a:ext cx="104775" cy="1047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26" name="Oval 278">
            <a:extLst>
              <a:ext uri="{FF2B5EF4-FFF2-40B4-BE49-F238E27FC236}">
                <a16:creationId xmlns:a16="http://schemas.microsoft.com/office/drawing/2014/main" id="{ECC63944-6CCA-2FCE-1925-65F90E244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350" y="2033042"/>
            <a:ext cx="104775" cy="1047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27" name="Oval 279">
            <a:extLst>
              <a:ext uri="{FF2B5EF4-FFF2-40B4-BE49-F238E27FC236}">
                <a16:creationId xmlns:a16="http://schemas.microsoft.com/office/drawing/2014/main" id="{C1AF9C03-2502-361D-D3B5-738607931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025" y="2233067"/>
            <a:ext cx="104775" cy="1047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28" name="Oval 280">
            <a:extLst>
              <a:ext uri="{FF2B5EF4-FFF2-40B4-BE49-F238E27FC236}">
                <a16:creationId xmlns:a16="http://schemas.microsoft.com/office/drawing/2014/main" id="{55351813-FB27-2579-67B8-16B894E6F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9625" y="2233067"/>
            <a:ext cx="104775" cy="1047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29" name="Oval 281">
            <a:extLst>
              <a:ext uri="{FF2B5EF4-FFF2-40B4-BE49-F238E27FC236}">
                <a16:creationId xmlns:a16="http://schemas.microsoft.com/office/drawing/2014/main" id="{053C899B-8398-875F-7E50-E3E74317A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9550" y="2233067"/>
            <a:ext cx="104775" cy="1047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0" name="Oval 282">
            <a:extLst>
              <a:ext uri="{FF2B5EF4-FFF2-40B4-BE49-F238E27FC236}">
                <a16:creationId xmlns:a16="http://schemas.microsoft.com/office/drawing/2014/main" id="{069008EC-DE67-D65D-2F6E-048975F5C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4825" y="2785517"/>
            <a:ext cx="104775" cy="1047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1" name="Line 283">
            <a:extLst>
              <a:ext uri="{FF2B5EF4-FFF2-40B4-BE49-F238E27FC236}">
                <a16:creationId xmlns:a16="http://schemas.microsoft.com/office/drawing/2014/main" id="{1470741B-B648-C8A9-9C35-62FB9BAEEA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725" y="3642767"/>
            <a:ext cx="0" cy="909637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2" name="Line 284">
            <a:extLst>
              <a:ext uri="{FF2B5EF4-FFF2-40B4-BE49-F238E27FC236}">
                <a16:creationId xmlns:a16="http://schemas.microsoft.com/office/drawing/2014/main" id="{2E2299AD-0A37-E377-87A6-9680314987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5725" y="2452142"/>
            <a:ext cx="981075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D5A8684D-6E52-00D3-D1C1-40D90D32D2A0}"/>
              </a:ext>
            </a:extLst>
          </p:cNvPr>
          <p:cNvGrpSpPr/>
          <p:nvPr/>
        </p:nvGrpSpPr>
        <p:grpSpPr>
          <a:xfrm>
            <a:off x="2997519" y="1585367"/>
            <a:ext cx="2914650" cy="4505271"/>
            <a:chOff x="2997519" y="1585367"/>
            <a:chExt cx="2914650" cy="4505271"/>
          </a:xfrm>
        </p:grpSpPr>
        <p:grpSp>
          <p:nvGrpSpPr>
            <p:cNvPr id="3" name="Group 78">
              <a:extLst>
                <a:ext uri="{FF2B5EF4-FFF2-40B4-BE49-F238E27FC236}">
                  <a16:creationId xmlns:a16="http://schemas.microsoft.com/office/drawing/2014/main" id="{A2AC5EBD-5287-BDCF-7A33-5E68D48A89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4669" y="1585367"/>
              <a:ext cx="2857500" cy="3314700"/>
              <a:chOff x="576" y="696"/>
              <a:chExt cx="1800" cy="2088"/>
            </a:xfrm>
          </p:grpSpPr>
          <p:grpSp>
            <p:nvGrpSpPr>
              <p:cNvPr id="4" name="Group 79">
                <a:extLst>
                  <a:ext uri="{FF2B5EF4-FFF2-40B4-BE49-F238E27FC236}">
                    <a16:creationId xmlns:a16="http://schemas.microsoft.com/office/drawing/2014/main" id="{1563787A-CD05-CBBC-51A5-E3033079C0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1800"/>
                <a:ext cx="968" cy="984"/>
                <a:chOff x="576" y="1800"/>
                <a:chExt cx="968" cy="984"/>
              </a:xfrm>
            </p:grpSpPr>
            <p:sp>
              <p:nvSpPr>
                <p:cNvPr id="16" name="Oval 80">
                  <a:extLst>
                    <a:ext uri="{FF2B5EF4-FFF2-40B4-BE49-F238E27FC236}">
                      <a16:creationId xmlns:a16="http://schemas.microsoft.com/office/drawing/2014/main" id="{0CE28843-A9BD-C975-200C-1A87F59B94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2" y="1888"/>
                  <a:ext cx="800" cy="800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/>
                </a:p>
              </p:txBody>
            </p:sp>
            <p:sp>
              <p:nvSpPr>
                <p:cNvPr id="17" name="Line 81">
                  <a:extLst>
                    <a:ext uri="{FF2B5EF4-FFF2-40B4-BE49-F238E27FC236}">
                      <a16:creationId xmlns:a16="http://schemas.microsoft.com/office/drawing/2014/main" id="{5273DE4E-644E-0401-B828-5308537F4B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288"/>
                  <a:ext cx="96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" name="Line 82">
                  <a:extLst>
                    <a:ext uri="{FF2B5EF4-FFF2-40B4-BE49-F238E27FC236}">
                      <a16:creationId xmlns:a16="http://schemas.microsoft.com/office/drawing/2014/main" id="{1308F6C9-F40B-7F50-4AB1-60516D7A74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64" y="1800"/>
                  <a:ext cx="0" cy="984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" name="Group 83">
                <a:extLst>
                  <a:ext uri="{FF2B5EF4-FFF2-40B4-BE49-F238E27FC236}">
                    <a16:creationId xmlns:a16="http://schemas.microsoft.com/office/drawing/2014/main" id="{F324F05C-E4E6-0B68-1FC8-B305E610A7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6" y="696"/>
                <a:ext cx="808" cy="1032"/>
                <a:chOff x="656" y="696"/>
                <a:chExt cx="808" cy="1032"/>
              </a:xfrm>
            </p:grpSpPr>
            <p:sp>
              <p:nvSpPr>
                <p:cNvPr id="12" name="Line 84">
                  <a:extLst>
                    <a:ext uri="{FF2B5EF4-FFF2-40B4-BE49-F238E27FC236}">
                      <a16:creationId xmlns:a16="http://schemas.microsoft.com/office/drawing/2014/main" id="{51674B94-AFEB-4DC1-F026-996BD9C039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064" y="696"/>
                  <a:ext cx="0" cy="103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" name="Line 85">
                  <a:extLst>
                    <a:ext uri="{FF2B5EF4-FFF2-40B4-BE49-F238E27FC236}">
                      <a16:creationId xmlns:a16="http://schemas.microsoft.com/office/drawing/2014/main" id="{24A20451-15A4-0717-355C-4C03A70957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6" y="1608"/>
                  <a:ext cx="808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" name="Line 86">
                  <a:extLst>
                    <a:ext uri="{FF2B5EF4-FFF2-40B4-BE49-F238E27FC236}">
                      <a16:creationId xmlns:a16="http://schemas.microsoft.com/office/drawing/2014/main" id="{6C4D3053-839A-54D9-E4FF-65F173B68B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64" y="784"/>
                  <a:ext cx="400" cy="82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" name="Line 87">
                  <a:extLst>
                    <a:ext uri="{FF2B5EF4-FFF2-40B4-BE49-F238E27FC236}">
                      <a16:creationId xmlns:a16="http://schemas.microsoft.com/office/drawing/2014/main" id="{D923F1E0-C050-D436-804E-7FBB9659A5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56" y="792"/>
                  <a:ext cx="408" cy="81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" name="Group 88">
                <a:extLst>
                  <a:ext uri="{FF2B5EF4-FFF2-40B4-BE49-F238E27FC236}">
                    <a16:creationId xmlns:a16="http://schemas.microsoft.com/office/drawing/2014/main" id="{EC3CCB13-8390-54FF-2BEF-2C47687481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8" y="696"/>
                <a:ext cx="808" cy="1032"/>
                <a:chOff x="656" y="696"/>
                <a:chExt cx="808" cy="1032"/>
              </a:xfrm>
            </p:grpSpPr>
            <p:sp>
              <p:nvSpPr>
                <p:cNvPr id="7" name="Line 89">
                  <a:extLst>
                    <a:ext uri="{FF2B5EF4-FFF2-40B4-BE49-F238E27FC236}">
                      <a16:creationId xmlns:a16="http://schemas.microsoft.com/office/drawing/2014/main" id="{921F7793-DC33-5D5B-1DCD-B8D2F91401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064" y="696"/>
                  <a:ext cx="0" cy="103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" name="Line 90">
                  <a:extLst>
                    <a:ext uri="{FF2B5EF4-FFF2-40B4-BE49-F238E27FC236}">
                      <a16:creationId xmlns:a16="http://schemas.microsoft.com/office/drawing/2014/main" id="{96BD34EA-7F05-8773-11EC-4197C4DBB9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6" y="1608"/>
                  <a:ext cx="808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" name="Line 91">
                  <a:extLst>
                    <a:ext uri="{FF2B5EF4-FFF2-40B4-BE49-F238E27FC236}">
                      <a16:creationId xmlns:a16="http://schemas.microsoft.com/office/drawing/2014/main" id="{218508B7-B594-EA42-042F-5C76568248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64" y="784"/>
                  <a:ext cx="400" cy="82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" name="Line 92">
                  <a:extLst>
                    <a:ext uri="{FF2B5EF4-FFF2-40B4-BE49-F238E27FC236}">
                      <a16:creationId xmlns:a16="http://schemas.microsoft.com/office/drawing/2014/main" id="{162E81D8-66DF-FB5C-A09E-D9242D8199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56" y="792"/>
                  <a:ext cx="408" cy="81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3" name="Line 108">
              <a:extLst>
                <a:ext uri="{FF2B5EF4-FFF2-40B4-BE49-F238E27FC236}">
                  <a16:creationId xmlns:a16="http://schemas.microsoft.com/office/drawing/2014/main" id="{CF436CF7-B087-0A3C-FA85-B764FC3A08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32507" y="2060030"/>
              <a:ext cx="461962" cy="981075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Freeform 109">
              <a:extLst>
                <a:ext uri="{FF2B5EF4-FFF2-40B4-BE49-F238E27FC236}">
                  <a16:creationId xmlns:a16="http://schemas.microsoft.com/office/drawing/2014/main" id="{7F3D2605-384E-D371-6B65-AEC87031F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407" y="1598067"/>
              <a:ext cx="1096962" cy="1485900"/>
            </a:xfrm>
            <a:custGeom>
              <a:avLst/>
              <a:gdLst>
                <a:gd name="T0" fmla="*/ 2147483647 w 691"/>
                <a:gd name="T1" fmla="*/ 2147483647 h 936"/>
                <a:gd name="T2" fmla="*/ 2147483647 w 691"/>
                <a:gd name="T3" fmla="*/ 2147483647 h 936"/>
                <a:gd name="T4" fmla="*/ 2147483647 w 691"/>
                <a:gd name="T5" fmla="*/ 2147483647 h 936"/>
                <a:gd name="T6" fmla="*/ 2147483647 w 691"/>
                <a:gd name="T7" fmla="*/ 2147483647 h 936"/>
                <a:gd name="T8" fmla="*/ 2147483647 w 691"/>
                <a:gd name="T9" fmla="*/ 2147483647 h 936"/>
                <a:gd name="T10" fmla="*/ 2147483647 w 691"/>
                <a:gd name="T11" fmla="*/ 0 h 936"/>
                <a:gd name="T12" fmla="*/ 2147483647 w 691"/>
                <a:gd name="T13" fmla="*/ 0 h 936"/>
                <a:gd name="T14" fmla="*/ 0 w 691"/>
                <a:gd name="T15" fmla="*/ 2147483647 h 936"/>
                <a:gd name="T16" fmla="*/ 2147483647 w 691"/>
                <a:gd name="T17" fmla="*/ 2147483647 h 936"/>
                <a:gd name="T18" fmla="*/ 2147483647 w 691"/>
                <a:gd name="T19" fmla="*/ 2147483647 h 9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691"/>
                <a:gd name="T31" fmla="*/ 0 h 936"/>
                <a:gd name="T32" fmla="*/ 691 w 691"/>
                <a:gd name="T33" fmla="*/ 936 h 9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691" h="936">
                  <a:moveTo>
                    <a:pt x="233" y="936"/>
                  </a:moveTo>
                  <a:lnTo>
                    <a:pt x="436" y="509"/>
                  </a:lnTo>
                  <a:lnTo>
                    <a:pt x="436" y="182"/>
                  </a:lnTo>
                  <a:lnTo>
                    <a:pt x="482" y="164"/>
                  </a:lnTo>
                  <a:lnTo>
                    <a:pt x="482" y="400"/>
                  </a:lnTo>
                  <a:lnTo>
                    <a:pt x="691" y="0"/>
                  </a:lnTo>
                  <a:lnTo>
                    <a:pt x="118" y="0"/>
                  </a:lnTo>
                  <a:lnTo>
                    <a:pt x="0" y="909"/>
                  </a:lnTo>
                  <a:lnTo>
                    <a:pt x="200" y="936"/>
                  </a:lnTo>
                  <a:lnTo>
                    <a:pt x="233" y="9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110">
              <a:extLst>
                <a:ext uri="{FF2B5EF4-FFF2-40B4-BE49-F238E27FC236}">
                  <a16:creationId xmlns:a16="http://schemas.microsoft.com/office/drawing/2014/main" id="{A24194AA-7D53-B78F-987B-770CFD9588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5007" y="3026817"/>
              <a:ext cx="3175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111">
              <a:extLst>
                <a:ext uri="{FF2B5EF4-FFF2-40B4-BE49-F238E27FC236}">
                  <a16:creationId xmlns:a16="http://schemas.microsoft.com/office/drawing/2014/main" id="{78683214-3340-7458-4147-5F84B1CD2D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0719" y="1771105"/>
              <a:ext cx="635000" cy="12557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8" name="Line 112">
              <a:extLst>
                <a:ext uri="{FF2B5EF4-FFF2-40B4-BE49-F238E27FC236}">
                  <a16:creationId xmlns:a16="http://schemas.microsoft.com/office/drawing/2014/main" id="{87D20649-66A0-8401-4F02-66555E7E99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5719" y="1771105"/>
              <a:ext cx="158750" cy="3032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Text Box 113">
              <a:extLst>
                <a:ext uri="{FF2B5EF4-FFF2-40B4-BE49-F238E27FC236}">
                  <a16:creationId xmlns:a16="http://schemas.microsoft.com/office/drawing/2014/main" id="{791A983C-6692-9E4C-9F4A-C4593B5AFA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8894" y="2412455"/>
              <a:ext cx="37623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0">
                  <a:solidFill>
                    <a:srgbClr val="A50021"/>
                  </a:solidFill>
                  <a:sym typeface="Symbol" pitchFamily="18" charset="2"/>
                </a:rPr>
                <a:t></a:t>
              </a:r>
              <a:endParaRPr lang="en-US" altLang="zh-CN" sz="2400" b="1" i="0">
                <a:solidFill>
                  <a:srgbClr val="A50021"/>
                </a:solidFill>
              </a:endParaRPr>
            </a:p>
          </p:txBody>
        </p:sp>
        <p:sp>
          <p:nvSpPr>
            <p:cNvPr id="40" name="Arc 114">
              <a:extLst>
                <a:ext uri="{FF2B5EF4-FFF2-40B4-BE49-F238E27FC236}">
                  <a16:creationId xmlns:a16="http://schemas.microsoft.com/office/drawing/2014/main" id="{E1B01224-E7A5-E7F6-2283-E1C869032665}"/>
                </a:ext>
              </a:extLst>
            </p:cNvPr>
            <p:cNvSpPr>
              <a:spLocks/>
            </p:cNvSpPr>
            <p:nvPr/>
          </p:nvSpPr>
          <p:spPr bwMode="auto">
            <a:xfrm rot="2148452" flipV="1">
              <a:off x="3718244" y="2620417"/>
              <a:ext cx="153988" cy="230188"/>
            </a:xfrm>
            <a:custGeom>
              <a:avLst/>
              <a:gdLst>
                <a:gd name="T0" fmla="*/ 0 w 16632"/>
                <a:gd name="T1" fmla="*/ 7970920 h 21600"/>
                <a:gd name="T2" fmla="*/ 1131505222 w 16632"/>
                <a:gd name="T3" fmla="*/ 839272855 h 21600"/>
                <a:gd name="T4" fmla="*/ 107626400 w 16632"/>
                <a:gd name="T5" fmla="*/ 2147483647 h 21600"/>
                <a:gd name="T6" fmla="*/ 0 60000 65536"/>
                <a:gd name="T7" fmla="*/ 0 60000 65536"/>
                <a:gd name="T8" fmla="*/ 0 60000 65536"/>
                <a:gd name="T9" fmla="*/ 0 w 16632"/>
                <a:gd name="T10" fmla="*/ 0 h 21600"/>
                <a:gd name="T11" fmla="*/ 16632 w 1663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632" h="21600" fill="none" extrusionOk="0">
                  <a:moveTo>
                    <a:pt x="0" y="58"/>
                  </a:moveTo>
                  <a:cubicBezTo>
                    <a:pt x="526" y="19"/>
                    <a:pt x="1054" y="-1"/>
                    <a:pt x="1582" y="0"/>
                  </a:cubicBezTo>
                  <a:cubicBezTo>
                    <a:pt x="7201" y="0"/>
                    <a:pt x="12600" y="2190"/>
                    <a:pt x="16631" y="6106"/>
                  </a:cubicBezTo>
                </a:path>
                <a:path w="16632" h="21600" stroke="0" extrusionOk="0">
                  <a:moveTo>
                    <a:pt x="0" y="58"/>
                  </a:moveTo>
                  <a:cubicBezTo>
                    <a:pt x="526" y="19"/>
                    <a:pt x="1054" y="-1"/>
                    <a:pt x="1582" y="0"/>
                  </a:cubicBezTo>
                  <a:cubicBezTo>
                    <a:pt x="7201" y="0"/>
                    <a:pt x="12600" y="2190"/>
                    <a:pt x="16631" y="6106"/>
                  </a:cubicBezTo>
                  <a:lnTo>
                    <a:pt x="1582" y="21600"/>
                  </a:lnTo>
                  <a:lnTo>
                    <a:pt x="0" y="58"/>
                  </a:lnTo>
                  <a:close/>
                </a:path>
              </a:pathLst>
            </a:cu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Text Box 115">
              <a:extLst>
                <a:ext uri="{FF2B5EF4-FFF2-40B4-BE49-F238E27FC236}">
                  <a16:creationId xmlns:a16="http://schemas.microsoft.com/office/drawing/2014/main" id="{64AFC849-7609-6984-AE0F-58805D8644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5369" y="1925092"/>
              <a:ext cx="3429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0">
                  <a:solidFill>
                    <a:srgbClr val="A50021"/>
                  </a:solidFill>
                  <a:sym typeface="Symbol" pitchFamily="18" charset="2"/>
                </a:rPr>
                <a:t></a:t>
              </a:r>
              <a:endParaRPr lang="en-US" altLang="zh-CN" sz="2400" b="1" i="0">
                <a:solidFill>
                  <a:srgbClr val="A50021"/>
                </a:solidFill>
              </a:endParaRPr>
            </a:p>
          </p:txBody>
        </p:sp>
        <p:sp>
          <p:nvSpPr>
            <p:cNvPr id="42" name="Arc 116">
              <a:extLst>
                <a:ext uri="{FF2B5EF4-FFF2-40B4-BE49-F238E27FC236}">
                  <a16:creationId xmlns:a16="http://schemas.microsoft.com/office/drawing/2014/main" id="{8406518B-9193-310B-D011-E300110C4CDD}"/>
                </a:ext>
              </a:extLst>
            </p:cNvPr>
            <p:cNvSpPr>
              <a:spLocks/>
            </p:cNvSpPr>
            <p:nvPr/>
          </p:nvSpPr>
          <p:spPr bwMode="auto">
            <a:xfrm rot="2234214" flipV="1">
              <a:off x="3643632" y="2121942"/>
              <a:ext cx="238125" cy="200025"/>
            </a:xfrm>
            <a:custGeom>
              <a:avLst/>
              <a:gdLst>
                <a:gd name="T0" fmla="*/ 0 w 16319"/>
                <a:gd name="T1" fmla="*/ 0 h 21600"/>
                <a:gd name="T2" fmla="*/ 2147483647 w 16319"/>
                <a:gd name="T3" fmla="*/ 507284634 h 21600"/>
                <a:gd name="T4" fmla="*/ 0 w 16319"/>
                <a:gd name="T5" fmla="*/ 1470978877 h 21600"/>
                <a:gd name="T6" fmla="*/ 0 60000 65536"/>
                <a:gd name="T7" fmla="*/ 0 60000 65536"/>
                <a:gd name="T8" fmla="*/ 0 60000 65536"/>
                <a:gd name="T9" fmla="*/ 0 w 16319"/>
                <a:gd name="T10" fmla="*/ 0 h 21600"/>
                <a:gd name="T11" fmla="*/ 16319 w 1631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319" h="21600" fill="none" extrusionOk="0">
                  <a:moveTo>
                    <a:pt x="-1" y="0"/>
                  </a:moveTo>
                  <a:cubicBezTo>
                    <a:pt x="6262" y="0"/>
                    <a:pt x="12216" y="2717"/>
                    <a:pt x="16318" y="7449"/>
                  </a:cubicBezTo>
                </a:path>
                <a:path w="16319" h="21600" stroke="0" extrusionOk="0">
                  <a:moveTo>
                    <a:pt x="-1" y="0"/>
                  </a:moveTo>
                  <a:cubicBezTo>
                    <a:pt x="6262" y="0"/>
                    <a:pt x="12216" y="2717"/>
                    <a:pt x="16318" y="744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117">
              <a:extLst>
                <a:ext uri="{FF2B5EF4-FFF2-40B4-BE49-F238E27FC236}">
                  <a16:creationId xmlns:a16="http://schemas.microsoft.com/office/drawing/2014/main" id="{D5A91877-0883-DD3C-F801-58EC43BFE8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6794" y="3026817"/>
              <a:ext cx="0" cy="527050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118">
              <a:extLst>
                <a:ext uri="{FF2B5EF4-FFF2-40B4-BE49-F238E27FC236}">
                  <a16:creationId xmlns:a16="http://schemas.microsoft.com/office/drawing/2014/main" id="{9137E3BA-C343-0D1E-35BF-5A7FE838C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8119" y="2082255"/>
              <a:ext cx="0" cy="2006600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Freeform 119">
              <a:extLst>
                <a:ext uri="{FF2B5EF4-FFF2-40B4-BE49-F238E27FC236}">
                  <a16:creationId xmlns:a16="http://schemas.microsoft.com/office/drawing/2014/main" id="{7D66D697-A1DC-0258-AC3C-8AEED6F22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6794" y="3545930"/>
              <a:ext cx="433388" cy="1141412"/>
            </a:xfrm>
            <a:custGeom>
              <a:avLst/>
              <a:gdLst>
                <a:gd name="T0" fmla="*/ 0 w 273"/>
                <a:gd name="T1" fmla="*/ 0 h 719"/>
                <a:gd name="T2" fmla="*/ 2147483647 w 273"/>
                <a:gd name="T3" fmla="*/ 2147483647 h 719"/>
                <a:gd name="T4" fmla="*/ 2147483647 w 273"/>
                <a:gd name="T5" fmla="*/ 2147483647 h 719"/>
                <a:gd name="T6" fmla="*/ 2147483647 w 273"/>
                <a:gd name="T7" fmla="*/ 2147483647 h 719"/>
                <a:gd name="T8" fmla="*/ 2147483647 w 273"/>
                <a:gd name="T9" fmla="*/ 2147483647 h 719"/>
                <a:gd name="T10" fmla="*/ 2147483647 w 273"/>
                <a:gd name="T11" fmla="*/ 2147483647 h 719"/>
                <a:gd name="T12" fmla="*/ 0 w 273"/>
                <a:gd name="T13" fmla="*/ 2147483647 h 7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73"/>
                <a:gd name="T22" fmla="*/ 0 h 719"/>
                <a:gd name="T23" fmla="*/ 273 w 273"/>
                <a:gd name="T24" fmla="*/ 719 h 71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73" h="719">
                  <a:moveTo>
                    <a:pt x="0" y="0"/>
                  </a:moveTo>
                  <a:cubicBezTo>
                    <a:pt x="19" y="13"/>
                    <a:pt x="78" y="46"/>
                    <a:pt x="116" y="81"/>
                  </a:cubicBezTo>
                  <a:cubicBezTo>
                    <a:pt x="154" y="116"/>
                    <a:pt x="204" y="167"/>
                    <a:pt x="230" y="213"/>
                  </a:cubicBezTo>
                  <a:cubicBezTo>
                    <a:pt x="256" y="259"/>
                    <a:pt x="273" y="307"/>
                    <a:pt x="272" y="355"/>
                  </a:cubicBezTo>
                  <a:cubicBezTo>
                    <a:pt x="271" y="403"/>
                    <a:pt x="249" y="456"/>
                    <a:pt x="224" y="501"/>
                  </a:cubicBezTo>
                  <a:cubicBezTo>
                    <a:pt x="199" y="546"/>
                    <a:pt x="159" y="591"/>
                    <a:pt x="122" y="627"/>
                  </a:cubicBezTo>
                  <a:cubicBezTo>
                    <a:pt x="85" y="663"/>
                    <a:pt x="26" y="700"/>
                    <a:pt x="0" y="719"/>
                  </a:cubicBezTo>
                </a:path>
              </a:pathLst>
            </a:cu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120">
              <a:extLst>
                <a:ext uri="{FF2B5EF4-FFF2-40B4-BE49-F238E27FC236}">
                  <a16:creationId xmlns:a16="http://schemas.microsoft.com/office/drawing/2014/main" id="{E995FABC-4B16-5699-3ED8-A75C172C6D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9969" y="3541167"/>
              <a:ext cx="0" cy="114300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Freeform 121">
              <a:extLst>
                <a:ext uri="{FF2B5EF4-FFF2-40B4-BE49-F238E27FC236}">
                  <a16:creationId xmlns:a16="http://schemas.microsoft.com/office/drawing/2014/main" id="{EF58E815-28F2-BA53-B090-0A016F5BA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519" y="3417342"/>
              <a:ext cx="533400" cy="1314450"/>
            </a:xfrm>
            <a:custGeom>
              <a:avLst/>
              <a:gdLst>
                <a:gd name="T0" fmla="*/ 2147483647 w 336"/>
                <a:gd name="T1" fmla="*/ 0 h 828"/>
                <a:gd name="T2" fmla="*/ 2147483647 w 336"/>
                <a:gd name="T3" fmla="*/ 2147483647 h 828"/>
                <a:gd name="T4" fmla="*/ 2147483647 w 336"/>
                <a:gd name="T5" fmla="*/ 2147483647 h 828"/>
                <a:gd name="T6" fmla="*/ 2147483647 w 336"/>
                <a:gd name="T7" fmla="*/ 2147483647 h 828"/>
                <a:gd name="T8" fmla="*/ 2147483647 w 336"/>
                <a:gd name="T9" fmla="*/ 2147483647 h 828"/>
                <a:gd name="T10" fmla="*/ 2147483647 w 336"/>
                <a:gd name="T11" fmla="*/ 2147483647 h 828"/>
                <a:gd name="T12" fmla="*/ 0 w 336"/>
                <a:gd name="T13" fmla="*/ 2147483647 h 828"/>
                <a:gd name="T14" fmla="*/ 2147483647 w 336"/>
                <a:gd name="T15" fmla="*/ 2147483647 h 828"/>
                <a:gd name="T16" fmla="*/ 2147483647 w 336"/>
                <a:gd name="T17" fmla="*/ 0 h 8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36"/>
                <a:gd name="T28" fmla="*/ 0 h 828"/>
                <a:gd name="T29" fmla="*/ 336 w 336"/>
                <a:gd name="T30" fmla="*/ 828 h 82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36" h="828">
                  <a:moveTo>
                    <a:pt x="336" y="0"/>
                  </a:moveTo>
                  <a:lnTo>
                    <a:pt x="336" y="414"/>
                  </a:lnTo>
                  <a:lnTo>
                    <a:pt x="258" y="414"/>
                  </a:lnTo>
                  <a:lnTo>
                    <a:pt x="252" y="474"/>
                  </a:lnTo>
                  <a:lnTo>
                    <a:pt x="336" y="468"/>
                  </a:lnTo>
                  <a:lnTo>
                    <a:pt x="336" y="828"/>
                  </a:lnTo>
                  <a:lnTo>
                    <a:pt x="0" y="822"/>
                  </a:lnTo>
                  <a:lnTo>
                    <a:pt x="12" y="6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Line 122">
              <a:extLst>
                <a:ext uri="{FF2B5EF4-FFF2-40B4-BE49-F238E27FC236}">
                  <a16:creationId xmlns:a16="http://schemas.microsoft.com/office/drawing/2014/main" id="{83D87F68-CCCA-BEFA-F5F6-B966B3EB4B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2994" y="2960142"/>
              <a:ext cx="19050" cy="17145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Line 123">
              <a:extLst>
                <a:ext uri="{FF2B5EF4-FFF2-40B4-BE49-F238E27FC236}">
                  <a16:creationId xmlns:a16="http://schemas.microsoft.com/office/drawing/2014/main" id="{178F0D93-E1AC-B32A-7BEF-5766AA3A91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3769" y="3845967"/>
              <a:ext cx="152400" cy="7620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Line 124">
              <a:extLst>
                <a:ext uri="{FF2B5EF4-FFF2-40B4-BE49-F238E27FC236}">
                  <a16:creationId xmlns:a16="http://schemas.microsoft.com/office/drawing/2014/main" id="{17FB31BA-E602-2E35-8C15-B42C425FE7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3769" y="4274592"/>
              <a:ext cx="152400" cy="7620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Line 125">
              <a:extLst>
                <a:ext uri="{FF2B5EF4-FFF2-40B4-BE49-F238E27FC236}">
                  <a16:creationId xmlns:a16="http://schemas.microsoft.com/office/drawing/2014/main" id="{A741C200-8BFD-EB56-0092-75D81330EB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0219" y="2960142"/>
              <a:ext cx="19050" cy="171450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Line 126">
              <a:extLst>
                <a:ext uri="{FF2B5EF4-FFF2-40B4-BE49-F238E27FC236}">
                  <a16:creationId xmlns:a16="http://schemas.microsoft.com/office/drawing/2014/main" id="{AAD1C1C5-32FD-1721-75D8-60AE9EDEE9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6194" y="2417217"/>
              <a:ext cx="1800225" cy="0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Line 127">
              <a:extLst>
                <a:ext uri="{FF2B5EF4-FFF2-40B4-BE49-F238E27FC236}">
                  <a16:creationId xmlns:a16="http://schemas.microsoft.com/office/drawing/2014/main" id="{2E86BC2A-9396-B2DA-9B18-74530C2CF3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0619" y="1731417"/>
              <a:ext cx="342900" cy="685800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Line 128">
              <a:extLst>
                <a:ext uri="{FF2B5EF4-FFF2-40B4-BE49-F238E27FC236}">
                  <a16:creationId xmlns:a16="http://schemas.microsoft.com/office/drawing/2014/main" id="{1F49043B-A901-033C-83F7-77C6F65660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3519" y="1731417"/>
              <a:ext cx="333375" cy="685800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5" name="Freeform 129">
              <a:extLst>
                <a:ext uri="{FF2B5EF4-FFF2-40B4-BE49-F238E27FC236}">
                  <a16:creationId xmlns:a16="http://schemas.microsoft.com/office/drawing/2014/main" id="{BCDC53D1-A3D4-F168-5CC4-2CA4339C7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969" y="2033042"/>
              <a:ext cx="1152525" cy="984250"/>
            </a:xfrm>
            <a:custGeom>
              <a:avLst/>
              <a:gdLst>
                <a:gd name="T0" fmla="*/ 0 w 726"/>
                <a:gd name="T1" fmla="*/ 2147483647 h 620"/>
                <a:gd name="T2" fmla="*/ 2147483647 w 726"/>
                <a:gd name="T3" fmla="*/ 2147483647 h 620"/>
                <a:gd name="T4" fmla="*/ 2147483647 w 726"/>
                <a:gd name="T5" fmla="*/ 2147483647 h 620"/>
                <a:gd name="T6" fmla="*/ 2147483647 w 726"/>
                <a:gd name="T7" fmla="*/ 2147483647 h 620"/>
                <a:gd name="T8" fmla="*/ 2147483647 w 726"/>
                <a:gd name="T9" fmla="*/ 2147483647 h 620"/>
                <a:gd name="T10" fmla="*/ 2147483647 w 726"/>
                <a:gd name="T11" fmla="*/ 2147483647 h 620"/>
                <a:gd name="T12" fmla="*/ 2147483647 w 726"/>
                <a:gd name="T13" fmla="*/ 2147483647 h 620"/>
                <a:gd name="T14" fmla="*/ 2147483647 w 726"/>
                <a:gd name="T15" fmla="*/ 2147483647 h 620"/>
                <a:gd name="T16" fmla="*/ 2147483647 w 726"/>
                <a:gd name="T17" fmla="*/ 2147483647 h 620"/>
                <a:gd name="T18" fmla="*/ 2147483647 w 726"/>
                <a:gd name="T19" fmla="*/ 2147483647 h 620"/>
                <a:gd name="T20" fmla="*/ 2147483647 w 726"/>
                <a:gd name="T21" fmla="*/ 2147483647 h 620"/>
                <a:gd name="T22" fmla="*/ 2147483647 w 726"/>
                <a:gd name="T23" fmla="*/ 2147483647 h 62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26"/>
                <a:gd name="T37" fmla="*/ 0 h 620"/>
                <a:gd name="T38" fmla="*/ 726 w 726"/>
                <a:gd name="T39" fmla="*/ 620 h 62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26" h="620">
                  <a:moveTo>
                    <a:pt x="0" y="620"/>
                  </a:moveTo>
                  <a:cubicBezTo>
                    <a:pt x="10" y="594"/>
                    <a:pt x="33" y="523"/>
                    <a:pt x="60" y="461"/>
                  </a:cubicBezTo>
                  <a:cubicBezTo>
                    <a:pt x="87" y="399"/>
                    <a:pt x="136" y="299"/>
                    <a:pt x="162" y="247"/>
                  </a:cubicBezTo>
                  <a:cubicBezTo>
                    <a:pt x="188" y="195"/>
                    <a:pt x="198" y="177"/>
                    <a:pt x="216" y="149"/>
                  </a:cubicBezTo>
                  <a:cubicBezTo>
                    <a:pt x="234" y="120"/>
                    <a:pt x="251" y="97"/>
                    <a:pt x="270" y="75"/>
                  </a:cubicBezTo>
                  <a:cubicBezTo>
                    <a:pt x="289" y="53"/>
                    <a:pt x="308" y="25"/>
                    <a:pt x="330" y="14"/>
                  </a:cubicBezTo>
                  <a:cubicBezTo>
                    <a:pt x="352" y="3"/>
                    <a:pt x="380" y="0"/>
                    <a:pt x="402" y="8"/>
                  </a:cubicBezTo>
                  <a:cubicBezTo>
                    <a:pt x="424" y="16"/>
                    <a:pt x="443" y="40"/>
                    <a:pt x="462" y="62"/>
                  </a:cubicBezTo>
                  <a:cubicBezTo>
                    <a:pt x="481" y="84"/>
                    <a:pt x="497" y="110"/>
                    <a:pt x="516" y="140"/>
                  </a:cubicBezTo>
                  <a:cubicBezTo>
                    <a:pt x="535" y="170"/>
                    <a:pt x="550" y="190"/>
                    <a:pt x="576" y="242"/>
                  </a:cubicBezTo>
                  <a:cubicBezTo>
                    <a:pt x="602" y="294"/>
                    <a:pt x="647" y="389"/>
                    <a:pt x="672" y="452"/>
                  </a:cubicBezTo>
                  <a:cubicBezTo>
                    <a:pt x="697" y="515"/>
                    <a:pt x="715" y="585"/>
                    <a:pt x="726" y="620"/>
                  </a:cubicBezTo>
                </a:path>
              </a:pathLst>
            </a:cu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6" name="Line 130">
              <a:extLst>
                <a:ext uri="{FF2B5EF4-FFF2-40B4-BE49-F238E27FC236}">
                  <a16:creationId xmlns:a16="http://schemas.microsoft.com/office/drawing/2014/main" id="{A7D00A28-A6BA-AD19-07F0-D6ECC3E069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00819" y="2055267"/>
              <a:ext cx="1254125" cy="0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199" name="组合 198">
              <a:extLst>
                <a:ext uri="{FF2B5EF4-FFF2-40B4-BE49-F238E27FC236}">
                  <a16:creationId xmlns:a16="http://schemas.microsoft.com/office/drawing/2014/main" id="{992CB5E5-0AD7-A52E-D47D-03CFE8BC1CDE}"/>
                </a:ext>
              </a:extLst>
            </p:cNvPr>
            <p:cNvGrpSpPr/>
            <p:nvPr/>
          </p:nvGrpSpPr>
          <p:grpSpPr>
            <a:xfrm>
              <a:off x="3473769" y="5182697"/>
              <a:ext cx="2031325" cy="907941"/>
              <a:chOff x="3473769" y="5182697"/>
              <a:chExt cx="2031325" cy="907941"/>
            </a:xfrm>
          </p:grpSpPr>
          <p:sp>
            <p:nvSpPr>
              <p:cNvPr id="57" name="Text Box 131">
                <a:extLst>
                  <a:ext uri="{FF2B5EF4-FFF2-40B4-BE49-F238E27FC236}">
                    <a16:creationId xmlns:a16="http://schemas.microsoft.com/office/drawing/2014/main" id="{2CAA86F1-6D0A-B28A-0080-C1F3433577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3769" y="5182697"/>
                <a:ext cx="2031325" cy="9079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   </a:t>
                </a:r>
                <a:r>
                  <a:rPr lang="zh-CN" altLang="zh-CN" sz="2400" b="1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轴线 </a:t>
                </a:r>
                <a:r>
                  <a:rPr lang="zh-CN" altLang="zh-CN" sz="2400" i="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Symbol" pitchFamily="18" charset="2"/>
                  </a:rPr>
                  <a:t></a:t>
                </a:r>
                <a:r>
                  <a:rPr lang="en-US" altLang="zh-CN" sz="2400" i="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Symbol" pitchFamily="18" charset="2"/>
                  </a:rPr>
                  <a:t>=</a:t>
                </a:r>
                <a:r>
                  <a:rPr lang="zh-CN" altLang="zh-CN" sz="2400" i="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Symbol" pitchFamily="18" charset="2"/>
                  </a:rPr>
                  <a:t></a:t>
                </a:r>
              </a:p>
              <a:p>
                <a:pPr algn="ctr" eaLnBrk="1" hangingPunct="1">
                  <a:spcBef>
                    <a:spcPts val="600"/>
                  </a:spcBef>
                  <a:buClrTx/>
                  <a:buFontTx/>
                  <a:buNone/>
                </a:pPr>
                <a:r>
                  <a:rPr lang="zh-CN" altLang="zh-CN" sz="2400" i="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Symbol" pitchFamily="18" charset="2"/>
                  </a:rPr>
                  <a:t>交线为抛物线</a:t>
                </a:r>
                <a:endParaRPr lang="zh-CN" altLang="en-US" sz="2400" i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9" name="Group 132">
                <a:extLst>
                  <a:ext uri="{FF2B5EF4-FFF2-40B4-BE49-F238E27FC236}">
                    <a16:creationId xmlns:a16="http://schemas.microsoft.com/office/drawing/2014/main" id="{A2538045-F588-5B5D-1380-005B677F92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76793" y="5319223"/>
                <a:ext cx="213370" cy="215256"/>
                <a:chOff x="5026" y="3694"/>
                <a:chExt cx="248" cy="208"/>
              </a:xfrm>
            </p:grpSpPr>
            <p:sp>
              <p:nvSpPr>
                <p:cNvPr id="20" name="Line 133">
                  <a:extLst>
                    <a:ext uri="{FF2B5EF4-FFF2-40B4-BE49-F238E27FC236}">
                      <a16:creationId xmlns:a16="http://schemas.microsoft.com/office/drawing/2014/main" id="{3903C72D-34FC-2211-DA6B-E23CBCF144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134" y="3694"/>
                  <a:ext cx="116" cy="20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Line 134">
                  <a:extLst>
                    <a:ext uri="{FF2B5EF4-FFF2-40B4-BE49-F238E27FC236}">
                      <a16:creationId xmlns:a16="http://schemas.microsoft.com/office/drawing/2014/main" id="{8C2AE6E3-894C-2090-9853-DFF8A9B10A6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26" y="3902"/>
                  <a:ext cx="24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2" name="Oval 135">
              <a:extLst>
                <a:ext uri="{FF2B5EF4-FFF2-40B4-BE49-F238E27FC236}">
                  <a16:creationId xmlns:a16="http://schemas.microsoft.com/office/drawing/2014/main" id="{71741D5E-8C53-0A2D-5B5B-1DB1157DC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5894" y="2009230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3" name="Oval 136">
              <a:extLst>
                <a:ext uri="{FF2B5EF4-FFF2-40B4-BE49-F238E27FC236}">
                  <a16:creationId xmlns:a16="http://schemas.microsoft.com/office/drawing/2014/main" id="{6DF9EF9D-C035-FB6B-A3BE-BCF6B3554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9744" y="2380705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4" name="Oval 137">
              <a:extLst>
                <a:ext uri="{FF2B5EF4-FFF2-40B4-BE49-F238E27FC236}">
                  <a16:creationId xmlns:a16="http://schemas.microsoft.com/office/drawing/2014/main" id="{B4070FC3-4F32-108F-3107-747674AA1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19" y="2380705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5" name="Oval 138">
              <a:extLst>
                <a:ext uri="{FF2B5EF4-FFF2-40B4-BE49-F238E27FC236}">
                  <a16:creationId xmlns:a16="http://schemas.microsoft.com/office/drawing/2014/main" id="{FA9AD50E-8FAF-46DB-0657-31A9430B5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394" y="2990305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6" name="Oval 139">
              <a:extLst>
                <a:ext uri="{FF2B5EF4-FFF2-40B4-BE49-F238E27FC236}">
                  <a16:creationId xmlns:a16="http://schemas.microsoft.com/office/drawing/2014/main" id="{18683C50-4700-FAAC-0736-2BA2A7443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7394" y="2990305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7" name="Oval 140">
              <a:extLst>
                <a:ext uri="{FF2B5EF4-FFF2-40B4-BE49-F238E27FC236}">
                  <a16:creationId xmlns:a16="http://schemas.microsoft.com/office/drawing/2014/main" id="{69251B89-0BEE-0A35-BDDF-FD8181F232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1394" y="3495130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8" name="Oval 141">
              <a:extLst>
                <a:ext uri="{FF2B5EF4-FFF2-40B4-BE49-F238E27FC236}">
                  <a16:creationId xmlns:a16="http://schemas.microsoft.com/office/drawing/2014/main" id="{C614362C-A2CE-5681-E968-41E41E4C2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2344" y="4638130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9" name="Oval 142">
              <a:extLst>
                <a:ext uri="{FF2B5EF4-FFF2-40B4-BE49-F238E27FC236}">
                  <a16:creationId xmlns:a16="http://schemas.microsoft.com/office/drawing/2014/main" id="{D4C497C1-1F54-B6C9-DB51-5D257C0D7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0494" y="4066630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30" name="Text Box 144">
              <a:extLst>
                <a:ext uri="{FF2B5EF4-FFF2-40B4-BE49-F238E27FC236}">
                  <a16:creationId xmlns:a16="http://schemas.microsoft.com/office/drawing/2014/main" id="{844FC50B-8795-9CAB-2FA9-CCDE8271AC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2294" y="2025105"/>
              <a:ext cx="401638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 i="0">
                  <a:solidFill>
                    <a:srgbClr val="990033"/>
                  </a:solidFill>
                </a:rPr>
                <a:t>P</a:t>
              </a:r>
            </a:p>
          </p:txBody>
        </p:sp>
        <p:sp>
          <p:nvSpPr>
            <p:cNvPr id="31" name="Line 145">
              <a:extLst>
                <a:ext uri="{FF2B5EF4-FFF2-40B4-BE49-F238E27FC236}">
                  <a16:creationId xmlns:a16="http://schemas.microsoft.com/office/drawing/2014/main" id="{FDAB4700-7BAE-33E7-1827-BFE16451C2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26144" y="2350542"/>
              <a:ext cx="266700" cy="323850"/>
            </a:xfrm>
            <a:prstGeom prst="line">
              <a:avLst/>
            </a:prstGeom>
            <a:noFill/>
            <a:ln w="127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Oval 163">
              <a:extLst>
                <a:ext uri="{FF2B5EF4-FFF2-40B4-BE49-F238E27FC236}">
                  <a16:creationId xmlns:a16="http://schemas.microsoft.com/office/drawing/2014/main" id="{9EB46036-7ED7-1E3E-B072-FD78D45B4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0019" y="2018755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133" name="Oval 164">
              <a:extLst>
                <a:ext uri="{FF2B5EF4-FFF2-40B4-BE49-F238E27FC236}">
                  <a16:creationId xmlns:a16="http://schemas.microsoft.com/office/drawing/2014/main" id="{F365FCA2-3E3A-7D2E-E2AE-852E16CAF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2344" y="2990305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134" name="Oval 189">
              <a:extLst>
                <a:ext uri="{FF2B5EF4-FFF2-40B4-BE49-F238E27FC236}">
                  <a16:creationId xmlns:a16="http://schemas.microsoft.com/office/drawing/2014/main" id="{4721E6F0-7D55-3D0E-B99B-D4DE843E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8094" y="2371180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135" name="Line 190">
              <a:extLst>
                <a:ext uri="{FF2B5EF4-FFF2-40B4-BE49-F238E27FC236}">
                  <a16:creationId xmlns:a16="http://schemas.microsoft.com/office/drawing/2014/main" id="{41387FFD-1E69-A153-40D5-978038D71C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5707" y="2702967"/>
              <a:ext cx="176212" cy="42863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0FCDF6D5-FCD2-5D93-4FA6-E9F6C2ABA7E0}"/>
              </a:ext>
            </a:extLst>
          </p:cNvPr>
          <p:cNvGrpSpPr/>
          <p:nvPr/>
        </p:nvGrpSpPr>
        <p:grpSpPr>
          <a:xfrm>
            <a:off x="6131619" y="1124992"/>
            <a:ext cx="2884488" cy="4992034"/>
            <a:chOff x="6131619" y="1124992"/>
            <a:chExt cx="2884488" cy="4992034"/>
          </a:xfrm>
        </p:grpSpPr>
        <p:grpSp>
          <p:nvGrpSpPr>
            <p:cNvPr id="136" name="Group 93">
              <a:extLst>
                <a:ext uri="{FF2B5EF4-FFF2-40B4-BE49-F238E27FC236}">
                  <a16:creationId xmlns:a16="http://schemas.microsoft.com/office/drawing/2014/main" id="{EB9947E6-EFD5-E5D0-4AC9-7168583168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58607" y="1813967"/>
              <a:ext cx="2857500" cy="3314700"/>
              <a:chOff x="576" y="696"/>
              <a:chExt cx="1800" cy="2088"/>
            </a:xfrm>
          </p:grpSpPr>
          <p:grpSp>
            <p:nvGrpSpPr>
              <p:cNvPr id="137" name="Group 94">
                <a:extLst>
                  <a:ext uri="{FF2B5EF4-FFF2-40B4-BE49-F238E27FC236}">
                    <a16:creationId xmlns:a16="http://schemas.microsoft.com/office/drawing/2014/main" id="{006A274B-867B-7034-0B7A-E5A76297CC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76" y="1800"/>
                <a:ext cx="968" cy="984"/>
                <a:chOff x="576" y="1800"/>
                <a:chExt cx="968" cy="984"/>
              </a:xfrm>
            </p:grpSpPr>
            <p:sp>
              <p:nvSpPr>
                <p:cNvPr id="148" name="Oval 95">
                  <a:extLst>
                    <a:ext uri="{FF2B5EF4-FFF2-40B4-BE49-F238E27FC236}">
                      <a16:creationId xmlns:a16="http://schemas.microsoft.com/office/drawing/2014/main" id="{E98DA33D-CD69-66EE-F48A-300132DE49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2" y="1888"/>
                  <a:ext cx="800" cy="800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>
                  <a:spAutoFit/>
                </a:bodyPr>
                <a:lstStyle>
                  <a:lvl1pPr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zh-CN" altLang="en-US" sz="2400"/>
                </a:p>
              </p:txBody>
            </p:sp>
            <p:sp>
              <p:nvSpPr>
                <p:cNvPr id="149" name="Line 96">
                  <a:extLst>
                    <a:ext uri="{FF2B5EF4-FFF2-40B4-BE49-F238E27FC236}">
                      <a16:creationId xmlns:a16="http://schemas.microsoft.com/office/drawing/2014/main" id="{79BF5564-5A13-9B37-1772-582FA4B45F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288"/>
                  <a:ext cx="968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0" name="Line 97">
                  <a:extLst>
                    <a:ext uri="{FF2B5EF4-FFF2-40B4-BE49-F238E27FC236}">
                      <a16:creationId xmlns:a16="http://schemas.microsoft.com/office/drawing/2014/main" id="{C93BDF67-65AC-6EB3-5788-B85E6B49BB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64" y="1800"/>
                  <a:ext cx="0" cy="984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8" name="Group 98">
                <a:extLst>
                  <a:ext uri="{FF2B5EF4-FFF2-40B4-BE49-F238E27FC236}">
                    <a16:creationId xmlns:a16="http://schemas.microsoft.com/office/drawing/2014/main" id="{5D2552E8-A3AF-7FE3-50DE-CA95DFE4DE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6" y="696"/>
                <a:ext cx="808" cy="1032"/>
                <a:chOff x="656" y="696"/>
                <a:chExt cx="808" cy="1032"/>
              </a:xfrm>
            </p:grpSpPr>
            <p:sp>
              <p:nvSpPr>
                <p:cNvPr id="144" name="Line 99">
                  <a:extLst>
                    <a:ext uri="{FF2B5EF4-FFF2-40B4-BE49-F238E27FC236}">
                      <a16:creationId xmlns:a16="http://schemas.microsoft.com/office/drawing/2014/main" id="{995AD7EA-5C27-6A6F-343C-940A60CB46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064" y="696"/>
                  <a:ext cx="0" cy="103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5" name="Line 100">
                  <a:extLst>
                    <a:ext uri="{FF2B5EF4-FFF2-40B4-BE49-F238E27FC236}">
                      <a16:creationId xmlns:a16="http://schemas.microsoft.com/office/drawing/2014/main" id="{BEB42D5B-66E8-88B7-DEE5-0A15636EDE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6" y="1608"/>
                  <a:ext cx="808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6" name="Line 101">
                  <a:extLst>
                    <a:ext uri="{FF2B5EF4-FFF2-40B4-BE49-F238E27FC236}">
                      <a16:creationId xmlns:a16="http://schemas.microsoft.com/office/drawing/2014/main" id="{524FA2D4-C0FD-44AF-BF76-5F75105C28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64" y="784"/>
                  <a:ext cx="400" cy="82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7" name="Line 102">
                  <a:extLst>
                    <a:ext uri="{FF2B5EF4-FFF2-40B4-BE49-F238E27FC236}">
                      <a16:creationId xmlns:a16="http://schemas.microsoft.com/office/drawing/2014/main" id="{B10B8133-F75B-6861-E152-991B57E4B4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56" y="792"/>
                  <a:ext cx="408" cy="81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39" name="Group 103">
                <a:extLst>
                  <a:ext uri="{FF2B5EF4-FFF2-40B4-BE49-F238E27FC236}">
                    <a16:creationId xmlns:a16="http://schemas.microsoft.com/office/drawing/2014/main" id="{4E56ED42-292F-9D2D-8E8B-5AEC91866F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68" y="696"/>
                <a:ext cx="808" cy="1032"/>
                <a:chOff x="656" y="696"/>
                <a:chExt cx="808" cy="1032"/>
              </a:xfrm>
            </p:grpSpPr>
            <p:sp>
              <p:nvSpPr>
                <p:cNvPr id="140" name="Line 104">
                  <a:extLst>
                    <a:ext uri="{FF2B5EF4-FFF2-40B4-BE49-F238E27FC236}">
                      <a16:creationId xmlns:a16="http://schemas.microsoft.com/office/drawing/2014/main" id="{4B224D36-5891-F877-F2F7-82023ACDA4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064" y="696"/>
                  <a:ext cx="0" cy="1032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1" name="Line 105">
                  <a:extLst>
                    <a:ext uri="{FF2B5EF4-FFF2-40B4-BE49-F238E27FC236}">
                      <a16:creationId xmlns:a16="http://schemas.microsoft.com/office/drawing/2014/main" id="{C1A4FA46-D4D1-56DB-1B45-8A48034DEF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6" y="1608"/>
                  <a:ext cx="808" cy="0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2" name="Line 106">
                  <a:extLst>
                    <a:ext uri="{FF2B5EF4-FFF2-40B4-BE49-F238E27FC236}">
                      <a16:creationId xmlns:a16="http://schemas.microsoft.com/office/drawing/2014/main" id="{4F652D85-744F-5102-D90D-CC0EF933A8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064" y="784"/>
                  <a:ext cx="400" cy="824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3" name="Line 107">
                  <a:extLst>
                    <a:ext uri="{FF2B5EF4-FFF2-40B4-BE49-F238E27FC236}">
                      <a16:creationId xmlns:a16="http://schemas.microsoft.com/office/drawing/2014/main" id="{8F4F2FA4-B041-9344-BE9E-F056781B04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56" y="792"/>
                  <a:ext cx="408" cy="816"/>
                </a:xfrm>
                <a:prstGeom prst="line">
                  <a:avLst/>
                </a:prstGeom>
                <a:noFill/>
                <a:ln w="381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51" name="Line 143">
              <a:extLst>
                <a:ext uri="{FF2B5EF4-FFF2-40B4-BE49-F238E27FC236}">
                  <a16:creationId xmlns:a16="http://schemas.microsoft.com/office/drawing/2014/main" id="{9623A6CC-FA12-4EA5-D972-1610C203BD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50744" y="2115592"/>
              <a:ext cx="257175" cy="1152525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2" name="Freeform 146">
              <a:extLst>
                <a:ext uri="{FF2B5EF4-FFF2-40B4-BE49-F238E27FC236}">
                  <a16:creationId xmlns:a16="http://schemas.microsoft.com/office/drawing/2014/main" id="{F34F08E7-E65E-C60E-1796-BD006ED9F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6394" y="1810792"/>
              <a:ext cx="885825" cy="1524000"/>
            </a:xfrm>
            <a:custGeom>
              <a:avLst/>
              <a:gdLst>
                <a:gd name="T0" fmla="*/ 2147483647 w 558"/>
                <a:gd name="T1" fmla="*/ 2147483647 h 960"/>
                <a:gd name="T2" fmla="*/ 2147483647 w 558"/>
                <a:gd name="T3" fmla="*/ 2147483647 h 960"/>
                <a:gd name="T4" fmla="*/ 2147483647 w 558"/>
                <a:gd name="T5" fmla="*/ 2147483647 h 960"/>
                <a:gd name="T6" fmla="*/ 2147483647 w 558"/>
                <a:gd name="T7" fmla="*/ 2147483647 h 960"/>
                <a:gd name="T8" fmla="*/ 2147483647 w 558"/>
                <a:gd name="T9" fmla="*/ 2147483647 h 960"/>
                <a:gd name="T10" fmla="*/ 2147483647 w 558"/>
                <a:gd name="T11" fmla="*/ 0 h 960"/>
                <a:gd name="T12" fmla="*/ 2147483647 w 558"/>
                <a:gd name="T13" fmla="*/ 0 h 960"/>
                <a:gd name="T14" fmla="*/ 0 w 558"/>
                <a:gd name="T15" fmla="*/ 2147483647 h 960"/>
                <a:gd name="T16" fmla="*/ 2147483647 w 558"/>
                <a:gd name="T17" fmla="*/ 2147483647 h 960"/>
                <a:gd name="T18" fmla="*/ 2147483647 w 558"/>
                <a:gd name="T19" fmla="*/ 2147483647 h 96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58"/>
                <a:gd name="T31" fmla="*/ 0 h 960"/>
                <a:gd name="T32" fmla="*/ 558 w 558"/>
                <a:gd name="T33" fmla="*/ 960 h 96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58" h="960">
                  <a:moveTo>
                    <a:pt x="294" y="960"/>
                  </a:moveTo>
                  <a:lnTo>
                    <a:pt x="402" y="438"/>
                  </a:lnTo>
                  <a:lnTo>
                    <a:pt x="420" y="138"/>
                  </a:lnTo>
                  <a:lnTo>
                    <a:pt x="462" y="138"/>
                  </a:lnTo>
                  <a:lnTo>
                    <a:pt x="462" y="228"/>
                  </a:lnTo>
                  <a:lnTo>
                    <a:pt x="558" y="0"/>
                  </a:lnTo>
                  <a:lnTo>
                    <a:pt x="282" y="0"/>
                  </a:lnTo>
                  <a:lnTo>
                    <a:pt x="0" y="942"/>
                  </a:lnTo>
                  <a:lnTo>
                    <a:pt x="222" y="942"/>
                  </a:lnTo>
                  <a:lnTo>
                    <a:pt x="294" y="96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3" name="Line 147">
              <a:extLst>
                <a:ext uri="{FF2B5EF4-FFF2-40B4-BE49-F238E27FC236}">
                  <a16:creationId xmlns:a16="http://schemas.microsoft.com/office/drawing/2014/main" id="{EFED6C5C-B260-35EC-B8F8-8BB20B0A6C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931719" y="1953667"/>
              <a:ext cx="85725" cy="1524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4" name="Line 148">
              <a:extLst>
                <a:ext uri="{FF2B5EF4-FFF2-40B4-BE49-F238E27FC236}">
                  <a16:creationId xmlns:a16="http://schemas.microsoft.com/office/drawing/2014/main" id="{20BF6DE5-3171-6B8B-7BA5-99A255F287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12594" y="1953667"/>
              <a:ext cx="619125" cy="130492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5" name="Line 149">
              <a:extLst>
                <a:ext uri="{FF2B5EF4-FFF2-40B4-BE49-F238E27FC236}">
                  <a16:creationId xmlns:a16="http://schemas.microsoft.com/office/drawing/2014/main" id="{5B1E948A-E31D-9021-5C5D-1ACC886C18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12594" y="3258592"/>
              <a:ext cx="42862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6" name="Text Box 150">
              <a:extLst>
                <a:ext uri="{FF2B5EF4-FFF2-40B4-BE49-F238E27FC236}">
                  <a16:creationId xmlns:a16="http://schemas.microsoft.com/office/drawing/2014/main" id="{3187A65A-988A-70FC-6F52-CD7B2626E2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8238" y="2116634"/>
              <a:ext cx="401638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 i="0">
                  <a:solidFill>
                    <a:srgbClr val="990033"/>
                  </a:solidFill>
                </a:rPr>
                <a:t>P</a:t>
              </a:r>
            </a:p>
          </p:txBody>
        </p:sp>
        <p:sp>
          <p:nvSpPr>
            <p:cNvPr id="157" name="Line 151">
              <a:extLst>
                <a:ext uri="{FF2B5EF4-FFF2-40B4-BE49-F238E27FC236}">
                  <a16:creationId xmlns:a16="http://schemas.microsoft.com/office/drawing/2014/main" id="{A7AC583F-4D8A-F0DB-2C9C-7BF8367745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512618" y="2492896"/>
              <a:ext cx="342900" cy="270396"/>
            </a:xfrm>
            <a:prstGeom prst="line">
              <a:avLst/>
            </a:prstGeom>
            <a:noFill/>
            <a:ln w="12700">
              <a:solidFill>
                <a:srgbClr val="9900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8" name="Text Box 152">
              <a:extLst>
                <a:ext uri="{FF2B5EF4-FFF2-40B4-BE49-F238E27FC236}">
                  <a16:creationId xmlns:a16="http://schemas.microsoft.com/office/drawing/2014/main" id="{2AC63F48-FA00-0912-3499-E060574BAF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9657" y="2615655"/>
              <a:ext cx="37623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0">
                  <a:solidFill>
                    <a:srgbClr val="A50021"/>
                  </a:solidFill>
                  <a:sym typeface="Symbol" pitchFamily="18" charset="2"/>
                </a:rPr>
                <a:t></a:t>
              </a:r>
              <a:endParaRPr lang="en-US" altLang="zh-CN" sz="2400" b="1" i="0">
                <a:solidFill>
                  <a:srgbClr val="A50021"/>
                </a:solidFill>
              </a:endParaRPr>
            </a:p>
          </p:txBody>
        </p:sp>
        <p:sp>
          <p:nvSpPr>
            <p:cNvPr id="159" name="Arc 153">
              <a:extLst>
                <a:ext uri="{FF2B5EF4-FFF2-40B4-BE49-F238E27FC236}">
                  <a16:creationId xmlns:a16="http://schemas.microsoft.com/office/drawing/2014/main" id="{E2C4676A-EA67-72FF-7072-BAB1467AF8DD}"/>
                </a:ext>
              </a:extLst>
            </p:cNvPr>
            <p:cNvSpPr>
              <a:spLocks/>
            </p:cNvSpPr>
            <p:nvPr/>
          </p:nvSpPr>
          <p:spPr bwMode="auto">
            <a:xfrm rot="2930715" flipV="1">
              <a:off x="6680894" y="2915693"/>
              <a:ext cx="300037" cy="150812"/>
            </a:xfrm>
            <a:custGeom>
              <a:avLst/>
              <a:gdLst>
                <a:gd name="T0" fmla="*/ 2147483647 w 20640"/>
                <a:gd name="T1" fmla="*/ 0 h 15342"/>
                <a:gd name="T2" fmla="*/ 2147483647 w 20640"/>
                <a:gd name="T3" fmla="*/ 823679024 h 15342"/>
                <a:gd name="T4" fmla="*/ 0 w 20640"/>
                <a:gd name="T5" fmla="*/ 1408159247 h 15342"/>
                <a:gd name="T6" fmla="*/ 0 60000 65536"/>
                <a:gd name="T7" fmla="*/ 0 60000 65536"/>
                <a:gd name="T8" fmla="*/ 0 60000 65536"/>
                <a:gd name="T9" fmla="*/ 0 w 20640"/>
                <a:gd name="T10" fmla="*/ 0 h 15342"/>
                <a:gd name="T11" fmla="*/ 20640 w 20640"/>
                <a:gd name="T12" fmla="*/ 15342 h 153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40" h="15342" fill="none" extrusionOk="0">
                  <a:moveTo>
                    <a:pt x="15204" y="0"/>
                  </a:moveTo>
                  <a:cubicBezTo>
                    <a:pt x="17726" y="2499"/>
                    <a:pt x="19593" y="5581"/>
                    <a:pt x="20639" y="8974"/>
                  </a:cubicBezTo>
                </a:path>
                <a:path w="20640" h="15342" stroke="0" extrusionOk="0">
                  <a:moveTo>
                    <a:pt x="15204" y="0"/>
                  </a:moveTo>
                  <a:cubicBezTo>
                    <a:pt x="17726" y="2499"/>
                    <a:pt x="19593" y="5581"/>
                    <a:pt x="20639" y="8974"/>
                  </a:cubicBezTo>
                  <a:lnTo>
                    <a:pt x="0" y="15342"/>
                  </a:lnTo>
                  <a:lnTo>
                    <a:pt x="15204" y="0"/>
                  </a:lnTo>
                  <a:close/>
                </a:path>
              </a:pathLst>
            </a:cu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0" name="Text Box 154">
              <a:extLst>
                <a:ext uri="{FF2B5EF4-FFF2-40B4-BE49-F238E27FC236}">
                  <a16:creationId xmlns:a16="http://schemas.microsoft.com/office/drawing/2014/main" id="{44A96E50-0D59-D1E8-1E7F-1EF4D344E8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90419" y="2052092"/>
              <a:ext cx="3429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0">
                  <a:solidFill>
                    <a:srgbClr val="A50021"/>
                  </a:solidFill>
                  <a:sym typeface="Symbol" pitchFamily="18" charset="2"/>
                </a:rPr>
                <a:t></a:t>
              </a:r>
              <a:endParaRPr lang="en-US" altLang="zh-CN" sz="2400" b="1" i="0">
                <a:solidFill>
                  <a:srgbClr val="A50021"/>
                </a:solidFill>
              </a:endParaRPr>
            </a:p>
          </p:txBody>
        </p:sp>
        <p:sp>
          <p:nvSpPr>
            <p:cNvPr id="161" name="Arc 155">
              <a:extLst>
                <a:ext uri="{FF2B5EF4-FFF2-40B4-BE49-F238E27FC236}">
                  <a16:creationId xmlns:a16="http://schemas.microsoft.com/office/drawing/2014/main" id="{C63C4D45-AF22-8D25-8A38-0078BB2ECF74}"/>
                </a:ext>
              </a:extLst>
            </p:cNvPr>
            <p:cNvSpPr>
              <a:spLocks/>
            </p:cNvSpPr>
            <p:nvPr/>
          </p:nvSpPr>
          <p:spPr bwMode="auto">
            <a:xfrm rot="2234214" flipV="1">
              <a:off x="6720582" y="2244180"/>
              <a:ext cx="250825" cy="196850"/>
            </a:xfrm>
            <a:custGeom>
              <a:avLst/>
              <a:gdLst>
                <a:gd name="T0" fmla="*/ 2147483647 w 17241"/>
                <a:gd name="T1" fmla="*/ 0 h 21241"/>
                <a:gd name="T2" fmla="*/ 2147483647 w 17241"/>
                <a:gd name="T3" fmla="*/ 562535959 h 21241"/>
                <a:gd name="T4" fmla="*/ 0 w 17241"/>
                <a:gd name="T5" fmla="*/ 1452035291 h 21241"/>
                <a:gd name="T6" fmla="*/ 0 60000 65536"/>
                <a:gd name="T7" fmla="*/ 0 60000 65536"/>
                <a:gd name="T8" fmla="*/ 0 60000 65536"/>
                <a:gd name="T9" fmla="*/ 0 w 17241"/>
                <a:gd name="T10" fmla="*/ 0 h 21241"/>
                <a:gd name="T11" fmla="*/ 17241 w 17241"/>
                <a:gd name="T12" fmla="*/ 21241 h 212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41" h="21241" fill="none" extrusionOk="0">
                  <a:moveTo>
                    <a:pt x="3920" y="-1"/>
                  </a:moveTo>
                  <a:cubicBezTo>
                    <a:pt x="9233" y="980"/>
                    <a:pt x="13986" y="3916"/>
                    <a:pt x="17240" y="8229"/>
                  </a:cubicBezTo>
                </a:path>
                <a:path w="17241" h="21241" stroke="0" extrusionOk="0">
                  <a:moveTo>
                    <a:pt x="3920" y="-1"/>
                  </a:moveTo>
                  <a:cubicBezTo>
                    <a:pt x="9233" y="980"/>
                    <a:pt x="13986" y="3916"/>
                    <a:pt x="17240" y="8229"/>
                  </a:cubicBezTo>
                  <a:lnTo>
                    <a:pt x="0" y="21241"/>
                  </a:lnTo>
                  <a:lnTo>
                    <a:pt x="3920" y="-1"/>
                  </a:lnTo>
                  <a:close/>
                </a:path>
              </a:pathLst>
            </a:cu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2" name="Line 156">
              <a:extLst>
                <a:ext uri="{FF2B5EF4-FFF2-40B4-BE49-F238E27FC236}">
                  <a16:creationId xmlns:a16="http://schemas.microsoft.com/office/drawing/2014/main" id="{CD10D88B-9E07-AFCA-274D-7199F285A3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84094" y="2906167"/>
              <a:ext cx="142875" cy="76200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3" name="Line 157">
              <a:extLst>
                <a:ext uri="{FF2B5EF4-FFF2-40B4-BE49-F238E27FC236}">
                  <a16:creationId xmlns:a16="http://schemas.microsoft.com/office/drawing/2014/main" id="{D4FB307B-DD5A-6A7A-6AB8-D85109C5B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1219" y="3258592"/>
              <a:ext cx="0" cy="485775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4" name="Line 158">
              <a:extLst>
                <a:ext uri="{FF2B5EF4-FFF2-40B4-BE49-F238E27FC236}">
                  <a16:creationId xmlns:a16="http://schemas.microsoft.com/office/drawing/2014/main" id="{6E7D21A4-18CE-1F49-9E3F-A7D34BC575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41219" y="3744367"/>
              <a:ext cx="0" cy="1200150"/>
            </a:xfrm>
            <a:prstGeom prst="line">
              <a:avLst/>
            </a:pr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5" name="Freeform 159">
              <a:extLst>
                <a:ext uri="{FF2B5EF4-FFF2-40B4-BE49-F238E27FC236}">
                  <a16:creationId xmlns:a16="http://schemas.microsoft.com/office/drawing/2014/main" id="{17368F4D-A586-7612-4F8C-02F020C00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1619" y="3658642"/>
              <a:ext cx="581025" cy="1323975"/>
            </a:xfrm>
            <a:custGeom>
              <a:avLst/>
              <a:gdLst>
                <a:gd name="T0" fmla="*/ 2147483647 w 366"/>
                <a:gd name="T1" fmla="*/ 0 h 834"/>
                <a:gd name="T2" fmla="*/ 2147483647 w 366"/>
                <a:gd name="T3" fmla="*/ 2147483647 h 834"/>
                <a:gd name="T4" fmla="*/ 2147483647 w 366"/>
                <a:gd name="T5" fmla="*/ 2147483647 h 834"/>
                <a:gd name="T6" fmla="*/ 2147483647 w 366"/>
                <a:gd name="T7" fmla="*/ 2147483647 h 834"/>
                <a:gd name="T8" fmla="*/ 2147483647 w 366"/>
                <a:gd name="T9" fmla="*/ 2147483647 h 834"/>
                <a:gd name="T10" fmla="*/ 2147483647 w 366"/>
                <a:gd name="T11" fmla="*/ 2147483647 h 834"/>
                <a:gd name="T12" fmla="*/ 0 w 366"/>
                <a:gd name="T13" fmla="*/ 2147483647 h 834"/>
                <a:gd name="T14" fmla="*/ 0 w 366"/>
                <a:gd name="T15" fmla="*/ 0 h 834"/>
                <a:gd name="T16" fmla="*/ 2147483647 w 366"/>
                <a:gd name="T17" fmla="*/ 0 h 8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6"/>
                <a:gd name="T28" fmla="*/ 0 h 834"/>
                <a:gd name="T29" fmla="*/ 366 w 366"/>
                <a:gd name="T30" fmla="*/ 834 h 83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6" h="834">
                  <a:moveTo>
                    <a:pt x="366" y="0"/>
                  </a:moveTo>
                  <a:lnTo>
                    <a:pt x="366" y="414"/>
                  </a:lnTo>
                  <a:lnTo>
                    <a:pt x="288" y="414"/>
                  </a:lnTo>
                  <a:lnTo>
                    <a:pt x="282" y="474"/>
                  </a:lnTo>
                  <a:lnTo>
                    <a:pt x="366" y="468"/>
                  </a:lnTo>
                  <a:lnTo>
                    <a:pt x="366" y="828"/>
                  </a:lnTo>
                  <a:lnTo>
                    <a:pt x="0" y="834"/>
                  </a:lnTo>
                  <a:lnTo>
                    <a:pt x="0" y="0"/>
                  </a:lnTo>
                  <a:lnTo>
                    <a:pt x="366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6" name="Oval 160">
              <a:extLst>
                <a:ext uri="{FF2B5EF4-FFF2-40B4-BE49-F238E27FC236}">
                  <a16:creationId xmlns:a16="http://schemas.microsoft.com/office/drawing/2014/main" id="{4815AA5B-A9CC-83AD-9402-A44E7AD027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3119" y="3688805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167" name="Oval 161">
              <a:extLst>
                <a:ext uri="{FF2B5EF4-FFF2-40B4-BE49-F238E27FC236}">
                  <a16:creationId xmlns:a16="http://schemas.microsoft.com/office/drawing/2014/main" id="{0CF291B5-089D-61A2-EEA3-519E86481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3119" y="4908005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168" name="Line 162">
              <a:extLst>
                <a:ext uri="{FF2B5EF4-FFF2-40B4-BE49-F238E27FC236}">
                  <a16:creationId xmlns:a16="http://schemas.microsoft.com/office/drawing/2014/main" id="{ABBB1AA7-9C8D-DC6C-0D02-6A858685DA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17444" y="2115592"/>
              <a:ext cx="0" cy="2228850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69" name="Oval 165">
              <a:extLst>
                <a:ext uri="{FF2B5EF4-FFF2-40B4-BE49-F238E27FC236}">
                  <a16:creationId xmlns:a16="http://schemas.microsoft.com/office/drawing/2014/main" id="{483DE749-EBBC-DDF4-A480-F8568D905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9344" y="2088605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170" name="Oval 166">
              <a:extLst>
                <a:ext uri="{FF2B5EF4-FFF2-40B4-BE49-F238E27FC236}">
                  <a16:creationId xmlns:a16="http://schemas.microsoft.com/office/drawing/2014/main" id="{80AC2B7F-B37B-F188-3793-48B8E6A92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8869" y="4307930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171" name="Oval 167">
              <a:extLst>
                <a:ext uri="{FF2B5EF4-FFF2-40B4-BE49-F238E27FC236}">
                  <a16:creationId xmlns:a16="http://schemas.microsoft.com/office/drawing/2014/main" id="{34CB44DA-57D2-9FDA-005B-2BE20282B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3119" y="3212555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172" name="Freeform 168">
              <a:extLst>
                <a:ext uri="{FF2B5EF4-FFF2-40B4-BE49-F238E27FC236}">
                  <a16:creationId xmlns:a16="http://schemas.microsoft.com/office/drawing/2014/main" id="{2A232223-2022-A2DE-1BEB-CF0DBDC63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1219" y="3744367"/>
              <a:ext cx="268288" cy="1200150"/>
            </a:xfrm>
            <a:custGeom>
              <a:avLst/>
              <a:gdLst>
                <a:gd name="T0" fmla="*/ 2147483647 w 169"/>
                <a:gd name="T1" fmla="*/ 0 h 756"/>
                <a:gd name="T2" fmla="*/ 2147483647 w 169"/>
                <a:gd name="T3" fmla="*/ 2147483647 h 756"/>
                <a:gd name="T4" fmla="*/ 2147483647 w 169"/>
                <a:gd name="T5" fmla="*/ 2147483647 h 756"/>
                <a:gd name="T6" fmla="*/ 2147483647 w 169"/>
                <a:gd name="T7" fmla="*/ 2147483647 h 756"/>
                <a:gd name="T8" fmla="*/ 2147483647 w 169"/>
                <a:gd name="T9" fmla="*/ 2147483647 h 756"/>
                <a:gd name="T10" fmla="*/ 2147483647 w 169"/>
                <a:gd name="T11" fmla="*/ 2147483647 h 756"/>
                <a:gd name="T12" fmla="*/ 2147483647 w 169"/>
                <a:gd name="T13" fmla="*/ 2147483647 h 756"/>
                <a:gd name="T14" fmla="*/ 0 w 169"/>
                <a:gd name="T15" fmla="*/ 2147483647 h 7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69"/>
                <a:gd name="T25" fmla="*/ 0 h 756"/>
                <a:gd name="T26" fmla="*/ 169 w 169"/>
                <a:gd name="T27" fmla="*/ 756 h 75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69" h="756">
                  <a:moveTo>
                    <a:pt x="6" y="0"/>
                  </a:moveTo>
                  <a:cubicBezTo>
                    <a:pt x="17" y="14"/>
                    <a:pt x="52" y="52"/>
                    <a:pt x="72" y="84"/>
                  </a:cubicBezTo>
                  <a:cubicBezTo>
                    <a:pt x="92" y="116"/>
                    <a:pt x="111" y="155"/>
                    <a:pt x="126" y="192"/>
                  </a:cubicBezTo>
                  <a:cubicBezTo>
                    <a:pt x="141" y="229"/>
                    <a:pt x="156" y="265"/>
                    <a:pt x="162" y="306"/>
                  </a:cubicBezTo>
                  <a:cubicBezTo>
                    <a:pt x="168" y="347"/>
                    <a:pt x="169" y="396"/>
                    <a:pt x="162" y="438"/>
                  </a:cubicBezTo>
                  <a:cubicBezTo>
                    <a:pt x="155" y="480"/>
                    <a:pt x="135" y="523"/>
                    <a:pt x="120" y="558"/>
                  </a:cubicBezTo>
                  <a:cubicBezTo>
                    <a:pt x="105" y="593"/>
                    <a:pt x="92" y="615"/>
                    <a:pt x="72" y="648"/>
                  </a:cubicBezTo>
                  <a:cubicBezTo>
                    <a:pt x="52" y="681"/>
                    <a:pt x="15" y="734"/>
                    <a:pt x="0" y="756"/>
                  </a:cubicBezTo>
                </a:path>
              </a:pathLst>
            </a:cu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3" name="Line 169">
              <a:extLst>
                <a:ext uri="{FF2B5EF4-FFF2-40B4-BE49-F238E27FC236}">
                  <a16:creationId xmlns:a16="http://schemas.microsoft.com/office/drawing/2014/main" id="{C2B17362-18AF-37E2-554D-DBE42B52AC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1719" y="2487067"/>
              <a:ext cx="1704975" cy="0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" name="Line 170">
              <a:extLst>
                <a:ext uri="{FF2B5EF4-FFF2-40B4-BE49-F238E27FC236}">
                  <a16:creationId xmlns:a16="http://schemas.microsoft.com/office/drawing/2014/main" id="{D04D5253-08BE-3D7A-7083-916A016061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74544" y="4068217"/>
              <a:ext cx="133350" cy="47625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5" name="Line 171">
              <a:extLst>
                <a:ext uri="{FF2B5EF4-FFF2-40B4-BE49-F238E27FC236}">
                  <a16:creationId xmlns:a16="http://schemas.microsoft.com/office/drawing/2014/main" id="{3F36B627-71E1-FA13-1810-8CF89AE30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74544" y="4515892"/>
              <a:ext cx="133350" cy="47625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6" name="Line 172">
              <a:extLst>
                <a:ext uri="{FF2B5EF4-FFF2-40B4-BE49-F238E27FC236}">
                  <a16:creationId xmlns:a16="http://schemas.microsoft.com/office/drawing/2014/main" id="{FB4C738D-EECE-B12A-1BD7-D3A96EEBC9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65194" y="3191917"/>
              <a:ext cx="28575" cy="123825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7" name="Line 173">
              <a:extLst>
                <a:ext uri="{FF2B5EF4-FFF2-40B4-BE49-F238E27FC236}">
                  <a16:creationId xmlns:a16="http://schemas.microsoft.com/office/drawing/2014/main" id="{30BCEA8F-3EAE-38C5-73D7-9C6BE326C8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70019" y="3182392"/>
              <a:ext cx="28575" cy="123825"/>
            </a:xfrm>
            <a:prstGeom prst="line">
              <a:avLst/>
            </a:prstGeom>
            <a:noFill/>
            <a:ln w="2857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8" name="Oval 174">
              <a:extLst>
                <a:ext uri="{FF2B5EF4-FFF2-40B4-BE49-F238E27FC236}">
                  <a16:creationId xmlns:a16="http://schemas.microsoft.com/office/drawing/2014/main" id="{75050456-8C85-AADB-BEDE-5F4562963F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1969" y="3212555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179" name="Oval 175">
              <a:extLst>
                <a:ext uri="{FF2B5EF4-FFF2-40B4-BE49-F238E27FC236}">
                  <a16:creationId xmlns:a16="http://schemas.microsoft.com/office/drawing/2014/main" id="{5EE1067A-D5A4-91CF-DFA2-E12CCCA7A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0869" y="3212555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180" name="Line 176">
              <a:extLst>
                <a:ext uri="{FF2B5EF4-FFF2-40B4-BE49-F238E27FC236}">
                  <a16:creationId xmlns:a16="http://schemas.microsoft.com/office/drawing/2014/main" id="{2F47485A-DA43-51D6-6C15-672A04B52C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28694" y="1966367"/>
              <a:ext cx="260350" cy="501650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1" name="Line 177">
              <a:extLst>
                <a:ext uri="{FF2B5EF4-FFF2-40B4-BE49-F238E27FC236}">
                  <a16:creationId xmlns:a16="http://schemas.microsoft.com/office/drawing/2014/main" id="{EAF8EAB0-331D-4178-5C11-ED7942C4A0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376344" y="1940967"/>
              <a:ext cx="266700" cy="546100"/>
            </a:xfrm>
            <a:prstGeom prst="line">
              <a:avLst/>
            </a:prstGeom>
            <a:noFill/>
            <a:ln w="76200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2" name="Oval 178">
              <a:extLst>
                <a:ext uri="{FF2B5EF4-FFF2-40B4-BE49-F238E27FC236}">
                  <a16:creationId xmlns:a16="http://schemas.microsoft.com/office/drawing/2014/main" id="{4B265367-7D4C-E19F-1FD2-A23A20628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1419" y="2088605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183" name="Freeform 179">
              <a:extLst>
                <a:ext uri="{FF2B5EF4-FFF2-40B4-BE49-F238E27FC236}">
                  <a16:creationId xmlns:a16="http://schemas.microsoft.com/office/drawing/2014/main" id="{B872A40E-9DAE-C0BC-890C-39E555ACE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8969" y="2137817"/>
              <a:ext cx="1177925" cy="1120775"/>
            </a:xfrm>
            <a:custGeom>
              <a:avLst/>
              <a:gdLst>
                <a:gd name="T0" fmla="*/ 0 w 742"/>
                <a:gd name="T1" fmla="*/ 2147483647 h 706"/>
                <a:gd name="T2" fmla="*/ 2147483647 w 742"/>
                <a:gd name="T3" fmla="*/ 2147483647 h 706"/>
                <a:gd name="T4" fmla="*/ 2147483647 w 742"/>
                <a:gd name="T5" fmla="*/ 2147483647 h 706"/>
                <a:gd name="T6" fmla="*/ 2147483647 w 742"/>
                <a:gd name="T7" fmla="*/ 2147483647 h 706"/>
                <a:gd name="T8" fmla="*/ 2147483647 w 742"/>
                <a:gd name="T9" fmla="*/ 2147483647 h 706"/>
                <a:gd name="T10" fmla="*/ 2147483647 w 742"/>
                <a:gd name="T11" fmla="*/ 2147483647 h 706"/>
                <a:gd name="T12" fmla="*/ 2147483647 w 742"/>
                <a:gd name="T13" fmla="*/ 2147483647 h 706"/>
                <a:gd name="T14" fmla="*/ 2147483647 w 742"/>
                <a:gd name="T15" fmla="*/ 0 h 706"/>
                <a:gd name="T16" fmla="*/ 2147483647 w 742"/>
                <a:gd name="T17" fmla="*/ 2147483647 h 706"/>
                <a:gd name="T18" fmla="*/ 2147483647 w 742"/>
                <a:gd name="T19" fmla="*/ 2147483647 h 706"/>
                <a:gd name="T20" fmla="*/ 2147483647 w 742"/>
                <a:gd name="T21" fmla="*/ 2147483647 h 706"/>
                <a:gd name="T22" fmla="*/ 2147483647 w 742"/>
                <a:gd name="T23" fmla="*/ 2147483647 h 706"/>
                <a:gd name="T24" fmla="*/ 2147483647 w 742"/>
                <a:gd name="T25" fmla="*/ 2147483647 h 706"/>
                <a:gd name="T26" fmla="*/ 2147483647 w 742"/>
                <a:gd name="T27" fmla="*/ 2147483647 h 706"/>
                <a:gd name="T28" fmla="*/ 2147483647 w 742"/>
                <a:gd name="T29" fmla="*/ 2147483647 h 7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42"/>
                <a:gd name="T46" fmla="*/ 0 h 706"/>
                <a:gd name="T47" fmla="*/ 742 w 742"/>
                <a:gd name="T48" fmla="*/ 706 h 70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42" h="706">
                  <a:moveTo>
                    <a:pt x="0" y="706"/>
                  </a:moveTo>
                  <a:cubicBezTo>
                    <a:pt x="8" y="686"/>
                    <a:pt x="32" y="625"/>
                    <a:pt x="50" y="584"/>
                  </a:cubicBezTo>
                  <a:cubicBezTo>
                    <a:pt x="68" y="543"/>
                    <a:pt x="91" y="499"/>
                    <a:pt x="110" y="460"/>
                  </a:cubicBezTo>
                  <a:cubicBezTo>
                    <a:pt x="129" y="421"/>
                    <a:pt x="145" y="385"/>
                    <a:pt x="162" y="348"/>
                  </a:cubicBezTo>
                  <a:cubicBezTo>
                    <a:pt x="179" y="311"/>
                    <a:pt x="190" y="279"/>
                    <a:pt x="210" y="238"/>
                  </a:cubicBezTo>
                  <a:cubicBezTo>
                    <a:pt x="230" y="197"/>
                    <a:pt x="261" y="140"/>
                    <a:pt x="282" y="104"/>
                  </a:cubicBezTo>
                  <a:cubicBezTo>
                    <a:pt x="303" y="68"/>
                    <a:pt x="322" y="37"/>
                    <a:pt x="338" y="20"/>
                  </a:cubicBezTo>
                  <a:cubicBezTo>
                    <a:pt x="354" y="3"/>
                    <a:pt x="365" y="0"/>
                    <a:pt x="378" y="0"/>
                  </a:cubicBezTo>
                  <a:cubicBezTo>
                    <a:pt x="391" y="0"/>
                    <a:pt x="399" y="5"/>
                    <a:pt x="414" y="22"/>
                  </a:cubicBezTo>
                  <a:cubicBezTo>
                    <a:pt x="429" y="39"/>
                    <a:pt x="448" y="67"/>
                    <a:pt x="468" y="103"/>
                  </a:cubicBezTo>
                  <a:cubicBezTo>
                    <a:pt x="488" y="139"/>
                    <a:pt x="514" y="199"/>
                    <a:pt x="534" y="240"/>
                  </a:cubicBezTo>
                  <a:cubicBezTo>
                    <a:pt x="554" y="281"/>
                    <a:pt x="569" y="315"/>
                    <a:pt x="586" y="352"/>
                  </a:cubicBezTo>
                  <a:cubicBezTo>
                    <a:pt x="603" y="389"/>
                    <a:pt x="618" y="421"/>
                    <a:pt x="638" y="464"/>
                  </a:cubicBezTo>
                  <a:cubicBezTo>
                    <a:pt x="658" y="507"/>
                    <a:pt x="689" y="573"/>
                    <a:pt x="706" y="612"/>
                  </a:cubicBezTo>
                  <a:cubicBezTo>
                    <a:pt x="723" y="651"/>
                    <a:pt x="735" y="682"/>
                    <a:pt x="742" y="700"/>
                  </a:cubicBezTo>
                </a:path>
              </a:pathLst>
            </a:custGeom>
            <a:noFill/>
            <a:ln w="381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4" name="Oval 180">
              <a:extLst>
                <a:ext uri="{FF2B5EF4-FFF2-40B4-BE49-F238E27FC236}">
                  <a16:creationId xmlns:a16="http://schemas.microsoft.com/office/drawing/2014/main" id="{CBB5D9E0-4492-8193-90EA-8447DB417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4719" y="2450555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185" name="Oval 181">
              <a:extLst>
                <a:ext uri="{FF2B5EF4-FFF2-40B4-BE49-F238E27FC236}">
                  <a16:creationId xmlns:a16="http://schemas.microsoft.com/office/drawing/2014/main" id="{D7F7ABD6-4E9C-CF94-8C06-CFA863F82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8119" y="2450555"/>
              <a:ext cx="74613" cy="74612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186" name="Line 182">
              <a:extLst>
                <a:ext uri="{FF2B5EF4-FFF2-40B4-BE49-F238E27FC236}">
                  <a16:creationId xmlns:a16="http://schemas.microsoft.com/office/drawing/2014/main" id="{6B767C24-DFD4-6F38-384C-FD1E834F77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17444" y="2125117"/>
              <a:ext cx="1371600" cy="0"/>
            </a:xfrm>
            <a:prstGeom prst="line">
              <a:avLst/>
            </a:pr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00" name="组合 199">
              <a:extLst>
                <a:ext uri="{FF2B5EF4-FFF2-40B4-BE49-F238E27FC236}">
                  <a16:creationId xmlns:a16="http://schemas.microsoft.com/office/drawing/2014/main" id="{A428D405-F184-A86C-A613-4D276354255C}"/>
                </a:ext>
              </a:extLst>
            </p:cNvPr>
            <p:cNvGrpSpPr/>
            <p:nvPr/>
          </p:nvGrpSpPr>
          <p:grpSpPr>
            <a:xfrm>
              <a:off x="6372200" y="5209085"/>
              <a:ext cx="2313454" cy="907941"/>
              <a:chOff x="6372200" y="5209085"/>
              <a:chExt cx="2313454" cy="907941"/>
            </a:xfrm>
          </p:grpSpPr>
          <p:sp>
            <p:nvSpPr>
              <p:cNvPr id="187" name="Text Box 183">
                <a:extLst>
                  <a:ext uri="{FF2B5EF4-FFF2-40B4-BE49-F238E27FC236}">
                    <a16:creationId xmlns:a16="http://schemas.microsoft.com/office/drawing/2014/main" id="{6E933839-A120-9163-8D17-9FFB0A7F0A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72200" y="5209085"/>
                <a:ext cx="2313454" cy="90794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   </a:t>
                </a:r>
                <a:r>
                  <a:rPr lang="zh-CN" altLang="zh-CN" sz="2400" b="1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轴线 </a:t>
                </a:r>
                <a:r>
                  <a:rPr lang="zh-CN" altLang="zh-CN" sz="2000" i="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zh-CN" sz="2400" i="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Symbol" pitchFamily="18" charset="2"/>
                  </a:rPr>
                  <a:t></a:t>
                </a:r>
                <a:r>
                  <a:rPr lang="en-US" altLang="zh-CN" sz="2400" i="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Symbol" pitchFamily="18" charset="2"/>
                  </a:rPr>
                  <a:t>&lt;</a:t>
                </a:r>
                <a:r>
                  <a:rPr lang="zh-CN" altLang="zh-CN" sz="2400" i="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Symbol" pitchFamily="18" charset="2"/>
                  </a:rPr>
                  <a:t></a:t>
                </a:r>
              </a:p>
              <a:p>
                <a:pPr algn="ctr" eaLnBrk="1" hangingPunct="1">
                  <a:spcBef>
                    <a:spcPts val="600"/>
                  </a:spcBef>
                  <a:buClrTx/>
                  <a:buFontTx/>
                  <a:buNone/>
                </a:pPr>
                <a:r>
                  <a:rPr lang="zh-CN" altLang="zh-CN" sz="2400" i="0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Symbol" pitchFamily="18" charset="2"/>
                  </a:rPr>
                  <a:t>交线为双曲线</a:t>
                </a:r>
                <a:endParaRPr lang="zh-CN" altLang="en-US" sz="2400" i="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88" name="Group 184">
                <a:extLst>
                  <a:ext uri="{FF2B5EF4-FFF2-40B4-BE49-F238E27FC236}">
                    <a16:creationId xmlns:a16="http://schemas.microsoft.com/office/drawing/2014/main" id="{C5374910-E426-84C9-12DF-3D960FC523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48495" y="5368157"/>
                <a:ext cx="247650" cy="190873"/>
                <a:chOff x="5026" y="3694"/>
                <a:chExt cx="248" cy="208"/>
              </a:xfrm>
            </p:grpSpPr>
            <p:sp>
              <p:nvSpPr>
                <p:cNvPr id="189" name="Line 185">
                  <a:extLst>
                    <a:ext uri="{FF2B5EF4-FFF2-40B4-BE49-F238E27FC236}">
                      <a16:creationId xmlns:a16="http://schemas.microsoft.com/office/drawing/2014/main" id="{AF8B6D84-4F3B-F12F-4CB5-B700A7405B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134" y="3694"/>
                  <a:ext cx="116" cy="20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0" name="Line 186">
                  <a:extLst>
                    <a:ext uri="{FF2B5EF4-FFF2-40B4-BE49-F238E27FC236}">
                      <a16:creationId xmlns:a16="http://schemas.microsoft.com/office/drawing/2014/main" id="{D4404260-2CD6-9ED1-94E4-36F660750D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26" y="3902"/>
                  <a:ext cx="24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91" name="Oval 188">
              <a:extLst>
                <a:ext uri="{FF2B5EF4-FFF2-40B4-BE49-F238E27FC236}">
                  <a16:creationId xmlns:a16="http://schemas.microsoft.com/office/drawing/2014/main" id="{7D130078-458B-7A49-8904-CFF74886A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88857" y="2436267"/>
              <a:ext cx="74612" cy="74613"/>
            </a:xfrm>
            <a:prstGeom prst="ellipse">
              <a:avLst/>
            </a:prstGeom>
            <a:gradFill rotWithShape="0">
              <a:gsLst>
                <a:gs pos="0">
                  <a:srgbClr val="CC0000"/>
                </a:gs>
                <a:gs pos="100000">
                  <a:srgbClr val="000000"/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52122311-91ED-4F16-D3D7-4FE6A341D1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22144" y="1124992"/>
              <a:ext cx="790575" cy="971550"/>
              <a:chOff x="3240" y="552"/>
              <a:chExt cx="498" cy="612"/>
            </a:xfrm>
          </p:grpSpPr>
          <p:sp>
            <p:nvSpPr>
              <p:cNvPr id="193" name="Line 192">
                <a:extLst>
                  <a:ext uri="{FF2B5EF4-FFF2-40B4-BE49-F238E27FC236}">
                    <a16:creationId xmlns:a16="http://schemas.microsoft.com/office/drawing/2014/main" id="{6CB427C8-C623-CD1E-0F06-171A2DB31A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40" y="569"/>
                <a:ext cx="254" cy="5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" name="Line 193">
                <a:extLst>
                  <a:ext uri="{FF2B5EF4-FFF2-40B4-BE49-F238E27FC236}">
                    <a16:creationId xmlns:a16="http://schemas.microsoft.com/office/drawing/2014/main" id="{76D289F8-1411-136D-D6A7-7827993928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00" y="576"/>
                <a:ext cx="238" cy="5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" name="Line 194">
                <a:extLst>
                  <a:ext uri="{FF2B5EF4-FFF2-40B4-BE49-F238E27FC236}">
                    <a16:creationId xmlns:a16="http://schemas.microsoft.com/office/drawing/2014/main" id="{5D8881CB-440D-96F1-20C5-144B2CBD2B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8" y="576"/>
                <a:ext cx="4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6" name="Line 195">
                <a:extLst>
                  <a:ext uri="{FF2B5EF4-FFF2-40B4-BE49-F238E27FC236}">
                    <a16:creationId xmlns:a16="http://schemas.microsoft.com/office/drawing/2014/main" id="{C6B3FC94-99E0-A6AC-4EAA-7BA1DAEDA1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96" y="552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7" name="Line 196">
                <a:extLst>
                  <a:ext uri="{FF2B5EF4-FFF2-40B4-BE49-F238E27FC236}">
                    <a16:creationId xmlns:a16="http://schemas.microsoft.com/office/drawing/2014/main" id="{420BDAE3-AD05-E6A8-89FF-60E5B08079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48" y="579"/>
                <a:ext cx="120" cy="585"/>
              </a:xfrm>
              <a:prstGeom prst="line">
                <a:avLst/>
              </a:prstGeom>
              <a:noFill/>
              <a:ln w="9525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86572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4C200-1A96-D1DA-9409-4EBF0B4E0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E37EEB61-3856-55F0-AE10-4690BCB5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20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47C560A2-0EE6-2EA6-E9A7-6DE148A6B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540083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平面与回转体相交（二）</a:t>
            </a:r>
          </a:p>
        </p:txBody>
      </p:sp>
      <p:sp>
        <p:nvSpPr>
          <p:cNvPr id="2" name="Line 112">
            <a:extLst>
              <a:ext uri="{FF2B5EF4-FFF2-40B4-BE49-F238E27FC236}">
                <a16:creationId xmlns:a16="http://schemas.microsoft.com/office/drawing/2014/main" id="{ABA009DC-67D4-0676-8E20-01C6F04928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7906" y="1982862"/>
            <a:ext cx="0" cy="46037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" name="Line 110">
            <a:extLst>
              <a:ext uri="{FF2B5EF4-FFF2-40B4-BE49-F238E27FC236}">
                <a16:creationId xmlns:a16="http://schemas.microsoft.com/office/drawing/2014/main" id="{ABB22020-07A0-A7EA-0CE9-FB123A4440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2906" y="1952700"/>
            <a:ext cx="0" cy="585787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" name="AutoShape 8">
            <a:extLst>
              <a:ext uri="{FF2B5EF4-FFF2-40B4-BE49-F238E27FC236}">
                <a16:creationId xmlns:a16="http://schemas.microsoft.com/office/drawing/2014/main" id="{D9DDFA7D-10C3-9EDF-A598-CA3264E08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9481" y="2122562"/>
            <a:ext cx="1466850" cy="1612900"/>
          </a:xfrm>
          <a:prstGeom prst="triangle">
            <a:avLst>
              <a:gd name="adj" fmla="val 50000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5" name="AutoShape 34">
            <a:extLst>
              <a:ext uri="{FF2B5EF4-FFF2-40B4-BE49-F238E27FC236}">
                <a16:creationId xmlns:a16="http://schemas.microsoft.com/office/drawing/2014/main" id="{089D8A15-F16C-05BB-99FF-DD13E6158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4481" y="2122562"/>
            <a:ext cx="1466850" cy="1612900"/>
          </a:xfrm>
          <a:prstGeom prst="triangle">
            <a:avLst>
              <a:gd name="adj" fmla="val 50000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6" name="Oval 31">
            <a:extLst>
              <a:ext uri="{FF2B5EF4-FFF2-40B4-BE49-F238E27FC236}">
                <a16:creationId xmlns:a16="http://schemas.microsoft.com/office/drawing/2014/main" id="{9C4E06FF-0E7C-07B0-309A-B2C520ADB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031" y="2632150"/>
            <a:ext cx="793750" cy="993775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" name="Line 72">
            <a:extLst>
              <a:ext uri="{FF2B5EF4-FFF2-40B4-BE49-F238E27FC236}">
                <a16:creationId xmlns:a16="http://schemas.microsoft.com/office/drawing/2014/main" id="{9FDB1472-E625-C688-B59B-6DB36432C9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7256" y="5424562"/>
            <a:ext cx="0" cy="463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Line 68">
            <a:extLst>
              <a:ext uri="{FF2B5EF4-FFF2-40B4-BE49-F238E27FC236}">
                <a16:creationId xmlns:a16="http://schemas.microsoft.com/office/drawing/2014/main" id="{F5C6B93B-6E62-08E1-841D-C72E4D2FE376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706" y="3459237"/>
            <a:ext cx="412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" name="Line 60">
            <a:extLst>
              <a:ext uri="{FF2B5EF4-FFF2-40B4-BE49-F238E27FC236}">
                <a16:creationId xmlns:a16="http://schemas.microsoft.com/office/drawing/2014/main" id="{65E35BED-A673-6C23-F810-A90F096AB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9968" y="2633737"/>
            <a:ext cx="5619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" name="Line 61">
            <a:extLst>
              <a:ext uri="{FF2B5EF4-FFF2-40B4-BE49-F238E27FC236}">
                <a16:creationId xmlns:a16="http://schemas.microsoft.com/office/drawing/2014/main" id="{C218E2F5-D44A-40C4-B676-074174B9D51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4931" y="2886150"/>
            <a:ext cx="219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" name="Line 62">
            <a:extLst>
              <a:ext uri="{FF2B5EF4-FFF2-40B4-BE49-F238E27FC236}">
                <a16:creationId xmlns:a16="http://schemas.microsoft.com/office/drawing/2014/main" id="{B5E6CA5E-6BA6-3EC9-8308-6CE8ACA13C3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2081" y="3129037"/>
            <a:ext cx="2238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" name="Line 63">
            <a:extLst>
              <a:ext uri="{FF2B5EF4-FFF2-40B4-BE49-F238E27FC236}">
                <a16:creationId xmlns:a16="http://schemas.microsoft.com/office/drawing/2014/main" id="{1043A390-7C2C-7EFF-F0C7-5EFA56869E85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4731" y="3629100"/>
            <a:ext cx="7905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" name="Line 57">
            <a:extLst>
              <a:ext uri="{FF2B5EF4-FFF2-40B4-BE49-F238E27FC236}">
                <a16:creationId xmlns:a16="http://schemas.microsoft.com/office/drawing/2014/main" id="{5657E386-84DB-766B-2F30-E774A85272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368" y="5129287"/>
            <a:ext cx="0" cy="914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5" name="Line 58">
            <a:extLst>
              <a:ext uri="{FF2B5EF4-FFF2-40B4-BE49-F238E27FC236}">
                <a16:creationId xmlns:a16="http://schemas.microsoft.com/office/drawing/2014/main" id="{F9AA2B7C-005F-28A0-A408-C80EB44B73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8331" y="5529337"/>
            <a:ext cx="0" cy="528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" name="Line 59">
            <a:extLst>
              <a:ext uri="{FF2B5EF4-FFF2-40B4-BE49-F238E27FC236}">
                <a16:creationId xmlns:a16="http://schemas.microsoft.com/office/drawing/2014/main" id="{C67E322A-6AB7-C122-DB1E-7D648A6E627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0293" y="5143575"/>
            <a:ext cx="0" cy="6810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7" name="Rectangle 39">
            <a:extLst>
              <a:ext uri="{FF2B5EF4-FFF2-40B4-BE49-F238E27FC236}">
                <a16:creationId xmlns:a16="http://schemas.microsoft.com/office/drawing/2014/main" id="{0C516B82-5CF2-C4E8-91F0-F9E404C7D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4693" y="1284386"/>
            <a:ext cx="3816350" cy="491043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9" name="Line 4">
            <a:extLst>
              <a:ext uri="{FF2B5EF4-FFF2-40B4-BE49-F238E27FC236}">
                <a16:creationId xmlns:a16="http://schemas.microsoft.com/office/drawing/2014/main" id="{91A14D48-B770-EE73-DA99-3C1DC766B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2006" y="5146750"/>
            <a:ext cx="171450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0" name="Line 5">
            <a:extLst>
              <a:ext uri="{FF2B5EF4-FFF2-40B4-BE49-F238E27FC236}">
                <a16:creationId xmlns:a16="http://schemas.microsoft.com/office/drawing/2014/main" id="{E51B8E68-8F7D-E136-87B9-6658232B12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2906" y="4270450"/>
            <a:ext cx="0" cy="177800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1" name="Line 6">
            <a:extLst>
              <a:ext uri="{FF2B5EF4-FFF2-40B4-BE49-F238E27FC236}">
                <a16:creationId xmlns:a16="http://schemas.microsoft.com/office/drawing/2014/main" id="{19DF2F8F-A468-4486-046B-2F33B89259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2906" y="2505150"/>
            <a:ext cx="0" cy="1430337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2" name="Oval 7">
            <a:extLst>
              <a:ext uri="{FF2B5EF4-FFF2-40B4-BE49-F238E27FC236}">
                <a16:creationId xmlns:a16="http://schemas.microsoft.com/office/drawing/2014/main" id="{73539313-41A5-5A8B-56EE-D3798934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9481" y="4414912"/>
            <a:ext cx="1463675" cy="1463675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3" name="Line 9">
            <a:extLst>
              <a:ext uri="{FF2B5EF4-FFF2-40B4-BE49-F238E27FC236}">
                <a16:creationId xmlns:a16="http://schemas.microsoft.com/office/drawing/2014/main" id="{D1508C48-0952-44E7-3F3A-3E811A8AC4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7906" y="2440062"/>
            <a:ext cx="0" cy="149542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4" name="Line 18">
            <a:extLst>
              <a:ext uri="{FF2B5EF4-FFF2-40B4-BE49-F238E27FC236}">
                <a16:creationId xmlns:a16="http://schemas.microsoft.com/office/drawing/2014/main" id="{EB317D42-200D-88CF-F5C0-DAC200F1D6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7956" y="2641675"/>
            <a:ext cx="0" cy="2505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5" name="Line 19">
            <a:extLst>
              <a:ext uri="{FF2B5EF4-FFF2-40B4-BE49-F238E27FC236}">
                <a16:creationId xmlns:a16="http://schemas.microsoft.com/office/drawing/2014/main" id="{7EFEDB19-66F1-1390-B796-E3B54EC0E9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8331" y="3129037"/>
            <a:ext cx="0" cy="24193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6" name="Line 20">
            <a:extLst>
              <a:ext uri="{FF2B5EF4-FFF2-40B4-BE49-F238E27FC236}">
                <a16:creationId xmlns:a16="http://schemas.microsoft.com/office/drawing/2014/main" id="{62A0B896-2660-3C7F-91AD-02DC384FB07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706" y="3630687"/>
            <a:ext cx="0" cy="15160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7" name="Line 22">
            <a:extLst>
              <a:ext uri="{FF2B5EF4-FFF2-40B4-BE49-F238E27FC236}">
                <a16:creationId xmlns:a16="http://schemas.microsoft.com/office/drawing/2014/main" id="{9BFDE5CC-70F9-3465-D61B-0082CBC3F3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7956" y="2636912"/>
            <a:ext cx="21240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8" name="Line 23">
            <a:extLst>
              <a:ext uri="{FF2B5EF4-FFF2-40B4-BE49-F238E27FC236}">
                <a16:creationId xmlns:a16="http://schemas.microsoft.com/office/drawing/2014/main" id="{5C007764-F388-AB96-B4BD-BF6DCE1B45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5231" y="3129037"/>
            <a:ext cx="27447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9" name="Line 24">
            <a:extLst>
              <a:ext uri="{FF2B5EF4-FFF2-40B4-BE49-F238E27FC236}">
                <a16:creationId xmlns:a16="http://schemas.microsoft.com/office/drawing/2014/main" id="{9163134D-D9AC-9EA3-3742-D2713B379C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2356" y="3630687"/>
            <a:ext cx="12255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0" name="Line 25">
            <a:extLst>
              <a:ext uri="{FF2B5EF4-FFF2-40B4-BE49-F238E27FC236}">
                <a16:creationId xmlns:a16="http://schemas.microsoft.com/office/drawing/2014/main" id="{EA5FC344-149D-CA60-BA0B-D72C17CBD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656" y="2887737"/>
            <a:ext cx="258286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1" name="Freeform 38">
            <a:extLst>
              <a:ext uri="{FF2B5EF4-FFF2-40B4-BE49-F238E27FC236}">
                <a16:creationId xmlns:a16="http://schemas.microsoft.com/office/drawing/2014/main" id="{37C5F0F7-ECA0-957C-56CD-ED79E7A6E5F9}"/>
              </a:ext>
            </a:extLst>
          </p:cNvPr>
          <p:cNvSpPr>
            <a:spLocks/>
          </p:cNvSpPr>
          <p:nvPr/>
        </p:nvSpPr>
        <p:spPr bwMode="auto">
          <a:xfrm>
            <a:off x="6124481" y="2887737"/>
            <a:ext cx="1466850" cy="847725"/>
          </a:xfrm>
          <a:custGeom>
            <a:avLst/>
            <a:gdLst>
              <a:gd name="T0" fmla="*/ 2147483647 w 924"/>
              <a:gd name="T1" fmla="*/ 0 h 534"/>
              <a:gd name="T2" fmla="*/ 0 w 924"/>
              <a:gd name="T3" fmla="*/ 2147483647 h 534"/>
              <a:gd name="T4" fmla="*/ 2147483647 w 924"/>
              <a:gd name="T5" fmla="*/ 2147483647 h 534"/>
              <a:gd name="T6" fmla="*/ 2147483647 w 924"/>
              <a:gd name="T7" fmla="*/ 0 h 534"/>
              <a:gd name="T8" fmla="*/ 0 60000 65536"/>
              <a:gd name="T9" fmla="*/ 0 60000 65536"/>
              <a:gd name="T10" fmla="*/ 0 60000 65536"/>
              <a:gd name="T11" fmla="*/ 0 60000 65536"/>
              <a:gd name="T12" fmla="*/ 0 w 924"/>
              <a:gd name="T13" fmla="*/ 0 h 534"/>
              <a:gd name="T14" fmla="*/ 924 w 924"/>
              <a:gd name="T15" fmla="*/ 534 h 5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24" h="534">
                <a:moveTo>
                  <a:pt x="244" y="0"/>
                </a:moveTo>
                <a:lnTo>
                  <a:pt x="0" y="534"/>
                </a:lnTo>
                <a:lnTo>
                  <a:pt x="924" y="534"/>
                </a:lnTo>
                <a:lnTo>
                  <a:pt x="680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2" name="Freeform 40">
            <a:extLst>
              <a:ext uri="{FF2B5EF4-FFF2-40B4-BE49-F238E27FC236}">
                <a16:creationId xmlns:a16="http://schemas.microsoft.com/office/drawing/2014/main" id="{E6C23870-1333-914E-7FCD-FA7CF41D30A8}"/>
              </a:ext>
            </a:extLst>
          </p:cNvPr>
          <p:cNvSpPr>
            <a:spLocks/>
          </p:cNvSpPr>
          <p:nvPr/>
        </p:nvSpPr>
        <p:spPr bwMode="auto">
          <a:xfrm>
            <a:off x="4219481" y="2636912"/>
            <a:ext cx="1466850" cy="1098550"/>
          </a:xfrm>
          <a:custGeom>
            <a:avLst/>
            <a:gdLst>
              <a:gd name="T0" fmla="*/ 2147483647 w 924"/>
              <a:gd name="T1" fmla="*/ 2147483647 h 692"/>
              <a:gd name="T2" fmla="*/ 2147483647 w 924"/>
              <a:gd name="T3" fmla="*/ 2147483647 h 692"/>
              <a:gd name="T4" fmla="*/ 2147483647 w 924"/>
              <a:gd name="T5" fmla="*/ 0 h 692"/>
              <a:gd name="T6" fmla="*/ 0 w 924"/>
              <a:gd name="T7" fmla="*/ 2147483647 h 692"/>
              <a:gd name="T8" fmla="*/ 2147483647 w 924"/>
              <a:gd name="T9" fmla="*/ 2147483647 h 6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24"/>
              <a:gd name="T16" fmla="*/ 0 h 692"/>
              <a:gd name="T17" fmla="*/ 924 w 924"/>
              <a:gd name="T18" fmla="*/ 692 h 6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24" h="692">
                <a:moveTo>
                  <a:pt x="924" y="692"/>
                </a:moveTo>
                <a:lnTo>
                  <a:pt x="892" y="626"/>
                </a:lnTo>
                <a:lnTo>
                  <a:pt x="314" y="0"/>
                </a:lnTo>
                <a:lnTo>
                  <a:pt x="0" y="692"/>
                </a:lnTo>
                <a:lnTo>
                  <a:pt x="924" y="692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" name="AutoShape 16">
            <a:extLst>
              <a:ext uri="{FF2B5EF4-FFF2-40B4-BE49-F238E27FC236}">
                <a16:creationId xmlns:a16="http://schemas.microsoft.com/office/drawing/2014/main" id="{E4342AED-4515-39B6-01A3-9121D3ADC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031" y="2606750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34" name="AutoShape 15">
            <a:extLst>
              <a:ext uri="{FF2B5EF4-FFF2-40B4-BE49-F238E27FC236}">
                <a16:creationId xmlns:a16="http://schemas.microsoft.com/office/drawing/2014/main" id="{927DFC9E-31B6-1E0B-786B-998427772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8643" y="3087762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35" name="AutoShape 17">
            <a:extLst>
              <a:ext uri="{FF2B5EF4-FFF2-40B4-BE49-F238E27FC236}">
                <a16:creationId xmlns:a16="http://schemas.microsoft.com/office/drawing/2014/main" id="{8183A8FA-696E-DCE1-C7DF-2695CEE6A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7431" y="3597350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36" name="AutoShape 21">
            <a:extLst>
              <a:ext uri="{FF2B5EF4-FFF2-40B4-BE49-F238E27FC236}">
                <a16:creationId xmlns:a16="http://schemas.microsoft.com/office/drawing/2014/main" id="{D5244346-DD6D-ED5D-2756-0FDC2CBCD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7981" y="2855987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38" name="Line 42">
            <a:extLst>
              <a:ext uri="{FF2B5EF4-FFF2-40B4-BE49-F238E27FC236}">
                <a16:creationId xmlns:a16="http://schemas.microsoft.com/office/drawing/2014/main" id="{EB45D5E4-9F5C-88C4-5B20-454F2805BE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0231" y="5278512"/>
            <a:ext cx="76200" cy="381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9" name="Oval 48">
            <a:extLst>
              <a:ext uri="{FF2B5EF4-FFF2-40B4-BE49-F238E27FC236}">
                <a16:creationId xmlns:a16="http://schemas.microsoft.com/office/drawing/2014/main" id="{BA77DA0F-026D-BD70-28C8-5B04E82E7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368" y="4734000"/>
            <a:ext cx="923925" cy="814387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40" name="Text Box 65">
            <a:extLst>
              <a:ext uri="{FF2B5EF4-FFF2-40B4-BE49-F238E27FC236}">
                <a16:creationId xmlns:a16="http://schemas.microsoft.com/office/drawing/2014/main" id="{D07D5284-2187-4263-34DF-08DB950BA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61" y="1683042"/>
            <a:ext cx="3749744" cy="2816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r>
              <a:rPr kumimoji="0"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步骤：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Tx/>
              <a:buChar char="•"/>
            </a:pPr>
            <a:r>
              <a:rPr kumimoji="0" lang="zh-CN" altLang="en-US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分析交线的种类及投影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kumimoji="0"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找全特殊点</a:t>
            </a:r>
            <a:r>
              <a:rPr kumimoji="0" lang="en-US" altLang="zh-CN" sz="24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椭圆中心、长短轴端点、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极点、轮廓</a:t>
            </a:r>
            <a:r>
              <a:rPr kumimoji="0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终止</a:t>
            </a:r>
            <a:r>
              <a:rPr kumimoji="0" lang="zh-CN" altLang="en-US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点、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2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虚实分界点</a:t>
            </a:r>
          </a:p>
          <a:p>
            <a:pPr eaLnBrk="1" hangingPunct="1">
              <a:spcBef>
                <a:spcPts val="600"/>
              </a:spcBef>
              <a:buClrTx/>
              <a:buFontTx/>
              <a:buChar char="•"/>
            </a:pPr>
            <a:r>
              <a:rPr kumimoji="0"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足够的中间点</a:t>
            </a:r>
            <a:endParaRPr kumimoji="0" lang="zh-CN" altLang="en-US" sz="180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Line 67">
            <a:extLst>
              <a:ext uri="{FF2B5EF4-FFF2-40B4-BE49-F238E27FC236}">
                <a16:creationId xmlns:a16="http://schemas.microsoft.com/office/drawing/2014/main" id="{935E1199-85C6-81ED-3634-43B5BD32E4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0606" y="3459237"/>
            <a:ext cx="28321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2" name="Line 71">
            <a:extLst>
              <a:ext uri="{FF2B5EF4-FFF2-40B4-BE49-F238E27FC236}">
                <a16:creationId xmlns:a16="http://schemas.microsoft.com/office/drawing/2014/main" id="{25BDDE40-422C-5638-5B6A-F12C77B23A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7256" y="3459237"/>
            <a:ext cx="0" cy="1993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" name="AutoShape 66">
            <a:extLst>
              <a:ext uri="{FF2B5EF4-FFF2-40B4-BE49-F238E27FC236}">
                <a16:creationId xmlns:a16="http://schemas.microsoft.com/office/drawing/2014/main" id="{929A126C-9C9E-C169-3209-6B7C568C2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331" y="3425900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44" name="Oval 75">
            <a:extLst>
              <a:ext uri="{FF2B5EF4-FFF2-40B4-BE49-F238E27FC236}">
                <a16:creationId xmlns:a16="http://schemas.microsoft.com/office/drawing/2014/main" id="{DB7BDE52-1A6D-FEBB-376F-2E6F566C7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706" y="4684787"/>
            <a:ext cx="920750" cy="9207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45" name="Oval 76">
            <a:extLst>
              <a:ext uri="{FF2B5EF4-FFF2-40B4-BE49-F238E27FC236}">
                <a16:creationId xmlns:a16="http://schemas.microsoft.com/office/drawing/2014/main" id="{7EDF41AD-4906-5611-78C8-7A2147644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656" y="4799087"/>
            <a:ext cx="698500" cy="698500"/>
          </a:xfrm>
          <a:prstGeom prst="ellips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46" name="Oval 77">
            <a:extLst>
              <a:ext uri="{FF2B5EF4-FFF2-40B4-BE49-F238E27FC236}">
                <a16:creationId xmlns:a16="http://schemas.microsoft.com/office/drawing/2014/main" id="{51418765-1D44-E030-C2C3-CC8D35D08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306" y="4538737"/>
            <a:ext cx="1212850" cy="12128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47" name="AutoShape 45">
            <a:extLst>
              <a:ext uri="{FF2B5EF4-FFF2-40B4-BE49-F238E27FC236}">
                <a16:creationId xmlns:a16="http://schemas.microsoft.com/office/drawing/2014/main" id="{5E520C4F-DD05-E434-46E6-B4FEB94D8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231" y="5107062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48" name="AutoShape 52">
            <a:extLst>
              <a:ext uri="{FF2B5EF4-FFF2-40B4-BE49-F238E27FC236}">
                <a16:creationId xmlns:a16="http://schemas.microsoft.com/office/drawing/2014/main" id="{BF376806-DED7-A621-D4B8-53366F3CD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0231" y="4702250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49" name="AutoShape 53">
            <a:extLst>
              <a:ext uri="{FF2B5EF4-FFF2-40B4-BE49-F238E27FC236}">
                <a16:creationId xmlns:a16="http://schemas.microsoft.com/office/drawing/2014/main" id="{A08CC434-D66F-BA3F-FDDB-02379EF3D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2668" y="5111825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50" name="AutoShape 54">
            <a:extLst>
              <a:ext uri="{FF2B5EF4-FFF2-40B4-BE49-F238E27FC236}">
                <a16:creationId xmlns:a16="http://schemas.microsoft.com/office/drawing/2014/main" id="{302D6776-406A-8F82-3C5D-018F17C4E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506" y="5107062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51" name="AutoShape 56">
            <a:extLst>
              <a:ext uri="{FF2B5EF4-FFF2-40B4-BE49-F238E27FC236}">
                <a16:creationId xmlns:a16="http://schemas.microsoft.com/office/drawing/2014/main" id="{7AA8505D-509D-4B73-9822-15E37ABBD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1631" y="4754637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52" name="AutoShape 73">
            <a:extLst>
              <a:ext uri="{FF2B5EF4-FFF2-40B4-BE49-F238E27FC236}">
                <a16:creationId xmlns:a16="http://schemas.microsoft.com/office/drawing/2014/main" id="{095406F7-390D-CE38-38DF-77774E10A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568" y="4794325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53" name="AutoShape 51">
            <a:extLst>
              <a:ext uri="{FF2B5EF4-FFF2-40B4-BE49-F238E27FC236}">
                <a16:creationId xmlns:a16="http://schemas.microsoft.com/office/drawing/2014/main" id="{C6D40BA8-5EFD-032C-E542-9BBC761B0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468" y="5507112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54" name="AutoShape 55">
            <a:extLst>
              <a:ext uri="{FF2B5EF4-FFF2-40B4-BE49-F238E27FC236}">
                <a16:creationId xmlns:a16="http://schemas.microsoft.com/office/drawing/2014/main" id="{1EC57BA4-3661-9783-9A1A-A532B8D49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1631" y="5459487"/>
            <a:ext cx="74612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55" name="AutoShape 74">
            <a:extLst>
              <a:ext uri="{FF2B5EF4-FFF2-40B4-BE49-F238E27FC236}">
                <a16:creationId xmlns:a16="http://schemas.microsoft.com/office/drawing/2014/main" id="{F8E01929-1892-FF12-5C8A-C3E2ABA64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7568" y="5422975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56" name="Text Box 80">
            <a:extLst>
              <a:ext uri="{FF2B5EF4-FFF2-40B4-BE49-F238E27FC236}">
                <a16:creationId xmlns:a16="http://schemas.microsoft.com/office/drawing/2014/main" id="{0A47E273-B489-0631-1E2B-7BC7CCCEB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2943" y="2835350"/>
            <a:ext cx="758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o‘,a’,c‘</a:t>
            </a:r>
          </a:p>
        </p:txBody>
      </p:sp>
      <p:sp>
        <p:nvSpPr>
          <p:cNvPr id="57" name="Text Box 81">
            <a:extLst>
              <a:ext uri="{FF2B5EF4-FFF2-40B4-BE49-F238E27FC236}">
                <a16:creationId xmlns:a16="http://schemas.microsoft.com/office/drawing/2014/main" id="{BFEA0965-7C6D-50AD-12B2-65DB784E4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2018" y="2832175"/>
            <a:ext cx="4746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 o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  <a:endParaRPr kumimoji="0" lang="en-US" altLang="zh-CN" sz="1800" b="1">
              <a:latin typeface="ISOCPEUR" pitchFamily="34" charset="0"/>
            </a:endParaRPr>
          </a:p>
        </p:txBody>
      </p:sp>
      <p:sp>
        <p:nvSpPr>
          <p:cNvPr id="58" name="Text Box 83">
            <a:extLst>
              <a:ext uri="{FF2B5EF4-FFF2-40B4-BE49-F238E27FC236}">
                <a16:creationId xmlns:a16="http://schemas.microsoft.com/office/drawing/2014/main" id="{CF7913E0-C1EE-E223-BF0A-A75D53893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5868" y="2838525"/>
            <a:ext cx="749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a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“  </a:t>
            </a:r>
          </a:p>
        </p:txBody>
      </p:sp>
      <p:sp>
        <p:nvSpPr>
          <p:cNvPr id="59" name="Text Box 86">
            <a:extLst>
              <a:ext uri="{FF2B5EF4-FFF2-40B4-BE49-F238E27FC236}">
                <a16:creationId xmlns:a16="http://schemas.microsoft.com/office/drawing/2014/main" id="{61DE6B85-C4EB-CA38-D47C-8819B0D71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3793" y="3544962"/>
            <a:ext cx="3444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b‘</a:t>
            </a:r>
          </a:p>
        </p:txBody>
      </p:sp>
      <p:sp>
        <p:nvSpPr>
          <p:cNvPr id="60" name="Text Box 87">
            <a:extLst>
              <a:ext uri="{FF2B5EF4-FFF2-40B4-BE49-F238E27FC236}">
                <a16:creationId xmlns:a16="http://schemas.microsoft.com/office/drawing/2014/main" id="{D1642369-A684-3339-3208-866C60E95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1731" y="2449587"/>
            <a:ext cx="3444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d‘</a:t>
            </a:r>
          </a:p>
        </p:txBody>
      </p:sp>
      <p:sp>
        <p:nvSpPr>
          <p:cNvPr id="61" name="Text Box 88">
            <a:extLst>
              <a:ext uri="{FF2B5EF4-FFF2-40B4-BE49-F238E27FC236}">
                <a16:creationId xmlns:a16="http://schemas.microsoft.com/office/drawing/2014/main" id="{5D52970D-0C7C-2429-5F9A-73DE6E029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193" y="5446787"/>
            <a:ext cx="290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a</a:t>
            </a:r>
          </a:p>
        </p:txBody>
      </p:sp>
      <p:sp>
        <p:nvSpPr>
          <p:cNvPr id="62" name="Text Box 89">
            <a:extLst>
              <a:ext uri="{FF2B5EF4-FFF2-40B4-BE49-F238E27FC236}">
                <a16:creationId xmlns:a16="http://schemas.microsoft.com/office/drawing/2014/main" id="{BA2C5F67-48E9-F91C-447B-5E25D7321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2906" y="4445075"/>
            <a:ext cx="2762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c</a:t>
            </a:r>
          </a:p>
        </p:txBody>
      </p:sp>
      <p:sp>
        <p:nvSpPr>
          <p:cNvPr id="63" name="Text Box 90">
            <a:extLst>
              <a:ext uri="{FF2B5EF4-FFF2-40B4-BE49-F238E27FC236}">
                <a16:creationId xmlns:a16="http://schemas.microsoft.com/office/drawing/2014/main" id="{008783B2-DD94-46E8-4655-039C01E3A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9581" y="4857825"/>
            <a:ext cx="4746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 o </a:t>
            </a:r>
          </a:p>
        </p:txBody>
      </p:sp>
      <p:sp>
        <p:nvSpPr>
          <p:cNvPr id="64" name="Text Box 91">
            <a:extLst>
              <a:ext uri="{FF2B5EF4-FFF2-40B4-BE49-F238E27FC236}">
                <a16:creationId xmlns:a16="http://schemas.microsoft.com/office/drawing/2014/main" id="{581A2175-F602-8B46-DBF5-730B365D8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1993" y="3159200"/>
            <a:ext cx="704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1’</a:t>
            </a:r>
          </a:p>
        </p:txBody>
      </p:sp>
      <p:sp>
        <p:nvSpPr>
          <p:cNvPr id="65" name="Text Box 93">
            <a:extLst>
              <a:ext uri="{FF2B5EF4-FFF2-40B4-BE49-F238E27FC236}">
                <a16:creationId xmlns:a16="http://schemas.microsoft.com/office/drawing/2014/main" id="{CD132AA0-6E39-CF1B-D68F-7E99BA384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306" y="5440437"/>
            <a:ext cx="352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1 </a:t>
            </a:r>
            <a:endParaRPr kumimoji="0" lang="en-US" altLang="zh-CN" sz="2400" b="1">
              <a:latin typeface="ISOCPEUR" pitchFamily="34" charset="0"/>
            </a:endParaRPr>
          </a:p>
        </p:txBody>
      </p:sp>
      <p:sp>
        <p:nvSpPr>
          <p:cNvPr id="66" name="Text Box 94">
            <a:extLst>
              <a:ext uri="{FF2B5EF4-FFF2-40B4-BE49-F238E27FC236}">
                <a16:creationId xmlns:a16="http://schemas.microsoft.com/office/drawing/2014/main" id="{447B728C-C8FE-CA8C-A557-FFAB2FD0E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5568" y="4862587"/>
            <a:ext cx="3825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d </a:t>
            </a:r>
          </a:p>
        </p:txBody>
      </p:sp>
      <p:sp>
        <p:nvSpPr>
          <p:cNvPr id="67" name="Text Box 95">
            <a:extLst>
              <a:ext uri="{FF2B5EF4-FFF2-40B4-BE49-F238E27FC236}">
                <a16:creationId xmlns:a16="http://schemas.microsoft.com/office/drawing/2014/main" id="{22C8E88F-AEB7-8D99-C22E-8D517A26D5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5831" y="4862587"/>
            <a:ext cx="4746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  b</a:t>
            </a:r>
          </a:p>
        </p:txBody>
      </p:sp>
      <p:sp>
        <p:nvSpPr>
          <p:cNvPr id="68" name="Text Box 96">
            <a:extLst>
              <a:ext uri="{FF2B5EF4-FFF2-40B4-BE49-F238E27FC236}">
                <a16:creationId xmlns:a16="http://schemas.microsoft.com/office/drawing/2014/main" id="{4BACBC1D-F23D-74BE-F435-D16C0A2B0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8506" y="3681487"/>
            <a:ext cx="4873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b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  </a:t>
            </a:r>
            <a:endParaRPr kumimoji="0" lang="en-US" altLang="zh-CN" sz="2400" b="1">
              <a:latin typeface="ISOCPEUR" pitchFamily="34" charset="0"/>
            </a:endParaRPr>
          </a:p>
        </p:txBody>
      </p:sp>
      <p:sp>
        <p:nvSpPr>
          <p:cNvPr id="69" name="Text Box 97">
            <a:extLst>
              <a:ext uri="{FF2B5EF4-FFF2-40B4-BE49-F238E27FC236}">
                <a16:creationId xmlns:a16="http://schemas.microsoft.com/office/drawing/2014/main" id="{D3AC4573-E027-D0DC-4020-D7D9E72B1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0743" y="2282900"/>
            <a:ext cx="5159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7620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d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“</a:t>
            </a:r>
            <a:endParaRPr kumimoji="0" lang="en-US" altLang="zh-CN" sz="2400" b="1">
              <a:latin typeface="ISOCPEUR" pitchFamily="34" charset="0"/>
            </a:endParaRPr>
          </a:p>
        </p:txBody>
      </p:sp>
      <p:sp>
        <p:nvSpPr>
          <p:cNvPr id="70" name="Text Box 98">
            <a:extLst>
              <a:ext uri="{FF2B5EF4-FFF2-40B4-BE49-F238E27FC236}">
                <a16:creationId xmlns:a16="http://schemas.microsoft.com/office/drawing/2014/main" id="{63041777-4EF8-5E46-B053-FA1EC3B6B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5743" y="2879800"/>
            <a:ext cx="446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c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“</a:t>
            </a:r>
            <a:endParaRPr kumimoji="0" lang="en-US" altLang="zh-CN" sz="1800" b="1">
              <a:latin typeface="ISOCPEUR" pitchFamily="34" charset="0"/>
            </a:endParaRPr>
          </a:p>
        </p:txBody>
      </p:sp>
      <p:sp>
        <p:nvSpPr>
          <p:cNvPr id="71" name="Text Box 99">
            <a:extLst>
              <a:ext uri="{FF2B5EF4-FFF2-40B4-BE49-F238E27FC236}">
                <a16:creationId xmlns:a16="http://schemas.microsoft.com/office/drawing/2014/main" id="{D5BD12ED-0080-0DB8-F7C3-78DCF57E8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9893" y="2594050"/>
            <a:ext cx="3444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e’</a:t>
            </a:r>
          </a:p>
        </p:txBody>
      </p:sp>
      <p:sp>
        <p:nvSpPr>
          <p:cNvPr id="72" name="Text Box 100">
            <a:extLst>
              <a:ext uri="{FF2B5EF4-FFF2-40B4-BE49-F238E27FC236}">
                <a16:creationId xmlns:a16="http://schemas.microsoft.com/office/drawing/2014/main" id="{0DA7FC2E-675E-3069-2F32-60F366FC7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6968" y="3384625"/>
            <a:ext cx="4651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1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  <a:endParaRPr kumimoji="0" lang="en-US" altLang="zh-CN" sz="1800" b="1">
              <a:latin typeface="ISOCPEUR" pitchFamily="34" charset="0"/>
            </a:endParaRPr>
          </a:p>
        </p:txBody>
      </p:sp>
      <p:sp>
        <p:nvSpPr>
          <p:cNvPr id="73" name="Text Box 101">
            <a:extLst>
              <a:ext uri="{FF2B5EF4-FFF2-40B4-BE49-F238E27FC236}">
                <a16:creationId xmlns:a16="http://schemas.microsoft.com/office/drawing/2014/main" id="{771E4696-72DA-092D-0DFA-05ACD634D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3643" y="2533725"/>
            <a:ext cx="479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e</a:t>
            </a:r>
            <a:r>
              <a:rPr kumimoji="0" lang="en-US" altLang="zh-CN" sz="1800" b="1">
                <a:latin typeface="ISOCPEUR" pitchFamily="34" charset="0"/>
                <a:sym typeface="CommercialPi BT" pitchFamily="18" charset="2"/>
              </a:rPr>
              <a:t>”</a:t>
            </a:r>
          </a:p>
        </p:txBody>
      </p:sp>
      <p:sp>
        <p:nvSpPr>
          <p:cNvPr id="74" name="Arc 102">
            <a:extLst>
              <a:ext uri="{FF2B5EF4-FFF2-40B4-BE49-F238E27FC236}">
                <a16:creationId xmlns:a16="http://schemas.microsoft.com/office/drawing/2014/main" id="{F52CEA75-B134-5812-3107-A9EFF022042A}"/>
              </a:ext>
            </a:extLst>
          </p:cNvPr>
          <p:cNvSpPr>
            <a:spLocks/>
          </p:cNvSpPr>
          <p:nvPr/>
        </p:nvSpPr>
        <p:spPr bwMode="auto">
          <a:xfrm>
            <a:off x="6516593" y="2636912"/>
            <a:ext cx="681038" cy="492125"/>
          </a:xfrm>
          <a:custGeom>
            <a:avLst/>
            <a:gdLst>
              <a:gd name="T0" fmla="*/ 0 w 36934"/>
              <a:gd name="T1" fmla="*/ 2147483647 h 21600"/>
              <a:gd name="T2" fmla="*/ 2147483647 w 36934"/>
              <a:gd name="T3" fmla="*/ 2147483647 h 21600"/>
              <a:gd name="T4" fmla="*/ 2147483647 w 36934"/>
              <a:gd name="T5" fmla="*/ 2147483647 h 21600"/>
              <a:gd name="T6" fmla="*/ 0 60000 65536"/>
              <a:gd name="T7" fmla="*/ 0 60000 65536"/>
              <a:gd name="T8" fmla="*/ 0 60000 65536"/>
              <a:gd name="T9" fmla="*/ 0 w 36934"/>
              <a:gd name="T10" fmla="*/ 0 h 21600"/>
              <a:gd name="T11" fmla="*/ 36934 w 3693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934" h="21600" fill="none" extrusionOk="0">
                <a:moveTo>
                  <a:pt x="-1" y="10258"/>
                </a:moveTo>
                <a:cubicBezTo>
                  <a:pt x="3933" y="3882"/>
                  <a:pt x="10890" y="-1"/>
                  <a:pt x="18383" y="0"/>
                </a:cubicBezTo>
                <a:cubicBezTo>
                  <a:pt x="25990" y="0"/>
                  <a:pt x="33036" y="4001"/>
                  <a:pt x="36933" y="10535"/>
                </a:cubicBezTo>
              </a:path>
              <a:path w="36934" h="21600" stroke="0" extrusionOk="0">
                <a:moveTo>
                  <a:pt x="-1" y="10258"/>
                </a:moveTo>
                <a:cubicBezTo>
                  <a:pt x="3933" y="3882"/>
                  <a:pt x="10890" y="-1"/>
                  <a:pt x="18383" y="0"/>
                </a:cubicBezTo>
                <a:cubicBezTo>
                  <a:pt x="25990" y="0"/>
                  <a:pt x="33036" y="4001"/>
                  <a:pt x="36933" y="10535"/>
                </a:cubicBezTo>
                <a:lnTo>
                  <a:pt x="18383" y="21600"/>
                </a:lnTo>
                <a:lnTo>
                  <a:pt x="-1" y="10258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5" name="Arc 103">
            <a:extLst>
              <a:ext uri="{FF2B5EF4-FFF2-40B4-BE49-F238E27FC236}">
                <a16:creationId xmlns:a16="http://schemas.microsoft.com/office/drawing/2014/main" id="{C77A7F04-1B60-5E42-7F62-9A9DDE52F9EF}"/>
              </a:ext>
            </a:extLst>
          </p:cNvPr>
          <p:cNvSpPr>
            <a:spLocks/>
          </p:cNvSpPr>
          <p:nvPr/>
        </p:nvSpPr>
        <p:spPr bwMode="auto">
          <a:xfrm>
            <a:off x="6467381" y="2889325"/>
            <a:ext cx="790575" cy="746125"/>
          </a:xfrm>
          <a:custGeom>
            <a:avLst/>
            <a:gdLst>
              <a:gd name="T0" fmla="*/ 2147483647 w 43200"/>
              <a:gd name="T1" fmla="*/ 0 h 32154"/>
              <a:gd name="T2" fmla="*/ 2147483647 w 43200"/>
              <a:gd name="T3" fmla="*/ 1466803411 h 32154"/>
              <a:gd name="T4" fmla="*/ 2147483647 w 43200"/>
              <a:gd name="T5" fmla="*/ 2147483647 h 32154"/>
              <a:gd name="T6" fmla="*/ 0 60000 65536"/>
              <a:gd name="T7" fmla="*/ 0 60000 65536"/>
              <a:gd name="T8" fmla="*/ 0 60000 65536"/>
              <a:gd name="T9" fmla="*/ 0 w 43200"/>
              <a:gd name="T10" fmla="*/ 0 h 32154"/>
              <a:gd name="T11" fmla="*/ 43200 w 43200"/>
              <a:gd name="T12" fmla="*/ 32154 h 3215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32154" fill="none" extrusionOk="0">
                <a:moveTo>
                  <a:pt x="40446" y="-1"/>
                </a:moveTo>
                <a:cubicBezTo>
                  <a:pt x="42251" y="3224"/>
                  <a:pt x="43200" y="6858"/>
                  <a:pt x="43200" y="10554"/>
                </a:cubicBezTo>
                <a:cubicBezTo>
                  <a:pt x="43200" y="22483"/>
                  <a:pt x="33529" y="32154"/>
                  <a:pt x="21600" y="32154"/>
                </a:cubicBezTo>
                <a:cubicBezTo>
                  <a:pt x="9670" y="32154"/>
                  <a:pt x="0" y="22483"/>
                  <a:pt x="0" y="10554"/>
                </a:cubicBezTo>
                <a:cubicBezTo>
                  <a:pt x="-1" y="6942"/>
                  <a:pt x="905" y="3389"/>
                  <a:pt x="2633" y="218"/>
                </a:cubicBezTo>
              </a:path>
              <a:path w="43200" h="32154" stroke="0" extrusionOk="0">
                <a:moveTo>
                  <a:pt x="40446" y="-1"/>
                </a:moveTo>
                <a:cubicBezTo>
                  <a:pt x="42251" y="3224"/>
                  <a:pt x="43200" y="6858"/>
                  <a:pt x="43200" y="10554"/>
                </a:cubicBezTo>
                <a:cubicBezTo>
                  <a:pt x="43200" y="22483"/>
                  <a:pt x="33529" y="32154"/>
                  <a:pt x="21600" y="32154"/>
                </a:cubicBezTo>
                <a:cubicBezTo>
                  <a:pt x="9670" y="32154"/>
                  <a:pt x="0" y="22483"/>
                  <a:pt x="0" y="10554"/>
                </a:cubicBezTo>
                <a:cubicBezTo>
                  <a:pt x="-1" y="6942"/>
                  <a:pt x="905" y="3389"/>
                  <a:pt x="2633" y="218"/>
                </a:cubicBezTo>
                <a:lnTo>
                  <a:pt x="21600" y="10554"/>
                </a:lnTo>
                <a:lnTo>
                  <a:pt x="40446" y="-1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6" name="AutoShape 26">
            <a:extLst>
              <a:ext uri="{FF2B5EF4-FFF2-40B4-BE49-F238E27FC236}">
                <a16:creationId xmlns:a16="http://schemas.microsoft.com/office/drawing/2014/main" id="{7AE4053F-8787-F4AC-D547-654196C82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2981" y="3089350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7" name="AutoShape 29">
            <a:extLst>
              <a:ext uri="{FF2B5EF4-FFF2-40B4-BE49-F238E27FC236}">
                <a16:creationId xmlns:a16="http://schemas.microsoft.com/office/drawing/2014/main" id="{3BB9AB55-D22E-2157-F02A-494B82EBE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6106" y="3086175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8" name="AutoShape 37">
            <a:extLst>
              <a:ext uri="{FF2B5EF4-FFF2-40B4-BE49-F238E27FC236}">
                <a16:creationId xmlns:a16="http://schemas.microsoft.com/office/drawing/2014/main" id="{EA627756-54B3-23C3-A66D-7DEC0DEDF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5093" y="3092525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9" name="AutoShape 28">
            <a:extLst>
              <a:ext uri="{FF2B5EF4-FFF2-40B4-BE49-F238E27FC236}">
                <a16:creationId xmlns:a16="http://schemas.microsoft.com/office/drawing/2014/main" id="{56D33390-8390-B735-AA0B-99C7ABCE0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218" y="3595762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80" name="Line 41">
            <a:extLst>
              <a:ext uri="{FF2B5EF4-FFF2-40B4-BE49-F238E27FC236}">
                <a16:creationId xmlns:a16="http://schemas.microsoft.com/office/drawing/2014/main" id="{CA24B9A8-BE59-0495-FE76-CE37EB7762C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856" y="3090937"/>
            <a:ext cx="50800" cy="920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1" name="AutoShape 69">
            <a:extLst>
              <a:ext uri="{FF2B5EF4-FFF2-40B4-BE49-F238E27FC236}">
                <a16:creationId xmlns:a16="http://schemas.microsoft.com/office/drawing/2014/main" id="{F61F4542-5794-CAC8-DED8-F6335A7E5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8181" y="3419550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82" name="AutoShape 70">
            <a:extLst>
              <a:ext uri="{FF2B5EF4-FFF2-40B4-BE49-F238E27FC236}">
                <a16:creationId xmlns:a16="http://schemas.microsoft.com/office/drawing/2014/main" id="{AC9A82AF-52CD-0073-42FB-D300F48DF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1431" y="3419550"/>
            <a:ext cx="74612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83" name="AutoShape 27">
            <a:extLst>
              <a:ext uri="{FF2B5EF4-FFF2-40B4-BE49-F238E27FC236}">
                <a16:creationId xmlns:a16="http://schemas.microsoft.com/office/drawing/2014/main" id="{754D40EB-3B8E-77B9-BDF6-CBC0DE588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218" y="2595637"/>
            <a:ext cx="74613" cy="746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84" name="AutoShape 30">
            <a:extLst>
              <a:ext uri="{FF2B5EF4-FFF2-40B4-BE49-F238E27FC236}">
                <a16:creationId xmlns:a16="http://schemas.microsoft.com/office/drawing/2014/main" id="{75509694-C2B7-D5B5-81B4-1DC6452FE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468" y="2848050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85" name="AutoShape 36">
            <a:extLst>
              <a:ext uri="{FF2B5EF4-FFF2-40B4-BE49-F238E27FC236}">
                <a16:creationId xmlns:a16="http://schemas.microsoft.com/office/drawing/2014/main" id="{519C3D33-E4A7-C5DD-28EF-A3D7CD3A7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5318" y="2851225"/>
            <a:ext cx="74613" cy="746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86" name="Text Box 104">
            <a:extLst>
              <a:ext uri="{FF2B5EF4-FFF2-40B4-BE49-F238E27FC236}">
                <a16:creationId xmlns:a16="http://schemas.microsoft.com/office/drawing/2014/main" id="{CF32BC51-D3C8-B46A-A84A-E41F97818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9056" y="5381700"/>
            <a:ext cx="4619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e</a:t>
            </a:r>
          </a:p>
        </p:txBody>
      </p:sp>
      <p:sp>
        <p:nvSpPr>
          <p:cNvPr id="87" name="Freeform 105">
            <a:extLst>
              <a:ext uri="{FF2B5EF4-FFF2-40B4-BE49-F238E27FC236}">
                <a16:creationId xmlns:a16="http://schemas.microsoft.com/office/drawing/2014/main" id="{B0A05022-60EA-DF8D-C2EC-578118621FE5}"/>
              </a:ext>
            </a:extLst>
          </p:cNvPr>
          <p:cNvSpPr>
            <a:spLocks/>
          </p:cNvSpPr>
          <p:nvPr/>
        </p:nvSpPr>
        <p:spPr bwMode="auto">
          <a:xfrm>
            <a:off x="5425981" y="5224537"/>
            <a:ext cx="61912" cy="76200"/>
          </a:xfrm>
          <a:custGeom>
            <a:avLst/>
            <a:gdLst>
              <a:gd name="T0" fmla="*/ 0 w 39"/>
              <a:gd name="T1" fmla="*/ 0 h 48"/>
              <a:gd name="T2" fmla="*/ 2147483647 w 39"/>
              <a:gd name="T3" fmla="*/ 2147483647 h 48"/>
              <a:gd name="T4" fmla="*/ 0 w 39"/>
              <a:gd name="T5" fmla="*/ 2147483647 h 48"/>
              <a:gd name="T6" fmla="*/ 2147483647 w 39"/>
              <a:gd name="T7" fmla="*/ 2147483647 h 48"/>
              <a:gd name="T8" fmla="*/ 0 60000 65536"/>
              <a:gd name="T9" fmla="*/ 0 60000 65536"/>
              <a:gd name="T10" fmla="*/ 0 60000 65536"/>
              <a:gd name="T11" fmla="*/ 0 60000 65536"/>
              <a:gd name="T12" fmla="*/ 0 w 39"/>
              <a:gd name="T13" fmla="*/ 0 h 48"/>
              <a:gd name="T14" fmla="*/ 39 w 39"/>
              <a:gd name="T15" fmla="*/ 48 h 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" h="48">
                <a:moveTo>
                  <a:pt x="0" y="0"/>
                </a:moveTo>
                <a:cubicBezTo>
                  <a:pt x="19" y="1"/>
                  <a:pt x="39" y="3"/>
                  <a:pt x="39" y="9"/>
                </a:cubicBezTo>
                <a:cubicBezTo>
                  <a:pt x="39" y="15"/>
                  <a:pt x="0" y="30"/>
                  <a:pt x="0" y="36"/>
                </a:cubicBezTo>
                <a:cubicBezTo>
                  <a:pt x="0" y="42"/>
                  <a:pt x="32" y="46"/>
                  <a:pt x="39" y="48"/>
                </a:cubicBez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8" name="Freeform 106">
            <a:extLst>
              <a:ext uri="{FF2B5EF4-FFF2-40B4-BE49-F238E27FC236}">
                <a16:creationId xmlns:a16="http://schemas.microsoft.com/office/drawing/2014/main" id="{14B7303F-6DE3-640F-E0EE-443EAB6BB21F}"/>
              </a:ext>
            </a:extLst>
          </p:cNvPr>
          <p:cNvSpPr>
            <a:spLocks/>
          </p:cNvSpPr>
          <p:nvPr/>
        </p:nvSpPr>
        <p:spPr bwMode="auto">
          <a:xfrm>
            <a:off x="6937281" y="3414787"/>
            <a:ext cx="76200" cy="80963"/>
          </a:xfrm>
          <a:custGeom>
            <a:avLst/>
            <a:gdLst>
              <a:gd name="T0" fmla="*/ 0 w 48"/>
              <a:gd name="T1" fmla="*/ 2147483647 h 51"/>
              <a:gd name="T2" fmla="*/ 2147483647 w 48"/>
              <a:gd name="T3" fmla="*/ 0 h 51"/>
              <a:gd name="T4" fmla="*/ 2147483647 w 48"/>
              <a:gd name="T5" fmla="*/ 2147483647 h 51"/>
              <a:gd name="T6" fmla="*/ 2147483647 w 48"/>
              <a:gd name="T7" fmla="*/ 2147483647 h 51"/>
              <a:gd name="T8" fmla="*/ 0 60000 65536"/>
              <a:gd name="T9" fmla="*/ 0 60000 65536"/>
              <a:gd name="T10" fmla="*/ 0 60000 65536"/>
              <a:gd name="T11" fmla="*/ 0 60000 65536"/>
              <a:gd name="T12" fmla="*/ 0 w 48"/>
              <a:gd name="T13" fmla="*/ 0 h 51"/>
              <a:gd name="T14" fmla="*/ 48 w 48"/>
              <a:gd name="T15" fmla="*/ 51 h 5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" h="51">
                <a:moveTo>
                  <a:pt x="0" y="51"/>
                </a:moveTo>
                <a:cubicBezTo>
                  <a:pt x="1" y="25"/>
                  <a:pt x="2" y="0"/>
                  <a:pt x="9" y="0"/>
                </a:cubicBezTo>
                <a:cubicBezTo>
                  <a:pt x="16" y="0"/>
                  <a:pt x="36" y="48"/>
                  <a:pt x="42" y="48"/>
                </a:cubicBezTo>
                <a:cubicBezTo>
                  <a:pt x="48" y="48"/>
                  <a:pt x="48" y="25"/>
                  <a:pt x="48" y="3"/>
                </a:cubicBez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9" name="Text Box 107">
            <a:extLst>
              <a:ext uri="{FF2B5EF4-FFF2-40B4-BE49-F238E27FC236}">
                <a16:creationId xmlns:a16="http://schemas.microsoft.com/office/drawing/2014/main" id="{FE7EA80C-8C45-E304-EB03-6E40BEF25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61" y="4714497"/>
            <a:ext cx="3180679" cy="135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Tx/>
              <a:buChar char="•"/>
            </a:pPr>
            <a:r>
              <a:rPr kumimoji="0" lang="en-US" altLang="zh-CN" sz="2400" b="1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光滑、顺序连接各点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Tx/>
              <a:buChar char="•"/>
            </a:pPr>
            <a:r>
              <a:rPr kumimoji="0"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完成轮廓线、中心线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ClrTx/>
              <a:buFontTx/>
              <a:buChar char="•"/>
            </a:pPr>
            <a:r>
              <a:rPr kumimoji="0"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可见性</a:t>
            </a:r>
          </a:p>
        </p:txBody>
      </p:sp>
      <p:sp>
        <p:nvSpPr>
          <p:cNvPr id="90" name="AutoShape 108">
            <a:extLst>
              <a:ext uri="{FF2B5EF4-FFF2-40B4-BE49-F238E27FC236}">
                <a16:creationId xmlns:a16="http://schemas.microsoft.com/office/drawing/2014/main" id="{A284E7D3-CB9C-6DCA-274D-DE7E9D45F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2570" y="1620391"/>
            <a:ext cx="1430332" cy="925513"/>
          </a:xfrm>
          <a:prstGeom prst="wedgeRectCallout">
            <a:avLst>
              <a:gd name="adj1" fmla="val -53466"/>
              <a:gd name="adj2" fmla="val 82588"/>
            </a:avLst>
          </a:prstGeom>
          <a:solidFill>
            <a:srgbClr val="CCE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1800" b="1" dirty="0">
                <a:latin typeface="黑体" pitchFamily="2" charset="-122"/>
                <a:ea typeface="黑体" pitchFamily="2" charset="-122"/>
              </a:rPr>
              <a:t>切点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1800" b="1" dirty="0">
                <a:latin typeface="黑体" pitchFamily="2" charset="-122"/>
                <a:ea typeface="黑体" pitchFamily="2" charset="-122"/>
              </a:rPr>
              <a:t>轮廓终止点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1800" b="1" dirty="0">
                <a:latin typeface="黑体" pitchFamily="2" charset="-122"/>
                <a:ea typeface="黑体" pitchFamily="2" charset="-122"/>
              </a:rPr>
              <a:t>虚实分界点</a:t>
            </a:r>
            <a:endParaRPr kumimoji="0" lang="zh-CN" altLang="en-US" sz="18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1" name="AutoShape 109">
            <a:extLst>
              <a:ext uri="{FF2B5EF4-FFF2-40B4-BE49-F238E27FC236}">
                <a16:creationId xmlns:a16="http://schemas.microsoft.com/office/drawing/2014/main" id="{96EDF8CC-BA8E-B6C6-EC4F-5CBEE7EF6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6995" y="3144118"/>
            <a:ext cx="939800" cy="376238"/>
          </a:xfrm>
          <a:prstGeom prst="wedgeRectCallout">
            <a:avLst>
              <a:gd name="adj1" fmla="val -93076"/>
              <a:gd name="adj2" fmla="val -50842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1800" b="1">
                <a:latin typeface="黑体" pitchFamily="2" charset="-122"/>
                <a:ea typeface="黑体" pitchFamily="2" charset="-122"/>
              </a:rPr>
              <a:t>最前点</a:t>
            </a:r>
            <a:endParaRPr kumimoji="0" lang="zh-CN" altLang="en-US" sz="18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3" name="Line 117">
            <a:extLst>
              <a:ext uri="{FF2B5EF4-FFF2-40B4-BE49-F238E27FC236}">
                <a16:creationId xmlns:a16="http://schemas.microsoft.com/office/drawing/2014/main" id="{C7389771-FA57-D6B8-62DD-FB0B0C5141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4118" y="3119512"/>
            <a:ext cx="0" cy="2028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4" name="Line 118">
            <a:extLst>
              <a:ext uri="{FF2B5EF4-FFF2-40B4-BE49-F238E27FC236}">
                <a16:creationId xmlns:a16="http://schemas.microsoft.com/office/drawing/2014/main" id="{89B18F73-B89F-3929-63F4-F29A6A38F6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08418" y="2890912"/>
            <a:ext cx="0" cy="2257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" name="Line 119">
            <a:extLst>
              <a:ext uri="{FF2B5EF4-FFF2-40B4-BE49-F238E27FC236}">
                <a16:creationId xmlns:a16="http://schemas.microsoft.com/office/drawing/2014/main" id="{C3DFA294-4F06-9570-B3C6-664608BBDE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1718" y="3452887"/>
            <a:ext cx="0" cy="1695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6" name="Text Box 64">
            <a:extLst>
              <a:ext uri="{FF2B5EF4-FFF2-40B4-BE49-F238E27FC236}">
                <a16:creationId xmlns:a16="http://schemas.microsoft.com/office/drawing/2014/main" id="{49789B9F-8B42-2F56-187E-D586A201F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093" y="1973337"/>
            <a:ext cx="398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800" b="1">
                <a:latin typeface="ISOCPEUR" pitchFamily="34" charset="0"/>
              </a:rPr>
              <a:t>P</a:t>
            </a:r>
            <a:r>
              <a:rPr kumimoji="0" lang="en-US" altLang="zh-CN" sz="1800" b="1" baseline="-10000">
                <a:latin typeface="ISOCPEUR" pitchFamily="34" charset="0"/>
              </a:rPr>
              <a:t>V</a:t>
            </a:r>
            <a:endParaRPr kumimoji="0" lang="en-US" altLang="zh-CN" sz="1800" b="1">
              <a:latin typeface="ISOCPEUR" pitchFamily="34" charset="0"/>
            </a:endParaRPr>
          </a:p>
        </p:txBody>
      </p:sp>
      <p:sp>
        <p:nvSpPr>
          <p:cNvPr id="97" name="Line 11">
            <a:extLst>
              <a:ext uri="{FF2B5EF4-FFF2-40B4-BE49-F238E27FC236}">
                <a16:creationId xmlns:a16="http://schemas.microsoft.com/office/drawing/2014/main" id="{B56F7F46-FA2E-8E95-E0E7-A38C4170CC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2356" y="2247975"/>
            <a:ext cx="1447800" cy="1571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8" name="Text Box 3">
            <a:extLst>
              <a:ext uri="{FF2B5EF4-FFF2-40B4-BE49-F238E27FC236}">
                <a16:creationId xmlns:a16="http://schemas.microsoft.com/office/drawing/2014/main" id="{D5495ADE-2173-FD26-F158-9BC791099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1169044"/>
            <a:ext cx="34756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单个平面截切圆锥体</a:t>
            </a:r>
            <a:endParaRPr lang="zh-CN" altLang="en-US" sz="2400" b="1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1468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500"/>
                            </p:stCondLst>
                            <p:childTnLst>
                              <p:par>
                                <p:cTn id="1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500"/>
                            </p:stCondLst>
                            <p:childTnLst>
                              <p:par>
                                <p:cTn id="1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00"/>
                            </p:stCondLst>
                            <p:childTnLst>
                              <p:par>
                                <p:cTn id="1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00"/>
                            </p:stCondLst>
                            <p:childTnLst>
                              <p:par>
                                <p:cTn id="1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500"/>
                            </p:stCondLst>
                            <p:childTnLst>
                              <p:par>
                                <p:cTn id="2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1000"/>
                            </p:stCondLst>
                            <p:childTnLst>
                              <p:par>
                                <p:cTn id="2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1500"/>
                            </p:stCondLst>
                            <p:childTnLst>
                              <p:par>
                                <p:cTn id="2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500"/>
                            </p:stCondLst>
                            <p:childTnLst>
                              <p:par>
                                <p:cTn id="2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1000"/>
                            </p:stCondLst>
                            <p:childTnLst>
                              <p:par>
                                <p:cTn id="2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1500"/>
                            </p:stCondLst>
                            <p:childTnLst>
                              <p:par>
                                <p:cTn id="27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500"/>
                            </p:stCondLst>
                            <p:childTnLst>
                              <p:par>
                                <p:cTn id="2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1000"/>
                            </p:stCondLst>
                            <p:childTnLst>
                              <p:par>
                                <p:cTn id="2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1500"/>
                            </p:stCondLst>
                            <p:childTnLst>
                              <p:par>
                                <p:cTn id="2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500"/>
                            </p:stCondLst>
                            <p:childTnLst>
                              <p:par>
                                <p:cTn id="3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500"/>
                            </p:stCondLst>
                            <p:childTnLst>
                              <p:par>
                                <p:cTn id="3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500"/>
                            </p:stCondLst>
                            <p:childTnLst>
                              <p:par>
                                <p:cTn id="3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500"/>
                            </p:stCondLst>
                            <p:childTnLst>
                              <p:par>
                                <p:cTn id="3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500"/>
                            </p:stCondLst>
                            <p:childTnLst>
                              <p:par>
                                <p:cTn id="3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1000"/>
                            </p:stCondLst>
                            <p:childTnLst>
                              <p:par>
                                <p:cTn id="3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>
                      <p:stCondLst>
                        <p:cond delay="indefinite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9" fill="hold">
                            <p:stCondLst>
                              <p:cond delay="1000"/>
                            </p:stCondLst>
                            <p:childTnLst>
                              <p:par>
                                <p:cTn id="3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3" fill="hold">
                            <p:stCondLst>
                              <p:cond delay="1500"/>
                            </p:stCondLst>
                            <p:childTnLst>
                              <p:par>
                                <p:cTn id="3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1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6" dur="5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1" dur="500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500"/>
                            </p:stCondLst>
                            <p:childTnLst>
                              <p:par>
                                <p:cTn id="4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5" fill="hold">
                            <p:stCondLst>
                              <p:cond delay="1000"/>
                            </p:stCondLst>
                            <p:childTnLst>
                              <p:par>
                                <p:cTn id="4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fill="hold">
                      <p:stCondLst>
                        <p:cond delay="indefinite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>
                      <p:stCondLst>
                        <p:cond delay="indefinite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7" dur="500"/>
                                        <p:tgtEl>
                                          <p:spTgt spid="9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indefinite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2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7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2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build="p" autoUpdateAnimBg="0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utoUpdateAnimBg="0"/>
      <p:bldP spid="57" grpId="0" autoUpdateAnimBg="0"/>
      <p:bldP spid="58" grpId="0" autoUpdateAnimBg="0"/>
      <p:bldP spid="59" grpId="0" autoUpdateAnimBg="0"/>
      <p:bldP spid="60" grpId="0" autoUpdateAnimBg="0"/>
      <p:bldP spid="61" grpId="0" autoUpdateAnimBg="0"/>
      <p:bldP spid="62" grpId="0" autoUpdateAnimBg="0"/>
      <p:bldP spid="63" grpId="0" autoUpdateAnimBg="0"/>
      <p:bldP spid="64" grpId="0" autoUpdateAnimBg="0"/>
      <p:bldP spid="65" grpId="0" autoUpdateAnimBg="0"/>
      <p:bldP spid="66" grpId="0" autoUpdateAnimBg="0"/>
      <p:bldP spid="67" grpId="0" autoUpdateAnimBg="0"/>
      <p:bldP spid="68" grpId="0" autoUpdateAnimBg="0"/>
      <p:bldP spid="69" grpId="0"/>
      <p:bldP spid="70" grpId="0" autoUpdateAnimBg="0"/>
      <p:bldP spid="71" grpId="0" autoUpdateAnimBg="0"/>
      <p:bldP spid="72" grpId="0" autoUpdateAnimBg="0"/>
      <p:bldP spid="73" grpId="0" autoUpdateAnimBg="0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utoUpdateAnimBg="0"/>
      <p:bldP spid="87" grpId="0" animBg="1"/>
      <p:bldP spid="88" grpId="0" animBg="1"/>
      <p:bldP spid="89" grpId="0" build="p" autoUpdateAnimBg="0"/>
      <p:bldP spid="90" grpId="0" build="p" animBg="1" autoUpdateAnimBg="0"/>
      <p:bldP spid="91" grpId="0" animBg="1" autoUpdateAnimBg="0"/>
      <p:bldP spid="93" grpId="0" animBg="1"/>
      <p:bldP spid="94" grpId="0" animBg="1"/>
      <p:bldP spid="95" grpId="0" animBg="1"/>
      <p:bldP spid="96" grpId="0" autoUpdateAnimBg="0"/>
      <p:bldP spid="9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9C2A6-76FC-BBE6-4094-6ADA7333A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DF09F59D-3F7D-9806-B68F-5A690FF9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21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BB9B0443-15C3-55CD-E642-79EFFB0EE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412173"/>
            <a:ext cx="5400837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平面与回转体相交（二）</a:t>
            </a: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86611621-F7AB-AAAC-5B7C-4FF643C50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75" y="1169044"/>
            <a:ext cx="34756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多个平面截切圆锥体</a:t>
            </a:r>
            <a:endParaRPr lang="zh-CN" altLang="en-US" sz="2400" b="1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AutoShape 101">
            <a:extLst>
              <a:ext uri="{FF2B5EF4-FFF2-40B4-BE49-F238E27FC236}">
                <a16:creationId xmlns:a16="http://schemas.microsoft.com/office/drawing/2014/main" id="{C5DEC683-C440-50CD-9F82-C77EB2459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8248" y="5037167"/>
            <a:ext cx="58737" cy="58737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4" name="AutoShape 112">
            <a:extLst>
              <a:ext uri="{FF2B5EF4-FFF2-40B4-BE49-F238E27FC236}">
                <a16:creationId xmlns:a16="http://schemas.microsoft.com/office/drawing/2014/main" id="{4400B6C4-C6D5-0C4D-5EA6-C757B554E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1660" y="5029229"/>
            <a:ext cx="58738" cy="58738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5" name="AutoShape 89">
            <a:extLst>
              <a:ext uri="{FF2B5EF4-FFF2-40B4-BE49-F238E27FC236}">
                <a16:creationId xmlns:a16="http://schemas.microsoft.com/office/drawing/2014/main" id="{913E1F8A-A832-3C00-7EF0-ACA23997C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8485" y="2424142"/>
            <a:ext cx="65088" cy="65087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6" name="AutoShape 91">
            <a:extLst>
              <a:ext uri="{FF2B5EF4-FFF2-40B4-BE49-F238E27FC236}">
                <a16:creationId xmlns:a16="http://schemas.microsoft.com/office/drawing/2014/main" id="{3AB2BE8B-3B1B-BC6D-64F6-43BDD09219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435" y="2792442"/>
            <a:ext cx="65088" cy="65087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" name="AutoShape 111">
            <a:extLst>
              <a:ext uri="{FF2B5EF4-FFF2-40B4-BE49-F238E27FC236}">
                <a16:creationId xmlns:a16="http://schemas.microsoft.com/office/drawing/2014/main" id="{B2F1012E-3B65-583E-6603-65E658A41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598" y="5032404"/>
            <a:ext cx="65087" cy="65088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8" name="AutoShape 88">
            <a:extLst>
              <a:ext uri="{FF2B5EF4-FFF2-40B4-BE49-F238E27FC236}">
                <a16:creationId xmlns:a16="http://schemas.microsoft.com/office/drawing/2014/main" id="{F85F2FB1-9F1E-697C-9CB5-C983A558A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598" y="4111654"/>
            <a:ext cx="61912" cy="619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" name="AutoShape 154">
            <a:extLst>
              <a:ext uri="{FF2B5EF4-FFF2-40B4-BE49-F238E27FC236}">
                <a16:creationId xmlns:a16="http://schemas.microsoft.com/office/drawing/2014/main" id="{0CF19532-119C-8F45-37C3-D061BAA91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2860" y="2795617"/>
            <a:ext cx="61913" cy="619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0" name="AutoShape 155">
            <a:extLst>
              <a:ext uri="{FF2B5EF4-FFF2-40B4-BE49-F238E27FC236}">
                <a16:creationId xmlns:a16="http://schemas.microsoft.com/office/drawing/2014/main" id="{7D8A42DC-1F6B-427C-CDD6-69A82B729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7410" y="2786092"/>
            <a:ext cx="65088" cy="65087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2" name="AutoShape 132">
            <a:extLst>
              <a:ext uri="{FF2B5EF4-FFF2-40B4-BE49-F238E27FC236}">
                <a16:creationId xmlns:a16="http://schemas.microsoft.com/office/drawing/2014/main" id="{EB551EBD-AA5D-3D2C-FF15-D2B1651AA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5135" y="2424142"/>
            <a:ext cx="65088" cy="65087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" name="Line 117">
            <a:extLst>
              <a:ext uri="{FF2B5EF4-FFF2-40B4-BE49-F238E27FC236}">
                <a16:creationId xmlns:a16="http://schemas.microsoft.com/office/drawing/2014/main" id="{E600C3AF-6ACB-BA0D-E945-F0E0CC09CC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6910" y="4589492"/>
            <a:ext cx="0" cy="9429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" name="Rectangle 158">
            <a:extLst>
              <a:ext uri="{FF2B5EF4-FFF2-40B4-BE49-F238E27FC236}">
                <a16:creationId xmlns:a16="http://schemas.microsoft.com/office/drawing/2014/main" id="{510CD983-B726-25B7-BF4C-A62341DE5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3098" y="4584729"/>
            <a:ext cx="247650" cy="9763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5" name="Line 128">
            <a:extLst>
              <a:ext uri="{FF2B5EF4-FFF2-40B4-BE49-F238E27FC236}">
                <a16:creationId xmlns:a16="http://schemas.microsoft.com/office/drawing/2014/main" id="{E8EC7F10-0B7B-3DEF-A81D-7B9A1AFD8C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8473" y="3857654"/>
            <a:ext cx="0" cy="292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" name="Line 83">
            <a:extLst>
              <a:ext uri="{FF2B5EF4-FFF2-40B4-BE49-F238E27FC236}">
                <a16:creationId xmlns:a16="http://schemas.microsoft.com/office/drawing/2014/main" id="{DCCBF94F-2BB7-F6C7-6C5F-B9573C4917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16585" y="3806854"/>
            <a:ext cx="152400" cy="3349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7" name="Line 142">
            <a:extLst>
              <a:ext uri="{FF2B5EF4-FFF2-40B4-BE49-F238E27FC236}">
                <a16:creationId xmlns:a16="http://schemas.microsoft.com/office/drawing/2014/main" id="{AFB25A58-C90B-FE5B-D953-1E7AC8790A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7185" y="2822604"/>
            <a:ext cx="3251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" name="Line 82">
            <a:extLst>
              <a:ext uri="{FF2B5EF4-FFF2-40B4-BE49-F238E27FC236}">
                <a16:creationId xmlns:a16="http://schemas.microsoft.com/office/drawing/2014/main" id="{63591CF5-B231-A314-A28F-515FE83CA7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32460" y="2454304"/>
            <a:ext cx="1247775" cy="1668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9" name="Oval 141">
            <a:extLst>
              <a:ext uri="{FF2B5EF4-FFF2-40B4-BE49-F238E27FC236}">
                <a16:creationId xmlns:a16="http://schemas.microsoft.com/office/drawing/2014/main" id="{5E5FE53C-2555-8C7F-53D5-B479C9631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885" y="2454304"/>
            <a:ext cx="1016000" cy="168910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0" name="Line 126">
            <a:extLst>
              <a:ext uri="{FF2B5EF4-FFF2-40B4-BE49-F238E27FC236}">
                <a16:creationId xmlns:a16="http://schemas.microsoft.com/office/drawing/2014/main" id="{9DD640BF-5111-E68D-1323-88CD35D1DD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6585" y="2454304"/>
            <a:ext cx="2400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1" name="Line 127">
            <a:extLst>
              <a:ext uri="{FF2B5EF4-FFF2-40B4-BE49-F238E27FC236}">
                <a16:creationId xmlns:a16="http://schemas.microsoft.com/office/drawing/2014/main" id="{04DEF74B-EF82-D753-F189-E22C67239B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935" y="4143404"/>
            <a:ext cx="36639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2" name="AutoShape 131">
            <a:extLst>
              <a:ext uri="{FF2B5EF4-FFF2-40B4-BE49-F238E27FC236}">
                <a16:creationId xmlns:a16="http://schemas.microsoft.com/office/drawing/2014/main" id="{6E9D6489-2665-9F51-D479-65E1EEA2B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8310" y="4106892"/>
            <a:ext cx="65088" cy="65087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3" name="AutoShape 76">
            <a:extLst>
              <a:ext uri="{FF2B5EF4-FFF2-40B4-BE49-F238E27FC236}">
                <a16:creationId xmlns:a16="http://schemas.microsoft.com/office/drawing/2014/main" id="{8B2F6CFA-7C8E-4FEA-3FF7-E990949B9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5510" y="1814542"/>
            <a:ext cx="1682750" cy="1998662"/>
          </a:xfrm>
          <a:prstGeom prst="triangle">
            <a:avLst>
              <a:gd name="adj" fmla="val 50000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4" name="AutoShape 75">
            <a:extLst>
              <a:ext uri="{FF2B5EF4-FFF2-40B4-BE49-F238E27FC236}">
                <a16:creationId xmlns:a16="http://schemas.microsoft.com/office/drawing/2014/main" id="{62B8BE0C-2B3C-B169-9BFD-AC9E30BD1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8985" y="1814542"/>
            <a:ext cx="1682750" cy="1998662"/>
          </a:xfrm>
          <a:prstGeom prst="triangle">
            <a:avLst>
              <a:gd name="adj" fmla="val 50000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25" name="Line 98">
            <a:extLst>
              <a:ext uri="{FF2B5EF4-FFF2-40B4-BE49-F238E27FC236}">
                <a16:creationId xmlns:a16="http://schemas.microsoft.com/office/drawing/2014/main" id="{999C8713-DC29-3D05-CCD5-7B4D97308DD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9335" y="3197254"/>
            <a:ext cx="1168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6" name="Line 107">
            <a:extLst>
              <a:ext uri="{FF2B5EF4-FFF2-40B4-BE49-F238E27FC236}">
                <a16:creationId xmlns:a16="http://schemas.microsoft.com/office/drawing/2014/main" id="{9ABB917C-CE39-A781-B971-0E1488C4E9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84885" y="3298854"/>
            <a:ext cx="1257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7" name="Line 129">
            <a:extLst>
              <a:ext uri="{FF2B5EF4-FFF2-40B4-BE49-F238E27FC236}">
                <a16:creationId xmlns:a16="http://schemas.microsoft.com/office/drawing/2014/main" id="{CB7AA3EE-919A-24D6-1A84-7B059F17AA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2185" y="3298854"/>
            <a:ext cx="27876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8" name="Line 130">
            <a:extLst>
              <a:ext uri="{FF2B5EF4-FFF2-40B4-BE49-F238E27FC236}">
                <a16:creationId xmlns:a16="http://schemas.microsoft.com/office/drawing/2014/main" id="{8D6B5EFF-CB42-51CA-E152-4B18C2CCBA9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1385" y="3197254"/>
            <a:ext cx="28257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" name="Oval 74">
            <a:extLst>
              <a:ext uri="{FF2B5EF4-FFF2-40B4-BE49-F238E27FC236}">
                <a16:creationId xmlns:a16="http://schemas.microsoft.com/office/drawing/2014/main" id="{1828E6D2-F9A7-CF96-222E-2E344AEF2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923" y="4219604"/>
            <a:ext cx="1674812" cy="1674813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30" name="Line 93">
            <a:extLst>
              <a:ext uri="{FF2B5EF4-FFF2-40B4-BE49-F238E27FC236}">
                <a16:creationId xmlns:a16="http://schemas.microsoft.com/office/drawing/2014/main" id="{B87DD1D8-FA69-F89E-0FA6-5E5A9FA4BF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22935" y="4137054"/>
            <a:ext cx="0" cy="927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1" name="Line 94">
            <a:extLst>
              <a:ext uri="{FF2B5EF4-FFF2-40B4-BE49-F238E27FC236}">
                <a16:creationId xmlns:a16="http://schemas.microsoft.com/office/drawing/2014/main" id="{9B8394A4-4D59-0B64-A2B0-00268FEAC3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8998" y="3813204"/>
            <a:ext cx="0" cy="1924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2" name="Line 95">
            <a:extLst>
              <a:ext uri="{FF2B5EF4-FFF2-40B4-BE49-F238E27FC236}">
                <a16:creationId xmlns:a16="http://schemas.microsoft.com/office/drawing/2014/main" id="{15F057B9-9FEE-994A-3541-6939646121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1585" y="3292504"/>
            <a:ext cx="0" cy="2660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3" name="Line 96">
            <a:extLst>
              <a:ext uri="{FF2B5EF4-FFF2-40B4-BE49-F238E27FC236}">
                <a16:creationId xmlns:a16="http://schemas.microsoft.com/office/drawing/2014/main" id="{1D6678C8-BA8E-F3E5-5C0A-57C402EBB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1435" y="3197254"/>
            <a:ext cx="0" cy="2806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4" name="Line 97">
            <a:extLst>
              <a:ext uri="{FF2B5EF4-FFF2-40B4-BE49-F238E27FC236}">
                <a16:creationId xmlns:a16="http://schemas.microsoft.com/office/drawing/2014/main" id="{61244A6C-06F7-3D94-96F1-5210CE3436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3735" y="3197254"/>
            <a:ext cx="0" cy="2825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" name="Oval 99">
            <a:extLst>
              <a:ext uri="{FF2B5EF4-FFF2-40B4-BE49-F238E27FC236}">
                <a16:creationId xmlns:a16="http://schemas.microsoft.com/office/drawing/2014/main" id="{6E655561-56FC-6E7D-D2E5-BE2EC102C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2985" y="4479954"/>
            <a:ext cx="1162050" cy="11620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36" name="Oval 108">
            <a:extLst>
              <a:ext uri="{FF2B5EF4-FFF2-40B4-BE49-F238E27FC236}">
                <a16:creationId xmlns:a16="http://schemas.microsoft.com/office/drawing/2014/main" id="{D49136FC-363E-B3A3-3291-54C27188B2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4885" y="4437092"/>
            <a:ext cx="1243013" cy="1243012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38" name="Line 113">
            <a:extLst>
              <a:ext uri="{FF2B5EF4-FFF2-40B4-BE49-F238E27FC236}">
                <a16:creationId xmlns:a16="http://schemas.microsoft.com/office/drawing/2014/main" id="{65312909-BFE3-8033-A209-D28FC8779FF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80235" y="2451129"/>
            <a:ext cx="0" cy="26146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9" name="Oval 114">
            <a:extLst>
              <a:ext uri="{FF2B5EF4-FFF2-40B4-BE49-F238E27FC236}">
                <a16:creationId xmlns:a16="http://schemas.microsoft.com/office/drawing/2014/main" id="{53D81AE8-7AB9-79C3-A8ED-FECD7B788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935" y="4551392"/>
            <a:ext cx="1252538" cy="10096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40" name="Rectangle 125">
            <a:extLst>
              <a:ext uri="{FF2B5EF4-FFF2-40B4-BE49-F238E27FC236}">
                <a16:creationId xmlns:a16="http://schemas.microsoft.com/office/drawing/2014/main" id="{D6EB47A0-606E-82E8-9CB0-6C066CC6C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712" y="1657378"/>
            <a:ext cx="4872373" cy="459683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41" name="Line 69">
            <a:extLst>
              <a:ext uri="{FF2B5EF4-FFF2-40B4-BE49-F238E27FC236}">
                <a16:creationId xmlns:a16="http://schemas.microsoft.com/office/drawing/2014/main" id="{4606A27C-ADF2-2560-A16C-30098BBF7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7523" y="5065742"/>
            <a:ext cx="2135187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2" name="Line 70">
            <a:extLst>
              <a:ext uri="{FF2B5EF4-FFF2-40B4-BE49-F238E27FC236}">
                <a16:creationId xmlns:a16="http://schemas.microsoft.com/office/drawing/2014/main" id="{D552CA5E-531E-1A56-9709-BD62C44674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10360" y="4078317"/>
            <a:ext cx="0" cy="2081212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" name="Line 71">
            <a:extLst>
              <a:ext uri="{FF2B5EF4-FFF2-40B4-BE49-F238E27FC236}">
                <a16:creationId xmlns:a16="http://schemas.microsoft.com/office/drawing/2014/main" id="{CFBD34A7-42CB-D2CA-BDD3-C86CA5982C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10360" y="1657379"/>
            <a:ext cx="0" cy="224790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4" name="Line 72">
            <a:extLst>
              <a:ext uri="{FF2B5EF4-FFF2-40B4-BE49-F238E27FC236}">
                <a16:creationId xmlns:a16="http://schemas.microsoft.com/office/drawing/2014/main" id="{A3AE3519-795B-86C9-810B-23AFED7974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8473" y="1687542"/>
            <a:ext cx="0" cy="217805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45" name="Freeform 81">
            <a:extLst>
              <a:ext uri="{FF2B5EF4-FFF2-40B4-BE49-F238E27FC236}">
                <a16:creationId xmlns:a16="http://schemas.microsoft.com/office/drawing/2014/main" id="{BDD4F01B-68B3-DD2D-7174-17355B2798D7}"/>
              </a:ext>
            </a:extLst>
          </p:cNvPr>
          <p:cNvSpPr>
            <a:spLocks/>
          </p:cNvSpPr>
          <p:nvPr/>
        </p:nvSpPr>
        <p:spPr bwMode="auto">
          <a:xfrm>
            <a:off x="2464235" y="1812954"/>
            <a:ext cx="1587500" cy="2000250"/>
          </a:xfrm>
          <a:custGeom>
            <a:avLst/>
            <a:gdLst>
              <a:gd name="T0" fmla="*/ 2147483647 w 1000"/>
              <a:gd name="T1" fmla="*/ 0 h 1260"/>
              <a:gd name="T2" fmla="*/ 2147483647 w 1000"/>
              <a:gd name="T3" fmla="*/ 2147483647 h 1260"/>
              <a:gd name="T4" fmla="*/ 2147483647 w 1000"/>
              <a:gd name="T5" fmla="*/ 2147483647 h 1260"/>
              <a:gd name="T6" fmla="*/ 0 w 1000"/>
              <a:gd name="T7" fmla="*/ 2147483647 h 1260"/>
              <a:gd name="T8" fmla="*/ 2147483647 w 1000"/>
              <a:gd name="T9" fmla="*/ 2147483647 h 1260"/>
              <a:gd name="T10" fmla="*/ 2147483647 w 1000"/>
              <a:gd name="T11" fmla="*/ 0 h 12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260"/>
              <a:gd name="T20" fmla="*/ 1000 w 1000"/>
              <a:gd name="T21" fmla="*/ 1260 h 126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260">
                <a:moveTo>
                  <a:pt x="472" y="0"/>
                </a:moveTo>
                <a:lnTo>
                  <a:pt x="676" y="872"/>
                </a:lnTo>
                <a:lnTo>
                  <a:pt x="288" y="872"/>
                </a:lnTo>
                <a:lnTo>
                  <a:pt x="0" y="1260"/>
                </a:lnTo>
                <a:lnTo>
                  <a:pt x="1000" y="1260"/>
                </a:lnTo>
                <a:lnTo>
                  <a:pt x="472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6" name="AutoShape 86">
            <a:extLst>
              <a:ext uri="{FF2B5EF4-FFF2-40B4-BE49-F238E27FC236}">
                <a16:creationId xmlns:a16="http://schemas.microsoft.com/office/drawing/2014/main" id="{2D4CA75C-849B-45AC-25C9-5D402725F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660" y="3265517"/>
            <a:ext cx="65088" cy="65087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47" name="AutoShape 87">
            <a:extLst>
              <a:ext uri="{FF2B5EF4-FFF2-40B4-BE49-F238E27FC236}">
                <a16:creationId xmlns:a16="http://schemas.microsoft.com/office/drawing/2014/main" id="{5C18D28F-0C3B-42A8-1585-F683BD1B2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510" y="3163917"/>
            <a:ext cx="65088" cy="65087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48" name="AutoShape 90">
            <a:extLst>
              <a:ext uri="{FF2B5EF4-FFF2-40B4-BE49-F238E27FC236}">
                <a16:creationId xmlns:a16="http://schemas.microsoft.com/office/drawing/2014/main" id="{0F167B4F-5E66-0FD6-7272-E40B548F6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7248" y="3778279"/>
            <a:ext cx="65087" cy="65088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49" name="AutoShape 92">
            <a:extLst>
              <a:ext uri="{FF2B5EF4-FFF2-40B4-BE49-F238E27FC236}">
                <a16:creationId xmlns:a16="http://schemas.microsoft.com/office/drawing/2014/main" id="{29BD5E35-1F67-14C5-3011-D150EEC95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1985" y="3163917"/>
            <a:ext cx="65088" cy="65087"/>
          </a:xfrm>
          <a:prstGeom prst="flowChartConnector">
            <a:avLst/>
          </a:prstGeom>
          <a:solidFill>
            <a:srgbClr val="3333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50" name="Line 115">
            <a:extLst>
              <a:ext uri="{FF2B5EF4-FFF2-40B4-BE49-F238E27FC236}">
                <a16:creationId xmlns:a16="http://schemas.microsoft.com/office/drawing/2014/main" id="{F8C01D8F-85D5-25FF-58F4-599070CD18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8773" y="4589492"/>
            <a:ext cx="333375" cy="4762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" name="Line 116">
            <a:extLst>
              <a:ext uri="{FF2B5EF4-FFF2-40B4-BE49-F238E27FC236}">
                <a16:creationId xmlns:a16="http://schemas.microsoft.com/office/drawing/2014/main" id="{F4B5007C-C621-129B-50E5-D7236299C03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4010" y="5065742"/>
            <a:ext cx="338138" cy="46672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2" name="Line 118">
            <a:extLst>
              <a:ext uri="{FF2B5EF4-FFF2-40B4-BE49-F238E27FC236}">
                <a16:creationId xmlns:a16="http://schemas.microsoft.com/office/drawing/2014/main" id="{3076C8C4-137F-CA6B-EAB8-00054E36A2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3023" y="4551392"/>
            <a:ext cx="0" cy="102393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3" name="Arc 119">
            <a:extLst>
              <a:ext uri="{FF2B5EF4-FFF2-40B4-BE49-F238E27FC236}">
                <a16:creationId xmlns:a16="http://schemas.microsoft.com/office/drawing/2014/main" id="{FBD84AA7-E3E5-803D-2DE5-964898FFCCD3}"/>
              </a:ext>
            </a:extLst>
          </p:cNvPr>
          <p:cNvSpPr>
            <a:spLocks/>
          </p:cNvSpPr>
          <p:nvPr/>
        </p:nvSpPr>
        <p:spPr bwMode="auto">
          <a:xfrm>
            <a:off x="2481698" y="4545042"/>
            <a:ext cx="447675" cy="523875"/>
          </a:xfrm>
          <a:custGeom>
            <a:avLst/>
            <a:gdLst>
              <a:gd name="T0" fmla="*/ 0 w 15504"/>
              <a:gd name="T1" fmla="*/ 2147483647 h 21600"/>
              <a:gd name="T2" fmla="*/ 2147483647 w 15504"/>
              <a:gd name="T3" fmla="*/ 1166411908 h 21600"/>
              <a:gd name="T4" fmla="*/ 2147483647 w 15504"/>
              <a:gd name="T5" fmla="*/ 2147483647 h 21600"/>
              <a:gd name="T6" fmla="*/ 0 60000 65536"/>
              <a:gd name="T7" fmla="*/ 0 60000 65536"/>
              <a:gd name="T8" fmla="*/ 0 60000 65536"/>
              <a:gd name="T9" fmla="*/ 0 w 15504"/>
              <a:gd name="T10" fmla="*/ 0 h 21600"/>
              <a:gd name="T11" fmla="*/ 15504 w 1550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504" h="21600" fill="none" extrusionOk="0">
                <a:moveTo>
                  <a:pt x="0" y="4393"/>
                </a:moveTo>
                <a:cubicBezTo>
                  <a:pt x="3756" y="1542"/>
                  <a:pt x="8341" y="-1"/>
                  <a:pt x="13057" y="0"/>
                </a:cubicBezTo>
                <a:cubicBezTo>
                  <a:pt x="13874" y="0"/>
                  <a:pt x="14691" y="46"/>
                  <a:pt x="15503" y="139"/>
                </a:cubicBezTo>
              </a:path>
              <a:path w="15504" h="21600" stroke="0" extrusionOk="0">
                <a:moveTo>
                  <a:pt x="0" y="4393"/>
                </a:moveTo>
                <a:cubicBezTo>
                  <a:pt x="3756" y="1542"/>
                  <a:pt x="8341" y="-1"/>
                  <a:pt x="13057" y="0"/>
                </a:cubicBezTo>
                <a:cubicBezTo>
                  <a:pt x="13874" y="0"/>
                  <a:pt x="14691" y="46"/>
                  <a:pt x="15503" y="139"/>
                </a:cubicBezTo>
                <a:lnTo>
                  <a:pt x="13057" y="21600"/>
                </a:lnTo>
                <a:lnTo>
                  <a:pt x="0" y="4393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4" name="Arc 120">
            <a:extLst>
              <a:ext uri="{FF2B5EF4-FFF2-40B4-BE49-F238E27FC236}">
                <a16:creationId xmlns:a16="http://schemas.microsoft.com/office/drawing/2014/main" id="{F0F954E7-6EEE-41F9-8E8E-42D8894902FF}"/>
              </a:ext>
            </a:extLst>
          </p:cNvPr>
          <p:cNvSpPr>
            <a:spLocks/>
          </p:cNvSpPr>
          <p:nvPr/>
        </p:nvSpPr>
        <p:spPr bwMode="auto">
          <a:xfrm flipV="1">
            <a:off x="2467410" y="5035579"/>
            <a:ext cx="447675" cy="523875"/>
          </a:xfrm>
          <a:custGeom>
            <a:avLst/>
            <a:gdLst>
              <a:gd name="T0" fmla="*/ 0 w 15504"/>
              <a:gd name="T1" fmla="*/ 2147483647 h 21600"/>
              <a:gd name="T2" fmla="*/ 2147483647 w 15504"/>
              <a:gd name="T3" fmla="*/ 1166411908 h 21600"/>
              <a:gd name="T4" fmla="*/ 2147483647 w 15504"/>
              <a:gd name="T5" fmla="*/ 2147483647 h 21600"/>
              <a:gd name="T6" fmla="*/ 0 60000 65536"/>
              <a:gd name="T7" fmla="*/ 0 60000 65536"/>
              <a:gd name="T8" fmla="*/ 0 60000 65536"/>
              <a:gd name="T9" fmla="*/ 0 w 15504"/>
              <a:gd name="T10" fmla="*/ 0 h 21600"/>
              <a:gd name="T11" fmla="*/ 15504 w 15504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504" h="21600" fill="none" extrusionOk="0">
                <a:moveTo>
                  <a:pt x="0" y="4393"/>
                </a:moveTo>
                <a:cubicBezTo>
                  <a:pt x="3756" y="1542"/>
                  <a:pt x="8341" y="-1"/>
                  <a:pt x="13057" y="0"/>
                </a:cubicBezTo>
                <a:cubicBezTo>
                  <a:pt x="13874" y="0"/>
                  <a:pt x="14691" y="46"/>
                  <a:pt x="15503" y="139"/>
                </a:cubicBezTo>
              </a:path>
              <a:path w="15504" h="21600" stroke="0" extrusionOk="0">
                <a:moveTo>
                  <a:pt x="0" y="4393"/>
                </a:moveTo>
                <a:cubicBezTo>
                  <a:pt x="3756" y="1542"/>
                  <a:pt x="8341" y="-1"/>
                  <a:pt x="13057" y="0"/>
                </a:cubicBezTo>
                <a:cubicBezTo>
                  <a:pt x="13874" y="0"/>
                  <a:pt x="14691" y="46"/>
                  <a:pt x="15503" y="139"/>
                </a:cubicBezTo>
                <a:lnTo>
                  <a:pt x="13057" y="21600"/>
                </a:lnTo>
                <a:lnTo>
                  <a:pt x="0" y="4393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5" name="Line 121">
            <a:extLst>
              <a:ext uri="{FF2B5EF4-FFF2-40B4-BE49-F238E27FC236}">
                <a16:creationId xmlns:a16="http://schemas.microsoft.com/office/drawing/2014/main" id="{A946410E-03E5-E3BC-BF83-2B9BE67714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0585" y="4651404"/>
            <a:ext cx="0" cy="80486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6" name="Arc 122">
            <a:extLst>
              <a:ext uri="{FF2B5EF4-FFF2-40B4-BE49-F238E27FC236}">
                <a16:creationId xmlns:a16="http://schemas.microsoft.com/office/drawing/2014/main" id="{D8BF929E-5418-AB17-9A9F-29AB6DB23298}"/>
              </a:ext>
            </a:extLst>
          </p:cNvPr>
          <p:cNvSpPr>
            <a:spLocks/>
          </p:cNvSpPr>
          <p:nvPr/>
        </p:nvSpPr>
        <p:spPr bwMode="auto">
          <a:xfrm>
            <a:off x="2926198" y="4478367"/>
            <a:ext cx="611187" cy="585787"/>
          </a:xfrm>
          <a:custGeom>
            <a:avLst/>
            <a:gdLst>
              <a:gd name="T0" fmla="*/ 0 w 22715"/>
              <a:gd name="T1" fmla="*/ 2147483647 h 21600"/>
              <a:gd name="T2" fmla="*/ 2147483647 w 22715"/>
              <a:gd name="T3" fmla="*/ 2147483647 h 21600"/>
              <a:gd name="T4" fmla="*/ 2147483647 w 22715"/>
              <a:gd name="T5" fmla="*/ 2147483647 h 21600"/>
              <a:gd name="T6" fmla="*/ 0 60000 65536"/>
              <a:gd name="T7" fmla="*/ 0 60000 65536"/>
              <a:gd name="T8" fmla="*/ 0 60000 65536"/>
              <a:gd name="T9" fmla="*/ 0 w 22715"/>
              <a:gd name="T10" fmla="*/ 0 h 21600"/>
              <a:gd name="T11" fmla="*/ 22715 w 2271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715" h="21600" fill="none" extrusionOk="0">
                <a:moveTo>
                  <a:pt x="-1" y="2639"/>
                </a:moveTo>
                <a:cubicBezTo>
                  <a:pt x="3173" y="907"/>
                  <a:pt x="6731" y="-1"/>
                  <a:pt x="10347" y="0"/>
                </a:cubicBezTo>
                <a:cubicBezTo>
                  <a:pt x="14771" y="0"/>
                  <a:pt x="19088" y="1358"/>
                  <a:pt x="22715" y="3891"/>
                </a:cubicBezTo>
              </a:path>
              <a:path w="22715" h="21600" stroke="0" extrusionOk="0">
                <a:moveTo>
                  <a:pt x="-1" y="2639"/>
                </a:moveTo>
                <a:cubicBezTo>
                  <a:pt x="3173" y="907"/>
                  <a:pt x="6731" y="-1"/>
                  <a:pt x="10347" y="0"/>
                </a:cubicBezTo>
                <a:cubicBezTo>
                  <a:pt x="14771" y="0"/>
                  <a:pt x="19088" y="1358"/>
                  <a:pt x="22715" y="3891"/>
                </a:cubicBezTo>
                <a:lnTo>
                  <a:pt x="10347" y="21600"/>
                </a:lnTo>
                <a:lnTo>
                  <a:pt x="-1" y="2639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7" name="Arc 123">
            <a:extLst>
              <a:ext uri="{FF2B5EF4-FFF2-40B4-BE49-F238E27FC236}">
                <a16:creationId xmlns:a16="http://schemas.microsoft.com/office/drawing/2014/main" id="{C2ACAA2B-60FA-6441-4971-60D8BABE8808}"/>
              </a:ext>
            </a:extLst>
          </p:cNvPr>
          <p:cNvSpPr>
            <a:spLocks/>
          </p:cNvSpPr>
          <p:nvPr/>
        </p:nvSpPr>
        <p:spPr bwMode="auto">
          <a:xfrm flipV="1">
            <a:off x="2926198" y="5054629"/>
            <a:ext cx="611187" cy="585788"/>
          </a:xfrm>
          <a:custGeom>
            <a:avLst/>
            <a:gdLst>
              <a:gd name="T0" fmla="*/ 0 w 22715"/>
              <a:gd name="T1" fmla="*/ 2147483647 h 21600"/>
              <a:gd name="T2" fmla="*/ 2147483647 w 22715"/>
              <a:gd name="T3" fmla="*/ 2147483647 h 21600"/>
              <a:gd name="T4" fmla="*/ 2147483647 w 22715"/>
              <a:gd name="T5" fmla="*/ 2147483647 h 21600"/>
              <a:gd name="T6" fmla="*/ 0 60000 65536"/>
              <a:gd name="T7" fmla="*/ 0 60000 65536"/>
              <a:gd name="T8" fmla="*/ 0 60000 65536"/>
              <a:gd name="T9" fmla="*/ 0 w 22715"/>
              <a:gd name="T10" fmla="*/ 0 h 21600"/>
              <a:gd name="T11" fmla="*/ 22715 w 22715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715" h="21600" fill="none" extrusionOk="0">
                <a:moveTo>
                  <a:pt x="-1" y="2639"/>
                </a:moveTo>
                <a:cubicBezTo>
                  <a:pt x="3173" y="907"/>
                  <a:pt x="6731" y="-1"/>
                  <a:pt x="10347" y="0"/>
                </a:cubicBezTo>
                <a:cubicBezTo>
                  <a:pt x="14771" y="0"/>
                  <a:pt x="19088" y="1358"/>
                  <a:pt x="22715" y="3891"/>
                </a:cubicBezTo>
              </a:path>
              <a:path w="22715" h="21600" stroke="0" extrusionOk="0">
                <a:moveTo>
                  <a:pt x="-1" y="2639"/>
                </a:moveTo>
                <a:cubicBezTo>
                  <a:pt x="3173" y="907"/>
                  <a:pt x="6731" y="-1"/>
                  <a:pt x="10347" y="0"/>
                </a:cubicBezTo>
                <a:cubicBezTo>
                  <a:pt x="14771" y="0"/>
                  <a:pt x="19088" y="1358"/>
                  <a:pt x="22715" y="3891"/>
                </a:cubicBezTo>
                <a:lnTo>
                  <a:pt x="10347" y="21600"/>
                </a:lnTo>
                <a:lnTo>
                  <a:pt x="-1" y="2639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8" name="Arc 124">
            <a:extLst>
              <a:ext uri="{FF2B5EF4-FFF2-40B4-BE49-F238E27FC236}">
                <a16:creationId xmlns:a16="http://schemas.microsoft.com/office/drawing/2014/main" id="{AA3FDBC4-034B-163E-0050-C2D1CE7E1633}"/>
              </a:ext>
            </a:extLst>
          </p:cNvPr>
          <p:cNvSpPr>
            <a:spLocks/>
          </p:cNvSpPr>
          <p:nvPr/>
        </p:nvSpPr>
        <p:spPr bwMode="auto">
          <a:xfrm>
            <a:off x="2473760" y="4221192"/>
            <a:ext cx="1577975" cy="1676400"/>
          </a:xfrm>
          <a:custGeom>
            <a:avLst/>
            <a:gdLst>
              <a:gd name="T0" fmla="*/ 2147483647 w 40557"/>
              <a:gd name="T1" fmla="*/ 2147483647 h 43200"/>
              <a:gd name="T2" fmla="*/ 0 w 40557"/>
              <a:gd name="T3" fmla="*/ 2147483647 h 43200"/>
              <a:gd name="T4" fmla="*/ 2147483647 w 40557"/>
              <a:gd name="T5" fmla="*/ 2147483647 h 43200"/>
              <a:gd name="T6" fmla="*/ 0 60000 65536"/>
              <a:gd name="T7" fmla="*/ 0 60000 65536"/>
              <a:gd name="T8" fmla="*/ 0 60000 65536"/>
              <a:gd name="T9" fmla="*/ 0 w 40557"/>
              <a:gd name="T10" fmla="*/ 0 h 43200"/>
              <a:gd name="T11" fmla="*/ 40557 w 40557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557" h="43200" fill="none" extrusionOk="0">
                <a:moveTo>
                  <a:pt x="132" y="11008"/>
                </a:moveTo>
                <a:cubicBezTo>
                  <a:pt x="3958" y="4208"/>
                  <a:pt x="11154" y="-1"/>
                  <a:pt x="18957" y="0"/>
                </a:cubicBezTo>
                <a:cubicBezTo>
                  <a:pt x="30886" y="0"/>
                  <a:pt x="40557" y="9670"/>
                  <a:pt x="40557" y="21600"/>
                </a:cubicBezTo>
                <a:cubicBezTo>
                  <a:pt x="40557" y="33529"/>
                  <a:pt x="30886" y="43200"/>
                  <a:pt x="18957" y="43200"/>
                </a:cubicBezTo>
                <a:cubicBezTo>
                  <a:pt x="11056" y="43200"/>
                  <a:pt x="3786" y="38886"/>
                  <a:pt x="-1" y="31953"/>
                </a:cubicBezTo>
              </a:path>
              <a:path w="40557" h="43200" stroke="0" extrusionOk="0">
                <a:moveTo>
                  <a:pt x="132" y="11008"/>
                </a:moveTo>
                <a:cubicBezTo>
                  <a:pt x="3958" y="4208"/>
                  <a:pt x="11154" y="-1"/>
                  <a:pt x="18957" y="0"/>
                </a:cubicBezTo>
                <a:cubicBezTo>
                  <a:pt x="30886" y="0"/>
                  <a:pt x="40557" y="9670"/>
                  <a:pt x="40557" y="21600"/>
                </a:cubicBezTo>
                <a:cubicBezTo>
                  <a:pt x="40557" y="33529"/>
                  <a:pt x="30886" y="43200"/>
                  <a:pt x="18957" y="43200"/>
                </a:cubicBezTo>
                <a:cubicBezTo>
                  <a:pt x="11056" y="43200"/>
                  <a:pt x="3786" y="38886"/>
                  <a:pt x="-1" y="31953"/>
                </a:cubicBezTo>
                <a:lnTo>
                  <a:pt x="18957" y="21600"/>
                </a:lnTo>
                <a:lnTo>
                  <a:pt x="132" y="11008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59" name="AutoShape 100">
            <a:extLst>
              <a:ext uri="{FF2B5EF4-FFF2-40B4-BE49-F238E27FC236}">
                <a16:creationId xmlns:a16="http://schemas.microsoft.com/office/drawing/2014/main" id="{44736942-EAC0-B0DE-F295-115AD72FF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2010" y="4641879"/>
            <a:ext cx="61913" cy="619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60" name="AutoShape 103">
            <a:extLst>
              <a:ext uri="{FF2B5EF4-FFF2-40B4-BE49-F238E27FC236}">
                <a16:creationId xmlns:a16="http://schemas.microsoft.com/office/drawing/2014/main" id="{B75F079F-B352-B7D0-1493-CB550CFFE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2860" y="4533929"/>
            <a:ext cx="61913" cy="619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61" name="AutoShape 109">
            <a:extLst>
              <a:ext uri="{FF2B5EF4-FFF2-40B4-BE49-F238E27FC236}">
                <a16:creationId xmlns:a16="http://schemas.microsoft.com/office/drawing/2014/main" id="{B3EABC75-5DCA-434F-4D90-BFD2A311F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660" y="4516467"/>
            <a:ext cx="65088" cy="65087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62" name="AutoShape 102">
            <a:extLst>
              <a:ext uri="{FF2B5EF4-FFF2-40B4-BE49-F238E27FC236}">
                <a16:creationId xmlns:a16="http://schemas.microsoft.com/office/drawing/2014/main" id="{8458016C-D670-CAC9-C911-3B4DF5FDD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2860" y="5527704"/>
            <a:ext cx="61913" cy="61913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63" name="AutoShape 106">
            <a:extLst>
              <a:ext uri="{FF2B5EF4-FFF2-40B4-BE49-F238E27FC236}">
                <a16:creationId xmlns:a16="http://schemas.microsoft.com/office/drawing/2014/main" id="{828DDDF6-EE4B-4165-AF89-564A07B69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5660" y="5413404"/>
            <a:ext cx="65088" cy="65088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64" name="AutoShape 110">
            <a:extLst>
              <a:ext uri="{FF2B5EF4-FFF2-40B4-BE49-F238E27FC236}">
                <a16:creationId xmlns:a16="http://schemas.microsoft.com/office/drawing/2014/main" id="{A1003598-0A18-4DD4-9928-B11EFCEE1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5073" y="5534054"/>
            <a:ext cx="61912" cy="61913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65" name="AutoShape 133">
            <a:extLst>
              <a:ext uri="{FF2B5EF4-FFF2-40B4-BE49-F238E27FC236}">
                <a16:creationId xmlns:a16="http://schemas.microsoft.com/office/drawing/2014/main" id="{D9E89E31-8034-01A5-A414-40E3FA4EB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8310" y="3268692"/>
            <a:ext cx="61913" cy="619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66" name="Arc 143">
            <a:extLst>
              <a:ext uri="{FF2B5EF4-FFF2-40B4-BE49-F238E27FC236}">
                <a16:creationId xmlns:a16="http://schemas.microsoft.com/office/drawing/2014/main" id="{9D79D5C8-0ADF-3480-BEDE-81A12B3245D9}"/>
              </a:ext>
            </a:extLst>
          </p:cNvPr>
          <p:cNvSpPr>
            <a:spLocks/>
          </p:cNvSpPr>
          <p:nvPr/>
        </p:nvSpPr>
        <p:spPr bwMode="auto">
          <a:xfrm>
            <a:off x="5888473" y="3190904"/>
            <a:ext cx="514350" cy="625475"/>
          </a:xfrm>
          <a:custGeom>
            <a:avLst/>
            <a:gdLst>
              <a:gd name="T0" fmla="*/ 2147483647 w 21600"/>
              <a:gd name="T1" fmla="*/ 0 h 15937"/>
              <a:gd name="T2" fmla="*/ 2147483647 w 21600"/>
              <a:gd name="T3" fmla="*/ 2147483647 h 15937"/>
              <a:gd name="T4" fmla="*/ 0 w 21600"/>
              <a:gd name="T5" fmla="*/ 2147483647 h 15937"/>
              <a:gd name="T6" fmla="*/ 0 60000 65536"/>
              <a:gd name="T7" fmla="*/ 0 60000 65536"/>
              <a:gd name="T8" fmla="*/ 0 60000 65536"/>
              <a:gd name="T9" fmla="*/ 0 w 21600"/>
              <a:gd name="T10" fmla="*/ 0 h 15937"/>
              <a:gd name="T11" fmla="*/ 21600 w 21600"/>
              <a:gd name="T12" fmla="*/ 15937 h 159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5937" fill="none" extrusionOk="0">
                <a:moveTo>
                  <a:pt x="21438" y="0"/>
                </a:moveTo>
                <a:cubicBezTo>
                  <a:pt x="21546" y="873"/>
                  <a:pt x="21600" y="1752"/>
                  <a:pt x="21600" y="2633"/>
                </a:cubicBezTo>
                <a:cubicBezTo>
                  <a:pt x="21600" y="7455"/>
                  <a:pt x="19986" y="12138"/>
                  <a:pt x="17016" y="15937"/>
                </a:cubicBezTo>
              </a:path>
              <a:path w="21600" h="15937" stroke="0" extrusionOk="0">
                <a:moveTo>
                  <a:pt x="21438" y="0"/>
                </a:moveTo>
                <a:cubicBezTo>
                  <a:pt x="21546" y="873"/>
                  <a:pt x="21600" y="1752"/>
                  <a:pt x="21600" y="2633"/>
                </a:cubicBezTo>
                <a:cubicBezTo>
                  <a:pt x="21600" y="7455"/>
                  <a:pt x="19986" y="12138"/>
                  <a:pt x="17016" y="15937"/>
                </a:cubicBezTo>
                <a:lnTo>
                  <a:pt x="0" y="2633"/>
                </a:lnTo>
                <a:lnTo>
                  <a:pt x="21438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7" name="Arc 144">
            <a:extLst>
              <a:ext uri="{FF2B5EF4-FFF2-40B4-BE49-F238E27FC236}">
                <a16:creationId xmlns:a16="http://schemas.microsoft.com/office/drawing/2014/main" id="{C70E7E77-C1BF-001E-9EC4-0A09167590B6}"/>
              </a:ext>
            </a:extLst>
          </p:cNvPr>
          <p:cNvSpPr>
            <a:spLocks/>
          </p:cNvSpPr>
          <p:nvPr/>
        </p:nvSpPr>
        <p:spPr bwMode="auto">
          <a:xfrm flipH="1">
            <a:off x="5382060" y="3195667"/>
            <a:ext cx="514350" cy="617537"/>
          </a:xfrm>
          <a:custGeom>
            <a:avLst/>
            <a:gdLst>
              <a:gd name="T0" fmla="*/ 2147483647 w 21600"/>
              <a:gd name="T1" fmla="*/ 0 h 15740"/>
              <a:gd name="T2" fmla="*/ 2147483647 w 21600"/>
              <a:gd name="T3" fmla="*/ 2147483647 h 15740"/>
              <a:gd name="T4" fmla="*/ 0 w 21600"/>
              <a:gd name="T5" fmla="*/ 2147483647 h 15740"/>
              <a:gd name="T6" fmla="*/ 0 60000 65536"/>
              <a:gd name="T7" fmla="*/ 0 60000 65536"/>
              <a:gd name="T8" fmla="*/ 0 60000 65536"/>
              <a:gd name="T9" fmla="*/ 0 w 21600"/>
              <a:gd name="T10" fmla="*/ 0 h 15740"/>
              <a:gd name="T11" fmla="*/ 21600 w 21600"/>
              <a:gd name="T12" fmla="*/ 15740 h 157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5740" fill="none" extrusionOk="0">
                <a:moveTo>
                  <a:pt x="21435" y="-1"/>
                </a:moveTo>
                <a:cubicBezTo>
                  <a:pt x="21545" y="883"/>
                  <a:pt x="21600" y="1772"/>
                  <a:pt x="21600" y="2662"/>
                </a:cubicBezTo>
                <a:cubicBezTo>
                  <a:pt x="21600" y="7386"/>
                  <a:pt x="20051" y="11980"/>
                  <a:pt x="17190" y="15739"/>
                </a:cubicBezTo>
              </a:path>
              <a:path w="21600" h="15740" stroke="0" extrusionOk="0">
                <a:moveTo>
                  <a:pt x="21435" y="-1"/>
                </a:moveTo>
                <a:cubicBezTo>
                  <a:pt x="21545" y="883"/>
                  <a:pt x="21600" y="1772"/>
                  <a:pt x="21600" y="2662"/>
                </a:cubicBezTo>
                <a:cubicBezTo>
                  <a:pt x="21600" y="7386"/>
                  <a:pt x="20051" y="11980"/>
                  <a:pt x="17190" y="15739"/>
                </a:cubicBezTo>
                <a:lnTo>
                  <a:pt x="0" y="2662"/>
                </a:lnTo>
                <a:lnTo>
                  <a:pt x="21435" y="-1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8" name="Freeform 147">
            <a:extLst>
              <a:ext uri="{FF2B5EF4-FFF2-40B4-BE49-F238E27FC236}">
                <a16:creationId xmlns:a16="http://schemas.microsoft.com/office/drawing/2014/main" id="{21E30C80-45E4-F8CC-85F4-743712002A09}"/>
              </a:ext>
            </a:extLst>
          </p:cNvPr>
          <p:cNvSpPr>
            <a:spLocks/>
          </p:cNvSpPr>
          <p:nvPr/>
        </p:nvSpPr>
        <p:spPr bwMode="auto">
          <a:xfrm>
            <a:off x="5048685" y="3197254"/>
            <a:ext cx="1676400" cy="615950"/>
          </a:xfrm>
          <a:custGeom>
            <a:avLst/>
            <a:gdLst>
              <a:gd name="T0" fmla="*/ 2147483647 w 1056"/>
              <a:gd name="T1" fmla="*/ 0 h 388"/>
              <a:gd name="T2" fmla="*/ 0 w 1056"/>
              <a:gd name="T3" fmla="*/ 2147483647 h 388"/>
              <a:gd name="T4" fmla="*/ 2147483647 w 1056"/>
              <a:gd name="T5" fmla="*/ 2147483647 h 388"/>
              <a:gd name="T6" fmla="*/ 2147483647 w 1056"/>
              <a:gd name="T7" fmla="*/ 0 h 388"/>
              <a:gd name="T8" fmla="*/ 0 60000 65536"/>
              <a:gd name="T9" fmla="*/ 0 60000 65536"/>
              <a:gd name="T10" fmla="*/ 0 60000 65536"/>
              <a:gd name="T11" fmla="*/ 0 60000 65536"/>
              <a:gd name="T12" fmla="*/ 0 w 1056"/>
              <a:gd name="T13" fmla="*/ 0 h 388"/>
              <a:gd name="T14" fmla="*/ 1056 w 1056"/>
              <a:gd name="T15" fmla="*/ 388 h 3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6" h="388">
                <a:moveTo>
                  <a:pt x="164" y="0"/>
                </a:moveTo>
                <a:lnTo>
                  <a:pt x="0" y="388"/>
                </a:lnTo>
                <a:lnTo>
                  <a:pt x="1056" y="388"/>
                </a:lnTo>
                <a:lnTo>
                  <a:pt x="892" y="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9" name="Line 149">
            <a:extLst>
              <a:ext uri="{FF2B5EF4-FFF2-40B4-BE49-F238E27FC236}">
                <a16:creationId xmlns:a16="http://schemas.microsoft.com/office/drawing/2014/main" id="{028139A1-4F46-90A7-4F22-B93BA98BA3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9035" y="3197254"/>
            <a:ext cx="11557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0" name="Line 150">
            <a:extLst>
              <a:ext uri="{FF2B5EF4-FFF2-40B4-BE49-F238E27FC236}">
                <a16:creationId xmlns:a16="http://schemas.microsoft.com/office/drawing/2014/main" id="{7D984AAF-FFF9-61F1-BF84-950E7A0BB4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10635" y="1806604"/>
            <a:ext cx="476250" cy="1397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1" name="Line 151">
            <a:extLst>
              <a:ext uri="{FF2B5EF4-FFF2-40B4-BE49-F238E27FC236}">
                <a16:creationId xmlns:a16="http://schemas.microsoft.com/office/drawing/2014/main" id="{E300FE34-4F85-0805-F68E-4E34B45CB855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6885" y="1806604"/>
            <a:ext cx="476250" cy="1397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2" name="AutoShape 134">
            <a:extLst>
              <a:ext uri="{FF2B5EF4-FFF2-40B4-BE49-F238E27FC236}">
                <a16:creationId xmlns:a16="http://schemas.microsoft.com/office/drawing/2014/main" id="{5E8CF771-1AE9-CF38-11D8-E483A8344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7135" y="3271867"/>
            <a:ext cx="61913" cy="619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3" name="AutoShape 152">
            <a:extLst>
              <a:ext uri="{FF2B5EF4-FFF2-40B4-BE49-F238E27FC236}">
                <a16:creationId xmlns:a16="http://schemas.microsoft.com/office/drawing/2014/main" id="{FC20A544-D3C0-E0FE-D5D8-CAC4BC66F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585" y="3163917"/>
            <a:ext cx="61913" cy="61912"/>
          </a:xfrm>
          <a:prstGeom prst="flowChartConnector">
            <a:avLst/>
          </a:prstGeom>
          <a:solidFill>
            <a:srgbClr val="3333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4" name="AutoShape 135">
            <a:extLst>
              <a:ext uri="{FF2B5EF4-FFF2-40B4-BE49-F238E27FC236}">
                <a16:creationId xmlns:a16="http://schemas.microsoft.com/office/drawing/2014/main" id="{2AFF1E50-71CD-E358-6C0C-FAC3999C1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660" y="3268692"/>
            <a:ext cx="61913" cy="61912"/>
          </a:xfrm>
          <a:prstGeom prst="flowChartConnector">
            <a:avLst/>
          </a:prstGeom>
          <a:solidFill>
            <a:srgbClr val="FF3300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5" name="AutoShape 153">
            <a:extLst>
              <a:ext uri="{FF2B5EF4-FFF2-40B4-BE49-F238E27FC236}">
                <a16:creationId xmlns:a16="http://schemas.microsoft.com/office/drawing/2014/main" id="{0F9517F1-9AA7-A0F9-F402-5950F737D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8210" y="3160742"/>
            <a:ext cx="61913" cy="61912"/>
          </a:xfrm>
          <a:prstGeom prst="flowChartConnector">
            <a:avLst/>
          </a:prstGeom>
          <a:solidFill>
            <a:srgbClr val="3333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6" name="Line 148">
            <a:extLst>
              <a:ext uri="{FF2B5EF4-FFF2-40B4-BE49-F238E27FC236}">
                <a16:creationId xmlns:a16="http://schemas.microsoft.com/office/drawing/2014/main" id="{B5E0DE21-BB4A-0B31-DC74-DD1EF50D80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835" y="3813204"/>
            <a:ext cx="8064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7" name="AutoShape 136">
            <a:extLst>
              <a:ext uri="{FF2B5EF4-FFF2-40B4-BE49-F238E27FC236}">
                <a16:creationId xmlns:a16="http://schemas.microsoft.com/office/drawing/2014/main" id="{B2790240-A33A-1C20-FEA5-E20A08515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3485" y="3163917"/>
            <a:ext cx="65088" cy="65087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8" name="AutoShape 137">
            <a:extLst>
              <a:ext uri="{FF2B5EF4-FFF2-40B4-BE49-F238E27FC236}">
                <a16:creationId xmlns:a16="http://schemas.microsoft.com/office/drawing/2014/main" id="{CF0A3CB8-7CC5-B580-BC78-E763D6AA0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3135" y="3160742"/>
            <a:ext cx="65088" cy="65087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9" name="AutoShape 138">
            <a:extLst>
              <a:ext uri="{FF2B5EF4-FFF2-40B4-BE49-F238E27FC236}">
                <a16:creationId xmlns:a16="http://schemas.microsoft.com/office/drawing/2014/main" id="{7EAFBA8B-462F-AA36-251E-D6B652DD5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8735" y="3776692"/>
            <a:ext cx="65088" cy="65087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80" name="AutoShape 139">
            <a:extLst>
              <a:ext uri="{FF2B5EF4-FFF2-40B4-BE49-F238E27FC236}">
                <a16:creationId xmlns:a16="http://schemas.microsoft.com/office/drawing/2014/main" id="{DC2BAA13-693C-7150-3F56-0C6B7F17D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1535" y="3779867"/>
            <a:ext cx="61913" cy="61912"/>
          </a:xfrm>
          <a:prstGeom prst="flowChartConnector">
            <a:avLst/>
          </a:prstGeom>
          <a:solidFill>
            <a:srgbClr val="FFFF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81" name="Line 156">
            <a:extLst>
              <a:ext uri="{FF2B5EF4-FFF2-40B4-BE49-F238E27FC236}">
                <a16:creationId xmlns:a16="http://schemas.microsoft.com/office/drawing/2014/main" id="{8974319B-CACA-F726-89D0-EB824D4AC0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6910" y="4603779"/>
            <a:ext cx="0" cy="94297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2" name="AutoShape 105">
            <a:extLst>
              <a:ext uri="{FF2B5EF4-FFF2-40B4-BE49-F238E27FC236}">
                <a16:creationId xmlns:a16="http://schemas.microsoft.com/office/drawing/2014/main" id="{EEE959D1-3AC6-7389-D629-FEEB325B6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1985" y="4564092"/>
            <a:ext cx="61913" cy="61912"/>
          </a:xfrm>
          <a:prstGeom prst="flowChartConnector">
            <a:avLst/>
          </a:prstGeom>
          <a:solidFill>
            <a:srgbClr val="3333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83" name="AutoShape 104">
            <a:extLst>
              <a:ext uri="{FF2B5EF4-FFF2-40B4-BE49-F238E27FC236}">
                <a16:creationId xmlns:a16="http://schemas.microsoft.com/office/drawing/2014/main" id="{5DCCABD3-FC02-810F-06B5-F5EC96F88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0398" y="5489604"/>
            <a:ext cx="65087" cy="65088"/>
          </a:xfrm>
          <a:prstGeom prst="flowChartConnector">
            <a:avLst/>
          </a:prstGeom>
          <a:solidFill>
            <a:srgbClr val="3333FF"/>
          </a:solidFill>
          <a:ln w="12700">
            <a:solidFill>
              <a:srgbClr val="000000"/>
            </a:solidFill>
            <a:round/>
            <a:headEnd/>
            <a:tailEnd/>
          </a:ln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84" name="Line 159">
            <a:extLst>
              <a:ext uri="{FF2B5EF4-FFF2-40B4-BE49-F238E27FC236}">
                <a16:creationId xmlns:a16="http://schemas.microsoft.com/office/drawing/2014/main" id="{528974EE-3501-273E-D83E-13D89B4C62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9010" y="3297267"/>
            <a:ext cx="1535113" cy="317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5" name="Line 160">
            <a:extLst>
              <a:ext uri="{FF2B5EF4-FFF2-40B4-BE49-F238E27FC236}">
                <a16:creationId xmlns:a16="http://schemas.microsoft.com/office/drawing/2014/main" id="{BF57CACB-ADD7-0B6D-E624-59E6631C0C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6823" y="4473604"/>
            <a:ext cx="0" cy="116840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75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indefinite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45D05-38E4-26D8-881B-B2C2F92FB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2BD0FCE0-48C6-3CBE-0999-0FF40DAEF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22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F48EA20D-6CD7-E6BD-759B-D9A6855E1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1869" y="412173"/>
            <a:ext cx="424026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平面与立体相交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99443C-A975-5C84-7592-0E67D51BCCC0}"/>
              </a:ext>
            </a:extLst>
          </p:cNvPr>
          <p:cNvSpPr/>
          <p:nvPr/>
        </p:nvSpPr>
        <p:spPr>
          <a:xfrm>
            <a:off x="1053248" y="1875800"/>
            <a:ext cx="7551200" cy="799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0" fontAlgn="base" hangingPunct="0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截交线是截平面与立体表面的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共有线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，截交线的形状取决于被截切的立体表面形状，以及截平面与立体的相对位置。</a:t>
            </a:r>
            <a:endParaRPr kumimoji="1" lang="zh-CN" altLang="en-US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DF21388-8DE0-69D9-D770-911757779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21" y="1196752"/>
            <a:ext cx="1412566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 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725450-2F12-54B2-C9BB-A29ECFDF6F1A}"/>
              </a:ext>
            </a:extLst>
          </p:cNvPr>
          <p:cNvSpPr/>
          <p:nvPr/>
        </p:nvSpPr>
        <p:spPr>
          <a:xfrm>
            <a:off x="1053248" y="3068960"/>
            <a:ext cx="7551200" cy="160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0" fontAlgn="base" hangingPunct="0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平面体截交线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一般情况下是由直线组成的封闭平面多边形，多边形的边是截平面与棱面的交线，顶点是截平面与棱线的交点。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0000" lvl="1" indent="-285750" algn="just" eaLnBrk="0" hangingPunct="0">
              <a:lnSpc>
                <a:spcPct val="120000"/>
              </a:lnSpc>
              <a:spcBef>
                <a:spcPct val="25000"/>
              </a:spcBef>
              <a:buFont typeface="Wingdings" panose="05000000000000000000" pitchFamily="2" charset="2"/>
              <a:buChar char="l"/>
              <a:defRPr/>
            </a:pPr>
            <a:r>
              <a:rPr kumimoji="1" lang="zh-CN" altLang="en-US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求平面截交线的方法：棱线法、棱面法</a:t>
            </a:r>
            <a:endParaRPr kumimoji="1" lang="en-US" altLang="zh-CN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0000" lvl="1" indent="-285750" algn="just" eaLnBrk="0" hangingPunct="0">
              <a:lnSpc>
                <a:spcPct val="120000"/>
              </a:lnSpc>
              <a:spcBef>
                <a:spcPct val="25000"/>
              </a:spcBef>
              <a:buFont typeface="Wingdings" panose="05000000000000000000" pitchFamily="2" charset="2"/>
              <a:buChar char="l"/>
              <a:defRPr/>
            </a:pPr>
            <a:r>
              <a:rPr kumimoji="1" lang="zh-CN" altLang="en-US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求平面截交线的步骤：读图 </a:t>
            </a:r>
            <a:r>
              <a:rPr kumimoji="1" lang="en-US" altLang="zh-CN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kumimoji="1" lang="zh-CN" altLang="en-US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 </a:t>
            </a:r>
            <a:r>
              <a:rPr kumimoji="1" lang="en-US" altLang="zh-CN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kumimoji="1" lang="zh-CN" altLang="en-US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投影分析 </a:t>
            </a:r>
            <a:r>
              <a:rPr kumimoji="1" lang="en-US" altLang="zh-CN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kumimoji="1" lang="zh-CN" altLang="en-US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绘制截交线</a:t>
            </a:r>
          </a:p>
        </p:txBody>
      </p:sp>
    </p:spTree>
    <p:extLst>
      <p:ext uri="{BB962C8B-B14F-4D97-AF65-F5344CB8AC3E}">
        <p14:creationId xmlns:p14="http://schemas.microsoft.com/office/powerpoint/2010/main" val="3390773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FDF1B-D21D-4A63-7E5E-ACEC6C7A5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4AFA61A9-DEAD-5AEB-6A2F-2AAECB622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40231" y="6425391"/>
            <a:ext cx="269625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23</a:t>
            </a:fld>
            <a:endParaRPr lang="en-US" altLang="zh-CN" dirty="0"/>
          </a:p>
        </p:txBody>
      </p:sp>
      <p:sp>
        <p:nvSpPr>
          <p:cNvPr id="37" name="Text Box 18">
            <a:extLst>
              <a:ext uri="{FF2B5EF4-FFF2-40B4-BE49-F238E27FC236}">
                <a16:creationId xmlns:a16="http://schemas.microsoft.com/office/drawing/2014/main" id="{22292A68-244D-EB70-2EB2-B7724E15C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1869" y="412173"/>
            <a:ext cx="4240263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平面与立体相交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5CCD6E-8FD0-18E4-62ED-02E812CAB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121" y="1196752"/>
            <a:ext cx="1412566" cy="531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ct val="0"/>
              </a:spcBef>
              <a:buClrTx/>
              <a:buSzTx/>
            </a:pPr>
            <a:r>
              <a:rPr lang="zh-CN" altLang="en-US" sz="26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 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601F6B-5257-7B8D-4172-B27FEB8BCC9F}"/>
              </a:ext>
            </a:extLst>
          </p:cNvPr>
          <p:cNvSpPr/>
          <p:nvPr/>
        </p:nvSpPr>
        <p:spPr>
          <a:xfrm>
            <a:off x="1053248" y="1772816"/>
            <a:ext cx="7551200" cy="4473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eaLnBrk="0" fontAlgn="base" hangingPunct="0">
              <a:lnSpc>
                <a:spcPct val="120000"/>
              </a:lnSpc>
              <a:spcBef>
                <a:spcPct val="25000"/>
              </a:spcBef>
              <a:spcAft>
                <a:spcPct val="0"/>
              </a:spcAft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回转体截交线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的形状取决于回转体表面的形状，以及截平面与回转体轴线的相对位置。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0000" lvl="1" indent="-285750" algn="just" eaLnBrk="0" hangingPunct="0">
              <a:lnSpc>
                <a:spcPct val="120000"/>
              </a:lnSpc>
              <a:spcBef>
                <a:spcPct val="25000"/>
              </a:spcBef>
              <a:buFont typeface="Wingdings" panose="05000000000000000000" pitchFamily="2" charset="2"/>
              <a:buChar char="l"/>
              <a:defRPr/>
            </a:pPr>
            <a:r>
              <a:rPr kumimoji="1" lang="zh-CN" altLang="en-US" b="1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空间分析</a:t>
            </a:r>
            <a:r>
              <a:rPr kumimoji="1" lang="zh-CN" altLang="en-US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：分析回转体形状以及截平面与回转体轴线的相对位置，确定截交线的空间形状；</a:t>
            </a:r>
            <a:endParaRPr kumimoji="1" lang="en-US" altLang="zh-CN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0000" lvl="1" indent="-285750" algn="just" eaLnBrk="0" hangingPunct="0">
              <a:lnSpc>
                <a:spcPct val="120000"/>
              </a:lnSpc>
              <a:spcBef>
                <a:spcPct val="25000"/>
              </a:spcBef>
              <a:buFont typeface="Wingdings" panose="05000000000000000000" pitchFamily="2" charset="2"/>
              <a:buChar char="l"/>
              <a:defRPr/>
            </a:pPr>
            <a:r>
              <a:rPr kumimoji="1" lang="zh-CN" altLang="en-US" b="1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投影分析</a:t>
            </a:r>
            <a:r>
              <a:rPr kumimoji="1" lang="zh-CN" altLang="en-US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：分析截平面与投影面相对位置，确定截交线投影特性；</a:t>
            </a:r>
            <a:endParaRPr kumimoji="1" lang="en-US" altLang="zh-CN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0000" lvl="1" indent="-285750" algn="just" eaLnBrk="0" hangingPunct="0">
              <a:lnSpc>
                <a:spcPct val="120000"/>
              </a:lnSpc>
              <a:spcBef>
                <a:spcPct val="25000"/>
              </a:spcBef>
              <a:buFont typeface="Wingdings" panose="05000000000000000000" pitchFamily="2" charset="2"/>
              <a:buChar char="l"/>
              <a:defRPr/>
            </a:pPr>
            <a:r>
              <a:rPr kumimoji="1" lang="zh-CN" altLang="en-US" b="1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求截交线</a:t>
            </a:r>
            <a:r>
              <a:rPr kumimoji="1" lang="zh-CN" altLang="en-US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：当截交线的投影为非圆曲线时，先找特殊点，再补充中间点，最后光滑连接各点，注意分析回转体轮廓线的投影；</a:t>
            </a:r>
            <a:endParaRPr kumimoji="1" lang="en-US" altLang="zh-CN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0000" lvl="1" indent="-285750" algn="just" eaLnBrk="0" hangingPunct="0">
              <a:lnSpc>
                <a:spcPct val="120000"/>
              </a:lnSpc>
              <a:spcBef>
                <a:spcPct val="25000"/>
              </a:spcBef>
              <a:buFont typeface="Wingdings" panose="05000000000000000000" pitchFamily="2" charset="2"/>
              <a:buChar char="l"/>
              <a:defRPr/>
            </a:pPr>
            <a:r>
              <a:rPr kumimoji="1" lang="zh-CN" altLang="en-US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当截平面与回转体的外表面和孔的内表面都相交时，与内外表面都产生截交线，需要依次分别画出；</a:t>
            </a:r>
            <a:endParaRPr kumimoji="1" lang="en-US" altLang="zh-CN" dirty="0">
              <a:solidFill>
                <a:srgbClr val="7E529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40000" lvl="1" indent="-285750" algn="just" eaLnBrk="0" hangingPunct="0">
              <a:lnSpc>
                <a:spcPct val="120000"/>
              </a:lnSpc>
              <a:spcBef>
                <a:spcPct val="25000"/>
              </a:spcBef>
              <a:buFont typeface="Wingdings" panose="05000000000000000000" pitchFamily="2" charset="2"/>
              <a:buChar char="l"/>
              <a:defRPr/>
            </a:pPr>
            <a:r>
              <a:rPr kumimoji="1" lang="zh-CN" altLang="en-US" dirty="0">
                <a:solidFill>
                  <a:srgbClr val="7E529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当单体被多个截平面截切时，需要针对每个截平面进行截交线的分析与作图，当只有局部被截切时，可以先按照整体被截切求出截交线，然后再取局部。</a:t>
            </a:r>
          </a:p>
        </p:txBody>
      </p:sp>
    </p:spTree>
    <p:extLst>
      <p:ext uri="{BB962C8B-B14F-4D97-AF65-F5344CB8AC3E}">
        <p14:creationId xmlns:p14="http://schemas.microsoft.com/office/powerpoint/2010/main" val="2439241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49E63-A9C3-BA41-617C-4C36EE3D2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10E4F6B3-07A3-185A-EF90-7F58A879B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55272" y="6425391"/>
            <a:ext cx="354584" cy="276999"/>
          </a:xfrm>
        </p:spPr>
        <p:txBody>
          <a:bodyPr wrap="none">
            <a:spAutoFit/>
          </a:bodyPr>
          <a:lstStyle/>
          <a:p>
            <a:fld id="{0A5DABDC-C7A3-4A62-BB87-5F550D6AD4B8}" type="slidenum">
              <a:rPr lang="en-US" altLang="zh-CN"/>
              <a:pPr/>
              <a:t>24</a:t>
            </a:fld>
            <a:endParaRPr lang="en-US" altLang="zh-CN" dirty="0"/>
          </a:p>
        </p:txBody>
      </p:sp>
      <p:sp>
        <p:nvSpPr>
          <p:cNvPr id="2" name="Text Box 18">
            <a:extLst>
              <a:ext uri="{FF2B5EF4-FFF2-40B4-BE49-F238E27FC236}">
                <a16:creationId xmlns:a16="http://schemas.microsoft.com/office/drawing/2014/main" id="{424D131C-8BF6-732C-F5C6-E1FF00D6B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7420" y="412173"/>
            <a:ext cx="300915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 课后作业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FCC83B-C54B-FD42-4C25-CE5769A48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1556792"/>
            <a:ext cx="4177747" cy="252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P20 – 1, 2, 3,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自选练习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P21 – 5, 7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P22 – 2, 3</a:t>
            </a:r>
          </a:p>
          <a:p>
            <a:pPr marL="342900" indent="-342900">
              <a:lnSpc>
                <a:spcPct val="120000"/>
              </a:lnSpc>
              <a:spcBef>
                <a:spcPct val="0"/>
              </a:spcBef>
              <a:spcAft>
                <a:spcPts val="1800"/>
              </a:spcAft>
              <a:buClrTx/>
              <a:buSzTx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P23 – 6, 7</a:t>
            </a:r>
          </a:p>
        </p:txBody>
      </p:sp>
    </p:spTree>
    <p:extLst>
      <p:ext uri="{BB962C8B-B14F-4D97-AF65-F5344CB8AC3E}">
        <p14:creationId xmlns:p14="http://schemas.microsoft.com/office/powerpoint/2010/main" val="213127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1a95fcf66203d38bc361677577eb4a2de51b675"/>
</p:tagLst>
</file>

<file path=ppt/theme/theme1.xml><?xml version="1.0" encoding="utf-8"?>
<a:theme xmlns:a="http://schemas.openxmlformats.org/drawingml/2006/main" name="Office 主题​​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0C0C0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7798</TotalTime>
  <Words>3544</Words>
  <Application>Microsoft Office PowerPoint</Application>
  <PresentationFormat>全屏显示(4:3)</PresentationFormat>
  <Paragraphs>432</Paragraphs>
  <Slides>24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0" baseType="lpstr">
      <vt:lpstr>CommercialPi BT</vt:lpstr>
      <vt:lpstr>ISOCP</vt:lpstr>
      <vt:lpstr>ISOCPEUR</vt:lpstr>
      <vt:lpstr>Monotype Sorts</vt:lpstr>
      <vt:lpstr>等线</vt:lpstr>
      <vt:lpstr>黑体</vt:lpstr>
      <vt:lpstr>华文细黑</vt:lpstr>
      <vt:lpstr>华文新魏</vt:lpstr>
      <vt:lpstr>宋体</vt:lpstr>
      <vt:lpstr>微软雅黑</vt:lpstr>
      <vt:lpstr>Arial</vt:lpstr>
      <vt:lpstr>Calibri</vt:lpstr>
      <vt:lpstr>Symbol</vt:lpstr>
      <vt:lpstr>Times New Roman</vt:lpstr>
      <vt:lpstr>Wingdings</vt:lpstr>
      <vt:lpstr>Office 主题​​</vt:lpstr>
      <vt:lpstr>PowerPoint 演示文稿</vt:lpstr>
      <vt:lpstr>平面与立体相交</vt:lpstr>
      <vt:lpstr>PowerPoint 演示文稿</vt:lpstr>
      <vt:lpstr>PowerPoint 演示文稿</vt:lpstr>
      <vt:lpstr>PowerPoint 演示文稿</vt:lpstr>
      <vt:lpstr>PowerPoint 演示文稿</vt:lpstr>
      <vt:lpstr>7.2 平面与平面体相交</vt:lpstr>
      <vt:lpstr>PowerPoint 演示文稿</vt:lpstr>
      <vt:lpstr>PowerPoint 演示文稿</vt:lpstr>
      <vt:lpstr>PowerPoint 演示文稿</vt:lpstr>
      <vt:lpstr>PowerPoint 演示文稿</vt:lpstr>
      <vt:lpstr>7.3 平面与回转体相交（一） （圆柱的截切）</vt:lpstr>
      <vt:lpstr>PowerPoint 演示文稿</vt:lpstr>
      <vt:lpstr>PowerPoint 演示文稿</vt:lpstr>
      <vt:lpstr>PowerPoint 演示文稿</vt:lpstr>
      <vt:lpstr>PowerPoint 演示文稿</vt:lpstr>
      <vt:lpstr>7.4 平面与回转体相交（二） （圆锥的截切）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wyh</dc:creator>
  <cp:lastModifiedBy>Yao Jiang</cp:lastModifiedBy>
  <cp:revision>1538</cp:revision>
  <dcterms:created xsi:type="dcterms:W3CDTF">2013-06-24T05:49:57Z</dcterms:created>
  <dcterms:modified xsi:type="dcterms:W3CDTF">2025-03-23T15:33:02Z</dcterms:modified>
</cp:coreProperties>
</file>