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82" r:id="rId2"/>
    <p:sldId id="259" r:id="rId3"/>
    <p:sldId id="262" r:id="rId4"/>
    <p:sldId id="374" r:id="rId5"/>
    <p:sldId id="354" r:id="rId6"/>
    <p:sldId id="392" r:id="rId7"/>
    <p:sldId id="375" r:id="rId8"/>
    <p:sldId id="376" r:id="rId9"/>
    <p:sldId id="377" r:id="rId10"/>
    <p:sldId id="400" r:id="rId11"/>
    <p:sldId id="397" r:id="rId12"/>
    <p:sldId id="396" r:id="rId13"/>
    <p:sldId id="381" r:id="rId14"/>
    <p:sldId id="382" r:id="rId15"/>
    <p:sldId id="383" r:id="rId16"/>
    <p:sldId id="401" r:id="rId17"/>
    <p:sldId id="402" r:id="rId18"/>
    <p:sldId id="384" r:id="rId19"/>
    <p:sldId id="385" r:id="rId20"/>
    <p:sldId id="386" r:id="rId21"/>
    <p:sldId id="403" r:id="rId22"/>
    <p:sldId id="404" r:id="rId23"/>
    <p:sldId id="405" r:id="rId24"/>
    <p:sldId id="406" r:id="rId25"/>
    <p:sldId id="407" r:id="rId26"/>
    <p:sldId id="387" r:id="rId27"/>
    <p:sldId id="388" r:id="rId28"/>
    <p:sldId id="408" r:id="rId29"/>
    <p:sldId id="409" r:id="rId30"/>
    <p:sldId id="410" r:id="rId31"/>
    <p:sldId id="389" r:id="rId32"/>
    <p:sldId id="390" r:id="rId33"/>
    <p:sldId id="391" r:id="rId34"/>
    <p:sldId id="411" r:id="rId35"/>
    <p:sldId id="412" r:id="rId36"/>
    <p:sldId id="413" r:id="rId37"/>
    <p:sldId id="415" r:id="rId38"/>
    <p:sldId id="414" r:id="rId39"/>
    <p:sldId id="416" r:id="rId40"/>
    <p:sldId id="417" r:id="rId41"/>
    <p:sldId id="418" r:id="rId42"/>
    <p:sldId id="419" r:id="rId43"/>
    <p:sldId id="372" r:id="rId44"/>
  </p:sldIdLst>
  <p:sldSz cx="9144000" cy="6858000" type="screen4x3"/>
  <p:notesSz cx="6858000" cy="9144000"/>
  <p:custDataLst>
    <p:tags r:id="rId4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15" autoAdjust="0"/>
    <p:restoredTop sz="96895" autoAdjust="0"/>
  </p:normalViewPr>
  <p:slideViewPr>
    <p:cSldViewPr>
      <p:cViewPr varScale="1">
        <p:scale>
          <a:sx n="102" d="100"/>
          <a:sy n="102" d="100"/>
        </p:scale>
        <p:origin x="36" y="17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539552" y="2420888"/>
            <a:ext cx="7848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32148" y="1626923"/>
            <a:ext cx="1189906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3902" y="1056168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22" y="366323"/>
            <a:ext cx="1366780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5625737" y="3733164"/>
            <a:ext cx="3640183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9144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4333" y="2817663"/>
            <a:ext cx="7075335" cy="5909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72690D-05E7-3DA8-44D6-C8381F4A3F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5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6"/>
            <a:ext cx="9144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1763688" y="692696"/>
            <a:ext cx="6923112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  <p:sldLayoutId id="2147483662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05146" y="2697631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188640"/>
            <a:ext cx="3865161" cy="12819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   疑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：周二晚上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8:00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10:00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786349" y="2727900"/>
            <a:ext cx="7571304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几何元素间的相对位置关系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3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auto">
          <a:xfrm>
            <a:off x="3455348" y="2132856"/>
            <a:ext cx="2233304" cy="260154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平行问题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相交问题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垂直问题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3.4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综合问题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3835260" y="454422"/>
            <a:ext cx="1473480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内 容</a:t>
            </a:r>
          </a:p>
        </p:txBody>
      </p:sp>
      <p:grpSp>
        <p:nvGrpSpPr>
          <p:cNvPr id="2" name="组合 12"/>
          <p:cNvGrpSpPr/>
          <p:nvPr/>
        </p:nvGrpSpPr>
        <p:grpSpPr>
          <a:xfrm flipV="1">
            <a:off x="0" y="1412776"/>
            <a:ext cx="9144000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939C-FDDB-2267-0005-AA9E4D2D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91B867-7032-343B-F88B-740300D073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631407" y="2727900"/>
            <a:ext cx="388119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6EFC0-EF48-EF6C-3B51-41E6426927BE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3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683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DCDC-4DDD-A212-028F-4C1036C0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BA20430-D34A-C6AD-94AA-13632189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6132A33-EB3F-EA1F-4EC6-B9D571DCD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B60B85-53D5-8260-DF5F-395397053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直线与直线平行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838CE77-70FB-90BE-B2A2-BD5C7CD14C59}"/>
              </a:ext>
            </a:extLst>
          </p:cNvPr>
          <p:cNvGrpSpPr/>
          <p:nvPr/>
        </p:nvGrpSpPr>
        <p:grpSpPr>
          <a:xfrm>
            <a:off x="539552" y="1848161"/>
            <a:ext cx="8208912" cy="4240074"/>
            <a:chOff x="539552" y="1848161"/>
            <a:chExt cx="8208912" cy="4240074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023CC20-86EB-FC28-DE02-490AD333B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1848161"/>
              <a:ext cx="8208912" cy="1435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几何学原理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：若空间两条直线相互平行，那么它们的同名投影必然相互平行。反之，若两条直线的各个同名投影相互平行，那么两直线在空间上的关系也一定相互平行。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AE51248-E25B-54CB-512E-53F0952BE105}"/>
                </a:ext>
              </a:extLst>
            </p:cNvPr>
            <p:cNvGrpSpPr/>
            <p:nvPr/>
          </p:nvGrpSpPr>
          <p:grpSpPr>
            <a:xfrm>
              <a:off x="2466020" y="3429000"/>
              <a:ext cx="4266220" cy="2659235"/>
              <a:chOff x="2466020" y="3429000"/>
              <a:chExt cx="4266220" cy="2659235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2A50F3B-F6D3-9417-CF47-C626C73ACE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66020" y="3429000"/>
                <a:ext cx="4211960" cy="2659235"/>
              </a:xfrm>
              <a:prstGeom prst="rect">
                <a:avLst/>
              </a:prstGeom>
            </p:spPr>
          </p:pic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4A77B8-9878-DFEB-C520-5F8BD69BC12D}"/>
                  </a:ext>
                </a:extLst>
              </p:cNvPr>
              <p:cNvSpPr/>
              <p:nvPr/>
            </p:nvSpPr>
            <p:spPr>
              <a:xfrm>
                <a:off x="6516216" y="5157192"/>
                <a:ext cx="216024" cy="2880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153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E3E9-CBC4-FBF1-525E-1FFC05F5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CFFBD163-52EF-6984-6B5D-23C9A67C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A4621E5F-C47C-F0A2-05BD-89045327E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D85226-1ACD-73A7-3B40-E436E5624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直线与平面平行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4912AE-F15F-6ECB-CEC8-4676030B1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848161"/>
            <a:ext cx="8208912" cy="97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几何学原理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：若平面外的直线平行于平面上的任一直线，则该直线与该平面平行。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BCA79F-0A25-A26F-453D-47B773A97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212976"/>
            <a:ext cx="8208912" cy="1435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：当平面为投影面垂直面时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特殊位置平面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，若直线的投影与投影面垂直面具有具有积聚性的投影相互平行，则该直线与该平面平行。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37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ADB6-C3D5-0BE1-A899-A22B57E2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BEB5A93-9678-1C6E-2AF9-A845C2CD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BC4B15D-BDE3-EE33-8750-A45D05FFF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28EF86-1907-A0E5-3AA9-3361447D2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直线与平面平行</a:t>
            </a:r>
          </a:p>
        </p:txBody>
      </p:sp>
      <p:sp>
        <p:nvSpPr>
          <p:cNvPr id="3" name="Line 2">
            <a:extLst>
              <a:ext uri="{FF2B5EF4-FFF2-40B4-BE49-F238E27FC236}">
                <a16:creationId xmlns:a16="http://schemas.microsoft.com/office/drawing/2014/main" id="{A16D35FC-797D-0B5F-2564-00088854D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2911" y="3367672"/>
            <a:ext cx="39052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34A58D18-32AE-F0BC-B005-938E2B737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674" y="4991685"/>
            <a:ext cx="390525" cy="90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A21B3234-1128-E838-2EEB-F248A3781F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17461" y="3272422"/>
            <a:ext cx="995363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C4362C44-1424-C1C4-A26F-A2831B75D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9986" y="4504322"/>
            <a:ext cx="542925" cy="48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A0BCDE56-0D57-E387-3A54-51D3A78F3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161" y="3653422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ACAFA265-E363-529A-6A23-E43131B2E8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6811" y="3374022"/>
            <a:ext cx="546100" cy="28575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9B8BC9F9-16B4-00DB-5DA7-47F8A172A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161" y="4339222"/>
            <a:ext cx="0" cy="160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DFF8E61E-7A8D-FDE5-939D-2B8E7F184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174" y="3282379"/>
            <a:ext cx="5413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sz="20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C6089088-BF4B-12F8-08AA-84DABB489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486" y="4488447"/>
            <a:ext cx="303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i="1">
                <a:latin typeface="ISOCPEUR" pitchFamily="34" charset="0"/>
              </a:rPr>
              <a:t>e</a:t>
            </a:r>
            <a:endParaRPr lang="en-US" altLang="zh-CN" sz="2000" b="0">
              <a:latin typeface="ISOCPEUR" pitchFamily="34" charset="0"/>
            </a:endParaRP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FF43E151-60B6-051C-6DAA-739E7CB64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7172" y="2198878"/>
            <a:ext cx="4742004" cy="4303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作一水平线平行于面（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AB×CD)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105549E0-E639-918A-9B12-2D3F8AEF0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2878328"/>
            <a:ext cx="2528256" cy="116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解题步骤：</a:t>
            </a:r>
          </a:p>
          <a:p>
            <a:pPr algn="l"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作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 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(AB×CD)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FE10DE91-4DCA-2F20-556F-8586C1AD6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768" y="2924905"/>
            <a:ext cx="5762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sz="2000" i="1" dirty="0" err="1">
                <a:latin typeface="ISOCPEUR" pitchFamily="34" charset="0"/>
              </a:rPr>
              <a:t>i</a:t>
            </a:r>
            <a:r>
              <a:rPr lang="en-US" altLang="zh-CN" sz="2000" i="1" dirty="0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ABF8215A-B034-D985-F683-D8173A165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6986" y="3296235"/>
            <a:ext cx="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E7C1B1B0-13E6-8903-829A-3BFFE37D9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6986" y="4329697"/>
            <a:ext cx="0" cy="1185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572C2471-C6DF-1AA9-D553-264244156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674" y="5386827"/>
            <a:ext cx="333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sz="2000" i="1" dirty="0" err="1">
                <a:latin typeface="ISOCPEUR" pitchFamily="34" charset="0"/>
              </a:rPr>
              <a:t>i</a:t>
            </a:r>
            <a:endParaRPr lang="en-US" altLang="zh-CN" dirty="0">
              <a:latin typeface="ISOCPEUR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9C11BB-A538-3783-4669-8B1619D57B49}"/>
              </a:ext>
            </a:extLst>
          </p:cNvPr>
          <p:cNvGrpSpPr>
            <a:grpSpLocks/>
          </p:cNvGrpSpPr>
          <p:nvPr/>
        </p:nvGrpSpPr>
        <p:grpSpPr bwMode="auto">
          <a:xfrm>
            <a:off x="1187199" y="2829510"/>
            <a:ext cx="3460750" cy="3113089"/>
            <a:chOff x="701" y="1089"/>
            <a:chExt cx="2180" cy="196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93EA742-ED93-44A7-FD60-DF321123A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1920"/>
              <a:ext cx="2180" cy="237"/>
              <a:chOff x="268" y="2703"/>
              <a:chExt cx="1529" cy="237"/>
            </a:xfrm>
          </p:grpSpPr>
          <p:sp>
            <p:nvSpPr>
              <p:cNvPr id="44" name="Text Box 20">
                <a:extLst>
                  <a:ext uri="{FF2B5EF4-FFF2-40B4-BE49-F238E27FC236}">
                    <a16:creationId xmlns:a16="http://schemas.microsoft.com/office/drawing/2014/main" id="{C88F3D06-84B8-7A62-4692-B040B2B433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" y="2703"/>
                <a:ext cx="15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l"/>
                <a:r>
                  <a:rPr lang="en-US" altLang="zh-CN" i="1" dirty="0">
                    <a:latin typeface="ISOCPEUR" pitchFamily="34" charset="0"/>
                  </a:rPr>
                  <a:t>X </a:t>
                </a:r>
              </a:p>
            </p:txBody>
          </p:sp>
          <p:sp>
            <p:nvSpPr>
              <p:cNvPr id="45" name="Text Box 21">
                <a:extLst>
                  <a:ext uri="{FF2B5EF4-FFF2-40B4-BE49-F238E27FC236}">
                    <a16:creationId xmlns:a16="http://schemas.microsoft.com/office/drawing/2014/main" id="{1B8D567A-98BF-1190-E686-D1B9D56CC6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5" y="2707"/>
                <a:ext cx="172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l"/>
                <a:r>
                  <a:rPr lang="en-US" altLang="zh-CN" i="1" dirty="0">
                    <a:latin typeface="ISOCPEUR" pitchFamily="34" charset="0"/>
                  </a:rPr>
                  <a:t>O </a:t>
                </a:r>
              </a:p>
            </p:txBody>
          </p:sp>
          <p:sp>
            <p:nvSpPr>
              <p:cNvPr id="46" name="Line 22">
                <a:extLst>
                  <a:ext uri="{FF2B5EF4-FFF2-40B4-BE49-F238E27FC236}">
                    <a16:creationId xmlns:a16="http://schemas.microsoft.com/office/drawing/2014/main" id="{6B3F910F-833B-856E-2E08-74DF120AA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2824"/>
                <a:ext cx="1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AFB8EF24-89DD-B4B8-A169-699E52A9D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" y="1654"/>
              <a:ext cx="234" cy="252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b="0" dirty="0">
                <a:latin typeface="ISOCPEUR" pitchFamily="34" charset="0"/>
              </a:endParaRPr>
            </a:p>
          </p:txBody>
        </p:sp>
        <p:sp>
          <p:nvSpPr>
            <p:cNvPr id="22" name="Text Box 24">
              <a:extLst>
                <a:ext uri="{FF2B5EF4-FFF2-40B4-BE49-F238E27FC236}">
                  <a16:creationId xmlns:a16="http://schemas.microsoft.com/office/drawing/2014/main" id="{A0C6F5A5-B61A-9593-E1D1-5B6F2FF7D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2" y="1117"/>
              <a:ext cx="234" cy="252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b="0">
                <a:latin typeface="ISOCPEUR" pitchFamily="34" charset="0"/>
              </a:endParaRPr>
            </a:p>
          </p:txBody>
        </p: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FA37030C-D3ED-DD0A-84CE-F928466F6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9" y="1089"/>
              <a:ext cx="219" cy="252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b="0" dirty="0">
                <a:latin typeface="ISOCPEUR" pitchFamily="34" charset="0"/>
              </a:endParaRPr>
            </a:p>
          </p:txBody>
        </p:sp>
        <p:sp>
          <p:nvSpPr>
            <p:cNvPr id="24" name="Text Box 26">
              <a:extLst>
                <a:ext uri="{FF2B5EF4-FFF2-40B4-BE49-F238E27FC236}">
                  <a16:creationId xmlns:a16="http://schemas.microsoft.com/office/drawing/2014/main" id="{088EE343-7AE8-345E-3125-560382E34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" y="1454"/>
              <a:ext cx="234" cy="252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b="0" dirty="0">
                <a:latin typeface="ISOCPEUR" pitchFamily="34" charset="0"/>
              </a:endParaRPr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4066BE4F-FF39-F7D8-2C97-0ACD58955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9" y="1825"/>
              <a:ext cx="0" cy="3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66F4422F-FB8F-A07F-02AE-72F9E9012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1" y="1368"/>
              <a:ext cx="0" cy="15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9B037410-B456-667B-F172-70357AD02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" y="1233"/>
              <a:ext cx="0" cy="1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997A6816-3348-6D26-40E5-012ECFD83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7" y="1796"/>
              <a:ext cx="0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45588E58-C72F-C2D4-90C6-6E7998525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1579"/>
              <a:ext cx="0" cy="9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CA27F3D7-D37B-9AA1-EC22-3E5F0D7B0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9" y="2130"/>
              <a:ext cx="888" cy="789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Text Box 33">
              <a:extLst>
                <a:ext uri="{FF2B5EF4-FFF2-40B4-BE49-F238E27FC236}">
                  <a16:creationId xmlns:a16="http://schemas.microsoft.com/office/drawing/2014/main" id="{6A462639-DCC0-F52B-79DE-983D422FC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1191"/>
              <a:ext cx="22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k</a:t>
              </a:r>
              <a:r>
                <a:rPr lang="en-US" altLang="zh-CN" sz="2000" i="1" dirty="0">
                  <a:latin typeface="ISOCPEUR" pitchFamily="34" charset="0"/>
                  <a:ea typeface="仿宋_GB2312" pitchFamily="49" charset="-122"/>
                </a:rPr>
                <a:t>'</a:t>
              </a:r>
            </a:p>
          </p:txBody>
        </p:sp>
        <p:sp>
          <p:nvSpPr>
            <p:cNvPr id="32" name="Text Box 34">
              <a:extLst>
                <a:ext uri="{FF2B5EF4-FFF2-40B4-BE49-F238E27FC236}">
                  <a16:creationId xmlns:a16="http://schemas.microsoft.com/office/drawing/2014/main" id="{2A8A98CB-61D3-7B6A-B615-06998C66B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2434"/>
              <a:ext cx="19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k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D86A65AE-F8EC-8A09-79E0-080587D37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" y="2060"/>
              <a:ext cx="19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68A7CB69-FD0B-09AE-DF85-B9F2A0034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0" y="2798"/>
              <a:ext cx="19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35" name="Text Box 37">
              <a:extLst>
                <a:ext uri="{FF2B5EF4-FFF2-40B4-BE49-F238E27FC236}">
                  <a16:creationId xmlns:a16="http://schemas.microsoft.com/office/drawing/2014/main" id="{F5B019A8-722D-3DFA-76DB-58BF3138C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" y="2800"/>
              <a:ext cx="18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6" name="Text Box 38">
              <a:extLst>
                <a:ext uri="{FF2B5EF4-FFF2-40B4-BE49-F238E27FC236}">
                  <a16:creationId xmlns:a16="http://schemas.microsoft.com/office/drawing/2014/main" id="{C4182F71-4A80-6A9A-18DC-99E902474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" y="2254"/>
              <a:ext cx="19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  <p:sp>
          <p:nvSpPr>
            <p:cNvPr id="38" name="Line 39">
              <a:extLst>
                <a:ext uri="{FF2B5EF4-FFF2-40B4-BE49-F238E27FC236}">
                  <a16:creationId xmlns:a16="http://schemas.microsoft.com/office/drawing/2014/main" id="{0CDA3B6C-9680-81E9-BF7D-F99738255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3" y="1435"/>
              <a:ext cx="0" cy="1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AutoShape 40">
              <a:extLst>
                <a:ext uri="{FF2B5EF4-FFF2-40B4-BE49-F238E27FC236}">
                  <a16:creationId xmlns:a16="http://schemas.microsoft.com/office/drawing/2014/main" id="{DDF2E537-E77F-D056-2263-51DF33AE1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140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AutoShape 41">
              <a:extLst>
                <a:ext uri="{FF2B5EF4-FFF2-40B4-BE49-F238E27FC236}">
                  <a16:creationId xmlns:a16="http://schemas.microsoft.com/office/drawing/2014/main" id="{DAB7A0A1-0A0E-381B-EF06-356C434B4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242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B099D609-70AD-2CA0-4A94-2D639D0B4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0" y="2331"/>
              <a:ext cx="630" cy="601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6E75EF0F-4DB5-1260-6B59-7BB7AC6F68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9" y="1365"/>
              <a:ext cx="894" cy="462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1767539C-BFFC-2B98-47F2-D142E14AB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4" y="1239"/>
              <a:ext cx="621" cy="552"/>
            </a:xfrm>
            <a:prstGeom prst="line">
              <a:avLst/>
            </a:prstGeom>
            <a:noFill/>
            <a:ln w="38100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7" name="Line 46">
            <a:extLst>
              <a:ext uri="{FF2B5EF4-FFF2-40B4-BE49-F238E27FC236}">
                <a16:creationId xmlns:a16="http://schemas.microsoft.com/office/drawing/2014/main" id="{A25B01A8-2E80-FD76-AE57-18EC8E2CE7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3436" y="3367672"/>
            <a:ext cx="0" cy="976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0B9B15B5-27F6-C01E-B0E2-9D47A8E57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3436" y="4339222"/>
            <a:ext cx="0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FAFAD163-6326-5298-613B-2EDB82AF7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758" y="2988383"/>
            <a:ext cx="3193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i="1" dirty="0">
                <a:latin typeface="ISOCPEUR" pitchFamily="34" charset="0"/>
              </a:rPr>
              <a:t>f</a:t>
            </a:r>
            <a:r>
              <a:rPr lang="en-US" altLang="zh-CN" sz="2000" i="1" dirty="0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50" name="Text Box 49">
            <a:extLst>
              <a:ext uri="{FF2B5EF4-FFF2-40B4-BE49-F238E27FC236}">
                <a16:creationId xmlns:a16="http://schemas.microsoft.com/office/drawing/2014/main" id="{0240C9A5-5796-6CDF-65EB-7EDF4466A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392" y="4953586"/>
            <a:ext cx="387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i="1" dirty="0">
                <a:latin typeface="ISOCPEUR" pitchFamily="34" charset="0"/>
              </a:rPr>
              <a:t>f </a:t>
            </a:r>
            <a:endParaRPr lang="en-US" altLang="zh-CN" dirty="0">
              <a:latin typeface="ISOCPEUR" pitchFamily="34" charset="0"/>
            </a:endParaRPr>
          </a:p>
        </p:txBody>
      </p:sp>
      <p:sp>
        <p:nvSpPr>
          <p:cNvPr id="51" name="Text Box 50">
            <a:extLst>
              <a:ext uri="{FF2B5EF4-FFF2-40B4-BE49-F238E27FC236}">
                <a16:creationId xmlns:a16="http://schemas.microsoft.com/office/drawing/2014/main" id="{1B55CD89-D83F-EE1B-C4A5-9E09163B1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4270390"/>
            <a:ext cx="3105337" cy="79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解题步骤：</a:t>
            </a:r>
          </a:p>
          <a:p>
            <a:pPr algn="l"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先作面上任一水平线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</a:p>
        </p:txBody>
      </p:sp>
      <p:sp>
        <p:nvSpPr>
          <p:cNvPr id="52" name="Text Box 51">
            <a:extLst>
              <a:ext uri="{FF2B5EF4-FFF2-40B4-BE49-F238E27FC236}">
                <a16:creationId xmlns:a16="http://schemas.microsoft.com/office/drawing/2014/main" id="{E98C753A-FCA4-FE06-049C-5741D46E1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085" y="5131074"/>
            <a:ext cx="3142207" cy="79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再作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KF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IB, 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水平线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KF 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(AB×CD)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8">
            <a:extLst>
              <a:ext uri="{FF2B5EF4-FFF2-40B4-BE49-F238E27FC236}">
                <a16:creationId xmlns:a16="http://schemas.microsoft.com/office/drawing/2014/main" id="{8485317A-B5FC-59BE-CDA9-D733DE453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54906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过点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作一直线平行于面（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AB×CD)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737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utoUpdateAnimBg="0"/>
      <p:bldP spid="12" grpId="0" autoUpdateAnimBg="0"/>
      <p:bldP spid="13" grpId="0" animBg="1" autoUpdateAnimBg="0"/>
      <p:bldP spid="14" grpId="0" autoUpdateAnimBg="0"/>
      <p:bldP spid="15" grpId="0" autoUpdateAnimBg="0"/>
      <p:bldP spid="16" grpId="0" animBg="1"/>
      <p:bldP spid="17" grpId="0" animBg="1"/>
      <p:bldP spid="18" grpId="0" autoUpdateAnimBg="0"/>
      <p:bldP spid="47" grpId="0" animBg="1"/>
      <p:bldP spid="48" grpId="0" animBg="1"/>
      <p:bldP spid="49" grpId="0" autoUpdateAnimBg="0"/>
      <p:bldP spid="50" grpId="0" autoUpdateAnimBg="0"/>
      <p:bldP spid="51" grpId="0" autoUpdateAnimBg="0"/>
      <p:bldP spid="5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65D9-BDBC-CA87-8C95-2BCF7A12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C935782-560B-4028-E5BA-84222039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2A1C7293-4277-5E39-2CF7-527F762C2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66A043-4EAA-13EF-EEEC-6FF61520C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直线与平面平行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32515C90-CD20-9CC7-E359-2684F02FE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50385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判断图中的直线是否与平面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△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</a:p>
        </p:txBody>
      </p:sp>
      <p:sp>
        <p:nvSpPr>
          <p:cNvPr id="32" name="Text Box 80">
            <a:extLst>
              <a:ext uri="{FF2B5EF4-FFF2-40B4-BE49-F238E27FC236}">
                <a16:creationId xmlns:a16="http://schemas.microsoft.com/office/drawing/2014/main" id="{4ACD06C7-AE23-43C3-E343-45D53E079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168" y="4648646"/>
            <a:ext cx="30748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△ ∥ 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d</a:t>
            </a:r>
          </a:p>
        </p:txBody>
      </p:sp>
      <p:grpSp>
        <p:nvGrpSpPr>
          <p:cNvPr id="33" name="Group 52">
            <a:extLst>
              <a:ext uri="{FF2B5EF4-FFF2-40B4-BE49-F238E27FC236}">
                <a16:creationId xmlns:a16="http://schemas.microsoft.com/office/drawing/2014/main" id="{D9C331B4-D3FA-717E-7CE5-E54D5F49A715}"/>
              </a:ext>
            </a:extLst>
          </p:cNvPr>
          <p:cNvGrpSpPr>
            <a:grpSpLocks/>
          </p:cNvGrpSpPr>
          <p:nvPr/>
        </p:nvGrpSpPr>
        <p:grpSpPr bwMode="auto">
          <a:xfrm>
            <a:off x="3176178" y="2675812"/>
            <a:ext cx="485775" cy="1266825"/>
            <a:chOff x="1458" y="1206"/>
            <a:chExt cx="306" cy="798"/>
          </a:xfrm>
        </p:grpSpPr>
        <p:sp>
          <p:nvSpPr>
            <p:cNvPr id="34" name="Line 53">
              <a:extLst>
                <a:ext uri="{FF2B5EF4-FFF2-40B4-BE49-F238E27FC236}">
                  <a16:creationId xmlns:a16="http://schemas.microsoft.com/office/drawing/2014/main" id="{FB42ADE7-95A0-E6C6-6351-AAB8163C52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8" y="1377"/>
              <a:ext cx="0" cy="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54">
              <a:extLst>
                <a:ext uri="{FF2B5EF4-FFF2-40B4-BE49-F238E27FC236}">
                  <a16:creationId xmlns:a16="http://schemas.microsoft.com/office/drawing/2014/main" id="{93AD421F-AE46-8156-01BC-0DAF9871F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64" y="1212"/>
              <a:ext cx="0" cy="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55">
              <a:extLst>
                <a:ext uri="{FF2B5EF4-FFF2-40B4-BE49-F238E27FC236}">
                  <a16:creationId xmlns:a16="http://schemas.microsoft.com/office/drawing/2014/main" id="{4B4DC501-A170-9D9F-BCEB-ECC009BA7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8" y="1788"/>
              <a:ext cx="306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56">
              <a:extLst>
                <a:ext uri="{FF2B5EF4-FFF2-40B4-BE49-F238E27FC236}">
                  <a16:creationId xmlns:a16="http://schemas.microsoft.com/office/drawing/2014/main" id="{FB269F24-0286-3250-B588-4A2EF9D53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8" y="1206"/>
              <a:ext cx="306" cy="1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9" name="Group 57">
            <a:extLst>
              <a:ext uri="{FF2B5EF4-FFF2-40B4-BE49-F238E27FC236}">
                <a16:creationId xmlns:a16="http://schemas.microsoft.com/office/drawing/2014/main" id="{73EFCB8F-5A9F-79B7-BD1D-BBE6FDF384A9}"/>
              </a:ext>
            </a:extLst>
          </p:cNvPr>
          <p:cNvGrpSpPr>
            <a:grpSpLocks/>
          </p:cNvGrpSpPr>
          <p:nvPr/>
        </p:nvGrpSpPr>
        <p:grpSpPr bwMode="auto">
          <a:xfrm>
            <a:off x="2242728" y="2523412"/>
            <a:ext cx="452438" cy="1409700"/>
            <a:chOff x="2310" y="1134"/>
            <a:chExt cx="285" cy="888"/>
          </a:xfrm>
        </p:grpSpPr>
        <p:sp>
          <p:nvSpPr>
            <p:cNvPr id="40" name="Line 58">
              <a:extLst>
                <a:ext uri="{FF2B5EF4-FFF2-40B4-BE49-F238E27FC236}">
                  <a16:creationId xmlns:a16="http://schemas.microsoft.com/office/drawing/2014/main" id="{2335CFD8-426E-A540-D871-402B19780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0" y="1824"/>
              <a:ext cx="285" cy="1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59">
              <a:extLst>
                <a:ext uri="{FF2B5EF4-FFF2-40B4-BE49-F238E27FC236}">
                  <a16:creationId xmlns:a16="http://schemas.microsoft.com/office/drawing/2014/main" id="{5C390705-88CC-736C-E1FC-2B8FE77F9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" y="1374"/>
              <a:ext cx="0" cy="4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60">
              <a:extLst>
                <a:ext uri="{FF2B5EF4-FFF2-40B4-BE49-F238E27FC236}">
                  <a16:creationId xmlns:a16="http://schemas.microsoft.com/office/drawing/2014/main" id="{E413B122-A91E-D9D9-6911-8213A2E66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4" y="1134"/>
              <a:ext cx="0" cy="7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61">
              <a:extLst>
                <a:ext uri="{FF2B5EF4-FFF2-40B4-BE49-F238E27FC236}">
                  <a16:creationId xmlns:a16="http://schemas.microsoft.com/office/drawing/2014/main" id="{4C1EA6B9-F11B-DAC9-6F47-60EADBF54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494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Freeform 62">
              <a:extLst>
                <a:ext uri="{FF2B5EF4-FFF2-40B4-BE49-F238E27FC236}">
                  <a16:creationId xmlns:a16="http://schemas.microsoft.com/office/drawing/2014/main" id="{00853A7E-B89F-36BA-24DC-B0DD12960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1134"/>
              <a:ext cx="282" cy="360"/>
            </a:xfrm>
            <a:custGeom>
              <a:avLst/>
              <a:gdLst/>
              <a:ahLst/>
              <a:cxnLst>
                <a:cxn ang="0">
                  <a:pos x="0" y="246"/>
                </a:cxn>
                <a:cxn ang="0">
                  <a:pos x="144" y="0"/>
                </a:cxn>
                <a:cxn ang="0">
                  <a:pos x="282" y="360"/>
                </a:cxn>
                <a:cxn ang="0">
                  <a:pos x="0" y="246"/>
                </a:cxn>
              </a:cxnLst>
              <a:rect l="0" t="0" r="r" b="b"/>
              <a:pathLst>
                <a:path w="282" h="360">
                  <a:moveTo>
                    <a:pt x="0" y="246"/>
                  </a:moveTo>
                  <a:lnTo>
                    <a:pt x="144" y="0"/>
                  </a:lnTo>
                  <a:lnTo>
                    <a:pt x="282" y="360"/>
                  </a:lnTo>
                  <a:lnTo>
                    <a:pt x="0" y="246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5" name="Group 63">
            <a:extLst>
              <a:ext uri="{FF2B5EF4-FFF2-40B4-BE49-F238E27FC236}">
                <a16:creationId xmlns:a16="http://schemas.microsoft.com/office/drawing/2014/main" id="{8C81A6CA-99F9-EE08-0640-513C92BFC998}"/>
              </a:ext>
            </a:extLst>
          </p:cNvPr>
          <p:cNvGrpSpPr>
            <a:grpSpLocks/>
          </p:cNvGrpSpPr>
          <p:nvPr/>
        </p:nvGrpSpPr>
        <p:grpSpPr bwMode="auto">
          <a:xfrm>
            <a:off x="4138203" y="2580562"/>
            <a:ext cx="330200" cy="1320800"/>
            <a:chOff x="2896" y="1180"/>
            <a:chExt cx="208" cy="832"/>
          </a:xfrm>
        </p:grpSpPr>
        <p:sp>
          <p:nvSpPr>
            <p:cNvPr id="46" name="Line 64">
              <a:extLst>
                <a:ext uri="{FF2B5EF4-FFF2-40B4-BE49-F238E27FC236}">
                  <a16:creationId xmlns:a16="http://schemas.microsoft.com/office/drawing/2014/main" id="{CD9EA75E-123F-04A0-C578-598D8B0E31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96" y="1180"/>
              <a:ext cx="208" cy="3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65">
              <a:extLst>
                <a:ext uri="{FF2B5EF4-FFF2-40B4-BE49-F238E27FC236}">
                  <a16:creationId xmlns:a16="http://schemas.microsoft.com/office/drawing/2014/main" id="{A7B42272-79BB-AFC9-0632-F62FDC6FA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500"/>
              <a:ext cx="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66">
              <a:extLst>
                <a:ext uri="{FF2B5EF4-FFF2-40B4-BE49-F238E27FC236}">
                  <a16:creationId xmlns:a16="http://schemas.microsoft.com/office/drawing/2014/main" id="{9DF535AA-129F-40F7-5AD3-0FCD42393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860"/>
              <a:ext cx="20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67">
              <a:extLst>
                <a:ext uri="{FF2B5EF4-FFF2-40B4-BE49-F238E27FC236}">
                  <a16:creationId xmlns:a16="http://schemas.microsoft.com/office/drawing/2014/main" id="{95FE867E-0BCA-3353-FB4F-5AA071DC5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4" y="1180"/>
              <a:ext cx="0" cy="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0" name="Group 68">
            <a:extLst>
              <a:ext uri="{FF2B5EF4-FFF2-40B4-BE49-F238E27FC236}">
                <a16:creationId xmlns:a16="http://schemas.microsoft.com/office/drawing/2014/main" id="{ECA4711A-2C5D-787C-7515-990A830CA10F}"/>
              </a:ext>
            </a:extLst>
          </p:cNvPr>
          <p:cNvGrpSpPr>
            <a:grpSpLocks/>
          </p:cNvGrpSpPr>
          <p:nvPr/>
        </p:nvGrpSpPr>
        <p:grpSpPr bwMode="auto">
          <a:xfrm>
            <a:off x="5004978" y="2671049"/>
            <a:ext cx="476250" cy="1238250"/>
            <a:chOff x="5220" y="1308"/>
            <a:chExt cx="300" cy="780"/>
          </a:xfrm>
        </p:grpSpPr>
        <p:sp>
          <p:nvSpPr>
            <p:cNvPr id="51" name="Line 69">
              <a:extLst>
                <a:ext uri="{FF2B5EF4-FFF2-40B4-BE49-F238E27FC236}">
                  <a16:creationId xmlns:a16="http://schemas.microsoft.com/office/drawing/2014/main" id="{88D293D9-118B-B2E6-95B3-9B3593482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1872"/>
              <a:ext cx="300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70">
              <a:extLst>
                <a:ext uri="{FF2B5EF4-FFF2-40B4-BE49-F238E27FC236}">
                  <a16:creationId xmlns:a16="http://schemas.microsoft.com/office/drawing/2014/main" id="{FECB9984-BB42-6892-6D12-3BEF64EB16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0" y="1308"/>
              <a:ext cx="0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71">
              <a:extLst>
                <a:ext uri="{FF2B5EF4-FFF2-40B4-BE49-F238E27FC236}">
                  <a16:creationId xmlns:a16="http://schemas.microsoft.com/office/drawing/2014/main" id="{454A6888-56AD-CB7E-7C31-1B42A5395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1308"/>
              <a:ext cx="0" cy="7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72">
              <a:extLst>
                <a:ext uri="{FF2B5EF4-FFF2-40B4-BE49-F238E27FC236}">
                  <a16:creationId xmlns:a16="http://schemas.microsoft.com/office/drawing/2014/main" id="{5261BC9B-959A-B879-742B-61BE02BF3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1320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Line 73">
            <a:extLst>
              <a:ext uri="{FF2B5EF4-FFF2-40B4-BE49-F238E27FC236}">
                <a16:creationId xmlns:a16="http://schemas.microsoft.com/office/drawing/2014/main" id="{68089D9E-C1EA-D39D-2C16-9C9E6C3D19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0328" y="3469562"/>
            <a:ext cx="4500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" name="Text Box 75">
            <a:extLst>
              <a:ext uri="{FF2B5EF4-FFF2-40B4-BE49-F238E27FC236}">
                <a16:creationId xmlns:a16="http://schemas.microsoft.com/office/drawing/2014/main" id="{3F261AB4-FFFC-6E81-29E9-1540E7B1C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6" y="3995580"/>
            <a:ext cx="31309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        (b)         (c)        (d)</a:t>
            </a:r>
          </a:p>
        </p:txBody>
      </p:sp>
      <p:grpSp>
        <p:nvGrpSpPr>
          <p:cNvPr id="57" name="Group 76">
            <a:extLst>
              <a:ext uri="{FF2B5EF4-FFF2-40B4-BE49-F238E27FC236}">
                <a16:creationId xmlns:a16="http://schemas.microsoft.com/office/drawing/2014/main" id="{6830D723-5620-396B-8EE8-A888884FC36A}"/>
              </a:ext>
            </a:extLst>
          </p:cNvPr>
          <p:cNvGrpSpPr>
            <a:grpSpLocks/>
          </p:cNvGrpSpPr>
          <p:nvPr/>
        </p:nvGrpSpPr>
        <p:grpSpPr bwMode="auto">
          <a:xfrm>
            <a:off x="6086066" y="2642474"/>
            <a:ext cx="76200" cy="1190625"/>
            <a:chOff x="5118" y="3048"/>
            <a:chExt cx="48" cy="750"/>
          </a:xfrm>
        </p:grpSpPr>
        <p:sp>
          <p:nvSpPr>
            <p:cNvPr id="58" name="Line 77">
              <a:extLst>
                <a:ext uri="{FF2B5EF4-FFF2-40B4-BE49-F238E27FC236}">
                  <a16:creationId xmlns:a16="http://schemas.microsoft.com/office/drawing/2014/main" id="{097E2863-5002-C0B6-1BC0-94BD36329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" y="3048"/>
              <a:ext cx="0" cy="3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Line 78">
              <a:extLst>
                <a:ext uri="{FF2B5EF4-FFF2-40B4-BE49-F238E27FC236}">
                  <a16:creationId xmlns:a16="http://schemas.microsoft.com/office/drawing/2014/main" id="{EF299DDF-E886-B396-DA93-A0855717C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" y="3366"/>
              <a:ext cx="0" cy="4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AutoShape 79">
              <a:extLst>
                <a:ext uri="{FF2B5EF4-FFF2-40B4-BE49-F238E27FC236}">
                  <a16:creationId xmlns:a16="http://schemas.microsoft.com/office/drawing/2014/main" id="{088B2892-5478-661C-7A2E-67C787ABC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8" y="3750"/>
              <a:ext cx="48" cy="48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rgbClr val="FFFFFF"/>
              </a:solidFill>
              <a:round/>
              <a:headEnd/>
              <a:tailEnd type="none" w="sm" len="lg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953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9703-7FE0-2C45-C3CF-4ECA5517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B054F13-BC21-4151-1193-93A3B6C4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9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A758B89-3719-AAE7-744E-8DAC9471A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BBA726-7AFD-2142-7784-045EC62D6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平面与平面平行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F30AB9-B92A-A378-D11B-11274AAFF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848161"/>
            <a:ext cx="7920880" cy="97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几何学原理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：若两个平面上的两条相交直线相互平行，则这两个平面相互平行。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B8E583-FA24-0177-D366-1D3A720A7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212976"/>
            <a:ext cx="7992888" cy="1435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：当两平面为投影面垂直面时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特殊位置平面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，若两投影面垂直面具有积聚性的投影相互平行，则这两个平面相互平行。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554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411B7-ADFE-3DE2-F0B1-6CCC8C79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808E5C92-44ED-4B26-CDD8-641A7A61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10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933371E8-9E6B-6144-0552-4A6B6E237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FD353B-7C28-1845-99A0-650CDC24C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平面与平面平行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1E7D359-DA8F-B6DA-10EE-94990B988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47756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点作平面平行于平面</a:t>
            </a:r>
            <a:r>
              <a:rPr kumimoji="1" lang="en-US" altLang="zh-CN" sz="2000" b="1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E53AB0A0-4F4C-D036-C267-6BEFAE734DDC}"/>
              </a:ext>
            </a:extLst>
          </p:cNvPr>
          <p:cNvSpPr>
            <a:spLocks/>
          </p:cNvSpPr>
          <p:nvPr/>
        </p:nvSpPr>
        <p:spPr bwMode="auto">
          <a:xfrm>
            <a:off x="2645246" y="4914404"/>
            <a:ext cx="2411413" cy="1125537"/>
          </a:xfrm>
          <a:custGeom>
            <a:avLst/>
            <a:gdLst>
              <a:gd name="T0" fmla="*/ 937772 w 1530"/>
              <a:gd name="T1" fmla="*/ 0 h 709"/>
              <a:gd name="T2" fmla="*/ 0 w 1530"/>
              <a:gd name="T3" fmla="*/ 674687 h 709"/>
              <a:gd name="T4" fmla="*/ 2411413 w 1530"/>
              <a:gd name="T5" fmla="*/ 1125537 h 709"/>
              <a:gd name="T6" fmla="*/ 937772 w 1530"/>
              <a:gd name="T7" fmla="*/ 0 h 709"/>
              <a:gd name="T8" fmla="*/ 0 60000 65536"/>
              <a:gd name="T9" fmla="*/ 0 60000 65536"/>
              <a:gd name="T10" fmla="*/ 0 60000 65536"/>
              <a:gd name="T11" fmla="*/ 0 60000 65536"/>
              <a:gd name="T12" fmla="*/ 0 w 1530"/>
              <a:gd name="T13" fmla="*/ 0 h 709"/>
              <a:gd name="T14" fmla="*/ 1530 w 1530"/>
              <a:gd name="T15" fmla="*/ 709 h 7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30" h="709">
                <a:moveTo>
                  <a:pt x="595" y="0"/>
                </a:moveTo>
                <a:lnTo>
                  <a:pt x="0" y="425"/>
                </a:lnTo>
                <a:lnTo>
                  <a:pt x="1530" y="709"/>
                </a:lnTo>
                <a:lnTo>
                  <a:pt x="59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F8A84465-0994-6AF2-78AF-2798D96AF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8146" y="4284166"/>
            <a:ext cx="6264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9F6BA88B-435D-EC65-1D77-DC343D277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5246" y="3869829"/>
            <a:ext cx="0" cy="1719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CB160D25-83F1-14F4-D152-06503B619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659" y="3339604"/>
            <a:ext cx="0" cy="26908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918F5461-8061-B5DC-32D2-4C70ED210A5E}"/>
              </a:ext>
            </a:extLst>
          </p:cNvPr>
          <p:cNvSpPr>
            <a:spLocks/>
          </p:cNvSpPr>
          <p:nvPr/>
        </p:nvSpPr>
        <p:spPr bwMode="auto">
          <a:xfrm>
            <a:off x="2627784" y="2564904"/>
            <a:ext cx="2428875" cy="1304925"/>
          </a:xfrm>
          <a:custGeom>
            <a:avLst/>
            <a:gdLst>
              <a:gd name="T0" fmla="*/ 0 w 1530"/>
              <a:gd name="T1" fmla="*/ 1304925 h 624"/>
              <a:gd name="T2" fmla="*/ 944563 w 1530"/>
              <a:gd name="T3" fmla="*/ 0 h 624"/>
              <a:gd name="T4" fmla="*/ 2428875 w 1530"/>
              <a:gd name="T5" fmla="*/ 771662 h 624"/>
              <a:gd name="T6" fmla="*/ 0 w 1530"/>
              <a:gd name="T7" fmla="*/ 1304925 h 624"/>
              <a:gd name="T8" fmla="*/ 0 60000 65536"/>
              <a:gd name="T9" fmla="*/ 0 60000 65536"/>
              <a:gd name="T10" fmla="*/ 0 60000 65536"/>
              <a:gd name="T11" fmla="*/ 0 60000 65536"/>
              <a:gd name="T12" fmla="*/ 0 w 1530"/>
              <a:gd name="T13" fmla="*/ 0 h 624"/>
              <a:gd name="T14" fmla="*/ 1530 w 1530"/>
              <a:gd name="T15" fmla="*/ 624 h 6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30" h="624">
                <a:moveTo>
                  <a:pt x="0" y="624"/>
                </a:moveTo>
                <a:lnTo>
                  <a:pt x="595" y="0"/>
                </a:lnTo>
                <a:lnTo>
                  <a:pt x="1530" y="369"/>
                </a:lnTo>
                <a:lnTo>
                  <a:pt x="0" y="62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D1A0BD5A-F325-DB20-DFB0-D1FCD680B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871" y="2574429"/>
            <a:ext cx="0" cy="2339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4D49DB9D-E2C1-043C-40BA-1C0BDD070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8865" y="2890401"/>
            <a:ext cx="1181100" cy="6238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4FBE11BD-E122-84B7-1EED-85FC9AABB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402" y="2891989"/>
            <a:ext cx="0" cy="2293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371BE377-1BCF-AE06-44CA-63AFDF324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265" y="3501589"/>
            <a:ext cx="0" cy="2573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6D9C0927-AA96-6F21-2483-568C2F1AE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690" y="5200214"/>
            <a:ext cx="1169987" cy="8858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C709C191-2658-0496-0D5E-42B6D640FB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5690" y="4758889"/>
            <a:ext cx="569912" cy="411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3797A5E7-3131-6BB1-E9EF-91243E3308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8865" y="2053789"/>
            <a:ext cx="582612" cy="812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A662F7F7-1CB3-0539-8FCF-2B8253E845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1477" y="2055376"/>
            <a:ext cx="0" cy="2708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053808FD-2A2C-5ECF-7945-680ABAB98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640" y="2772926"/>
            <a:ext cx="2857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800">
                <a:solidFill>
                  <a:srgbClr val="333333"/>
                </a:solidFill>
                <a:latin typeface="Arial" charset="0"/>
                <a:cs typeface="Arial" charset="0"/>
              </a:rPr>
              <a:t>●</a:t>
            </a: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E4DF6D8A-B530-0BEF-7800-CEA98BCEB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6940" y="5077976"/>
            <a:ext cx="2857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800">
                <a:solidFill>
                  <a:srgbClr val="333333"/>
                </a:solidFill>
                <a:latin typeface="Arial" charset="0"/>
                <a:cs typeface="Arial" charset="0"/>
              </a:rPr>
              <a:t>●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22E84480-516A-0144-DC36-4DA4822F9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5459" y="2177554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a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06B8755A-68D6-31A1-4108-077A84289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308" y="3726954"/>
            <a:ext cx="4171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b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A7794535-EE2A-E042-FC0E-6725A7187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059" y="3114179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c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97D241CE-EF4B-8414-CD99-EB6307ED5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488" y="4619129"/>
            <a:ext cx="3048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a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92F7BBE3-6605-2257-D444-5FCE79FAB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030" y="5846266"/>
            <a:ext cx="287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c</a:t>
            </a: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9B1FF376-F9E2-2433-9277-3E1793BEF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7225" y="5450979"/>
            <a:ext cx="3048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b</a:t>
            </a:r>
          </a:p>
        </p:txBody>
      </p:sp>
      <p:sp>
        <p:nvSpPr>
          <p:cNvPr id="28" name="Text Box 30">
            <a:extLst>
              <a:ext uri="{FF2B5EF4-FFF2-40B4-BE49-F238E27FC236}">
                <a16:creationId xmlns:a16="http://schemas.microsoft.com/office/drawing/2014/main" id="{14A6A10E-506F-FEA0-24A6-90309981C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5275" y="5006539"/>
            <a:ext cx="3385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m</a:t>
            </a:r>
          </a:p>
        </p:txBody>
      </p:sp>
      <p:sp>
        <p:nvSpPr>
          <p:cNvPr id="29" name="Text Box 31">
            <a:extLst>
              <a:ext uri="{FF2B5EF4-FFF2-40B4-BE49-F238E27FC236}">
                <a16:creationId xmlns:a16="http://schemas.microsoft.com/office/drawing/2014/main" id="{7A82AC4A-00D5-7AE4-6FFC-E1134D277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519" y="5966976"/>
            <a:ext cx="3048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n</a:t>
            </a:r>
          </a:p>
        </p:txBody>
      </p:sp>
      <p:sp>
        <p:nvSpPr>
          <p:cNvPr id="30" name="Text Box 32">
            <a:extLst>
              <a:ext uri="{FF2B5EF4-FFF2-40B4-BE49-F238E27FC236}">
                <a16:creationId xmlns:a16="http://schemas.microsoft.com/office/drawing/2014/main" id="{1B24B025-722A-551F-D42A-5911948E8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373" y="4536639"/>
            <a:ext cx="287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f</a:t>
            </a: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28CCB987-D8AE-90B9-4841-599EAAAB4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487" y="2542708"/>
            <a:ext cx="4876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m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114247CD-70B6-2398-F541-993A12B1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373" y="1748989"/>
            <a:ext cx="3465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f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33" name="Text Box 35">
            <a:extLst>
              <a:ext uri="{FF2B5EF4-FFF2-40B4-BE49-F238E27FC236}">
                <a16:creationId xmlns:a16="http://schemas.microsoft.com/office/drawing/2014/main" id="{21B353A0-88BC-7F1D-2A68-77B44B190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2389" y="3317439"/>
            <a:ext cx="4171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2000" b="1" i="1" kern="0">
                <a:solidFill>
                  <a:srgbClr val="000000"/>
                </a:solidFill>
                <a:latin typeface="ISOCPEUR" pitchFamily="34" charset="0"/>
                <a:ea typeface="宋体" charset="-122"/>
              </a:defRPr>
            </a:lvl1pPr>
            <a:lvl2pPr marL="742950" indent="-285750">
              <a:defRPr>
                <a:latin typeface="Arial" charset="0"/>
                <a:ea typeface="宋体" charset="-122"/>
              </a:defRPr>
            </a:lvl2pPr>
            <a:lvl3pPr marL="1143000" indent="-228600">
              <a:defRPr>
                <a:latin typeface="Arial" charset="0"/>
                <a:ea typeface="宋体" charset="-122"/>
              </a:defRPr>
            </a:lvl3pPr>
            <a:lvl4pPr marL="1600200" indent="-228600">
              <a:defRPr>
                <a:latin typeface="Arial" charset="0"/>
                <a:ea typeface="宋体" charset="-122"/>
              </a:defRPr>
            </a:lvl4pPr>
            <a:lvl5pPr marL="2057400" indent="-228600">
              <a:defRPr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n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5036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C5F4-22C7-0358-FC7A-07FDEF81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6C2D0459-FF57-1876-C368-198DE92F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EA69C2D5-959A-B1E2-B8D9-38785A374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EE409B-E0B2-E235-D2DF-0542A0C34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平面与平面平行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6BEEA001-361D-569B-A3EC-36C29CBC0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64764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判断下列直线、平面是否与给定的平面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平行。</a:t>
            </a: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A879F1B2-6F88-D87B-AA3A-BCC81B4708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520" y="3380730"/>
            <a:ext cx="849694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9EA336-071F-6DE8-DED3-4A6C8504E345}"/>
              </a:ext>
            </a:extLst>
          </p:cNvPr>
          <p:cNvGrpSpPr>
            <a:grpSpLocks/>
          </p:cNvGrpSpPr>
          <p:nvPr/>
        </p:nvGrpSpPr>
        <p:grpSpPr bwMode="auto">
          <a:xfrm>
            <a:off x="477885" y="2485380"/>
            <a:ext cx="1090612" cy="1452563"/>
            <a:chOff x="435" y="1068"/>
            <a:chExt cx="687" cy="915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45C8ED3C-853E-2CB2-DD37-7CEE50A92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1068"/>
              <a:ext cx="0" cy="56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B7AFCFF9-9903-33A9-33F9-470BA1F6F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1632"/>
              <a:ext cx="474" cy="3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233A9A28-9FE2-A0F4-CCD9-48B40975A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" y="1219"/>
              <a:ext cx="2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1400" i="1">
                  <a:solidFill>
                    <a:srgbClr val="FF0000"/>
                  </a:solidFill>
                  <a:latin typeface="ISOCPEUR" pitchFamily="34" charset="0"/>
                </a:rPr>
                <a:t>P</a:t>
              </a:r>
              <a:r>
                <a:rPr lang="en-US" altLang="zh-CN" sz="1400" i="1" baseline="-8000">
                  <a:solidFill>
                    <a:srgbClr val="FF0000"/>
                  </a:solidFill>
                  <a:latin typeface="ISOCPEUR" pitchFamily="34" charset="0"/>
                </a:rPr>
                <a:t>V</a:t>
              </a:r>
              <a:endParaRPr lang="en-US" altLang="zh-CN" sz="1800" i="1" baseline="-800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67080135-664F-20E4-BAAD-83334C68C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" y="1791"/>
              <a:ext cx="34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1400" i="1">
                  <a:solidFill>
                    <a:srgbClr val="FF0000"/>
                  </a:solidFill>
                  <a:latin typeface="ISOCPEUR" pitchFamily="34" charset="0"/>
                </a:rPr>
                <a:t>P</a:t>
              </a:r>
              <a:r>
                <a:rPr lang="en-US" altLang="zh-CN" sz="1400" i="1" baseline="-8000">
                  <a:solidFill>
                    <a:srgbClr val="FF0000"/>
                  </a:solidFill>
                  <a:latin typeface="ISOCPEUR" pitchFamily="34" charset="0"/>
                </a:rPr>
                <a:t>H</a:t>
              </a:r>
              <a:endParaRPr lang="en-US" altLang="zh-CN" sz="1800" i="1" baseline="-8000">
                <a:latin typeface="ISOCPEUR" pitchFamily="34" charset="0"/>
              </a:endParaRPr>
            </a:p>
          </p:txBody>
        </p:sp>
      </p:grpSp>
      <p:grpSp>
        <p:nvGrpSpPr>
          <p:cNvPr id="10" name="Group 14">
            <a:extLst>
              <a:ext uri="{FF2B5EF4-FFF2-40B4-BE49-F238E27FC236}">
                <a16:creationId xmlns:a16="http://schemas.microsoft.com/office/drawing/2014/main" id="{7F4CFB9C-1323-0BE4-804B-0A9B7F5E1C8C}"/>
              </a:ext>
            </a:extLst>
          </p:cNvPr>
          <p:cNvGrpSpPr>
            <a:grpSpLocks/>
          </p:cNvGrpSpPr>
          <p:nvPr/>
        </p:nvGrpSpPr>
        <p:grpSpPr bwMode="auto">
          <a:xfrm>
            <a:off x="2197092" y="2590155"/>
            <a:ext cx="452438" cy="1409700"/>
            <a:chOff x="2310" y="1134"/>
            <a:chExt cx="285" cy="888"/>
          </a:xfrm>
        </p:grpSpPr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F1F5047C-33DC-10D3-C766-2B5452941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0" y="1824"/>
              <a:ext cx="285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E2178922-6094-099B-DE23-C7C580230B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" y="1374"/>
              <a:ext cx="0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1B10E7E5-5757-7BC1-6E74-7412D2E18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4" y="1134"/>
              <a:ext cx="0" cy="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8">
              <a:extLst>
                <a:ext uri="{FF2B5EF4-FFF2-40B4-BE49-F238E27FC236}">
                  <a16:creationId xmlns:a16="http://schemas.microsoft.com/office/drawing/2014/main" id="{7A4B07FF-76D2-A8DF-8867-45527A506F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49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C6C7F3E6-2804-9F24-1E34-D4362E648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1134"/>
              <a:ext cx="282" cy="360"/>
            </a:xfrm>
            <a:custGeom>
              <a:avLst/>
              <a:gdLst/>
              <a:ahLst/>
              <a:cxnLst>
                <a:cxn ang="0">
                  <a:pos x="0" y="246"/>
                </a:cxn>
                <a:cxn ang="0">
                  <a:pos x="144" y="0"/>
                </a:cxn>
                <a:cxn ang="0">
                  <a:pos x="282" y="360"/>
                </a:cxn>
                <a:cxn ang="0">
                  <a:pos x="0" y="246"/>
                </a:cxn>
              </a:cxnLst>
              <a:rect l="0" t="0" r="r" b="b"/>
              <a:pathLst>
                <a:path w="282" h="360">
                  <a:moveTo>
                    <a:pt x="0" y="246"/>
                  </a:moveTo>
                  <a:lnTo>
                    <a:pt x="144" y="0"/>
                  </a:lnTo>
                  <a:lnTo>
                    <a:pt x="282" y="360"/>
                  </a:lnTo>
                  <a:lnTo>
                    <a:pt x="0" y="246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Group 20">
            <a:extLst>
              <a:ext uri="{FF2B5EF4-FFF2-40B4-BE49-F238E27FC236}">
                <a16:creationId xmlns:a16="http://schemas.microsoft.com/office/drawing/2014/main" id="{E43980B2-083B-36A8-AA4C-498BB238F0C8}"/>
              </a:ext>
            </a:extLst>
          </p:cNvPr>
          <p:cNvGrpSpPr>
            <a:grpSpLocks/>
          </p:cNvGrpSpPr>
          <p:nvPr/>
        </p:nvGrpSpPr>
        <p:grpSpPr bwMode="auto">
          <a:xfrm>
            <a:off x="3384601" y="2721918"/>
            <a:ext cx="465138" cy="1300162"/>
            <a:chOff x="3182" y="1209"/>
            <a:chExt cx="293" cy="819"/>
          </a:xfrm>
        </p:grpSpPr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6FE2C91A-C883-0159-9A61-A26AC9390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" y="1819"/>
              <a:ext cx="293" cy="2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7018C01F-35D9-579A-7EF9-FA65CB649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2" y="1212"/>
              <a:ext cx="0" cy="6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914976C4-6346-35F0-3B6D-5EE26212E6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5" y="1209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BAB15B70-6C8F-52AE-F922-34283835F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82" y="1212"/>
              <a:ext cx="293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C48BF8CA-6779-C72D-F424-DBB9C914D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" y="1212"/>
              <a:ext cx="249" cy="1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5DF2640F-1EBB-6FB5-77A4-2FB1FF02E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368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2F4EC75B-8A38-2591-A8C1-8434C653DDDF}"/>
              </a:ext>
            </a:extLst>
          </p:cNvPr>
          <p:cNvGrpSpPr>
            <a:grpSpLocks/>
          </p:cNvGrpSpPr>
          <p:nvPr/>
        </p:nvGrpSpPr>
        <p:grpSpPr bwMode="auto">
          <a:xfrm>
            <a:off x="4478446" y="2752080"/>
            <a:ext cx="471487" cy="1271588"/>
            <a:chOff x="4185" y="1236"/>
            <a:chExt cx="297" cy="801"/>
          </a:xfrm>
        </p:grpSpPr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E4F9ED19-EDFA-77A3-DA47-6777010A2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1824"/>
              <a:ext cx="294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9A0944F7-C6E5-D283-B281-B93982D1D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5" y="1242"/>
              <a:ext cx="0" cy="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D265816F-A10A-223B-8A7D-92C5AAC23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2" y="1236"/>
              <a:ext cx="0" cy="7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ECCC5C0B-AFBB-19DF-2FE7-C9AEE38CF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5" y="1389"/>
              <a:ext cx="2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2">
              <a:extLst>
                <a:ext uri="{FF2B5EF4-FFF2-40B4-BE49-F238E27FC236}">
                  <a16:creationId xmlns:a16="http://schemas.microsoft.com/office/drawing/2014/main" id="{6EE73EE0-EEEE-05E8-C7AE-8267418C1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1236"/>
              <a:ext cx="2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0" name="Text Box 33">
            <a:extLst>
              <a:ext uri="{FF2B5EF4-FFF2-40B4-BE49-F238E27FC236}">
                <a16:creationId xmlns:a16="http://schemas.microsoft.com/office/drawing/2014/main" id="{8F54CD8F-EACF-4143-F709-E55710050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7" y="4147463"/>
            <a:ext cx="43396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(a)        (b)      (c)      (d)</a:t>
            </a:r>
          </a:p>
        </p:txBody>
      </p:sp>
      <p:grpSp>
        <p:nvGrpSpPr>
          <p:cNvPr id="31" name="Group 34">
            <a:extLst>
              <a:ext uri="{FF2B5EF4-FFF2-40B4-BE49-F238E27FC236}">
                <a16:creationId xmlns:a16="http://schemas.microsoft.com/office/drawing/2014/main" id="{76CC50C2-4A13-1993-F164-C0675F066B16}"/>
              </a:ext>
            </a:extLst>
          </p:cNvPr>
          <p:cNvGrpSpPr>
            <a:grpSpLocks/>
          </p:cNvGrpSpPr>
          <p:nvPr/>
        </p:nvGrpSpPr>
        <p:grpSpPr bwMode="auto">
          <a:xfrm>
            <a:off x="5801232" y="2640955"/>
            <a:ext cx="879475" cy="1452563"/>
            <a:chOff x="1852" y="1190"/>
            <a:chExt cx="554" cy="915"/>
          </a:xfrm>
        </p:grpSpPr>
        <p:sp>
          <p:nvSpPr>
            <p:cNvPr id="32" name="Line 35">
              <a:extLst>
                <a:ext uri="{FF2B5EF4-FFF2-40B4-BE49-F238E27FC236}">
                  <a16:creationId xmlns:a16="http://schemas.microsoft.com/office/drawing/2014/main" id="{307393C0-331C-D0B0-0825-D619E782FA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2" y="1190"/>
              <a:ext cx="300" cy="4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6">
              <a:extLst>
                <a:ext uri="{FF2B5EF4-FFF2-40B4-BE49-F238E27FC236}">
                  <a16:creationId xmlns:a16="http://schemas.microsoft.com/office/drawing/2014/main" id="{EBAEEA15-BB9D-9E3C-69ED-494259A76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2" y="1664"/>
              <a:ext cx="504" cy="36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Text Box 37">
              <a:extLst>
                <a:ext uri="{FF2B5EF4-FFF2-40B4-BE49-F238E27FC236}">
                  <a16:creationId xmlns:a16="http://schemas.microsoft.com/office/drawing/2014/main" id="{4063D63C-D82D-97D4-B4D3-BFEDC3EE4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2" y="1262"/>
              <a:ext cx="2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1400" i="1">
                  <a:solidFill>
                    <a:srgbClr val="008000"/>
                  </a:solidFill>
                  <a:latin typeface="ISOCPEUR" pitchFamily="34" charset="0"/>
                </a:rPr>
                <a:t>Q</a:t>
              </a:r>
              <a:r>
                <a:rPr lang="en-US" altLang="zh-CN" sz="1400" i="1" baseline="-8000">
                  <a:solidFill>
                    <a:srgbClr val="008000"/>
                  </a:solidFill>
                  <a:latin typeface="ISOCPEUR" pitchFamily="34" charset="0"/>
                </a:rPr>
                <a:t>V</a:t>
              </a:r>
              <a:endParaRPr lang="en-US" altLang="zh-CN" sz="1400" b="0" i="1" baseline="-8000">
                <a:solidFill>
                  <a:srgbClr val="66FF33"/>
                </a:solidFill>
                <a:latin typeface="ISOCPEUR" pitchFamily="34" charset="0"/>
              </a:endParaRPr>
            </a:p>
          </p:txBody>
        </p:sp>
        <p:sp>
          <p:nvSpPr>
            <p:cNvPr id="35" name="Text Box 38">
              <a:extLst>
                <a:ext uri="{FF2B5EF4-FFF2-40B4-BE49-F238E27FC236}">
                  <a16:creationId xmlns:a16="http://schemas.microsoft.com/office/drawing/2014/main" id="{D186096E-4C08-768E-ABE7-AF9CD25C7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2" y="1913"/>
              <a:ext cx="29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1400" i="1">
                  <a:solidFill>
                    <a:srgbClr val="008000"/>
                  </a:solidFill>
                  <a:latin typeface="ISOCPEUR" pitchFamily="34" charset="0"/>
                </a:rPr>
                <a:t>Q</a:t>
              </a:r>
              <a:r>
                <a:rPr lang="en-US" altLang="zh-CN" sz="1400" i="1" baseline="-8000">
                  <a:solidFill>
                    <a:srgbClr val="008000"/>
                  </a:solidFill>
                  <a:latin typeface="ISOCPEUR" pitchFamily="34" charset="0"/>
                </a:rPr>
                <a:t>H</a:t>
              </a:r>
              <a:endParaRPr lang="en-US" altLang="zh-CN" b="0">
                <a:solidFill>
                  <a:srgbClr val="66FF33"/>
                </a:solidFill>
                <a:latin typeface="ISOCPEUR" pitchFamily="34" charset="0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E6F5A707-DD2F-1492-5C45-7F7143C67FD6}"/>
              </a:ext>
            </a:extLst>
          </p:cNvPr>
          <p:cNvGrpSpPr>
            <a:grpSpLocks/>
          </p:cNvGrpSpPr>
          <p:nvPr/>
        </p:nvGrpSpPr>
        <p:grpSpPr bwMode="auto">
          <a:xfrm>
            <a:off x="7056219" y="2694930"/>
            <a:ext cx="1504950" cy="1262063"/>
            <a:chOff x="4112" y="1224"/>
            <a:chExt cx="948" cy="795"/>
          </a:xfrm>
        </p:grpSpPr>
        <p:sp>
          <p:nvSpPr>
            <p:cNvPr id="38" name="Line 40">
              <a:extLst>
                <a:ext uri="{FF2B5EF4-FFF2-40B4-BE49-F238E27FC236}">
                  <a16:creationId xmlns:a16="http://schemas.microsoft.com/office/drawing/2014/main" id="{383BFACA-571A-8F34-3E82-4A30F17378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12" y="1320"/>
              <a:ext cx="948" cy="696"/>
            </a:xfrm>
            <a:prstGeom prst="line">
              <a:avLst/>
            </a:prstGeom>
            <a:noFill/>
            <a:ln w="38100">
              <a:solidFill>
                <a:srgbClr val="006049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Text Box 41">
              <a:extLst>
                <a:ext uri="{FF2B5EF4-FFF2-40B4-BE49-F238E27FC236}">
                  <a16:creationId xmlns:a16="http://schemas.microsoft.com/office/drawing/2014/main" id="{A2C96D04-EEAD-1F64-B84B-9B424ED21D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2" y="1224"/>
              <a:ext cx="2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1400" i="1">
                  <a:solidFill>
                    <a:srgbClr val="006049"/>
                  </a:solidFill>
                  <a:latin typeface="ISOCPEUR" pitchFamily="34" charset="0"/>
                </a:rPr>
                <a:t>R</a:t>
              </a:r>
              <a:r>
                <a:rPr lang="en-US" altLang="zh-CN" sz="1400" i="1" baseline="-8000">
                  <a:solidFill>
                    <a:srgbClr val="006049"/>
                  </a:solidFill>
                  <a:latin typeface="ISOCPEUR" pitchFamily="34" charset="0"/>
                </a:rPr>
                <a:t>V</a:t>
              </a:r>
            </a:p>
          </p:txBody>
        </p:sp>
        <p:sp>
          <p:nvSpPr>
            <p:cNvPr id="40" name="Text Box 42">
              <a:extLst>
                <a:ext uri="{FF2B5EF4-FFF2-40B4-BE49-F238E27FC236}">
                  <a16:creationId xmlns:a16="http://schemas.microsoft.com/office/drawing/2014/main" id="{B3857F1F-2448-61A1-266F-938832B3A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2" y="1827"/>
              <a:ext cx="29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1400" i="1">
                  <a:solidFill>
                    <a:srgbClr val="006049"/>
                  </a:solidFill>
                  <a:latin typeface="ISOCPEUR" pitchFamily="34" charset="0"/>
                </a:rPr>
                <a:t>R</a:t>
              </a:r>
              <a:r>
                <a:rPr lang="en-US" altLang="zh-CN" sz="1400" i="1" baseline="-8000">
                  <a:solidFill>
                    <a:srgbClr val="006049"/>
                  </a:solidFill>
                  <a:latin typeface="ISOCPEUR" pitchFamily="34" charset="0"/>
                </a:rPr>
                <a:t>H</a:t>
              </a:r>
              <a:endParaRPr lang="en-US" altLang="zh-CN" b="0">
                <a:solidFill>
                  <a:srgbClr val="006049"/>
                </a:solidFill>
                <a:latin typeface="ISOCPEUR" pitchFamily="34" charset="0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4309BAB-DFE2-602F-2046-CD5B91DB7926}"/>
              </a:ext>
            </a:extLst>
          </p:cNvPr>
          <p:cNvGrpSpPr/>
          <p:nvPr/>
        </p:nvGrpSpPr>
        <p:grpSpPr>
          <a:xfrm>
            <a:off x="1979712" y="4109393"/>
            <a:ext cx="2837556" cy="457200"/>
            <a:chOff x="1037333" y="4109393"/>
            <a:chExt cx="2837556" cy="457200"/>
          </a:xfrm>
        </p:grpSpPr>
        <p:sp>
          <p:nvSpPr>
            <p:cNvPr id="51" name="Text Box 55">
              <a:extLst>
                <a:ext uri="{FF2B5EF4-FFF2-40B4-BE49-F238E27FC236}">
                  <a16:creationId xmlns:a16="http://schemas.microsoft.com/office/drawing/2014/main" id="{22232000-F48C-5A03-9C37-9A1598607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7333" y="4109393"/>
              <a:ext cx="4905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黑体" pitchFamily="2" charset="-122"/>
                  <a:ea typeface="黑体" pitchFamily="2" charset="-122"/>
                </a:rPr>
                <a:t>∥</a:t>
              </a:r>
            </a:p>
          </p:txBody>
        </p:sp>
        <p:sp>
          <p:nvSpPr>
            <p:cNvPr id="52" name="Text Box 62">
              <a:extLst>
                <a:ext uri="{FF2B5EF4-FFF2-40B4-BE49-F238E27FC236}">
                  <a16:creationId xmlns:a16="http://schemas.microsoft.com/office/drawing/2014/main" id="{5C4008DB-F0F3-9232-3B91-2D1B1CB11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2875" y="4109393"/>
              <a:ext cx="4905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∥</a:t>
              </a:r>
            </a:p>
          </p:txBody>
        </p:sp>
        <p:sp>
          <p:nvSpPr>
            <p:cNvPr id="53" name="Text Box 63">
              <a:extLst>
                <a:ext uri="{FF2B5EF4-FFF2-40B4-BE49-F238E27FC236}">
                  <a16:creationId xmlns:a16="http://schemas.microsoft.com/office/drawing/2014/main" id="{F341F5C1-046A-9EFF-635C-BEBEDCA06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352" y="4109393"/>
              <a:ext cx="4905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∥</a:t>
              </a:r>
            </a:p>
          </p:txBody>
        </p:sp>
      </p:grpSp>
      <p:sp>
        <p:nvSpPr>
          <p:cNvPr id="62" name="Text Box 33">
            <a:extLst>
              <a:ext uri="{FF2B5EF4-FFF2-40B4-BE49-F238E27FC236}">
                <a16:creationId xmlns:a16="http://schemas.microsoft.com/office/drawing/2014/main" id="{DD6B0760-65AB-4302-F393-2EC045484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7607" y="4149622"/>
            <a:ext cx="22621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(h)         (</a:t>
            </a:r>
            <a:r>
              <a:rPr lang="en-US" altLang="zh-CN" sz="20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9849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0AE4-7DEE-CADE-0F0C-7D6612F24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B7AF5E90-65B5-8054-F972-8C133FFC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12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D49D362B-6C5B-134A-29A8-8C0E0C6F7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B5390F-9DD3-0467-D002-889B7DA80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DA83363-D006-B632-A49D-C91B3155EE5E}"/>
              </a:ext>
            </a:extLst>
          </p:cNvPr>
          <p:cNvGrpSpPr/>
          <p:nvPr/>
        </p:nvGrpSpPr>
        <p:grpSpPr>
          <a:xfrm>
            <a:off x="1043608" y="1886055"/>
            <a:ext cx="5620886" cy="883499"/>
            <a:chOff x="1043608" y="1886055"/>
            <a:chExt cx="5620886" cy="883499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8825411E-3788-D6D6-3EAC-2990DCBA4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8" y="1886055"/>
              <a:ext cx="268535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直线与直线平行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Rectangle 8">
              <a:extLst>
                <a:ext uri="{FF2B5EF4-FFF2-40B4-BE49-F238E27FC236}">
                  <a16:creationId xmlns:a16="http://schemas.microsoft.com/office/drawing/2014/main" id="{5F9DF16D-4B7F-94A3-8864-4DF01A4E7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664" y="2369444"/>
              <a:ext cx="198002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两直线相互平行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A20C6395-F740-3471-B6B7-79D69A823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984" y="2369444"/>
              <a:ext cx="22365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同名投影相互平行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1961E9B7-FF7C-6EE3-EDFC-74BBC969C0F4}"/>
                </a:ext>
              </a:extLst>
            </p:cNvPr>
            <p:cNvCxnSpPr>
              <a:cxnSpLocks/>
            </p:cNvCxnSpPr>
            <p:nvPr/>
          </p:nvCxnSpPr>
          <p:spPr>
            <a:xfrm>
              <a:off x="3779912" y="2569499"/>
              <a:ext cx="4320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22AA0DA-2C2C-0DB9-C3EE-67F77AF73D97}"/>
              </a:ext>
            </a:extLst>
          </p:cNvPr>
          <p:cNvGrpSpPr/>
          <p:nvPr/>
        </p:nvGrpSpPr>
        <p:grpSpPr>
          <a:xfrm>
            <a:off x="1043607" y="3068960"/>
            <a:ext cx="6646809" cy="904166"/>
            <a:chOff x="1043607" y="3068960"/>
            <a:chExt cx="6646809" cy="904166"/>
          </a:xfrm>
        </p:grpSpPr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E410D67B-DB0A-B534-4EDE-A34754667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7" y="3068960"/>
              <a:ext cx="268535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直线与平面平行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89B6C1-DABE-B438-7B74-487DCEF49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664" y="3573016"/>
              <a:ext cx="198002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直线与平面平行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45321AD9-2747-F940-CE3B-8F55F6FA5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984" y="3573016"/>
              <a:ext cx="326243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直线与平面上任一直线平行</a:t>
              </a: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A7A992B-7472-4E2E-891C-D5FAAB37E6B8}"/>
                </a:ext>
              </a:extLst>
            </p:cNvPr>
            <p:cNvCxnSpPr>
              <a:cxnSpLocks/>
            </p:cNvCxnSpPr>
            <p:nvPr/>
          </p:nvCxnSpPr>
          <p:spPr>
            <a:xfrm>
              <a:off x="3779912" y="3773071"/>
              <a:ext cx="4320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016056D-B46B-4150-8A02-D9F51EEA58F3}"/>
              </a:ext>
            </a:extLst>
          </p:cNvPr>
          <p:cNvGrpSpPr/>
          <p:nvPr/>
        </p:nvGrpSpPr>
        <p:grpSpPr>
          <a:xfrm>
            <a:off x="1043607" y="4314923"/>
            <a:ext cx="7416250" cy="904166"/>
            <a:chOff x="1043607" y="4314923"/>
            <a:chExt cx="7416250" cy="904166"/>
          </a:xfrm>
        </p:grpSpPr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BB47D63A-9981-E0F6-AEE2-55456DB4D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7" y="4314923"/>
              <a:ext cx="268535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平面与平面平行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8A349962-4FC8-0215-7E28-135A912DF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664" y="4818979"/>
              <a:ext cx="198002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两平面相互平行</a:t>
              </a: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D9DFFBEB-7752-9E0F-BDB9-31BB4BF23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984" y="4818979"/>
              <a:ext cx="403187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两平面上的两条相交直线对应平行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8FFA628-4B69-1797-57F2-0B562CE20C10}"/>
                </a:ext>
              </a:extLst>
            </p:cNvPr>
            <p:cNvCxnSpPr>
              <a:cxnSpLocks/>
            </p:cNvCxnSpPr>
            <p:nvPr/>
          </p:nvCxnSpPr>
          <p:spPr>
            <a:xfrm>
              <a:off x="3779912" y="5019034"/>
              <a:ext cx="4320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578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949EA-B738-0809-F7D5-482F3CFA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43C88D-D45A-2769-5F58-7075ADC12B3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631407" y="2727900"/>
            <a:ext cx="388119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30EC7B-FF4F-2D4D-E9D0-19B5DE8CF2AC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3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3392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3966-AEE6-E047-1A81-A9C38F97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E48307D-FF74-D27B-B05B-0E0A8B9F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14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9219A22E-8074-B9EF-4642-E044F50DF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6CD6A1-7482-2AFC-75DF-1A3481BAE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直线与直线相交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A99690C-815F-074C-BE41-9C82DC51EB3F}"/>
              </a:ext>
            </a:extLst>
          </p:cNvPr>
          <p:cNvGrpSpPr/>
          <p:nvPr/>
        </p:nvGrpSpPr>
        <p:grpSpPr>
          <a:xfrm>
            <a:off x="395536" y="1816963"/>
            <a:ext cx="8280920" cy="3729603"/>
            <a:chOff x="395536" y="1816963"/>
            <a:chExt cx="8280920" cy="3729603"/>
          </a:xfrm>
        </p:grpSpPr>
        <p:sp>
          <p:nvSpPr>
            <p:cNvPr id="3" name="Text Box 2">
              <a:extLst>
                <a:ext uri="{FF2B5EF4-FFF2-40B4-BE49-F238E27FC236}">
                  <a16:creationId xmlns:a16="http://schemas.microsoft.com/office/drawing/2014/main" id="{8AEF361A-AFE7-4E49-4D66-A3D5123BD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1816963"/>
              <a:ext cx="8280920" cy="973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buClrTx/>
                <a:buSzTx/>
                <a:buFont typeface="Wingdings" panose="05000000000000000000" pitchFamily="2" charset="2"/>
                <a:buNone/>
                <a:defRPr kumimoji="1" sz="2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chemeClr val="accent2"/>
                  </a:solidFill>
                </a:rPr>
                <a:t>相交条件</a:t>
              </a:r>
              <a:r>
                <a:rPr lang="zh-CN" altLang="en-US" b="0" dirty="0"/>
                <a:t>：两直线各同名投影均相交，且交点符合点的投影规律，即两直线只有一个公有点。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F2EE6C4-FED0-2DFB-C39A-099D5501B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6666" y="3212976"/>
              <a:ext cx="3295334" cy="230425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6AF8405-32C4-EED6-4A49-EBA626529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81121" y="3115454"/>
              <a:ext cx="2520280" cy="2431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582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67DE-4B05-49D5-52E3-237C1C07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9704949-259A-00B8-3AFB-B0A3D3A9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308272A-187B-9DC7-7649-8989B83F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EA1995-03F5-E736-3030-14EAF0643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平面与平面相交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BED99D64-E369-C42D-5DFC-E3347A28C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776823"/>
            <a:ext cx="6425157" cy="14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2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平面交线求解的两种方法：</a:t>
            </a:r>
            <a:endParaRPr lang="en-US" altLang="zh-CN" sz="22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积聚性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（至少有一个平面为特殊位置时）</a:t>
            </a:r>
            <a:endParaRPr lang="en-US" altLang="zh-CN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辅助平面法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（两个平面都是一般位置平面）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F21A0B0-5143-AAE1-B674-D7E4E4467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72816"/>
            <a:ext cx="8352928" cy="1556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200" u="sng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zh-CN" altLang="en-US" sz="22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两个平面的交线是两平面的公有线，只要设法求出两平面的两个公有点或一个公有点和交线的方向，就可以确定出交线（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相交核心问题是求公有点</a:t>
            </a:r>
            <a:r>
              <a:rPr lang="zh-CN" altLang="en-US" sz="22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2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737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4606-C347-8787-CCBC-40417F98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FA960A2-E8B0-2E86-7DE5-2422300E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9738708-79E6-861E-88E3-5F1D454D2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45D542-8F46-591C-0826-01AC28698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平面与平面相交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2798F49-EED4-8008-2D58-866FC818C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62343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：利用积聚性，至少需要有一个平面为特殊位置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42A3468-B243-0F88-77BA-8A0894CBAC74}"/>
              </a:ext>
            </a:extLst>
          </p:cNvPr>
          <p:cNvSpPr>
            <a:spLocks/>
          </p:cNvSpPr>
          <p:nvPr/>
        </p:nvSpPr>
        <p:spPr bwMode="auto">
          <a:xfrm flipH="1">
            <a:off x="2191676" y="4195194"/>
            <a:ext cx="1174750" cy="1155700"/>
          </a:xfrm>
          <a:custGeom>
            <a:avLst/>
            <a:gdLst>
              <a:gd name="T0" fmla="*/ 0 w 780"/>
              <a:gd name="T1" fmla="*/ 355600 h 832"/>
              <a:gd name="T2" fmla="*/ 1174750 w 780"/>
              <a:gd name="T3" fmla="*/ 0 h 832"/>
              <a:gd name="T4" fmla="*/ 1174750 w 780"/>
              <a:gd name="T5" fmla="*/ 794544 h 832"/>
              <a:gd name="T6" fmla="*/ 0 w 780"/>
              <a:gd name="T7" fmla="*/ 1155700 h 832"/>
              <a:gd name="T8" fmla="*/ 0 w 780"/>
              <a:gd name="T9" fmla="*/ 355600 h 8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0"/>
              <a:gd name="T16" fmla="*/ 0 h 832"/>
              <a:gd name="T17" fmla="*/ 780 w 780"/>
              <a:gd name="T18" fmla="*/ 832 h 8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0" h="832">
                <a:moveTo>
                  <a:pt x="0" y="256"/>
                </a:moveTo>
                <a:lnTo>
                  <a:pt x="780" y="0"/>
                </a:lnTo>
                <a:lnTo>
                  <a:pt x="780" y="572"/>
                </a:lnTo>
                <a:lnTo>
                  <a:pt x="0" y="832"/>
                </a:lnTo>
                <a:lnTo>
                  <a:pt x="0" y="256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prstDash val="lgDashDot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2F143131-DB45-AFDA-40D3-DB89116950E6}"/>
              </a:ext>
            </a:extLst>
          </p:cNvPr>
          <p:cNvSpPr>
            <a:spLocks/>
          </p:cNvSpPr>
          <p:nvPr/>
        </p:nvSpPr>
        <p:spPr bwMode="auto">
          <a:xfrm>
            <a:off x="1886876" y="4228532"/>
            <a:ext cx="1752600" cy="895350"/>
          </a:xfrm>
          <a:custGeom>
            <a:avLst/>
            <a:gdLst>
              <a:gd name="T0" fmla="*/ 1752600 w 1104"/>
              <a:gd name="T1" fmla="*/ 807076 h 568"/>
              <a:gd name="T2" fmla="*/ 1117600 w 1104"/>
              <a:gd name="T3" fmla="*/ 0 h 568"/>
              <a:gd name="T4" fmla="*/ 0 w 1104"/>
              <a:gd name="T5" fmla="*/ 895350 h 568"/>
              <a:gd name="T6" fmla="*/ 1752600 w 1104"/>
              <a:gd name="T7" fmla="*/ 807076 h 568"/>
              <a:gd name="T8" fmla="*/ 0 60000 65536"/>
              <a:gd name="T9" fmla="*/ 0 60000 65536"/>
              <a:gd name="T10" fmla="*/ 0 60000 65536"/>
              <a:gd name="T11" fmla="*/ 0 60000 65536"/>
              <a:gd name="T12" fmla="*/ 0 w 1104"/>
              <a:gd name="T13" fmla="*/ 0 h 568"/>
              <a:gd name="T14" fmla="*/ 1104 w 1104"/>
              <a:gd name="T15" fmla="*/ 568 h 5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" h="568">
                <a:moveTo>
                  <a:pt x="1104" y="512"/>
                </a:moveTo>
                <a:lnTo>
                  <a:pt x="704" y="0"/>
                </a:lnTo>
                <a:lnTo>
                  <a:pt x="0" y="568"/>
                </a:lnTo>
                <a:lnTo>
                  <a:pt x="1104" y="512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prstDash val="lgDashDot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E991001F-F292-EF1D-3C57-CF5455425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8251" y="4061844"/>
            <a:ext cx="0" cy="1628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44D0A12-6CF5-CE4C-5DC4-95771AF9A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203" y="2425320"/>
            <a:ext cx="3230563" cy="3276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 dirty="0">
              <a:solidFill>
                <a:sysClr val="windowText" lastClr="000000"/>
              </a:solidFill>
              <a:ea typeface="宋体" charset="-122"/>
            </a:endParaRP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AA62F6A1-B4C8-E5A2-FEB9-19122E955A96}"/>
              </a:ext>
            </a:extLst>
          </p:cNvPr>
          <p:cNvGrpSpPr>
            <a:grpSpLocks/>
          </p:cNvGrpSpPr>
          <p:nvPr/>
        </p:nvGrpSpPr>
        <p:grpSpPr bwMode="auto">
          <a:xfrm>
            <a:off x="1158214" y="3657032"/>
            <a:ext cx="3376613" cy="461962"/>
            <a:chOff x="441" y="1701"/>
            <a:chExt cx="2127" cy="291"/>
          </a:xfrm>
        </p:grpSpPr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4F1A2D0E-8D0D-E114-4F0D-01B5D31BB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" y="1701"/>
              <a:ext cx="26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i="1" kern="0" dirty="0">
                  <a:solidFill>
                    <a:srgbClr val="000000"/>
                  </a:solidFill>
                  <a:latin typeface="ISOCPEUR" pitchFamily="34" charset="0"/>
                </a:rPr>
                <a:t>X 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8C723ED2-3C92-A431-B39A-455901FED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" y="170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i="1" kern="0" dirty="0">
                  <a:solidFill>
                    <a:srgbClr val="000000"/>
                  </a:solidFill>
                  <a:latin typeface="ISOCPEUR" pitchFamily="34" charset="0"/>
                </a:rPr>
                <a:t>O </a:t>
              </a:r>
              <a:endParaRPr kumimoji="1" lang="en-US" altLang="zh-CN" sz="2400" kern="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400D0233-C7A3-929E-B47B-ED57D1EA1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" y="1956"/>
              <a:ext cx="17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</p:grpSp>
      <p:sp>
        <p:nvSpPr>
          <p:cNvPr id="13" name="Line 11">
            <a:extLst>
              <a:ext uri="{FF2B5EF4-FFF2-40B4-BE49-F238E27FC236}">
                <a16:creationId xmlns:a16="http://schemas.microsoft.com/office/drawing/2014/main" id="{1CF5239C-73BB-9F14-3013-E743F0241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8251" y="3220469"/>
            <a:ext cx="0" cy="869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86AEE26C-79F8-4535-1A9D-CFD9782FD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8251" y="4061844"/>
            <a:ext cx="0" cy="393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532EB08D-5E7B-B498-0E15-33D10145D1D4}"/>
              </a:ext>
            </a:extLst>
          </p:cNvPr>
          <p:cNvSpPr>
            <a:spLocks/>
          </p:cNvSpPr>
          <p:nvPr/>
        </p:nvSpPr>
        <p:spPr bwMode="auto">
          <a:xfrm>
            <a:off x="2826676" y="4239644"/>
            <a:ext cx="374650" cy="260350"/>
          </a:xfrm>
          <a:custGeom>
            <a:avLst/>
            <a:gdLst>
              <a:gd name="T0" fmla="*/ 0 w 236"/>
              <a:gd name="T1" fmla="*/ 146050 h 164"/>
              <a:gd name="T2" fmla="*/ 171450 w 236"/>
              <a:gd name="T3" fmla="*/ 0 h 164"/>
              <a:gd name="T4" fmla="*/ 374650 w 236"/>
              <a:gd name="T5" fmla="*/ 260350 h 164"/>
              <a:gd name="T6" fmla="*/ 0 60000 65536"/>
              <a:gd name="T7" fmla="*/ 0 60000 65536"/>
              <a:gd name="T8" fmla="*/ 0 60000 65536"/>
              <a:gd name="T9" fmla="*/ 0 w 236"/>
              <a:gd name="T10" fmla="*/ 0 h 164"/>
              <a:gd name="T11" fmla="*/ 236 w 236"/>
              <a:gd name="T12" fmla="*/ 164 h 1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6" h="164">
                <a:moveTo>
                  <a:pt x="0" y="92"/>
                </a:moveTo>
                <a:lnTo>
                  <a:pt x="108" y="0"/>
                </a:lnTo>
                <a:lnTo>
                  <a:pt x="236" y="164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E9057370-0D91-86EC-FF88-FD4863988C23}"/>
              </a:ext>
            </a:extLst>
          </p:cNvPr>
          <p:cNvSpPr>
            <a:spLocks/>
          </p:cNvSpPr>
          <p:nvPr/>
        </p:nvSpPr>
        <p:spPr bwMode="auto">
          <a:xfrm>
            <a:off x="3348964" y="4665094"/>
            <a:ext cx="292100" cy="384175"/>
          </a:xfrm>
          <a:custGeom>
            <a:avLst/>
            <a:gdLst>
              <a:gd name="T0" fmla="*/ 0 w 172"/>
              <a:gd name="T1" fmla="*/ 0 h 224"/>
              <a:gd name="T2" fmla="*/ 292100 w 172"/>
              <a:gd name="T3" fmla="*/ 377315 h 224"/>
              <a:gd name="T4" fmla="*/ 0 w 172"/>
              <a:gd name="T5" fmla="*/ 384175 h 224"/>
              <a:gd name="T6" fmla="*/ 0 60000 65536"/>
              <a:gd name="T7" fmla="*/ 0 60000 65536"/>
              <a:gd name="T8" fmla="*/ 0 60000 65536"/>
              <a:gd name="T9" fmla="*/ 0 w 172"/>
              <a:gd name="T10" fmla="*/ 0 h 224"/>
              <a:gd name="T11" fmla="*/ 172 w 172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" h="224">
                <a:moveTo>
                  <a:pt x="0" y="0"/>
                </a:moveTo>
                <a:lnTo>
                  <a:pt x="172" y="220"/>
                </a:lnTo>
                <a:lnTo>
                  <a:pt x="0" y="224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821A61CA-BD91-D6A8-5AC4-66BBABB53E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3000" y="4391102"/>
            <a:ext cx="95250" cy="889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7E623045-F70F-921D-A5B7-838493079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8151" y="4482532"/>
            <a:ext cx="184150" cy="2286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E82C7166-6B65-B320-5DD5-CE5990884E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3014" y="5054032"/>
            <a:ext cx="655637" cy="1746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81418E28-ACE8-5960-2FE9-C0CC9F8C702A}"/>
              </a:ext>
            </a:extLst>
          </p:cNvPr>
          <p:cNvSpPr>
            <a:spLocks/>
          </p:cNvSpPr>
          <p:nvPr/>
        </p:nvSpPr>
        <p:spPr bwMode="auto">
          <a:xfrm>
            <a:off x="2191676" y="4887344"/>
            <a:ext cx="381000" cy="215900"/>
          </a:xfrm>
          <a:custGeom>
            <a:avLst/>
            <a:gdLst>
              <a:gd name="T0" fmla="*/ 0 w 240"/>
              <a:gd name="T1" fmla="*/ 0 h 136"/>
              <a:gd name="T2" fmla="*/ 0 w 240"/>
              <a:gd name="T3" fmla="*/ 101600 h 136"/>
              <a:gd name="T4" fmla="*/ 381000 w 240"/>
              <a:gd name="T5" fmla="*/ 215900 h 136"/>
              <a:gd name="T6" fmla="*/ 0 60000 65536"/>
              <a:gd name="T7" fmla="*/ 0 60000 65536"/>
              <a:gd name="T8" fmla="*/ 0 60000 65536"/>
              <a:gd name="T9" fmla="*/ 0 w 240"/>
              <a:gd name="T10" fmla="*/ 0 h 136"/>
              <a:gd name="T11" fmla="*/ 240 w 240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136">
                <a:moveTo>
                  <a:pt x="0" y="0"/>
                </a:moveTo>
                <a:lnTo>
                  <a:pt x="0" y="64"/>
                </a:lnTo>
                <a:lnTo>
                  <a:pt x="240" y="136"/>
                </a:lnTo>
              </a:path>
            </a:pathLst>
          </a:cu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8ED0A52E-4FB5-F3F0-5CD7-5A02798E9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776" y="2697537"/>
            <a:ext cx="1614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k'</a:t>
            </a:r>
            <a:r>
              <a:rPr lang="en-US" altLang="zh-CN" b="0">
                <a:solidFill>
                  <a:prstClr val="black"/>
                </a:solidFill>
                <a:latin typeface="ISOCPEUR" pitchFamily="34" charset="0"/>
              </a:rPr>
              <a:t>≡</a:t>
            </a:r>
            <a:r>
              <a:rPr lang="en-US" altLang="zh-CN" sz="2000" b="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l'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66605DBD-6241-6B76-2191-581FE252A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289" y="4377757"/>
            <a:ext cx="366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k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4D7DDFBD-4B7F-8C1E-8068-D49CF4575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214" y="4758757"/>
            <a:ext cx="252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l</a:t>
            </a: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C2CABCC4-D70F-B131-B4E9-6829361C1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8251" y="4455544"/>
            <a:ext cx="0" cy="6350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5" name="AutoShape 23">
            <a:extLst>
              <a:ext uri="{FF2B5EF4-FFF2-40B4-BE49-F238E27FC236}">
                <a16:creationId xmlns:a16="http://schemas.microsoft.com/office/drawing/2014/main" id="{D4A9BADD-74A1-3B9B-E6ED-059691C1F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1739" y="4430144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6" name="AutoShape 24">
            <a:extLst>
              <a:ext uri="{FF2B5EF4-FFF2-40B4-BE49-F238E27FC236}">
                <a16:creationId xmlns:a16="http://schemas.microsoft.com/office/drawing/2014/main" id="{793C3D75-801A-C12D-9B04-51135F4BC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1739" y="5033394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grpSp>
        <p:nvGrpSpPr>
          <p:cNvPr id="27" name="Group 25">
            <a:extLst>
              <a:ext uri="{FF2B5EF4-FFF2-40B4-BE49-F238E27FC236}">
                <a16:creationId xmlns:a16="http://schemas.microsoft.com/office/drawing/2014/main" id="{A27EEC7A-DE39-2E65-92D4-24A572E61BB8}"/>
              </a:ext>
            </a:extLst>
          </p:cNvPr>
          <p:cNvGrpSpPr>
            <a:grpSpLocks/>
          </p:cNvGrpSpPr>
          <p:nvPr/>
        </p:nvGrpSpPr>
        <p:grpSpPr bwMode="auto">
          <a:xfrm>
            <a:off x="2185326" y="2883919"/>
            <a:ext cx="1185863" cy="1685925"/>
            <a:chOff x="1088" y="1214"/>
            <a:chExt cx="746" cy="1062"/>
          </a:xfrm>
        </p:grpSpPr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DF92BA7A-71CD-EC12-A194-E871E1B5E6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8" y="1220"/>
              <a:ext cx="740" cy="3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8C12921F-7850-A094-5C44-73964ED61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" y="1594"/>
              <a:ext cx="4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E3DA73AD-D439-6404-D88C-A9FC6A6FD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0" y="1214"/>
              <a:ext cx="4" cy="10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</p:grpSp>
      <p:grpSp>
        <p:nvGrpSpPr>
          <p:cNvPr id="31" name="Group 29">
            <a:extLst>
              <a:ext uri="{FF2B5EF4-FFF2-40B4-BE49-F238E27FC236}">
                <a16:creationId xmlns:a16="http://schemas.microsoft.com/office/drawing/2014/main" id="{3C4A8E12-9447-B317-AEA1-F7EA01C794D2}"/>
              </a:ext>
            </a:extLst>
          </p:cNvPr>
          <p:cNvGrpSpPr>
            <a:grpSpLocks/>
          </p:cNvGrpSpPr>
          <p:nvPr/>
        </p:nvGrpSpPr>
        <p:grpSpPr bwMode="auto">
          <a:xfrm>
            <a:off x="1439201" y="2414019"/>
            <a:ext cx="2668588" cy="2935288"/>
            <a:chOff x="618" y="918"/>
            <a:chExt cx="1681" cy="1849"/>
          </a:xfrm>
        </p:grpSpPr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7A0B27CE-D769-28C2-80AD-67AA22398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" y="1103"/>
              <a:ext cx="1104" cy="6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b="1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C3970395-5C01-3F6C-2D5E-0FC653AC1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" y="1115"/>
              <a:ext cx="0" cy="1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b="1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F98F15F-A1B4-62EB-2B75-A171B751A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2" y="1753"/>
              <a:ext cx="0" cy="8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b="1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375C3BB7-D4D9-A9C1-F827-47439B9C3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1516"/>
              <a:ext cx="0" cy="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b="1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31E55F07-266A-086F-BFD9-DA1576B8D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918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a'</a:t>
              </a:r>
              <a:endParaRPr kumimoji="1" lang="en-US" altLang="zh-CN" sz="2400" kern="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EF5EFBBC-E5BB-32A5-A527-32697DCA2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" y="1306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b'</a:t>
              </a:r>
              <a:endParaRPr kumimoji="1" lang="en-US" altLang="zh-CN" sz="2400" kern="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FD7FFDAD-0AF9-7345-2BD3-239C64D14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1604"/>
              <a:ext cx="3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c'</a:t>
              </a:r>
              <a:endParaRPr kumimoji="1" lang="en-US" altLang="zh-CN" sz="2400" kern="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C4002241-5D28-934E-F034-5D87FD189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" y="2515"/>
              <a:ext cx="2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  <a:endParaRPr kumimoji="1"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A33046C2-1F70-0BF4-039F-2C9DD8D60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7" y="1937"/>
              <a:ext cx="2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</a:t>
              </a:r>
              <a:endParaRPr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A54627C6-C491-0BFD-7B57-B3303FA05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7" y="2497"/>
              <a:ext cx="22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 </a:t>
              </a:r>
              <a:endParaRPr lang="en-US" altLang="zh-CN" sz="2400" kern="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</p:grpSp>
      <p:sp>
        <p:nvSpPr>
          <p:cNvPr id="43" name="AutoShape 40">
            <a:extLst>
              <a:ext uri="{FF2B5EF4-FFF2-40B4-BE49-F238E27FC236}">
                <a16:creationId xmlns:a16="http://schemas.microsoft.com/office/drawing/2014/main" id="{9D27B89A-1FD0-C77D-4F77-C3DC3CDDE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976" y="3176019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4" name="Freeform 41">
            <a:extLst>
              <a:ext uri="{FF2B5EF4-FFF2-40B4-BE49-F238E27FC236}">
                <a16:creationId xmlns:a16="http://schemas.microsoft.com/office/drawing/2014/main" id="{C3BD3967-CA87-61E2-5158-193ADC959075}"/>
              </a:ext>
            </a:extLst>
          </p:cNvPr>
          <p:cNvSpPr>
            <a:spLocks/>
          </p:cNvSpPr>
          <p:nvPr/>
        </p:nvSpPr>
        <p:spPr bwMode="auto">
          <a:xfrm>
            <a:off x="2186914" y="4190432"/>
            <a:ext cx="647700" cy="704850"/>
          </a:xfrm>
          <a:custGeom>
            <a:avLst/>
            <a:gdLst>
              <a:gd name="T0" fmla="*/ 0 w 408"/>
              <a:gd name="T1" fmla="*/ 704850 h 444"/>
              <a:gd name="T2" fmla="*/ 0 w 408"/>
              <a:gd name="T3" fmla="*/ 0 h 444"/>
              <a:gd name="T4" fmla="*/ 647700 w 408"/>
              <a:gd name="T5" fmla="*/ 195262 h 444"/>
              <a:gd name="T6" fmla="*/ 0 60000 65536"/>
              <a:gd name="T7" fmla="*/ 0 60000 65536"/>
              <a:gd name="T8" fmla="*/ 0 60000 65536"/>
              <a:gd name="T9" fmla="*/ 0 w 408"/>
              <a:gd name="T10" fmla="*/ 0 h 444"/>
              <a:gd name="T11" fmla="*/ 408 w 408"/>
              <a:gd name="T12" fmla="*/ 444 h 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444">
                <a:moveTo>
                  <a:pt x="0" y="444"/>
                </a:moveTo>
                <a:lnTo>
                  <a:pt x="0" y="0"/>
                </a:lnTo>
                <a:lnTo>
                  <a:pt x="408" y="123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5" name="Freeform 42">
            <a:extLst>
              <a:ext uri="{FF2B5EF4-FFF2-40B4-BE49-F238E27FC236}">
                <a16:creationId xmlns:a16="http://schemas.microsoft.com/office/drawing/2014/main" id="{85344ADE-0974-DEBF-63F3-3A8544B36CFA}"/>
              </a:ext>
            </a:extLst>
          </p:cNvPr>
          <p:cNvSpPr>
            <a:spLocks/>
          </p:cNvSpPr>
          <p:nvPr/>
        </p:nvSpPr>
        <p:spPr bwMode="auto">
          <a:xfrm>
            <a:off x="3177514" y="4485707"/>
            <a:ext cx="190500" cy="223837"/>
          </a:xfrm>
          <a:custGeom>
            <a:avLst/>
            <a:gdLst>
              <a:gd name="T0" fmla="*/ 0 w 114"/>
              <a:gd name="T1" fmla="*/ 0 h 129"/>
              <a:gd name="T2" fmla="*/ 190500 w 114"/>
              <a:gd name="T3" fmla="*/ 57261 h 129"/>
              <a:gd name="T4" fmla="*/ 190500 w 114"/>
              <a:gd name="T5" fmla="*/ 223837 h 129"/>
              <a:gd name="T6" fmla="*/ 0 60000 65536"/>
              <a:gd name="T7" fmla="*/ 0 60000 65536"/>
              <a:gd name="T8" fmla="*/ 0 60000 65536"/>
              <a:gd name="T9" fmla="*/ 0 w 114"/>
              <a:gd name="T10" fmla="*/ 0 h 129"/>
              <a:gd name="T11" fmla="*/ 114 w 114"/>
              <a:gd name="T12" fmla="*/ 129 h 1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4" h="129">
                <a:moveTo>
                  <a:pt x="0" y="0"/>
                </a:moveTo>
                <a:lnTo>
                  <a:pt x="114" y="33"/>
                </a:lnTo>
                <a:lnTo>
                  <a:pt x="114" y="129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6" name="Freeform 43">
            <a:extLst>
              <a:ext uri="{FF2B5EF4-FFF2-40B4-BE49-F238E27FC236}">
                <a16:creationId xmlns:a16="http://schemas.microsoft.com/office/drawing/2014/main" id="{65271DC3-F753-F563-9166-0D586F0FE760}"/>
              </a:ext>
            </a:extLst>
          </p:cNvPr>
          <p:cNvSpPr>
            <a:spLocks/>
          </p:cNvSpPr>
          <p:nvPr/>
        </p:nvSpPr>
        <p:spPr bwMode="auto">
          <a:xfrm>
            <a:off x="2540926" y="5052444"/>
            <a:ext cx="823913" cy="280988"/>
          </a:xfrm>
          <a:custGeom>
            <a:avLst/>
            <a:gdLst>
              <a:gd name="T0" fmla="*/ 823913 w 519"/>
              <a:gd name="T1" fmla="*/ 0 h 177"/>
              <a:gd name="T2" fmla="*/ 823913 w 519"/>
              <a:gd name="T3" fmla="*/ 280988 h 177"/>
              <a:gd name="T4" fmla="*/ 0 w 519"/>
              <a:gd name="T5" fmla="*/ 33338 h 177"/>
              <a:gd name="T6" fmla="*/ 0 60000 65536"/>
              <a:gd name="T7" fmla="*/ 0 60000 65536"/>
              <a:gd name="T8" fmla="*/ 0 60000 65536"/>
              <a:gd name="T9" fmla="*/ 0 w 519"/>
              <a:gd name="T10" fmla="*/ 0 h 177"/>
              <a:gd name="T11" fmla="*/ 519 w 519"/>
              <a:gd name="T12" fmla="*/ 177 h 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9" h="177">
                <a:moveTo>
                  <a:pt x="519" y="0"/>
                </a:moveTo>
                <a:lnTo>
                  <a:pt x="519" y="177"/>
                </a:lnTo>
                <a:lnTo>
                  <a:pt x="0" y="2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3C91B748-AF19-19E8-C072-B6591B3C6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326" y="4376169"/>
            <a:ext cx="381000" cy="1143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A78751F8-BB76-990E-0F4A-4EFE075C4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251" y="4700019"/>
            <a:ext cx="0" cy="3619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9" name="Rectangle 46">
            <a:extLst>
              <a:ext uri="{FF2B5EF4-FFF2-40B4-BE49-F238E27FC236}">
                <a16:creationId xmlns:a16="http://schemas.microsoft.com/office/drawing/2014/main" id="{5D32AA4D-C866-A07D-C71F-675BE31E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632" y="2271276"/>
            <a:ext cx="1447800" cy="1803400"/>
          </a:xfrm>
          <a:prstGeom prst="rect">
            <a:avLst/>
          </a:prstGeom>
          <a:noFill/>
          <a:ln w="6350">
            <a:solidFill>
              <a:srgbClr val="000000"/>
            </a:solidFill>
            <a:prstDash val="lgDashDotDot"/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0" name="Freeform 47">
            <a:extLst>
              <a:ext uri="{FF2B5EF4-FFF2-40B4-BE49-F238E27FC236}">
                <a16:creationId xmlns:a16="http://schemas.microsoft.com/office/drawing/2014/main" id="{D7633F7F-CBC6-8EDA-E81E-14A1FE4D4FF2}"/>
              </a:ext>
            </a:extLst>
          </p:cNvPr>
          <p:cNvSpPr>
            <a:spLocks/>
          </p:cNvSpPr>
          <p:nvPr/>
        </p:nvSpPr>
        <p:spPr bwMode="auto">
          <a:xfrm flipH="1">
            <a:off x="5868357" y="2417326"/>
            <a:ext cx="2076450" cy="1209675"/>
          </a:xfrm>
          <a:custGeom>
            <a:avLst/>
            <a:gdLst>
              <a:gd name="T0" fmla="*/ 0 w 852"/>
              <a:gd name="T1" fmla="*/ 662231 h 822"/>
              <a:gd name="T2" fmla="*/ 1242945 w 852"/>
              <a:gd name="T3" fmla="*/ 0 h 822"/>
              <a:gd name="T4" fmla="*/ 2076450 w 852"/>
              <a:gd name="T5" fmla="*/ 1209675 h 822"/>
              <a:gd name="T6" fmla="*/ 0 w 852"/>
              <a:gd name="T7" fmla="*/ 662231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6350">
            <a:solidFill>
              <a:srgbClr val="00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2" name="Line 50">
            <a:extLst>
              <a:ext uri="{FF2B5EF4-FFF2-40B4-BE49-F238E27FC236}">
                <a16:creationId xmlns:a16="http://schemas.microsoft.com/office/drawing/2014/main" id="{DCE3F1B0-AD89-A0B6-12D4-ECCA1B0AC8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5982" y="2674501"/>
            <a:ext cx="1588" cy="2808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5A47DF49-2CBC-3929-7750-4645B34FCF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7982" y="2671326"/>
            <a:ext cx="501650" cy="7366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grpSp>
        <p:nvGrpSpPr>
          <p:cNvPr id="54" name="Group 52">
            <a:extLst>
              <a:ext uri="{FF2B5EF4-FFF2-40B4-BE49-F238E27FC236}">
                <a16:creationId xmlns:a16="http://schemas.microsoft.com/office/drawing/2014/main" id="{9E59DB0F-630B-C04B-8318-57B71720AE07}"/>
              </a:ext>
            </a:extLst>
          </p:cNvPr>
          <p:cNvGrpSpPr>
            <a:grpSpLocks/>
          </p:cNvGrpSpPr>
          <p:nvPr/>
        </p:nvGrpSpPr>
        <p:grpSpPr bwMode="auto">
          <a:xfrm>
            <a:off x="4954134" y="3668274"/>
            <a:ext cx="3887376" cy="463549"/>
            <a:chOff x="455" y="1700"/>
            <a:chExt cx="2066" cy="292"/>
          </a:xfrm>
        </p:grpSpPr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A93E675A-3298-BD5C-CFA4-0C2F49786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" y="1701"/>
              <a:ext cx="1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i="1" kern="0" dirty="0">
                  <a:solidFill>
                    <a:srgbClr val="000000"/>
                  </a:solidFill>
                  <a:latin typeface="ISOCPEUR" pitchFamily="34" charset="0"/>
                </a:rPr>
                <a:t>X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C7B5A784-938A-FD27-65BA-D7098F36C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6" y="1700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i="1" kern="0" dirty="0">
                  <a:solidFill>
                    <a:srgbClr val="000000"/>
                  </a:solidFill>
                  <a:latin typeface="ISOCPEUR" pitchFamily="34" charset="0"/>
                </a:rPr>
                <a:t>O</a:t>
              </a:r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1E3AE9E0-6343-6774-D81A-F919C0807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" y="1956"/>
              <a:ext cx="17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</p:grpSp>
      <p:grpSp>
        <p:nvGrpSpPr>
          <p:cNvPr id="58" name="Group 56">
            <a:extLst>
              <a:ext uri="{FF2B5EF4-FFF2-40B4-BE49-F238E27FC236}">
                <a16:creationId xmlns:a16="http://schemas.microsoft.com/office/drawing/2014/main" id="{C06DA684-565A-A9EA-AD46-236F59E02C2D}"/>
              </a:ext>
            </a:extLst>
          </p:cNvPr>
          <p:cNvGrpSpPr>
            <a:grpSpLocks/>
          </p:cNvGrpSpPr>
          <p:nvPr/>
        </p:nvGrpSpPr>
        <p:grpSpPr bwMode="auto">
          <a:xfrm>
            <a:off x="6163632" y="4073089"/>
            <a:ext cx="1452563" cy="1830387"/>
            <a:chOff x="1956" y="1895"/>
            <a:chExt cx="915" cy="1153"/>
          </a:xfrm>
        </p:grpSpPr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F8D1EF7A-02A8-BBD9-88E0-43FC694ED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2186"/>
              <a:ext cx="911" cy="8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C810AB85-636D-D1C9-4EDE-186382FA4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6" y="1903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A0D8D1BC-6A42-07E2-F15D-5410E4499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1895"/>
              <a:ext cx="0" cy="1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</p:grpSp>
      <p:grpSp>
        <p:nvGrpSpPr>
          <p:cNvPr id="62" name="Group 60">
            <a:extLst>
              <a:ext uri="{FF2B5EF4-FFF2-40B4-BE49-F238E27FC236}">
                <a16:creationId xmlns:a16="http://schemas.microsoft.com/office/drawing/2014/main" id="{8BC1D01C-5A04-8CEB-81A8-FBD0F900B55D}"/>
              </a:ext>
            </a:extLst>
          </p:cNvPr>
          <p:cNvGrpSpPr>
            <a:grpSpLocks/>
          </p:cNvGrpSpPr>
          <p:nvPr/>
        </p:nvGrpSpPr>
        <p:grpSpPr bwMode="auto">
          <a:xfrm>
            <a:off x="5385757" y="2244289"/>
            <a:ext cx="2994025" cy="4049713"/>
            <a:chOff x="3314" y="611"/>
            <a:chExt cx="1886" cy="2551"/>
          </a:xfrm>
        </p:grpSpPr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5C4B02CC-CEE1-03FF-8796-366F9A64D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14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64" name="Text Box 63">
              <a:extLst>
                <a:ext uri="{FF2B5EF4-FFF2-40B4-BE49-F238E27FC236}">
                  <a16:creationId xmlns:a16="http://schemas.microsoft.com/office/drawing/2014/main" id="{967817C8-3247-39C0-8F00-23B821FE7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1291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a'</a:t>
              </a:r>
              <a:endParaRPr kumimoji="1"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65" name="Text Box 64">
              <a:extLst>
                <a:ext uri="{FF2B5EF4-FFF2-40B4-BE49-F238E27FC236}">
                  <a16:creationId xmlns:a16="http://schemas.microsoft.com/office/drawing/2014/main" id="{DA889FE7-7A0E-5953-7826-17DA73081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4" y="972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c'</a:t>
              </a:r>
              <a:endParaRPr kumimoji="1"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66" name="Text Box 65">
              <a:extLst>
                <a:ext uri="{FF2B5EF4-FFF2-40B4-BE49-F238E27FC236}">
                  <a16:creationId xmlns:a16="http://schemas.microsoft.com/office/drawing/2014/main" id="{B9BC0301-7943-2C5F-5498-561D60744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611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b'</a:t>
              </a:r>
              <a:endParaRPr kumimoji="1" lang="en-US" altLang="zh-CN" sz="2400" kern="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67" name="Text Box 66">
              <a:extLst>
                <a:ext uri="{FF2B5EF4-FFF2-40B4-BE49-F238E27FC236}">
                  <a16:creationId xmlns:a16="http://schemas.microsoft.com/office/drawing/2014/main" id="{81E8A260-A1AB-B694-96B1-C8A6C8FCF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7" y="2338"/>
              <a:ext cx="19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000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68" name="Text Box 67">
              <a:extLst>
                <a:ext uri="{FF2B5EF4-FFF2-40B4-BE49-F238E27FC236}">
                  <a16:creationId xmlns:a16="http://schemas.microsoft.com/office/drawing/2014/main" id="{8F3A9BF0-A421-2C56-B282-3D94B16FC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" y="2037"/>
              <a:ext cx="1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000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8D0B6A1-3EA9-CB58-C282-761234B26A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14" y="2214"/>
              <a:ext cx="1304" cy="738"/>
            </a:xfrm>
            <a:custGeom>
              <a:avLst/>
              <a:gdLst>
                <a:gd name="T0" fmla="*/ 0 w 852"/>
                <a:gd name="T1" fmla="*/ 0 h 750"/>
                <a:gd name="T2" fmla="*/ 1304 w 852"/>
                <a:gd name="T3" fmla="*/ 239 h 750"/>
                <a:gd name="T4" fmla="*/ 776 w 852"/>
                <a:gd name="T5" fmla="*/ 738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8F73ED94-B288-AB06-2E17-B0D2A9397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4" y="1139"/>
              <a:ext cx="0" cy="10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71" name="Text Box 70">
              <a:extLst>
                <a:ext uri="{FF2B5EF4-FFF2-40B4-BE49-F238E27FC236}">
                  <a16:creationId xmlns:a16="http://schemas.microsoft.com/office/drawing/2014/main" id="{7F4E0253-0A84-0BCA-40C4-A66CACDD1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" y="2910"/>
              <a:ext cx="23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000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 </a:t>
              </a:r>
            </a:p>
          </p:txBody>
        </p:sp>
      </p:grpSp>
      <p:sp>
        <p:nvSpPr>
          <p:cNvPr id="72" name="Line 72">
            <a:extLst>
              <a:ext uri="{FF2B5EF4-FFF2-40B4-BE49-F238E27FC236}">
                <a16:creationId xmlns:a16="http://schemas.microsoft.com/office/drawing/2014/main" id="{F9214BCF-0FD5-F332-0874-D0FD6EC35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5919" y="5017650"/>
            <a:ext cx="477837" cy="461963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3" name="AutoShape 74">
            <a:extLst>
              <a:ext uri="{FF2B5EF4-FFF2-40B4-BE49-F238E27FC236}">
                <a16:creationId xmlns:a16="http://schemas.microsoft.com/office/drawing/2014/main" id="{784FBD65-1CF0-BC47-1374-C9352F962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882" y="5465326"/>
            <a:ext cx="74613" cy="74613"/>
          </a:xfrm>
          <a:prstGeom prst="flowChartConnector">
            <a:avLst/>
          </a:prstGeom>
          <a:solidFill>
            <a:srgbClr val="66FF99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4" name="Line 75">
            <a:extLst>
              <a:ext uri="{FF2B5EF4-FFF2-40B4-BE49-F238E27FC236}">
                <a16:creationId xmlns:a16="http://schemas.microsoft.com/office/drawing/2014/main" id="{DF3A6375-3F45-FEEF-CA57-FF17BB1092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85920" y="3412689"/>
            <a:ext cx="0" cy="1619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5" name="Freeform 77">
            <a:extLst>
              <a:ext uri="{FF2B5EF4-FFF2-40B4-BE49-F238E27FC236}">
                <a16:creationId xmlns:a16="http://schemas.microsoft.com/office/drawing/2014/main" id="{DBC43343-9968-E031-ED2E-D4495A8F8422}"/>
              </a:ext>
            </a:extLst>
          </p:cNvPr>
          <p:cNvSpPr>
            <a:spLocks/>
          </p:cNvSpPr>
          <p:nvPr/>
        </p:nvSpPr>
        <p:spPr bwMode="auto">
          <a:xfrm>
            <a:off x="5858832" y="2269689"/>
            <a:ext cx="2076450" cy="1800225"/>
          </a:xfrm>
          <a:custGeom>
            <a:avLst/>
            <a:gdLst>
              <a:gd name="T0" fmla="*/ 304800 w 1308"/>
              <a:gd name="T1" fmla="*/ 1800225 h 1134"/>
              <a:gd name="T2" fmla="*/ 304800 w 1308"/>
              <a:gd name="T3" fmla="*/ 1281112 h 1134"/>
              <a:gd name="T4" fmla="*/ 0 w 1308"/>
              <a:gd name="T5" fmla="*/ 1362075 h 1134"/>
              <a:gd name="T6" fmla="*/ 304800 w 1308"/>
              <a:gd name="T7" fmla="*/ 923925 h 1134"/>
              <a:gd name="T8" fmla="*/ 304800 w 1308"/>
              <a:gd name="T9" fmla="*/ 0 h 1134"/>
              <a:gd name="T10" fmla="*/ 1757363 w 1308"/>
              <a:gd name="T11" fmla="*/ 0 h 1134"/>
              <a:gd name="T12" fmla="*/ 1757363 w 1308"/>
              <a:gd name="T13" fmla="*/ 628650 h 1134"/>
              <a:gd name="T14" fmla="*/ 2076450 w 1308"/>
              <a:gd name="T15" fmla="*/ 804862 h 1134"/>
              <a:gd name="T16" fmla="*/ 1752600 w 1308"/>
              <a:gd name="T17" fmla="*/ 890588 h 1134"/>
              <a:gd name="T18" fmla="*/ 1752600 w 1308"/>
              <a:gd name="T19" fmla="*/ 1800225 h 1134"/>
              <a:gd name="T20" fmla="*/ 304800 w 1308"/>
              <a:gd name="T21" fmla="*/ 1800225 h 11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308"/>
              <a:gd name="T34" fmla="*/ 0 h 1134"/>
              <a:gd name="T35" fmla="*/ 1308 w 1308"/>
              <a:gd name="T36" fmla="*/ 1134 h 11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308" h="1134">
                <a:moveTo>
                  <a:pt x="192" y="1134"/>
                </a:moveTo>
                <a:lnTo>
                  <a:pt x="192" y="807"/>
                </a:lnTo>
                <a:lnTo>
                  <a:pt x="0" y="858"/>
                </a:lnTo>
                <a:lnTo>
                  <a:pt x="192" y="582"/>
                </a:lnTo>
                <a:lnTo>
                  <a:pt x="192" y="0"/>
                </a:lnTo>
                <a:lnTo>
                  <a:pt x="1107" y="0"/>
                </a:lnTo>
                <a:lnTo>
                  <a:pt x="1107" y="396"/>
                </a:lnTo>
                <a:lnTo>
                  <a:pt x="1308" y="507"/>
                </a:lnTo>
                <a:lnTo>
                  <a:pt x="1104" y="561"/>
                </a:lnTo>
                <a:lnTo>
                  <a:pt x="1104" y="1134"/>
                </a:lnTo>
                <a:lnTo>
                  <a:pt x="192" y="1134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6" name="Freeform 78">
            <a:extLst>
              <a:ext uri="{FF2B5EF4-FFF2-40B4-BE49-F238E27FC236}">
                <a16:creationId xmlns:a16="http://schemas.microsoft.com/office/drawing/2014/main" id="{79ADC8C0-10E5-EF45-BD5D-C49BB7FBDFC3}"/>
              </a:ext>
            </a:extLst>
          </p:cNvPr>
          <p:cNvSpPr>
            <a:spLocks/>
          </p:cNvSpPr>
          <p:nvPr/>
        </p:nvSpPr>
        <p:spPr bwMode="auto">
          <a:xfrm>
            <a:off x="6163632" y="2412564"/>
            <a:ext cx="1019175" cy="785812"/>
          </a:xfrm>
          <a:custGeom>
            <a:avLst/>
            <a:gdLst>
              <a:gd name="T0" fmla="*/ 0 w 642"/>
              <a:gd name="T1" fmla="*/ 785812 h 495"/>
              <a:gd name="T2" fmla="*/ 533400 w 642"/>
              <a:gd name="T3" fmla="*/ 0 h 495"/>
              <a:gd name="T4" fmla="*/ 1019175 w 642"/>
              <a:gd name="T5" fmla="*/ 261937 h 495"/>
              <a:gd name="T6" fmla="*/ 0 60000 65536"/>
              <a:gd name="T7" fmla="*/ 0 60000 65536"/>
              <a:gd name="T8" fmla="*/ 0 60000 65536"/>
              <a:gd name="T9" fmla="*/ 0 w 642"/>
              <a:gd name="T10" fmla="*/ 0 h 495"/>
              <a:gd name="T11" fmla="*/ 642 w 642"/>
              <a:gd name="T12" fmla="*/ 495 h 4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2" h="495">
                <a:moveTo>
                  <a:pt x="0" y="495"/>
                </a:moveTo>
                <a:lnTo>
                  <a:pt x="336" y="0"/>
                </a:lnTo>
                <a:lnTo>
                  <a:pt x="642" y="165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7" name="Line 79">
            <a:extLst>
              <a:ext uri="{FF2B5EF4-FFF2-40B4-BE49-F238E27FC236}">
                <a16:creationId xmlns:a16="http://schemas.microsoft.com/office/drawing/2014/main" id="{A7918225-0401-B43F-A2EE-9F68258E1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2807" y="2669739"/>
            <a:ext cx="452438" cy="2381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ln>
                <a:solidFill>
                  <a:srgbClr val="000000"/>
                </a:solidFill>
                <a:prstDash val="lgDash"/>
              </a:ln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8" name="Line 80">
            <a:extLst>
              <a:ext uri="{FF2B5EF4-FFF2-40B4-BE49-F238E27FC236}">
                <a16:creationId xmlns:a16="http://schemas.microsoft.com/office/drawing/2014/main" id="{BEA29570-61F4-71FC-4AE2-2C6B16060B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6195" y="2888814"/>
            <a:ext cx="1587" cy="285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9" name="Line 81">
            <a:extLst>
              <a:ext uri="{FF2B5EF4-FFF2-40B4-BE49-F238E27FC236}">
                <a16:creationId xmlns:a16="http://schemas.microsoft.com/office/drawing/2014/main" id="{E11CD60F-E384-2D05-C95B-8AF825CD31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2745" y="3165039"/>
            <a:ext cx="933450" cy="24765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ln>
                <a:solidFill>
                  <a:srgbClr val="000000"/>
                </a:solidFill>
                <a:prstDash val="lgDash"/>
              </a:ln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0" name="Line 82">
            <a:extLst>
              <a:ext uri="{FF2B5EF4-FFF2-40B4-BE49-F238E27FC236}">
                <a16:creationId xmlns:a16="http://schemas.microsoft.com/office/drawing/2014/main" id="{C910116C-C929-1ECB-2537-D45F1BC38D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9820" y="3407926"/>
            <a:ext cx="542925" cy="1476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1" name="Line 83">
            <a:extLst>
              <a:ext uri="{FF2B5EF4-FFF2-40B4-BE49-F238E27FC236}">
                <a16:creationId xmlns:a16="http://schemas.microsoft.com/office/drawing/2014/main" id="{102AADA6-9A29-2AB0-AF19-04AA9EB265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3632" y="3184089"/>
            <a:ext cx="1588" cy="3667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2" name="AutoShape 84">
            <a:extLst>
              <a:ext uri="{FF2B5EF4-FFF2-40B4-BE49-F238E27FC236}">
                <a16:creationId xmlns:a16="http://schemas.microsoft.com/office/drawing/2014/main" id="{6796D0FC-EF80-FAA6-E845-B9737341B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882" y="2633226"/>
            <a:ext cx="74613" cy="74613"/>
          </a:xfrm>
          <a:prstGeom prst="flowChartConnector">
            <a:avLst/>
          </a:prstGeom>
          <a:solidFill>
            <a:srgbClr val="66FF99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3" name="AutoShape 85">
            <a:extLst>
              <a:ext uri="{FF2B5EF4-FFF2-40B4-BE49-F238E27FC236}">
                <a16:creationId xmlns:a16="http://schemas.microsoft.com/office/drawing/2014/main" id="{A20FE094-3C7A-27E4-ED40-5B5DFB1C0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232" y="3369826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4" name="Freeform 87">
            <a:extLst>
              <a:ext uri="{FF2B5EF4-FFF2-40B4-BE49-F238E27FC236}">
                <a16:creationId xmlns:a16="http://schemas.microsoft.com/office/drawing/2014/main" id="{73D18C22-6B32-1812-8DC1-A9241FEA6948}"/>
              </a:ext>
            </a:extLst>
          </p:cNvPr>
          <p:cNvSpPr>
            <a:spLocks/>
          </p:cNvSpPr>
          <p:nvPr/>
        </p:nvSpPr>
        <p:spPr bwMode="auto">
          <a:xfrm>
            <a:off x="1883701" y="4893694"/>
            <a:ext cx="685800" cy="246063"/>
          </a:xfrm>
          <a:custGeom>
            <a:avLst/>
            <a:gdLst>
              <a:gd name="T0" fmla="*/ 304800 w 432"/>
              <a:gd name="T1" fmla="*/ 0 h 150"/>
              <a:gd name="T2" fmla="*/ 0 w 432"/>
              <a:gd name="T3" fmla="*/ 246063 h 150"/>
              <a:gd name="T4" fmla="*/ 685800 w 432"/>
              <a:gd name="T5" fmla="*/ 187008 h 150"/>
              <a:gd name="T6" fmla="*/ 0 60000 65536"/>
              <a:gd name="T7" fmla="*/ 0 60000 65536"/>
              <a:gd name="T8" fmla="*/ 0 60000 65536"/>
              <a:gd name="T9" fmla="*/ 0 w 432"/>
              <a:gd name="T10" fmla="*/ 0 h 150"/>
              <a:gd name="T11" fmla="*/ 432 w 432"/>
              <a:gd name="T12" fmla="*/ 150 h 1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150">
                <a:moveTo>
                  <a:pt x="192" y="0"/>
                </a:moveTo>
                <a:lnTo>
                  <a:pt x="0" y="150"/>
                </a:lnTo>
                <a:lnTo>
                  <a:pt x="432" y="114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5" name="Line 88">
            <a:extLst>
              <a:ext uri="{FF2B5EF4-FFF2-40B4-BE49-F238E27FC236}">
                <a16:creationId xmlns:a16="http://schemas.microsoft.com/office/drawing/2014/main" id="{1618DB95-A272-1401-A06B-1ADE913747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5326" y="4487294"/>
            <a:ext cx="514350" cy="4095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6" name="Line 89">
            <a:extLst>
              <a:ext uri="{FF2B5EF4-FFF2-40B4-BE49-F238E27FC236}">
                <a16:creationId xmlns:a16="http://schemas.microsoft.com/office/drawing/2014/main" id="{2A7555A3-93A7-406F-3B9D-1E47D13DD3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3151" y="5069907"/>
            <a:ext cx="138113" cy="111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7" name="AutoShape 73">
            <a:extLst>
              <a:ext uri="{FF2B5EF4-FFF2-40B4-BE49-F238E27FC236}">
                <a16:creationId xmlns:a16="http://schemas.microsoft.com/office/drawing/2014/main" id="{69892C55-05FA-3ADB-2516-83CC4406D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232" y="4982726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0" name="Rectangle 8">
            <a:extLst>
              <a:ext uri="{FF2B5EF4-FFF2-40B4-BE49-F238E27FC236}">
                <a16:creationId xmlns:a16="http://schemas.microsoft.com/office/drawing/2014/main" id="{1C7B59C3-4F23-862E-BD78-6B16AD2CE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60" y="2153536"/>
            <a:ext cx="11128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Rectangle 8">
            <a:extLst>
              <a:ext uri="{FF2B5EF4-FFF2-40B4-BE49-F238E27FC236}">
                <a16:creationId xmlns:a16="http://schemas.microsoft.com/office/drawing/2014/main" id="{6CCA6E2E-C534-A17B-AF3C-C413D8D2F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427" y="2153536"/>
            <a:ext cx="11128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Rectangle 8">
            <a:extLst>
              <a:ext uri="{FF2B5EF4-FFF2-40B4-BE49-F238E27FC236}">
                <a16:creationId xmlns:a16="http://schemas.microsoft.com/office/drawing/2014/main" id="{B12F6C58-7A9E-37E6-9670-5923A609A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14" y="5657354"/>
            <a:ext cx="40318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交线一般是可见和不可见的分界点</a:t>
            </a:r>
          </a:p>
        </p:txBody>
      </p:sp>
    </p:spTree>
    <p:extLst>
      <p:ext uri="{BB962C8B-B14F-4D97-AF65-F5344CB8AC3E}">
        <p14:creationId xmlns:p14="http://schemas.microsoft.com/office/powerpoint/2010/main" val="355641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500"/>
                            </p:stCondLst>
                            <p:childTnLst>
                              <p:par>
                                <p:cTn id="1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utoUpdateAnimBg="0"/>
      <p:bldP spid="22" grpId="0" autoUpdateAnimBg="0"/>
      <p:bldP spid="23" grpId="0" autoUpdateAnimBg="0"/>
      <p:bldP spid="25" grpId="0" animBg="1"/>
      <p:bldP spid="26" grpId="0" animBg="1"/>
      <p:bldP spid="43" grpId="0" animBg="1"/>
      <p:bldP spid="49" grpId="0" animBg="1"/>
      <p:bldP spid="73" grpId="0" animBg="1"/>
      <p:bldP spid="82" grpId="0" animBg="1"/>
      <p:bldP spid="83" grpId="0" animBg="1"/>
      <p:bldP spid="87" grpId="0" animBg="1"/>
      <p:bldP spid="91" grpId="0"/>
      <p:bldP spid="5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8C33-CD2C-5321-FECE-FD382732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BFA43690-4ACB-826B-71C8-BAC1EDCB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17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4CF53D9D-D208-39A1-174A-C9AEA9B50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6F79C9-0DBF-8AEC-C942-6F90D81BC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平面与平面相交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EFE49551-69E8-0721-329D-B6A847257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62424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：利用辅助平面法，两个平面都是一般位置平面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40C79A6-B116-D013-F76A-5132D33D0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270" y="5859096"/>
            <a:ext cx="2236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辅助平面法的原理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0CB791B-10CA-F848-638A-66B6DCD6EF27}"/>
              </a:ext>
            </a:extLst>
          </p:cNvPr>
          <p:cNvGrpSpPr/>
          <p:nvPr/>
        </p:nvGrpSpPr>
        <p:grpSpPr>
          <a:xfrm>
            <a:off x="720954" y="2348880"/>
            <a:ext cx="3553280" cy="3420000"/>
            <a:chOff x="1612226" y="2520011"/>
            <a:chExt cx="3553280" cy="3420000"/>
          </a:xfrm>
        </p:grpSpPr>
        <p:grpSp>
          <p:nvGrpSpPr>
            <p:cNvPr id="6" name="Group 149">
              <a:extLst>
                <a:ext uri="{FF2B5EF4-FFF2-40B4-BE49-F238E27FC236}">
                  <a16:creationId xmlns:a16="http://schemas.microsoft.com/office/drawing/2014/main" id="{21590ADA-D3ED-17A1-496A-A21AACFBA3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12226" y="2520011"/>
              <a:ext cx="3553280" cy="3420000"/>
              <a:chOff x="-2" y="2387"/>
              <a:chExt cx="1733" cy="1668"/>
            </a:xfrm>
          </p:grpSpPr>
          <p:sp>
            <p:nvSpPr>
              <p:cNvPr id="14" name="AutoShape 112">
                <a:extLst>
                  <a:ext uri="{FF2B5EF4-FFF2-40B4-BE49-F238E27FC236}">
                    <a16:creationId xmlns:a16="http://schemas.microsoft.com/office/drawing/2014/main" id="{A8B620A7-FB80-BFD9-0D08-F9DDC0FBD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" y="2501"/>
                <a:ext cx="1704" cy="478"/>
              </a:xfrm>
              <a:prstGeom prst="parallelogram">
                <a:avLst>
                  <a:gd name="adj" fmla="val 89121"/>
                </a:avLst>
              </a:prstGeom>
              <a:solidFill>
                <a:srgbClr val="E1B7B7"/>
              </a:solidFill>
              <a:ln w="9525">
                <a:solidFill>
                  <a:srgbClr val="3333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5" name="AutoShape 113">
                <a:extLst>
                  <a:ext uri="{FF2B5EF4-FFF2-40B4-BE49-F238E27FC236}">
                    <a16:creationId xmlns:a16="http://schemas.microsoft.com/office/drawing/2014/main" id="{89B90E7A-8589-2B8A-B8BA-77D3959F8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158"/>
                <a:ext cx="1704" cy="478"/>
              </a:xfrm>
              <a:prstGeom prst="parallelogram">
                <a:avLst>
                  <a:gd name="adj" fmla="val 89121"/>
                </a:avLst>
              </a:prstGeom>
              <a:solidFill>
                <a:srgbClr val="E1B7B7"/>
              </a:solidFill>
              <a:ln w="9525">
                <a:solidFill>
                  <a:srgbClr val="3333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6" name="Freeform 132">
                <a:extLst>
                  <a:ext uri="{FF2B5EF4-FFF2-40B4-BE49-F238E27FC236}">
                    <a16:creationId xmlns:a16="http://schemas.microsoft.com/office/drawing/2014/main" id="{5ADB8E26-2597-8EB8-0021-3F045DDF41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" y="2387"/>
                <a:ext cx="708" cy="480"/>
              </a:xfrm>
              <a:custGeom>
                <a:avLst/>
                <a:gdLst>
                  <a:gd name="T0" fmla="*/ 84 w 708"/>
                  <a:gd name="T1" fmla="*/ 36 h 480"/>
                  <a:gd name="T2" fmla="*/ 330 w 708"/>
                  <a:gd name="T3" fmla="*/ 204 h 480"/>
                  <a:gd name="T4" fmla="*/ 690 w 708"/>
                  <a:gd name="T5" fmla="*/ 0 h 480"/>
                  <a:gd name="T6" fmla="*/ 708 w 708"/>
                  <a:gd name="T7" fmla="*/ 246 h 480"/>
                  <a:gd name="T8" fmla="*/ 294 w 708"/>
                  <a:gd name="T9" fmla="*/ 480 h 480"/>
                  <a:gd name="T10" fmla="*/ 0 w 708"/>
                  <a:gd name="T11" fmla="*/ 276 h 480"/>
                  <a:gd name="T12" fmla="*/ 84 w 708"/>
                  <a:gd name="T13" fmla="*/ 36 h 4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8"/>
                  <a:gd name="T22" fmla="*/ 0 h 480"/>
                  <a:gd name="T23" fmla="*/ 708 w 708"/>
                  <a:gd name="T24" fmla="*/ 480 h 48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8" h="480">
                    <a:moveTo>
                      <a:pt x="84" y="36"/>
                    </a:moveTo>
                    <a:lnTo>
                      <a:pt x="330" y="204"/>
                    </a:lnTo>
                    <a:lnTo>
                      <a:pt x="690" y="0"/>
                    </a:lnTo>
                    <a:lnTo>
                      <a:pt x="708" y="246"/>
                    </a:lnTo>
                    <a:lnTo>
                      <a:pt x="294" y="480"/>
                    </a:lnTo>
                    <a:lnTo>
                      <a:pt x="0" y="276"/>
                    </a:lnTo>
                    <a:lnTo>
                      <a:pt x="84" y="36"/>
                    </a:lnTo>
                    <a:close/>
                  </a:path>
                </a:pathLst>
              </a:custGeom>
              <a:solidFill>
                <a:srgbClr val="00FFCC"/>
              </a:solidFill>
              <a:ln w="9525">
                <a:solidFill>
                  <a:srgbClr val="3333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7" name="Freeform 133">
                <a:extLst>
                  <a:ext uri="{FF2B5EF4-FFF2-40B4-BE49-F238E27FC236}">
                    <a16:creationId xmlns:a16="http://schemas.microsoft.com/office/drawing/2014/main" id="{79457BDC-8DE1-CE25-34B2-41B88FC58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" y="2849"/>
                <a:ext cx="990" cy="708"/>
              </a:xfrm>
              <a:custGeom>
                <a:avLst/>
                <a:gdLst>
                  <a:gd name="T0" fmla="*/ 90 w 990"/>
                  <a:gd name="T1" fmla="*/ 132 h 708"/>
                  <a:gd name="T2" fmla="*/ 840 w 990"/>
                  <a:gd name="T3" fmla="*/ 132 h 708"/>
                  <a:gd name="T4" fmla="*/ 948 w 990"/>
                  <a:gd name="T5" fmla="*/ 0 h 708"/>
                  <a:gd name="T6" fmla="*/ 990 w 990"/>
                  <a:gd name="T7" fmla="*/ 396 h 708"/>
                  <a:gd name="T8" fmla="*/ 438 w 990"/>
                  <a:gd name="T9" fmla="*/ 708 h 708"/>
                  <a:gd name="T10" fmla="*/ 0 w 990"/>
                  <a:gd name="T11" fmla="*/ 408 h 708"/>
                  <a:gd name="T12" fmla="*/ 90 w 990"/>
                  <a:gd name="T13" fmla="*/ 132 h 7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90"/>
                  <a:gd name="T22" fmla="*/ 0 h 708"/>
                  <a:gd name="T23" fmla="*/ 990 w 990"/>
                  <a:gd name="T24" fmla="*/ 708 h 70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90" h="708">
                    <a:moveTo>
                      <a:pt x="90" y="132"/>
                    </a:moveTo>
                    <a:lnTo>
                      <a:pt x="840" y="132"/>
                    </a:lnTo>
                    <a:lnTo>
                      <a:pt x="948" y="0"/>
                    </a:lnTo>
                    <a:lnTo>
                      <a:pt x="990" y="396"/>
                    </a:lnTo>
                    <a:lnTo>
                      <a:pt x="438" y="708"/>
                    </a:lnTo>
                    <a:lnTo>
                      <a:pt x="0" y="408"/>
                    </a:lnTo>
                    <a:lnTo>
                      <a:pt x="90" y="132"/>
                    </a:lnTo>
                    <a:close/>
                  </a:path>
                </a:pathLst>
              </a:custGeom>
              <a:solidFill>
                <a:srgbClr val="00FFCC"/>
              </a:solidFill>
              <a:ln w="9525">
                <a:solidFill>
                  <a:srgbClr val="3333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8" name="Freeform 136">
                <a:extLst>
                  <a:ext uri="{FF2B5EF4-FFF2-40B4-BE49-F238E27FC236}">
                    <a16:creationId xmlns:a16="http://schemas.microsoft.com/office/drawing/2014/main" id="{597F0338-8A39-B680-2FC9-FCBA73880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" y="3413"/>
                <a:ext cx="1188" cy="642"/>
              </a:xfrm>
              <a:custGeom>
                <a:avLst/>
                <a:gdLst>
                  <a:gd name="T0" fmla="*/ 24 w 1188"/>
                  <a:gd name="T1" fmla="*/ 222 h 642"/>
                  <a:gd name="T2" fmla="*/ 972 w 1188"/>
                  <a:gd name="T3" fmla="*/ 222 h 642"/>
                  <a:gd name="T4" fmla="*/ 1164 w 1188"/>
                  <a:gd name="T5" fmla="*/ 0 h 642"/>
                  <a:gd name="T6" fmla="*/ 1188 w 1188"/>
                  <a:gd name="T7" fmla="*/ 282 h 642"/>
                  <a:gd name="T8" fmla="*/ 546 w 1188"/>
                  <a:gd name="T9" fmla="*/ 642 h 642"/>
                  <a:gd name="T10" fmla="*/ 0 w 1188"/>
                  <a:gd name="T11" fmla="*/ 282 h 642"/>
                  <a:gd name="T12" fmla="*/ 24 w 1188"/>
                  <a:gd name="T13" fmla="*/ 222 h 6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8"/>
                  <a:gd name="T22" fmla="*/ 0 h 642"/>
                  <a:gd name="T23" fmla="*/ 1188 w 1188"/>
                  <a:gd name="T24" fmla="*/ 642 h 6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8" h="642">
                    <a:moveTo>
                      <a:pt x="24" y="222"/>
                    </a:moveTo>
                    <a:lnTo>
                      <a:pt x="972" y="222"/>
                    </a:lnTo>
                    <a:lnTo>
                      <a:pt x="1164" y="0"/>
                    </a:lnTo>
                    <a:lnTo>
                      <a:pt x="1188" y="282"/>
                    </a:lnTo>
                    <a:lnTo>
                      <a:pt x="546" y="642"/>
                    </a:lnTo>
                    <a:lnTo>
                      <a:pt x="0" y="282"/>
                    </a:lnTo>
                    <a:lnTo>
                      <a:pt x="24" y="222"/>
                    </a:lnTo>
                    <a:close/>
                  </a:path>
                </a:pathLst>
              </a:custGeom>
              <a:solidFill>
                <a:srgbClr val="00FFCC"/>
              </a:solidFill>
              <a:ln w="9525">
                <a:solidFill>
                  <a:srgbClr val="3333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9" name="Line 137">
                <a:extLst>
                  <a:ext uri="{FF2B5EF4-FFF2-40B4-BE49-F238E27FC236}">
                    <a16:creationId xmlns:a16="http://schemas.microsoft.com/office/drawing/2014/main" id="{B4B9B6A1-6884-26E4-1861-2A790857B1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05" y="2981"/>
                <a:ext cx="65" cy="57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20" name="Line 140">
                <a:extLst>
                  <a:ext uri="{FF2B5EF4-FFF2-40B4-BE49-F238E27FC236}">
                    <a16:creationId xmlns:a16="http://schemas.microsoft.com/office/drawing/2014/main" id="{EB8F3295-EEC0-8028-009C-787835D8A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2" y="3635"/>
                <a:ext cx="42" cy="41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21" name="Line 141">
                <a:extLst>
                  <a:ext uri="{FF2B5EF4-FFF2-40B4-BE49-F238E27FC236}">
                    <a16:creationId xmlns:a16="http://schemas.microsoft.com/office/drawing/2014/main" id="{327DC12B-6425-94A6-E17C-4929FBDAD9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82" y="2591"/>
                <a:ext cx="30" cy="27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22" name="Text Box 143">
                <a:extLst>
                  <a:ext uri="{FF2B5EF4-FFF2-40B4-BE49-F238E27FC236}">
                    <a16:creationId xmlns:a16="http://schemas.microsoft.com/office/drawing/2014/main" id="{93D6030A-45E5-96B1-EF04-DF9A2F5EE4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" y="2819"/>
                <a:ext cx="239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itchFamily="49" charset="-122"/>
                    <a:ea typeface="黑体" pitchFamily="49" charset="-122"/>
                  </a:rPr>
                  <a:t>R</a:t>
                </a:r>
              </a:p>
            </p:txBody>
          </p:sp>
          <p:sp>
            <p:nvSpPr>
              <p:cNvPr id="23" name="Text Box 144">
                <a:extLst>
                  <a:ext uri="{FF2B5EF4-FFF2-40B4-BE49-F238E27FC236}">
                    <a16:creationId xmlns:a16="http://schemas.microsoft.com/office/drawing/2014/main" id="{5C5F6ED9-0204-2EB9-C58B-C7958C8E93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" y="3470"/>
                <a:ext cx="268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itchFamily="49" charset="-122"/>
                    <a:ea typeface="黑体" pitchFamily="49" charset="-122"/>
                  </a:rPr>
                  <a:t>S</a:t>
                </a:r>
              </a:p>
            </p:txBody>
          </p:sp>
          <p:sp>
            <p:nvSpPr>
              <p:cNvPr id="24" name="Text Box 145">
                <a:extLst>
                  <a:ext uri="{FF2B5EF4-FFF2-40B4-BE49-F238E27FC236}">
                    <a16:creationId xmlns:a16="http://schemas.microsoft.com/office/drawing/2014/main" id="{3B320A0D-1B7D-D5E1-DFB2-9C7ACBF35F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5" y="2774"/>
                <a:ext cx="268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itchFamily="49" charset="-122"/>
                    <a:ea typeface="黑体" pitchFamily="49" charset="-122"/>
                  </a:rPr>
                  <a:t>K</a:t>
                </a:r>
              </a:p>
            </p:txBody>
          </p:sp>
          <p:sp>
            <p:nvSpPr>
              <p:cNvPr id="25" name="Text Box 146">
                <a:extLst>
                  <a:ext uri="{FF2B5EF4-FFF2-40B4-BE49-F238E27FC236}">
                    <a16:creationId xmlns:a16="http://schemas.microsoft.com/office/drawing/2014/main" id="{D63F3CE1-FBF7-26F5-85DE-E91DC6555C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1" y="3466"/>
                <a:ext cx="268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itchFamily="49" charset="-122"/>
                    <a:ea typeface="黑体" pitchFamily="49" charset="-122"/>
                  </a:rPr>
                  <a:t>L</a:t>
                </a:r>
              </a:p>
            </p:txBody>
          </p:sp>
          <p:sp>
            <p:nvSpPr>
              <p:cNvPr id="26" name="AutoShape 147">
                <a:extLst>
                  <a:ext uri="{FF2B5EF4-FFF2-40B4-BE49-F238E27FC236}">
                    <a16:creationId xmlns:a16="http://schemas.microsoft.com/office/drawing/2014/main" id="{909797DE-8849-EC7D-6018-D529C3AED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" y="2826"/>
                <a:ext cx="79" cy="70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27" name="AutoShape 148">
                <a:extLst>
                  <a:ext uri="{FF2B5EF4-FFF2-40B4-BE49-F238E27FC236}">
                    <a16:creationId xmlns:a16="http://schemas.microsoft.com/office/drawing/2014/main" id="{583C5906-C5C8-536B-F167-13D0080DB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3510"/>
                <a:ext cx="79" cy="70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</p:grpSp>
        <p:sp>
          <p:nvSpPr>
            <p:cNvPr id="7" name="Text Box 145">
              <a:extLst>
                <a:ext uri="{FF2B5EF4-FFF2-40B4-BE49-F238E27FC236}">
                  <a16:creationId xmlns:a16="http://schemas.microsoft.com/office/drawing/2014/main" id="{2977A695-FFA1-4813-BC57-7185BED54C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002" y="2804848"/>
              <a:ext cx="54949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B</a:t>
              </a:r>
            </a:p>
          </p:txBody>
        </p:sp>
        <p:sp>
          <p:nvSpPr>
            <p:cNvPr id="8" name="Text Box 145">
              <a:extLst>
                <a:ext uri="{FF2B5EF4-FFF2-40B4-BE49-F238E27FC236}">
                  <a16:creationId xmlns:a16="http://schemas.microsoft.com/office/drawing/2014/main" id="{5BA96E50-DDE4-3911-AD4F-F498AE76B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960" y="2862977"/>
              <a:ext cx="54949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A</a:t>
              </a:r>
            </a:p>
          </p:txBody>
        </p:sp>
        <p:sp>
          <p:nvSpPr>
            <p:cNvPr id="9" name="Text Box 145">
              <a:extLst>
                <a:ext uri="{FF2B5EF4-FFF2-40B4-BE49-F238E27FC236}">
                  <a16:creationId xmlns:a16="http://schemas.microsoft.com/office/drawing/2014/main" id="{F7F0C900-3F55-A94C-E0EE-4FDB25329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6836" y="4057107"/>
              <a:ext cx="54949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D</a:t>
              </a:r>
            </a:p>
          </p:txBody>
        </p:sp>
        <p:sp>
          <p:nvSpPr>
            <p:cNvPr id="10" name="Text Box 145">
              <a:extLst>
                <a:ext uri="{FF2B5EF4-FFF2-40B4-BE49-F238E27FC236}">
                  <a16:creationId xmlns:a16="http://schemas.microsoft.com/office/drawing/2014/main" id="{F01C8FEC-B2BB-C821-A10F-6FF5D89FC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208" y="4075686"/>
              <a:ext cx="54949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C</a:t>
              </a:r>
            </a:p>
          </p:txBody>
        </p:sp>
        <p:sp>
          <p:nvSpPr>
            <p:cNvPr id="12" name="Text Box 143">
              <a:extLst>
                <a:ext uri="{FF2B5EF4-FFF2-40B4-BE49-F238E27FC236}">
                  <a16:creationId xmlns:a16="http://schemas.microsoft.com/office/drawing/2014/main" id="{B14AF3A0-A657-962B-44F1-5E7EB5B47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7533" y="2680109"/>
              <a:ext cx="490037" cy="369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Q</a:t>
              </a:r>
            </a:p>
          </p:txBody>
        </p:sp>
        <p:sp>
          <p:nvSpPr>
            <p:cNvPr id="13" name="Text Box 143">
              <a:extLst>
                <a:ext uri="{FF2B5EF4-FFF2-40B4-BE49-F238E27FC236}">
                  <a16:creationId xmlns:a16="http://schemas.microsoft.com/office/drawing/2014/main" id="{9204BC11-627A-7F1D-6D7A-5599F12EB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042" y="2733247"/>
              <a:ext cx="490037" cy="369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P</a:t>
              </a:r>
            </a:p>
          </p:txBody>
        </p:sp>
      </p:grpSp>
      <p:sp>
        <p:nvSpPr>
          <p:cNvPr id="28" name="Text Box 2">
            <a:extLst>
              <a:ext uri="{FF2B5EF4-FFF2-40B4-BE49-F238E27FC236}">
                <a16:creationId xmlns:a16="http://schemas.microsoft.com/office/drawing/2014/main" id="{40618EBD-810E-7057-7A9D-3A4274621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846" y="2996803"/>
            <a:ext cx="3836543" cy="1884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0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应选择投影面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平行面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垂直面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作为辅助面，以便利用积聚性求解交线。</a:t>
            </a:r>
          </a:p>
        </p:txBody>
      </p:sp>
    </p:spTree>
    <p:extLst>
      <p:ext uri="{BB962C8B-B14F-4D97-AF65-F5344CB8AC3E}">
        <p14:creationId xmlns:p14="http://schemas.microsoft.com/office/powerpoint/2010/main" val="166155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5DED-7F93-A4B0-8AEC-BEED86D1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D9B10512-3CDD-3BEF-E3AC-F927EAA2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68A7F71B-E0D3-4B77-FFBE-91467D497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31C806-452B-FC3A-72AA-28798C8CF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平面与平面相交</a:t>
            </a:r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440BF63D-B4E1-89E3-327E-AA09BD740A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5936" y="3419177"/>
            <a:ext cx="0" cy="5715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F31386BD-8230-16BB-764A-C3C5D36FD77C}"/>
              </a:ext>
            </a:extLst>
          </p:cNvPr>
          <p:cNvGrpSpPr>
            <a:grpSpLocks/>
          </p:cNvGrpSpPr>
          <p:nvPr/>
        </p:nvGrpSpPr>
        <p:grpSpPr bwMode="auto">
          <a:xfrm>
            <a:off x="1235273" y="3617615"/>
            <a:ext cx="6635750" cy="458787"/>
            <a:chOff x="1161" y="1471"/>
            <a:chExt cx="4180" cy="289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085EA359-8910-1F86-5E5E-ACCD5DFBC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" y="147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X </a:t>
              </a: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D3C87550-D2D1-D288-98D0-F29F4C618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5" y="147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O 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347F7AEF-4B30-EBFA-5CD9-B9AEE23B1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4" y="1726"/>
              <a:ext cx="3703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  <p:sp>
        <p:nvSpPr>
          <p:cNvPr id="9" name="Text Box 7">
            <a:extLst>
              <a:ext uri="{FF2B5EF4-FFF2-40B4-BE49-F238E27FC236}">
                <a16:creationId xmlns:a16="http://schemas.microsoft.com/office/drawing/2014/main" id="{285C3402-D114-9FB1-E6DA-0D5552727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8123" y="2930227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solidFill>
                  <a:srgbClr val="333333"/>
                </a:solidFill>
                <a:latin typeface="ISOCPEUR" pitchFamily="34" charset="0"/>
              </a:rPr>
              <a:t>P</a:t>
            </a:r>
            <a:r>
              <a:rPr lang="en-US" altLang="zh-CN" sz="1800" i="1" baseline="-8000">
                <a:solidFill>
                  <a:srgbClr val="333333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88334DE-BF5C-7C4A-059F-446A61F7A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773" y="2788940"/>
            <a:ext cx="441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1</a:t>
            </a:r>
            <a:r>
              <a:rPr lang="en-US" altLang="zh-CN" sz="2000" i="1" dirty="0">
                <a:solidFill>
                  <a:srgbClr val="333333"/>
                </a:solidFill>
                <a:latin typeface="ISOCPEUR" pitchFamily="34" charset="0"/>
                <a:ea typeface="仿宋_GB2312" pitchFamily="49" charset="-122"/>
              </a:rPr>
              <a:t>'</a:t>
            </a:r>
            <a:endParaRPr kumimoji="0"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9D8B2798-4C02-CA7A-DEE0-6349DA6B6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648" y="2768302"/>
            <a:ext cx="469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2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55C3AFDB-4962-86BC-A3ED-2F9574FF9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586" y="5474990"/>
            <a:ext cx="31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1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09196D3C-8931-2447-F31E-B41CCD026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98" y="5087640"/>
            <a:ext cx="403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2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6B05D066-9941-4728-22A8-CD0522EBE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2298" y="460186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k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1EB5CFF4-58DE-372D-7D3C-72246DA81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336" y="2746077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k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A2B998D6-10AF-8E5F-B276-8283FFC6D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848" y="497969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3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1C989CDE-3062-707C-F48D-72F9E7B1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661" y="5106690"/>
            <a:ext cx="319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4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024F149E-54F8-983A-8F0A-A6949F363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336" y="2760365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3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D45B0195-E887-2EF0-6494-CDBEB4686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736" y="3120727"/>
            <a:ext cx="496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4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lang="en-US" altLang="zh-CN" sz="2000" i="1" dirty="0">
              <a:solidFill>
                <a:srgbClr val="0000CC"/>
              </a:solidFill>
              <a:latin typeface="Segoe UI" panose="020B0502040204020203" pitchFamily="34" charset="0"/>
              <a:ea typeface="仿宋_GB2312" pitchFamily="49" charset="-122"/>
              <a:cs typeface="Segoe UI" panose="020B0502040204020203" pitchFamily="34" charset="0"/>
            </a:endParaRP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C0C9EC39-DAF6-F8EF-5F27-2768A1E5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836" y="3387427"/>
            <a:ext cx="390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l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1AEB1268-7043-6CFA-ABB0-46F8982C0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536" y="402401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l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1CA95E47-C221-C493-B227-79112BF9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736" y="3142923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5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kumimoji="0" lang="en-US" altLang="zh-CN" sz="2000" i="1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D61D4CE4-A39B-57AA-4D4E-08790A8BA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686" y="4603452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7</a:t>
            </a: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D7B93EFA-8A9E-6F37-7B62-59ADC704F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211" y="3119110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6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DA02393A-4267-6252-271C-C58A4BD0B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998" y="3257252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solidFill>
                  <a:srgbClr val="333333"/>
                </a:solidFill>
                <a:latin typeface="ISOCPEUR" pitchFamily="34" charset="0"/>
              </a:rPr>
              <a:t>Q</a:t>
            </a:r>
            <a:r>
              <a:rPr lang="en-US" altLang="zh-CN" sz="1800" i="1" baseline="-8000">
                <a:solidFill>
                  <a:srgbClr val="333333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F67CA8D0-93AA-7D65-9858-DFC3175EE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0286" y="3082627"/>
            <a:ext cx="5651500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39CB3CD8-C4D6-8E9A-7B65-0B4C7FCC1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6461" y="3425527"/>
            <a:ext cx="5651500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7ACE4D69-A77B-B328-25B2-7D5ED433B8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0361" y="3082627"/>
            <a:ext cx="0" cy="9398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C68B253C-12D2-EDDB-D94B-FD321D8F8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5861" y="3069927"/>
            <a:ext cx="0" cy="9525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366A3029-08C2-B31D-C304-778CAD005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4686" y="3076277"/>
            <a:ext cx="0" cy="9398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76E53B03-47AF-4154-763B-87DF9FC10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0361" y="4022427"/>
            <a:ext cx="0" cy="15113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8D659365-E396-6C75-333B-326CA2EF78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2686" y="4022427"/>
            <a:ext cx="0" cy="10795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EBC2F5CF-3226-E0BC-4554-C143CC58E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4686" y="4009727"/>
            <a:ext cx="0" cy="10033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51B2D41E-748F-A263-DBA0-B647E2AF18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11986" y="5009852"/>
            <a:ext cx="1701800" cy="5842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23C4B635-5085-8EE8-421B-9ADD45E74B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0361" y="5076527"/>
            <a:ext cx="812800" cy="4572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id="{9B0D0AC1-1B5D-92B0-9C2D-955A30AF8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8561" y="4597102"/>
            <a:ext cx="827087" cy="4667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9FB41098-16C3-FB53-7857-4D4949B5CC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5011" y="4603452"/>
            <a:ext cx="1203325" cy="4127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8FA6CAB7-8EBD-2D79-0B5E-6FE64503C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7611" y="3425527"/>
            <a:ext cx="0" cy="6096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1" name="Line 37">
            <a:extLst>
              <a:ext uri="{FF2B5EF4-FFF2-40B4-BE49-F238E27FC236}">
                <a16:creationId xmlns:a16="http://schemas.microsoft.com/office/drawing/2014/main" id="{F534BEF5-3805-C4E2-3C57-DFE09A3E8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7611" y="3997027"/>
            <a:ext cx="0" cy="9398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2" name="Line 38">
            <a:extLst>
              <a:ext uri="{FF2B5EF4-FFF2-40B4-BE49-F238E27FC236}">
                <a16:creationId xmlns:a16="http://schemas.microsoft.com/office/drawing/2014/main" id="{603EFBBF-2A63-104C-3423-2A50C98CE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5561" y="3425527"/>
            <a:ext cx="0" cy="6096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8CF37AD4-56CF-A08E-03F6-43C1ADD29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5561" y="4035127"/>
            <a:ext cx="0" cy="11938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4" name="Line 40">
            <a:extLst>
              <a:ext uri="{FF2B5EF4-FFF2-40B4-BE49-F238E27FC236}">
                <a16:creationId xmlns:a16="http://schemas.microsoft.com/office/drawing/2014/main" id="{3E4E15A0-4815-83BF-8E14-D2F654D38B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0961" y="4238327"/>
            <a:ext cx="1714500" cy="9652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5" name="Line 41">
            <a:extLst>
              <a:ext uri="{FF2B5EF4-FFF2-40B4-BE49-F238E27FC236}">
                <a16:creationId xmlns:a16="http://schemas.microsoft.com/office/drawing/2014/main" id="{FF9F2C5E-64C7-B3D0-AB2D-2E02CC411A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86411" y="4244677"/>
            <a:ext cx="2009775" cy="68897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6" name="Line 42">
            <a:extLst>
              <a:ext uri="{FF2B5EF4-FFF2-40B4-BE49-F238E27FC236}">
                <a16:creationId xmlns:a16="http://schemas.microsoft.com/office/drawing/2014/main" id="{F91A7B72-57C8-BB1E-584F-572921207A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30886" y="4022427"/>
            <a:ext cx="0" cy="5905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7" name="Line 43">
            <a:extLst>
              <a:ext uri="{FF2B5EF4-FFF2-40B4-BE49-F238E27FC236}">
                <a16:creationId xmlns:a16="http://schemas.microsoft.com/office/drawing/2014/main" id="{69BB8CB2-CD67-E314-59F2-F65E5E31DB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30886" y="3082627"/>
            <a:ext cx="0" cy="9398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8" name="Line 44">
            <a:extLst>
              <a:ext uri="{FF2B5EF4-FFF2-40B4-BE49-F238E27FC236}">
                <a16:creationId xmlns:a16="http://schemas.microsoft.com/office/drawing/2014/main" id="{4DD9F462-6EF8-FA0C-1BD3-76CFFF879A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5936" y="3990677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9" name="Line 45">
            <a:extLst>
              <a:ext uri="{FF2B5EF4-FFF2-40B4-BE49-F238E27FC236}">
                <a16:creationId xmlns:a16="http://schemas.microsoft.com/office/drawing/2014/main" id="{14D19E62-6CB6-9D94-CCCA-E58D854DF0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5936" y="3082627"/>
            <a:ext cx="228600" cy="3429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50" name="AutoShape 46">
            <a:extLst>
              <a:ext uri="{FF2B5EF4-FFF2-40B4-BE49-F238E27FC236}">
                <a16:creationId xmlns:a16="http://schemas.microsoft.com/office/drawing/2014/main" id="{B21EF717-09FC-CCC4-0873-F4B9A713B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661" y="340012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1" name="AutoShape 47">
            <a:extLst>
              <a:ext uri="{FF2B5EF4-FFF2-40B4-BE49-F238E27FC236}">
                <a16:creationId xmlns:a16="http://schemas.microsoft.com/office/drawing/2014/main" id="{67C92E09-BCCC-8A05-1826-4F94069E1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611" y="304452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333333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grpSp>
        <p:nvGrpSpPr>
          <p:cNvPr id="52" name="Group 48">
            <a:extLst>
              <a:ext uri="{FF2B5EF4-FFF2-40B4-BE49-F238E27FC236}">
                <a16:creationId xmlns:a16="http://schemas.microsoft.com/office/drawing/2014/main" id="{559AFD13-14B9-49C8-58B3-9BC27F57D995}"/>
              </a:ext>
            </a:extLst>
          </p:cNvPr>
          <p:cNvGrpSpPr>
            <a:grpSpLocks/>
          </p:cNvGrpSpPr>
          <p:nvPr/>
        </p:nvGrpSpPr>
        <p:grpSpPr bwMode="auto">
          <a:xfrm>
            <a:off x="1538486" y="2228552"/>
            <a:ext cx="2365375" cy="4095761"/>
            <a:chOff x="1352" y="486"/>
            <a:chExt cx="1490" cy="2580"/>
          </a:xfrm>
        </p:grpSpPr>
        <p:sp>
          <p:nvSpPr>
            <p:cNvPr id="53" name="Line 49">
              <a:extLst>
                <a:ext uri="{FF2B5EF4-FFF2-40B4-BE49-F238E27FC236}">
                  <a16:creationId xmlns:a16="http://schemas.microsoft.com/office/drawing/2014/main" id="{3FBE8036-DA6E-8E35-C96E-D77ED4C44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2" y="1360"/>
              <a:ext cx="0" cy="584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4" name="Line 50">
              <a:extLst>
                <a:ext uri="{FF2B5EF4-FFF2-40B4-BE49-F238E27FC236}">
                  <a16:creationId xmlns:a16="http://schemas.microsoft.com/office/drawing/2014/main" id="{963B1D72-A8DF-7A66-17DE-358303240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344"/>
              <a:ext cx="0" cy="908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9E15A220-C010-278E-8C26-481DE1F76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2" y="689"/>
              <a:ext cx="0" cy="1944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6" name="Text Box 52">
              <a:extLst>
                <a:ext uri="{FF2B5EF4-FFF2-40B4-BE49-F238E27FC236}">
                  <a16:creationId xmlns:a16="http://schemas.microsoft.com/office/drawing/2014/main" id="{3D24BE69-021D-7B1E-FB20-1E31E2439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4" y="2141"/>
              <a:ext cx="2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d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SOCPEUR" pitchFamily="34" charset="0"/>
                <a:ea typeface="宋体" pitchFamily="2" charset="-122"/>
              </a:endParaRPr>
            </a:p>
          </p:txBody>
        </p:sp>
        <p:sp>
          <p:nvSpPr>
            <p:cNvPr id="57" name="Text Box 53">
              <a:extLst>
                <a:ext uri="{FF2B5EF4-FFF2-40B4-BE49-F238E27FC236}">
                  <a16:creationId xmlns:a16="http://schemas.microsoft.com/office/drawing/2014/main" id="{C5296566-E9A3-31E0-AE38-877369A97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7" y="2816"/>
              <a:ext cx="3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e</a:t>
              </a:r>
            </a:p>
          </p:txBody>
        </p:sp>
        <p:sp>
          <p:nvSpPr>
            <p:cNvPr id="58" name="Text Box 54">
              <a:extLst>
                <a:ext uri="{FF2B5EF4-FFF2-40B4-BE49-F238E27FC236}">
                  <a16:creationId xmlns:a16="http://schemas.microsoft.com/office/drawing/2014/main" id="{95DE1632-89D4-ADAA-0D9B-4D1160D42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1897"/>
              <a:ext cx="2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f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SOCPEUR" pitchFamily="34" charset="0"/>
                <a:ea typeface="宋体" pitchFamily="2" charset="-122"/>
              </a:endParaRPr>
            </a:p>
          </p:txBody>
        </p:sp>
        <p:sp>
          <p:nvSpPr>
            <p:cNvPr id="59" name="Text Box 55">
              <a:extLst>
                <a:ext uri="{FF2B5EF4-FFF2-40B4-BE49-F238E27FC236}">
                  <a16:creationId xmlns:a16="http://schemas.microsoft.com/office/drawing/2014/main" id="{CE1DABED-01AB-18D6-2E02-B9BDD9ECB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2" y="1239"/>
              <a:ext cx="4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d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</a:p>
          </p:txBody>
        </p:sp>
        <p:sp>
          <p:nvSpPr>
            <p:cNvPr id="60" name="Text Box 56">
              <a:extLst>
                <a:ext uri="{FF2B5EF4-FFF2-40B4-BE49-F238E27FC236}">
                  <a16:creationId xmlns:a16="http://schemas.microsoft.com/office/drawing/2014/main" id="{B407826D-179B-7C51-F404-2301DF449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4" y="486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e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</a:p>
          </p:txBody>
        </p:sp>
        <p:sp>
          <p:nvSpPr>
            <p:cNvPr id="61" name="Text Box 57">
              <a:extLst>
                <a:ext uri="{FF2B5EF4-FFF2-40B4-BE49-F238E27FC236}">
                  <a16:creationId xmlns:a16="http://schemas.microsoft.com/office/drawing/2014/main" id="{3296601C-BA2A-8FF7-4A5F-305A74D71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" y="1251"/>
              <a:ext cx="4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f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</a:p>
          </p:txBody>
        </p:sp>
        <p:sp>
          <p:nvSpPr>
            <p:cNvPr id="62" name="Line 58">
              <a:extLst>
                <a:ext uri="{FF2B5EF4-FFF2-40B4-BE49-F238E27FC236}">
                  <a16:creationId xmlns:a16="http://schemas.microsoft.com/office/drawing/2014/main" id="{18BBAE5C-BB8B-6021-0B26-E728F7BC4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8" y="664"/>
              <a:ext cx="632" cy="680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3" name="Line 59">
              <a:extLst>
                <a:ext uri="{FF2B5EF4-FFF2-40B4-BE49-F238E27FC236}">
                  <a16:creationId xmlns:a16="http://schemas.microsoft.com/office/drawing/2014/main" id="{CC9F46E8-711D-572C-B7BA-67CA88335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656"/>
              <a:ext cx="0" cy="168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4" name="Line 60">
              <a:extLst>
                <a:ext uri="{FF2B5EF4-FFF2-40B4-BE49-F238E27FC236}">
                  <a16:creationId xmlns:a16="http://schemas.microsoft.com/office/drawing/2014/main" id="{F9037C53-6576-98D6-5D15-388787E78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0" y="672"/>
              <a:ext cx="632" cy="680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5" name="Line 61">
              <a:extLst>
                <a:ext uri="{FF2B5EF4-FFF2-40B4-BE49-F238E27FC236}">
                  <a16:creationId xmlns:a16="http://schemas.microsoft.com/office/drawing/2014/main" id="{E3EEC6FE-D1CB-37BD-DA1A-AF276091E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8" y="2240"/>
              <a:ext cx="632" cy="696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6" name="Line 62">
              <a:extLst>
                <a:ext uri="{FF2B5EF4-FFF2-40B4-BE49-F238E27FC236}">
                  <a16:creationId xmlns:a16="http://schemas.microsoft.com/office/drawing/2014/main" id="{9997AEBC-12BC-0E8F-4BFD-8C2E62D4F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0" y="1944"/>
              <a:ext cx="632" cy="696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7" name="Text Box 63">
              <a:extLst>
                <a:ext uri="{FF2B5EF4-FFF2-40B4-BE49-F238E27FC236}">
                  <a16:creationId xmlns:a16="http://schemas.microsoft.com/office/drawing/2014/main" id="{C8574E84-3B38-9581-C4D7-D28F63204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2559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g</a:t>
              </a:r>
            </a:p>
          </p:txBody>
        </p:sp>
        <p:sp>
          <p:nvSpPr>
            <p:cNvPr id="68" name="Text Box 64">
              <a:extLst>
                <a:ext uri="{FF2B5EF4-FFF2-40B4-BE49-F238E27FC236}">
                  <a16:creationId xmlns:a16="http://schemas.microsoft.com/office/drawing/2014/main" id="{E9CC2A79-ABF3-250D-64F8-24848688F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554"/>
              <a:ext cx="2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g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</a:p>
          </p:txBody>
        </p:sp>
        <p:sp>
          <p:nvSpPr>
            <p:cNvPr id="69" name="Line 65">
              <a:extLst>
                <a:ext uri="{FF2B5EF4-FFF2-40B4-BE49-F238E27FC236}">
                  <a16:creationId xmlns:a16="http://schemas.microsoft.com/office/drawing/2014/main" id="{9D75394D-909B-429E-A16D-D594092A0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809"/>
              <a:ext cx="0" cy="2109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  <p:sp>
        <p:nvSpPr>
          <p:cNvPr id="70" name="Text Box 66">
            <a:extLst>
              <a:ext uri="{FF2B5EF4-FFF2-40B4-BE49-F238E27FC236}">
                <a16:creationId xmlns:a16="http://schemas.microsoft.com/office/drawing/2014/main" id="{DC350064-983B-FD56-CF2E-6AC57EE08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111" y="3087390"/>
            <a:ext cx="490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7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71" name="Line 67">
            <a:extLst>
              <a:ext uri="{FF2B5EF4-FFF2-40B4-BE49-F238E27FC236}">
                <a16:creationId xmlns:a16="http://schemas.microsoft.com/office/drawing/2014/main" id="{76E7C98E-80F6-4F5A-B51B-5DAE75171D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6411" y="4225627"/>
            <a:ext cx="254000" cy="3683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72" name="AutoShape 68">
            <a:extLst>
              <a:ext uri="{FF2B5EF4-FFF2-40B4-BE49-F238E27FC236}">
                <a16:creationId xmlns:a16="http://schemas.microsoft.com/office/drawing/2014/main" id="{9C3F5B6A-61B5-D9B8-C3B9-001BCD307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436" y="455582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333333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73" name="AutoShape 69">
            <a:extLst>
              <a:ext uri="{FF2B5EF4-FFF2-40B4-BE49-F238E27FC236}">
                <a16:creationId xmlns:a16="http://schemas.microsoft.com/office/drawing/2014/main" id="{E353B7AF-ADAB-3BD4-E4BB-DE296E498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486" y="420022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333333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grpSp>
        <p:nvGrpSpPr>
          <p:cNvPr id="74" name="Group 71">
            <a:extLst>
              <a:ext uri="{FF2B5EF4-FFF2-40B4-BE49-F238E27FC236}">
                <a16:creationId xmlns:a16="http://schemas.microsoft.com/office/drawing/2014/main" id="{AB4920D1-08CB-A4E5-6160-33C2922D2F4A}"/>
              </a:ext>
            </a:extLst>
          </p:cNvPr>
          <p:cNvGrpSpPr>
            <a:grpSpLocks/>
          </p:cNvGrpSpPr>
          <p:nvPr/>
        </p:nvGrpSpPr>
        <p:grpSpPr bwMode="auto">
          <a:xfrm>
            <a:off x="4532511" y="2026940"/>
            <a:ext cx="3022600" cy="4059237"/>
            <a:chOff x="3238" y="359"/>
            <a:chExt cx="1904" cy="2557"/>
          </a:xfrm>
        </p:grpSpPr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DFE1B78B-0DC6-F694-5FB9-CD282FF1230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50" y="548"/>
              <a:ext cx="1326" cy="876"/>
            </a:xfrm>
            <a:custGeom>
              <a:avLst/>
              <a:gdLst>
                <a:gd name="T0" fmla="*/ 0 w 852"/>
                <a:gd name="T1" fmla="*/ 1715 h 822"/>
                <a:gd name="T2" fmla="*/ 5521738 w 852"/>
                <a:gd name="T3" fmla="*/ 0 h 822"/>
                <a:gd name="T4" fmla="*/ 9217852 w 852"/>
                <a:gd name="T5" fmla="*/ 3129 h 822"/>
                <a:gd name="T6" fmla="*/ 0 w 852"/>
                <a:gd name="T7" fmla="*/ 1715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CAA1B543-3496-E4A7-213B-A225FAF04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1421"/>
              <a:ext cx="2" cy="42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7" name="Text Box 74">
              <a:extLst>
                <a:ext uri="{FF2B5EF4-FFF2-40B4-BE49-F238E27FC236}">
                  <a16:creationId xmlns:a16="http://schemas.microsoft.com/office/drawing/2014/main" id="{4A78C2BE-BC5A-D162-35BA-2C9C46AD7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" y="125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Text Box 75">
              <a:extLst>
                <a:ext uri="{FF2B5EF4-FFF2-40B4-BE49-F238E27FC236}">
                  <a16:creationId xmlns:a16="http://schemas.microsoft.com/office/drawing/2014/main" id="{3A6DC2D3-1A29-736F-23CF-678013060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6" y="795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仿宋_GB2312" pitchFamily="49" charset="-122"/>
                </a:rPr>
                <a:t>c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Text Box 76">
              <a:extLst>
                <a:ext uri="{FF2B5EF4-FFF2-40B4-BE49-F238E27FC236}">
                  <a16:creationId xmlns:a16="http://schemas.microsoft.com/office/drawing/2014/main" id="{82A9FF02-B629-2800-A018-D388A4620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2" y="359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仿宋_GB2312" pitchFamily="49" charset="-122"/>
                </a:rPr>
                <a:t>b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Text Box 77">
              <a:extLst>
                <a:ext uri="{FF2B5EF4-FFF2-40B4-BE49-F238E27FC236}">
                  <a16:creationId xmlns:a16="http://schemas.microsoft.com/office/drawing/2014/main" id="{FA04DF8A-79BC-C910-03A1-FB5DB5BB1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1708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81" name="Text Box 78">
              <a:extLst>
                <a:ext uri="{FF2B5EF4-FFF2-40B4-BE49-F238E27FC236}">
                  <a16:creationId xmlns:a16="http://schemas.microsoft.com/office/drawing/2014/main" id="{D4893F53-794E-74CB-CD0F-45D18C9C4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2" y="2436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9C98ED20-86FF-4BCD-D7B3-28BE65B27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7" y="1026"/>
              <a:ext cx="0" cy="1583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3" name="Text Box 80">
              <a:extLst>
                <a:ext uri="{FF2B5EF4-FFF2-40B4-BE49-F238E27FC236}">
                  <a16:creationId xmlns:a16="http://schemas.microsoft.com/office/drawing/2014/main" id="{7A655FE6-8782-7B23-9DC3-8775B0408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1" y="2666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84" name="Freeform 82">
              <a:extLst>
                <a:ext uri="{FF2B5EF4-FFF2-40B4-BE49-F238E27FC236}">
                  <a16:creationId xmlns:a16="http://schemas.microsoft.com/office/drawing/2014/main" id="{FEE210CD-7C15-013A-DCC8-9A159BCE7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1822"/>
              <a:ext cx="1336" cy="856"/>
            </a:xfrm>
            <a:custGeom>
              <a:avLst/>
              <a:gdLst>
                <a:gd name="T0" fmla="*/ 1336 w 1336"/>
                <a:gd name="T1" fmla="*/ 784 h 856"/>
                <a:gd name="T2" fmla="*/ 536 w 1336"/>
                <a:gd name="T3" fmla="*/ 856 h 856"/>
                <a:gd name="T4" fmla="*/ 0 w 1336"/>
                <a:gd name="T5" fmla="*/ 0 h 856"/>
                <a:gd name="T6" fmla="*/ 1336 w 1336"/>
                <a:gd name="T7" fmla="*/ 784 h 8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36"/>
                <a:gd name="T13" fmla="*/ 0 h 856"/>
                <a:gd name="T14" fmla="*/ 1336 w 1336"/>
                <a:gd name="T15" fmla="*/ 856 h 8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36" h="856">
                  <a:moveTo>
                    <a:pt x="1336" y="784"/>
                  </a:moveTo>
                  <a:lnTo>
                    <a:pt x="536" y="856"/>
                  </a:lnTo>
                  <a:lnTo>
                    <a:pt x="0" y="0"/>
                  </a:lnTo>
                  <a:lnTo>
                    <a:pt x="1336" y="784"/>
                  </a:lnTo>
                  <a:close/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878CAFCB-6DC1-A78E-F51D-139DF3FC21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5" y="2410"/>
              <a:ext cx="0" cy="27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6" name="Line 81">
              <a:extLst>
                <a:ext uri="{FF2B5EF4-FFF2-40B4-BE49-F238E27FC236}">
                  <a16:creationId xmlns:a16="http://schemas.microsoft.com/office/drawing/2014/main" id="{A3F7E657-D983-0237-A789-EF6498D2D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5" y="556"/>
              <a:ext cx="0" cy="205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rPr>
                <a:t> 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  <p:sp>
        <p:nvSpPr>
          <p:cNvPr id="87" name="Rectangle 8">
            <a:extLst>
              <a:ext uri="{FF2B5EF4-FFF2-40B4-BE49-F238E27FC236}">
                <a16:creationId xmlns:a16="http://schemas.microsoft.com/office/drawing/2014/main" id="{67D07E4D-B80D-B948-B679-8B1B3C1B9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62424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：利用辅助平面法，两个平面都是一般位置平面</a:t>
            </a:r>
          </a:p>
        </p:txBody>
      </p:sp>
      <p:sp>
        <p:nvSpPr>
          <p:cNvPr id="88" name="Rectangle 8">
            <a:extLst>
              <a:ext uri="{FF2B5EF4-FFF2-40B4-BE49-F238E27FC236}">
                <a16:creationId xmlns:a16="http://schemas.microsoft.com/office/drawing/2014/main" id="{5A47EA06-1978-E507-CCF3-E8EF0C12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60" y="2153536"/>
            <a:ext cx="11128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673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5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utoUpdateAnimBg="0"/>
      <p:bldP spid="10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70" grpId="0" autoUpdateAnimBg="0"/>
      <p:bldP spid="71" grpId="0" animBg="1"/>
      <p:bldP spid="72" grpId="0" animBg="1"/>
      <p:bldP spid="7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7153-19E5-FCDF-0CEF-D53FF8D2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166E948-A72F-52EF-0E21-04A389FE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19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63D1C53-94EB-8A77-288B-D79414EA0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506DFA-6712-F4EF-5A8C-568934F07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直线与平面相交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FD2343A4-A0F5-D1FC-89BB-B2D4791CF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501008"/>
            <a:ext cx="6425157" cy="14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2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直线与平面相交求解的两种方法：</a:t>
            </a:r>
            <a:endParaRPr lang="en-US" altLang="zh-CN" sz="22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积聚性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（直线或平面处于特殊位置）</a:t>
            </a:r>
            <a:endParaRPr lang="en-US" altLang="zh-CN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辅助平面法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（直线和平面都处于一般位置）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0A2B3B1-4206-AA14-8092-D5F694B0D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900560"/>
            <a:ext cx="8352928" cy="1048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200" u="sng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zh-CN" altLang="en-US" sz="22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直线与平面不平行时，必然相交于一点，该交点是直线与平面的公有点。</a:t>
            </a:r>
            <a:endParaRPr lang="en-US" altLang="zh-CN" sz="22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660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D9DCA-6A96-5D76-0475-EFA5827CD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E9F9255-8945-B8C5-1BCE-E338ACDCB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20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C8A5EA7-7AF5-337E-14B2-8D115AD79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61168E-E47A-7034-E59B-2B9E71942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直线与平面相交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8669D3AE-B37C-8A88-F8AC-5BE96304B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54729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：利用积聚性，直线或平面处于特殊位置</a:t>
            </a: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A740676A-4493-D8B7-78F3-C090BEA6F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60" y="2153536"/>
            <a:ext cx="11128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3">
            <a:extLst>
              <a:ext uri="{FF2B5EF4-FFF2-40B4-BE49-F238E27FC236}">
                <a16:creationId xmlns:a16="http://schemas.microsoft.com/office/drawing/2014/main" id="{AA6BD31A-059F-F19F-F151-CF3A498F9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6624" y="4386943"/>
            <a:ext cx="0" cy="74295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grpSp>
        <p:nvGrpSpPr>
          <p:cNvPr id="52" name="Group 6">
            <a:extLst>
              <a:ext uri="{FF2B5EF4-FFF2-40B4-BE49-F238E27FC236}">
                <a16:creationId xmlns:a16="http://schemas.microsoft.com/office/drawing/2014/main" id="{2C4ED1CC-9F85-1CFB-8642-C25A0D462EAF}"/>
              </a:ext>
            </a:extLst>
          </p:cNvPr>
          <p:cNvGrpSpPr>
            <a:grpSpLocks/>
          </p:cNvGrpSpPr>
          <p:nvPr/>
        </p:nvGrpSpPr>
        <p:grpSpPr bwMode="auto">
          <a:xfrm>
            <a:off x="1230874" y="2302556"/>
            <a:ext cx="3451225" cy="3444875"/>
            <a:chOff x="526" y="1759"/>
            <a:chExt cx="2174" cy="2170"/>
          </a:xfrm>
        </p:grpSpPr>
        <p:sp>
          <p:nvSpPr>
            <p:cNvPr id="53" name="Line 7">
              <a:extLst>
                <a:ext uri="{FF2B5EF4-FFF2-40B4-BE49-F238E27FC236}">
                  <a16:creationId xmlns:a16="http://schemas.microsoft.com/office/drawing/2014/main" id="{4BE9D0B2-02AC-1686-0659-AB535B81D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83"/>
              <a:ext cx="0" cy="1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54" name="Line 8">
              <a:extLst>
                <a:ext uri="{FF2B5EF4-FFF2-40B4-BE49-F238E27FC236}">
                  <a16:creationId xmlns:a16="http://schemas.microsoft.com/office/drawing/2014/main" id="{D7BFF736-8307-87A6-F436-4B5FA0C9B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4" y="2334"/>
              <a:ext cx="0" cy="6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26EB0E52-9C3F-BD68-66DF-FB78B0E61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4" y="2709"/>
              <a:ext cx="0" cy="4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56" name="Text Box 10">
              <a:extLst>
                <a:ext uri="{FF2B5EF4-FFF2-40B4-BE49-F238E27FC236}">
                  <a16:creationId xmlns:a16="http://schemas.microsoft.com/office/drawing/2014/main" id="{92F030C3-C374-6BAD-BA84-F63D00BA4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" y="2163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a'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57" name="Text Box 11">
              <a:extLst>
                <a:ext uri="{FF2B5EF4-FFF2-40B4-BE49-F238E27FC236}">
                  <a16:creationId xmlns:a16="http://schemas.microsoft.com/office/drawing/2014/main" id="{A05CCD45-4BD0-BAA1-AD89-899035A21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8" y="2508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c'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E6621855-080E-2D5B-BBAB-F5B329BCB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759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b'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59" name="Text Box 13">
              <a:extLst>
                <a:ext uri="{FF2B5EF4-FFF2-40B4-BE49-F238E27FC236}">
                  <a16:creationId xmlns:a16="http://schemas.microsoft.com/office/drawing/2014/main" id="{5896EC2B-736C-D40D-43A1-B24064C81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2847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60" name="Text Box 14">
              <a:extLst>
                <a:ext uri="{FF2B5EF4-FFF2-40B4-BE49-F238E27FC236}">
                  <a16:creationId xmlns:a16="http://schemas.microsoft.com/office/drawing/2014/main" id="{4732A262-1E5E-ED7A-7CA8-41CE6A500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8" y="3679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 </a:t>
              </a:r>
            </a:p>
          </p:txBody>
        </p:sp>
        <p:sp>
          <p:nvSpPr>
            <p:cNvPr id="61" name="Text Box 15">
              <a:extLst>
                <a:ext uri="{FF2B5EF4-FFF2-40B4-BE49-F238E27FC236}">
                  <a16:creationId xmlns:a16="http://schemas.microsoft.com/office/drawing/2014/main" id="{269BD6A5-8366-DFF4-EFD6-4E24328D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6" y="3050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 </a:t>
              </a:r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1304AC1D-717A-C352-DA8D-20E205C36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1884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69E26A5E-9BCC-3076-017B-5C976F01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958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64" name="Text Box 18">
              <a:extLst>
                <a:ext uri="{FF2B5EF4-FFF2-40B4-BE49-F238E27FC236}">
                  <a16:creationId xmlns:a16="http://schemas.microsoft.com/office/drawing/2014/main" id="{7E8D8AE2-373D-C889-6166-E3D7C703E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" y="257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X </a:t>
              </a:r>
            </a:p>
          </p:txBody>
        </p:sp>
        <p:sp>
          <p:nvSpPr>
            <p:cNvPr id="65" name="Text Box 19">
              <a:extLst>
                <a:ext uri="{FF2B5EF4-FFF2-40B4-BE49-F238E27FC236}">
                  <a16:creationId xmlns:a16="http://schemas.microsoft.com/office/drawing/2014/main" id="{E9363A37-7465-FD98-1501-D56228E23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2577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O 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66" name="Line 20">
              <a:extLst>
                <a:ext uri="{FF2B5EF4-FFF2-40B4-BE49-F238E27FC236}">
                  <a16:creationId xmlns:a16="http://schemas.microsoft.com/office/drawing/2014/main" id="{7DCF9384-4C25-38CD-32C7-08A24EBBE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" y="2832"/>
              <a:ext cx="17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</p:grpSp>
      <p:sp>
        <p:nvSpPr>
          <p:cNvPr id="67" name="Text Box 21">
            <a:extLst>
              <a:ext uri="{FF2B5EF4-FFF2-40B4-BE49-F238E27FC236}">
                <a16:creationId xmlns:a16="http://schemas.microsoft.com/office/drawing/2014/main" id="{68F69F57-C09B-8F72-7D94-029A8646A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269" y="3230951"/>
            <a:ext cx="2182649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prstClr val="black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DE⊥V: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d'≡e'≡k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</a:p>
        </p:txBody>
      </p:sp>
      <p:sp>
        <p:nvSpPr>
          <p:cNvPr id="68" name="Text Box 22">
            <a:extLst>
              <a:ext uri="{FF2B5EF4-FFF2-40B4-BE49-F238E27FC236}">
                <a16:creationId xmlns:a16="http://schemas.microsoft.com/office/drawing/2014/main" id="{1796ED64-EA69-EB13-53FC-85041CA22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269" y="4448025"/>
            <a:ext cx="3294492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prstClr val="black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判断可见性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利用重影点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Line 23">
            <a:extLst>
              <a:ext uri="{FF2B5EF4-FFF2-40B4-BE49-F238E27FC236}">
                <a16:creationId xmlns:a16="http://schemas.microsoft.com/office/drawing/2014/main" id="{48E86B46-BB1C-5950-29CC-915ED06ACF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6624" y="3050268"/>
            <a:ext cx="3175" cy="1130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0" name="Text Box 24">
            <a:extLst>
              <a:ext uri="{FF2B5EF4-FFF2-40B4-BE49-F238E27FC236}">
                <a16:creationId xmlns:a16="http://schemas.microsoft.com/office/drawing/2014/main" id="{5D4370DF-CC2C-999A-9D5B-19E09D8DC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349" y="3959906"/>
            <a:ext cx="454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d 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71" name="Text Box 25">
            <a:extLst>
              <a:ext uri="{FF2B5EF4-FFF2-40B4-BE49-F238E27FC236}">
                <a16:creationId xmlns:a16="http://schemas.microsoft.com/office/drawing/2014/main" id="{98E7350D-FC10-64F1-CF4A-AFCF4B24A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199" y="5306106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e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72" name="Line 26">
            <a:extLst>
              <a:ext uri="{FF2B5EF4-FFF2-40B4-BE49-F238E27FC236}">
                <a16:creationId xmlns:a16="http://schemas.microsoft.com/office/drawing/2014/main" id="{3C34DB59-5BF7-6C2C-C5F0-E4D5B43FC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799" y="4177393"/>
            <a:ext cx="0" cy="228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3" name="Line 27">
            <a:extLst>
              <a:ext uri="{FF2B5EF4-FFF2-40B4-BE49-F238E27FC236}">
                <a16:creationId xmlns:a16="http://schemas.microsoft.com/office/drawing/2014/main" id="{2A9417F0-A8BF-0189-127A-0D98B925F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799" y="5117193"/>
            <a:ext cx="0" cy="4810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4" name="Text Box 28">
            <a:extLst>
              <a:ext uri="{FF2B5EF4-FFF2-40B4-BE49-F238E27FC236}">
                <a16:creationId xmlns:a16="http://schemas.microsoft.com/office/drawing/2014/main" id="{626512C8-3649-B37E-D848-09CF684C5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161" y="2962956"/>
            <a:ext cx="1431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d’</a:t>
            </a:r>
            <a:r>
              <a:rPr lang="en-US" altLang="zh-CN">
                <a:solidFill>
                  <a:prstClr val="black"/>
                </a:solidFill>
                <a:latin typeface="ISOCPEUR" pitchFamily="34" charset="0"/>
              </a:rPr>
              <a:t>≡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e'</a:t>
            </a:r>
          </a:p>
        </p:txBody>
      </p:sp>
      <p:sp>
        <p:nvSpPr>
          <p:cNvPr id="75" name="Text Box 29">
            <a:extLst>
              <a:ext uri="{FF2B5EF4-FFF2-40B4-BE49-F238E27FC236}">
                <a16:creationId xmlns:a16="http://schemas.microsoft.com/office/drawing/2014/main" id="{E0FB6DBA-033D-EF8E-2B72-5B26BDC9E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874" y="4474256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k</a:t>
            </a:r>
            <a:endParaRPr lang="en-US" altLang="zh-CN" i="1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76" name="Text Box 30">
            <a:extLst>
              <a:ext uri="{FF2B5EF4-FFF2-40B4-BE49-F238E27FC236}">
                <a16:creationId xmlns:a16="http://schemas.microsoft.com/office/drawing/2014/main" id="{D1D85E3B-CBE2-4BD4-DB81-A8B82768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749" y="2966131"/>
            <a:ext cx="1154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prstClr val="black"/>
                </a:solidFill>
                <a:latin typeface="ISOCPEUR" pitchFamily="34" charset="0"/>
              </a:rPr>
              <a:t>≡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k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F6180CA9-B26B-B5A8-48B9-7533A4616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24" y="2680381"/>
            <a:ext cx="531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1'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78" name="Text Box 32">
            <a:extLst>
              <a:ext uri="{FF2B5EF4-FFF2-40B4-BE49-F238E27FC236}">
                <a16:creationId xmlns:a16="http://schemas.microsoft.com/office/drawing/2014/main" id="{7C5F72B6-50F1-4E43-DD26-C1213E780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011" y="2400981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2'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79" name="Text Box 33">
            <a:extLst>
              <a:ext uri="{FF2B5EF4-FFF2-40B4-BE49-F238E27FC236}">
                <a16:creationId xmlns:a16="http://schemas.microsoft.com/office/drawing/2014/main" id="{C9E7DE02-43FC-19E4-9610-9B4C94B09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8086" y="5026706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1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80" name="Text Box 34">
            <a:extLst>
              <a:ext uri="{FF2B5EF4-FFF2-40B4-BE49-F238E27FC236}">
                <a16:creationId xmlns:a16="http://schemas.microsoft.com/office/drawing/2014/main" id="{EC42A314-AA2E-A405-5B08-5CF2616E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1449" y="5045756"/>
            <a:ext cx="841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2  3</a:t>
            </a:r>
          </a:p>
        </p:txBody>
      </p:sp>
      <p:sp>
        <p:nvSpPr>
          <p:cNvPr id="81" name="Line 35">
            <a:extLst>
              <a:ext uri="{FF2B5EF4-FFF2-40B4-BE49-F238E27FC236}">
                <a16:creationId xmlns:a16="http://schemas.microsoft.com/office/drawing/2014/main" id="{1E15B890-86F1-4E79-D953-BFE7B35174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2899" y="2926443"/>
            <a:ext cx="958850" cy="298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2" name="Line 36">
            <a:extLst>
              <a:ext uri="{FF2B5EF4-FFF2-40B4-BE49-F238E27FC236}">
                <a16:creationId xmlns:a16="http://schemas.microsoft.com/office/drawing/2014/main" id="{94D21504-52E6-52FE-17AB-F66518074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1749" y="2926443"/>
            <a:ext cx="0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3" name="Line 37">
            <a:extLst>
              <a:ext uri="{FF2B5EF4-FFF2-40B4-BE49-F238E27FC236}">
                <a16:creationId xmlns:a16="http://schemas.microsoft.com/office/drawing/2014/main" id="{D07D66C6-15D8-3BE8-5C93-83CA3E800B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1749" y="4031343"/>
            <a:ext cx="0" cy="1130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4" name="Line 38">
            <a:extLst>
              <a:ext uri="{FF2B5EF4-FFF2-40B4-BE49-F238E27FC236}">
                <a16:creationId xmlns:a16="http://schemas.microsoft.com/office/drawing/2014/main" id="{81877198-4AE9-77FC-4656-3C8F650E0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1786" y="4199618"/>
            <a:ext cx="969963" cy="944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5" name="Line 39">
            <a:extLst>
              <a:ext uri="{FF2B5EF4-FFF2-40B4-BE49-F238E27FC236}">
                <a16:creationId xmlns:a16="http://schemas.microsoft.com/office/drawing/2014/main" id="{11C70F12-2F82-0F62-74C4-C8C9A97B70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3449" y="2678793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6" name="Text Box 40">
            <a:extLst>
              <a:ext uri="{FF2B5EF4-FFF2-40B4-BE49-F238E27FC236}">
                <a16:creationId xmlns:a16="http://schemas.microsoft.com/office/drawing/2014/main" id="{78E1395E-F6CC-A73E-853A-D76BA38DB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699" y="2972481"/>
            <a:ext cx="755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prstClr val="black"/>
                </a:solidFill>
                <a:latin typeface="ISOCPEUR" pitchFamily="34" charset="0"/>
              </a:rPr>
              <a:t>≡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3'</a:t>
            </a:r>
          </a:p>
        </p:txBody>
      </p:sp>
      <p:sp>
        <p:nvSpPr>
          <p:cNvPr id="87" name="Text Box 41">
            <a:extLst>
              <a:ext uri="{FF2B5EF4-FFF2-40B4-BE49-F238E27FC236}">
                <a16:creationId xmlns:a16="http://schemas.microsoft.com/office/drawing/2014/main" id="{24C7C2FF-9A90-8A27-02DE-961FA6F67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971" y="5033056"/>
            <a:ext cx="527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latin typeface="ISOCPEUR" pitchFamily="34" charset="0"/>
              </a:rPr>
              <a:t>(  ) </a:t>
            </a:r>
          </a:p>
        </p:txBody>
      </p:sp>
      <p:sp>
        <p:nvSpPr>
          <p:cNvPr id="88" name="Line 42">
            <a:extLst>
              <a:ext uri="{FF2B5EF4-FFF2-40B4-BE49-F238E27FC236}">
                <a16:creationId xmlns:a16="http://schemas.microsoft.com/office/drawing/2014/main" id="{D9F3CB4C-9678-B6A5-A200-189E1D8F44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844" y="4761593"/>
            <a:ext cx="0" cy="330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9" name="Line 43">
            <a:extLst>
              <a:ext uri="{FF2B5EF4-FFF2-40B4-BE49-F238E27FC236}">
                <a16:creationId xmlns:a16="http://schemas.microsoft.com/office/drawing/2014/main" id="{7E69642E-B4AE-9C63-7B21-C35C7EF3B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799" y="4393293"/>
            <a:ext cx="0" cy="406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0" name="AutoShape 44">
            <a:extLst>
              <a:ext uri="{FF2B5EF4-FFF2-40B4-BE49-F238E27FC236}">
                <a16:creationId xmlns:a16="http://schemas.microsoft.com/office/drawing/2014/main" id="{D8B6BFE9-6292-B980-18C8-327E1D598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4874" y="4756831"/>
            <a:ext cx="74612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1" name="AutoShape 45">
            <a:extLst>
              <a:ext uri="{FF2B5EF4-FFF2-40B4-BE49-F238E27FC236}">
                <a16:creationId xmlns:a16="http://schemas.microsoft.com/office/drawing/2014/main" id="{CE8FB49B-9519-FA6B-51D4-91AC8907B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524" y="3005818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2" name="Text Box 46">
            <a:extLst>
              <a:ext uri="{FF2B5EF4-FFF2-40B4-BE49-F238E27FC236}">
                <a16:creationId xmlns:a16="http://schemas.microsoft.com/office/drawing/2014/main" id="{D03600D4-B77C-B2E9-2FA2-5C3D19D22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268" y="3839488"/>
            <a:ext cx="2978699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prstClr val="black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面上找点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CC28431-ADBA-2A08-B7BF-0DECECAB8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784" y="5117193"/>
            <a:ext cx="40318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交点一般是可见和不可见的分界点</a:t>
            </a:r>
          </a:p>
        </p:txBody>
      </p:sp>
    </p:spTree>
    <p:extLst>
      <p:ext uri="{BB962C8B-B14F-4D97-AF65-F5344CB8AC3E}">
        <p14:creationId xmlns:p14="http://schemas.microsoft.com/office/powerpoint/2010/main" val="74658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 autoUpdateAnimBg="0"/>
      <p:bldP spid="68" grpId="0" animBg="1" autoUpdateAnimBg="0"/>
      <p:bldP spid="70" grpId="0" autoUpdateAnimBg="0"/>
      <p:bldP spid="71" grpId="0" autoUpdateAnimBg="0"/>
      <p:bldP spid="74" grpId="0" autoUpdateAnimBg="0"/>
      <p:bldP spid="75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utoUpdateAnimBg="0"/>
      <p:bldP spid="86" grpId="0" autoUpdateAnimBg="0"/>
      <p:bldP spid="87" grpId="0" autoUpdateAnimBg="0"/>
      <p:bldP spid="90" grpId="0" animBg="1"/>
      <p:bldP spid="91" grpId="0" animBg="1"/>
      <p:bldP spid="92" grpId="0" animBg="1" autoUpdateAnimBg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D1CFA-0D57-7B7A-C158-8E84F512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B4F28AF-A59E-73A9-B8EA-6565DE77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859C1B8-8D57-3DE9-5F8B-C78EAB91C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117381-96BF-CD10-A165-A0C3CA1DC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直线与平面相交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843FDE45-015F-6B4F-A885-D9278F21D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3426"/>
            <a:ext cx="54729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：利用积聚性，直线或平面处于特殊位置</a:t>
            </a: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D97177D2-794D-4E49-4315-3DCBDC0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60" y="2153536"/>
            <a:ext cx="11128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47">
            <a:extLst>
              <a:ext uri="{FF2B5EF4-FFF2-40B4-BE49-F238E27FC236}">
                <a16:creationId xmlns:a16="http://schemas.microsoft.com/office/drawing/2014/main" id="{308D0681-4926-6A1D-906D-B8F54C80E11C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4074961"/>
            <a:ext cx="3451225" cy="458787"/>
            <a:chOff x="2878" y="2025"/>
            <a:chExt cx="2174" cy="289"/>
          </a:xfrm>
        </p:grpSpPr>
        <p:sp>
          <p:nvSpPr>
            <p:cNvPr id="5" name="Line 48">
              <a:extLst>
                <a:ext uri="{FF2B5EF4-FFF2-40B4-BE49-F238E27FC236}">
                  <a16:creationId xmlns:a16="http://schemas.microsoft.com/office/drawing/2014/main" id="{2A68F2F3-E49A-D61C-5913-0848E7D1C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5" y="2280"/>
              <a:ext cx="17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6" name="Text Box 49">
              <a:extLst>
                <a:ext uri="{FF2B5EF4-FFF2-40B4-BE49-F238E27FC236}">
                  <a16:creationId xmlns:a16="http://schemas.microsoft.com/office/drawing/2014/main" id="{58A65EB6-18AF-4A25-3DA5-F3A0F72B7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" y="202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X 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7" name="Text Box 50">
              <a:extLst>
                <a:ext uri="{FF2B5EF4-FFF2-40B4-BE49-F238E27FC236}">
                  <a16:creationId xmlns:a16="http://schemas.microsoft.com/office/drawing/2014/main" id="{BDA2C469-4917-28B1-E827-CC5F9DB04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6" y="202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O </a:t>
              </a:r>
            </a:p>
          </p:txBody>
        </p: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AD0E01CD-876A-9F9C-BF56-F4E09D610244}"/>
              </a:ext>
            </a:extLst>
          </p:cNvPr>
          <p:cNvGrpSpPr>
            <a:grpSpLocks/>
          </p:cNvGrpSpPr>
          <p:nvPr/>
        </p:nvGrpSpPr>
        <p:grpSpPr bwMode="auto">
          <a:xfrm>
            <a:off x="1437060" y="2466823"/>
            <a:ext cx="1643063" cy="3440113"/>
            <a:chOff x="3398" y="1012"/>
            <a:chExt cx="1035" cy="2167"/>
          </a:xfrm>
        </p:grpSpPr>
        <p:sp>
          <p:nvSpPr>
            <p:cNvPr id="9" name="Line 52">
              <a:extLst>
                <a:ext uri="{FF2B5EF4-FFF2-40B4-BE49-F238E27FC236}">
                  <a16:creationId xmlns:a16="http://schemas.microsoft.com/office/drawing/2014/main" id="{F7C809A5-21BF-BD68-DB45-DF89F298F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6" y="1446"/>
              <a:ext cx="260" cy="4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0" name="Line 53">
              <a:extLst>
                <a:ext uri="{FF2B5EF4-FFF2-40B4-BE49-F238E27FC236}">
                  <a16:creationId xmlns:a16="http://schemas.microsoft.com/office/drawing/2014/main" id="{5A4D6454-ACD2-3DFF-E3B7-67E657A112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6" y="2598"/>
              <a:ext cx="552" cy="4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" name="Line 55">
              <a:extLst>
                <a:ext uri="{FF2B5EF4-FFF2-40B4-BE49-F238E27FC236}">
                  <a16:creationId xmlns:a16="http://schemas.microsoft.com/office/drawing/2014/main" id="{382234A9-D98D-1A8F-AD83-90958C5DD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8" y="2154"/>
              <a:ext cx="0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" name="Line 56">
              <a:extLst>
                <a:ext uri="{FF2B5EF4-FFF2-40B4-BE49-F238E27FC236}">
                  <a16:creationId xmlns:a16="http://schemas.microsoft.com/office/drawing/2014/main" id="{E7878988-5DC7-29B0-717E-A2F3756C3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" y="1246"/>
              <a:ext cx="116" cy="1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4" name="Line 57">
              <a:extLst>
                <a:ext uri="{FF2B5EF4-FFF2-40B4-BE49-F238E27FC236}">
                  <a16:creationId xmlns:a16="http://schemas.microsoft.com/office/drawing/2014/main" id="{F6365674-5D03-C7B0-1745-571B20DB0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6" y="1874"/>
              <a:ext cx="172" cy="2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5" name="Text Box 58">
              <a:extLst>
                <a:ext uri="{FF2B5EF4-FFF2-40B4-BE49-F238E27FC236}">
                  <a16:creationId xmlns:a16="http://schemas.microsoft.com/office/drawing/2014/main" id="{9F664391-4F77-A8BA-86D6-FEAD7D060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1012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d'</a:t>
              </a:r>
              <a:endParaRPr kumimoji="1" lang="en-US" altLang="zh-CN" sz="2400" kern="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16" name="Text Box 59">
              <a:extLst>
                <a:ext uri="{FF2B5EF4-FFF2-40B4-BE49-F238E27FC236}">
                  <a16:creationId xmlns:a16="http://schemas.microsoft.com/office/drawing/2014/main" id="{79E60B1F-C387-6C86-252C-D3C3E1C16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" y="2067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e'</a:t>
              </a:r>
              <a:endParaRPr kumimoji="1"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17" name="Text Box 60">
              <a:extLst>
                <a:ext uri="{FF2B5EF4-FFF2-40B4-BE49-F238E27FC236}">
                  <a16:creationId xmlns:a16="http://schemas.microsoft.com/office/drawing/2014/main" id="{72A1085D-D351-1355-D526-7B29CF48C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" y="2929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d</a:t>
              </a:r>
              <a:endParaRPr kumimoji="1"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18" name="Text Box 61">
              <a:extLst>
                <a:ext uri="{FF2B5EF4-FFF2-40B4-BE49-F238E27FC236}">
                  <a16:creationId xmlns:a16="http://schemas.microsoft.com/office/drawing/2014/main" id="{232EA002-8927-13BC-E5C0-125A03830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" y="2425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e</a:t>
              </a:r>
              <a:endParaRPr kumimoji="1"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</p:grpSp>
      <p:grpSp>
        <p:nvGrpSpPr>
          <p:cNvPr id="19" name="Group 63">
            <a:extLst>
              <a:ext uri="{FF2B5EF4-FFF2-40B4-BE49-F238E27FC236}">
                <a16:creationId xmlns:a16="http://schemas.microsoft.com/office/drawing/2014/main" id="{A779597B-250C-83FE-B64C-2AB4C7A6F49F}"/>
              </a:ext>
            </a:extLst>
          </p:cNvPr>
          <p:cNvGrpSpPr>
            <a:grpSpLocks/>
          </p:cNvGrpSpPr>
          <p:nvPr/>
        </p:nvGrpSpPr>
        <p:grpSpPr bwMode="auto">
          <a:xfrm>
            <a:off x="1179885" y="2509686"/>
            <a:ext cx="2255838" cy="3348037"/>
            <a:chOff x="3236" y="1039"/>
            <a:chExt cx="1421" cy="2109"/>
          </a:xfrm>
        </p:grpSpPr>
        <p:sp>
          <p:nvSpPr>
            <p:cNvPr id="20" name="Text Box 64">
              <a:extLst>
                <a:ext uri="{FF2B5EF4-FFF2-40B4-BE49-F238E27FC236}">
                  <a16:creationId xmlns:a16="http://schemas.microsoft.com/office/drawing/2014/main" id="{81F7614F-DC78-78AC-0C47-AB2E8D950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6" y="2469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21" name="Text Box 65">
              <a:extLst>
                <a:ext uri="{FF2B5EF4-FFF2-40B4-BE49-F238E27FC236}">
                  <a16:creationId xmlns:a16="http://schemas.microsoft.com/office/drawing/2014/main" id="{F8107634-293B-2378-AF35-A6AD79F09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2898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22" name="Text Box 66">
              <a:extLst>
                <a:ext uri="{FF2B5EF4-FFF2-40B4-BE49-F238E27FC236}">
                  <a16:creationId xmlns:a16="http://schemas.microsoft.com/office/drawing/2014/main" id="{7D1EC960-BBFF-6BC2-B19F-667D05898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" y="2663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23" name="Freeform 67">
              <a:extLst>
                <a:ext uri="{FF2B5EF4-FFF2-40B4-BE49-F238E27FC236}">
                  <a16:creationId xmlns:a16="http://schemas.microsoft.com/office/drawing/2014/main" id="{53B831FA-A174-BCDE-3A57-3342E4961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120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4" name="Line 68">
              <a:extLst>
                <a:ext uri="{FF2B5EF4-FFF2-40B4-BE49-F238E27FC236}">
                  <a16:creationId xmlns:a16="http://schemas.microsoft.com/office/drawing/2014/main" id="{7F63C10C-9663-9392-CE21-F98C82BDB3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8" y="1650"/>
              <a:ext cx="0" cy="9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5" name="Line 70">
              <a:extLst>
                <a:ext uri="{FF2B5EF4-FFF2-40B4-BE49-F238E27FC236}">
                  <a16:creationId xmlns:a16="http://schemas.microsoft.com/office/drawing/2014/main" id="{677F4094-96D2-B1BC-680B-95FD70D162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0" y="2042"/>
              <a:ext cx="0" cy="9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6" name="Line 71">
              <a:extLst>
                <a:ext uri="{FF2B5EF4-FFF2-40B4-BE49-F238E27FC236}">
                  <a16:creationId xmlns:a16="http://schemas.microsoft.com/office/drawing/2014/main" id="{79B03439-A2D9-9C02-55BB-1DA9230C6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8" y="2606"/>
              <a:ext cx="858" cy="3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7" name="Text Box 72">
              <a:extLst>
                <a:ext uri="{FF2B5EF4-FFF2-40B4-BE49-F238E27FC236}">
                  <a16:creationId xmlns:a16="http://schemas.microsoft.com/office/drawing/2014/main" id="{274C63C0-A29F-CF28-B3CB-37847A042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1473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a'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28" name="Text Box 73">
              <a:extLst>
                <a:ext uri="{FF2B5EF4-FFF2-40B4-BE49-F238E27FC236}">
                  <a16:creationId xmlns:a16="http://schemas.microsoft.com/office/drawing/2014/main" id="{2992DE6D-1884-10DF-994D-729421FBE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" y="1039"/>
              <a:ext cx="3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b'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29" name="Text Box 74">
              <a:extLst>
                <a:ext uri="{FF2B5EF4-FFF2-40B4-BE49-F238E27FC236}">
                  <a16:creationId xmlns:a16="http://schemas.microsoft.com/office/drawing/2014/main" id="{86F8A871-0039-2FF9-8740-66AEB2C40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7" y="1829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c'</a:t>
              </a:r>
              <a:endParaRPr kumimoji="1" lang="en-US" altLang="zh-CN" sz="2400" b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</p:grpSp>
      <p:sp>
        <p:nvSpPr>
          <p:cNvPr id="30" name="Line 76">
            <a:extLst>
              <a:ext uri="{FF2B5EF4-FFF2-40B4-BE49-F238E27FC236}">
                <a16:creationId xmlns:a16="http://schemas.microsoft.com/office/drawing/2014/main" id="{C25A12D8-45D9-2A07-2F3B-6C807F9BA2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5735" y="4460723"/>
            <a:ext cx="0" cy="831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1" name="Text Box 77">
            <a:extLst>
              <a:ext uri="{FF2B5EF4-FFF2-40B4-BE49-F238E27FC236}">
                <a16:creationId xmlns:a16="http://schemas.microsoft.com/office/drawing/2014/main" id="{14BC29EE-B099-8E66-5F14-E708B226E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060" y="5313211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k </a:t>
            </a:r>
          </a:p>
        </p:txBody>
      </p:sp>
      <p:sp>
        <p:nvSpPr>
          <p:cNvPr id="32" name="AutoShape 78">
            <a:extLst>
              <a:ext uri="{FF2B5EF4-FFF2-40B4-BE49-F238E27FC236}">
                <a16:creationId xmlns:a16="http://schemas.microsoft.com/office/drawing/2014/main" id="{EB58D4A6-6C17-D4E1-2AE1-5CCE5DEF3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6048" y="5259236"/>
            <a:ext cx="74612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3" name="Line 79">
            <a:extLst>
              <a:ext uri="{FF2B5EF4-FFF2-40B4-BE49-F238E27FC236}">
                <a16:creationId xmlns:a16="http://schemas.microsoft.com/office/drawing/2014/main" id="{4A1C4540-8FBF-E5D7-F7CF-8071782C8E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5735" y="3590773"/>
            <a:ext cx="0" cy="895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4" name="AutoShape 80">
            <a:extLst>
              <a:ext uri="{FF2B5EF4-FFF2-40B4-BE49-F238E27FC236}">
                <a16:creationId xmlns:a16="http://schemas.microsoft.com/office/drawing/2014/main" id="{6AFF8E65-F6BE-E776-C457-79A2CD7FF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635" y="3539973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5" name="Text Box 81">
            <a:extLst>
              <a:ext uri="{FF2B5EF4-FFF2-40B4-BE49-F238E27FC236}">
                <a16:creationId xmlns:a16="http://schemas.microsoft.com/office/drawing/2014/main" id="{D38A3580-E3D4-B4CF-983E-5EFAA9106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198" y="3246286"/>
            <a:ext cx="574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k'</a:t>
            </a:r>
          </a:p>
        </p:txBody>
      </p:sp>
      <p:sp>
        <p:nvSpPr>
          <p:cNvPr id="36" name="Text Box 82">
            <a:extLst>
              <a:ext uri="{FF2B5EF4-FFF2-40B4-BE49-F238E27FC236}">
                <a16:creationId xmlns:a16="http://schemas.microsoft.com/office/drawing/2014/main" id="{22211F0C-3893-78FF-9EDC-C509C2475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360" y="2954186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1’ 2’</a:t>
            </a:r>
          </a:p>
        </p:txBody>
      </p:sp>
      <p:sp>
        <p:nvSpPr>
          <p:cNvPr id="38" name="Line 83">
            <a:extLst>
              <a:ext uri="{FF2B5EF4-FFF2-40B4-BE49-F238E27FC236}">
                <a16:creationId xmlns:a16="http://schemas.microsoft.com/office/drawing/2014/main" id="{94210B23-360A-2657-713C-88D9455C2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7448" y="3144686"/>
            <a:ext cx="0" cy="2339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9" name="Text Box 85">
            <a:extLst>
              <a:ext uri="{FF2B5EF4-FFF2-40B4-BE49-F238E27FC236}">
                <a16:creationId xmlns:a16="http://schemas.microsoft.com/office/drawing/2014/main" id="{804B730C-C00F-0833-F532-168D4990A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573" y="4878236"/>
            <a:ext cx="390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1</a:t>
            </a:r>
          </a:p>
        </p:txBody>
      </p:sp>
      <p:sp>
        <p:nvSpPr>
          <p:cNvPr id="40" name="Text Box 87">
            <a:extLst>
              <a:ext uri="{FF2B5EF4-FFF2-40B4-BE49-F238E27FC236}">
                <a16:creationId xmlns:a16="http://schemas.microsoft.com/office/drawing/2014/main" id="{F4288707-FBDD-E84B-4D94-3ACD2842B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435" y="5481486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2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41" name="Text Box 88">
            <a:extLst>
              <a:ext uri="{FF2B5EF4-FFF2-40B4-BE49-F238E27FC236}">
                <a16:creationId xmlns:a16="http://schemas.microsoft.com/office/drawing/2014/main" id="{6C250C78-09B0-5651-DFCA-21D137F58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096" y="2892569"/>
            <a:ext cx="5148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latin typeface="ISOCPEUR" pitchFamily="34" charset="0"/>
              </a:rPr>
              <a:t>(  )</a:t>
            </a:r>
          </a:p>
        </p:txBody>
      </p:sp>
      <p:sp>
        <p:nvSpPr>
          <p:cNvPr id="42" name="Line 89">
            <a:extLst>
              <a:ext uri="{FF2B5EF4-FFF2-40B4-BE49-F238E27FC236}">
                <a16:creationId xmlns:a16="http://schemas.microsoft.com/office/drawing/2014/main" id="{95AA5B56-FA09-D277-CB91-4E8FB2E26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385" y="3152623"/>
            <a:ext cx="241300" cy="3873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3" name="Text Box 90">
            <a:extLst>
              <a:ext uri="{FF2B5EF4-FFF2-40B4-BE49-F238E27FC236}">
                <a16:creationId xmlns:a16="http://schemas.microsoft.com/office/drawing/2014/main" id="{92917E81-652B-1FFF-E09D-02207A0EE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337" y="3051783"/>
            <a:ext cx="4636509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0">
                <a:solidFill>
                  <a:prstClr val="black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ABC⊥H: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水平投影的交点即交点</a:t>
            </a:r>
          </a:p>
        </p:txBody>
      </p:sp>
      <p:sp>
        <p:nvSpPr>
          <p:cNvPr id="47" name="Line 97">
            <a:extLst>
              <a:ext uri="{FF2B5EF4-FFF2-40B4-BE49-F238E27FC236}">
                <a16:creationId xmlns:a16="http://schemas.microsoft.com/office/drawing/2014/main" id="{246AAEE9-0D69-9ECB-AF95-C5D4277F8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1610" y="3616173"/>
            <a:ext cx="117475" cy="18415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8" name="Line 98">
            <a:extLst>
              <a:ext uri="{FF2B5EF4-FFF2-40B4-BE49-F238E27FC236}">
                <a16:creationId xmlns:a16="http://schemas.microsoft.com/office/drawing/2014/main" id="{A37121DC-C060-A4C7-0E68-4D6DFEFC2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4785" y="3606648"/>
            <a:ext cx="13335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4" name="Text Box 22">
            <a:extLst>
              <a:ext uri="{FF2B5EF4-FFF2-40B4-BE49-F238E27FC236}">
                <a16:creationId xmlns:a16="http://schemas.microsoft.com/office/drawing/2014/main" id="{E8DC49ED-D8E6-BF32-EEA6-0A37A749D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9851" y="4279485"/>
            <a:ext cx="3294492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prstClr val="black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判断可见性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利用重影点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 Box 46">
            <a:extLst>
              <a:ext uri="{FF2B5EF4-FFF2-40B4-BE49-F238E27FC236}">
                <a16:creationId xmlns:a16="http://schemas.microsoft.com/office/drawing/2014/main" id="{61BBFD2B-9B8D-C04A-50A1-FE53057D1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9850" y="3670948"/>
            <a:ext cx="2978699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prstClr val="black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线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上找点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2049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  <p:bldP spid="32" grpId="0" animBg="1"/>
      <p:bldP spid="34" grpId="0" animBg="1"/>
      <p:bldP spid="35" grpId="0" autoUpdateAnimBg="0"/>
      <p:bldP spid="36" grpId="0" autoUpdateAnimBg="0"/>
      <p:bldP spid="39" grpId="0" autoUpdateAnimBg="0"/>
      <p:bldP spid="40" grpId="0" autoUpdateAnimBg="0"/>
      <p:bldP spid="41" grpId="0" autoUpdateAnimBg="0"/>
      <p:bldP spid="43" grpId="0" animBg="1" autoUpdateAnimBg="0"/>
      <p:bldP spid="94" grpId="0" animBg="1" autoUpdateAnimBg="0"/>
      <p:bldP spid="95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59BB-EC45-B4B3-5DF3-328CB021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F2EAB68-9B4B-CC96-540B-B349C4C1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22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62670698-E230-82CC-A4B7-EDACB28B8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2C58D5-65E8-9CBB-F105-826D70B92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直线与平面相交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6C2294A-DCB1-62B9-C6EC-13F1C6E8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62424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：利用辅助平面法，直线和平面都处在一般位置</a:t>
            </a: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F9581BDB-41F5-C90A-32E4-533A62D1CC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20445" y="2726437"/>
            <a:ext cx="361950" cy="476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0EACA11-7CC8-6CE4-5C86-F04D5C888046}"/>
              </a:ext>
            </a:extLst>
          </p:cNvPr>
          <p:cNvSpPr>
            <a:spLocks/>
          </p:cNvSpPr>
          <p:nvPr/>
        </p:nvSpPr>
        <p:spPr bwMode="auto">
          <a:xfrm>
            <a:off x="1423620" y="2732787"/>
            <a:ext cx="1835150" cy="1136650"/>
          </a:xfrm>
          <a:custGeom>
            <a:avLst/>
            <a:gdLst>
              <a:gd name="T0" fmla="*/ 0 w 1156"/>
              <a:gd name="T1" fmla="*/ 469900 h 716"/>
              <a:gd name="T2" fmla="*/ 361950 w 1156"/>
              <a:gd name="T3" fmla="*/ 0 h 716"/>
              <a:gd name="T4" fmla="*/ 1835150 w 1156"/>
              <a:gd name="T5" fmla="*/ 660400 h 716"/>
              <a:gd name="T6" fmla="*/ 692150 w 1156"/>
              <a:gd name="T7" fmla="*/ 1136650 h 716"/>
              <a:gd name="T8" fmla="*/ 0 w 1156"/>
              <a:gd name="T9" fmla="*/ 469900 h 7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6"/>
              <a:gd name="T16" fmla="*/ 0 h 716"/>
              <a:gd name="T17" fmla="*/ 1156 w 1156"/>
              <a:gd name="T18" fmla="*/ 716 h 7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6" h="716">
                <a:moveTo>
                  <a:pt x="0" y="296"/>
                </a:moveTo>
                <a:lnTo>
                  <a:pt x="228" y="0"/>
                </a:lnTo>
                <a:lnTo>
                  <a:pt x="1156" y="416"/>
                </a:lnTo>
                <a:lnTo>
                  <a:pt x="436" y="716"/>
                </a:lnTo>
                <a:lnTo>
                  <a:pt x="0" y="296"/>
                </a:lnTo>
                <a:close/>
              </a:path>
            </a:pathLst>
          </a:custGeom>
          <a:solidFill>
            <a:srgbClr val="DBBBD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1455FBEF-3988-97D6-8121-5B868CE74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2870" y="2726437"/>
            <a:ext cx="1485900" cy="666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8BD0969-CD24-8CCC-597E-E6F2343BDC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070" y="3393187"/>
            <a:ext cx="2933700" cy="1219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9" name="Group 10">
            <a:extLst>
              <a:ext uri="{FF2B5EF4-FFF2-40B4-BE49-F238E27FC236}">
                <a16:creationId xmlns:a16="http://schemas.microsoft.com/office/drawing/2014/main" id="{8362EF22-72AA-3C83-69BB-DD8F7AEFEBE9}"/>
              </a:ext>
            </a:extLst>
          </p:cNvPr>
          <p:cNvGrpSpPr>
            <a:grpSpLocks/>
          </p:cNvGrpSpPr>
          <p:nvPr/>
        </p:nvGrpSpPr>
        <p:grpSpPr bwMode="auto">
          <a:xfrm>
            <a:off x="831482" y="2543875"/>
            <a:ext cx="1519238" cy="2547937"/>
            <a:chOff x="3555" y="975"/>
            <a:chExt cx="957" cy="1977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223F369-0167-A1E2-1848-D138E3EF7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1032"/>
              <a:ext cx="924" cy="1920"/>
            </a:xfrm>
            <a:custGeom>
              <a:avLst/>
              <a:gdLst>
                <a:gd name="T0" fmla="*/ 0 w 924"/>
                <a:gd name="T1" fmla="*/ 0 h 1920"/>
                <a:gd name="T2" fmla="*/ 924 w 924"/>
                <a:gd name="T3" fmla="*/ 312 h 1920"/>
                <a:gd name="T4" fmla="*/ 924 w 924"/>
                <a:gd name="T5" fmla="*/ 1920 h 1920"/>
                <a:gd name="T6" fmla="*/ 0 w 924"/>
                <a:gd name="T7" fmla="*/ 1608 h 1920"/>
                <a:gd name="T8" fmla="*/ 0 w 924"/>
                <a:gd name="T9" fmla="*/ 0 h 19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4"/>
                <a:gd name="T16" fmla="*/ 0 h 1920"/>
                <a:gd name="T17" fmla="*/ 924 w 924"/>
                <a:gd name="T18" fmla="*/ 1920 h 19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4" h="1920">
                  <a:moveTo>
                    <a:pt x="0" y="0"/>
                  </a:moveTo>
                  <a:lnTo>
                    <a:pt x="924" y="312"/>
                  </a:lnTo>
                  <a:lnTo>
                    <a:pt x="924" y="1920"/>
                  </a:lnTo>
                  <a:lnTo>
                    <a:pt x="0" y="1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FF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11D3211-8975-3B09-6E67-C43765561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1032"/>
              <a:ext cx="924" cy="1920"/>
            </a:xfrm>
            <a:custGeom>
              <a:avLst/>
              <a:gdLst>
                <a:gd name="T0" fmla="*/ 0 w 924"/>
                <a:gd name="T1" fmla="*/ 0 h 1920"/>
                <a:gd name="T2" fmla="*/ 924 w 924"/>
                <a:gd name="T3" fmla="*/ 312 h 1920"/>
                <a:gd name="T4" fmla="*/ 924 w 924"/>
                <a:gd name="T5" fmla="*/ 1920 h 1920"/>
                <a:gd name="T6" fmla="*/ 0 60000 65536"/>
                <a:gd name="T7" fmla="*/ 0 60000 65536"/>
                <a:gd name="T8" fmla="*/ 0 60000 65536"/>
                <a:gd name="T9" fmla="*/ 0 w 924"/>
                <a:gd name="T10" fmla="*/ 0 h 1920"/>
                <a:gd name="T11" fmla="*/ 924 w 924"/>
                <a:gd name="T12" fmla="*/ 1920 h 19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4" h="1920">
                  <a:moveTo>
                    <a:pt x="0" y="0"/>
                  </a:moveTo>
                  <a:lnTo>
                    <a:pt x="924" y="312"/>
                  </a:lnTo>
                  <a:lnTo>
                    <a:pt x="924" y="19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A44A2AA2-9EBC-78DF-6003-FC63B69B4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5" y="975"/>
              <a:ext cx="219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P</a:t>
              </a:r>
            </a:p>
          </p:txBody>
        </p:sp>
      </p:grpSp>
      <p:sp>
        <p:nvSpPr>
          <p:cNvPr id="14" name="Line 14">
            <a:extLst>
              <a:ext uri="{FF2B5EF4-FFF2-40B4-BE49-F238E27FC236}">
                <a16:creationId xmlns:a16="http://schemas.microsoft.com/office/drawing/2014/main" id="{4175CD29-C2E1-F44A-51C8-CF427D7C51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2395" y="3085212"/>
            <a:ext cx="246062" cy="469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7F177642-BA32-924E-03CA-F21CABACB8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15670" y="3555112"/>
            <a:ext cx="466725" cy="9334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FB72793-4AB0-8B3F-AF7D-675D84291E62}"/>
              </a:ext>
            </a:extLst>
          </p:cNvPr>
          <p:cNvSpPr>
            <a:spLocks/>
          </p:cNvSpPr>
          <p:nvPr/>
        </p:nvSpPr>
        <p:spPr bwMode="auto">
          <a:xfrm>
            <a:off x="337770" y="3202687"/>
            <a:ext cx="1784350" cy="1397000"/>
          </a:xfrm>
          <a:custGeom>
            <a:avLst/>
            <a:gdLst>
              <a:gd name="T0" fmla="*/ 1092200 w 1124"/>
              <a:gd name="T1" fmla="*/ 0 h 880"/>
              <a:gd name="T2" fmla="*/ 1784350 w 1124"/>
              <a:gd name="T3" fmla="*/ 660400 h 880"/>
              <a:gd name="T4" fmla="*/ 0 w 1124"/>
              <a:gd name="T5" fmla="*/ 1397000 h 880"/>
              <a:gd name="T6" fmla="*/ 1092200 w 1124"/>
              <a:gd name="T7" fmla="*/ 0 h 880"/>
              <a:gd name="T8" fmla="*/ 0 60000 65536"/>
              <a:gd name="T9" fmla="*/ 0 60000 65536"/>
              <a:gd name="T10" fmla="*/ 0 60000 65536"/>
              <a:gd name="T11" fmla="*/ 0 60000 65536"/>
              <a:gd name="T12" fmla="*/ 0 w 1124"/>
              <a:gd name="T13" fmla="*/ 0 h 880"/>
              <a:gd name="T14" fmla="*/ 1124 w 1124"/>
              <a:gd name="T15" fmla="*/ 880 h 8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4" h="880">
                <a:moveTo>
                  <a:pt x="688" y="0"/>
                </a:moveTo>
                <a:lnTo>
                  <a:pt x="1124" y="416"/>
                </a:lnTo>
                <a:lnTo>
                  <a:pt x="0" y="880"/>
                </a:lnTo>
                <a:lnTo>
                  <a:pt x="688" y="0"/>
                </a:lnTo>
                <a:close/>
              </a:path>
            </a:pathLst>
          </a:custGeom>
          <a:solidFill>
            <a:srgbClr val="DBBBD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75790627-F624-AAC2-2AF5-14A5EF5B2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0445" y="3212212"/>
            <a:ext cx="695325" cy="65722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96613ACB-B3C1-6DAE-D3DF-32DBB3A66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895" y="2999487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E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36D186D5-5B17-A45F-1B0F-D5F91ECF6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357" y="4456812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F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2DAFE2B7-76C1-1489-7559-B3F4DB0B2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795" y="2999487"/>
            <a:ext cx="322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M</a:t>
            </a: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F2E64C3C-EA1C-35BE-9F3B-0C6EEBC04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145" y="3875787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N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4C6B3DA7-95C6-4B75-0A35-B34DF4CEA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770" y="3517012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3581964B-E1EE-9CC4-A333-C67F9699E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195" y="3418587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K</a:t>
            </a: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27CBDDF0-B5B8-B3ED-6760-DEBD27AEA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35" y="4617622"/>
            <a:ext cx="322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A</a:t>
            </a: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12C8E3AD-2C9D-AAC3-91E3-7ECD2FFE2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370" y="2389887"/>
            <a:ext cx="35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B</a:t>
            </a: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C41CF92D-20B3-47D2-817C-F89E3ECB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495" y="3361437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C</a:t>
            </a:r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DF0346DA-64B4-3617-6292-9243BE9E4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070" y="3202687"/>
            <a:ext cx="1095375" cy="1400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8" name="Line 87">
            <a:extLst>
              <a:ext uri="{FF2B5EF4-FFF2-40B4-BE49-F238E27FC236}">
                <a16:creationId xmlns:a16="http://schemas.microsoft.com/office/drawing/2014/main" id="{2E8D14F4-42CC-E8F0-B9C8-5A5A76DBD1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2520" y="3609087"/>
            <a:ext cx="241300" cy="495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9" name="Text Box 89">
            <a:extLst>
              <a:ext uri="{FF2B5EF4-FFF2-40B4-BE49-F238E27FC236}">
                <a16:creationId xmlns:a16="http://schemas.microsoft.com/office/drawing/2014/main" id="{F2D21287-6BF2-B47F-599D-E80BE83D6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2380535"/>
            <a:ext cx="3751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交点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800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与直线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的公有点</a:t>
            </a:r>
          </a:p>
        </p:txBody>
      </p:sp>
      <p:sp>
        <p:nvSpPr>
          <p:cNvPr id="30" name="Text Box 90">
            <a:extLst>
              <a:ext uri="{FF2B5EF4-FFF2-40B4-BE49-F238E27FC236}">
                <a16:creationId xmlns:a16="http://schemas.microsoft.com/office/drawing/2014/main" id="{7BBDB5A5-FA3F-A833-7DED-1B6F65A0B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2796659"/>
            <a:ext cx="27703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辅助平面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P⊥H</a:t>
            </a:r>
          </a:p>
        </p:txBody>
      </p:sp>
      <p:sp>
        <p:nvSpPr>
          <p:cNvPr id="31" name="Text Box 91">
            <a:extLst>
              <a:ext uri="{FF2B5EF4-FFF2-40B4-BE49-F238E27FC236}">
                <a16:creationId xmlns:a16="http://schemas.microsoft.com/office/drawing/2014/main" id="{84DD6E62-9CD5-F4BF-B02E-64BC65208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3212783"/>
            <a:ext cx="34483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defRPr kumimoji="1" sz="2200" b="0">
                <a:solidFill>
                  <a:prstClr val="black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en-US" altLang="zh-CN" sz="1800" b="1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与平面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相交于直线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</a:t>
            </a:r>
          </a:p>
        </p:txBody>
      </p:sp>
      <p:sp>
        <p:nvSpPr>
          <p:cNvPr id="32" name="Text Box 92">
            <a:extLst>
              <a:ext uri="{FF2B5EF4-FFF2-40B4-BE49-F238E27FC236}">
                <a16:creationId xmlns:a16="http://schemas.microsoft.com/office/drawing/2014/main" id="{43B7C195-35A1-FDAA-DB78-247EF6DD7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3628907"/>
            <a:ext cx="29209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MN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共面于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，交于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sp>
        <p:nvSpPr>
          <p:cNvPr id="33" name="Text Box 93">
            <a:extLst>
              <a:ext uri="{FF2B5EF4-FFF2-40B4-BE49-F238E27FC236}">
                <a16:creationId xmlns:a16="http://schemas.microsoft.com/office/drawing/2014/main" id="{9910B20F-A5BB-BA59-B0DE-958528B88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4045029"/>
            <a:ext cx="49430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K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既在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上，又在</a:t>
            </a:r>
            <a:r>
              <a:rPr lang="en-US" altLang="zh-CN" sz="1800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上，交点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即为 </a:t>
            </a:r>
            <a:endParaRPr lang="en-US" altLang="zh-CN" sz="1800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18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800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与直线</a:t>
            </a:r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的交点。</a:t>
            </a:r>
          </a:p>
        </p:txBody>
      </p:sp>
      <p:grpSp>
        <p:nvGrpSpPr>
          <p:cNvPr id="34" name="Group 98">
            <a:extLst>
              <a:ext uri="{FF2B5EF4-FFF2-40B4-BE49-F238E27FC236}">
                <a16:creationId xmlns:a16="http://schemas.microsoft.com/office/drawing/2014/main" id="{B390F2DB-F302-02F1-77F6-C3C2A492458D}"/>
              </a:ext>
            </a:extLst>
          </p:cNvPr>
          <p:cNvGrpSpPr>
            <a:grpSpLocks/>
          </p:cNvGrpSpPr>
          <p:nvPr/>
        </p:nvGrpSpPr>
        <p:grpSpPr bwMode="auto">
          <a:xfrm>
            <a:off x="1442670" y="3418587"/>
            <a:ext cx="373062" cy="366713"/>
            <a:chOff x="4651" y="2912"/>
            <a:chExt cx="235" cy="231"/>
          </a:xfrm>
        </p:grpSpPr>
        <p:sp>
          <p:nvSpPr>
            <p:cNvPr id="35" name="AutoShape 99">
              <a:extLst>
                <a:ext uri="{FF2B5EF4-FFF2-40B4-BE49-F238E27FC236}">
                  <a16:creationId xmlns:a16="http://schemas.microsoft.com/office/drawing/2014/main" id="{9C45243C-3549-271D-7A10-E3ADC1403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9" y="2974"/>
              <a:ext cx="47" cy="47"/>
            </a:xfrm>
            <a:prstGeom prst="flowChartConnector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" name="Text Box 100">
              <a:extLst>
                <a:ext uri="{FF2B5EF4-FFF2-40B4-BE49-F238E27FC236}">
                  <a16:creationId xmlns:a16="http://schemas.microsoft.com/office/drawing/2014/main" id="{10DCB580-F6BC-8725-04F3-26864C8D0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1" y="2912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i="1" kern="0">
                  <a:solidFill>
                    <a:srgbClr val="000000"/>
                  </a:solidFill>
                  <a:latin typeface="ISOCPEUR" pitchFamily="34" charset="0"/>
                </a:rPr>
                <a:t>K</a:t>
              </a:r>
              <a:endParaRPr lang="en-US" altLang="zh-CN" sz="2400" b="1" i="1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</p:grpSp>
      <p:sp>
        <p:nvSpPr>
          <p:cNvPr id="38" name="Text Box 89">
            <a:extLst>
              <a:ext uri="{FF2B5EF4-FFF2-40B4-BE49-F238E27FC236}">
                <a16:creationId xmlns:a16="http://schemas.microsoft.com/office/drawing/2014/main" id="{2E51B3EE-2882-306D-BE6A-FB424656E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4992641"/>
            <a:ext cx="474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包含已知直线作辅助平面（特殊位置平面）</a:t>
            </a:r>
          </a:p>
        </p:txBody>
      </p:sp>
      <p:sp>
        <p:nvSpPr>
          <p:cNvPr id="39" name="Text Box 90">
            <a:extLst>
              <a:ext uri="{FF2B5EF4-FFF2-40B4-BE49-F238E27FC236}">
                <a16:creationId xmlns:a16="http://schemas.microsoft.com/office/drawing/2014/main" id="{381353BE-F1BD-9E04-594C-7F9111D68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5431518"/>
            <a:ext cx="33554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8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求辅助平面与已知平面的交线</a:t>
            </a:r>
            <a:endParaRPr lang="en-US" altLang="zh-CN" sz="1800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Box 91">
            <a:extLst>
              <a:ext uri="{FF2B5EF4-FFF2-40B4-BE49-F238E27FC236}">
                <a16:creationId xmlns:a16="http://schemas.microsoft.com/office/drawing/2014/main" id="{1C211FDF-B9F6-4B8F-A420-E74AE4856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995" y="5870395"/>
            <a:ext cx="34243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defRPr kumimoji="1" sz="2200" b="0">
                <a:solidFill>
                  <a:prstClr val="black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求出此交线与已知直线的交点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89">
            <a:extLst>
              <a:ext uri="{FF2B5EF4-FFF2-40B4-BE49-F238E27FC236}">
                <a16:creationId xmlns:a16="http://schemas.microsoft.com/office/drawing/2014/main" id="{214B1F9D-7366-5B5C-6E9A-031111D89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185" y="5385351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作图步骤</a:t>
            </a:r>
            <a:endParaRPr lang="zh-CN" altLang="en-US" sz="2200" b="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121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  <p:bldP spid="20" grpId="0" autoUpdateAnimBg="0"/>
      <p:bldP spid="21" grpId="0" autoUpdateAnimBg="0"/>
      <p:bldP spid="22" grpId="0" animBg="1"/>
      <p:bldP spid="23" grpId="0" autoUpdateAnimBg="0"/>
      <p:bldP spid="29" grpId="0"/>
      <p:bldP spid="30" grpId="0"/>
      <p:bldP spid="31" grpId="0"/>
      <p:bldP spid="32" grpId="0"/>
      <p:bldP spid="33" grpId="0"/>
      <p:bldP spid="38" grpId="0" autoUpdateAnimBg="0"/>
      <p:bldP spid="39" grpId="0" autoUpdateAnimBg="0"/>
      <p:bldP spid="40" grpId="0" autoUpdateAnimBg="0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3831-0D02-FFCB-57E9-B5125451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83A6A2D-EE72-F92D-802D-D0063438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23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DCC3C0A0-9A91-B789-9013-89A6C51D0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BAB42A-CB05-8F01-CEAB-6F2493F75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直线与平面相交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F8F4249-FC02-9ACB-798B-54E010B5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62424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：利用辅助平面法，直线和平面都处在一般位置</a:t>
            </a:r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CC4D317D-28A7-8857-70CB-CE5B4701381B}"/>
              </a:ext>
            </a:extLst>
          </p:cNvPr>
          <p:cNvGrpSpPr>
            <a:grpSpLocks/>
          </p:cNvGrpSpPr>
          <p:nvPr/>
        </p:nvGrpSpPr>
        <p:grpSpPr bwMode="auto">
          <a:xfrm>
            <a:off x="713066" y="2470348"/>
            <a:ext cx="3433763" cy="3541713"/>
            <a:chOff x="540" y="876"/>
            <a:chExt cx="2163" cy="2231"/>
          </a:xfrm>
        </p:grpSpPr>
        <p:sp>
          <p:nvSpPr>
            <p:cNvPr id="5" name="Line 30">
              <a:extLst>
                <a:ext uri="{FF2B5EF4-FFF2-40B4-BE49-F238E27FC236}">
                  <a16:creationId xmlns:a16="http://schemas.microsoft.com/office/drawing/2014/main" id="{AE3A5778-7848-75A8-206D-F57A669C6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176"/>
              <a:ext cx="0" cy="1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" name="Line 31">
              <a:extLst>
                <a:ext uri="{FF2B5EF4-FFF2-40B4-BE49-F238E27FC236}">
                  <a16:creationId xmlns:a16="http://schemas.microsoft.com/office/drawing/2014/main" id="{D4275158-4DE8-C743-F9BD-998737B69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1704"/>
              <a:ext cx="0" cy="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" name="Line 32">
              <a:extLst>
                <a:ext uri="{FF2B5EF4-FFF2-40B4-BE49-F238E27FC236}">
                  <a16:creationId xmlns:a16="http://schemas.microsoft.com/office/drawing/2014/main" id="{15CE04DC-2FB1-5EA1-0CC0-59A1A844B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" y="1506"/>
              <a:ext cx="0" cy="13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" name="Line 33">
              <a:extLst>
                <a:ext uri="{FF2B5EF4-FFF2-40B4-BE49-F238E27FC236}">
                  <a16:creationId xmlns:a16="http://schemas.microsoft.com/office/drawing/2014/main" id="{349BF3AD-607C-AA7C-9833-CCDEB6BD8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2" y="1881"/>
              <a:ext cx="4" cy="7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" name="Text Box 34">
              <a:extLst>
                <a:ext uri="{FF2B5EF4-FFF2-40B4-BE49-F238E27FC236}">
                  <a16:creationId xmlns:a16="http://schemas.microsoft.com/office/drawing/2014/main" id="{25063F24-49AE-118C-1539-CCF8102EB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" y="133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kumimoji="1" lang="en-US" altLang="zh-CN" sz="2000" b="1" i="1" kern="0" dirty="0">
                  <a:solidFill>
                    <a:srgbClr val="000000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 Box 35">
              <a:extLst>
                <a:ext uri="{FF2B5EF4-FFF2-40B4-BE49-F238E27FC236}">
                  <a16:creationId xmlns:a16="http://schemas.microsoft.com/office/drawing/2014/main" id="{9CB87D87-A34E-E2E0-8A0D-4EB4715C7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6" y="1680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</a:t>
              </a:r>
              <a:r>
                <a:rPr kumimoji="1" lang="en-US" altLang="zh-CN" sz="2000" b="1" i="1" kern="0" dirty="0">
                  <a:solidFill>
                    <a:srgbClr val="000000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ext Box 36">
              <a:extLst>
                <a:ext uri="{FF2B5EF4-FFF2-40B4-BE49-F238E27FC236}">
                  <a16:creationId xmlns:a16="http://schemas.microsoft.com/office/drawing/2014/main" id="{557BC805-867C-42F0-6A01-EA5328691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" y="876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</a:t>
              </a:r>
              <a:r>
                <a:rPr kumimoji="1" lang="en-US" altLang="zh-CN" sz="2000" b="1" i="1" kern="0" dirty="0">
                  <a:solidFill>
                    <a:srgbClr val="000000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 Box 37">
              <a:extLst>
                <a:ext uri="{FF2B5EF4-FFF2-40B4-BE49-F238E27FC236}">
                  <a16:creationId xmlns:a16="http://schemas.microsoft.com/office/drawing/2014/main" id="{4A533EEF-EBC7-8F51-FFD2-307AB2D3F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" y="281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4" name="Text Box 38">
              <a:extLst>
                <a:ext uri="{FF2B5EF4-FFF2-40B4-BE49-F238E27FC236}">
                  <a16:creationId xmlns:a16="http://schemas.microsoft.com/office/drawing/2014/main" id="{0F150027-16BF-A813-1671-DCFA9C2FB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6" y="1939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b </a:t>
              </a:r>
            </a:p>
          </p:txBody>
        </p:sp>
        <p:sp>
          <p:nvSpPr>
            <p:cNvPr id="15" name="Text Box 39">
              <a:extLst>
                <a:ext uri="{FF2B5EF4-FFF2-40B4-BE49-F238E27FC236}">
                  <a16:creationId xmlns:a16="http://schemas.microsoft.com/office/drawing/2014/main" id="{4A896476-BD46-D84C-9983-8071D38A0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6" y="2496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c </a:t>
              </a:r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55B136C5-6267-5DC6-2952-6165593A7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105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ED699B39-2B7D-4307-921C-27E9E41232E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10" y="2130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8" name="Text Box 42">
              <a:extLst>
                <a:ext uri="{FF2B5EF4-FFF2-40B4-BE49-F238E27FC236}">
                  <a16:creationId xmlns:a16="http://schemas.microsoft.com/office/drawing/2014/main" id="{0B3C14F8-7B85-6204-40C9-E0622A738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" y="175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X </a:t>
              </a:r>
            </a:p>
          </p:txBody>
        </p:sp>
        <p:sp>
          <p:nvSpPr>
            <p:cNvPr id="19" name="Text Box 43">
              <a:extLst>
                <a:ext uri="{FF2B5EF4-FFF2-40B4-BE49-F238E27FC236}">
                  <a16:creationId xmlns:a16="http://schemas.microsoft.com/office/drawing/2014/main" id="{A4F89E4E-3369-FCF7-91F5-9AB8B4104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749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O </a:t>
              </a:r>
            </a:p>
          </p:txBody>
        </p:sp>
        <p:sp>
          <p:nvSpPr>
            <p:cNvPr id="20" name="Line 44">
              <a:extLst>
                <a:ext uri="{FF2B5EF4-FFF2-40B4-BE49-F238E27FC236}">
                  <a16:creationId xmlns:a16="http://schemas.microsoft.com/office/drawing/2014/main" id="{98F94725-51A4-70FF-387E-4DBF6AC47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" y="2004"/>
              <a:ext cx="17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1" name="Text Box 46">
              <a:extLst>
                <a:ext uri="{FF2B5EF4-FFF2-40B4-BE49-F238E27FC236}">
                  <a16:creationId xmlns:a16="http://schemas.microsoft.com/office/drawing/2014/main" id="{E34620A0-7485-6595-17FF-59673F364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" y="967"/>
              <a:ext cx="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e</a:t>
              </a:r>
              <a:r>
                <a:rPr kumimoji="1" lang="en-US" altLang="zh-CN" sz="2000" b="1" i="1" kern="0" dirty="0">
                  <a:solidFill>
                    <a:srgbClr val="000000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kern="0" dirty="0">
                <a:solidFill>
                  <a:srgbClr val="3333CC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Text Box 47">
              <a:extLst>
                <a:ext uri="{FF2B5EF4-FFF2-40B4-BE49-F238E27FC236}">
                  <a16:creationId xmlns:a16="http://schemas.microsoft.com/office/drawing/2014/main" id="{DEF99496-DCEE-56B8-F82A-1323949EC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" y="1537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f</a:t>
              </a:r>
              <a:r>
                <a:rPr kumimoji="1" lang="en-US" altLang="zh-CN" sz="2000" b="1" i="1" kern="0" dirty="0">
                  <a:solidFill>
                    <a:srgbClr val="000000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1" lang="en-US" altLang="zh-CN" sz="2400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 Box 48">
              <a:extLst>
                <a:ext uri="{FF2B5EF4-FFF2-40B4-BE49-F238E27FC236}">
                  <a16:creationId xmlns:a16="http://schemas.microsoft.com/office/drawing/2014/main" id="{337FC916-0B0F-D644-B597-2EFEB415D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2179"/>
              <a:ext cx="3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f</a:t>
              </a:r>
              <a:endParaRPr kumimoji="1"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24" name="Text Box 49">
              <a:extLst>
                <a:ext uri="{FF2B5EF4-FFF2-40B4-BE49-F238E27FC236}">
                  <a16:creationId xmlns:a16="http://schemas.microsoft.com/office/drawing/2014/main" id="{0FA7F99D-E0FC-1A83-A24A-407A58E3D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2857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ISOCPEUR" pitchFamily="34" charset="0"/>
                  <a:ea typeface="仿宋_GB2312" pitchFamily="49" charset="-122"/>
                </a:rPr>
                <a:t>e</a:t>
              </a:r>
              <a:endParaRPr lang="en-US" altLang="zh-CN" sz="2400" kern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25" name="Line 50">
              <a:extLst>
                <a:ext uri="{FF2B5EF4-FFF2-40B4-BE49-F238E27FC236}">
                  <a16:creationId xmlns:a16="http://schemas.microsoft.com/office/drawing/2014/main" id="{18ED5A85-D38E-9C80-4691-3B2EA0440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4" y="1176"/>
              <a:ext cx="464" cy="1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" name="Line 51">
              <a:extLst>
                <a:ext uri="{FF2B5EF4-FFF2-40B4-BE49-F238E27FC236}">
                  <a16:creationId xmlns:a16="http://schemas.microsoft.com/office/drawing/2014/main" id="{368EFFB2-DC3E-B04E-5105-5703459B84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8" y="1560"/>
              <a:ext cx="352" cy="1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" name="Line 52">
              <a:extLst>
                <a:ext uri="{FF2B5EF4-FFF2-40B4-BE49-F238E27FC236}">
                  <a16:creationId xmlns:a16="http://schemas.microsoft.com/office/drawing/2014/main" id="{3870081E-117B-2276-FE2E-EF2997DCD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70" y="2686"/>
              <a:ext cx="438" cy="2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8" name="Line 53">
              <a:extLst>
                <a:ext uri="{FF2B5EF4-FFF2-40B4-BE49-F238E27FC236}">
                  <a16:creationId xmlns:a16="http://schemas.microsoft.com/office/drawing/2014/main" id="{1DAB88AB-48F5-E1A4-0D0F-879DDEF4B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2232"/>
              <a:ext cx="481" cy="2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29" name="Line 54">
            <a:extLst>
              <a:ext uri="{FF2B5EF4-FFF2-40B4-BE49-F238E27FC236}">
                <a16:creationId xmlns:a16="http://schemas.microsoft.com/office/drawing/2014/main" id="{6F06A23C-6B38-3692-C1BB-9392B6B57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7841" y="5702498"/>
            <a:ext cx="803275" cy="3968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" name="Text Box 55">
            <a:extLst>
              <a:ext uri="{FF2B5EF4-FFF2-40B4-BE49-F238E27FC236}">
                <a16:creationId xmlns:a16="http://schemas.microsoft.com/office/drawing/2014/main" id="{FC82F93E-DEB1-0657-B239-48DFD053B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0091" y="5570736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P</a:t>
            </a:r>
            <a:r>
              <a:rPr lang="en-US" altLang="zh-CN" i="1" baseline="-8000">
                <a:solidFill>
                  <a:prstClr val="black"/>
                </a:solidFill>
                <a:latin typeface="ISOCPEUR" pitchFamily="34" charset="0"/>
              </a:rPr>
              <a:t>H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31" name="Text Box 56">
            <a:extLst>
              <a:ext uri="{FF2B5EF4-FFF2-40B4-BE49-F238E27FC236}">
                <a16:creationId xmlns:a16="http://schemas.microsoft.com/office/drawing/2014/main" id="{179D1D9C-F506-B06E-40B2-4A786B334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304" y="4621411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m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32" name="Text Box 57">
            <a:extLst>
              <a:ext uri="{FF2B5EF4-FFF2-40B4-BE49-F238E27FC236}">
                <a16:creationId xmlns:a16="http://schemas.microsoft.com/office/drawing/2014/main" id="{00CB3CC1-0AEA-BB27-B772-021A509D1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979" y="5329436"/>
            <a:ext cx="41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n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33" name="Line 58">
            <a:extLst>
              <a:ext uri="{FF2B5EF4-FFF2-40B4-BE49-F238E27FC236}">
                <a16:creationId xmlns:a16="http://schemas.microsoft.com/office/drawing/2014/main" id="{1740B3FC-6DC4-0489-7375-246E45C347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7041" y="4237236"/>
            <a:ext cx="0" cy="78105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4" name="Line 59">
            <a:extLst>
              <a:ext uri="{FF2B5EF4-FFF2-40B4-BE49-F238E27FC236}">
                <a16:creationId xmlns:a16="http://schemas.microsoft.com/office/drawing/2014/main" id="{9B89A810-EF2F-7B83-810A-8982AF6A4D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7041" y="3098998"/>
            <a:ext cx="0" cy="11572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5" name="Text Box 60">
            <a:extLst>
              <a:ext uri="{FF2B5EF4-FFF2-40B4-BE49-F238E27FC236}">
                <a16:creationId xmlns:a16="http://schemas.microsoft.com/office/drawing/2014/main" id="{E5F888D0-C104-1B42-2933-804DD37D5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091" y="2786261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</a:rPr>
              <a:t>m</a:t>
            </a:r>
            <a:r>
              <a:rPr lang="en-US" altLang="zh-CN" sz="2000" i="1" dirty="0">
                <a:solidFill>
                  <a:prstClr val="black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36" name="Line 61">
            <a:extLst>
              <a:ext uri="{FF2B5EF4-FFF2-40B4-BE49-F238E27FC236}">
                <a16:creationId xmlns:a16="http://schemas.microsoft.com/office/drawing/2014/main" id="{A2522412-F371-CE39-C780-C8F93B1D41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9979" y="4241998"/>
            <a:ext cx="0" cy="1109663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8" name="Line 62">
            <a:extLst>
              <a:ext uri="{FF2B5EF4-FFF2-40B4-BE49-F238E27FC236}">
                <a16:creationId xmlns:a16="http://schemas.microsoft.com/office/drawing/2014/main" id="{393A49D4-0208-CC52-457D-64CA4E1229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9979" y="3937198"/>
            <a:ext cx="0" cy="328613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9" name="Text Box 63">
            <a:extLst>
              <a:ext uri="{FF2B5EF4-FFF2-40B4-BE49-F238E27FC236}">
                <a16:creationId xmlns:a16="http://schemas.microsoft.com/office/drawing/2014/main" id="{9840A415-9C6E-24CF-64FD-7F1D9982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766" y="3862586"/>
            <a:ext cx="522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</a:rPr>
              <a:t>n</a:t>
            </a:r>
            <a:r>
              <a:rPr lang="en-US" altLang="zh-CN" sz="2000" i="1" dirty="0">
                <a:solidFill>
                  <a:prstClr val="black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40" name="Line 64">
            <a:extLst>
              <a:ext uri="{FF2B5EF4-FFF2-40B4-BE49-F238E27FC236}">
                <a16:creationId xmlns:a16="http://schemas.microsoft.com/office/drawing/2014/main" id="{528AF178-C229-33ED-57A6-BF6B6DEAF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279" y="3098998"/>
            <a:ext cx="647700" cy="8382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1" name="Text Box 65">
            <a:extLst>
              <a:ext uri="{FF2B5EF4-FFF2-40B4-BE49-F238E27FC236}">
                <a16:creationId xmlns:a16="http://schemas.microsoft.com/office/drawing/2014/main" id="{4AF89536-6C9B-DF82-70CB-7B0F2FB77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1166" y="2971998"/>
            <a:ext cx="550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</a:rPr>
              <a:t>k</a:t>
            </a:r>
            <a:r>
              <a:rPr lang="en-US" altLang="zh-CN" sz="2000" i="1" dirty="0">
                <a:solidFill>
                  <a:prstClr val="black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42" name="Line 66">
            <a:extLst>
              <a:ext uri="{FF2B5EF4-FFF2-40B4-BE49-F238E27FC236}">
                <a16:creationId xmlns:a16="http://schemas.microsoft.com/office/drawing/2014/main" id="{14AE6093-9572-70E2-B8BF-D2E0B6323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354" y="3370461"/>
            <a:ext cx="0" cy="9144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3" name="Line 67">
            <a:extLst>
              <a:ext uri="{FF2B5EF4-FFF2-40B4-BE49-F238E27FC236}">
                <a16:creationId xmlns:a16="http://schemas.microsoft.com/office/drawing/2014/main" id="{211B5261-30A5-770D-47B2-E4D3FAF73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354" y="4256286"/>
            <a:ext cx="0" cy="8667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4" name="Text Box 68">
            <a:extLst>
              <a:ext uri="{FF2B5EF4-FFF2-40B4-BE49-F238E27FC236}">
                <a16:creationId xmlns:a16="http://schemas.microsoft.com/office/drawing/2014/main" id="{674EC3B0-915D-D8FD-CCB0-8449A8F1A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141" y="5034161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k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45" name="Text Box 69">
            <a:extLst>
              <a:ext uri="{FF2B5EF4-FFF2-40B4-BE49-F238E27FC236}">
                <a16:creationId xmlns:a16="http://schemas.microsoft.com/office/drawing/2014/main" id="{96BEF411-4109-235C-8647-C9D8F5716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491" y="5353248"/>
            <a:ext cx="59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1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46" name="Line 70">
            <a:extLst>
              <a:ext uri="{FF2B5EF4-FFF2-40B4-BE49-F238E27FC236}">
                <a16:creationId xmlns:a16="http://schemas.microsoft.com/office/drawing/2014/main" id="{B6707935-64D0-DE80-8BC3-D1E108081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3154" y="3206948"/>
            <a:ext cx="0" cy="73025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7" name="Text Box 71">
            <a:extLst>
              <a:ext uri="{FF2B5EF4-FFF2-40B4-BE49-F238E27FC236}">
                <a16:creationId xmlns:a16="http://schemas.microsoft.com/office/drawing/2014/main" id="{1ABB6976-1B72-49D4-12A0-DB49DD64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666" y="2852936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48" name="Line 72">
            <a:extLst>
              <a:ext uri="{FF2B5EF4-FFF2-40B4-BE49-F238E27FC236}">
                <a16:creationId xmlns:a16="http://schemas.microsoft.com/office/drawing/2014/main" id="{9C1B604C-835E-0504-6128-A55BBC079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9923" y="5121869"/>
            <a:ext cx="438150" cy="2222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9" name="Line 73">
            <a:extLst>
              <a:ext uri="{FF2B5EF4-FFF2-40B4-BE49-F238E27FC236}">
                <a16:creationId xmlns:a16="http://schemas.microsoft.com/office/drawing/2014/main" id="{408DFE39-2138-0957-FD53-F77954F47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2605" y="5050035"/>
            <a:ext cx="84137" cy="39688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n>
                <a:solidFill>
                  <a:schemeClr val="tx1"/>
                </a:solidFill>
                <a:prstDash val="dash"/>
              </a:ln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0" name="AutoShape 74">
            <a:extLst>
              <a:ext uri="{FF2B5EF4-FFF2-40B4-BE49-F238E27FC236}">
                <a16:creationId xmlns:a16="http://schemas.microsoft.com/office/drawing/2014/main" id="{19B33F08-9D14-5315-5337-BACB7CE1E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3254" y="5089723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1" name="Text Box 75">
            <a:extLst>
              <a:ext uri="{FF2B5EF4-FFF2-40B4-BE49-F238E27FC236}">
                <a16:creationId xmlns:a16="http://schemas.microsoft.com/office/drawing/2014/main" id="{FE9F186F-FDE0-C761-4C26-2D6C69A9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564" y="2773560"/>
            <a:ext cx="1217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</a:rPr>
              <a:t>2</a:t>
            </a:r>
            <a:r>
              <a:rPr lang="en-US" altLang="zh-TW" sz="2000" i="1" dirty="0">
                <a:solidFill>
                  <a:prstClr val="black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’</a:t>
            </a:r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  </a:t>
            </a:r>
            <a:r>
              <a:rPr lang="en-US" altLang="zh-CN" sz="800" dirty="0">
                <a:solidFill>
                  <a:prstClr val="black"/>
                </a:solidFill>
                <a:latin typeface="ISOCPEUR" pitchFamily="34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</a:rPr>
              <a:t>3</a:t>
            </a:r>
            <a:r>
              <a:rPr lang="en-US" altLang="zh-TW" sz="2000" i="1" dirty="0">
                <a:solidFill>
                  <a:prstClr val="black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’</a:t>
            </a:r>
            <a:endParaRPr lang="en-US" altLang="zh-CN" sz="2000" i="1" dirty="0">
              <a:solidFill>
                <a:prstClr val="black"/>
              </a:solidFill>
              <a:latin typeface="Segoe UI" panose="020B0502040204020203" pitchFamily="34" charset="0"/>
              <a:ea typeface="仿宋_GB2312" pitchFamily="49" charset="-122"/>
              <a:cs typeface="Segoe UI" panose="020B0502040204020203" pitchFamily="34" charset="0"/>
            </a:endParaRPr>
          </a:p>
        </p:txBody>
      </p:sp>
      <p:sp>
        <p:nvSpPr>
          <p:cNvPr id="52" name="Line 76">
            <a:extLst>
              <a:ext uri="{FF2B5EF4-FFF2-40B4-BE49-F238E27FC236}">
                <a16:creationId xmlns:a16="http://schemas.microsoft.com/office/drawing/2014/main" id="{68CE0A34-226C-E76A-AAA6-55A6F592C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966" y="3549848"/>
            <a:ext cx="0" cy="7239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3" name="Line 77">
            <a:extLst>
              <a:ext uri="{FF2B5EF4-FFF2-40B4-BE49-F238E27FC236}">
                <a16:creationId xmlns:a16="http://schemas.microsoft.com/office/drawing/2014/main" id="{BBFBD7BF-3736-CDA4-81A4-B28087E7E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966" y="4261048"/>
            <a:ext cx="0" cy="6477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4" name="Text Box 78">
            <a:extLst>
              <a:ext uri="{FF2B5EF4-FFF2-40B4-BE49-F238E27FC236}">
                <a16:creationId xmlns:a16="http://schemas.microsoft.com/office/drawing/2014/main" id="{ACFD06BD-90D9-6013-05EF-0844A2FC8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404" y="4830961"/>
            <a:ext cx="358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3</a:t>
            </a:r>
          </a:p>
        </p:txBody>
      </p:sp>
      <p:sp>
        <p:nvSpPr>
          <p:cNvPr id="55" name="Line 79">
            <a:extLst>
              <a:ext uri="{FF2B5EF4-FFF2-40B4-BE49-F238E27FC236}">
                <a16:creationId xmlns:a16="http://schemas.microsoft.com/office/drawing/2014/main" id="{09F77E6A-F97D-1156-794C-88EE028D8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966" y="4902398"/>
            <a:ext cx="0" cy="6985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6" name="Text Box 80">
            <a:extLst>
              <a:ext uri="{FF2B5EF4-FFF2-40B4-BE49-F238E27FC236}">
                <a16:creationId xmlns:a16="http://schemas.microsoft.com/office/drawing/2014/main" id="{1441BF0B-29FA-8F52-F6CE-B2F901863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366" y="5558036"/>
            <a:ext cx="40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2</a:t>
            </a:r>
          </a:p>
        </p:txBody>
      </p:sp>
      <p:sp>
        <p:nvSpPr>
          <p:cNvPr id="57" name="Text Box 81">
            <a:extLst>
              <a:ext uri="{FF2B5EF4-FFF2-40B4-BE49-F238E27FC236}">
                <a16:creationId xmlns:a16="http://schemas.microsoft.com/office/drawing/2014/main" id="{492CEF3C-4BC3-6005-1CF1-B406C7E03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386" y="5327819"/>
            <a:ext cx="4956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( </a:t>
            </a:r>
            <a:r>
              <a:rPr lang="zh-TW" altLang="en-US" sz="2000" i="1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)</a:t>
            </a:r>
          </a:p>
        </p:txBody>
      </p:sp>
      <p:sp>
        <p:nvSpPr>
          <p:cNvPr id="58" name="Text Box 82">
            <a:extLst>
              <a:ext uri="{FF2B5EF4-FFF2-40B4-BE49-F238E27FC236}">
                <a16:creationId xmlns:a16="http://schemas.microsoft.com/office/drawing/2014/main" id="{E2AA47EE-7359-090D-85CA-F6562242E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994" y="2740194"/>
            <a:ext cx="5309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( </a:t>
            </a:r>
            <a:r>
              <a:rPr lang="zh-TW" altLang="en-US" sz="2000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)</a:t>
            </a:r>
          </a:p>
        </p:txBody>
      </p:sp>
      <p:sp>
        <p:nvSpPr>
          <p:cNvPr id="59" name="Freeform 83">
            <a:extLst>
              <a:ext uri="{FF2B5EF4-FFF2-40B4-BE49-F238E27FC236}">
                <a16:creationId xmlns:a16="http://schemas.microsoft.com/office/drawing/2014/main" id="{6B4AF23F-D3E0-7887-6627-9C3747832217}"/>
              </a:ext>
            </a:extLst>
          </p:cNvPr>
          <p:cNvSpPr>
            <a:spLocks/>
          </p:cNvSpPr>
          <p:nvPr/>
        </p:nvSpPr>
        <p:spPr bwMode="auto">
          <a:xfrm>
            <a:off x="1398866" y="3054548"/>
            <a:ext cx="425450" cy="482600"/>
          </a:xfrm>
          <a:custGeom>
            <a:avLst/>
            <a:gdLst>
              <a:gd name="T0" fmla="*/ 0 w 348"/>
              <a:gd name="T1" fmla="*/ 0 h 272"/>
              <a:gd name="T2" fmla="*/ 352097 w 348"/>
              <a:gd name="T3" fmla="*/ 212912 h 272"/>
              <a:gd name="T4" fmla="*/ 425450 w 348"/>
              <a:gd name="T5" fmla="*/ 482600 h 272"/>
              <a:gd name="T6" fmla="*/ 0 60000 65536"/>
              <a:gd name="T7" fmla="*/ 0 60000 65536"/>
              <a:gd name="T8" fmla="*/ 0 60000 65536"/>
              <a:gd name="T9" fmla="*/ 0 w 348"/>
              <a:gd name="T10" fmla="*/ 0 h 272"/>
              <a:gd name="T11" fmla="*/ 348 w 348"/>
              <a:gd name="T12" fmla="*/ 272 h 2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8" h="272">
                <a:moveTo>
                  <a:pt x="0" y="0"/>
                </a:moveTo>
                <a:cubicBezTo>
                  <a:pt x="115" y="37"/>
                  <a:pt x="230" y="75"/>
                  <a:pt x="288" y="120"/>
                </a:cubicBezTo>
                <a:cubicBezTo>
                  <a:pt x="346" y="165"/>
                  <a:pt x="347" y="218"/>
                  <a:pt x="348" y="272"/>
                </a:cubicBezTo>
              </a:path>
            </a:pathLst>
          </a:custGeom>
          <a:noFill/>
          <a:ln w="12700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0" name="Line 84">
            <a:extLst>
              <a:ext uri="{FF2B5EF4-FFF2-40B4-BE49-F238E27FC236}">
                <a16:creationId xmlns:a16="http://schemas.microsoft.com/office/drawing/2014/main" id="{B7BCB3C6-B532-1F20-52C5-E59440D934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4316" y="3381573"/>
            <a:ext cx="412750" cy="165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1" name="Line 85">
            <a:extLst>
              <a:ext uri="{FF2B5EF4-FFF2-40B4-BE49-F238E27FC236}">
                <a16:creationId xmlns:a16="http://schemas.microsoft.com/office/drawing/2014/main" id="{70C1E32D-7090-2599-ACCB-E6E81D3F88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59291" y="3238698"/>
            <a:ext cx="365125" cy="1397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2" name="AutoShape 86">
            <a:extLst>
              <a:ext uri="{FF2B5EF4-FFF2-40B4-BE49-F238E27FC236}">
                <a16:creationId xmlns:a16="http://schemas.microsoft.com/office/drawing/2014/main" id="{B8E291F7-E8F3-5E85-3A63-D3EFAC256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3254" y="3346648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3" name="Text Box 94">
            <a:extLst>
              <a:ext uri="{FF2B5EF4-FFF2-40B4-BE49-F238E27FC236}">
                <a16:creationId xmlns:a16="http://schemas.microsoft.com/office/drawing/2014/main" id="{FF8B1B7A-155E-570A-F1AD-80FF704FA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814" y="3172788"/>
            <a:ext cx="42851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含已知线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作辅助面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（垂直面）</a:t>
            </a:r>
          </a:p>
        </p:txBody>
      </p:sp>
      <p:sp>
        <p:nvSpPr>
          <p:cNvPr id="64" name="Text Box 95">
            <a:extLst>
              <a:ext uri="{FF2B5EF4-FFF2-40B4-BE49-F238E27FC236}">
                <a16:creationId xmlns:a16="http://schemas.microsoft.com/office/drawing/2014/main" id="{6E9A5FB2-005B-4654-6411-B78EA01D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88" y="3650775"/>
            <a:ext cx="31838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与已知面的交线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</a:t>
            </a:r>
          </a:p>
        </p:txBody>
      </p:sp>
      <p:sp>
        <p:nvSpPr>
          <p:cNvPr id="65" name="Text Box 96">
            <a:extLst>
              <a:ext uri="{FF2B5EF4-FFF2-40B4-BE49-F238E27FC236}">
                <a16:creationId xmlns:a16="http://schemas.microsoft.com/office/drawing/2014/main" id="{BBA284B1-C019-334D-874E-543F85128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88" y="4128762"/>
            <a:ext cx="26981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的交点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2000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Box 97">
            <a:extLst>
              <a:ext uri="{FF2B5EF4-FFF2-40B4-BE49-F238E27FC236}">
                <a16:creationId xmlns:a16="http://schemas.microsoft.com/office/drawing/2014/main" id="{EB47BFF0-8B52-25F5-5989-8F2F9F7C1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752" y="4606748"/>
            <a:ext cx="30812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利用重影点判断可见性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37916C42-C094-486C-7FAA-F72FBEE3EC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62886"/>
          <a:stretch/>
        </p:blipFill>
        <p:spPr>
          <a:xfrm rot="20349471">
            <a:off x="1798069" y="3324162"/>
            <a:ext cx="873913" cy="445021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EEC4D9FA-4E41-E280-CD71-3CFFAC3690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93416"/>
          <a:stretch/>
        </p:blipFill>
        <p:spPr>
          <a:xfrm rot="1622629">
            <a:off x="1988696" y="5102227"/>
            <a:ext cx="748747" cy="327419"/>
          </a:xfrm>
          <a:prstGeom prst="rect">
            <a:avLst/>
          </a:prstGeom>
        </p:spPr>
      </p:pic>
      <p:sp>
        <p:nvSpPr>
          <p:cNvPr id="69" name="Rectangle 8">
            <a:extLst>
              <a:ext uri="{FF2B5EF4-FFF2-40B4-BE49-F238E27FC236}">
                <a16:creationId xmlns:a16="http://schemas.microsoft.com/office/drawing/2014/main" id="{150969C7-1F74-6113-E02A-1055CB737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60" y="2153536"/>
            <a:ext cx="12715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876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500"/>
                            </p:stCondLst>
                            <p:childTnLst>
                              <p:par>
                                <p:cTn id="1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1" grpId="0" autoUpdateAnimBg="0"/>
      <p:bldP spid="32" grpId="0" autoUpdateAnimBg="0"/>
      <p:bldP spid="35" grpId="0" autoUpdateAnimBg="0"/>
      <p:bldP spid="39" grpId="0" autoUpdateAnimBg="0"/>
      <p:bldP spid="41" grpId="0" autoUpdateAnimBg="0"/>
      <p:bldP spid="44" grpId="0" autoUpdateAnimBg="0"/>
      <p:bldP spid="45" grpId="0" autoUpdateAnimBg="0"/>
      <p:bldP spid="47" grpId="0" autoUpdateAnimBg="0"/>
      <p:bldP spid="50" grpId="0" animBg="1"/>
      <p:bldP spid="51" grpId="0" autoUpdateAnimBg="0"/>
      <p:bldP spid="54" grpId="0" autoUpdateAnimBg="0"/>
      <p:bldP spid="56" grpId="0" autoUpdateAnimBg="0"/>
      <p:bldP spid="57" grpId="0" autoUpdateAnimBg="0"/>
      <p:bldP spid="58" grpId="0" autoUpdateAnimBg="0"/>
      <p:bldP spid="62" grpId="0" animBg="1"/>
      <p:bldP spid="63" grpId="0"/>
      <p:bldP spid="64" grpId="0"/>
      <p:bldP spid="65" grpId="0"/>
      <p:bldP spid="6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2AE42-1954-32BB-1EC3-FE4C8814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895903B-D739-2FA6-752F-D9CCF299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24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318D078F-980D-D04B-9C09-7849E378A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5FEB75-E9A5-1C61-2B84-3D1D86BEC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61" y="1156680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直线与平面相交</a:t>
            </a:r>
          </a:p>
        </p:txBody>
      </p:sp>
      <p:sp>
        <p:nvSpPr>
          <p:cNvPr id="3" name="Text Box 88">
            <a:extLst>
              <a:ext uri="{FF2B5EF4-FFF2-40B4-BE49-F238E27FC236}">
                <a16:creationId xmlns:a16="http://schemas.microsoft.com/office/drawing/2014/main" id="{0DF68177-D12E-09DC-1F6E-94228C0FD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7" y="2581002"/>
            <a:ext cx="51545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线面求交（找公共点）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2C873FCC-5067-A095-B7C3-5E5855E910BA}"/>
              </a:ext>
            </a:extLst>
          </p:cNvPr>
          <p:cNvSpPr>
            <a:spLocks/>
          </p:cNvSpPr>
          <p:nvPr/>
        </p:nvSpPr>
        <p:spPr bwMode="auto">
          <a:xfrm>
            <a:off x="6279157" y="4204717"/>
            <a:ext cx="2095500" cy="1285875"/>
          </a:xfrm>
          <a:custGeom>
            <a:avLst/>
            <a:gdLst>
              <a:gd name="T0" fmla="*/ 0 w 1320"/>
              <a:gd name="T1" fmla="*/ 1285875 h 810"/>
              <a:gd name="T2" fmla="*/ 847725 w 1320"/>
              <a:gd name="T3" fmla="*/ 0 h 810"/>
              <a:gd name="T4" fmla="*/ 2095500 w 1320"/>
              <a:gd name="T5" fmla="*/ 685800 h 810"/>
              <a:gd name="T6" fmla="*/ 0 w 1320"/>
              <a:gd name="T7" fmla="*/ 1285875 h 810"/>
              <a:gd name="T8" fmla="*/ 0 60000 65536"/>
              <a:gd name="T9" fmla="*/ 0 60000 65536"/>
              <a:gd name="T10" fmla="*/ 0 60000 65536"/>
              <a:gd name="T11" fmla="*/ 0 60000 65536"/>
              <a:gd name="T12" fmla="*/ 0 w 1320"/>
              <a:gd name="T13" fmla="*/ 0 h 810"/>
              <a:gd name="T14" fmla="*/ 1320 w 1320"/>
              <a:gd name="T15" fmla="*/ 810 h 8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20" h="810">
                <a:moveTo>
                  <a:pt x="0" y="810"/>
                </a:moveTo>
                <a:lnTo>
                  <a:pt x="534" y="0"/>
                </a:lnTo>
                <a:lnTo>
                  <a:pt x="1320" y="432"/>
                </a:lnTo>
                <a:lnTo>
                  <a:pt x="0" y="81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AF7E5FCD-722F-EC85-BBD3-F39C06F26780}"/>
              </a:ext>
            </a:extLst>
          </p:cNvPr>
          <p:cNvSpPr>
            <a:spLocks/>
          </p:cNvSpPr>
          <p:nvPr/>
        </p:nvSpPr>
        <p:spPr bwMode="auto">
          <a:xfrm>
            <a:off x="5936257" y="4214242"/>
            <a:ext cx="2114550" cy="1438275"/>
          </a:xfrm>
          <a:custGeom>
            <a:avLst/>
            <a:gdLst>
              <a:gd name="T0" fmla="*/ 0 w 1332"/>
              <a:gd name="T1" fmla="*/ 781050 h 906"/>
              <a:gd name="T2" fmla="*/ 2114550 w 1332"/>
              <a:gd name="T3" fmla="*/ 1438275 h 906"/>
              <a:gd name="T4" fmla="*/ 981075 w 1332"/>
              <a:gd name="T5" fmla="*/ 0 h 906"/>
              <a:gd name="T6" fmla="*/ 0 w 1332"/>
              <a:gd name="T7" fmla="*/ 781050 h 906"/>
              <a:gd name="T8" fmla="*/ 0 60000 65536"/>
              <a:gd name="T9" fmla="*/ 0 60000 65536"/>
              <a:gd name="T10" fmla="*/ 0 60000 65536"/>
              <a:gd name="T11" fmla="*/ 0 60000 65536"/>
              <a:gd name="T12" fmla="*/ 0 w 1332"/>
              <a:gd name="T13" fmla="*/ 0 h 906"/>
              <a:gd name="T14" fmla="*/ 1332 w 1332"/>
              <a:gd name="T15" fmla="*/ 906 h 9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2" h="906">
                <a:moveTo>
                  <a:pt x="0" y="492"/>
                </a:moveTo>
                <a:lnTo>
                  <a:pt x="1332" y="906"/>
                </a:lnTo>
                <a:lnTo>
                  <a:pt x="618" y="0"/>
                </a:lnTo>
                <a:lnTo>
                  <a:pt x="0" y="492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2B7AF5C0-1C80-0D1B-F566-9DD3D5BEEE2C}"/>
              </a:ext>
            </a:extLst>
          </p:cNvPr>
          <p:cNvSpPr>
            <a:spLocks/>
          </p:cNvSpPr>
          <p:nvPr/>
        </p:nvSpPr>
        <p:spPr bwMode="auto">
          <a:xfrm>
            <a:off x="5936257" y="2556892"/>
            <a:ext cx="2114550" cy="1257300"/>
          </a:xfrm>
          <a:custGeom>
            <a:avLst/>
            <a:gdLst>
              <a:gd name="T0" fmla="*/ 0 w 1332"/>
              <a:gd name="T1" fmla="*/ 304800 h 792"/>
              <a:gd name="T2" fmla="*/ 981075 w 1332"/>
              <a:gd name="T3" fmla="*/ 1257300 h 792"/>
              <a:gd name="T4" fmla="*/ 2114550 w 1332"/>
              <a:gd name="T5" fmla="*/ 0 h 792"/>
              <a:gd name="T6" fmla="*/ 0 w 1332"/>
              <a:gd name="T7" fmla="*/ 304800 h 792"/>
              <a:gd name="T8" fmla="*/ 0 60000 65536"/>
              <a:gd name="T9" fmla="*/ 0 60000 65536"/>
              <a:gd name="T10" fmla="*/ 0 60000 65536"/>
              <a:gd name="T11" fmla="*/ 0 60000 65536"/>
              <a:gd name="T12" fmla="*/ 0 w 1332"/>
              <a:gd name="T13" fmla="*/ 0 h 792"/>
              <a:gd name="T14" fmla="*/ 1332 w 1332"/>
              <a:gd name="T15" fmla="*/ 792 h 7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2" h="792">
                <a:moveTo>
                  <a:pt x="0" y="192"/>
                </a:moveTo>
                <a:lnTo>
                  <a:pt x="618" y="792"/>
                </a:lnTo>
                <a:lnTo>
                  <a:pt x="1332" y="0"/>
                </a:lnTo>
                <a:lnTo>
                  <a:pt x="0" y="192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5DB45749-DEFD-3151-08A4-8B862FD63EF1}"/>
              </a:ext>
            </a:extLst>
          </p:cNvPr>
          <p:cNvSpPr>
            <a:spLocks/>
          </p:cNvSpPr>
          <p:nvPr/>
        </p:nvSpPr>
        <p:spPr bwMode="auto">
          <a:xfrm flipH="1">
            <a:off x="6279157" y="2337817"/>
            <a:ext cx="2105025" cy="1390650"/>
          </a:xfrm>
          <a:custGeom>
            <a:avLst/>
            <a:gdLst>
              <a:gd name="T0" fmla="*/ 0 w 852"/>
              <a:gd name="T1" fmla="*/ 761305 h 822"/>
              <a:gd name="T2" fmla="*/ 1260050 w 852"/>
              <a:gd name="T3" fmla="*/ 0 h 822"/>
              <a:gd name="T4" fmla="*/ 2105025 w 852"/>
              <a:gd name="T5" fmla="*/ 1390650 h 822"/>
              <a:gd name="T6" fmla="*/ 0 w 852"/>
              <a:gd name="T7" fmla="*/ 761305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9843356-663B-3127-96BE-514093F02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882" y="1556767"/>
            <a:ext cx="2846536" cy="468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zh-CN" sz="2400" b="1">
              <a:solidFill>
                <a:prstClr val="black"/>
              </a:solidFill>
              <a:ea typeface="宋体" pitchFamily="2" charset="-122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D2C4AC-598A-8D44-EE5F-DE50BBA1DDF0}"/>
              </a:ext>
            </a:extLst>
          </p:cNvPr>
          <p:cNvGrpSpPr>
            <a:grpSpLocks/>
          </p:cNvGrpSpPr>
          <p:nvPr/>
        </p:nvGrpSpPr>
        <p:grpSpPr bwMode="auto">
          <a:xfrm>
            <a:off x="5364757" y="3601465"/>
            <a:ext cx="3536428" cy="485774"/>
            <a:chOff x="445" y="1684"/>
            <a:chExt cx="1879" cy="306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639CA6FC-8299-6793-4773-03C5AAB5F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" y="1702"/>
              <a:ext cx="1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ISOCPEUR" pitchFamily="34" charset="0"/>
                </a:rPr>
                <a:t>X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C347310A-3130-F09E-906C-C04E70DB8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" y="1684"/>
              <a:ext cx="1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2400" b="1" i="1" kern="0" dirty="0">
                  <a:solidFill>
                    <a:srgbClr val="000000"/>
                  </a:solidFill>
                  <a:latin typeface="ISOCPEUR" pitchFamily="34" charset="0"/>
                </a:rPr>
                <a:t>O</a:t>
              </a: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7993AC3C-77A1-472C-BA25-815E867AC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" y="1956"/>
              <a:ext cx="16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</p:grpSp>
      <p:sp>
        <p:nvSpPr>
          <p:cNvPr id="14" name="Line 12">
            <a:extLst>
              <a:ext uri="{FF2B5EF4-FFF2-40B4-BE49-F238E27FC236}">
                <a16:creationId xmlns:a16="http://schemas.microsoft.com/office/drawing/2014/main" id="{F7999D5F-ECAA-98B4-F047-EF4194B6B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9157" y="3723705"/>
            <a:ext cx="0" cy="1765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52F3C195-5284-5BAF-5904-B0C52ADE3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1320" y="3553842"/>
            <a:ext cx="582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a'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0C7436D6-6E00-7C51-C23A-F0C0B11A4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2107" y="2775967"/>
            <a:ext cx="517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c'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59AFF23B-56D8-9D6C-3EC9-C7A86613D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082" y="1948880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b'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8F3D329E-7B0F-B3A7-0AB1-7907281E3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520" y="527945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A765DBED-9860-EF91-A736-163F0F279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282" y="4668267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1D2C5421-D11E-F915-173C-7A5B6CCC9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5770" y="3102992"/>
            <a:ext cx="0" cy="1789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508D9BC1-02BF-2ECC-813C-25C45EE40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7670" y="393008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C3339771-171C-8112-45BC-E06CBDE5E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8041" y="2528474"/>
            <a:ext cx="0" cy="169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6421E10B-79B2-29E1-9345-D927A803B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8470" y="2350517"/>
            <a:ext cx="0" cy="203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0DBD2707-44A2-F234-DFFC-1F349BDCD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6257" y="2871217"/>
            <a:ext cx="0" cy="2114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F27C8C4F-48A0-5BDC-B825-E58320551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7332" y="3804667"/>
            <a:ext cx="0" cy="404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88C9364D-915F-898F-4455-9381A6682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0807" y="2561655"/>
            <a:ext cx="0" cy="3086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E2AD57EE-1BDC-BC06-1902-64949E1F0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8732" y="4892105"/>
            <a:ext cx="473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d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692D6E13-5498-4DB4-7603-36270A2E1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2045" y="3945955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e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67CA1AB6-EC71-E889-F373-C26E697F6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782" y="5584255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f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26EC0024-FDD8-EBD1-6FC2-930B9F6E2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0157" y="2596580"/>
            <a:ext cx="67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d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CFFD77DC-8AA4-B9F1-A59D-8B289BD84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782" y="3584005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e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38830D4C-F7A5-9EB6-20E0-10008C383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2382" y="2348930"/>
            <a:ext cx="67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f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01E963D1-40D6-51FA-5BC7-79ACC84ED107}"/>
              </a:ext>
            </a:extLst>
          </p:cNvPr>
          <p:cNvSpPr>
            <a:spLocks/>
          </p:cNvSpPr>
          <p:nvPr/>
        </p:nvSpPr>
        <p:spPr bwMode="auto">
          <a:xfrm>
            <a:off x="5936257" y="2337817"/>
            <a:ext cx="2443163" cy="1476375"/>
          </a:xfrm>
          <a:custGeom>
            <a:avLst/>
            <a:gdLst>
              <a:gd name="T0" fmla="*/ 0 w 1539"/>
              <a:gd name="T1" fmla="*/ 523875 h 930"/>
              <a:gd name="T2" fmla="*/ 952500 w 1539"/>
              <a:gd name="T3" fmla="*/ 385762 h 930"/>
              <a:gd name="T4" fmla="*/ 1185863 w 1539"/>
              <a:gd name="T5" fmla="*/ 0 h 930"/>
              <a:gd name="T6" fmla="*/ 1652588 w 1539"/>
              <a:gd name="T7" fmla="*/ 285750 h 930"/>
              <a:gd name="T8" fmla="*/ 2109788 w 1539"/>
              <a:gd name="T9" fmla="*/ 219075 h 930"/>
              <a:gd name="T10" fmla="*/ 1914526 w 1539"/>
              <a:gd name="T11" fmla="*/ 438150 h 930"/>
              <a:gd name="T12" fmla="*/ 2443163 w 1539"/>
              <a:gd name="T13" fmla="*/ 762000 h 930"/>
              <a:gd name="T14" fmla="*/ 1319213 w 1539"/>
              <a:gd name="T15" fmla="*/ 1100138 h 930"/>
              <a:gd name="T16" fmla="*/ 981075 w 1539"/>
              <a:gd name="T17" fmla="*/ 1476375 h 930"/>
              <a:gd name="T18" fmla="*/ 766763 w 1539"/>
              <a:gd name="T19" fmla="*/ 1266825 h 930"/>
              <a:gd name="T20" fmla="*/ 342900 w 1539"/>
              <a:gd name="T21" fmla="*/ 1395413 h 930"/>
              <a:gd name="T22" fmla="*/ 542925 w 1539"/>
              <a:gd name="T23" fmla="*/ 1057275 h 930"/>
              <a:gd name="T24" fmla="*/ 0 w 1539"/>
              <a:gd name="T25" fmla="*/ 523875 h 93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539"/>
              <a:gd name="T40" fmla="*/ 0 h 930"/>
              <a:gd name="T41" fmla="*/ 1539 w 1539"/>
              <a:gd name="T42" fmla="*/ 930 h 93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539" h="930">
                <a:moveTo>
                  <a:pt x="0" y="330"/>
                </a:moveTo>
                <a:lnTo>
                  <a:pt x="600" y="243"/>
                </a:lnTo>
                <a:lnTo>
                  <a:pt x="747" y="0"/>
                </a:lnTo>
                <a:lnTo>
                  <a:pt x="1041" y="180"/>
                </a:lnTo>
                <a:lnTo>
                  <a:pt x="1329" y="138"/>
                </a:lnTo>
                <a:lnTo>
                  <a:pt x="1206" y="276"/>
                </a:lnTo>
                <a:lnTo>
                  <a:pt x="1539" y="480"/>
                </a:lnTo>
                <a:lnTo>
                  <a:pt x="831" y="693"/>
                </a:lnTo>
                <a:lnTo>
                  <a:pt x="618" y="930"/>
                </a:lnTo>
                <a:lnTo>
                  <a:pt x="483" y="798"/>
                </a:lnTo>
                <a:lnTo>
                  <a:pt x="216" y="879"/>
                </a:lnTo>
                <a:lnTo>
                  <a:pt x="342" y="666"/>
                </a:lnTo>
                <a:lnTo>
                  <a:pt x="0" y="33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4" name="Freeform 32">
            <a:extLst>
              <a:ext uri="{FF2B5EF4-FFF2-40B4-BE49-F238E27FC236}">
                <a16:creationId xmlns:a16="http://schemas.microsoft.com/office/drawing/2014/main" id="{D91BB551-80BF-0662-97F5-CF0D6C433A56}"/>
              </a:ext>
            </a:extLst>
          </p:cNvPr>
          <p:cNvSpPr>
            <a:spLocks/>
          </p:cNvSpPr>
          <p:nvPr/>
        </p:nvSpPr>
        <p:spPr bwMode="auto">
          <a:xfrm>
            <a:off x="5936257" y="4209480"/>
            <a:ext cx="2447925" cy="1438275"/>
          </a:xfrm>
          <a:custGeom>
            <a:avLst/>
            <a:gdLst>
              <a:gd name="T0" fmla="*/ 0 w 1542"/>
              <a:gd name="T1" fmla="*/ 785812 h 906"/>
              <a:gd name="T2" fmla="*/ 981075 w 1542"/>
              <a:gd name="T3" fmla="*/ 4763 h 906"/>
              <a:gd name="T4" fmla="*/ 1090613 w 1542"/>
              <a:gd name="T5" fmla="*/ 142875 h 906"/>
              <a:gd name="T6" fmla="*/ 1185863 w 1542"/>
              <a:gd name="T7" fmla="*/ 0 h 906"/>
              <a:gd name="T8" fmla="*/ 2447925 w 1542"/>
              <a:gd name="T9" fmla="*/ 681038 h 906"/>
              <a:gd name="T10" fmla="*/ 1685925 w 1542"/>
              <a:gd name="T11" fmla="*/ 900113 h 906"/>
              <a:gd name="T12" fmla="*/ 2114550 w 1542"/>
              <a:gd name="T13" fmla="*/ 1438275 h 906"/>
              <a:gd name="T14" fmla="*/ 995363 w 1542"/>
              <a:gd name="T15" fmla="*/ 1095375 h 906"/>
              <a:gd name="T16" fmla="*/ 342900 w 1542"/>
              <a:gd name="T17" fmla="*/ 1271588 h 906"/>
              <a:gd name="T18" fmla="*/ 557213 w 1542"/>
              <a:gd name="T19" fmla="*/ 957263 h 906"/>
              <a:gd name="T20" fmla="*/ 0 w 1542"/>
              <a:gd name="T21" fmla="*/ 785812 h 9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542"/>
              <a:gd name="T34" fmla="*/ 0 h 906"/>
              <a:gd name="T35" fmla="*/ 1542 w 1542"/>
              <a:gd name="T36" fmla="*/ 906 h 90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542" h="906">
                <a:moveTo>
                  <a:pt x="0" y="495"/>
                </a:moveTo>
                <a:lnTo>
                  <a:pt x="618" y="3"/>
                </a:lnTo>
                <a:lnTo>
                  <a:pt x="687" y="90"/>
                </a:lnTo>
                <a:lnTo>
                  <a:pt x="747" y="0"/>
                </a:lnTo>
                <a:lnTo>
                  <a:pt x="1542" y="429"/>
                </a:lnTo>
                <a:lnTo>
                  <a:pt x="1062" y="567"/>
                </a:lnTo>
                <a:lnTo>
                  <a:pt x="1332" y="906"/>
                </a:lnTo>
                <a:lnTo>
                  <a:pt x="627" y="690"/>
                </a:lnTo>
                <a:lnTo>
                  <a:pt x="216" y="801"/>
                </a:lnTo>
                <a:lnTo>
                  <a:pt x="351" y="603"/>
                </a:lnTo>
                <a:lnTo>
                  <a:pt x="0" y="495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196A63E8-CBE6-2B5E-600D-490583517F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2120" y="1985392"/>
            <a:ext cx="219075" cy="347663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01B8C83A-7474-F9C1-859B-23617E27A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6570" y="2001267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P</a:t>
            </a:r>
            <a:r>
              <a:rPr lang="en-US" altLang="zh-CN" i="1" baseline="-8000">
                <a:solidFill>
                  <a:prstClr val="black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38" name="Text Box 35">
            <a:extLst>
              <a:ext uri="{FF2B5EF4-FFF2-40B4-BE49-F238E27FC236}">
                <a16:creationId xmlns:a16="http://schemas.microsoft.com/office/drawing/2014/main" id="{7CA55623-2023-5DF0-682A-E5B031F2B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045" y="3256980"/>
            <a:ext cx="441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1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3B0B3D89-BB05-FAB7-0259-659FF63EA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820" y="2664842"/>
            <a:ext cx="469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2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707757D4-3746-833F-503E-5264DDCC4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9182" y="3398267"/>
            <a:ext cx="0" cy="11525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AFA0E63E-D570-48C3-DD92-61CE69AD4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257" y="4304730"/>
            <a:ext cx="31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1</a:t>
            </a:r>
            <a:endParaRPr lang="en-US" altLang="zh-CN" sz="2000" i="1">
              <a:solidFill>
                <a:prstClr val="black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9B08EDD9-603B-440A-3185-2DD584FCC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5582" y="2725167"/>
            <a:ext cx="0" cy="25558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3" name="Text Box 42">
            <a:extLst>
              <a:ext uri="{FF2B5EF4-FFF2-40B4-BE49-F238E27FC236}">
                <a16:creationId xmlns:a16="http://schemas.microsoft.com/office/drawing/2014/main" id="{C32D5283-0063-2149-768F-18B8EAE6E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3170" y="5276280"/>
            <a:ext cx="403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2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0B81C5CE-DD63-A48E-F44B-F2D3B1766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9182" y="4566667"/>
            <a:ext cx="400050" cy="7175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5" name="Text Box 44">
            <a:extLst>
              <a:ext uri="{FF2B5EF4-FFF2-40B4-BE49-F238E27FC236}">
                <a16:creationId xmlns:a16="http://schemas.microsoft.com/office/drawing/2014/main" id="{10A7A827-F58D-EBE6-51AE-CA8B2EA93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420" y="4701605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k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46" name="Line 46">
            <a:extLst>
              <a:ext uri="{FF2B5EF4-FFF2-40B4-BE49-F238E27FC236}">
                <a16:creationId xmlns:a16="http://schemas.microsoft.com/office/drawing/2014/main" id="{29672273-C18E-0EDA-8465-281DDE6CEF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9682" y="3087117"/>
            <a:ext cx="0" cy="18002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02BF2147-C014-4593-ADC2-E4E0AE445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0582" y="2844230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k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48" name="Line 48">
            <a:extLst>
              <a:ext uri="{FF2B5EF4-FFF2-40B4-BE49-F238E27FC236}">
                <a16:creationId xmlns:a16="http://schemas.microsoft.com/office/drawing/2014/main" id="{08BABA67-B7AE-E09A-DDD7-E717AF3C0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7632" y="5646167"/>
            <a:ext cx="406400" cy="5207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FD91327E-24ED-7236-BF10-D5B981A43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970" y="5693792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1">
                <a:solidFill>
                  <a:prstClr val="black"/>
                </a:solidFill>
                <a:latin typeface="ISOCPEUR" pitchFamily="34" charset="0"/>
              </a:rPr>
              <a:t>Q</a:t>
            </a:r>
            <a:r>
              <a:rPr lang="en-US" altLang="zh-CN" i="1" baseline="-8000">
                <a:solidFill>
                  <a:prstClr val="black"/>
                </a:solidFill>
                <a:latin typeface="ISOCPEUR" pitchFamily="34" charset="0"/>
              </a:rPr>
              <a:t>H</a:t>
            </a: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5E58906C-F9B8-6107-4710-22F347355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795" y="437458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3</a:t>
            </a:r>
            <a:endParaRPr lang="en-US" altLang="zh-CN" sz="2000" i="1">
              <a:solidFill>
                <a:prstClr val="black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3A8DA999-E260-52C3-722D-D1E726F7B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532" y="5041330"/>
            <a:ext cx="319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4</a:t>
            </a:r>
            <a:endParaRPr lang="en-US" altLang="zh-CN" sz="2000" i="1">
              <a:solidFill>
                <a:prstClr val="black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52" name="Line 53">
            <a:extLst>
              <a:ext uri="{FF2B5EF4-FFF2-40B4-BE49-F238E27FC236}">
                <a16:creationId xmlns:a16="http://schemas.microsoft.com/office/drawing/2014/main" id="{389B0690-95F0-8886-515A-F9C6EF619C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5282" y="2502917"/>
            <a:ext cx="0" cy="1836738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3" name="Text Box 54">
            <a:extLst>
              <a:ext uri="{FF2B5EF4-FFF2-40B4-BE49-F238E27FC236}">
                <a16:creationId xmlns:a16="http://schemas.microsoft.com/office/drawing/2014/main" id="{C3DA6485-0116-765A-47C2-35716994D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1582" y="2288605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3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54" name="Line 55">
            <a:extLst>
              <a:ext uri="{FF2B5EF4-FFF2-40B4-BE49-F238E27FC236}">
                <a16:creationId xmlns:a16="http://schemas.microsoft.com/office/drawing/2014/main" id="{151CD523-E807-05E4-1D47-BF0265D267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5832" y="4020567"/>
            <a:ext cx="0" cy="10858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5" name="Line 56">
            <a:extLst>
              <a:ext uri="{FF2B5EF4-FFF2-40B4-BE49-F238E27FC236}">
                <a16:creationId xmlns:a16="http://schemas.microsoft.com/office/drawing/2014/main" id="{40013621-CCCE-29EE-16E2-F225FCF7EF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5832" y="3322067"/>
            <a:ext cx="0" cy="7175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6" name="Text Box 57">
            <a:extLst>
              <a:ext uri="{FF2B5EF4-FFF2-40B4-BE49-F238E27FC236}">
                <a16:creationId xmlns:a16="http://schemas.microsoft.com/office/drawing/2014/main" id="{A733BC15-E0D9-31D2-61E3-9B1B808AD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4707" y="3269680"/>
            <a:ext cx="496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4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57" name="Line 58">
            <a:extLst>
              <a:ext uri="{FF2B5EF4-FFF2-40B4-BE49-F238E27FC236}">
                <a16:creationId xmlns:a16="http://schemas.microsoft.com/office/drawing/2014/main" id="{2E1BA278-FD97-40E7-180E-742B39AEB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5282" y="2496567"/>
            <a:ext cx="590550" cy="838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8" name="Text Box 59">
            <a:extLst>
              <a:ext uri="{FF2B5EF4-FFF2-40B4-BE49-F238E27FC236}">
                <a16:creationId xmlns:a16="http://schemas.microsoft.com/office/drawing/2014/main" id="{27A63B65-D5CD-0831-B241-9EAA63692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3095" y="2799780"/>
            <a:ext cx="390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l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59" name="Line 60">
            <a:extLst>
              <a:ext uri="{FF2B5EF4-FFF2-40B4-BE49-F238E27FC236}">
                <a16:creationId xmlns:a16="http://schemas.microsoft.com/office/drawing/2014/main" id="{B56282D5-AE97-43ED-7F67-DDAFCC825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5182" y="3169667"/>
            <a:ext cx="0" cy="1763713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0" name="Text Box 62">
            <a:extLst>
              <a:ext uri="{FF2B5EF4-FFF2-40B4-BE49-F238E27FC236}">
                <a16:creationId xmlns:a16="http://schemas.microsoft.com/office/drawing/2014/main" id="{80EF6C62-778B-9A77-FC37-863A69B3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770" y="461588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l</a:t>
            </a:r>
            <a:endParaRPr lang="en-US" altLang="zh-CN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DA14F5DB-3818-F9E2-672D-67D4BF9EC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6032" y="4903217"/>
            <a:ext cx="825500" cy="57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100C3147-1BC7-D032-10A7-E756BDC9A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682" y="3080767"/>
            <a:ext cx="825500" cy="95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3" name="Text Box 65">
            <a:extLst>
              <a:ext uri="{FF2B5EF4-FFF2-40B4-BE49-F238E27FC236}">
                <a16:creationId xmlns:a16="http://schemas.microsoft.com/office/drawing/2014/main" id="{85285902-D621-45E7-031E-C4D2B6A4C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2270" y="3256980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5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 sz="2000" i="1">
              <a:solidFill>
                <a:prstClr val="black"/>
              </a:solidFill>
              <a:latin typeface="ISOCPEUR" pitchFamily="34" charset="0"/>
            </a:endParaRPr>
          </a:p>
        </p:txBody>
      </p:sp>
      <p:sp>
        <p:nvSpPr>
          <p:cNvPr id="64" name="Line 66">
            <a:extLst>
              <a:ext uri="{FF2B5EF4-FFF2-40B4-BE49-F238E27FC236}">
                <a16:creationId xmlns:a16="http://schemas.microsoft.com/office/drawing/2014/main" id="{CBD185F9-11C0-4BD8-3051-687B90E76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9182" y="4566667"/>
            <a:ext cx="0" cy="628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5" name="Text Box 67">
            <a:extLst>
              <a:ext uri="{FF2B5EF4-FFF2-40B4-BE49-F238E27FC236}">
                <a16:creationId xmlns:a16="http://schemas.microsoft.com/office/drawing/2014/main" id="{353C89D4-68E5-4CF5-574B-7DDFA1101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470" y="506673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5</a:t>
            </a:r>
          </a:p>
        </p:txBody>
      </p:sp>
      <p:sp>
        <p:nvSpPr>
          <p:cNvPr id="66" name="Text Box 68">
            <a:extLst>
              <a:ext uri="{FF2B5EF4-FFF2-40B4-BE49-F238E27FC236}">
                <a16:creationId xmlns:a16="http://schemas.microsoft.com/office/drawing/2014/main" id="{7CB72AAB-C8FA-5C76-B983-FBF45E4C6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1657" y="3256980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(  )</a:t>
            </a:r>
            <a:endParaRPr lang="en-US" altLang="zh-CN" sz="2000" i="1">
              <a:solidFill>
                <a:prstClr val="black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67" name="Line 69">
            <a:extLst>
              <a:ext uri="{FF2B5EF4-FFF2-40B4-BE49-F238E27FC236}">
                <a16:creationId xmlns:a16="http://schemas.microsoft.com/office/drawing/2014/main" id="{9D8CADAD-B805-CA18-B3FA-1D55DC541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5532" y="3385567"/>
            <a:ext cx="215900" cy="2159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8" name="Line 70">
            <a:extLst>
              <a:ext uri="{FF2B5EF4-FFF2-40B4-BE49-F238E27FC236}">
                <a16:creationId xmlns:a16="http://schemas.microsoft.com/office/drawing/2014/main" id="{AB33EBA8-D6EB-A10D-14FE-5C85BF9F7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1432" y="3436367"/>
            <a:ext cx="552450" cy="1651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9" name="Line 71">
            <a:extLst>
              <a:ext uri="{FF2B5EF4-FFF2-40B4-BE49-F238E27FC236}">
                <a16:creationId xmlns:a16="http://schemas.microsoft.com/office/drawing/2014/main" id="{77B22129-51C5-FD7A-3644-6288413217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3882" y="3176017"/>
            <a:ext cx="234950" cy="26035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0" name="Line 72">
            <a:extLst>
              <a:ext uri="{FF2B5EF4-FFF2-40B4-BE49-F238E27FC236}">
                <a16:creationId xmlns:a16="http://schemas.microsoft.com/office/drawing/2014/main" id="{3D46AB00-65B3-3021-9FEB-889415654D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01532" y="2775967"/>
            <a:ext cx="349250" cy="3873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1" name="Line 73">
            <a:extLst>
              <a:ext uri="{FF2B5EF4-FFF2-40B4-BE49-F238E27FC236}">
                <a16:creationId xmlns:a16="http://schemas.microsoft.com/office/drawing/2014/main" id="{73D5F5EE-94FA-D566-1E21-41412DD452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3132" y="2623567"/>
            <a:ext cx="247650" cy="1524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2" name="Line 74">
            <a:extLst>
              <a:ext uri="{FF2B5EF4-FFF2-40B4-BE49-F238E27FC236}">
                <a16:creationId xmlns:a16="http://schemas.microsoft.com/office/drawing/2014/main" id="{265BA2F7-0AF7-CEFB-6CDF-936963EFC2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85582" y="2623567"/>
            <a:ext cx="711200" cy="101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3" name="Line 75">
            <a:extLst>
              <a:ext uri="{FF2B5EF4-FFF2-40B4-BE49-F238E27FC236}">
                <a16:creationId xmlns:a16="http://schemas.microsoft.com/office/drawing/2014/main" id="{42180402-3F74-E1AE-4BF7-5E6BB2916A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6032" y="2725167"/>
            <a:ext cx="209550" cy="3556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4" name="Line 76">
            <a:extLst>
              <a:ext uri="{FF2B5EF4-FFF2-40B4-BE49-F238E27FC236}">
                <a16:creationId xmlns:a16="http://schemas.microsoft.com/office/drawing/2014/main" id="{0F2CC05F-4A25-FA5C-7372-3624C9FD86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9182" y="3074417"/>
            <a:ext cx="190500" cy="317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5" name="Text Box 77">
            <a:extLst>
              <a:ext uri="{FF2B5EF4-FFF2-40B4-BE49-F238E27FC236}">
                <a16:creationId xmlns:a16="http://schemas.microsoft.com/office/drawing/2014/main" id="{979A6A02-ABF9-ECBF-3DED-EDCD8CF22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3932" y="502863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6</a:t>
            </a:r>
          </a:p>
        </p:txBody>
      </p:sp>
      <p:sp>
        <p:nvSpPr>
          <p:cNvPr id="76" name="Line 78">
            <a:extLst>
              <a:ext uri="{FF2B5EF4-FFF2-40B4-BE49-F238E27FC236}">
                <a16:creationId xmlns:a16="http://schemas.microsoft.com/office/drawing/2014/main" id="{C4DF949C-801E-A673-8DF1-0147F94E2A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5832" y="3029967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7" name="Text Box 79">
            <a:extLst>
              <a:ext uri="{FF2B5EF4-FFF2-40B4-BE49-F238E27FC236}">
                <a16:creationId xmlns:a16="http://schemas.microsoft.com/office/drawing/2014/main" id="{7EE076F7-623C-C127-0129-FEA6E44FF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320" y="2837880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6</a:t>
            </a: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78" name="Text Box 80">
            <a:extLst>
              <a:ext uri="{FF2B5EF4-FFF2-40B4-BE49-F238E27FC236}">
                <a16:creationId xmlns:a16="http://schemas.microsoft.com/office/drawing/2014/main" id="{7BCBB46A-43BE-D61D-18D6-353788B6F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3082" y="5047680"/>
            <a:ext cx="67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i="1">
                <a:solidFill>
                  <a:prstClr val="black"/>
                </a:solidFill>
                <a:latin typeface="ISOCPEUR" pitchFamily="34" charset="0"/>
              </a:rPr>
              <a:t>(  )</a:t>
            </a:r>
            <a:endParaRPr lang="en-US" altLang="zh-CN" sz="2000" i="1">
              <a:solidFill>
                <a:prstClr val="black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79" name="Line 81">
            <a:extLst>
              <a:ext uri="{FF2B5EF4-FFF2-40B4-BE49-F238E27FC236}">
                <a16:creationId xmlns:a16="http://schemas.microsoft.com/office/drawing/2014/main" id="{7185D82C-27A4-9581-3F5D-768A1B6693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07882" y="4966717"/>
            <a:ext cx="107950" cy="1397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0" name="Line 82">
            <a:extLst>
              <a:ext uri="{FF2B5EF4-FFF2-40B4-BE49-F238E27FC236}">
                <a16:creationId xmlns:a16="http://schemas.microsoft.com/office/drawing/2014/main" id="{1092C7A0-223F-FC2C-D0C7-C4A5A1ABFE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25282" y="4357117"/>
            <a:ext cx="469900" cy="5969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1" name="Line 83">
            <a:extLst>
              <a:ext uri="{FF2B5EF4-FFF2-40B4-BE49-F238E27FC236}">
                <a16:creationId xmlns:a16="http://schemas.microsoft.com/office/drawing/2014/main" id="{1AD909C9-A441-8AD8-9ED6-4CD9C71F00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3332" y="4363467"/>
            <a:ext cx="361950" cy="539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2" name="Line 84">
            <a:extLst>
              <a:ext uri="{FF2B5EF4-FFF2-40B4-BE49-F238E27FC236}">
                <a16:creationId xmlns:a16="http://schemas.microsoft.com/office/drawing/2014/main" id="{B324AC66-2B5E-5240-2222-DAB4E13786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1882" y="4903217"/>
            <a:ext cx="171450" cy="2667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3" name="Line 85">
            <a:extLst>
              <a:ext uri="{FF2B5EF4-FFF2-40B4-BE49-F238E27FC236}">
                <a16:creationId xmlns:a16="http://schemas.microsoft.com/office/drawing/2014/main" id="{14F73958-79E2-1B65-756F-6DAC3E2F4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8232" y="5169917"/>
            <a:ext cx="431800" cy="1333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4" name="Line 86">
            <a:extLst>
              <a:ext uri="{FF2B5EF4-FFF2-40B4-BE49-F238E27FC236}">
                <a16:creationId xmlns:a16="http://schemas.microsoft.com/office/drawing/2014/main" id="{CD7B3742-8996-80D9-FAE8-7C48614A63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6382" y="5106417"/>
            <a:ext cx="679450" cy="19685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5" name="Text Box 89">
            <a:extLst>
              <a:ext uri="{FF2B5EF4-FFF2-40B4-BE49-F238E27FC236}">
                <a16:creationId xmlns:a16="http://schemas.microsoft.com/office/drawing/2014/main" id="{A44F022B-978E-C916-E3C3-4E40165E8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7" y="3175129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作图步骤：</a:t>
            </a:r>
          </a:p>
        </p:txBody>
      </p:sp>
      <p:sp>
        <p:nvSpPr>
          <p:cNvPr id="86" name="Text Box 90">
            <a:extLst>
              <a:ext uri="{FF2B5EF4-FFF2-40B4-BE49-F238E27FC236}">
                <a16:creationId xmlns:a16="http://schemas.microsoft.com/office/drawing/2014/main" id="{DD344EAA-3371-25E7-1781-A60B660AC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93" y="3677174"/>
            <a:ext cx="4559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利用辅助面法求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的交点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en-US" altLang="zh-CN" sz="2800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Line 91">
            <a:extLst>
              <a:ext uri="{FF2B5EF4-FFF2-40B4-BE49-F238E27FC236}">
                <a16:creationId xmlns:a16="http://schemas.microsoft.com/office/drawing/2014/main" id="{9B0AF1B6-26A1-882C-5620-6B6EE30F1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6032" y="4896867"/>
            <a:ext cx="825500" cy="571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8" name="Line 92">
            <a:extLst>
              <a:ext uri="{FF2B5EF4-FFF2-40B4-BE49-F238E27FC236}">
                <a16:creationId xmlns:a16="http://schemas.microsoft.com/office/drawing/2014/main" id="{471A68BF-2FBE-2B6E-1D28-FB2F1C5AE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682" y="3087117"/>
            <a:ext cx="831850" cy="88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89" name="Text Box 93">
            <a:extLst>
              <a:ext uri="{FF2B5EF4-FFF2-40B4-BE49-F238E27FC236}">
                <a16:creationId xmlns:a16="http://schemas.microsoft.com/office/drawing/2014/main" id="{2910E1A9-1A7F-2C1D-1061-7A8CAEA1F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93" y="4115324"/>
            <a:ext cx="45031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利用辅助面法求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的交点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</a:p>
        </p:txBody>
      </p:sp>
      <p:sp>
        <p:nvSpPr>
          <p:cNvPr id="90" name="Text Box 94">
            <a:extLst>
              <a:ext uri="{FF2B5EF4-FFF2-40B4-BE49-F238E27FC236}">
                <a16:creationId xmlns:a16="http://schemas.microsoft.com/office/drawing/2014/main" id="{C25445EC-07CA-3D1B-C1DB-F62F11458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93" y="4591574"/>
            <a:ext cx="43508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连接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KL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000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kern="0" dirty="0">
                <a:latin typeface="黑体" pitchFamily="2" charset="-122"/>
                <a:ea typeface="黑体" pitchFamily="2" charset="-122"/>
              </a:rPr>
              <a:t>Δ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的交线</a:t>
            </a:r>
            <a:endParaRPr lang="zh-CN" altLang="en-US" sz="2800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 Box 95">
            <a:extLst>
              <a:ext uri="{FF2B5EF4-FFF2-40B4-BE49-F238E27FC236}">
                <a16:creationId xmlns:a16="http://schemas.microsoft.com/office/drawing/2014/main" id="{39F488B3-1497-02A8-5940-AEE475C5C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93" y="5048774"/>
            <a:ext cx="29370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利用重影点判断可见性</a:t>
            </a:r>
          </a:p>
        </p:txBody>
      </p:sp>
      <p:sp>
        <p:nvSpPr>
          <p:cNvPr id="92" name="Line 101">
            <a:extLst>
              <a:ext uri="{FF2B5EF4-FFF2-40B4-BE49-F238E27FC236}">
                <a16:creationId xmlns:a16="http://schemas.microsoft.com/office/drawing/2014/main" id="{8BF146C9-430A-C464-060C-FE0B26478C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5282" y="2483867"/>
            <a:ext cx="0" cy="1397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3" name="AutoShape 102">
            <a:extLst>
              <a:ext uri="{FF2B5EF4-FFF2-40B4-BE49-F238E27FC236}">
                <a16:creationId xmlns:a16="http://schemas.microsoft.com/office/drawing/2014/main" id="{A0539E7D-EF1F-4063-1192-3D8D7849C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582" y="3042667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4" name="AutoShape 103">
            <a:extLst>
              <a:ext uri="{FF2B5EF4-FFF2-40B4-BE49-F238E27FC236}">
                <a16:creationId xmlns:a16="http://schemas.microsoft.com/office/drawing/2014/main" id="{3180FD96-7DF1-F36E-39A1-159784C95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082" y="3131567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rgbClr val="0000CC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5" name="AutoShape 104">
            <a:extLst>
              <a:ext uri="{FF2B5EF4-FFF2-40B4-BE49-F238E27FC236}">
                <a16:creationId xmlns:a16="http://schemas.microsoft.com/office/drawing/2014/main" id="{7B45A410-B496-A030-9B92-A0C8D1B69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582" y="4865117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6" name="AutoShape 105">
            <a:extLst>
              <a:ext uri="{FF2B5EF4-FFF2-40B4-BE49-F238E27FC236}">
                <a16:creationId xmlns:a16="http://schemas.microsoft.com/office/drawing/2014/main" id="{50DB657D-A07A-E535-3AC7-C59A868A8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082" y="4915917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rgbClr val="0000CC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7" name="Rectangle 8">
            <a:extLst>
              <a:ext uri="{FF2B5EF4-FFF2-40B4-BE49-F238E27FC236}">
                <a16:creationId xmlns:a16="http://schemas.microsoft.com/office/drawing/2014/main" id="{C0883A30-2C75-47D2-E979-97B5476D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58934"/>
            <a:ext cx="62424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：利用辅助平面法，直线和平面都处在一般位置</a:t>
            </a:r>
          </a:p>
        </p:txBody>
      </p:sp>
      <p:sp>
        <p:nvSpPr>
          <p:cNvPr id="98" name="Rectangle 8">
            <a:extLst>
              <a:ext uri="{FF2B5EF4-FFF2-40B4-BE49-F238E27FC236}">
                <a16:creationId xmlns:a16="http://schemas.microsoft.com/office/drawing/2014/main" id="{0356766A-80B7-497C-9B3A-99F6AFBA6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60" y="2153536"/>
            <a:ext cx="12715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261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00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0"/>
                                            </p:cond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500"/>
                            </p:stCondLst>
                            <p:childTnLst>
                              <p:par>
                                <p:cTn id="1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000"/>
                            </p:stCondLst>
                            <p:childTnLst>
                              <p:par>
                                <p:cTn id="1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500"/>
                            </p:stCondLst>
                            <p:childTnLst>
                              <p:par>
                                <p:cTn id="2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000"/>
                            </p:stCondLst>
                            <p:childTnLst>
                              <p:par>
                                <p:cTn id="2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3500"/>
                            </p:stCondLst>
                            <p:childTnLst>
                              <p:par>
                                <p:cTn id="2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500"/>
                            </p:stCondLst>
                            <p:childTnLst>
                              <p:par>
                                <p:cTn id="2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000"/>
                            </p:stCondLst>
                            <p:childTnLst>
                              <p:par>
                                <p:cTn id="2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00"/>
                            </p:stCondLst>
                            <p:childTnLst>
                              <p:par>
                                <p:cTn id="2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500"/>
                            </p:stCondLst>
                            <p:childTnLst>
                              <p:par>
                                <p:cTn id="2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00"/>
                            </p:stCondLst>
                            <p:childTnLst>
                              <p:par>
                                <p:cTn id="3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500"/>
                            </p:stCondLst>
                            <p:childTnLst>
                              <p:par>
                                <p:cTn id="3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500"/>
                            </p:stCondLst>
                            <p:childTnLst>
                              <p:par>
                                <p:cTn id="3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0"/>
                            </p:stCondLst>
                            <p:childTnLst>
                              <p:par>
                                <p:cTn id="3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500"/>
                            </p:stCondLst>
                            <p:childTnLst>
                              <p:par>
                                <p:cTn id="3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1000"/>
                            </p:stCondLst>
                            <p:childTnLst>
                              <p:par>
                                <p:cTn id="3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1500"/>
                            </p:stCondLst>
                            <p:childTnLst>
                              <p:par>
                                <p:cTn id="3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2000"/>
                            </p:stCondLst>
                            <p:childTnLst>
                              <p:par>
                                <p:cTn id="3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1" grpId="0" autoUpdateAnimBg="0"/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6" grpId="0" autoUpdateAnimBg="0"/>
      <p:bldP spid="38" grpId="0" autoUpdateAnimBg="0"/>
      <p:bldP spid="39" grpId="0" autoUpdateAnimBg="0"/>
      <p:bldP spid="41" grpId="0" autoUpdateAnimBg="0"/>
      <p:bldP spid="43" grpId="0" autoUpdateAnimBg="0"/>
      <p:bldP spid="45" grpId="0" autoUpdateAnimBg="0"/>
      <p:bldP spid="47" grpId="0" autoUpdateAnimBg="0"/>
      <p:bldP spid="49" grpId="0" autoUpdateAnimBg="0"/>
      <p:bldP spid="50" grpId="0" autoUpdateAnimBg="0"/>
      <p:bldP spid="51" grpId="0" autoUpdateAnimBg="0"/>
      <p:bldP spid="53" grpId="0" autoUpdateAnimBg="0"/>
      <p:bldP spid="56" grpId="0" autoUpdateAnimBg="0"/>
      <p:bldP spid="58" grpId="0" autoUpdateAnimBg="0"/>
      <p:bldP spid="60" grpId="0" autoUpdateAnimBg="0"/>
      <p:bldP spid="63" grpId="0" autoUpdateAnimBg="0"/>
      <p:bldP spid="65" grpId="0" autoUpdateAnimBg="0"/>
      <p:bldP spid="66" grpId="0" autoUpdateAnimBg="0"/>
      <p:bldP spid="75" grpId="0" autoUpdateAnimBg="0"/>
      <p:bldP spid="77" grpId="0" autoUpdateAnimBg="0"/>
      <p:bldP spid="78" grpId="0" autoUpdateAnimBg="0"/>
      <p:bldP spid="85" grpId="0"/>
      <p:bldP spid="86" grpId="0"/>
      <p:bldP spid="89" grpId="0"/>
      <p:bldP spid="90" grpId="0" autoUpdateAnimBg="0"/>
      <p:bldP spid="91" grpId="0"/>
      <p:bldP spid="93" grpId="0" animBg="1"/>
      <p:bldP spid="94" grpId="0" animBg="1"/>
      <p:bldP spid="95" grpId="0" animBg="1"/>
      <p:bldP spid="9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5A4D-A953-7487-89C9-1148A857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775F478-DF3B-28A6-D2F8-2720EA79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C615B93-F31A-6F0E-56DC-E9CD3E98D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B19D98-A2AB-C2DC-9BA8-3F4849A21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70274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14350" indent="-51435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B3BAAC-D506-0148-623C-1965D1552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844824"/>
            <a:ext cx="6336704" cy="280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相交问题的核心：求公有点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基本方法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：利用积聚性，直线或平面处于特殊位置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基本方法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：辅助平面法，直线或平面处于一般位置（辅助平面一般选择特殊位置平面）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交线：在两平面内的共有区域内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掌握利用重影点判断可见性的方法</a:t>
            </a:r>
          </a:p>
        </p:txBody>
      </p:sp>
    </p:spTree>
    <p:extLst>
      <p:ext uri="{BB962C8B-B14F-4D97-AF65-F5344CB8AC3E}">
        <p14:creationId xmlns:p14="http://schemas.microsoft.com/office/powerpoint/2010/main" val="163286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290C-F448-5A38-8CC0-AC7206AF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AD46AA-D325-0EB7-005C-21426A15166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631407" y="2727900"/>
            <a:ext cx="388119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F965A2-1CE8-C918-40D2-C169E3A94F57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3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4566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CBAF-1819-2965-CE30-674B0077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05D542F-4ECA-1D72-A6A7-7D9B9A3C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27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8B526E0-C922-E961-0AD6-B9C0A1E05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68F592-F800-A6FE-D6B5-67E8F1EC8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2646878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任意角的投影</a:t>
            </a:r>
          </a:p>
        </p:txBody>
      </p:sp>
      <p:sp>
        <p:nvSpPr>
          <p:cNvPr id="3" name="Text Box 35">
            <a:extLst>
              <a:ext uri="{FF2B5EF4-FFF2-40B4-BE49-F238E27FC236}">
                <a16:creationId xmlns:a16="http://schemas.microsoft.com/office/drawing/2014/main" id="{DBB02807-2EAE-8303-3048-DA6BCB20A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993" y="5704656"/>
            <a:ext cx="1032655" cy="420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l-GR" altLang="zh-CN" sz="32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θ</a:t>
            </a:r>
            <a:r>
              <a:rPr kumimoji="0" lang="en-US" altLang="zh-CN" sz="20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 </a:t>
            </a:r>
            <a:r>
              <a:rPr kumimoji="0" lang="en-US" altLang="zh-CN" sz="3200" i="1" baseline="-100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≠ </a:t>
            </a:r>
            <a:r>
              <a:rPr kumimoji="0" lang="el-GR" altLang="zh-CN" sz="32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θ</a:t>
            </a:r>
            <a:r>
              <a:rPr kumimoji="0" lang="en-US" altLang="zh-CN" sz="20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1</a:t>
            </a:r>
            <a:endParaRPr kumimoji="0" lang="en-US" altLang="zh-CN" sz="3200" i="1" baseline="-10000" dirty="0">
              <a:solidFill>
                <a:srgbClr val="000000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35B4CE3-BBFF-4A50-E3E1-71ABD6FC35D3}"/>
              </a:ext>
            </a:extLst>
          </p:cNvPr>
          <p:cNvGrpSpPr/>
          <p:nvPr/>
        </p:nvGrpSpPr>
        <p:grpSpPr>
          <a:xfrm>
            <a:off x="4777675" y="3608417"/>
            <a:ext cx="3619500" cy="2038350"/>
            <a:chOff x="969963" y="4203700"/>
            <a:chExt cx="3619500" cy="203835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7AFC196-1268-35B2-DF25-BE59F2D75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963" y="5257800"/>
              <a:ext cx="3619500" cy="933450"/>
            </a:xfrm>
            <a:custGeom>
              <a:avLst/>
              <a:gdLst>
                <a:gd name="T0" fmla="*/ 1088715 w 2274"/>
                <a:gd name="T1" fmla="*/ 0 h 678"/>
                <a:gd name="T2" fmla="*/ 3619500 w 2274"/>
                <a:gd name="T3" fmla="*/ 0 h 678"/>
                <a:gd name="T4" fmla="*/ 2530785 w 2274"/>
                <a:gd name="T5" fmla="*/ 933450 h 678"/>
                <a:gd name="T6" fmla="*/ 0 w 2274"/>
                <a:gd name="T7" fmla="*/ 933450 h 678"/>
                <a:gd name="T8" fmla="*/ 1088715 w 2274"/>
                <a:gd name="T9" fmla="*/ 0 h 6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4"/>
                <a:gd name="T16" fmla="*/ 0 h 678"/>
                <a:gd name="T17" fmla="*/ 2274 w 2274"/>
                <a:gd name="T18" fmla="*/ 678 h 6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4" h="678">
                  <a:moveTo>
                    <a:pt x="684" y="0"/>
                  </a:moveTo>
                  <a:lnTo>
                    <a:pt x="2274" y="0"/>
                  </a:lnTo>
                  <a:lnTo>
                    <a:pt x="1590" y="678"/>
                  </a:lnTo>
                  <a:lnTo>
                    <a:pt x="0" y="678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FFFFFF">
                <a:alpha val="56078"/>
              </a:srgbClr>
            </a:solidFill>
            <a:ln w="9525">
              <a:solidFill>
                <a:srgbClr val="333333"/>
              </a:solidFill>
              <a:round/>
              <a:headEnd/>
              <a:tailEnd type="none" w="sm" len="lg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376844D-E714-BFE9-238B-2B8E3CCD3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963" y="5260975"/>
              <a:ext cx="3619500" cy="927100"/>
            </a:xfrm>
            <a:custGeom>
              <a:avLst/>
              <a:gdLst>
                <a:gd name="T0" fmla="*/ 0 w 2280"/>
                <a:gd name="T1" fmla="*/ 927100 h 584"/>
                <a:gd name="T2" fmla="*/ 2527300 w 2280"/>
                <a:gd name="T3" fmla="*/ 927100 h 584"/>
                <a:gd name="T4" fmla="*/ 3619500 w 2280"/>
                <a:gd name="T5" fmla="*/ 0 h 584"/>
                <a:gd name="T6" fmla="*/ 0 60000 65536"/>
                <a:gd name="T7" fmla="*/ 0 60000 65536"/>
                <a:gd name="T8" fmla="*/ 0 60000 65536"/>
                <a:gd name="T9" fmla="*/ 0 w 2280"/>
                <a:gd name="T10" fmla="*/ 0 h 584"/>
                <a:gd name="T11" fmla="*/ 2280 w 2280"/>
                <a:gd name="T12" fmla="*/ 584 h 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0" h="584">
                  <a:moveTo>
                    <a:pt x="0" y="584"/>
                  </a:moveTo>
                  <a:lnTo>
                    <a:pt x="1592" y="584"/>
                  </a:lnTo>
                  <a:lnTo>
                    <a:pt x="2280" y="0"/>
                  </a:lnTo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8A6971B9-F072-8A14-D679-1E001538B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738" y="4681538"/>
              <a:ext cx="0" cy="892175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B98BE8E6-B751-6E2D-524A-9B443FA14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238" y="5175250"/>
              <a:ext cx="0" cy="89535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A0E11959-3CB4-DEEF-B06A-20750FA22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988" y="4437063"/>
              <a:ext cx="0" cy="893762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36BE0DBC-1451-31A1-52AE-9C86B6EFB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4638" y="4395788"/>
              <a:ext cx="2873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BDCB866-0065-2633-C53F-F3B2E34A9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38" y="4435475"/>
              <a:ext cx="2000250" cy="739775"/>
            </a:xfrm>
            <a:custGeom>
              <a:avLst/>
              <a:gdLst>
                <a:gd name="T0" fmla="*/ 0 w 1260"/>
                <a:gd name="T1" fmla="*/ 244475 h 466"/>
                <a:gd name="T2" fmla="*/ 2000250 w 1260"/>
                <a:gd name="T3" fmla="*/ 0 h 466"/>
                <a:gd name="T4" fmla="*/ 571500 w 1260"/>
                <a:gd name="T5" fmla="*/ 739775 h 466"/>
                <a:gd name="T6" fmla="*/ 0 w 1260"/>
                <a:gd name="T7" fmla="*/ 244475 h 4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0"/>
                <a:gd name="T13" fmla="*/ 0 h 466"/>
                <a:gd name="T14" fmla="*/ 1260 w 1260"/>
                <a:gd name="T15" fmla="*/ 466 h 4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0" h="466">
                  <a:moveTo>
                    <a:pt x="0" y="154"/>
                  </a:moveTo>
                  <a:lnTo>
                    <a:pt x="1260" y="0"/>
                  </a:lnTo>
                  <a:lnTo>
                    <a:pt x="360" y="466"/>
                  </a:lnTo>
                  <a:lnTo>
                    <a:pt x="0" y="154"/>
                  </a:lnTo>
                  <a:close/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7B2CBEB-16F5-6AC2-178D-E054A4FE6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38" y="5330825"/>
              <a:ext cx="2000250" cy="739775"/>
            </a:xfrm>
            <a:custGeom>
              <a:avLst/>
              <a:gdLst>
                <a:gd name="T0" fmla="*/ 0 w 1260"/>
                <a:gd name="T1" fmla="*/ 244475 h 466"/>
                <a:gd name="T2" fmla="*/ 2000250 w 1260"/>
                <a:gd name="T3" fmla="*/ 0 h 466"/>
                <a:gd name="T4" fmla="*/ 571500 w 1260"/>
                <a:gd name="T5" fmla="*/ 739775 h 466"/>
                <a:gd name="T6" fmla="*/ 0 w 1260"/>
                <a:gd name="T7" fmla="*/ 244475 h 4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0"/>
                <a:gd name="T13" fmla="*/ 0 h 466"/>
                <a:gd name="T14" fmla="*/ 1260 w 1260"/>
                <a:gd name="T15" fmla="*/ 466 h 4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0" h="466">
                  <a:moveTo>
                    <a:pt x="0" y="154"/>
                  </a:moveTo>
                  <a:lnTo>
                    <a:pt x="1260" y="0"/>
                  </a:lnTo>
                  <a:lnTo>
                    <a:pt x="360" y="466"/>
                  </a:lnTo>
                  <a:lnTo>
                    <a:pt x="0" y="154"/>
                  </a:lnTo>
                  <a:close/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71DF3519-FB23-3DC1-C6E6-59E6BE828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700" y="4203700"/>
              <a:ext cx="2873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C</a:t>
              </a:r>
            </a:p>
          </p:txBody>
        </p:sp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20CCC6DF-B69F-0B3A-6E4B-EF7B5D5EA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425" y="4778375"/>
              <a:ext cx="2873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16" name="Text Box 24">
              <a:extLst>
                <a:ext uri="{FF2B5EF4-FFF2-40B4-BE49-F238E27FC236}">
                  <a16:creationId xmlns:a16="http://schemas.microsoft.com/office/drawing/2014/main" id="{E91EFCBD-4DCE-FC5C-2B5D-CBC8FD53F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550" y="5462588"/>
              <a:ext cx="2873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17" name="Text Box 25">
              <a:extLst>
                <a:ext uri="{FF2B5EF4-FFF2-40B4-BE49-F238E27FC236}">
                  <a16:creationId xmlns:a16="http://schemas.microsoft.com/office/drawing/2014/main" id="{CB2C7D38-2517-0E40-EF4B-81842A297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9363" y="5129213"/>
              <a:ext cx="4048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c </a:t>
              </a:r>
            </a:p>
          </p:txBody>
        </p: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EB2C3F55-3D7C-90EF-3253-1BBB389A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7563" y="5845175"/>
              <a:ext cx="2873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19" name="Arc 30">
              <a:extLst>
                <a:ext uri="{FF2B5EF4-FFF2-40B4-BE49-F238E27FC236}">
                  <a16:creationId xmlns:a16="http://schemas.microsoft.com/office/drawing/2014/main" id="{854D0DA0-17D8-5F7F-6B80-98B2CD64CD6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4225" y="5383213"/>
              <a:ext cx="387350" cy="149225"/>
            </a:xfrm>
            <a:custGeom>
              <a:avLst/>
              <a:gdLst>
                <a:gd name="T0" fmla="*/ 6401210 w 21600"/>
                <a:gd name="T1" fmla="*/ 0 h 24336"/>
                <a:gd name="T2" fmla="*/ 4684890 w 21600"/>
                <a:gd name="T3" fmla="*/ 915027 h 24336"/>
                <a:gd name="T4" fmla="*/ 0 w 21600"/>
                <a:gd name="T5" fmla="*/ 315386 h 2433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336"/>
                <a:gd name="T11" fmla="*/ 21600 w 21600"/>
                <a:gd name="T12" fmla="*/ 24336 h 24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336" fill="none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4455"/>
                    <a:pt x="19047" y="20243"/>
                    <a:pt x="14567" y="24335"/>
                  </a:cubicBezTo>
                </a:path>
                <a:path w="21600" h="24336" stroke="0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4455"/>
                    <a:pt x="19047" y="20243"/>
                    <a:pt x="14567" y="24335"/>
                  </a:cubicBezTo>
                  <a:lnTo>
                    <a:pt x="0" y="8388"/>
                  </a:lnTo>
                  <a:close/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0" name="Text Box 33">
              <a:extLst>
                <a:ext uri="{FF2B5EF4-FFF2-40B4-BE49-F238E27FC236}">
                  <a16:creationId xmlns:a16="http://schemas.microsoft.com/office/drawing/2014/main" id="{FE9AFF8F-F9EC-97BF-3FB4-E7BB32121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105" y="5366990"/>
              <a:ext cx="39946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l-GR" altLang="zh-CN" sz="1600" i="1" dirty="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θ</a:t>
              </a:r>
              <a:r>
                <a:rPr kumimoji="0" lang="en-US" altLang="zh-CN" sz="1600" i="1" baseline="-10000" dirty="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2 </a:t>
              </a:r>
              <a:endParaRPr kumimoji="0" lang="el-GR" altLang="zh-CN" sz="16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" name="Arc 36">
              <a:extLst>
                <a:ext uri="{FF2B5EF4-FFF2-40B4-BE49-F238E27FC236}">
                  <a16:creationId xmlns:a16="http://schemas.microsoft.com/office/drawing/2014/main" id="{BC79E17B-FB68-D983-9A0C-35DE3C6BCB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94063" y="4489450"/>
              <a:ext cx="387350" cy="149225"/>
            </a:xfrm>
            <a:custGeom>
              <a:avLst/>
              <a:gdLst>
                <a:gd name="T0" fmla="*/ 6401210 w 21600"/>
                <a:gd name="T1" fmla="*/ 0 h 24336"/>
                <a:gd name="T2" fmla="*/ 4684890 w 21600"/>
                <a:gd name="T3" fmla="*/ 915027 h 24336"/>
                <a:gd name="T4" fmla="*/ 0 w 21600"/>
                <a:gd name="T5" fmla="*/ 315386 h 2433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336"/>
                <a:gd name="T11" fmla="*/ 21600 w 21600"/>
                <a:gd name="T12" fmla="*/ 24336 h 24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336" fill="none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4455"/>
                    <a:pt x="19047" y="20243"/>
                    <a:pt x="14567" y="24335"/>
                  </a:cubicBezTo>
                </a:path>
                <a:path w="21600" h="24336" stroke="0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4455"/>
                    <a:pt x="19047" y="20243"/>
                    <a:pt x="14567" y="24335"/>
                  </a:cubicBezTo>
                  <a:lnTo>
                    <a:pt x="0" y="8388"/>
                  </a:lnTo>
                  <a:close/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2" name="Text Box 37">
              <a:extLst>
                <a:ext uri="{FF2B5EF4-FFF2-40B4-BE49-F238E27FC236}">
                  <a16:creationId xmlns:a16="http://schemas.microsoft.com/office/drawing/2014/main" id="{FE62C29B-569A-778D-12AA-0C0E10F42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3793" y="4462289"/>
              <a:ext cx="358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l-GR" altLang="zh-CN" sz="1600" i="1" dirty="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θ</a:t>
              </a:r>
              <a:endParaRPr kumimoji="0" lang="el-GR" altLang="zh-CN" sz="16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23" name="Text Box 40">
            <a:extLst>
              <a:ext uri="{FF2B5EF4-FFF2-40B4-BE49-F238E27FC236}">
                <a16:creationId xmlns:a16="http://schemas.microsoft.com/office/drawing/2014/main" id="{539D759C-1C96-902E-36E6-AE22963FD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443" y="5704656"/>
            <a:ext cx="1074333" cy="420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l-GR" altLang="zh-CN" sz="32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θ</a:t>
            </a:r>
            <a:r>
              <a:rPr kumimoji="0" lang="en-US" altLang="zh-CN" sz="32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 </a:t>
            </a:r>
            <a:r>
              <a:rPr kumimoji="0" lang="zh-CN" altLang="en-US" sz="3200" i="1" baseline="-100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＝ </a:t>
            </a:r>
            <a:r>
              <a:rPr kumimoji="0" lang="el-GR" altLang="zh-CN" sz="32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θ</a:t>
            </a:r>
            <a:r>
              <a:rPr kumimoji="0" lang="en-US" altLang="zh-CN" i="1" baseline="-25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2</a:t>
            </a:r>
            <a:endParaRPr kumimoji="0" lang="en-US" altLang="zh-CN" sz="3200" i="1" baseline="-25000" dirty="0">
              <a:solidFill>
                <a:srgbClr val="000000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1260627-AB18-5FDE-B9D0-427FC3AE61AC}"/>
              </a:ext>
            </a:extLst>
          </p:cNvPr>
          <p:cNvGrpSpPr/>
          <p:nvPr/>
        </p:nvGrpSpPr>
        <p:grpSpPr>
          <a:xfrm>
            <a:off x="528630" y="2685837"/>
            <a:ext cx="3629025" cy="3009900"/>
            <a:chOff x="4567238" y="3240088"/>
            <a:chExt cx="3629025" cy="3009900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3470992-F400-34FA-E16A-0DBAEC757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363" y="3563938"/>
              <a:ext cx="1339850" cy="1600200"/>
            </a:xfrm>
            <a:custGeom>
              <a:avLst/>
              <a:gdLst>
                <a:gd name="T0" fmla="*/ 0 w 844"/>
                <a:gd name="T1" fmla="*/ 1108075 h 1008"/>
                <a:gd name="T2" fmla="*/ 574675 w 844"/>
                <a:gd name="T3" fmla="*/ 1600200 h 1008"/>
                <a:gd name="T4" fmla="*/ 1339850 w 844"/>
                <a:gd name="T5" fmla="*/ 0 h 1008"/>
                <a:gd name="T6" fmla="*/ 0 w 844"/>
                <a:gd name="T7" fmla="*/ 11080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4"/>
                <a:gd name="T13" fmla="*/ 0 h 1008"/>
                <a:gd name="T14" fmla="*/ 844 w 84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4" h="1008">
                  <a:moveTo>
                    <a:pt x="0" y="698"/>
                  </a:moveTo>
                  <a:lnTo>
                    <a:pt x="362" y="1008"/>
                  </a:lnTo>
                  <a:lnTo>
                    <a:pt x="844" y="0"/>
                  </a:lnTo>
                  <a:lnTo>
                    <a:pt x="0" y="698"/>
                  </a:lnTo>
                  <a:close/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D794890-0786-E470-51E6-E6EADCC9A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5259388"/>
              <a:ext cx="3619500" cy="933450"/>
            </a:xfrm>
            <a:custGeom>
              <a:avLst/>
              <a:gdLst>
                <a:gd name="T0" fmla="*/ 1088715 w 2274"/>
                <a:gd name="T1" fmla="*/ 0 h 678"/>
                <a:gd name="T2" fmla="*/ 3619500 w 2274"/>
                <a:gd name="T3" fmla="*/ 0 h 678"/>
                <a:gd name="T4" fmla="*/ 2530785 w 2274"/>
                <a:gd name="T5" fmla="*/ 933450 h 678"/>
                <a:gd name="T6" fmla="*/ 0 w 2274"/>
                <a:gd name="T7" fmla="*/ 933450 h 678"/>
                <a:gd name="T8" fmla="*/ 1088715 w 2274"/>
                <a:gd name="T9" fmla="*/ 0 h 6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4"/>
                <a:gd name="T16" fmla="*/ 0 h 678"/>
                <a:gd name="T17" fmla="*/ 2274 w 2274"/>
                <a:gd name="T18" fmla="*/ 678 h 6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4" h="678">
                  <a:moveTo>
                    <a:pt x="684" y="0"/>
                  </a:moveTo>
                  <a:lnTo>
                    <a:pt x="2274" y="0"/>
                  </a:lnTo>
                  <a:lnTo>
                    <a:pt x="1590" y="678"/>
                  </a:lnTo>
                  <a:lnTo>
                    <a:pt x="0" y="678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FFFFFF">
                <a:alpha val="56078"/>
              </a:srgbClr>
            </a:solidFill>
            <a:ln w="9525">
              <a:solidFill>
                <a:srgbClr val="333333"/>
              </a:solidFill>
              <a:round/>
              <a:headEnd/>
              <a:tailEnd type="none" w="sm" len="lg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9DAD0A36-28A0-ACF0-5BDD-ED572FE40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763" y="5256213"/>
              <a:ext cx="3619500" cy="927100"/>
            </a:xfrm>
            <a:custGeom>
              <a:avLst/>
              <a:gdLst>
                <a:gd name="T0" fmla="*/ 0 w 2280"/>
                <a:gd name="T1" fmla="*/ 927100 h 584"/>
                <a:gd name="T2" fmla="*/ 2527300 w 2280"/>
                <a:gd name="T3" fmla="*/ 927100 h 584"/>
                <a:gd name="T4" fmla="*/ 3619500 w 2280"/>
                <a:gd name="T5" fmla="*/ 0 h 584"/>
                <a:gd name="T6" fmla="*/ 0 60000 65536"/>
                <a:gd name="T7" fmla="*/ 0 60000 65536"/>
                <a:gd name="T8" fmla="*/ 0 60000 65536"/>
                <a:gd name="T9" fmla="*/ 0 w 2280"/>
                <a:gd name="T10" fmla="*/ 0 h 584"/>
                <a:gd name="T11" fmla="*/ 2280 w 2280"/>
                <a:gd name="T12" fmla="*/ 584 h 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0" h="584">
                  <a:moveTo>
                    <a:pt x="0" y="584"/>
                  </a:moveTo>
                  <a:lnTo>
                    <a:pt x="1592" y="584"/>
                  </a:lnTo>
                  <a:lnTo>
                    <a:pt x="2280" y="0"/>
                  </a:lnTo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1A66A824-AC26-45C7-1041-1DC48B971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0363" y="4676775"/>
              <a:ext cx="0" cy="892175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F32C2B3B-9AA0-B475-8D91-FD74DC01D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3563938"/>
              <a:ext cx="0" cy="194310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5787C92C-CD68-9D75-3E6A-494C03040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363" y="5507038"/>
              <a:ext cx="1339850" cy="557212"/>
            </a:xfrm>
            <a:custGeom>
              <a:avLst/>
              <a:gdLst>
                <a:gd name="T0" fmla="*/ 0 w 844"/>
                <a:gd name="T1" fmla="*/ 61912 h 351"/>
                <a:gd name="T2" fmla="*/ 1339850 w 844"/>
                <a:gd name="T3" fmla="*/ 0 h 351"/>
                <a:gd name="T4" fmla="*/ 576263 w 844"/>
                <a:gd name="T5" fmla="*/ 557212 h 351"/>
                <a:gd name="T6" fmla="*/ 0 w 844"/>
                <a:gd name="T7" fmla="*/ 61912 h 3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4"/>
                <a:gd name="T13" fmla="*/ 0 h 351"/>
                <a:gd name="T14" fmla="*/ 844 w 844"/>
                <a:gd name="T15" fmla="*/ 351 h 3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4" h="351">
                  <a:moveTo>
                    <a:pt x="0" y="39"/>
                  </a:moveTo>
                  <a:lnTo>
                    <a:pt x="844" y="0"/>
                  </a:lnTo>
                  <a:lnTo>
                    <a:pt x="363" y="351"/>
                  </a:lnTo>
                  <a:lnTo>
                    <a:pt x="0" y="39"/>
                  </a:lnTo>
                  <a:close/>
                </a:path>
              </a:pathLst>
            </a:cu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1" name="Line 18">
              <a:extLst>
                <a:ext uri="{FF2B5EF4-FFF2-40B4-BE49-F238E27FC236}">
                  <a16:creationId xmlns:a16="http://schemas.microsoft.com/office/drawing/2014/main" id="{F070914E-2451-E81E-389A-028FF73FF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3450" y="5167313"/>
              <a:ext cx="0" cy="892175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32" name="Text Box 21">
              <a:extLst>
                <a:ext uri="{FF2B5EF4-FFF2-40B4-BE49-F238E27FC236}">
                  <a16:creationId xmlns:a16="http://schemas.microsoft.com/office/drawing/2014/main" id="{8483D092-DB69-DC80-9E1E-E4133BE20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6200" y="4378325"/>
              <a:ext cx="2873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33" name="Text Box 22">
              <a:extLst>
                <a:ext uri="{FF2B5EF4-FFF2-40B4-BE49-F238E27FC236}">
                  <a16:creationId xmlns:a16="http://schemas.microsoft.com/office/drawing/2014/main" id="{A03A34FC-EF95-B3B3-8097-DA1CCA153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8075" y="4232275"/>
              <a:ext cx="2873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C</a:t>
              </a:r>
            </a:p>
          </p:txBody>
        </p:sp>
        <p:sp>
          <p:nvSpPr>
            <p:cNvPr id="34" name="Text Box 23">
              <a:extLst>
                <a:ext uri="{FF2B5EF4-FFF2-40B4-BE49-F238E27FC236}">
                  <a16:creationId xmlns:a16="http://schemas.microsoft.com/office/drawing/2014/main" id="{D3D1FF53-13AF-6A34-7A3E-0FB2968EC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4538" y="4684713"/>
              <a:ext cx="2873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35" name="Text Box 27">
              <a:extLst>
                <a:ext uri="{FF2B5EF4-FFF2-40B4-BE49-F238E27FC236}">
                  <a16:creationId xmlns:a16="http://schemas.microsoft.com/office/drawing/2014/main" id="{4CA18CB6-0817-46AF-A4E6-E6957F563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9225" y="5445125"/>
              <a:ext cx="2873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36" name="Text Box 28">
              <a:extLst>
                <a:ext uri="{FF2B5EF4-FFF2-40B4-BE49-F238E27FC236}">
                  <a16:creationId xmlns:a16="http://schemas.microsoft.com/office/drawing/2014/main" id="{285795E1-F9BA-B50A-B567-B7578B4B7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3300" y="5202238"/>
              <a:ext cx="2873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c</a:t>
              </a:r>
            </a:p>
          </p:txBody>
        </p:sp>
        <p:sp>
          <p:nvSpPr>
            <p:cNvPr id="38" name="Text Box 29">
              <a:extLst>
                <a:ext uri="{FF2B5EF4-FFF2-40B4-BE49-F238E27FC236}">
                  <a16:creationId xmlns:a16="http://schemas.microsoft.com/office/drawing/2014/main" id="{CDDFB28C-C17E-0F46-CA6D-D7A9B1050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8488" y="5853113"/>
              <a:ext cx="2873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39" name="Arc 31">
              <a:extLst>
                <a:ext uri="{FF2B5EF4-FFF2-40B4-BE49-F238E27FC236}">
                  <a16:creationId xmlns:a16="http://schemas.microsoft.com/office/drawing/2014/main" id="{66DE4906-0AEE-492C-FBFA-FA4C7EBBF00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375400" y="5519738"/>
              <a:ext cx="387350" cy="157162"/>
            </a:xfrm>
            <a:custGeom>
              <a:avLst/>
              <a:gdLst>
                <a:gd name="T0" fmla="*/ 6401210 w 21600"/>
                <a:gd name="T1" fmla="*/ 0 h 25563"/>
                <a:gd name="T2" fmla="*/ 4212162 w 21600"/>
                <a:gd name="T3" fmla="*/ 966236 h 25563"/>
                <a:gd name="T4" fmla="*/ 0 w 21600"/>
                <a:gd name="T5" fmla="*/ 317054 h 2556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563"/>
                <a:gd name="T11" fmla="*/ 21600 w 21600"/>
                <a:gd name="T12" fmla="*/ 25563 h 255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563" fill="none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5125"/>
                    <a:pt x="18455" y="21477"/>
                    <a:pt x="13098" y="25563"/>
                  </a:cubicBezTo>
                </a:path>
                <a:path w="21600" h="25563" stroke="0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5125"/>
                    <a:pt x="18455" y="21477"/>
                    <a:pt x="13098" y="25563"/>
                  </a:cubicBezTo>
                  <a:lnTo>
                    <a:pt x="0" y="8388"/>
                  </a:lnTo>
                  <a:close/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40" name="Arc 32">
              <a:extLst>
                <a:ext uri="{FF2B5EF4-FFF2-40B4-BE49-F238E27FC236}">
                  <a16:creationId xmlns:a16="http://schemas.microsoft.com/office/drawing/2014/main" id="{79D533FC-3FA6-FCCE-3C23-8227577394A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318250" y="5518150"/>
              <a:ext cx="415925" cy="195263"/>
            </a:xfrm>
            <a:custGeom>
              <a:avLst/>
              <a:gdLst>
                <a:gd name="T0" fmla="*/ 7380473 w 21600"/>
                <a:gd name="T1" fmla="*/ 0 h 25563"/>
                <a:gd name="T2" fmla="*/ 4856540 w 21600"/>
                <a:gd name="T3" fmla="*/ 1491517 h 25563"/>
                <a:gd name="T4" fmla="*/ 0 w 21600"/>
                <a:gd name="T5" fmla="*/ 489414 h 2556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563"/>
                <a:gd name="T11" fmla="*/ 21600 w 21600"/>
                <a:gd name="T12" fmla="*/ 25563 h 255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563" fill="none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5125"/>
                    <a:pt x="18455" y="21477"/>
                    <a:pt x="13098" y="25563"/>
                  </a:cubicBezTo>
                </a:path>
                <a:path w="21600" h="25563" stroke="0" extrusionOk="0">
                  <a:moveTo>
                    <a:pt x="19904" y="0"/>
                  </a:moveTo>
                  <a:cubicBezTo>
                    <a:pt x="21023" y="2655"/>
                    <a:pt x="21600" y="5506"/>
                    <a:pt x="21600" y="8388"/>
                  </a:cubicBezTo>
                  <a:cubicBezTo>
                    <a:pt x="21600" y="15125"/>
                    <a:pt x="18455" y="21477"/>
                    <a:pt x="13098" y="25563"/>
                  </a:cubicBezTo>
                  <a:lnTo>
                    <a:pt x="0" y="8388"/>
                  </a:lnTo>
                  <a:close/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41" name="Text Box 34">
              <a:extLst>
                <a:ext uri="{FF2B5EF4-FFF2-40B4-BE49-F238E27FC236}">
                  <a16:creationId xmlns:a16="http://schemas.microsoft.com/office/drawing/2014/main" id="{CE42C7F7-D7E6-2CCD-EE31-26100E366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3763" y="5489575"/>
              <a:ext cx="3802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l-GR" altLang="zh-CN" sz="1600" i="1" dirty="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θ</a:t>
              </a:r>
              <a:r>
                <a:rPr kumimoji="0" lang="en-US" altLang="zh-CN" sz="1600" i="1" baseline="-25000" dirty="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1</a:t>
              </a:r>
              <a:r>
                <a:rPr kumimoji="0" lang="en-US" altLang="zh-CN" sz="1600" i="1" baseline="-10000" dirty="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 </a:t>
              </a:r>
              <a:endParaRPr kumimoji="0" lang="el-GR" altLang="zh-CN" sz="16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2" name="Arc 38">
              <a:extLst>
                <a:ext uri="{FF2B5EF4-FFF2-40B4-BE49-F238E27FC236}">
                  <a16:creationId xmlns:a16="http://schemas.microsoft.com/office/drawing/2014/main" id="{1374AD26-F14D-591C-EA1B-E5C8F7C7E65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480175" y="3825875"/>
              <a:ext cx="387350" cy="93663"/>
            </a:xfrm>
            <a:custGeom>
              <a:avLst/>
              <a:gdLst>
                <a:gd name="T0" fmla="*/ 6850464 w 21600"/>
                <a:gd name="T1" fmla="*/ 0 h 19963"/>
                <a:gd name="T2" fmla="*/ 4524732 w 21600"/>
                <a:gd name="T3" fmla="*/ 439451 h 19963"/>
                <a:gd name="T4" fmla="*/ 0 w 21600"/>
                <a:gd name="T5" fmla="*/ 78677 h 1996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963"/>
                <a:gd name="T11" fmla="*/ 21600 w 21600"/>
                <a:gd name="T12" fmla="*/ 19963 h 199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963" fill="none" extrusionOk="0">
                  <a:moveTo>
                    <a:pt x="21302" y="-1"/>
                  </a:moveTo>
                  <a:cubicBezTo>
                    <a:pt x="21500" y="1180"/>
                    <a:pt x="21600" y="2376"/>
                    <a:pt x="21600" y="3574"/>
                  </a:cubicBezTo>
                  <a:cubicBezTo>
                    <a:pt x="21600" y="9873"/>
                    <a:pt x="18849" y="15859"/>
                    <a:pt x="14069" y="19962"/>
                  </a:cubicBezTo>
                </a:path>
                <a:path w="21600" h="19963" stroke="0" extrusionOk="0">
                  <a:moveTo>
                    <a:pt x="21302" y="-1"/>
                  </a:moveTo>
                  <a:cubicBezTo>
                    <a:pt x="21500" y="1180"/>
                    <a:pt x="21600" y="2376"/>
                    <a:pt x="21600" y="3574"/>
                  </a:cubicBezTo>
                  <a:cubicBezTo>
                    <a:pt x="21600" y="9873"/>
                    <a:pt x="18849" y="15859"/>
                    <a:pt x="14069" y="19962"/>
                  </a:cubicBezTo>
                  <a:lnTo>
                    <a:pt x="0" y="3574"/>
                  </a:lnTo>
                  <a:close/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43" name="Text Box 39">
              <a:extLst>
                <a:ext uri="{FF2B5EF4-FFF2-40B4-BE49-F238E27FC236}">
                  <a16:creationId xmlns:a16="http://schemas.microsoft.com/office/drawing/2014/main" id="{0C3553EF-EEFF-EFAF-7F4E-7C1A21416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5804" y="3819351"/>
              <a:ext cx="357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l-GR" altLang="zh-CN" sz="1600" i="1" dirty="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θ</a:t>
              </a:r>
              <a:endParaRPr kumimoji="0" lang="el-GR" altLang="zh-CN" sz="1600" i="1" baseline="-10000" dirty="0">
                <a:solidFill>
                  <a:srgbClr val="000000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30994B7B-3F9F-F0FD-8C1E-3541EAE09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250" y="4422775"/>
              <a:ext cx="2000250" cy="739775"/>
            </a:xfrm>
            <a:custGeom>
              <a:avLst/>
              <a:gdLst>
                <a:gd name="T0" fmla="*/ 0 w 1260"/>
                <a:gd name="T1" fmla="*/ 244475 h 466"/>
                <a:gd name="T2" fmla="*/ 2000250 w 1260"/>
                <a:gd name="T3" fmla="*/ 0 h 466"/>
                <a:gd name="T4" fmla="*/ 571500 w 1260"/>
                <a:gd name="T5" fmla="*/ 739775 h 466"/>
                <a:gd name="T6" fmla="*/ 0 w 1260"/>
                <a:gd name="T7" fmla="*/ 244475 h 4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0"/>
                <a:gd name="T13" fmla="*/ 0 h 466"/>
                <a:gd name="T14" fmla="*/ 1260 w 1260"/>
                <a:gd name="T15" fmla="*/ 466 h 4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0" h="466">
                  <a:moveTo>
                    <a:pt x="0" y="154"/>
                  </a:moveTo>
                  <a:lnTo>
                    <a:pt x="1260" y="0"/>
                  </a:lnTo>
                  <a:lnTo>
                    <a:pt x="360" y="466"/>
                  </a:lnTo>
                  <a:lnTo>
                    <a:pt x="0" y="154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prstDash val="lgDashDot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45" name="Arc 42">
              <a:extLst>
                <a:ext uri="{FF2B5EF4-FFF2-40B4-BE49-F238E27FC236}">
                  <a16:creationId xmlns:a16="http://schemas.microsoft.com/office/drawing/2014/main" id="{30251986-C09D-C35B-9D6B-662C2C1BF9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870575" y="3576638"/>
              <a:ext cx="1565275" cy="1282700"/>
            </a:xfrm>
            <a:custGeom>
              <a:avLst/>
              <a:gdLst>
                <a:gd name="T0" fmla="*/ 118065039 w 20752"/>
                <a:gd name="T1" fmla="*/ 31764004 h 17616"/>
                <a:gd name="T2" fmla="*/ 71116669 w 20752"/>
                <a:gd name="T3" fmla="*/ 93399137 h 17616"/>
                <a:gd name="T4" fmla="*/ 0 w 20752"/>
                <a:gd name="T5" fmla="*/ 0 h 17616"/>
                <a:gd name="T6" fmla="*/ 0 60000 65536"/>
                <a:gd name="T7" fmla="*/ 0 60000 65536"/>
                <a:gd name="T8" fmla="*/ 0 60000 65536"/>
                <a:gd name="T9" fmla="*/ 0 w 20752"/>
                <a:gd name="T10" fmla="*/ 0 h 17616"/>
                <a:gd name="T11" fmla="*/ 20752 w 20752"/>
                <a:gd name="T12" fmla="*/ 17616 h 176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52" h="17616" fill="none" extrusionOk="0">
                  <a:moveTo>
                    <a:pt x="20752" y="5991"/>
                  </a:moveTo>
                  <a:cubicBezTo>
                    <a:pt x="19396" y="10688"/>
                    <a:pt x="16487" y="14786"/>
                    <a:pt x="12499" y="17615"/>
                  </a:cubicBezTo>
                </a:path>
                <a:path w="20752" h="17616" stroke="0" extrusionOk="0">
                  <a:moveTo>
                    <a:pt x="20752" y="5991"/>
                  </a:moveTo>
                  <a:cubicBezTo>
                    <a:pt x="19396" y="10688"/>
                    <a:pt x="16487" y="14786"/>
                    <a:pt x="12499" y="17615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39BA5CF6-C67D-36AA-E071-ED7861D69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363" y="5313363"/>
              <a:ext cx="2000250" cy="739775"/>
            </a:xfrm>
            <a:custGeom>
              <a:avLst/>
              <a:gdLst>
                <a:gd name="T0" fmla="*/ 0 w 1260"/>
                <a:gd name="T1" fmla="*/ 244475 h 466"/>
                <a:gd name="T2" fmla="*/ 2000250 w 1260"/>
                <a:gd name="T3" fmla="*/ 0 h 466"/>
                <a:gd name="T4" fmla="*/ 571500 w 1260"/>
                <a:gd name="T5" fmla="*/ 739775 h 466"/>
                <a:gd name="T6" fmla="*/ 0 w 1260"/>
                <a:gd name="T7" fmla="*/ 244475 h 4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0"/>
                <a:gd name="T13" fmla="*/ 0 h 466"/>
                <a:gd name="T14" fmla="*/ 1260 w 1260"/>
                <a:gd name="T15" fmla="*/ 466 h 4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0" h="466">
                  <a:moveTo>
                    <a:pt x="0" y="154"/>
                  </a:moveTo>
                  <a:lnTo>
                    <a:pt x="1260" y="0"/>
                  </a:lnTo>
                  <a:lnTo>
                    <a:pt x="360" y="466"/>
                  </a:lnTo>
                  <a:lnTo>
                    <a:pt x="0" y="154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prstDash val="lgDashDot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9FCF5B2C-8787-04A7-6A18-06B82FFE7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9025" y="4422775"/>
              <a:ext cx="0" cy="892175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933B0E34-46EA-D23F-93F8-8623E49C2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0013" y="3240088"/>
              <a:ext cx="2873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C</a:t>
              </a:r>
            </a:p>
          </p:txBody>
        </p:sp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E4E31916-AA8B-CDF4-5E88-92C02E83A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50" y="524668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00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Symbol" pitchFamily="18" charset="2"/>
                </a:rPr>
                <a:t>c</a:t>
              </a: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141574D4-5F02-97CE-EFF1-8AE889CCD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1413" y="4252913"/>
              <a:ext cx="263525" cy="461962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96889F3B-62F7-617E-CFC8-B0B7AA31F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5353050"/>
              <a:ext cx="182563" cy="20955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</p:grpSp>
      <p:sp>
        <p:nvSpPr>
          <p:cNvPr id="52" name="Text Box 2">
            <a:extLst>
              <a:ext uri="{FF2B5EF4-FFF2-40B4-BE49-F238E27FC236}">
                <a16:creationId xmlns:a16="http://schemas.microsoft.com/office/drawing/2014/main" id="{C6CE42C9-FEEB-5D27-E903-8D37B3C6E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95" y="1751291"/>
            <a:ext cx="6340197" cy="82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</a:t>
            </a: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：角的投影≠角的实际大小。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0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角的两边均平行于投影面</a:t>
            </a: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：角的投影＝角的实际大小。</a:t>
            </a:r>
          </a:p>
        </p:txBody>
      </p:sp>
    </p:spTree>
    <p:extLst>
      <p:ext uri="{BB962C8B-B14F-4D97-AF65-F5344CB8AC3E}">
        <p14:creationId xmlns:p14="http://schemas.microsoft.com/office/powerpoint/2010/main" val="151561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3" grpId="0"/>
      <p:bldP spid="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5942-CED9-E9DF-BCED-E70AA161F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8C72166-A47F-CE4E-26BE-10E8D11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1E4AACF9-9D16-B63B-E653-E85192FB8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9583C-7E4A-F65D-4CA8-D45E560E7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2980303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直角的投影特性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35EA87A5-CD2B-0B7E-082B-602993F4B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72816"/>
            <a:ext cx="8481809" cy="82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若直角中一条边平行于某一投影面，则在该投影面上的投影仍为直角。</a:t>
            </a:r>
            <a:endParaRPr lang="en-US" altLang="zh-CN" sz="20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若直角的投影仍是直角，则被投影的角至少有一边平行于投影面。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272B2FB-40B1-776C-9C8B-3107FAF87A99}"/>
              </a:ext>
            </a:extLst>
          </p:cNvPr>
          <p:cNvSpPr>
            <a:spLocks/>
          </p:cNvSpPr>
          <p:nvPr/>
        </p:nvSpPr>
        <p:spPr bwMode="auto">
          <a:xfrm>
            <a:off x="4729335" y="4680844"/>
            <a:ext cx="3619500" cy="933450"/>
          </a:xfrm>
          <a:custGeom>
            <a:avLst/>
            <a:gdLst>
              <a:gd name="T0" fmla="*/ 1088715 w 2274"/>
              <a:gd name="T1" fmla="*/ 0 h 678"/>
              <a:gd name="T2" fmla="*/ 3619500 w 2274"/>
              <a:gd name="T3" fmla="*/ 0 h 678"/>
              <a:gd name="T4" fmla="*/ 2530785 w 2274"/>
              <a:gd name="T5" fmla="*/ 933450 h 678"/>
              <a:gd name="T6" fmla="*/ 0 w 2274"/>
              <a:gd name="T7" fmla="*/ 933450 h 678"/>
              <a:gd name="T8" fmla="*/ 1088715 w 2274"/>
              <a:gd name="T9" fmla="*/ 0 h 6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4"/>
              <a:gd name="T16" fmla="*/ 0 h 678"/>
              <a:gd name="T17" fmla="*/ 2274 w 2274"/>
              <a:gd name="T18" fmla="*/ 678 h 6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4" h="678">
                <a:moveTo>
                  <a:pt x="684" y="0"/>
                </a:moveTo>
                <a:lnTo>
                  <a:pt x="2274" y="0"/>
                </a:lnTo>
                <a:lnTo>
                  <a:pt x="1590" y="678"/>
                </a:lnTo>
                <a:lnTo>
                  <a:pt x="0" y="678"/>
                </a:lnTo>
                <a:lnTo>
                  <a:pt x="684" y="0"/>
                </a:lnTo>
                <a:close/>
              </a:path>
            </a:pathLst>
          </a:custGeom>
          <a:solidFill>
            <a:srgbClr val="B3E1B3">
              <a:alpha val="56078"/>
            </a:srgbClr>
          </a:solidFill>
          <a:ln w="9525">
            <a:solidFill>
              <a:srgbClr val="333333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8687820-0360-FAD9-6DC7-BB7D0C9E3D0C}"/>
              </a:ext>
            </a:extLst>
          </p:cNvPr>
          <p:cNvSpPr>
            <a:spLocks/>
          </p:cNvSpPr>
          <p:nvPr/>
        </p:nvSpPr>
        <p:spPr bwMode="auto">
          <a:xfrm>
            <a:off x="5608810" y="3099694"/>
            <a:ext cx="1085850" cy="2514600"/>
          </a:xfrm>
          <a:custGeom>
            <a:avLst/>
            <a:gdLst>
              <a:gd name="T0" fmla="*/ 9525 w 684"/>
              <a:gd name="T1" fmla="*/ 2514600 h 1584"/>
              <a:gd name="T2" fmla="*/ 0 w 684"/>
              <a:gd name="T3" fmla="*/ 914400 h 1584"/>
              <a:gd name="T4" fmla="*/ 1085850 w 684"/>
              <a:gd name="T5" fmla="*/ 0 h 1584"/>
              <a:gd name="T6" fmla="*/ 1085850 w 684"/>
              <a:gd name="T7" fmla="*/ 1581150 h 1584"/>
              <a:gd name="T8" fmla="*/ 9525 w 684"/>
              <a:gd name="T9" fmla="*/ 2514600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4"/>
              <a:gd name="T16" fmla="*/ 0 h 1584"/>
              <a:gd name="T17" fmla="*/ 684 w 684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4" h="1584">
                <a:moveTo>
                  <a:pt x="6" y="1584"/>
                </a:moveTo>
                <a:lnTo>
                  <a:pt x="0" y="576"/>
                </a:lnTo>
                <a:lnTo>
                  <a:pt x="684" y="0"/>
                </a:lnTo>
                <a:lnTo>
                  <a:pt x="684" y="996"/>
                </a:lnTo>
                <a:lnTo>
                  <a:pt x="6" y="1584"/>
                </a:lnTo>
                <a:close/>
              </a:path>
            </a:pathLst>
          </a:custGeom>
          <a:solidFill>
            <a:srgbClr val="B3E1B3">
              <a:alpha val="30196"/>
            </a:srgbClr>
          </a:solidFill>
          <a:ln w="3175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F1DBAD44-AB90-B78E-62B4-12F3522C6B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2660" y="4271269"/>
            <a:ext cx="238125" cy="65722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5BB6DB30-14FC-860D-8EC3-9EF54EF57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198" y="4610994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>
                <a:solidFill>
                  <a:srgbClr val="000000"/>
                </a:solidFill>
                <a:latin typeface="ISOCPEUR" pitchFamily="34" charset="0"/>
              </a:rPr>
              <a:t>H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D46E464-3AC9-F774-6D78-E894896E5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460" y="4734819"/>
            <a:ext cx="33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3300"/>
                </a:solidFill>
                <a:latin typeface="ISOCPEUR" pitchFamily="34" charset="0"/>
              </a:rPr>
              <a:t>A</a:t>
            </a:r>
            <a:endParaRPr kumimoji="0" lang="en-US" altLang="zh-CN" b="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AEF6A8F-77F0-B005-824B-8227DD3BF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085" y="3902969"/>
            <a:ext cx="30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3300"/>
                </a:solidFill>
                <a:latin typeface="ISOCPEUR" pitchFamily="34" charset="0"/>
              </a:rPr>
              <a:t>C</a:t>
            </a:r>
            <a:endParaRPr kumimoji="0" lang="en-US" altLang="zh-CN" b="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9D89361-A547-6FE8-6464-C9D160B66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835" y="5182494"/>
            <a:ext cx="30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000000"/>
                </a:solidFill>
                <a:latin typeface="ISOCPEUR" pitchFamily="34" charset="0"/>
              </a:rPr>
              <a:t>a</a:t>
            </a:r>
            <a:endParaRPr kumimoji="0" lang="en-US" altLang="zh-CN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9655CFBA-B1C7-FBAB-DF5C-533EFBA45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608" y="2868683"/>
            <a:ext cx="289338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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kumimoji="0" lang="en-US" altLang="zh-CN" sz="2000" b="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∥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 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倾斜于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8DF4CA13-AADD-DC9F-1A39-E925BE0FD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660" y="4909444"/>
            <a:ext cx="0" cy="4191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3A66C327-E76F-A1FD-FC72-62DDA0103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9185" y="4264919"/>
            <a:ext cx="0" cy="863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B5458E0C-B852-1BB4-D581-7898C0188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4573" y="4791969"/>
            <a:ext cx="395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000000"/>
                </a:solidFill>
                <a:latin typeface="ISOCPEUR" pitchFamily="34" charset="0"/>
              </a:rPr>
              <a:t>c 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74BE9B28-0789-E44C-EE90-B1C26C0723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9485" y="5134869"/>
            <a:ext cx="241300" cy="20320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E453397F-EBDC-7E36-2424-AC74A80D9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0785" y="5134869"/>
            <a:ext cx="117475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9307DEE0-CC8E-DCA1-D981-AE9D584CF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111" y="3667612"/>
            <a:ext cx="2436886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∵ BC  AB, BC</a:t>
            </a:r>
            <a:r>
              <a:rPr kumimoji="0" lang="en-US" altLang="zh-CN" sz="2000" b="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∥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H </a:t>
            </a:r>
          </a:p>
          <a:p>
            <a:pPr eaLnBrk="1" hangingPunct="1">
              <a:spcAft>
                <a:spcPts val="300"/>
              </a:spcAft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∴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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Bb </a:t>
            </a:r>
          </a:p>
          <a:p>
            <a:pPr eaLnBrk="1" hangingPunct="1">
              <a:spcAft>
                <a:spcPts val="300"/>
              </a:spcAft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  BC  Q(AB </a:t>
            </a:r>
            <a:r>
              <a:rPr kumimoji="0" lang="en-US" altLang="zh-CN" sz="12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╳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Bb)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EAA48A53-09A6-9B55-F11F-5E54CD2B8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623" y="3220344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>
                <a:solidFill>
                  <a:srgbClr val="000000"/>
                </a:solidFill>
                <a:latin typeface="ISOCPEUR" pitchFamily="34" charset="0"/>
              </a:rPr>
              <a:t>Q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96771C23-1C93-5AA6-8877-E2D0F875E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5548" y="4271269"/>
            <a:ext cx="0" cy="8572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83267E41-7474-F426-FD32-35247ADF7D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0785" y="4268094"/>
            <a:ext cx="1168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2" name="Group 20">
            <a:extLst>
              <a:ext uri="{FF2B5EF4-FFF2-40B4-BE49-F238E27FC236}">
                <a16:creationId xmlns:a16="http://schemas.microsoft.com/office/drawing/2014/main" id="{29694CCC-39C6-9AE2-61C5-B99FF8CB6AEC}"/>
              </a:ext>
            </a:extLst>
          </p:cNvPr>
          <p:cNvGrpSpPr>
            <a:grpSpLocks/>
          </p:cNvGrpSpPr>
          <p:nvPr/>
        </p:nvGrpSpPr>
        <p:grpSpPr bwMode="auto">
          <a:xfrm>
            <a:off x="6142210" y="3974407"/>
            <a:ext cx="284163" cy="519112"/>
            <a:chOff x="4576" y="273"/>
            <a:chExt cx="179" cy="327"/>
          </a:xfrm>
        </p:grpSpPr>
        <p:sp>
          <p:nvSpPr>
            <p:cNvPr id="23" name="Arc 21">
              <a:extLst>
                <a:ext uri="{FF2B5EF4-FFF2-40B4-BE49-F238E27FC236}">
                  <a16:creationId xmlns:a16="http://schemas.microsoft.com/office/drawing/2014/main" id="{B5A50E52-45C6-31F0-718E-4961443E4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462"/>
              <a:ext cx="179" cy="108"/>
            </a:xfrm>
            <a:custGeom>
              <a:avLst/>
              <a:gdLst>
                <a:gd name="T0" fmla="*/ 1 w 29686"/>
                <a:gd name="T1" fmla="*/ 0 h 21600"/>
                <a:gd name="T2" fmla="*/ 0 w 29686"/>
                <a:gd name="T3" fmla="*/ 0 h 21600"/>
                <a:gd name="T4" fmla="*/ 0 w 2968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686"/>
                <a:gd name="T10" fmla="*/ 0 h 21600"/>
                <a:gd name="T11" fmla="*/ 29686 w 2968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686" h="21600" fill="none" extrusionOk="0">
                  <a:moveTo>
                    <a:pt x="29685" y="1087"/>
                  </a:moveTo>
                  <a:cubicBezTo>
                    <a:pt x="29106" y="12579"/>
                    <a:pt x="19619" y="21599"/>
                    <a:pt x="8113" y="21600"/>
                  </a:cubicBezTo>
                  <a:cubicBezTo>
                    <a:pt x="5332" y="21600"/>
                    <a:pt x="2577" y="21063"/>
                    <a:pt x="0" y="20018"/>
                  </a:cubicBezTo>
                </a:path>
                <a:path w="29686" h="21600" stroke="0" extrusionOk="0">
                  <a:moveTo>
                    <a:pt x="29685" y="1087"/>
                  </a:moveTo>
                  <a:cubicBezTo>
                    <a:pt x="29106" y="12579"/>
                    <a:pt x="19619" y="21599"/>
                    <a:pt x="8113" y="21600"/>
                  </a:cubicBezTo>
                  <a:cubicBezTo>
                    <a:pt x="5332" y="21600"/>
                    <a:pt x="2577" y="21063"/>
                    <a:pt x="0" y="20018"/>
                  </a:cubicBezTo>
                  <a:lnTo>
                    <a:pt x="8113" y="0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095F230F-C53D-0A12-7D3B-08A01F245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73"/>
              <a:ext cx="1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rPr>
                <a:t>.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FFF8091B-9B4C-2F98-BCB7-F68C52A74B11}"/>
              </a:ext>
            </a:extLst>
          </p:cNvPr>
          <p:cNvGrpSpPr>
            <a:grpSpLocks/>
          </p:cNvGrpSpPr>
          <p:nvPr/>
        </p:nvGrpSpPr>
        <p:grpSpPr bwMode="auto">
          <a:xfrm>
            <a:off x="6025933" y="4880869"/>
            <a:ext cx="334963" cy="457200"/>
            <a:chOff x="3832" y="1360"/>
            <a:chExt cx="211" cy="288"/>
          </a:xfrm>
        </p:grpSpPr>
        <p:sp>
          <p:nvSpPr>
            <p:cNvPr id="26" name="Arc 27">
              <a:extLst>
                <a:ext uri="{FF2B5EF4-FFF2-40B4-BE49-F238E27FC236}">
                  <a16:creationId xmlns:a16="http://schemas.microsoft.com/office/drawing/2014/main" id="{CFD6BBBB-3419-E8A8-6ADD-0501DB371AD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32" y="1488"/>
              <a:ext cx="211" cy="124"/>
            </a:xfrm>
            <a:custGeom>
              <a:avLst/>
              <a:gdLst>
                <a:gd name="T0" fmla="*/ 0 w 20757"/>
                <a:gd name="T1" fmla="*/ 0 h 21600"/>
                <a:gd name="T2" fmla="*/ 2 w 20757"/>
                <a:gd name="T3" fmla="*/ 1 h 21600"/>
                <a:gd name="T4" fmla="*/ 0 w 20757"/>
                <a:gd name="T5" fmla="*/ 1 h 21600"/>
                <a:gd name="T6" fmla="*/ 0 60000 65536"/>
                <a:gd name="T7" fmla="*/ 0 60000 65536"/>
                <a:gd name="T8" fmla="*/ 0 60000 65536"/>
                <a:gd name="T9" fmla="*/ 0 w 20757"/>
                <a:gd name="T10" fmla="*/ 0 h 21600"/>
                <a:gd name="T11" fmla="*/ 20757 w 2075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57" h="21600" fill="none" extrusionOk="0">
                  <a:moveTo>
                    <a:pt x="-1" y="0"/>
                  </a:moveTo>
                  <a:cubicBezTo>
                    <a:pt x="9628" y="0"/>
                    <a:pt x="18094" y="6372"/>
                    <a:pt x="20757" y="15625"/>
                  </a:cubicBezTo>
                </a:path>
                <a:path w="20757" h="21600" stroke="0" extrusionOk="0">
                  <a:moveTo>
                    <a:pt x="-1" y="0"/>
                  </a:moveTo>
                  <a:cubicBezTo>
                    <a:pt x="9628" y="0"/>
                    <a:pt x="18094" y="6372"/>
                    <a:pt x="20757" y="1562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7CB58A9E-C9C6-F909-7E6E-6635B680F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9" y="1360"/>
              <a:ext cx="1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rPr>
                <a:t>.</a:t>
              </a:r>
            </a:p>
          </p:txBody>
        </p:sp>
      </p:grpSp>
      <p:sp>
        <p:nvSpPr>
          <p:cNvPr id="28" name="Freeform 29">
            <a:extLst>
              <a:ext uri="{FF2B5EF4-FFF2-40B4-BE49-F238E27FC236}">
                <a16:creationId xmlns:a16="http://schemas.microsoft.com/office/drawing/2014/main" id="{F192E84D-C1AE-95DB-F933-30AA4FC8CB69}"/>
              </a:ext>
            </a:extLst>
          </p:cNvPr>
          <p:cNvSpPr>
            <a:spLocks/>
          </p:cNvSpPr>
          <p:nvPr/>
        </p:nvSpPr>
        <p:spPr bwMode="auto">
          <a:xfrm>
            <a:off x="4729335" y="4684019"/>
            <a:ext cx="3619500" cy="927100"/>
          </a:xfrm>
          <a:custGeom>
            <a:avLst/>
            <a:gdLst>
              <a:gd name="T0" fmla="*/ 0 w 2280"/>
              <a:gd name="T1" fmla="*/ 927100 h 584"/>
              <a:gd name="T2" fmla="*/ 2527300 w 2280"/>
              <a:gd name="T3" fmla="*/ 927100 h 584"/>
              <a:gd name="T4" fmla="*/ 3619500 w 2280"/>
              <a:gd name="T5" fmla="*/ 0 h 584"/>
              <a:gd name="T6" fmla="*/ 0 60000 65536"/>
              <a:gd name="T7" fmla="*/ 0 60000 65536"/>
              <a:gd name="T8" fmla="*/ 0 60000 65536"/>
              <a:gd name="T9" fmla="*/ 0 w 2280"/>
              <a:gd name="T10" fmla="*/ 0 h 584"/>
              <a:gd name="T11" fmla="*/ 2280 w 2280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80" h="584">
                <a:moveTo>
                  <a:pt x="0" y="584"/>
                </a:moveTo>
                <a:lnTo>
                  <a:pt x="1592" y="584"/>
                </a:lnTo>
                <a:lnTo>
                  <a:pt x="2280" y="0"/>
                </a:lnTo>
              </a:path>
            </a:pathLst>
          </a:cu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9" name="Freeform 30">
            <a:extLst>
              <a:ext uri="{FF2B5EF4-FFF2-40B4-BE49-F238E27FC236}">
                <a16:creationId xmlns:a16="http://schemas.microsoft.com/office/drawing/2014/main" id="{B00A108A-5558-3783-736A-CDF5F670AE80}"/>
              </a:ext>
            </a:extLst>
          </p:cNvPr>
          <p:cNvSpPr>
            <a:spLocks/>
          </p:cNvSpPr>
          <p:nvPr/>
        </p:nvSpPr>
        <p:spPr bwMode="auto">
          <a:xfrm>
            <a:off x="5618335" y="3090169"/>
            <a:ext cx="1076325" cy="2514600"/>
          </a:xfrm>
          <a:custGeom>
            <a:avLst/>
            <a:gdLst>
              <a:gd name="T0" fmla="*/ 0 w 678"/>
              <a:gd name="T1" fmla="*/ 2514600 h 1584"/>
              <a:gd name="T2" fmla="*/ 0 w 678"/>
              <a:gd name="T3" fmla="*/ 923925 h 1584"/>
              <a:gd name="T4" fmla="*/ 1076325 w 678"/>
              <a:gd name="T5" fmla="*/ 0 h 1584"/>
              <a:gd name="T6" fmla="*/ 0 60000 65536"/>
              <a:gd name="T7" fmla="*/ 0 60000 65536"/>
              <a:gd name="T8" fmla="*/ 0 60000 65536"/>
              <a:gd name="T9" fmla="*/ 0 w 678"/>
              <a:gd name="T10" fmla="*/ 0 h 1584"/>
              <a:gd name="T11" fmla="*/ 678 w 678"/>
              <a:gd name="T12" fmla="*/ 1584 h 1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8" h="1584">
                <a:moveTo>
                  <a:pt x="0" y="1584"/>
                </a:moveTo>
                <a:lnTo>
                  <a:pt x="0" y="582"/>
                </a:lnTo>
                <a:lnTo>
                  <a:pt x="678" y="0"/>
                </a:lnTo>
              </a:path>
            </a:pathLst>
          </a:cu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" name="Text Box 32">
            <a:extLst>
              <a:ext uri="{FF2B5EF4-FFF2-40B4-BE49-F238E27FC236}">
                <a16:creationId xmlns:a16="http://schemas.microsoft.com/office/drawing/2014/main" id="{BF8CB008-7E7C-6001-7C8E-59628E7EC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1698" y="4874669"/>
            <a:ext cx="1552028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又 </a:t>
            </a:r>
            <a:r>
              <a:rPr kumimoji="0"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bc</a:t>
            </a:r>
            <a:r>
              <a:rPr kumimoji="0" lang="en-US" altLang="zh-CN" sz="2000" b="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∥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BC  </a:t>
            </a:r>
          </a:p>
          <a:p>
            <a:pPr eaLnBrk="1" hangingPunct="1">
              <a:spcAft>
                <a:spcPts val="300"/>
              </a:spcAft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∴ </a:t>
            </a:r>
            <a:r>
              <a:rPr kumimoji="0"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bc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 Q </a:t>
            </a:r>
          </a:p>
          <a:p>
            <a:pPr eaLnBrk="1" hangingPunct="1">
              <a:spcAft>
                <a:spcPts val="300"/>
              </a:spcAft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∴ </a:t>
            </a:r>
            <a:r>
              <a:rPr kumimoji="0"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bc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 ab</a:t>
            </a: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E7200056-2251-A9A7-C2C6-F27DAD297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210" y="4760219"/>
            <a:ext cx="414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000000"/>
                </a:solidFill>
                <a:latin typeface="ISOCPEUR" pitchFamily="34" charset="0"/>
              </a:rPr>
              <a:t>b 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76E5D6F2-AE12-E5E1-DD91-A00CF7CB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310" y="3852169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3300"/>
                </a:solidFill>
                <a:latin typeface="ISOCPEUR" pitchFamily="34" charset="0"/>
              </a:rPr>
              <a:t>B</a:t>
            </a:r>
          </a:p>
        </p:txBody>
      </p:sp>
      <p:sp>
        <p:nvSpPr>
          <p:cNvPr id="33" name="Text Box 35">
            <a:extLst>
              <a:ext uri="{FF2B5EF4-FFF2-40B4-BE49-F238E27FC236}">
                <a16:creationId xmlns:a16="http://schemas.microsoft.com/office/drawing/2014/main" id="{896815A7-A2E7-4BFF-4377-E63C1C911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94" y="2868683"/>
            <a:ext cx="851515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 eaLnBrk="1" hangingPunct="1">
              <a:defRPr kumimoji="1" sz="2400" b="1">
                <a:solidFill>
                  <a:prstClr val="black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defRPr kumimoji="1" sz="2400" b="1">
                <a:latin typeface="Times New Roman" pitchFamily="18" charset="0"/>
              </a:defRPr>
            </a:lvl2pPr>
            <a:lvl3pPr marL="1143000" indent="-228600">
              <a:defRPr kumimoji="1" sz="2400" b="1">
                <a:latin typeface="Times New Roman" pitchFamily="18" charset="0"/>
              </a:defRPr>
            </a:lvl3pPr>
            <a:lvl4pPr marL="1600200" indent="-228600">
              <a:defRPr kumimoji="1" sz="2400" b="1">
                <a:latin typeface="Times New Roman" pitchFamily="18" charset="0"/>
              </a:defRPr>
            </a:lvl4pPr>
            <a:lvl5pPr marL="2057400" indent="-228600">
              <a:defRPr kumimoji="1" sz="2400" b="1"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</a:defRPr>
            </a:lvl9pPr>
          </a:lstStyle>
          <a:p>
            <a:pPr algn="ctr"/>
            <a:r>
              <a:rPr lang="zh-CN" altLang="en-US" sz="2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 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771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1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utoUpdateAnimBg="0"/>
      <p:bldP spid="8" grpId="0" autoUpdateAnimBg="0"/>
      <p:bldP spid="9" grpId="0" autoUpdateAnimBg="0"/>
      <p:bldP spid="10" grpId="0" autoUpdateAnimBg="0"/>
      <p:bldP spid="12" grpId="0"/>
      <p:bldP spid="15" grpId="0" autoUpdateAnimBg="0"/>
      <p:bldP spid="18" grpId="0" build="p" autoUpdateAnimBg="0"/>
      <p:bldP spid="19" grpId="0" autoUpdateAnimBg="0"/>
      <p:bldP spid="30" grpId="0" uiExpand="1" build="p" autoUpdateAnimBg="0"/>
      <p:bldP spid="31" grpId="0" autoUpdateAnimBg="0"/>
      <p:bldP spid="32" grpId="0" autoUpdateAnimBg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3EBA-D167-5C9F-0758-A8C23687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BB2E240D-8FE1-CBF1-C94C-01864542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29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97F25EFF-C6FD-BE6E-A4DD-95490814B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E0355F-12D1-DCA4-F3AF-4EBBE2771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2980303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直角的投影特性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150011-1D0F-74FD-CC8F-E12DC31AD56F}"/>
              </a:ext>
            </a:extLst>
          </p:cNvPr>
          <p:cNvGrpSpPr>
            <a:grpSpLocks/>
          </p:cNvGrpSpPr>
          <p:nvPr/>
        </p:nvGrpSpPr>
        <p:grpSpPr bwMode="auto">
          <a:xfrm>
            <a:off x="1212109" y="2827982"/>
            <a:ext cx="2044700" cy="1819275"/>
            <a:chOff x="1326" y="2162"/>
            <a:chExt cx="1288" cy="1146"/>
          </a:xfrm>
        </p:grpSpPr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5C5DD408-8B8C-1504-A650-20C1C157F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" y="2750"/>
              <a:ext cx="1288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78033B7-203E-1C4F-34C5-DE7D6ADA7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4" y="2162"/>
              <a:ext cx="692" cy="1146"/>
              <a:chOff x="1654" y="2162"/>
              <a:chExt cx="692" cy="1146"/>
            </a:xfrm>
          </p:grpSpPr>
          <p:sp>
            <p:nvSpPr>
              <p:cNvPr id="6" name="Line 5">
                <a:extLst>
                  <a:ext uri="{FF2B5EF4-FFF2-40B4-BE49-F238E27FC236}">
                    <a16:creationId xmlns:a16="http://schemas.microsoft.com/office/drawing/2014/main" id="{EEABD9B3-8B50-C06E-210A-FFEEB61BB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4" y="2390"/>
                <a:ext cx="474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7" name="Line 6">
                <a:extLst>
                  <a:ext uri="{FF2B5EF4-FFF2-40B4-BE49-F238E27FC236}">
                    <a16:creationId xmlns:a16="http://schemas.microsoft.com/office/drawing/2014/main" id="{8831CDB4-7A93-1E0C-1A24-C330AE022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2" y="2390"/>
                <a:ext cx="0" cy="804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" name="Line 7">
                <a:extLst>
                  <a:ext uri="{FF2B5EF4-FFF2-40B4-BE49-F238E27FC236}">
                    <a16:creationId xmlns:a16="http://schemas.microsoft.com/office/drawing/2014/main" id="{2C08644E-EFD5-8E9D-FA12-0BD852810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24" y="2390"/>
                <a:ext cx="0" cy="54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" name="Line 8">
                <a:extLst>
                  <a:ext uri="{FF2B5EF4-FFF2-40B4-BE49-F238E27FC236}">
                    <a16:creationId xmlns:a16="http://schemas.microsoft.com/office/drawing/2014/main" id="{4CAD8970-9577-C2AB-C1B2-4C20D522C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2" y="2924"/>
                <a:ext cx="468" cy="264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" name="Line 9">
                <a:extLst>
                  <a:ext uri="{FF2B5EF4-FFF2-40B4-BE49-F238E27FC236}">
                    <a16:creationId xmlns:a16="http://schemas.microsoft.com/office/drawing/2014/main" id="{3F063784-8A20-36D4-8D02-93D2AD9F0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4" y="2162"/>
                <a:ext cx="222" cy="228"/>
              </a:xfrm>
              <a:prstGeom prst="line">
                <a:avLst/>
              </a:prstGeom>
              <a:noFill/>
              <a:ln w="38100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4B6312C8-D38C-6364-7035-B5E93EF5C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0" y="2174"/>
                <a:ext cx="0" cy="1134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C0BFE2DB-143E-B73E-AA0B-7556F90E9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3" y="2924"/>
                <a:ext cx="217" cy="384"/>
              </a:xfrm>
              <a:prstGeom prst="line">
                <a:avLst/>
              </a:prstGeom>
              <a:noFill/>
              <a:ln w="38100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14" name="Group 12">
                <a:extLst>
                  <a:ext uri="{FF2B5EF4-FFF2-40B4-BE49-F238E27FC236}">
                    <a16:creationId xmlns:a16="http://schemas.microsoft.com/office/drawing/2014/main" id="{4937F160-AECA-DBF1-B103-CD6104CCBA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01" y="2777"/>
                <a:ext cx="203" cy="327"/>
                <a:chOff x="2001" y="2781"/>
                <a:chExt cx="203" cy="327"/>
              </a:xfrm>
            </p:grpSpPr>
            <p:sp>
              <p:nvSpPr>
                <p:cNvPr id="15" name="Arc 13">
                  <a:extLst>
                    <a:ext uri="{FF2B5EF4-FFF2-40B4-BE49-F238E27FC236}">
                      <a16:creationId xmlns:a16="http://schemas.microsoft.com/office/drawing/2014/main" id="{CF5A0EA3-3C54-90AF-39F6-2E3C36690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1" y="2974"/>
                  <a:ext cx="203" cy="108"/>
                </a:xfrm>
                <a:custGeom>
                  <a:avLst/>
                  <a:gdLst>
                    <a:gd name="T0" fmla="*/ 1 w 35996"/>
                    <a:gd name="T1" fmla="*/ 0 h 21600"/>
                    <a:gd name="T2" fmla="*/ 0 w 35996"/>
                    <a:gd name="T3" fmla="*/ 0 h 21600"/>
                    <a:gd name="T4" fmla="*/ 1 w 3599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5996"/>
                    <a:gd name="T10" fmla="*/ 0 h 21600"/>
                    <a:gd name="T11" fmla="*/ 35996 w 3599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5996" h="21600" fill="none" extrusionOk="0">
                      <a:moveTo>
                        <a:pt x="35996" y="15393"/>
                      </a:moveTo>
                      <a:cubicBezTo>
                        <a:pt x="31955" y="19370"/>
                        <a:pt x="26512" y="21599"/>
                        <a:pt x="20843" y="21600"/>
                      </a:cubicBezTo>
                      <a:cubicBezTo>
                        <a:pt x="11096" y="21600"/>
                        <a:pt x="2558" y="15073"/>
                        <a:pt x="0" y="5668"/>
                      </a:cubicBezTo>
                    </a:path>
                    <a:path w="35996" h="21600" stroke="0" extrusionOk="0">
                      <a:moveTo>
                        <a:pt x="35996" y="15393"/>
                      </a:moveTo>
                      <a:cubicBezTo>
                        <a:pt x="31955" y="19370"/>
                        <a:pt x="26512" y="21599"/>
                        <a:pt x="20843" y="21600"/>
                      </a:cubicBezTo>
                      <a:cubicBezTo>
                        <a:pt x="11096" y="21600"/>
                        <a:pt x="2558" y="15073"/>
                        <a:pt x="0" y="5668"/>
                      </a:cubicBezTo>
                      <a:lnTo>
                        <a:pt x="20843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333333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16" name="Text Box 14">
                  <a:extLst>
                    <a:ext uri="{FF2B5EF4-FFF2-40B4-BE49-F238E27FC236}">
                      <a16:creationId xmlns:a16="http://schemas.microsoft.com/office/drawing/2014/main" id="{CD627FAF-A064-D74F-5476-B32793127A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29" y="2781"/>
                  <a:ext cx="15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</a:rPr>
                    <a:t>.</a:t>
                  </a:r>
                </a:p>
              </p:txBody>
            </p:sp>
          </p:grpSp>
        </p:grp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A41F03D2-6FB1-6FD0-3BC3-E8FC217B7E75}"/>
              </a:ext>
            </a:extLst>
          </p:cNvPr>
          <p:cNvGrpSpPr>
            <a:grpSpLocks/>
          </p:cNvGrpSpPr>
          <p:nvPr/>
        </p:nvGrpSpPr>
        <p:grpSpPr bwMode="auto">
          <a:xfrm>
            <a:off x="5920900" y="2686695"/>
            <a:ext cx="2047875" cy="1763712"/>
            <a:chOff x="4200" y="2073"/>
            <a:chExt cx="1290" cy="1111"/>
          </a:xfrm>
        </p:grpSpPr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807C5308-740C-2603-9838-0DF0D1ACE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0" y="2750"/>
              <a:ext cx="1290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21FAB74C-25D5-3365-3140-A540FE8BF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2247"/>
              <a:ext cx="488" cy="323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8CD2FB7E-D490-B14D-C2A2-E5118BAB3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9" y="2234"/>
              <a:ext cx="187" cy="324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9F7003AB-6293-6BF5-C73C-18DC647D6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6" y="2390"/>
              <a:ext cx="0" cy="62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EDAC46E6-4CC6-3D63-3191-B96ED8AFA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6" y="2252"/>
              <a:ext cx="0" cy="89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BD2479DE-4265-51AF-DEDD-0713071DF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564"/>
              <a:ext cx="0" cy="306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375A4005-77BB-8833-488E-B311EFE82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6" y="2236"/>
              <a:ext cx="0" cy="928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7953DB56-C2BD-669C-925C-6D192FE6A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6" y="2546"/>
              <a:ext cx="0" cy="318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D621E1EF-871D-F6AE-6F49-5CD47287A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3" y="2860"/>
              <a:ext cx="477" cy="275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EECBD5A8-A0A9-FD91-3F1E-58EAF30DA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2864"/>
              <a:ext cx="180" cy="312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28" name="Group 26">
              <a:extLst>
                <a:ext uri="{FF2B5EF4-FFF2-40B4-BE49-F238E27FC236}">
                  <a16:creationId xmlns:a16="http://schemas.microsoft.com/office/drawing/2014/main" id="{BFB139F9-5058-16F4-D811-16C0E36EF6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5" y="2857"/>
              <a:ext cx="189" cy="327"/>
              <a:chOff x="4655" y="2861"/>
              <a:chExt cx="189" cy="327"/>
            </a:xfrm>
          </p:grpSpPr>
          <p:sp>
            <p:nvSpPr>
              <p:cNvPr id="32" name="Arc 27">
                <a:extLst>
                  <a:ext uri="{FF2B5EF4-FFF2-40B4-BE49-F238E27FC236}">
                    <a16:creationId xmlns:a16="http://schemas.microsoft.com/office/drawing/2014/main" id="{CEC15CBB-70E5-9E63-6301-6ED331258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5" y="3045"/>
                <a:ext cx="189" cy="116"/>
              </a:xfrm>
              <a:custGeom>
                <a:avLst/>
                <a:gdLst>
                  <a:gd name="T0" fmla="*/ 1 w 37675"/>
                  <a:gd name="T1" fmla="*/ 0 h 21600"/>
                  <a:gd name="T2" fmla="*/ 0 w 37675"/>
                  <a:gd name="T3" fmla="*/ 0 h 21600"/>
                  <a:gd name="T4" fmla="*/ 1 w 376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7675"/>
                  <a:gd name="T10" fmla="*/ 0 h 21600"/>
                  <a:gd name="T11" fmla="*/ 37675 w 376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675" h="21600" fill="none" extrusionOk="0">
                    <a:moveTo>
                      <a:pt x="37674" y="13098"/>
                    </a:moveTo>
                    <a:cubicBezTo>
                      <a:pt x="33589" y="18456"/>
                      <a:pt x="27237" y="21599"/>
                      <a:pt x="20500" y="21600"/>
                    </a:cubicBezTo>
                    <a:cubicBezTo>
                      <a:pt x="11192" y="21600"/>
                      <a:pt x="2931" y="15637"/>
                      <a:pt x="-1" y="6804"/>
                    </a:cubicBezTo>
                  </a:path>
                  <a:path w="37675" h="21600" stroke="0" extrusionOk="0">
                    <a:moveTo>
                      <a:pt x="37674" y="13098"/>
                    </a:moveTo>
                    <a:cubicBezTo>
                      <a:pt x="33589" y="18456"/>
                      <a:pt x="27237" y="21599"/>
                      <a:pt x="20500" y="21600"/>
                    </a:cubicBezTo>
                    <a:cubicBezTo>
                      <a:pt x="11192" y="21600"/>
                      <a:pt x="2931" y="15637"/>
                      <a:pt x="-1" y="6804"/>
                    </a:cubicBezTo>
                    <a:lnTo>
                      <a:pt x="20500" y="0"/>
                    </a:lnTo>
                    <a:close/>
                  </a:path>
                </a:pathLst>
              </a:cu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3" name="Text Box 28">
                <a:extLst>
                  <a:ext uri="{FF2B5EF4-FFF2-40B4-BE49-F238E27FC236}">
                    <a16:creationId xmlns:a16="http://schemas.microsoft.com/office/drawing/2014/main" id="{DFEAC5C6-3B79-9BA7-CA2A-9D86E21EC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1" y="2861"/>
                <a:ext cx="15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</a:rPr>
                  <a:t>.</a:t>
                </a:r>
              </a:p>
            </p:txBody>
          </p:sp>
        </p:grpSp>
        <p:grpSp>
          <p:nvGrpSpPr>
            <p:cNvPr id="29" name="Group 29">
              <a:extLst>
                <a:ext uri="{FF2B5EF4-FFF2-40B4-BE49-F238E27FC236}">
                  <a16:creationId xmlns:a16="http://schemas.microsoft.com/office/drawing/2014/main" id="{1E1DFC79-383E-7AF8-AA5C-37C47D2ACC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5" y="2073"/>
              <a:ext cx="196" cy="327"/>
              <a:chOff x="4655" y="2077"/>
              <a:chExt cx="196" cy="327"/>
            </a:xfrm>
          </p:grpSpPr>
          <p:sp>
            <p:nvSpPr>
              <p:cNvPr id="30" name="Arc 30">
                <a:extLst>
                  <a:ext uri="{FF2B5EF4-FFF2-40B4-BE49-F238E27FC236}">
                    <a16:creationId xmlns:a16="http://schemas.microsoft.com/office/drawing/2014/main" id="{02367D2D-8B3E-51E9-7558-1E60E8DD6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5" y="2253"/>
                <a:ext cx="196" cy="116"/>
              </a:xfrm>
              <a:custGeom>
                <a:avLst/>
                <a:gdLst>
                  <a:gd name="T0" fmla="*/ 0 w 33062"/>
                  <a:gd name="T1" fmla="*/ 0 h 21600"/>
                  <a:gd name="T2" fmla="*/ 1 w 33062"/>
                  <a:gd name="T3" fmla="*/ 0 h 21600"/>
                  <a:gd name="T4" fmla="*/ 1 w 33062"/>
                  <a:gd name="T5" fmla="*/ 1 h 21600"/>
                  <a:gd name="T6" fmla="*/ 0 60000 65536"/>
                  <a:gd name="T7" fmla="*/ 0 60000 65536"/>
                  <a:gd name="T8" fmla="*/ 0 60000 65536"/>
                  <a:gd name="T9" fmla="*/ 0 w 33062"/>
                  <a:gd name="T10" fmla="*/ 0 h 21600"/>
                  <a:gd name="T11" fmla="*/ 33062 w 3306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62" h="21600" fill="none" extrusionOk="0">
                    <a:moveTo>
                      <a:pt x="0" y="10562"/>
                    </a:moveTo>
                    <a:cubicBezTo>
                      <a:pt x="3893" y="4013"/>
                      <a:pt x="10948" y="-1"/>
                      <a:pt x="18567" y="0"/>
                    </a:cubicBezTo>
                    <a:cubicBezTo>
                      <a:pt x="23924" y="0"/>
                      <a:pt x="29090" y="1990"/>
                      <a:pt x="33062" y="5585"/>
                    </a:cubicBezTo>
                  </a:path>
                  <a:path w="33062" h="21600" stroke="0" extrusionOk="0">
                    <a:moveTo>
                      <a:pt x="0" y="10562"/>
                    </a:moveTo>
                    <a:cubicBezTo>
                      <a:pt x="3893" y="4013"/>
                      <a:pt x="10948" y="-1"/>
                      <a:pt x="18567" y="0"/>
                    </a:cubicBezTo>
                    <a:cubicBezTo>
                      <a:pt x="23924" y="0"/>
                      <a:pt x="29090" y="1990"/>
                      <a:pt x="33062" y="5585"/>
                    </a:cubicBezTo>
                    <a:lnTo>
                      <a:pt x="18567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1" name="Text Box 31">
                <a:extLst>
                  <a:ext uri="{FF2B5EF4-FFF2-40B4-BE49-F238E27FC236}">
                    <a16:creationId xmlns:a16="http://schemas.microsoft.com/office/drawing/2014/main" id="{2D261BAF-9162-3782-3988-6CA9253A34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1" y="2077"/>
                <a:ext cx="15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</a:rPr>
                  <a:t>.</a:t>
                </a:r>
              </a:p>
            </p:txBody>
          </p:sp>
        </p:grpSp>
      </p:grpSp>
      <p:sp>
        <p:nvSpPr>
          <p:cNvPr id="34" name="Text Box 32">
            <a:extLst>
              <a:ext uri="{FF2B5EF4-FFF2-40B4-BE49-F238E27FC236}">
                <a16:creationId xmlns:a16="http://schemas.microsoft.com/office/drawing/2014/main" id="{217E947E-2021-2FC0-BC1B-381023C35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496" y="4918943"/>
            <a:ext cx="61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sym typeface="Symbol" pitchFamily="18" charset="2"/>
              </a:rPr>
              <a:t> ()</a:t>
            </a: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4071CB41-7E27-A835-CB35-05066DBA9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387" y="4941168"/>
            <a:ext cx="61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sym typeface="Symbol" pitchFamily="18" charset="2"/>
              </a:rPr>
              <a:t> ()</a:t>
            </a:r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5449E418-39C3-DF51-E706-B43205B85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1300" y="4957043"/>
            <a:ext cx="54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sym typeface="Monotype Sorts" pitchFamily="2" charset="2"/>
              </a:rPr>
              <a:t>(</a:t>
            </a: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sym typeface="Monotype Sorts" pitchFamily="2" charset="2"/>
              </a:rPr>
              <a:t>╳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sym typeface="Monotype Sorts" pitchFamily="2" charset="2"/>
              </a:rPr>
              <a:t>)</a:t>
            </a:r>
          </a:p>
        </p:txBody>
      </p:sp>
      <p:grpSp>
        <p:nvGrpSpPr>
          <p:cNvPr id="38" name="Group 35">
            <a:extLst>
              <a:ext uri="{FF2B5EF4-FFF2-40B4-BE49-F238E27FC236}">
                <a16:creationId xmlns:a16="http://schemas.microsoft.com/office/drawing/2014/main" id="{5471E33A-915B-0F8F-597F-D683AFD500C6}"/>
              </a:ext>
            </a:extLst>
          </p:cNvPr>
          <p:cNvGrpSpPr>
            <a:grpSpLocks/>
          </p:cNvGrpSpPr>
          <p:nvPr/>
        </p:nvGrpSpPr>
        <p:grpSpPr bwMode="auto">
          <a:xfrm>
            <a:off x="3692050" y="2708920"/>
            <a:ext cx="1866900" cy="1981200"/>
            <a:chOff x="2796" y="2087"/>
            <a:chExt cx="1176" cy="1248"/>
          </a:xfrm>
        </p:grpSpPr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28B985E4-0A3D-450B-3053-882B8A880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6" y="2750"/>
              <a:ext cx="1176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40" name="Group 37">
              <a:extLst>
                <a:ext uri="{FF2B5EF4-FFF2-40B4-BE49-F238E27FC236}">
                  <a16:creationId xmlns:a16="http://schemas.microsoft.com/office/drawing/2014/main" id="{B532A2F4-B328-B40C-2DBE-1E32E24B79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8" y="2087"/>
              <a:ext cx="636" cy="1248"/>
              <a:chOff x="2988" y="2087"/>
              <a:chExt cx="636" cy="1248"/>
            </a:xfrm>
          </p:grpSpPr>
          <p:sp>
            <p:nvSpPr>
              <p:cNvPr id="41" name="Line 38">
                <a:extLst>
                  <a:ext uri="{FF2B5EF4-FFF2-40B4-BE49-F238E27FC236}">
                    <a16:creationId xmlns:a16="http://schemas.microsoft.com/office/drawing/2014/main" id="{84978ED8-D785-566C-A41A-E139610FC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8" y="2954"/>
                <a:ext cx="636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" name="Line 39">
                <a:extLst>
                  <a:ext uri="{FF2B5EF4-FFF2-40B4-BE49-F238E27FC236}">
                    <a16:creationId xmlns:a16="http://schemas.microsoft.com/office/drawing/2014/main" id="{49195250-5054-EC5B-1A61-35E04D03A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8" y="2102"/>
                <a:ext cx="0" cy="858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" name="Line 40">
                <a:extLst>
                  <a:ext uri="{FF2B5EF4-FFF2-40B4-BE49-F238E27FC236}">
                    <a16:creationId xmlns:a16="http://schemas.microsoft.com/office/drawing/2014/main" id="{AE40443D-AD59-F066-9090-A226EF95B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18" y="2684"/>
                <a:ext cx="0" cy="27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" name="Line 41">
                <a:extLst>
                  <a:ext uri="{FF2B5EF4-FFF2-40B4-BE49-F238E27FC236}">
                    <a16:creationId xmlns:a16="http://schemas.microsoft.com/office/drawing/2014/main" id="{AA845DF9-2EFC-D9CC-7B42-8AEA55FE5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88" y="2102"/>
                <a:ext cx="626" cy="59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45" name="Group 42">
                <a:extLst>
                  <a:ext uri="{FF2B5EF4-FFF2-40B4-BE49-F238E27FC236}">
                    <a16:creationId xmlns:a16="http://schemas.microsoft.com/office/drawing/2014/main" id="{277B7DFC-DB6D-04AA-0AE5-A1CC8F68A1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9" y="2087"/>
                <a:ext cx="209" cy="327"/>
                <a:chOff x="3209" y="2079"/>
                <a:chExt cx="209" cy="327"/>
              </a:xfrm>
            </p:grpSpPr>
            <p:sp>
              <p:nvSpPr>
                <p:cNvPr id="50" name="Arc 43">
                  <a:extLst>
                    <a:ext uri="{FF2B5EF4-FFF2-40B4-BE49-F238E27FC236}">
                      <a16:creationId xmlns:a16="http://schemas.microsoft.com/office/drawing/2014/main" id="{A85197AC-24B4-AAEA-90C3-E7A3F3F5BA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9" y="2253"/>
                  <a:ext cx="209" cy="125"/>
                </a:xfrm>
                <a:custGeom>
                  <a:avLst/>
                  <a:gdLst>
                    <a:gd name="T0" fmla="*/ 0 w 33782"/>
                    <a:gd name="T1" fmla="*/ 0 h 21600"/>
                    <a:gd name="T2" fmla="*/ 1 w 33782"/>
                    <a:gd name="T3" fmla="*/ 0 h 21600"/>
                    <a:gd name="T4" fmla="*/ 1 w 33782"/>
                    <a:gd name="T5" fmla="*/ 1 h 21600"/>
                    <a:gd name="T6" fmla="*/ 0 60000 65536"/>
                    <a:gd name="T7" fmla="*/ 0 60000 65536"/>
                    <a:gd name="T8" fmla="*/ 0 60000 65536"/>
                    <a:gd name="T9" fmla="*/ 0 w 33782"/>
                    <a:gd name="T10" fmla="*/ 0 h 21600"/>
                    <a:gd name="T11" fmla="*/ 33782 w 3378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782" h="21600" fill="none" extrusionOk="0">
                      <a:moveTo>
                        <a:pt x="-1" y="9464"/>
                      </a:moveTo>
                      <a:cubicBezTo>
                        <a:pt x="4020" y="3544"/>
                        <a:pt x="10712" y="-1"/>
                        <a:pt x="17869" y="0"/>
                      </a:cubicBezTo>
                      <a:cubicBezTo>
                        <a:pt x="23918" y="0"/>
                        <a:pt x="29691" y="2537"/>
                        <a:pt x="33782" y="6993"/>
                      </a:cubicBezTo>
                    </a:path>
                    <a:path w="33782" h="21600" stroke="0" extrusionOk="0">
                      <a:moveTo>
                        <a:pt x="-1" y="9464"/>
                      </a:moveTo>
                      <a:cubicBezTo>
                        <a:pt x="4020" y="3544"/>
                        <a:pt x="10712" y="-1"/>
                        <a:pt x="17869" y="0"/>
                      </a:cubicBezTo>
                      <a:cubicBezTo>
                        <a:pt x="23918" y="0"/>
                        <a:pt x="29691" y="2537"/>
                        <a:pt x="33782" y="6993"/>
                      </a:cubicBezTo>
                      <a:lnTo>
                        <a:pt x="17869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333333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51" name="Text Box 44">
                  <a:extLst>
                    <a:ext uri="{FF2B5EF4-FFF2-40B4-BE49-F238E27FC236}">
                      <a16:creationId xmlns:a16="http://schemas.microsoft.com/office/drawing/2014/main" id="{18EED440-4FA9-DF74-7C57-21D780385A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35" y="2079"/>
                  <a:ext cx="15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</a:rPr>
                    <a:t>.</a:t>
                  </a:r>
                </a:p>
              </p:txBody>
            </p:sp>
          </p:grpSp>
          <p:sp>
            <p:nvSpPr>
              <p:cNvPr id="46" name="Line 45">
                <a:extLst>
                  <a:ext uri="{FF2B5EF4-FFF2-40B4-BE49-F238E27FC236}">
                    <a16:creationId xmlns:a16="http://schemas.microsoft.com/office/drawing/2014/main" id="{D7970DFE-0544-7E1F-487F-60D436687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2" y="2402"/>
                <a:ext cx="0" cy="54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7" name="Line 46">
                <a:extLst>
                  <a:ext uri="{FF2B5EF4-FFF2-40B4-BE49-F238E27FC236}">
                    <a16:creationId xmlns:a16="http://schemas.microsoft.com/office/drawing/2014/main" id="{3514AD6E-11CF-7759-8514-2D098A155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2174"/>
                <a:ext cx="222" cy="228"/>
              </a:xfrm>
              <a:prstGeom prst="line">
                <a:avLst/>
              </a:prstGeom>
              <a:noFill/>
              <a:ln w="38100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8" name="Line 47">
                <a:extLst>
                  <a:ext uri="{FF2B5EF4-FFF2-40B4-BE49-F238E27FC236}">
                    <a16:creationId xmlns:a16="http://schemas.microsoft.com/office/drawing/2014/main" id="{42B00B15-13DD-A256-F400-0DBE0BF3A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8" y="2186"/>
                <a:ext cx="0" cy="1134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9" name="Line 48">
                <a:extLst>
                  <a:ext uri="{FF2B5EF4-FFF2-40B4-BE49-F238E27FC236}">
                    <a16:creationId xmlns:a16="http://schemas.microsoft.com/office/drawing/2014/main" id="{62BF0D8A-D595-39DF-01D6-9522AC992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1" y="2951"/>
                <a:ext cx="217" cy="384"/>
              </a:xfrm>
              <a:prstGeom prst="line">
                <a:avLst/>
              </a:prstGeom>
              <a:noFill/>
              <a:ln w="38100">
                <a:solidFill>
                  <a:srgbClr val="333333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  <p:sp>
        <p:nvSpPr>
          <p:cNvPr id="52" name="Rectangle 8">
            <a:extLst>
              <a:ext uri="{FF2B5EF4-FFF2-40B4-BE49-F238E27FC236}">
                <a16:creationId xmlns:a16="http://schemas.microsoft.com/office/drawing/2014/main" id="{ACA30E02-6267-507F-564B-519A1BAED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41" y="1871573"/>
            <a:ext cx="38363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判断两条直线是否垂直</a:t>
            </a:r>
          </a:p>
        </p:txBody>
      </p:sp>
    </p:spTree>
    <p:extLst>
      <p:ext uri="{BB962C8B-B14F-4D97-AF65-F5344CB8AC3E}">
        <p14:creationId xmlns:p14="http://schemas.microsoft.com/office/powerpoint/2010/main" val="162092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autoUpdateAnimBg="0"/>
      <p:bldP spid="3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BCA8-11C5-7C2B-18CA-D4B55280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48D234B-013F-1775-F123-0A04EA06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30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EAA1F5CF-D701-900F-512B-BF4B7FB6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622201-4666-BD34-F2C2-9A993AF80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2980303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直角的投影特性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F9C74EF1-8534-8389-B7C4-69EAA2686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41" y="1871573"/>
            <a:ext cx="68884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已知直线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，求作直线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垂直相交。</a:t>
            </a:r>
          </a:p>
        </p:txBody>
      </p:sp>
      <p:grpSp>
        <p:nvGrpSpPr>
          <p:cNvPr id="30" name="Group 3">
            <a:extLst>
              <a:ext uri="{FF2B5EF4-FFF2-40B4-BE49-F238E27FC236}">
                <a16:creationId xmlns:a16="http://schemas.microsoft.com/office/drawing/2014/main" id="{B2DFDE30-BC06-8638-5863-2DD58F96D4D1}"/>
              </a:ext>
            </a:extLst>
          </p:cNvPr>
          <p:cNvGrpSpPr>
            <a:grpSpLocks/>
          </p:cNvGrpSpPr>
          <p:nvPr/>
        </p:nvGrpSpPr>
        <p:grpSpPr bwMode="auto">
          <a:xfrm>
            <a:off x="899592" y="2414755"/>
            <a:ext cx="2552700" cy="3525838"/>
            <a:chOff x="876" y="824"/>
            <a:chExt cx="1608" cy="2221"/>
          </a:xfrm>
        </p:grpSpPr>
        <p:sp>
          <p:nvSpPr>
            <p:cNvPr id="31" name="Line 4">
              <a:extLst>
                <a:ext uri="{FF2B5EF4-FFF2-40B4-BE49-F238E27FC236}">
                  <a16:creationId xmlns:a16="http://schemas.microsoft.com/office/drawing/2014/main" id="{0B2B9645-7D26-6202-F35F-0EEE3D996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6" y="1944"/>
              <a:ext cx="1608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0296BF61-BF75-B457-68CE-E9F3F2240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972"/>
              <a:ext cx="876" cy="516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3" name="Line 6">
              <a:extLst>
                <a:ext uri="{FF2B5EF4-FFF2-40B4-BE49-F238E27FC236}">
                  <a16:creationId xmlns:a16="http://schemas.microsoft.com/office/drawing/2014/main" id="{601D7E44-FFF3-C3D7-1B86-8B77E9D5F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972"/>
              <a:ext cx="0" cy="1902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" name="Line 7">
              <a:extLst>
                <a:ext uri="{FF2B5EF4-FFF2-40B4-BE49-F238E27FC236}">
                  <a16:creationId xmlns:a16="http://schemas.microsoft.com/office/drawing/2014/main" id="{2DA13DB2-E3A6-1936-F6A3-33FE0F898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1488"/>
              <a:ext cx="0" cy="1386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" name="Line 8">
              <a:extLst>
                <a:ext uri="{FF2B5EF4-FFF2-40B4-BE49-F238E27FC236}">
                  <a16:creationId xmlns:a16="http://schemas.microsoft.com/office/drawing/2014/main" id="{BFC278AD-2E7A-5159-E454-2B398BC52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2874"/>
              <a:ext cx="876" cy="0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" name="Text Box 9">
              <a:extLst>
                <a:ext uri="{FF2B5EF4-FFF2-40B4-BE49-F238E27FC236}">
                  <a16:creationId xmlns:a16="http://schemas.microsoft.com/office/drawing/2014/main" id="{3ECFFBF8-717B-7600-2167-66C619201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" y="824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000" i="1" kern="0" dirty="0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</a:rPr>
                <a:t>c</a:t>
              </a:r>
              <a:r>
                <a:rPr lang="en-US" altLang="zh-CN" sz="2000" i="1" kern="0" dirty="0">
                  <a:solidFill>
                    <a:srgbClr val="333333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0" lang="en-US" altLang="zh-CN" b="0" kern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Text Box 10">
              <a:extLst>
                <a:ext uri="{FF2B5EF4-FFF2-40B4-BE49-F238E27FC236}">
                  <a16:creationId xmlns:a16="http://schemas.microsoft.com/office/drawing/2014/main" id="{6FB493F6-29D6-F889-CE65-AB51528EF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387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000" i="1" kern="0" dirty="0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</a:rPr>
                <a:t>d</a:t>
              </a:r>
              <a:r>
                <a:rPr lang="en-US" altLang="zh-CN" sz="2000" i="1" kern="0" dirty="0">
                  <a:solidFill>
                    <a:srgbClr val="333333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0" lang="en-US" altLang="zh-CN" b="0" kern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ext Box 11">
              <a:extLst>
                <a:ext uri="{FF2B5EF4-FFF2-40B4-BE49-F238E27FC236}">
                  <a16:creationId xmlns:a16="http://schemas.microsoft.com/office/drawing/2014/main" id="{7ABEFCF9-6895-F778-FBBA-C7CFB4BC8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" y="2766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i="1" kern="0" dirty="0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</a:rPr>
                <a:t>c </a:t>
              </a:r>
            </a:p>
          </p:txBody>
        </p:sp>
        <p:sp>
          <p:nvSpPr>
            <p:cNvPr id="40" name="Text Box 12">
              <a:extLst>
                <a:ext uri="{FF2B5EF4-FFF2-40B4-BE49-F238E27FC236}">
                  <a16:creationId xmlns:a16="http://schemas.microsoft.com/office/drawing/2014/main" id="{6D106DB4-ACC2-AFC5-8481-D4189E0D5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4" y="2795"/>
              <a:ext cx="2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i="1" kern="0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</a:rPr>
                <a:t>d </a:t>
              </a:r>
            </a:p>
          </p:txBody>
        </p:sp>
      </p:grpSp>
      <p:sp>
        <p:nvSpPr>
          <p:cNvPr id="41" name="Line 13">
            <a:extLst>
              <a:ext uri="{FF2B5EF4-FFF2-40B4-BE49-F238E27FC236}">
                <a16:creationId xmlns:a16="http://schemas.microsoft.com/office/drawing/2014/main" id="{3027B2FE-4D16-E418-1136-0FF495DAEF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5417" y="3018005"/>
            <a:ext cx="293688" cy="4889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2C6FCB35-3B34-EA25-87B2-23ACD060E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0692" y="3018005"/>
            <a:ext cx="0" cy="11938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3" name="Line 15">
            <a:extLst>
              <a:ext uri="{FF2B5EF4-FFF2-40B4-BE49-F238E27FC236}">
                <a16:creationId xmlns:a16="http://schemas.microsoft.com/office/drawing/2014/main" id="{43502A12-291D-ACE7-F17D-18FE94E57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0692" y="4192755"/>
            <a:ext cx="0" cy="14795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4" name="Text Box 16">
            <a:extLst>
              <a:ext uri="{FF2B5EF4-FFF2-40B4-BE49-F238E27FC236}">
                <a16:creationId xmlns:a16="http://schemas.microsoft.com/office/drawing/2014/main" id="{7D8701CB-4A98-0A6F-7125-78203EC91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992" y="2654468"/>
            <a:ext cx="496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rgbClr val="000000"/>
                </a:solidFill>
                <a:latin typeface="ISOCPEUR" pitchFamily="34" charset="0"/>
                <a:ea typeface="仿宋_GB2312" pitchFamily="49" charset="-122"/>
              </a:rPr>
              <a:t>b</a:t>
            </a:r>
            <a:r>
              <a:rPr lang="en-US" altLang="zh-CN" sz="2000" i="1" dirty="0">
                <a:solidFill>
                  <a:srgbClr val="000000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kumimoji="0" lang="en-US" altLang="zh-CN" b="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5" name="Group 17">
            <a:extLst>
              <a:ext uri="{FF2B5EF4-FFF2-40B4-BE49-F238E27FC236}">
                <a16:creationId xmlns:a16="http://schemas.microsoft.com/office/drawing/2014/main" id="{E0E25306-7984-836E-B2D5-98806475D4CB}"/>
              </a:ext>
            </a:extLst>
          </p:cNvPr>
          <p:cNvGrpSpPr>
            <a:grpSpLocks/>
          </p:cNvGrpSpPr>
          <p:nvPr/>
        </p:nvGrpSpPr>
        <p:grpSpPr bwMode="auto">
          <a:xfrm>
            <a:off x="1863205" y="2719555"/>
            <a:ext cx="242887" cy="457200"/>
            <a:chOff x="1819" y="1016"/>
            <a:chExt cx="153" cy="288"/>
          </a:xfrm>
        </p:grpSpPr>
        <p:sp>
          <p:nvSpPr>
            <p:cNvPr id="46" name="Arc 18">
              <a:extLst>
                <a:ext uri="{FF2B5EF4-FFF2-40B4-BE49-F238E27FC236}">
                  <a16:creationId xmlns:a16="http://schemas.microsoft.com/office/drawing/2014/main" id="{8DE8C35D-8D64-A58D-17B4-AD653C143A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831" y="1145"/>
              <a:ext cx="107" cy="154"/>
            </a:xfrm>
            <a:custGeom>
              <a:avLst/>
              <a:gdLst>
                <a:gd name="T0" fmla="*/ 0 w 21600"/>
                <a:gd name="T1" fmla="*/ 0 h 34556"/>
                <a:gd name="T2" fmla="*/ 0 w 21600"/>
                <a:gd name="T3" fmla="*/ 0 h 34556"/>
                <a:gd name="T4" fmla="*/ 0 w 21600"/>
                <a:gd name="T5" fmla="*/ 0 h 34556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556"/>
                <a:gd name="T11" fmla="*/ 21600 w 21600"/>
                <a:gd name="T12" fmla="*/ 34556 h 345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556" fill="none" extrusionOk="0">
                  <a:moveTo>
                    <a:pt x="16335" y="0"/>
                  </a:moveTo>
                  <a:cubicBezTo>
                    <a:pt x="19731" y="3925"/>
                    <a:pt x="21600" y="8941"/>
                    <a:pt x="21600" y="14132"/>
                  </a:cubicBezTo>
                  <a:cubicBezTo>
                    <a:pt x="21600" y="23351"/>
                    <a:pt x="15747" y="31555"/>
                    <a:pt x="7029" y="34555"/>
                  </a:cubicBezTo>
                </a:path>
                <a:path w="21600" h="34556" stroke="0" extrusionOk="0">
                  <a:moveTo>
                    <a:pt x="16335" y="0"/>
                  </a:moveTo>
                  <a:cubicBezTo>
                    <a:pt x="19731" y="3925"/>
                    <a:pt x="21600" y="8941"/>
                    <a:pt x="21600" y="14132"/>
                  </a:cubicBezTo>
                  <a:cubicBezTo>
                    <a:pt x="21600" y="23351"/>
                    <a:pt x="15747" y="31555"/>
                    <a:pt x="7029" y="34555"/>
                  </a:cubicBezTo>
                  <a:lnTo>
                    <a:pt x="0" y="14132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7" name="Text Box 19">
              <a:extLst>
                <a:ext uri="{FF2B5EF4-FFF2-40B4-BE49-F238E27FC236}">
                  <a16:creationId xmlns:a16="http://schemas.microsoft.com/office/drawing/2014/main" id="{8E892721-E0FD-372C-9099-BEA97E0E1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9" y="1016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b="0" kern="0">
                  <a:solidFill>
                    <a:srgbClr val="333333"/>
                  </a:solidFill>
                  <a:latin typeface="ISOCPEUR" pitchFamily="34" charset="0"/>
                </a:rPr>
                <a:t>.</a:t>
              </a:r>
            </a:p>
          </p:txBody>
        </p:sp>
      </p:grpSp>
      <p:sp>
        <p:nvSpPr>
          <p:cNvPr id="48" name="Text Box 20">
            <a:extLst>
              <a:ext uri="{FF2B5EF4-FFF2-40B4-BE49-F238E27FC236}">
                <a16:creationId xmlns:a16="http://schemas.microsoft.com/office/drawing/2014/main" id="{13457AC3-A8BB-E43B-B711-C405A36BF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030" y="5664368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000000"/>
                </a:solidFill>
                <a:latin typeface="ISOCPEUR" pitchFamily="34" charset="0"/>
                <a:ea typeface="仿宋_GB2312" pitchFamily="49" charset="-122"/>
              </a:rPr>
              <a:t>b </a:t>
            </a:r>
          </a:p>
        </p:txBody>
      </p:sp>
      <p:sp>
        <p:nvSpPr>
          <p:cNvPr id="49" name="Line 21">
            <a:extLst>
              <a:ext uri="{FF2B5EF4-FFF2-40B4-BE49-F238E27FC236}">
                <a16:creationId xmlns:a16="http://schemas.microsoft.com/office/drawing/2014/main" id="{BC1D5F00-4629-E2BD-320D-DA30803D3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8592" y="5138905"/>
            <a:ext cx="298450" cy="5334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50" name="Group 22">
            <a:extLst>
              <a:ext uri="{FF2B5EF4-FFF2-40B4-BE49-F238E27FC236}">
                <a16:creationId xmlns:a16="http://schemas.microsoft.com/office/drawing/2014/main" id="{E7F8FF20-E047-2D62-4DD5-26D9984D2120}"/>
              </a:ext>
            </a:extLst>
          </p:cNvPr>
          <p:cNvGrpSpPr>
            <a:grpSpLocks/>
          </p:cNvGrpSpPr>
          <p:nvPr/>
        </p:nvGrpSpPr>
        <p:grpSpPr bwMode="auto">
          <a:xfrm>
            <a:off x="1350442" y="3216443"/>
            <a:ext cx="630238" cy="2063750"/>
            <a:chOff x="1160" y="1329"/>
            <a:chExt cx="397" cy="1300"/>
          </a:xfrm>
        </p:grpSpPr>
        <p:sp>
          <p:nvSpPr>
            <p:cNvPr id="51" name="Line 23">
              <a:extLst>
                <a:ext uri="{FF2B5EF4-FFF2-40B4-BE49-F238E27FC236}">
                  <a16:creationId xmlns:a16="http://schemas.microsoft.com/office/drawing/2014/main" id="{FB3E1002-C05C-5F39-48BD-E9EF76A6F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4" y="1512"/>
              <a:ext cx="0" cy="1032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2" name="Text Box 24">
              <a:extLst>
                <a:ext uri="{FF2B5EF4-FFF2-40B4-BE49-F238E27FC236}">
                  <a16:creationId xmlns:a16="http://schemas.microsoft.com/office/drawing/2014/main" id="{A8A12B0F-AFFD-C6A7-D028-7613D8A4D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" y="1329"/>
              <a:ext cx="3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000" i="1" kern="0" dirty="0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kern="0" dirty="0">
                  <a:solidFill>
                    <a:srgbClr val="333333"/>
                  </a:solidFill>
                  <a:latin typeface="Segoe UI" panose="020B0502040204020203" pitchFamily="34" charset="0"/>
                  <a:ea typeface="仿宋_GB2312" pitchFamily="49" charset="-122"/>
                  <a:cs typeface="Segoe UI" panose="020B0502040204020203" pitchFamily="34" charset="0"/>
                </a:rPr>
                <a:t>'</a:t>
              </a:r>
              <a:endParaRPr kumimoji="0" lang="en-US" altLang="zh-CN" b="0" kern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 Box 25">
              <a:extLst>
                <a:ext uri="{FF2B5EF4-FFF2-40B4-BE49-F238E27FC236}">
                  <a16:creationId xmlns:a16="http://schemas.microsoft.com/office/drawing/2014/main" id="{9A92D2F6-5243-C742-33DB-CFBA2B45F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9" y="237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000" i="1" kern="0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</a:rPr>
                <a:t>a</a:t>
              </a:r>
              <a:endParaRPr kumimoji="0" lang="en-US" altLang="zh-CN" b="0" kern="0">
                <a:solidFill>
                  <a:srgbClr val="333333"/>
                </a:solidFill>
                <a:latin typeface="ISOCPEUR" pitchFamily="34" charset="0"/>
              </a:endParaRPr>
            </a:p>
          </p:txBody>
        </p:sp>
        <p:sp>
          <p:nvSpPr>
            <p:cNvPr id="54" name="AutoShape 26">
              <a:extLst>
                <a:ext uri="{FF2B5EF4-FFF2-40B4-BE49-F238E27FC236}">
                  <a16:creationId xmlns:a16="http://schemas.microsoft.com/office/drawing/2014/main" id="{372F55F1-96FF-340A-C089-AC6053AB6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" y="2511"/>
              <a:ext cx="47" cy="49"/>
            </a:xfrm>
            <a:prstGeom prst="flowChartConnector">
              <a:avLst/>
            </a:prstGeom>
            <a:solidFill>
              <a:srgbClr val="0000CC"/>
            </a:solidFill>
            <a:ln w="9525">
              <a:solidFill>
                <a:srgbClr val="333333"/>
              </a:solidFill>
              <a:round/>
              <a:headEnd/>
              <a:tailEnd type="none" w="sm" len="lg"/>
            </a:ln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5" name="AutoShape 27">
              <a:extLst>
                <a:ext uri="{FF2B5EF4-FFF2-40B4-BE49-F238E27FC236}">
                  <a16:creationId xmlns:a16="http://schemas.microsoft.com/office/drawing/2014/main" id="{505A5593-05BD-44C7-38E4-D3B047467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1488"/>
              <a:ext cx="47" cy="49"/>
            </a:xfrm>
            <a:prstGeom prst="flowChartConnector">
              <a:avLst/>
            </a:prstGeom>
            <a:solidFill>
              <a:srgbClr val="0000CC"/>
            </a:solidFill>
            <a:ln w="9525">
              <a:solidFill>
                <a:srgbClr val="333333"/>
              </a:solidFill>
              <a:round/>
              <a:headEnd/>
              <a:tailEnd type="none" w="sm" len="lg"/>
            </a:ln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56" name="Text Box 28">
            <a:extLst>
              <a:ext uri="{FF2B5EF4-FFF2-40B4-BE49-F238E27FC236}">
                <a16:creationId xmlns:a16="http://schemas.microsoft.com/office/drawing/2014/main" id="{4FBB41FB-17E1-1B2B-308F-C8E461A77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5865" y="2715138"/>
            <a:ext cx="42835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思路分析</a:t>
            </a:r>
            <a:r>
              <a:rPr kumimoji="0" lang="zh-CN" altLang="en-US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：</a:t>
            </a:r>
          </a:p>
          <a:p>
            <a:pPr eaLnBrk="1" hangingPunct="1"/>
            <a:r>
              <a:rPr kumimoji="0" lang="en-US" altLang="zh-CN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CD∥V </a:t>
            </a:r>
            <a:r>
              <a:rPr kumimoji="0"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a</a:t>
            </a:r>
            <a:r>
              <a:rPr lang="en-US" altLang="zh-CN" b="0" i="1" dirty="0" err="1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b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c</a:t>
            </a:r>
            <a:r>
              <a:rPr lang="en-US" altLang="zh-CN" b="0" i="1" dirty="0" err="1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d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垂直相交。</a:t>
            </a:r>
            <a:endParaRPr lang="zh-CN" altLang="en-US" sz="2000" b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7" name="Text Box 29">
            <a:extLst>
              <a:ext uri="{FF2B5EF4-FFF2-40B4-BE49-F238E27FC236}">
                <a16:creationId xmlns:a16="http://schemas.microsoft.com/office/drawing/2014/main" id="{E83ECCC8-6836-F6FD-5A95-C132F912D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515" y="3799328"/>
            <a:ext cx="4238661" cy="97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作图步骤</a:t>
            </a:r>
            <a:r>
              <a:rPr kumimoji="0" lang="zh-CN" altLang="en-US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：</a:t>
            </a:r>
          </a:p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kumimoji="0"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过</a:t>
            </a:r>
            <a:r>
              <a:rPr lang="en-US" altLang="zh-CN" b="0" i="1" dirty="0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a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 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做</a:t>
            </a:r>
            <a:r>
              <a:rPr lang="en-US" altLang="zh-CN" b="0" i="1" dirty="0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a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i="1" dirty="0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b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dirty="0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⊥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c</a:t>
            </a:r>
            <a:r>
              <a:rPr lang="en-US" altLang="zh-CN" b="0" i="1" dirty="0" err="1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d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zh-CN" altLang="en-US" b="0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，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交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c</a:t>
            </a:r>
            <a:r>
              <a:rPr lang="en-US" altLang="zh-CN" b="0" i="1" dirty="0" err="1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i="1" dirty="0" err="1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d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  <a:r>
              <a:rPr lang="en-US" altLang="zh-CN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于</a:t>
            </a:r>
            <a:r>
              <a:rPr lang="en-US" altLang="zh-CN" b="0" i="1" dirty="0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b</a:t>
            </a:r>
            <a:r>
              <a:rPr lang="en-US" altLang="zh-CN" b="0" i="1" dirty="0">
                <a:solidFill>
                  <a:srgbClr val="000000"/>
                </a:solidFill>
                <a:latin typeface="Segoe UI" panose="020B0502040204020203" pitchFamily="34" charset="0"/>
                <a:ea typeface="黑体" pitchFamily="49" charset="-122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58" name="Text Box 30">
            <a:extLst>
              <a:ext uri="{FF2B5EF4-FFF2-40B4-BE49-F238E27FC236}">
                <a16:creationId xmlns:a16="http://schemas.microsoft.com/office/drawing/2014/main" id="{DB710368-E45E-8956-BBA7-6F92E41D3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5865" y="4769738"/>
            <a:ext cx="456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求点</a:t>
            </a:r>
            <a:r>
              <a:rPr lang="zh-CN" altLang="en-US" sz="800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的水平投影</a:t>
            </a:r>
            <a:r>
              <a:rPr lang="en-US" altLang="zh-CN" b="0" i="1" dirty="0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b</a:t>
            </a: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BBB92B10-DB01-D9F9-BB54-2E4104B17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5865" y="5215105"/>
            <a:ext cx="456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连</a:t>
            </a:r>
            <a:r>
              <a:rPr lang="en-US" altLang="zh-CN" b="0" i="1" dirty="0">
                <a:solidFill>
                  <a:srgbClr val="000000"/>
                </a:solidFill>
                <a:latin typeface="ISOCPEUR" pitchFamily="34" charset="0"/>
                <a:ea typeface="黑体" pitchFamily="49" charset="-122"/>
              </a:rPr>
              <a:t>ab</a:t>
            </a:r>
            <a:r>
              <a:rPr lang="en-US" altLang="zh-CN" b="0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b="0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，</a:t>
            </a:r>
            <a:r>
              <a:rPr lang="zh-CN" altLang="en-US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则</a:t>
            </a:r>
            <a:r>
              <a:rPr lang="en-US" altLang="zh-CN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AB</a:t>
            </a:r>
            <a:r>
              <a:rPr lang="zh-CN" altLang="zh-CN" b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为所求</a:t>
            </a:r>
            <a:endParaRPr lang="zh-CN" altLang="en-US" b="0" dirty="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5079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  <p:bldP spid="48" grpId="0" autoUpdateAnimBg="0"/>
      <p:bldP spid="56" grpId="0"/>
      <p:bldP spid="57" grpId="0"/>
      <p:bldP spid="58" grpId="0"/>
      <p:bldP spid="5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EC46-F209-274E-C189-187D0FBF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D6CA2CE-B5A7-531F-7BAC-6E31B9B2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C845818-22BB-84C9-8EB2-28E705ACF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ED982C-2983-8B75-17A5-B89D094F8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直线与平面垂直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BF85AA1-EF50-FC7B-D6D3-F69A89189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920690"/>
            <a:ext cx="7416824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u="sng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几何学原理</a:t>
            </a: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：如果直线垂直于平面上两条相交直线，则该直线与该平面垂直。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F8FC07AA-FE59-7097-467A-310E011F0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144826"/>
            <a:ext cx="6724918" cy="186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u="sng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推论</a:t>
            </a: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：若直线垂直于平面，则：</a:t>
            </a:r>
            <a:endParaRPr lang="en-US" altLang="zh-CN" sz="20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）该直线的水平投影与该平面上水平线的水平投影垂直</a:t>
            </a:r>
            <a:endParaRPr lang="en-US" altLang="zh-CN" sz="20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）该直线的正面投影与该平面上正平线的正面投影垂直</a:t>
            </a:r>
            <a:endParaRPr lang="en-US" altLang="zh-CN" sz="20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）该直线的侧面投影与该平面上侧平线的侧面投影垂直</a:t>
            </a:r>
          </a:p>
        </p:txBody>
      </p:sp>
    </p:spTree>
    <p:extLst>
      <p:ext uri="{BB962C8B-B14F-4D97-AF65-F5344CB8AC3E}">
        <p14:creationId xmlns:p14="http://schemas.microsoft.com/office/powerpoint/2010/main" val="200457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D540-B701-0DE7-0C6F-517C966F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E7EE37C-969E-B4C5-5905-B7401732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32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98C8B51-9F6D-E679-23AE-40BC8BFE7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CA66A8-FC31-B503-7A3B-0185CA844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直线与平面垂直</a:t>
            </a:r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B366A3FD-B5E2-C3C8-9725-973D1C0C8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9272" y="4615110"/>
            <a:ext cx="1011238" cy="1344613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B29BFA56-4CA6-F6E6-9A7A-4379A2B784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9272" y="2284660"/>
            <a:ext cx="1008063" cy="13081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B90669-C4BA-BE3E-4B3F-09CD9A8F9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118" y="3916560"/>
            <a:ext cx="587375" cy="226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3213277-4C04-8916-0DCF-DC70715D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7515" y="1577868"/>
            <a:ext cx="587375" cy="2412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19838289-1C74-5BA8-7431-872CC7BF8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0647" y="2827585"/>
            <a:ext cx="0" cy="28067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A12AFB48-8D6C-224E-4F06-1C41F5E92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5947" y="3605460"/>
            <a:ext cx="0" cy="15589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3C07FB90-816A-87E2-CFBB-3900CBDC9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060" y="253231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rgbClr val="333333"/>
                </a:solidFill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7912CF9C-D6C3-AA2F-1D6F-542FA8FCF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060" y="3248273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rgbClr val="333333"/>
                </a:solidFill>
                <a:latin typeface="ISOCPEUR" pitchFamily="34" charset="0"/>
                <a:ea typeface="仿宋_GB2312" pitchFamily="49" charset="-122"/>
              </a:rPr>
              <a:t>c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32EFB534-B04D-8F84-D56C-1AD8C1E7C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997" y="1694110"/>
            <a:ext cx="701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rgbClr val="333333"/>
                </a:solidFill>
                <a:latin typeface="ISOCPEUR" pitchFamily="34" charset="0"/>
                <a:ea typeface="仿宋_GB2312" pitchFamily="49" charset="-122"/>
              </a:rPr>
              <a:t>b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0FC8BEA8-E6BC-7565-60BE-5D1C7C5FB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560" y="548506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001416DC-01EE-86B7-E051-3D53BB373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0935" y="382294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F1E57024-1E70-B3E0-3F5C-2E0F69D9E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2610" y="507072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53D2A647-9585-84EE-304D-D707382ECD33}"/>
              </a:ext>
            </a:extLst>
          </p:cNvPr>
          <p:cNvSpPr>
            <a:spLocks/>
          </p:cNvSpPr>
          <p:nvPr/>
        </p:nvSpPr>
        <p:spPr bwMode="auto">
          <a:xfrm>
            <a:off x="5257472" y="1892548"/>
            <a:ext cx="1768475" cy="1706562"/>
          </a:xfrm>
          <a:custGeom>
            <a:avLst/>
            <a:gdLst>
              <a:gd name="T0" fmla="*/ 0 w 852"/>
              <a:gd name="T1" fmla="*/ 2147483647 h 822"/>
              <a:gd name="T2" fmla="*/ 2147483647 w 852"/>
              <a:gd name="T3" fmla="*/ 0 h 822"/>
              <a:gd name="T4" fmla="*/ 2147483647 w 852"/>
              <a:gd name="T5" fmla="*/ 2147483647 h 822"/>
              <a:gd name="T6" fmla="*/ 0 w 852"/>
              <a:gd name="T7" fmla="*/ 2147483647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349DAA35-33CB-8996-2CE6-412457E00D5E}"/>
              </a:ext>
            </a:extLst>
          </p:cNvPr>
          <p:cNvSpPr>
            <a:spLocks/>
          </p:cNvSpPr>
          <p:nvPr/>
        </p:nvSpPr>
        <p:spPr bwMode="auto">
          <a:xfrm flipV="1">
            <a:off x="5257472" y="4122985"/>
            <a:ext cx="1768475" cy="1555750"/>
          </a:xfrm>
          <a:custGeom>
            <a:avLst/>
            <a:gdLst>
              <a:gd name="T0" fmla="*/ 0 w 852"/>
              <a:gd name="T1" fmla="*/ 0 h 750"/>
              <a:gd name="T2" fmla="*/ 2147483647 w 852"/>
              <a:gd name="T3" fmla="*/ 2147483647 h 750"/>
              <a:gd name="T4" fmla="*/ 2147483647 w 852"/>
              <a:gd name="T5" fmla="*/ 2147483647 h 750"/>
              <a:gd name="T6" fmla="*/ 0 w 852"/>
              <a:gd name="T7" fmla="*/ 0 h 750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750"/>
              <a:gd name="T14" fmla="*/ 852 w 852"/>
              <a:gd name="T15" fmla="*/ 750 h 7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750">
                <a:moveTo>
                  <a:pt x="0" y="0"/>
                </a:moveTo>
                <a:lnTo>
                  <a:pt x="852" y="243"/>
                </a:lnTo>
                <a:lnTo>
                  <a:pt x="507" y="75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2A247500-3D86-284A-A708-92BB20A7C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2135" y="3861048"/>
            <a:ext cx="3671887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2E77D375-4B77-79D5-0222-FA8AB4793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9272" y="3592760"/>
            <a:ext cx="0" cy="10096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F7FC47EC-1C84-6A11-CAA7-9CAE570F7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335" y="434047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k</a:t>
            </a:r>
            <a:endParaRPr kumimoji="0" lang="en-US" altLang="zh-CN" sz="200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577CAE1-5071-F1E7-265C-8D8484129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5410" y="2808535"/>
            <a:ext cx="14446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2E3D01F6-78CF-94BE-C039-A5B956A36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4635" y="2808535"/>
            <a:ext cx="0" cy="108267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6A4B3033-AE7B-67EF-B999-F6D79A7CC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4635" y="3867398"/>
            <a:ext cx="0" cy="8223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E8BE0961-F72B-5866-2B3C-14E34BC2F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5410" y="4651623"/>
            <a:ext cx="1419225" cy="10223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D28531-1BF5-DE7C-7FC4-40653BAAA69E}"/>
              </a:ext>
            </a:extLst>
          </p:cNvPr>
          <p:cNvGrpSpPr>
            <a:grpSpLocks/>
          </p:cNvGrpSpPr>
          <p:nvPr/>
        </p:nvGrpSpPr>
        <p:grpSpPr bwMode="auto">
          <a:xfrm>
            <a:off x="5825797" y="4762748"/>
            <a:ext cx="242888" cy="457200"/>
            <a:chOff x="3226" y="2691"/>
            <a:chExt cx="153" cy="288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221C9CD-7E8D-5FEF-EBFF-CE2406E553A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42" y="2821"/>
              <a:ext cx="133" cy="151"/>
            </a:xfrm>
            <a:custGeom>
              <a:avLst/>
              <a:gdLst>
                <a:gd name="T0" fmla="*/ 0 w 21600"/>
                <a:gd name="T1" fmla="*/ 0 h 31704"/>
                <a:gd name="T2" fmla="*/ 0 w 21600"/>
                <a:gd name="T3" fmla="*/ 0 h 31704"/>
                <a:gd name="T4" fmla="*/ 0 w 21600"/>
                <a:gd name="T5" fmla="*/ 0 h 317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704"/>
                <a:gd name="T11" fmla="*/ 21600 w 21600"/>
                <a:gd name="T12" fmla="*/ 31704 h 317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704" fill="none" extrusionOk="0">
                  <a:moveTo>
                    <a:pt x="12292" y="-1"/>
                  </a:moveTo>
                  <a:cubicBezTo>
                    <a:pt x="18121" y="4034"/>
                    <a:pt x="21600" y="10671"/>
                    <a:pt x="21600" y="17761"/>
                  </a:cubicBezTo>
                  <a:cubicBezTo>
                    <a:pt x="21600" y="22865"/>
                    <a:pt x="19792" y="27805"/>
                    <a:pt x="16497" y="31704"/>
                  </a:cubicBezTo>
                </a:path>
                <a:path w="21600" h="31704" stroke="0" extrusionOk="0">
                  <a:moveTo>
                    <a:pt x="12292" y="-1"/>
                  </a:moveTo>
                  <a:cubicBezTo>
                    <a:pt x="18121" y="4034"/>
                    <a:pt x="21600" y="10671"/>
                    <a:pt x="21600" y="17761"/>
                  </a:cubicBezTo>
                  <a:cubicBezTo>
                    <a:pt x="21600" y="22865"/>
                    <a:pt x="19792" y="27805"/>
                    <a:pt x="16497" y="31704"/>
                  </a:cubicBezTo>
                  <a:lnTo>
                    <a:pt x="0" y="17761"/>
                  </a:lnTo>
                  <a:lnTo>
                    <a:pt x="12292" y="-1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B1B3C9D8-D85B-7B02-26C4-F5717ABA57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2691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.</a:t>
              </a:r>
            </a:p>
          </p:txBody>
        </p:sp>
      </p:grpSp>
      <p:sp>
        <p:nvSpPr>
          <p:cNvPr id="29" name="Text Box 28">
            <a:extLst>
              <a:ext uri="{FF2B5EF4-FFF2-40B4-BE49-F238E27FC236}">
                <a16:creationId xmlns:a16="http://schemas.microsoft.com/office/drawing/2014/main" id="{231AA8A1-3850-7C2E-9273-365828320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747" y="572477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d</a:t>
            </a:r>
            <a:endParaRPr kumimoji="0" lang="en-US" altLang="zh-CN" dirty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3EE26B30-00B2-BF1F-D823-417D842E5C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1960" y="5162798"/>
            <a:ext cx="14192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15C187AA-AC15-F355-5642-D40DECF200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1960" y="3829298"/>
            <a:ext cx="0" cy="13335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2" name="Text Box 16">
            <a:extLst>
              <a:ext uri="{FF2B5EF4-FFF2-40B4-BE49-F238E27FC236}">
                <a16:creationId xmlns:a16="http://schemas.microsoft.com/office/drawing/2014/main" id="{697BF3BF-CEBA-03D6-34F0-3900CE428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691" y="3322195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k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A2FC194F-533A-7FB3-D256-4D45FEECE6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1960" y="2521198"/>
            <a:ext cx="0" cy="13462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3023B862-2F79-DC4F-393A-93770E236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1960" y="2521198"/>
            <a:ext cx="1406525" cy="1071562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grpSp>
        <p:nvGrpSpPr>
          <p:cNvPr id="35" name="Group 33">
            <a:extLst>
              <a:ext uri="{FF2B5EF4-FFF2-40B4-BE49-F238E27FC236}">
                <a16:creationId xmlns:a16="http://schemas.microsoft.com/office/drawing/2014/main" id="{969E7D12-E360-99C0-FAEC-3E600C4AB0DC}"/>
              </a:ext>
            </a:extLst>
          </p:cNvPr>
          <p:cNvGrpSpPr>
            <a:grpSpLocks/>
          </p:cNvGrpSpPr>
          <p:nvPr/>
        </p:nvGrpSpPr>
        <p:grpSpPr bwMode="auto">
          <a:xfrm>
            <a:off x="5957560" y="2649785"/>
            <a:ext cx="242887" cy="457200"/>
            <a:chOff x="3309" y="1360"/>
            <a:chExt cx="153" cy="288"/>
          </a:xfrm>
        </p:grpSpPr>
        <p:sp>
          <p:nvSpPr>
            <p:cNvPr id="36" name="Arc 34">
              <a:extLst>
                <a:ext uri="{FF2B5EF4-FFF2-40B4-BE49-F238E27FC236}">
                  <a16:creationId xmlns:a16="http://schemas.microsoft.com/office/drawing/2014/main" id="{A550FEC5-F4A9-CA46-4A50-594EBAF9AA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3" y="1489"/>
              <a:ext cx="127" cy="158"/>
            </a:xfrm>
            <a:custGeom>
              <a:avLst/>
              <a:gdLst>
                <a:gd name="T0" fmla="*/ 0 w 21600"/>
                <a:gd name="T1" fmla="*/ 0 h 30894"/>
                <a:gd name="T2" fmla="*/ 0 w 21600"/>
                <a:gd name="T3" fmla="*/ 0 h 30894"/>
                <a:gd name="T4" fmla="*/ 0 w 21600"/>
                <a:gd name="T5" fmla="*/ 0 h 308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894"/>
                <a:gd name="T11" fmla="*/ 21600 w 21600"/>
                <a:gd name="T12" fmla="*/ 30894 h 308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894" fill="none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</a:path>
                <a:path w="21600" h="30894" stroke="0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  <a:lnTo>
                    <a:pt x="0" y="14289"/>
                  </a:lnTo>
                  <a:lnTo>
                    <a:pt x="16198" y="-1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E5FF7973-1860-88FF-1ABE-65E3FF865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" y="1360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.</a:t>
              </a:r>
            </a:p>
          </p:txBody>
        </p:sp>
      </p:grpSp>
      <p:sp>
        <p:nvSpPr>
          <p:cNvPr id="39" name="Line 36">
            <a:extLst>
              <a:ext uri="{FF2B5EF4-FFF2-40B4-BE49-F238E27FC236}">
                <a16:creationId xmlns:a16="http://schemas.microsoft.com/office/drawing/2014/main" id="{44AEA14F-3FCD-7E4C-612D-799AFBD642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7335" y="2279579"/>
            <a:ext cx="0" cy="36720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92C703F2-5850-0C27-38F7-842473A8D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222" y="2098923"/>
            <a:ext cx="650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d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2F3F62F8-919E-2373-CE32-255455BC77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7335" y="1600448"/>
            <a:ext cx="536575" cy="684212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E97492CF-5D39-F6A9-396B-2B8539011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985" y="1440110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3300"/>
                </a:solidFill>
                <a:latin typeface="ISOCPEUR" pitchFamily="34" charset="0"/>
              </a:rPr>
              <a:t>P</a:t>
            </a:r>
            <a:r>
              <a:rPr lang="en-US" altLang="zh-CN" sz="2000" i="1" baseline="-8000">
                <a:solidFill>
                  <a:srgbClr val="FF3300"/>
                </a:solidFill>
                <a:latin typeface="ISOCPEUR" pitchFamily="34" charset="0"/>
              </a:rPr>
              <a:t>V</a:t>
            </a:r>
            <a:endParaRPr kumimoji="0" lang="en-US" altLang="zh-CN" sz="2000" i="1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C6269D76-C9B9-2B14-F8C6-1C5D05D64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5822" y="3168898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EA81394B-8B81-D2DE-1AA4-F568077CB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5822" y="3630860"/>
            <a:ext cx="0" cy="249238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5" name="Line 43">
            <a:extLst>
              <a:ext uri="{FF2B5EF4-FFF2-40B4-BE49-F238E27FC236}">
                <a16:creationId xmlns:a16="http://schemas.microsoft.com/office/drawing/2014/main" id="{F4395AF1-EFC7-1CFC-12C8-0D7CD46BE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5822" y="3867398"/>
            <a:ext cx="0" cy="15938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6" name="Text Box 44">
            <a:extLst>
              <a:ext uri="{FF2B5EF4-FFF2-40B4-BE49-F238E27FC236}">
                <a16:creationId xmlns:a16="http://schemas.microsoft.com/office/drawing/2014/main" id="{405991D6-6D01-702F-EBE2-9E518DB88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097" y="2602160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l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kumimoji="0"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2FD13021-096B-01FB-FE87-D509B09099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0810" y="2471985"/>
            <a:ext cx="0" cy="14192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8CB1469F-79A2-DA21-28E5-503823CA6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0810" y="3880098"/>
            <a:ext cx="0" cy="6223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49" name="Line 47">
            <a:extLst>
              <a:ext uri="{FF2B5EF4-FFF2-40B4-BE49-F238E27FC236}">
                <a16:creationId xmlns:a16="http://schemas.microsoft.com/office/drawing/2014/main" id="{41896640-B31F-1E6E-0910-0CD059B92D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25822" y="4476998"/>
            <a:ext cx="534988" cy="9842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F91CD80A-A0C2-66E7-9E4B-F1C427D93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097" y="5026273"/>
            <a:ext cx="352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l</a:t>
            </a:r>
            <a:endParaRPr kumimoji="0" lang="en-US" altLang="zh-CN" i="1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51" name="Line 49">
            <a:extLst>
              <a:ext uri="{FF2B5EF4-FFF2-40B4-BE49-F238E27FC236}">
                <a16:creationId xmlns:a16="http://schemas.microsoft.com/office/drawing/2014/main" id="{3280C9A8-59EC-62DA-4309-4A472065F4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2347" y="3829298"/>
            <a:ext cx="0" cy="1408112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2" name="Line 50">
            <a:extLst>
              <a:ext uri="{FF2B5EF4-FFF2-40B4-BE49-F238E27FC236}">
                <a16:creationId xmlns:a16="http://schemas.microsoft.com/office/drawing/2014/main" id="{547F2952-64FA-D7EC-AD7C-27F1187DCB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2347" y="2983160"/>
            <a:ext cx="0" cy="871538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0DD329D4-80A9-1918-9913-8E5C7C084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8497" y="2284660"/>
            <a:ext cx="0" cy="2528888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793DAB3A-4160-9090-58A7-0367B66EA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6097" y="4592885"/>
            <a:ext cx="142875" cy="188913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C948553D-BAAF-629D-9F0B-9DBE7306F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8497" y="4800848"/>
            <a:ext cx="292101" cy="397069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AF1945CA-E964-CE15-8B6D-EB9D08CAAF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01972" y="3157785"/>
            <a:ext cx="323850" cy="43497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7" name="Line 55">
            <a:extLst>
              <a:ext uri="{FF2B5EF4-FFF2-40B4-BE49-F238E27FC236}">
                <a16:creationId xmlns:a16="http://schemas.microsoft.com/office/drawing/2014/main" id="{E1FC1CC1-E959-2F48-C931-9E89E8E0ED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5822" y="2989510"/>
            <a:ext cx="123825" cy="179388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8" name="Line 56">
            <a:extLst>
              <a:ext uri="{FF2B5EF4-FFF2-40B4-BE49-F238E27FC236}">
                <a16:creationId xmlns:a16="http://schemas.microsoft.com/office/drawing/2014/main" id="{18590CE3-5A5C-54F4-278F-B96372D0B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1972" y="2995860"/>
            <a:ext cx="0" cy="5937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9" name="Line 57">
            <a:extLst>
              <a:ext uri="{FF2B5EF4-FFF2-40B4-BE49-F238E27FC236}">
                <a16:creationId xmlns:a16="http://schemas.microsoft.com/office/drawing/2014/main" id="{828119E5-A956-7C37-B36C-84854AF35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9647" y="2995860"/>
            <a:ext cx="20796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0" name="Line 58">
            <a:extLst>
              <a:ext uri="{FF2B5EF4-FFF2-40B4-BE49-F238E27FC236}">
                <a16:creationId xmlns:a16="http://schemas.microsoft.com/office/drawing/2014/main" id="{A203AFE7-6C9C-6B51-CC5C-CAC081965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9272" y="3592760"/>
            <a:ext cx="2540000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1" name="Line 59">
            <a:extLst>
              <a:ext uri="{FF2B5EF4-FFF2-40B4-BE49-F238E27FC236}">
                <a16:creationId xmlns:a16="http://schemas.microsoft.com/office/drawing/2014/main" id="{ED992F56-F73B-3914-AA15-35D349027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0860" y="4583360"/>
            <a:ext cx="463550" cy="641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62" name="Line 60">
            <a:extLst>
              <a:ext uri="{FF2B5EF4-FFF2-40B4-BE49-F238E27FC236}">
                <a16:creationId xmlns:a16="http://schemas.microsoft.com/office/drawing/2014/main" id="{DEB1B4EB-1FBC-6E73-A8E7-1DA76F3D9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7747" y="3592760"/>
            <a:ext cx="78422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63" name="Line 61">
            <a:extLst>
              <a:ext uri="{FF2B5EF4-FFF2-40B4-BE49-F238E27FC236}">
                <a16:creationId xmlns:a16="http://schemas.microsoft.com/office/drawing/2014/main" id="{53551EA4-98FE-81D7-AAD1-51C331F719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7747" y="2995860"/>
            <a:ext cx="784225" cy="5969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64" name="Text Box 62">
            <a:extLst>
              <a:ext uri="{FF2B5EF4-FFF2-40B4-BE49-F238E27FC236}">
                <a16:creationId xmlns:a16="http://schemas.microsoft.com/office/drawing/2014/main" id="{C085440D-4BB8-95FD-7373-A67FC10B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697" y="294506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L</a:t>
            </a:r>
            <a:endParaRPr kumimoji="0" lang="en-US" altLang="zh-CN" i="1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65" name="AutoShape 63">
            <a:extLst>
              <a:ext uri="{FF2B5EF4-FFF2-40B4-BE49-F238E27FC236}">
                <a16:creationId xmlns:a16="http://schemas.microsoft.com/office/drawing/2014/main" id="{2793D729-4123-5CCA-E88A-AEF648A53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435" y="2945060"/>
            <a:ext cx="96837" cy="98425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6" name="AutoShape 64">
            <a:extLst>
              <a:ext uri="{FF2B5EF4-FFF2-40B4-BE49-F238E27FC236}">
                <a16:creationId xmlns:a16="http://schemas.microsoft.com/office/drawing/2014/main" id="{D007139D-F383-0F49-C299-6A318081D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472" y="3549898"/>
            <a:ext cx="98425" cy="968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7" name="AutoShape 65">
            <a:extLst>
              <a:ext uri="{FF2B5EF4-FFF2-40B4-BE49-F238E27FC236}">
                <a16:creationId xmlns:a16="http://schemas.microsoft.com/office/drawing/2014/main" id="{1AC7EC68-64AB-CC5A-D407-E5434E85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472" y="4551610"/>
            <a:ext cx="98425" cy="98425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8" name="AutoShape 66">
            <a:extLst>
              <a:ext uri="{FF2B5EF4-FFF2-40B4-BE49-F238E27FC236}">
                <a16:creationId xmlns:a16="http://schemas.microsoft.com/office/drawing/2014/main" id="{86EEBB9B-7126-6F75-DF8C-CEEA85890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547" y="5188198"/>
            <a:ext cx="98425" cy="968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9" name="Text Box 68">
            <a:extLst>
              <a:ext uri="{FF2B5EF4-FFF2-40B4-BE49-F238E27FC236}">
                <a16:creationId xmlns:a16="http://schemas.microsoft.com/office/drawing/2014/main" id="{28A54812-D213-D6F4-E835-9948DF43E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48" y="3653399"/>
            <a:ext cx="20473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做</a:t>
            </a:r>
            <a:r>
              <a:rPr kumimoji="0" lang="en-US" altLang="zh-CN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KD⊥△ABC</a:t>
            </a:r>
          </a:p>
        </p:txBody>
      </p:sp>
      <p:sp>
        <p:nvSpPr>
          <p:cNvPr id="70" name="Text Box 69">
            <a:extLst>
              <a:ext uri="{FF2B5EF4-FFF2-40B4-BE49-F238E27FC236}">
                <a16:creationId xmlns:a16="http://schemas.microsoft.com/office/drawing/2014/main" id="{DE9C2D62-D7FB-4855-EB1B-B4F06220F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48" y="4148609"/>
            <a:ext cx="303480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求</a:t>
            </a:r>
            <a:r>
              <a:rPr kumimoji="0" lang="en-US" altLang="zh-CN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KD</a:t>
            </a:r>
            <a:r>
              <a:rPr kumimoji="0" lang="zh-CN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kumimoji="0" lang="en-US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△ABC</a:t>
            </a:r>
            <a:r>
              <a:rPr kumimoji="0" lang="zh-CN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的交点</a:t>
            </a:r>
            <a:r>
              <a:rPr kumimoji="0" lang="en-US" altLang="zh-CN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L</a:t>
            </a:r>
          </a:p>
        </p:txBody>
      </p:sp>
      <p:sp>
        <p:nvSpPr>
          <p:cNvPr id="71" name="Text Box 70">
            <a:extLst>
              <a:ext uri="{FF2B5EF4-FFF2-40B4-BE49-F238E27FC236}">
                <a16:creationId xmlns:a16="http://schemas.microsoft.com/office/drawing/2014/main" id="{AAF8A96A-286B-86F4-A475-BE7E878BE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48" y="4655111"/>
            <a:ext cx="16241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求</a:t>
            </a:r>
            <a:r>
              <a:rPr kumimoji="0" lang="en-US" altLang="zh-CN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KL</a:t>
            </a:r>
            <a:r>
              <a:rPr kumimoji="0" lang="zh-CN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实长</a:t>
            </a:r>
          </a:p>
        </p:txBody>
      </p:sp>
      <p:sp>
        <p:nvSpPr>
          <p:cNvPr id="72" name="Text Box 71">
            <a:extLst>
              <a:ext uri="{FF2B5EF4-FFF2-40B4-BE49-F238E27FC236}">
                <a16:creationId xmlns:a16="http://schemas.microsoft.com/office/drawing/2014/main" id="{0D7C0729-ECAD-330E-C56D-348EBE3E2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48" y="5155174"/>
            <a:ext cx="190629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 sz="22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判断可见性</a:t>
            </a:r>
          </a:p>
        </p:txBody>
      </p:sp>
      <p:sp>
        <p:nvSpPr>
          <p:cNvPr id="73" name="Text Box 72">
            <a:extLst>
              <a:ext uri="{FF2B5EF4-FFF2-40B4-BE49-F238E27FC236}">
                <a16:creationId xmlns:a16="http://schemas.microsoft.com/office/drawing/2014/main" id="{EA89C508-112C-B579-435F-A68690FBF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435" y="3537198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kl</a:t>
            </a:r>
            <a:endParaRPr kumimoji="0" lang="en-US" altLang="zh-CN" i="1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74" name="Text Box 75">
            <a:extLst>
              <a:ext uri="{FF2B5EF4-FFF2-40B4-BE49-F238E27FC236}">
                <a16:creationId xmlns:a16="http://schemas.microsoft.com/office/drawing/2014/main" id="{A47E9748-C308-B478-3612-37DDD63D4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7347" y="3057110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△Z</a:t>
            </a:r>
            <a:r>
              <a:rPr kumimoji="0" lang="en-US" altLang="zh-CN" sz="2000" i="1" baseline="-250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KL</a:t>
            </a:r>
          </a:p>
        </p:txBody>
      </p:sp>
      <p:sp>
        <p:nvSpPr>
          <p:cNvPr id="75" name="Line 76">
            <a:extLst>
              <a:ext uri="{FF2B5EF4-FFF2-40B4-BE49-F238E27FC236}">
                <a16:creationId xmlns:a16="http://schemas.microsoft.com/office/drawing/2014/main" id="{2B099DE2-A882-7D54-1606-C5B16FA3E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8997" y="3157785"/>
            <a:ext cx="0" cy="231457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endParaRPr kumimoji="1"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76" name="Line 77">
            <a:extLst>
              <a:ext uri="{FF2B5EF4-FFF2-40B4-BE49-F238E27FC236}">
                <a16:creationId xmlns:a16="http://schemas.microsoft.com/office/drawing/2014/main" id="{4A622099-2DD1-D7B5-6E81-1609C55AD5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0937" y="1917630"/>
            <a:ext cx="0" cy="21960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77" name="Text Box 79">
            <a:extLst>
              <a:ext uri="{FF2B5EF4-FFF2-40B4-BE49-F238E27FC236}">
                <a16:creationId xmlns:a16="http://schemas.microsoft.com/office/drawing/2014/main" id="{6A7EA060-4C9D-B15C-25FF-59C890A82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510" y="2621210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1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78" name="Text Box 80">
            <a:extLst>
              <a:ext uri="{FF2B5EF4-FFF2-40B4-BE49-F238E27FC236}">
                <a16:creationId xmlns:a16="http://schemas.microsoft.com/office/drawing/2014/main" id="{4FEFE77B-BC1D-CF24-31F2-86C0ED500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2710" y="4415085"/>
            <a:ext cx="449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1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79" name="Text Box 81">
            <a:extLst>
              <a:ext uri="{FF2B5EF4-FFF2-40B4-BE49-F238E27FC236}">
                <a16:creationId xmlns:a16="http://schemas.microsoft.com/office/drawing/2014/main" id="{B96C06D2-44AB-28F8-DF7F-9639EF680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3810" y="4913560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2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80" name="Text Box 82">
            <a:extLst>
              <a:ext uri="{FF2B5EF4-FFF2-40B4-BE49-F238E27FC236}">
                <a16:creationId xmlns:a16="http://schemas.microsoft.com/office/drawing/2014/main" id="{C3F9B5EB-D5DC-AD54-EBE6-5A2CE8631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685" y="2197348"/>
            <a:ext cx="71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2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kumimoji="0"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Text Box 83">
            <a:extLst>
              <a:ext uri="{FF2B5EF4-FFF2-40B4-BE49-F238E27FC236}">
                <a16:creationId xmlns:a16="http://schemas.microsoft.com/office/drawing/2014/main" id="{5C9593ED-363F-A5C0-9610-6C7A79E07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6260" y="3232398"/>
            <a:ext cx="63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3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  <a:endParaRPr kumimoji="0"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 Box 84">
            <a:extLst>
              <a:ext uri="{FF2B5EF4-FFF2-40B4-BE49-F238E27FC236}">
                <a16:creationId xmlns:a16="http://schemas.microsoft.com/office/drawing/2014/main" id="{7364EC54-EC48-B5B2-6D6F-1311B2ED0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597" y="5486648"/>
            <a:ext cx="563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3</a:t>
            </a:r>
          </a:p>
        </p:txBody>
      </p:sp>
      <p:sp>
        <p:nvSpPr>
          <p:cNvPr id="83" name="Text Box 85">
            <a:extLst>
              <a:ext uri="{FF2B5EF4-FFF2-40B4-BE49-F238E27FC236}">
                <a16:creationId xmlns:a16="http://schemas.microsoft.com/office/drawing/2014/main" id="{8ABC6251-25E1-7E38-CBA7-73F1EFC96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110" y="4313485"/>
            <a:ext cx="515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4</a:t>
            </a:r>
          </a:p>
        </p:txBody>
      </p:sp>
      <p:sp>
        <p:nvSpPr>
          <p:cNvPr id="84" name="Text Box 86">
            <a:extLst>
              <a:ext uri="{FF2B5EF4-FFF2-40B4-BE49-F238E27FC236}">
                <a16:creationId xmlns:a16="http://schemas.microsoft.com/office/drawing/2014/main" id="{59BD2F45-4D7C-735B-3AB8-2A715385F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4910" y="2049710"/>
            <a:ext cx="56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4</a:t>
            </a:r>
            <a:r>
              <a:rPr lang="en-US" altLang="zh-CN" sz="2000" i="1" dirty="0">
                <a:solidFill>
                  <a:srgbClr val="333333"/>
                </a:solidFill>
                <a:latin typeface="Segoe UI" panose="020B0502040204020203" pitchFamily="34" charset="0"/>
                <a:ea typeface="仿宋_GB2312" pitchFamily="49" charset="-122"/>
                <a:cs typeface="Segoe UI" panose="020B0502040204020203" pitchFamily="34" charset="0"/>
              </a:rPr>
              <a:t>'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37518B18-AAD0-3000-0047-72C400EC4F34}"/>
              </a:ext>
            </a:extLst>
          </p:cNvPr>
          <p:cNvGrpSpPr/>
          <p:nvPr/>
        </p:nvGrpSpPr>
        <p:grpSpPr>
          <a:xfrm>
            <a:off x="8181941" y="3388260"/>
            <a:ext cx="107961" cy="282525"/>
            <a:chOff x="7933540" y="3707140"/>
            <a:chExt cx="107961" cy="282525"/>
          </a:xfrm>
        </p:grpSpPr>
        <p:sp>
          <p:nvSpPr>
            <p:cNvPr id="86" name="弧形 85">
              <a:extLst>
                <a:ext uri="{FF2B5EF4-FFF2-40B4-BE49-F238E27FC236}">
                  <a16:creationId xmlns:a16="http://schemas.microsoft.com/office/drawing/2014/main" id="{B9A46763-D985-2584-6F02-9A16FC8A7BB4}"/>
                </a:ext>
              </a:extLst>
            </p:cNvPr>
            <p:cNvSpPr/>
            <p:nvPr/>
          </p:nvSpPr>
          <p:spPr bwMode="auto">
            <a:xfrm rot="16200000">
              <a:off x="7905401" y="3853564"/>
              <a:ext cx="164240" cy="107961"/>
            </a:xfrm>
            <a:prstGeom prst="arc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7" name="TextBox 4">
              <a:extLst>
                <a:ext uri="{FF2B5EF4-FFF2-40B4-BE49-F238E27FC236}">
                  <a16:creationId xmlns:a16="http://schemas.microsoft.com/office/drawing/2014/main" id="{4A4D21E8-B128-BA70-696F-FBEFB0EF50A2}"/>
                </a:ext>
              </a:extLst>
            </p:cNvPr>
            <p:cNvSpPr txBox="1"/>
            <p:nvPr/>
          </p:nvSpPr>
          <p:spPr>
            <a:xfrm>
              <a:off x="7933540" y="3707140"/>
              <a:ext cx="868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itchFamily="18" charset="0"/>
                </a:rPr>
                <a:t>.</a:t>
              </a:r>
              <a:endPara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  <p:sp>
        <p:nvSpPr>
          <p:cNvPr id="88" name="Text Box 29">
            <a:extLst>
              <a:ext uri="{FF2B5EF4-FFF2-40B4-BE49-F238E27FC236}">
                <a16:creationId xmlns:a16="http://schemas.microsoft.com/office/drawing/2014/main" id="{3ED89DCC-6677-9952-593E-C0D6F8D48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894" y="3087634"/>
            <a:ext cx="1731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作图步骤</a:t>
            </a:r>
            <a:r>
              <a:rPr kumimoji="0" lang="zh-CN" altLang="en-US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：</a:t>
            </a:r>
          </a:p>
        </p:txBody>
      </p:sp>
      <p:sp>
        <p:nvSpPr>
          <p:cNvPr id="89" name="Rectangle 8">
            <a:extLst>
              <a:ext uri="{FF2B5EF4-FFF2-40B4-BE49-F238E27FC236}">
                <a16:creationId xmlns:a16="http://schemas.microsoft.com/office/drawing/2014/main" id="{9FB2893E-414E-21A7-3CE8-0AEE71043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71" y="1881554"/>
            <a:ext cx="3910551" cy="79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kumimoji="0" lang="en-US" altLang="zh-CN" sz="2000" b="0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确定的平面及平面外点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，求点到平面的距离。</a:t>
            </a:r>
          </a:p>
        </p:txBody>
      </p:sp>
    </p:spTree>
    <p:extLst>
      <p:ext uri="{BB962C8B-B14F-4D97-AF65-F5344CB8AC3E}">
        <p14:creationId xmlns:p14="http://schemas.microsoft.com/office/powerpoint/2010/main" val="22322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5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500"/>
                            </p:stCondLst>
                            <p:childTnLst>
                              <p:par>
                                <p:cTn id="19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000"/>
                            </p:stCondLst>
                            <p:childTnLst>
                              <p:par>
                                <p:cTn id="2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7"/>
                                            </p:cond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000"/>
                            </p:stCondLst>
                            <p:childTnLst>
                              <p:par>
                                <p:cTn id="2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500"/>
                            </p:stCondLst>
                            <p:childTnLst>
                              <p:par>
                                <p:cTn id="2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22" grpId="0" animBg="1"/>
      <p:bldP spid="23" grpId="0" animBg="1"/>
      <p:bldP spid="24" grpId="0" animBg="1"/>
      <p:bldP spid="25" grpId="0" animBg="1"/>
      <p:bldP spid="29" grpId="0" autoUpdateAnimBg="0"/>
      <p:bldP spid="30" grpId="0" animBg="1"/>
      <p:bldP spid="31" grpId="0" animBg="1"/>
      <p:bldP spid="33" grpId="0" animBg="1"/>
      <p:bldP spid="34" grpId="0" animBg="1"/>
      <p:bldP spid="39" grpId="0" animBg="1"/>
      <p:bldP spid="40" grpId="0" autoUpdateAnimBg="0"/>
      <p:bldP spid="41" grpId="0" animBg="1"/>
      <p:bldP spid="42" grpId="0" autoUpdateAnimBg="0"/>
      <p:bldP spid="43" grpId="0" animBg="1"/>
      <p:bldP spid="44" grpId="0" animBg="1"/>
      <p:bldP spid="45" grpId="0" animBg="1"/>
      <p:bldP spid="46" grpId="0" autoUpdateAnimBg="0"/>
      <p:bldP spid="47" grpId="0" animBg="1"/>
      <p:bldP spid="48" grpId="0" animBg="1"/>
      <p:bldP spid="49" grpId="0" animBg="1"/>
      <p:bldP spid="50" grpId="0" autoUpdateAnimBg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utoUpdateAnimBg="0"/>
      <p:bldP spid="65" grpId="0" animBg="1"/>
      <p:bldP spid="68" grpId="0" animBg="1"/>
      <p:bldP spid="69" grpId="0"/>
      <p:bldP spid="70" grpId="0"/>
      <p:bldP spid="71" grpId="0"/>
      <p:bldP spid="72" grpId="0"/>
      <p:bldP spid="73" grpId="0" autoUpdateAnimBg="0"/>
      <p:bldP spid="74" grpId="0" autoUpdateAnimBg="0"/>
      <p:bldP spid="75" grpId="0" animBg="1"/>
      <p:bldP spid="77" grpId="0" autoUpdateAnimBg="0"/>
      <p:bldP spid="78" grpId="0" autoUpdateAnimBg="0"/>
      <p:bldP spid="79" grpId="0" autoUpdateAnimBg="0"/>
      <p:bldP spid="80" grpId="0" autoUpdateAnimBg="0"/>
      <p:bldP spid="81" grpId="0" autoUpdateAnimBg="0"/>
      <p:bldP spid="82" grpId="0" autoUpdateAnimBg="0"/>
      <p:bldP spid="83" grpId="0" autoUpdateAnimBg="0"/>
      <p:bldP spid="84" grpId="0" autoUpdateAnimBg="0"/>
      <p:bldP spid="8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2084F-F507-D375-9A71-6AB94115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8CB16D75-4627-0055-67F7-C72D179E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33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A1A6E8C-D4B7-F329-5A65-290FEECF7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203CD1-7BC4-D471-0ABB-A495ABBAA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直线与直线垂直</a:t>
            </a: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47BA1204-96E0-9E00-C58F-ED063D864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121" y="4475998"/>
            <a:ext cx="2044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6B8BD298-ED77-5E36-7779-D5E9FA3E2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821" y="3904498"/>
            <a:ext cx="75247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188AAC2A-65CF-E0C4-19EA-08936845B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521" y="3904498"/>
            <a:ext cx="0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FC8105D-1903-4460-9077-0E8E275EF6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3946" y="3904498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F4BD46B4-C645-EDEB-A304-095FB7F139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0521" y="4752223"/>
            <a:ext cx="742950" cy="4191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C9DFB4CA-8093-C5F5-EF89-DCA43B4857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3946" y="3542548"/>
            <a:ext cx="352425" cy="361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DB91E177-65BD-3EB6-2152-C29CD62B6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4099" y="3561598"/>
            <a:ext cx="0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8995A404-5C11-7F9D-DC0C-7B0587780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2359" y="4752223"/>
            <a:ext cx="344487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2" name="Group 13">
            <a:extLst>
              <a:ext uri="{FF2B5EF4-FFF2-40B4-BE49-F238E27FC236}">
                <a16:creationId xmlns:a16="http://schemas.microsoft.com/office/drawing/2014/main" id="{C578AF73-B374-AAA0-B6B4-F500951125AC}"/>
              </a:ext>
            </a:extLst>
          </p:cNvPr>
          <p:cNvGrpSpPr>
            <a:grpSpLocks/>
          </p:cNvGrpSpPr>
          <p:nvPr/>
        </p:nvGrpSpPr>
        <p:grpSpPr bwMode="auto">
          <a:xfrm>
            <a:off x="1628684" y="4518860"/>
            <a:ext cx="322262" cy="519113"/>
            <a:chOff x="2001" y="2781"/>
            <a:chExt cx="203" cy="327"/>
          </a:xfrm>
        </p:grpSpPr>
        <p:sp>
          <p:nvSpPr>
            <p:cNvPr id="13" name="Arc 14">
              <a:extLst>
                <a:ext uri="{FF2B5EF4-FFF2-40B4-BE49-F238E27FC236}">
                  <a16:creationId xmlns:a16="http://schemas.microsoft.com/office/drawing/2014/main" id="{C222ADB5-C314-AC98-13B5-594DDACFB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2974"/>
              <a:ext cx="203" cy="108"/>
            </a:xfrm>
            <a:custGeom>
              <a:avLst/>
              <a:gdLst>
                <a:gd name="T0" fmla="*/ 0 w 35996"/>
                <a:gd name="T1" fmla="*/ 0 h 21600"/>
                <a:gd name="T2" fmla="*/ 0 w 35996"/>
                <a:gd name="T3" fmla="*/ 0 h 21600"/>
                <a:gd name="T4" fmla="*/ 0 w 35996"/>
                <a:gd name="T5" fmla="*/ 0 h 21600"/>
                <a:gd name="T6" fmla="*/ 0 60000 65536"/>
                <a:gd name="T7" fmla="*/ 0 60000 65536"/>
                <a:gd name="T8" fmla="*/ 0 60000 65536"/>
                <a:gd name="T9" fmla="*/ 0 w 35996"/>
                <a:gd name="T10" fmla="*/ 0 h 21600"/>
                <a:gd name="T11" fmla="*/ 35996 w 359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96" h="21600" fill="none" extrusionOk="0">
                  <a:moveTo>
                    <a:pt x="35996" y="15393"/>
                  </a:moveTo>
                  <a:cubicBezTo>
                    <a:pt x="31955" y="19370"/>
                    <a:pt x="26512" y="21599"/>
                    <a:pt x="20843" y="21600"/>
                  </a:cubicBezTo>
                  <a:cubicBezTo>
                    <a:pt x="11096" y="21600"/>
                    <a:pt x="2558" y="15073"/>
                    <a:pt x="0" y="5668"/>
                  </a:cubicBezTo>
                </a:path>
                <a:path w="35996" h="21600" stroke="0" extrusionOk="0">
                  <a:moveTo>
                    <a:pt x="35996" y="15393"/>
                  </a:moveTo>
                  <a:cubicBezTo>
                    <a:pt x="31955" y="19370"/>
                    <a:pt x="26512" y="21599"/>
                    <a:pt x="20843" y="21600"/>
                  </a:cubicBezTo>
                  <a:cubicBezTo>
                    <a:pt x="11096" y="21600"/>
                    <a:pt x="2558" y="15073"/>
                    <a:pt x="0" y="5668"/>
                  </a:cubicBezTo>
                  <a:lnTo>
                    <a:pt x="20843" y="0"/>
                  </a:lnTo>
                  <a:lnTo>
                    <a:pt x="35996" y="153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FB20DB28-3BF8-E9B7-DC3C-1249B7037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78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b="0">
                  <a:solidFill>
                    <a:srgbClr val="333333"/>
                  </a:solidFill>
                </a:rPr>
                <a:t>.</a:t>
              </a:r>
            </a:p>
          </p:txBody>
        </p:sp>
      </p:grpSp>
      <p:sp>
        <p:nvSpPr>
          <p:cNvPr id="15" name="Line 16">
            <a:extLst>
              <a:ext uri="{FF2B5EF4-FFF2-40B4-BE49-F238E27FC236}">
                <a16:creationId xmlns:a16="http://schemas.microsoft.com/office/drawing/2014/main" id="{AA53BFCF-74ED-7F2C-0D14-275C7A46B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9596" y="4761748"/>
            <a:ext cx="52387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19062CB0-42AC-1B0F-3B15-7B420E13CA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596" y="3409198"/>
            <a:ext cx="0" cy="136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16C80BF7-D655-39C4-00A9-C5DE7797BC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09596" y="3409198"/>
            <a:ext cx="517525" cy="487362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ADABCAB5-CAB5-5803-F991-4674069544F4}"/>
              </a:ext>
            </a:extLst>
          </p:cNvPr>
          <p:cNvGrpSpPr>
            <a:grpSpLocks/>
          </p:cNvGrpSpPr>
          <p:nvPr/>
        </p:nvGrpSpPr>
        <p:grpSpPr bwMode="auto">
          <a:xfrm>
            <a:off x="1660434" y="3385385"/>
            <a:ext cx="331787" cy="519113"/>
            <a:chOff x="3209" y="2079"/>
            <a:chExt cx="209" cy="327"/>
          </a:xfrm>
        </p:grpSpPr>
        <p:sp>
          <p:nvSpPr>
            <p:cNvPr id="19" name="Arc 20">
              <a:extLst>
                <a:ext uri="{FF2B5EF4-FFF2-40B4-BE49-F238E27FC236}">
                  <a16:creationId xmlns:a16="http://schemas.microsoft.com/office/drawing/2014/main" id="{1748C91C-E6AC-BA39-FBCD-F0DEF6B0E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253"/>
              <a:ext cx="209" cy="125"/>
            </a:xfrm>
            <a:custGeom>
              <a:avLst/>
              <a:gdLst>
                <a:gd name="T0" fmla="*/ 0 w 33782"/>
                <a:gd name="T1" fmla="*/ 0 h 21600"/>
                <a:gd name="T2" fmla="*/ 0 w 33782"/>
                <a:gd name="T3" fmla="*/ 0 h 21600"/>
                <a:gd name="T4" fmla="*/ 0 w 33782"/>
                <a:gd name="T5" fmla="*/ 0 h 21600"/>
                <a:gd name="T6" fmla="*/ 0 60000 65536"/>
                <a:gd name="T7" fmla="*/ 0 60000 65536"/>
                <a:gd name="T8" fmla="*/ 0 60000 65536"/>
                <a:gd name="T9" fmla="*/ 0 w 33782"/>
                <a:gd name="T10" fmla="*/ 0 h 21600"/>
                <a:gd name="T11" fmla="*/ 33782 w 337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82" h="21600" fill="none" extrusionOk="0">
                  <a:moveTo>
                    <a:pt x="-1" y="9464"/>
                  </a:moveTo>
                  <a:cubicBezTo>
                    <a:pt x="4020" y="3544"/>
                    <a:pt x="10712" y="-1"/>
                    <a:pt x="17869" y="0"/>
                  </a:cubicBezTo>
                  <a:cubicBezTo>
                    <a:pt x="23918" y="0"/>
                    <a:pt x="29691" y="2537"/>
                    <a:pt x="33782" y="6993"/>
                  </a:cubicBezTo>
                </a:path>
                <a:path w="33782" h="21600" stroke="0" extrusionOk="0">
                  <a:moveTo>
                    <a:pt x="-1" y="9464"/>
                  </a:moveTo>
                  <a:cubicBezTo>
                    <a:pt x="4020" y="3544"/>
                    <a:pt x="10712" y="-1"/>
                    <a:pt x="17869" y="0"/>
                  </a:cubicBezTo>
                  <a:cubicBezTo>
                    <a:pt x="23918" y="0"/>
                    <a:pt x="29691" y="2537"/>
                    <a:pt x="33782" y="6993"/>
                  </a:cubicBezTo>
                  <a:lnTo>
                    <a:pt x="17869" y="21600"/>
                  </a:lnTo>
                  <a:lnTo>
                    <a:pt x="-1" y="94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0D9F5AC1-5402-30D6-79E4-EBC26F994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8" y="2079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b="0">
                  <a:solidFill>
                    <a:srgbClr val="333333"/>
                  </a:solidFill>
                </a:rPr>
                <a:t>.</a:t>
              </a:r>
            </a:p>
          </p:txBody>
        </p:sp>
      </p:grpSp>
      <p:sp>
        <p:nvSpPr>
          <p:cNvPr id="21" name="Rectangle 8">
            <a:extLst>
              <a:ext uri="{FF2B5EF4-FFF2-40B4-BE49-F238E27FC236}">
                <a16:creationId xmlns:a16="http://schemas.microsoft.com/office/drawing/2014/main" id="{B8F712CD-525C-54DD-AE48-2FCF94AF3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84" y="1841351"/>
            <a:ext cx="2760555" cy="79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已知直线，过线上点做直线⊥直线</a:t>
            </a: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AF0F74D0-6C53-5E68-9CB7-B2830EA33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904" y="1841351"/>
            <a:ext cx="4700546" cy="79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已知直线，过线外点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作直线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与已知直线垂直线相交</a:t>
            </a: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25F76B8-EA85-4853-D4D8-DCA93180A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1191" y="4477586"/>
            <a:ext cx="1573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508B8615-ED6A-E795-F606-31E7179C19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6530" y="3906086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6BECECA9-F92C-64CA-E234-AE5B1CD717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6530" y="3480637"/>
            <a:ext cx="415925" cy="42544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2AF554DB-2700-D911-B951-FD9001166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6105" y="3477461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2D5DD7FB-B5EA-19FD-CFBF-636078659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4942" y="4753811"/>
            <a:ext cx="403225" cy="714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8E351A12-6AD3-8632-BF7D-F2E6052C4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0917" y="3374273"/>
            <a:ext cx="0" cy="2128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955C23FE-F4FA-6062-A42B-F922657B8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192" y="3006916"/>
            <a:ext cx="5020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a</a:t>
            </a:r>
            <a:r>
              <a:rPr kumimoji="0" lang="en-US" altLang="zh-CN" i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  <a:endParaRPr kumimoji="0" lang="en-US" altLang="zh-CN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B9792C87-2BC8-413F-6C86-E114916F3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242" y="5360236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a</a:t>
            </a:r>
            <a:endParaRPr kumimoji="0" lang="en-US" altLang="zh-CN" sz="200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55A0C695-C080-A882-09E2-41B5F7C14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4567" y="3332998"/>
            <a:ext cx="1114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738D1891-E25B-C065-86D8-C33D746F4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8992" y="3342523"/>
            <a:ext cx="0" cy="156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337489B7-75C7-AD98-967F-744BE536DF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4092" y="4904623"/>
            <a:ext cx="1104900" cy="619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F290EE5B-ADCB-D34B-1723-8C5EA2931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4092" y="5514223"/>
            <a:ext cx="942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CE6C3C2E-FD2D-CA14-8CC0-06A098CD4C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2305" y="4285498"/>
            <a:ext cx="0" cy="1228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DC3D285F-4990-608D-6B31-40C8CC3B6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4567" y="3332998"/>
            <a:ext cx="942975" cy="952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014F2DB9-2119-CAE7-52EC-EAB0EB5AD6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4192" y="2875798"/>
            <a:ext cx="685800" cy="6762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9309A8DB-28E7-ED6A-4B07-F66B619F4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405" y="2783723"/>
            <a:ext cx="563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lang="en-US" altLang="zh-CN" sz="2000" i="1" baseline="-8000">
                <a:solidFill>
                  <a:srgbClr val="FF0000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D82486A5-47BB-233A-90E9-07F95C8188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267" y="3329823"/>
            <a:ext cx="0" cy="1162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74596D06-F0B1-3BDB-1E27-BE935AE55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267" y="4475998"/>
            <a:ext cx="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0CE25C1C-9E13-6897-74EF-AE7967F64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8442" y="3847348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2B958A8F-CE0B-AC2F-4213-30443E7CD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8442" y="4475998"/>
            <a:ext cx="0" cy="1038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D11C426E-0E80-75C8-FDEB-9BDE4A9D82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5267" y="4952248"/>
            <a:ext cx="511175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5" name="Line 43">
            <a:extLst>
              <a:ext uri="{FF2B5EF4-FFF2-40B4-BE49-F238E27FC236}">
                <a16:creationId xmlns:a16="http://schemas.microsoft.com/office/drawing/2014/main" id="{BC68D31D-64A9-926D-0311-1DB782CD9E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7517" y="4456948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12B9F15D-8611-9A9F-D769-E7CC61D6B9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7517" y="3618748"/>
            <a:ext cx="0" cy="866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1F7D8ED6-8A1C-E01E-6EEB-70D356F7A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4567" y="3332998"/>
            <a:ext cx="752475" cy="2952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3AEB33B5-7E2F-EAB2-7F19-64178956C6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4092" y="5257048"/>
            <a:ext cx="733425" cy="257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" name="AutoShape 47">
            <a:extLst>
              <a:ext uri="{FF2B5EF4-FFF2-40B4-BE49-F238E27FC236}">
                <a16:creationId xmlns:a16="http://schemas.microsoft.com/office/drawing/2014/main" id="{783F5FB5-C1E3-ABB3-9531-5A3587ED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055" y="3299661"/>
            <a:ext cx="74612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50" name="AutoShape 48">
            <a:extLst>
              <a:ext uri="{FF2B5EF4-FFF2-40B4-BE49-F238E27FC236}">
                <a16:creationId xmlns:a16="http://schemas.microsoft.com/office/drawing/2014/main" id="{71BCE58D-C9E5-ADBB-360C-33E88391E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417" y="3582236"/>
            <a:ext cx="74613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51" name="AutoShape 49">
            <a:extLst>
              <a:ext uri="{FF2B5EF4-FFF2-40B4-BE49-F238E27FC236}">
                <a16:creationId xmlns:a16="http://schemas.microsoft.com/office/drawing/2014/main" id="{B833F696-9A41-D870-FBDF-7CAF980E8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405" y="5484061"/>
            <a:ext cx="74612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52" name="AutoShape 50">
            <a:extLst>
              <a:ext uri="{FF2B5EF4-FFF2-40B4-BE49-F238E27FC236}">
                <a16:creationId xmlns:a16="http://schemas.microsoft.com/office/drawing/2014/main" id="{7207523D-6D28-E994-4F45-9CBFAD564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417" y="5230061"/>
            <a:ext cx="74613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53" name="Text Box 51">
            <a:extLst>
              <a:ext uri="{FF2B5EF4-FFF2-40B4-BE49-F238E27FC236}">
                <a16:creationId xmlns:a16="http://schemas.microsoft.com/office/drawing/2014/main" id="{4201CF14-7D8C-12FA-A859-86FCE1A1B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035" y="520624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b</a:t>
            </a:r>
            <a:endParaRPr kumimoji="0" lang="en-US" altLang="zh-CN" dirty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54" name="Text Box 52">
            <a:extLst>
              <a:ext uri="{FF2B5EF4-FFF2-40B4-BE49-F238E27FC236}">
                <a16:creationId xmlns:a16="http://schemas.microsoft.com/office/drawing/2014/main" id="{027AB41E-7CF6-7395-2F12-87683868F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167" y="3206941"/>
            <a:ext cx="516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b</a:t>
            </a:r>
            <a:r>
              <a:rPr kumimoji="0" lang="en-US" altLang="zh-CN" i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</a:p>
        </p:txBody>
      </p:sp>
      <p:sp>
        <p:nvSpPr>
          <p:cNvPr id="55" name="Text Box 53">
            <a:extLst>
              <a:ext uri="{FF2B5EF4-FFF2-40B4-BE49-F238E27FC236}">
                <a16:creationId xmlns:a16="http://schemas.microsoft.com/office/drawing/2014/main" id="{203290C4-0148-48C1-79D1-7C55484CC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242" y="3149791"/>
            <a:ext cx="5725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1 </a:t>
            </a:r>
            <a:r>
              <a:rPr kumimoji="0" lang="en-US" altLang="zh-CN" i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</a:p>
        </p:txBody>
      </p:sp>
      <p:sp>
        <p:nvSpPr>
          <p:cNvPr id="56" name="Text Box 54">
            <a:extLst>
              <a:ext uri="{FF2B5EF4-FFF2-40B4-BE49-F238E27FC236}">
                <a16:creationId xmlns:a16="http://schemas.microsoft.com/office/drawing/2014/main" id="{AE4F774F-5296-F835-E157-650567571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105" y="4620461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1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57" name="Text Box 55">
            <a:extLst>
              <a:ext uri="{FF2B5EF4-FFF2-40B4-BE49-F238E27FC236}">
                <a16:creationId xmlns:a16="http://schemas.microsoft.com/office/drawing/2014/main" id="{DE06468F-971A-6D5D-5D16-B0A2EEFE9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6997" y="5434849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2</a:t>
            </a:r>
          </a:p>
        </p:txBody>
      </p:sp>
      <p:sp>
        <p:nvSpPr>
          <p:cNvPr id="58" name="Text Box 56">
            <a:extLst>
              <a:ext uri="{FF2B5EF4-FFF2-40B4-BE49-F238E27FC236}">
                <a16:creationId xmlns:a16="http://schemas.microsoft.com/office/drawing/2014/main" id="{F69DD13D-1C29-7758-5970-B44705356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455" y="3964179"/>
            <a:ext cx="5020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2</a:t>
            </a:r>
            <a:r>
              <a:rPr kumimoji="0" lang="en-US" altLang="zh-CN" i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</a:p>
        </p:txBody>
      </p:sp>
      <p:sp>
        <p:nvSpPr>
          <p:cNvPr id="59" name="Text Box 57">
            <a:extLst>
              <a:ext uri="{FF2B5EF4-FFF2-40B4-BE49-F238E27FC236}">
                <a16:creationId xmlns:a16="http://schemas.microsoft.com/office/drawing/2014/main" id="{A4F9128B-AB58-9721-0EA7-453D7F369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655" y="2940241"/>
            <a:ext cx="5725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3 </a:t>
            </a:r>
            <a:r>
              <a:rPr kumimoji="0" lang="en-US" altLang="zh-CN" i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</a:p>
        </p:txBody>
      </p:sp>
      <p:sp>
        <p:nvSpPr>
          <p:cNvPr id="60" name="Text Box 58">
            <a:extLst>
              <a:ext uri="{FF2B5EF4-FFF2-40B4-BE49-F238E27FC236}">
                <a16:creationId xmlns:a16="http://schemas.microsoft.com/office/drawing/2014/main" id="{7A5F5891-5C05-192E-8A5B-76B8FD26D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055" y="3580648"/>
            <a:ext cx="512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4</a:t>
            </a:r>
            <a:r>
              <a:rPr kumimoji="0" lang="en-US" altLang="zh-CN" i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</a:p>
        </p:txBody>
      </p:sp>
      <p:sp>
        <p:nvSpPr>
          <p:cNvPr id="61" name="Text Box 59">
            <a:extLst>
              <a:ext uri="{FF2B5EF4-FFF2-40B4-BE49-F238E27FC236}">
                <a16:creationId xmlns:a16="http://schemas.microsoft.com/office/drawing/2014/main" id="{F8DB036E-EE4B-E835-BEDC-A460FFA30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030" y="4890335"/>
            <a:ext cx="49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 dirty="0">
                <a:solidFill>
                  <a:srgbClr val="333333"/>
                </a:solidFill>
                <a:latin typeface="ISOCPEUR" pitchFamily="34" charset="0"/>
              </a:rPr>
              <a:t>3</a:t>
            </a:r>
          </a:p>
        </p:txBody>
      </p:sp>
      <p:sp>
        <p:nvSpPr>
          <p:cNvPr id="62" name="Text Box 60">
            <a:extLst>
              <a:ext uri="{FF2B5EF4-FFF2-40B4-BE49-F238E27FC236}">
                <a16:creationId xmlns:a16="http://schemas.microsoft.com/office/drawing/2014/main" id="{35A29D8D-887C-0133-D14D-E2EE556FF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480" y="5487236"/>
            <a:ext cx="319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</a:rPr>
              <a:t>4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D4E7C401-75E3-1B8B-DFFC-5CC093DDE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3919441"/>
            <a:ext cx="3286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1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过</a:t>
            </a:r>
            <a:r>
              <a:rPr lang="en-US" altLang="zh-CN" sz="1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点作平面垂直于已知直线</a:t>
            </a:r>
          </a:p>
        </p:txBody>
      </p:sp>
      <p:sp>
        <p:nvSpPr>
          <p:cNvPr id="64" name="Text Box 62">
            <a:extLst>
              <a:ext uri="{FF2B5EF4-FFF2-40B4-BE49-F238E27FC236}">
                <a16:creationId xmlns:a16="http://schemas.microsoft.com/office/drawing/2014/main" id="{698F1E37-A2D1-1DE9-91DA-014F25A63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4528709"/>
            <a:ext cx="28937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1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求已知直线与平面的交点</a:t>
            </a:r>
          </a:p>
        </p:txBody>
      </p:sp>
      <p:sp>
        <p:nvSpPr>
          <p:cNvPr id="65" name="Text Box 63">
            <a:extLst>
              <a:ext uri="{FF2B5EF4-FFF2-40B4-BE49-F238E27FC236}">
                <a16:creationId xmlns:a16="http://schemas.microsoft.com/office/drawing/2014/main" id="{447E4404-CC86-D122-F719-47E0F6E07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5092387"/>
            <a:ext cx="1584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1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AB</a:t>
            </a:r>
            <a:r>
              <a:rPr lang="zh-CN" altLang="en-US" sz="1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即为所求</a:t>
            </a:r>
          </a:p>
        </p:txBody>
      </p:sp>
      <p:sp>
        <p:nvSpPr>
          <p:cNvPr id="66" name="Text Box 29">
            <a:extLst>
              <a:ext uri="{FF2B5EF4-FFF2-40B4-BE49-F238E27FC236}">
                <a16:creationId xmlns:a16="http://schemas.microsoft.com/office/drawing/2014/main" id="{2A895E86-05C4-7FF8-CD74-F8AFF88BE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8900" y="3352018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作图步骤</a:t>
            </a: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grpSp>
        <p:nvGrpSpPr>
          <p:cNvPr id="67" name="Group 33">
            <a:extLst>
              <a:ext uri="{FF2B5EF4-FFF2-40B4-BE49-F238E27FC236}">
                <a16:creationId xmlns:a16="http://schemas.microsoft.com/office/drawing/2014/main" id="{B8E6AD49-642C-68FC-7B81-730357E0A3B2}"/>
              </a:ext>
            </a:extLst>
          </p:cNvPr>
          <p:cNvGrpSpPr>
            <a:grpSpLocks/>
          </p:cNvGrpSpPr>
          <p:nvPr/>
        </p:nvGrpSpPr>
        <p:grpSpPr bwMode="auto">
          <a:xfrm rot="11810109">
            <a:off x="4331794" y="3756448"/>
            <a:ext cx="253999" cy="334687"/>
            <a:chOff x="3290" y="1344"/>
            <a:chExt cx="160" cy="303"/>
          </a:xfrm>
        </p:grpSpPr>
        <p:sp>
          <p:nvSpPr>
            <p:cNvPr id="68" name="Arc 34">
              <a:extLst>
                <a:ext uri="{FF2B5EF4-FFF2-40B4-BE49-F238E27FC236}">
                  <a16:creationId xmlns:a16="http://schemas.microsoft.com/office/drawing/2014/main" id="{F6CFFD9D-9E61-3633-F95E-F585AFF68F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3" y="1489"/>
              <a:ext cx="127" cy="158"/>
            </a:xfrm>
            <a:custGeom>
              <a:avLst/>
              <a:gdLst>
                <a:gd name="T0" fmla="*/ 0 w 21600"/>
                <a:gd name="T1" fmla="*/ 0 h 30894"/>
                <a:gd name="T2" fmla="*/ 0 w 21600"/>
                <a:gd name="T3" fmla="*/ 0 h 30894"/>
                <a:gd name="T4" fmla="*/ 0 w 21600"/>
                <a:gd name="T5" fmla="*/ 0 h 308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894"/>
                <a:gd name="T11" fmla="*/ 21600 w 21600"/>
                <a:gd name="T12" fmla="*/ 30894 h 308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894" fill="none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</a:path>
                <a:path w="21600" h="30894" stroke="0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  <a:lnTo>
                    <a:pt x="0" y="14289"/>
                  </a:lnTo>
                  <a:lnTo>
                    <a:pt x="16198" y="-1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9" name="Text Box 35">
              <a:extLst>
                <a:ext uri="{FF2B5EF4-FFF2-40B4-BE49-F238E27FC236}">
                  <a16:creationId xmlns:a16="http://schemas.microsoft.com/office/drawing/2014/main" id="{F8C7B01B-A01D-489B-6B16-E3E3C4E6F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1344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.</a:t>
              </a:r>
            </a:p>
          </p:txBody>
        </p:sp>
      </p:grpSp>
      <p:grpSp>
        <p:nvGrpSpPr>
          <p:cNvPr id="70" name="Group 33">
            <a:extLst>
              <a:ext uri="{FF2B5EF4-FFF2-40B4-BE49-F238E27FC236}">
                <a16:creationId xmlns:a16="http://schemas.microsoft.com/office/drawing/2014/main" id="{B73CD381-F170-E550-E673-2CA2C2CCB843}"/>
              </a:ext>
            </a:extLst>
          </p:cNvPr>
          <p:cNvGrpSpPr>
            <a:grpSpLocks/>
          </p:cNvGrpSpPr>
          <p:nvPr/>
        </p:nvGrpSpPr>
        <p:grpSpPr bwMode="auto">
          <a:xfrm rot="641713">
            <a:off x="4370167" y="4874489"/>
            <a:ext cx="261936" cy="326954"/>
            <a:chOff x="3285" y="1351"/>
            <a:chExt cx="165" cy="296"/>
          </a:xfrm>
        </p:grpSpPr>
        <p:sp>
          <p:nvSpPr>
            <p:cNvPr id="71" name="Arc 34">
              <a:extLst>
                <a:ext uri="{FF2B5EF4-FFF2-40B4-BE49-F238E27FC236}">
                  <a16:creationId xmlns:a16="http://schemas.microsoft.com/office/drawing/2014/main" id="{F6E3AE7A-30CF-6DB4-F456-8F3989F6E4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3" y="1489"/>
              <a:ext cx="127" cy="158"/>
            </a:xfrm>
            <a:custGeom>
              <a:avLst/>
              <a:gdLst>
                <a:gd name="T0" fmla="*/ 0 w 21600"/>
                <a:gd name="T1" fmla="*/ 0 h 30894"/>
                <a:gd name="T2" fmla="*/ 0 w 21600"/>
                <a:gd name="T3" fmla="*/ 0 h 30894"/>
                <a:gd name="T4" fmla="*/ 0 w 21600"/>
                <a:gd name="T5" fmla="*/ 0 h 308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894"/>
                <a:gd name="T11" fmla="*/ 21600 w 21600"/>
                <a:gd name="T12" fmla="*/ 30894 h 308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894" fill="none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</a:path>
                <a:path w="21600" h="30894" stroke="0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  <a:lnTo>
                    <a:pt x="0" y="14289"/>
                  </a:lnTo>
                  <a:lnTo>
                    <a:pt x="16198" y="-1"/>
                  </a:lnTo>
                  <a:close/>
                </a:path>
              </a:pathLst>
            </a:cu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2" name="Text Box 35">
              <a:extLst>
                <a:ext uri="{FF2B5EF4-FFF2-40B4-BE49-F238E27FC236}">
                  <a16:creationId xmlns:a16="http://schemas.microsoft.com/office/drawing/2014/main" id="{67597763-7094-9679-396A-37B00239C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5" y="1351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418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000"/>
                            </p:stCondLst>
                            <p:childTnLst>
                              <p:par>
                                <p:cTn id="1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0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500"/>
                            </p:stCondLst>
                            <p:childTnLst>
                              <p:par>
                                <p:cTn id="2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5" grpId="0" animBg="1"/>
      <p:bldP spid="16" grpId="0" animBg="1"/>
      <p:bldP spid="17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utoUpdateAnimBg="0"/>
      <p:bldP spid="30" grpId="0" autoUpdateAnimBg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utoUpdateAnimBg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59" grpId="0" autoUpdateAnimBg="0"/>
      <p:bldP spid="60" grpId="0" autoUpdateAnimBg="0"/>
      <p:bldP spid="61" grpId="0" autoUpdateAnimBg="0"/>
      <p:bldP spid="62" grpId="0" autoUpdateAnimBg="0"/>
      <p:bldP spid="63" grpId="0"/>
      <p:bldP spid="64" grpId="0"/>
      <p:bldP spid="65" grpId="0"/>
      <p:bldP spid="6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56DD4-E7FC-2210-C0A1-0CB52028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02557C4-194A-6A88-75A1-3B16E851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34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6D7FB49D-2805-CC0E-1B78-CEDF2E31F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6E418B-B738-6312-1DE0-01B88D377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平面与平面垂直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A267359-ED48-D132-EDC7-0BEAA5BD0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937086"/>
            <a:ext cx="8208911" cy="1094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u="sng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几何学原理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若一个平面通过另一个平面的垂线，则这两个平面相互垂直。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BC73004-4C19-0EAD-8FC1-822A851E0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414122"/>
            <a:ext cx="5724644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作与已知平面</a:t>
            </a:r>
            <a:r>
              <a:rPr lang="en-US" altLang="zh-CN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垂直的平面</a:t>
            </a:r>
            <a:r>
              <a:rPr lang="en-US" altLang="zh-CN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的两种方法：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1.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使平面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经过垂直于平面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的直线</a:t>
            </a:r>
            <a:endParaRPr lang="en-US" altLang="zh-CN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2.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使平面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垂直于平面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上的直线</a:t>
            </a:r>
            <a:endParaRPr lang="zh-CN" altLang="en-US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92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E6CBD-2FFE-62C5-3369-421D83E2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613C3FA-05F4-85C1-0711-9881900C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96BDD946-E36E-662E-95B9-7F396876C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BCCA8D-C4A2-E1C9-BE6A-7E09DC740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3082895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平面与平面垂直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8C62B90-F152-D6B1-CCF8-C685792EBCE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137564" y="3022608"/>
            <a:ext cx="685800" cy="441325"/>
          </a:xfrm>
          <a:prstGeom prst="line">
            <a:avLst/>
          </a:prstGeom>
          <a:noFill/>
          <a:ln w="38100" algn="ctr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77EBBF2-9011-0C06-9067-C6C26DBF20A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265358" y="5366551"/>
            <a:ext cx="457200" cy="423863"/>
          </a:xfrm>
          <a:prstGeom prst="line">
            <a:avLst/>
          </a:prstGeom>
          <a:noFill/>
          <a:ln w="38100" algn="ctr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5" name="Line 2">
            <a:extLst>
              <a:ext uri="{FF2B5EF4-FFF2-40B4-BE49-F238E27FC236}">
                <a16:creationId xmlns:a16="http://schemas.microsoft.com/office/drawing/2014/main" id="{110F2E3A-EDFD-B423-70F4-F8A235B7D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089" y="4238633"/>
            <a:ext cx="2044700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CAC725C7-1B79-3BBA-1A5E-7C24C38D967E}"/>
              </a:ext>
            </a:extLst>
          </p:cNvPr>
          <p:cNvSpPr>
            <a:spLocks/>
          </p:cNvSpPr>
          <p:nvPr/>
        </p:nvSpPr>
        <p:spPr bwMode="auto">
          <a:xfrm>
            <a:off x="5146964" y="3074996"/>
            <a:ext cx="1130300" cy="828675"/>
          </a:xfrm>
          <a:custGeom>
            <a:avLst/>
            <a:gdLst>
              <a:gd name="T0" fmla="*/ 0 w 712"/>
              <a:gd name="T1" fmla="*/ 0 h 522"/>
              <a:gd name="T2" fmla="*/ 2147483647 w 712"/>
              <a:gd name="T3" fmla="*/ 2147483647 h 522"/>
              <a:gd name="T4" fmla="*/ 2147483647 w 712"/>
              <a:gd name="T5" fmla="*/ 2147483647 h 522"/>
              <a:gd name="T6" fmla="*/ 0 w 712"/>
              <a:gd name="T7" fmla="*/ 0 h 522"/>
              <a:gd name="T8" fmla="*/ 0 60000 65536"/>
              <a:gd name="T9" fmla="*/ 0 60000 65536"/>
              <a:gd name="T10" fmla="*/ 0 60000 65536"/>
              <a:gd name="T11" fmla="*/ 0 60000 65536"/>
              <a:gd name="T12" fmla="*/ 0 w 712"/>
              <a:gd name="T13" fmla="*/ 0 h 522"/>
              <a:gd name="T14" fmla="*/ 712 w 712"/>
              <a:gd name="T15" fmla="*/ 522 h 5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2" h="522">
                <a:moveTo>
                  <a:pt x="0" y="0"/>
                </a:moveTo>
                <a:lnTo>
                  <a:pt x="289" y="522"/>
                </a:lnTo>
                <a:lnTo>
                  <a:pt x="712" y="322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AAD075BA-F93E-EE3D-BB8D-BD671CD7A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6964" y="3074996"/>
            <a:ext cx="0" cy="23812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8E73F86D-D653-FE3D-B678-1EA7C28DA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5751" y="3903671"/>
            <a:ext cx="0" cy="776287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A652041A-DFA6-3209-B4B0-636D82A34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7264" y="3586171"/>
            <a:ext cx="0" cy="22574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BC951C91-8B65-85F2-30F7-E189FCD27111}"/>
              </a:ext>
            </a:extLst>
          </p:cNvPr>
          <p:cNvSpPr>
            <a:spLocks/>
          </p:cNvSpPr>
          <p:nvPr/>
        </p:nvSpPr>
        <p:spPr bwMode="auto">
          <a:xfrm>
            <a:off x="5146964" y="4679958"/>
            <a:ext cx="1147762" cy="1146175"/>
          </a:xfrm>
          <a:custGeom>
            <a:avLst/>
            <a:gdLst>
              <a:gd name="T0" fmla="*/ 0 w 723"/>
              <a:gd name="T1" fmla="*/ 2147483647 h 722"/>
              <a:gd name="T2" fmla="*/ 2147483647 w 723"/>
              <a:gd name="T3" fmla="*/ 0 h 722"/>
              <a:gd name="T4" fmla="*/ 2147483647 w 723"/>
              <a:gd name="T5" fmla="*/ 2147483647 h 722"/>
              <a:gd name="T6" fmla="*/ 0 w 723"/>
              <a:gd name="T7" fmla="*/ 2147483647 h 722"/>
              <a:gd name="T8" fmla="*/ 0 60000 65536"/>
              <a:gd name="T9" fmla="*/ 0 60000 65536"/>
              <a:gd name="T10" fmla="*/ 0 60000 65536"/>
              <a:gd name="T11" fmla="*/ 0 60000 65536"/>
              <a:gd name="T12" fmla="*/ 0 w 723"/>
              <a:gd name="T13" fmla="*/ 0 h 722"/>
              <a:gd name="T14" fmla="*/ 723 w 723"/>
              <a:gd name="T15" fmla="*/ 722 h 7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3" h="722">
                <a:moveTo>
                  <a:pt x="0" y="489"/>
                </a:moveTo>
                <a:lnTo>
                  <a:pt x="301" y="0"/>
                </a:lnTo>
                <a:lnTo>
                  <a:pt x="723" y="722"/>
                </a:lnTo>
                <a:lnTo>
                  <a:pt x="0" y="489"/>
                </a:lnTo>
                <a:close/>
              </a:path>
            </a:pathLst>
          </a:cu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F56DDC8F-BD6F-AD7D-D045-E4B7CD38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351" y="3549658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EF981488-1BD1-73F8-B825-5747D5AA5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613" y="3407381"/>
            <a:ext cx="5100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 dirty="0">
                <a:solidFill>
                  <a:srgbClr val="333333"/>
                </a:solidFill>
                <a:latin typeface="ISOCPEUR" pitchFamily="34" charset="0"/>
              </a:rPr>
              <a:t>a</a:t>
            </a:r>
            <a:r>
              <a:rPr kumimoji="0" lang="en-US" altLang="zh-CN" b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´</a:t>
            </a: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24B95555-19BA-D099-527C-C6B52B92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339" y="5768983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39B04BDB-9031-5E79-D858-499AB4C91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920" y="5692782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 dirty="0">
                <a:solidFill>
                  <a:srgbClr val="333333"/>
                </a:solidFill>
                <a:latin typeface="ISOCPEUR" pitchFamily="34" charset="0"/>
              </a:rPr>
              <a:t>a</a:t>
            </a:r>
            <a:endParaRPr kumimoji="0" lang="en-US" altLang="zh-CN" b="0" dirty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B678B07F-03B2-EA23-D4E0-18C4B9FF2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952" y="4380883"/>
            <a:ext cx="1654620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能作几个？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87C15222-8A52-322B-1B6B-03E1F19B5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952" y="3829466"/>
            <a:ext cx="1398140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 sz="20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如何作？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5E314EB-5E68-8525-467C-2F539B4F0D9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5839114" y="3170245"/>
            <a:ext cx="0" cy="828675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032A733-1196-E53E-B097-F5FED27B5AA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704846" y="4298164"/>
            <a:ext cx="1439862" cy="3175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B626333-43FB-7943-106E-56F5AB71254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426364" y="5006983"/>
            <a:ext cx="852487" cy="8001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D2B8E7A-8410-842E-8B77-4D732B97C9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39026" y="5457833"/>
            <a:ext cx="952500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BADF70A-F100-96F5-6FDF-4881BD35927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205702" y="4565658"/>
            <a:ext cx="1771650" cy="3175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F92026C-DE1D-CADF-9D30-5351391034D0}"/>
              </a:ext>
            </a:extLst>
          </p:cNvPr>
          <p:cNvCxnSpPr>
            <a:cxnSpLocks noChangeShapeType="1"/>
            <a:stCxn id="6" idx="0"/>
          </p:cNvCxnSpPr>
          <p:nvPr/>
        </p:nvCxnSpPr>
        <p:spPr bwMode="auto">
          <a:xfrm>
            <a:off x="5146964" y="3074996"/>
            <a:ext cx="938212" cy="604837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603F2D-7ADF-0893-577E-B77AF941562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63670" y="4131477"/>
            <a:ext cx="2463800" cy="1588"/>
          </a:xfrm>
          <a:prstGeom prst="line">
            <a:avLst/>
          </a:prstGeom>
          <a:noFill/>
          <a:ln w="9525" algn="ctr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" name="Text Box 89">
            <a:extLst>
              <a:ext uri="{FF2B5EF4-FFF2-40B4-BE49-F238E27FC236}">
                <a16:creationId xmlns:a16="http://schemas.microsoft.com/office/drawing/2014/main" id="{B4A5C874-2634-064F-F840-55358A58A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376" y="3259627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AD2385B4-44AC-57C6-BD63-1D139CC8C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077" y="5337333"/>
            <a:ext cx="3289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 dirty="0">
                <a:solidFill>
                  <a:srgbClr val="333333"/>
                </a:solidFill>
                <a:latin typeface="ISOCPEUR" pitchFamily="34" charset="0"/>
              </a:rPr>
              <a:t>b</a:t>
            </a:r>
            <a:endParaRPr kumimoji="0" lang="en-US" altLang="zh-CN" b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8A85AB4C-F541-9B0F-D714-C84DDD551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516" y="4347159"/>
            <a:ext cx="3080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 dirty="0">
                <a:solidFill>
                  <a:srgbClr val="333333"/>
                </a:solidFill>
                <a:latin typeface="ISOCPEUR" pitchFamily="34" charset="0"/>
              </a:rPr>
              <a:t>c</a:t>
            </a:r>
            <a:endParaRPr kumimoji="0" lang="en-US" altLang="zh-CN" b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B24E7454-B61D-EFD5-AD5E-38A842A84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641" y="3776025"/>
            <a:ext cx="461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 dirty="0">
                <a:solidFill>
                  <a:srgbClr val="333333"/>
                </a:solidFill>
                <a:latin typeface="ISOCPEUR" pitchFamily="34" charset="0"/>
              </a:rPr>
              <a:t>c</a:t>
            </a:r>
            <a:r>
              <a:rPr kumimoji="0" lang="en-US" altLang="zh-CN" b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´</a:t>
            </a: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48227224-2485-C84B-F488-A511F18CF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076" y="2594282"/>
            <a:ext cx="482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b="0" i="1" dirty="0">
                <a:solidFill>
                  <a:srgbClr val="333333"/>
                </a:solidFill>
                <a:latin typeface="ISOCPEUR" pitchFamily="34" charset="0"/>
              </a:rPr>
              <a:t>b</a:t>
            </a:r>
            <a:r>
              <a:rPr kumimoji="0" lang="en-US" altLang="zh-CN" b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´</a:t>
            </a: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AB6F282F-CD22-693B-8F05-4D6FF3F1B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867670"/>
            <a:ext cx="7608173" cy="427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zh-CN" altLang="en-US" sz="2000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，过顶点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作平面垂直于</a:t>
            </a:r>
            <a:r>
              <a:rPr lang="zh-CN" altLang="en-US" sz="2000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确定的平面。</a:t>
            </a:r>
          </a:p>
        </p:txBody>
      </p:sp>
    </p:spTree>
    <p:extLst>
      <p:ext uri="{BB962C8B-B14F-4D97-AF65-F5344CB8AC3E}">
        <p14:creationId xmlns:p14="http://schemas.microsoft.com/office/powerpoint/2010/main" val="324041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utoUpdateAnimBg="0"/>
      <p:bldP spid="14" grpId="0" animBg="1"/>
      <p:bldP spid="15" grpId="0" autoUpdateAnimBg="0"/>
      <p:bldP spid="16" grpId="0"/>
      <p:bldP spid="17" grpId="0"/>
      <p:bldP spid="25" grpId="0"/>
      <p:bldP spid="26" grpId="0" autoUpdateAnimBg="0"/>
      <p:bldP spid="27" grpId="0" autoUpdateAnimBg="0"/>
      <p:bldP spid="28" grpId="0" autoUpdateAnimBg="0"/>
      <p:bldP spid="29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C204-BD01-941F-CE79-60219DE1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92B3D7D-5CAC-F56E-DD3A-238E2567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707E171-BBDA-3FF2-0748-6D2E618AE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2BA1F6-5BB2-2E88-82BF-1B5508EE5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93AD67-6536-A3D4-A66E-7B1F161B1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844824"/>
            <a:ext cx="6336704" cy="1422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垂直问题的基础：直角的投影特性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类典型垂直问题的几何学原理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类典型垂直问题的作图方法</a:t>
            </a:r>
          </a:p>
        </p:txBody>
      </p:sp>
    </p:spTree>
    <p:extLst>
      <p:ext uri="{BB962C8B-B14F-4D97-AF65-F5344CB8AC3E}">
        <p14:creationId xmlns:p14="http://schemas.microsoft.com/office/powerpoint/2010/main" val="329317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D7A3-C0DE-05C7-FF88-E0251738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40DAAE-EB03-A2DB-0A8E-7AEDE8A0BDE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22778" y="2727900"/>
            <a:ext cx="369844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综合问题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615B9-D990-5F51-A77A-E73734641D10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3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5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2F117-0034-E65A-47D3-8B703A8B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C78D31F7-452F-484F-7839-3A5FD362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AC01465D-4A87-E78E-9EDD-26F887712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综合问题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DB8525A-93EB-8877-A05B-1E111CFC3D75}"/>
              </a:ext>
            </a:extLst>
          </p:cNvPr>
          <p:cNvGrpSpPr/>
          <p:nvPr/>
        </p:nvGrpSpPr>
        <p:grpSpPr>
          <a:xfrm>
            <a:off x="274204" y="1282818"/>
            <a:ext cx="8595592" cy="1645177"/>
            <a:chOff x="274204" y="1282818"/>
            <a:chExt cx="8595592" cy="1645177"/>
          </a:xfrm>
        </p:grpSpPr>
        <p:sp>
          <p:nvSpPr>
            <p:cNvPr id="2" name="Text Box 2">
              <a:extLst>
                <a:ext uri="{FF2B5EF4-FFF2-40B4-BE49-F238E27FC236}">
                  <a16:creationId xmlns:a16="http://schemas.microsoft.com/office/drawing/2014/main" id="{8E96C8AE-5B22-09AE-684B-FC70D4428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91" y="1282818"/>
              <a:ext cx="18774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457200" indent="-457200">
                <a:buFont typeface="Wingdings" panose="05000000000000000000" pitchFamily="2" charset="2"/>
                <a:buChar char="n"/>
              </a:pPr>
              <a:r>
                <a:rPr lang="zh-CN" altLang="en-US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工程应用</a:t>
              </a:r>
            </a:p>
          </p:txBody>
        </p:sp>
        <p:sp>
          <p:nvSpPr>
            <p:cNvPr id="3" name="Text Box 2">
              <a:extLst>
                <a:ext uri="{FF2B5EF4-FFF2-40B4-BE49-F238E27FC236}">
                  <a16:creationId xmlns:a16="http://schemas.microsoft.com/office/drawing/2014/main" id="{BA3CEE14-9E1B-9FEF-F9C8-E321009D7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204" y="1674318"/>
              <a:ext cx="8595592" cy="1253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 sz="2000" b="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点、线、面投影的基本知识及几何元素间的平行、相交和垂直关系具有很强的工程应用背景，可以用来解决工程实际中所遇到的距离、角度、实形、轨迹等综合性问题。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B03645B-027E-E9ED-A10C-7D78EF5B56BD}"/>
              </a:ext>
            </a:extLst>
          </p:cNvPr>
          <p:cNvGrpSpPr/>
          <p:nvPr/>
        </p:nvGrpSpPr>
        <p:grpSpPr>
          <a:xfrm>
            <a:off x="305831" y="3319495"/>
            <a:ext cx="8470420" cy="2161803"/>
            <a:chOff x="305831" y="3319495"/>
            <a:chExt cx="8470420" cy="2161803"/>
          </a:xfrm>
        </p:grpSpPr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875F552F-360B-8AA2-836E-EBBDEE4B8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749" y="3750568"/>
              <a:ext cx="8408502" cy="1730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just" eaLnBrk="1" hangingPunct="1">
                <a:lnSpc>
                  <a:spcPct val="130000"/>
                </a:lnSpc>
                <a:defRPr kumimoji="1" sz="2000" b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kumimoji="1" sz="2400" b="1"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zh-CN" altLang="en-US" dirty="0"/>
                <a:t>  </a:t>
              </a:r>
              <a:r>
                <a:rPr lang="zh-CN" altLang="en-US" b="1" dirty="0">
                  <a:solidFill>
                    <a:srgbClr val="C00000"/>
                  </a:solidFill>
                </a:rPr>
                <a:t>（</a:t>
              </a:r>
              <a:r>
                <a:rPr lang="en-US" altLang="zh-CN" b="1" dirty="0">
                  <a:solidFill>
                    <a:srgbClr val="C00000"/>
                  </a:solidFill>
                </a:rPr>
                <a:t>1</a:t>
              </a:r>
              <a:r>
                <a:rPr lang="zh-CN" altLang="en-US" b="1" dirty="0">
                  <a:solidFill>
                    <a:srgbClr val="C00000"/>
                  </a:solidFill>
                </a:rPr>
                <a:t>）空间分析</a:t>
              </a:r>
              <a:r>
                <a:rPr lang="zh-CN" altLang="en-US" dirty="0"/>
                <a:t>：把复杂问题抽取成几何表达，通过分析其投影特性寻求解决方案；</a:t>
              </a:r>
              <a:endParaRPr lang="en-US" altLang="zh-CN" dirty="0"/>
            </a:p>
            <a:p>
              <a:r>
                <a:rPr lang="zh-CN" altLang="en-US" b="1" dirty="0">
                  <a:solidFill>
                    <a:srgbClr val="C00000"/>
                  </a:solidFill>
                </a:rPr>
                <a:t>  （</a:t>
              </a:r>
              <a:r>
                <a:rPr lang="en-US" altLang="zh-CN" b="1" dirty="0">
                  <a:solidFill>
                    <a:srgbClr val="C00000"/>
                  </a:solidFill>
                </a:rPr>
                <a:t>2</a:t>
              </a:r>
              <a:r>
                <a:rPr lang="zh-CN" altLang="en-US" b="1" dirty="0">
                  <a:solidFill>
                    <a:srgbClr val="C00000"/>
                  </a:solidFill>
                </a:rPr>
                <a:t>）轨迹法</a:t>
              </a:r>
              <a:r>
                <a:rPr lang="zh-CN" altLang="en-US" dirty="0"/>
                <a:t>：把复杂的问题分解为若干个简单问题，逐个求解得到每一个简单问题解答的集合（轨迹），最后综合求交集得出结果。</a:t>
              </a:r>
            </a:p>
          </p:txBody>
        </p:sp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2B9EAB22-7A93-0C2E-B260-2479609B7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31" y="3319495"/>
              <a:ext cx="18774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marL="457200" indent="-457200">
                <a:buFont typeface="Wingdings" panose="05000000000000000000" pitchFamily="2" charset="2"/>
                <a:buChar char="n"/>
                <a:defRPr kumimoji="1" sz="24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kumimoji="1" sz="2400" b="1"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en-US" dirty="0"/>
                <a:t>解题思路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80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B8E7-5CDB-4F46-6609-759A30F1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8C81EBF-50B2-9C74-14B1-DD0B4D59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39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ED893FEF-7754-F20F-280D-41F0C467D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综合问题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D1677770-F77D-1F6D-6B52-70FF6D9BB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265580"/>
            <a:ext cx="5102679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求两平行线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间的距离。</a:t>
            </a:r>
          </a:p>
        </p:txBody>
      </p:sp>
      <p:sp>
        <p:nvSpPr>
          <p:cNvPr id="3" name="Line 2">
            <a:extLst>
              <a:ext uri="{FF2B5EF4-FFF2-40B4-BE49-F238E27FC236}">
                <a16:creationId xmlns:a16="http://schemas.microsoft.com/office/drawing/2014/main" id="{77E30220-BAF1-300B-209C-C4FB69050A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6136" y="2202805"/>
            <a:ext cx="885825" cy="1304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FD19D73-2F65-86E2-EB5D-A21A40B3145A}"/>
              </a:ext>
            </a:extLst>
          </p:cNvPr>
          <p:cNvGrpSpPr>
            <a:grpSpLocks/>
          </p:cNvGrpSpPr>
          <p:nvPr/>
        </p:nvGrpSpPr>
        <p:grpSpPr bwMode="auto">
          <a:xfrm>
            <a:off x="4980161" y="2488555"/>
            <a:ext cx="3016250" cy="2730501"/>
            <a:chOff x="3110" y="465"/>
            <a:chExt cx="1900" cy="172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D391C21C-D5BB-FD5F-0909-E90E5F3F2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0" y="1453"/>
              <a:ext cx="1900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AD04F941-BD64-ABA8-2297-7ED7942A4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1" y="575"/>
              <a:ext cx="322" cy="478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DEC5E342-25BA-4D6E-49D4-8281B5C7D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9" y="648"/>
              <a:ext cx="316" cy="469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C1A2B19D-A766-90FE-72EF-53B965394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044"/>
              <a:ext cx="0" cy="744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D6B0676-35F4-8B1B-FB1C-82CAF2366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570"/>
              <a:ext cx="0" cy="1496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01CB538E-480A-E56B-BB69-66E40FA0E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2" y="1116"/>
              <a:ext cx="0" cy="53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7DB1F52F-0D61-FC3C-8FF3-25B0D5A66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" y="648"/>
              <a:ext cx="0" cy="1256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32DA3FD1-3957-2F58-FECD-068DACE4E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88"/>
              <a:ext cx="318" cy="276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BB89EE0A-E23C-6847-206D-71FA9B01B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638"/>
              <a:ext cx="318" cy="276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1138FD78-7A54-CC13-41EF-4583B0C2D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6" y="891"/>
              <a:ext cx="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 dirty="0">
                  <a:solidFill>
                    <a:srgbClr val="333333"/>
                  </a:solidFill>
                  <a:latin typeface="ISOCPEUR" pitchFamily="34" charset="0"/>
                </a:rPr>
                <a:t>a</a:t>
              </a:r>
              <a:r>
                <a:rPr kumimoji="0" lang="en-US" altLang="zh-CN" sz="1800" i="1" kern="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’ </a:t>
              </a:r>
              <a:endParaRPr kumimoji="0" lang="en-US" altLang="zh-CN" kern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FEE0ADE7-CDA4-C060-0AA3-226164E49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465"/>
              <a:ext cx="2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 dirty="0">
                  <a:solidFill>
                    <a:srgbClr val="333333"/>
                  </a:solidFill>
                  <a:latin typeface="ISOCPEUR" pitchFamily="34" charset="0"/>
                </a:rPr>
                <a:t>b</a:t>
              </a:r>
              <a:r>
                <a:rPr kumimoji="0" lang="en-US" altLang="en-US" sz="1800" i="1" kern="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’ </a:t>
              </a:r>
              <a:endParaRPr kumimoji="0" lang="en-US" altLang="zh-CN" sz="1800" i="1" kern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076F1600-CAD2-2B50-2873-157BF4F9E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" y="933"/>
              <a:ext cx="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 dirty="0">
                  <a:solidFill>
                    <a:srgbClr val="333333"/>
                  </a:solidFill>
                  <a:latin typeface="ISOCPEUR" pitchFamily="34" charset="0"/>
                </a:rPr>
                <a:t>c</a:t>
              </a:r>
              <a:r>
                <a:rPr kumimoji="0" lang="en-US" altLang="en-US" sz="1800" i="1" kern="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’</a:t>
              </a:r>
              <a:r>
                <a:rPr kumimoji="0" lang="en-US" altLang="en-US" sz="1800" i="1" kern="0" dirty="0">
                  <a:solidFill>
                    <a:srgbClr val="333333"/>
                  </a:solidFill>
                  <a:latin typeface="ISOCPEUR" pitchFamily="34" charset="0"/>
                </a:rPr>
                <a:t> </a:t>
              </a:r>
              <a:endParaRPr kumimoji="0" lang="en-US" altLang="zh-CN" sz="1800" i="1" kern="0" dirty="0">
                <a:solidFill>
                  <a:srgbClr val="333333"/>
                </a:solidFill>
                <a:latin typeface="ISOCPEUR" pitchFamily="34" charset="0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A145CBE7-C282-B181-550F-4F831985A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1" y="555"/>
              <a:ext cx="2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 dirty="0">
                  <a:solidFill>
                    <a:srgbClr val="333333"/>
                  </a:solidFill>
                  <a:latin typeface="ISOCPEUR" pitchFamily="34" charset="0"/>
                </a:rPr>
                <a:t>d</a:t>
              </a:r>
              <a:r>
                <a:rPr kumimoji="0" lang="en-US" altLang="en-US" sz="1800" i="1" kern="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’</a:t>
              </a:r>
              <a:r>
                <a:rPr kumimoji="0" lang="en-US" altLang="zh-CN" sz="1800" i="1" kern="0" dirty="0">
                  <a:solidFill>
                    <a:srgbClr val="333333"/>
                  </a:solidFill>
                  <a:latin typeface="ISOCPEUR" pitchFamily="34" charset="0"/>
                </a:rPr>
                <a:t> 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B65B6294-F656-9AE2-C28B-32FE3F64E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1630"/>
              <a:ext cx="18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>
                  <a:solidFill>
                    <a:srgbClr val="333333"/>
                  </a:solidFill>
                  <a:latin typeface="ISOCPEUR" pitchFamily="34" charset="0"/>
                </a:rPr>
                <a:t>a</a:t>
              </a:r>
              <a:endParaRPr kumimoji="0" lang="en-US" altLang="zh-CN" kern="0">
                <a:solidFill>
                  <a:srgbClr val="333333"/>
                </a:solidFill>
                <a:latin typeface="ISOCPEUR" pitchFamily="34" charset="0"/>
              </a:endParaRP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A101FBD6-4D86-EADC-B1A1-E90F7BE95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954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>
                  <a:solidFill>
                    <a:srgbClr val="333333"/>
                  </a:solidFill>
                  <a:latin typeface="ISOCPEUR" pitchFamily="34" charset="0"/>
                </a:rPr>
                <a:t>b </a:t>
              </a:r>
              <a:endParaRPr kumimoji="0" lang="en-US" altLang="zh-CN" kern="0">
                <a:solidFill>
                  <a:srgbClr val="333333"/>
                </a:solidFill>
                <a:latin typeface="ISOCPEUR" pitchFamily="34" charset="0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EEF07668-EAB2-2153-5EA6-2F7632D8F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" y="1462"/>
              <a:ext cx="2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>
                  <a:solidFill>
                    <a:srgbClr val="333333"/>
                  </a:solidFill>
                  <a:latin typeface="ISOCPEUR" pitchFamily="34" charset="0"/>
                </a:rPr>
                <a:t>c </a:t>
              </a:r>
              <a:endParaRPr kumimoji="0" lang="en-US" altLang="zh-CN" kern="0">
                <a:solidFill>
                  <a:srgbClr val="333333"/>
                </a:solidFill>
                <a:latin typeface="ISOCPEUR" pitchFamily="34" charset="0"/>
              </a:endParaRP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9EB8C2B6-C032-F83B-73ED-53F8BDE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1786"/>
              <a:ext cx="2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800" i="1" kern="0">
                  <a:solidFill>
                    <a:srgbClr val="333333"/>
                  </a:solidFill>
                  <a:latin typeface="ISOCPEUR" pitchFamily="34" charset="0"/>
                </a:rPr>
                <a:t>d </a:t>
              </a:r>
              <a:endParaRPr kumimoji="0" lang="en-US" altLang="zh-CN" kern="0">
                <a:solidFill>
                  <a:srgbClr val="333333"/>
                </a:solidFill>
                <a:latin typeface="ISOCPEUR" pitchFamily="34" charset="0"/>
              </a:endParaRPr>
            </a:p>
          </p:txBody>
        </p:sp>
      </p:grpSp>
      <p:sp>
        <p:nvSpPr>
          <p:cNvPr id="23" name="Line 22">
            <a:extLst>
              <a:ext uri="{FF2B5EF4-FFF2-40B4-BE49-F238E27FC236}">
                <a16:creationId xmlns:a16="http://schemas.microsoft.com/office/drawing/2014/main" id="{0FB8E844-DE72-18BB-5CF6-22E54197DC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7048" y="3514080"/>
            <a:ext cx="1100138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7ED1B7EB-F405-A419-9938-34995BB8E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7048" y="3514080"/>
            <a:ext cx="0" cy="2151062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8EE9BFD0-2182-1355-BDB5-A7FF814723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7048" y="4363392"/>
            <a:ext cx="1109663" cy="13017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97F435E5-1247-1135-89B3-B9C419605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910" y="3342908"/>
            <a:ext cx="4443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1800" i="1" dirty="0">
                <a:solidFill>
                  <a:srgbClr val="000000"/>
                </a:solidFill>
                <a:latin typeface="ISOCPEUR" pitchFamily="34" charset="0"/>
              </a:rPr>
              <a:t>1</a:t>
            </a:r>
            <a:r>
              <a:rPr kumimoji="0" lang="en-US" altLang="en-US" sz="18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  <a:endParaRPr kumimoji="0" lang="en-US" altLang="zh-CN" sz="1800" i="1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93357445-0533-5557-33B8-E4120CC7F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236" y="2336155"/>
            <a:ext cx="757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en-US" sz="1800" i="1" dirty="0">
                <a:solidFill>
                  <a:srgbClr val="000000"/>
                </a:solidFill>
                <a:latin typeface="ISOCPEUR" pitchFamily="34" charset="0"/>
              </a:rPr>
              <a:t>2</a:t>
            </a:r>
            <a:r>
              <a:rPr kumimoji="0" lang="en-US" altLang="en-US" sz="18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endParaRPr kumimoji="0" lang="en-US" altLang="zh-CN" sz="1800" i="1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76150E93-1377-0981-9640-04E1A0CD53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2561" y="4350692"/>
            <a:ext cx="1454150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301B6BB8-E533-9641-F864-E942B2D664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2561" y="2534592"/>
            <a:ext cx="0" cy="1814513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28381F7C-F871-A2DC-E94D-4774008E1D4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29386" y="2540942"/>
            <a:ext cx="1462087" cy="966788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8084216E-D70B-97B8-42B8-A24E8356E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461" y="2167880"/>
            <a:ext cx="592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P</a:t>
            </a:r>
            <a:r>
              <a:rPr kumimoji="0" lang="en-US" altLang="zh-CN" sz="1800" i="1" baseline="-10000">
                <a:solidFill>
                  <a:srgbClr val="000000"/>
                </a:solidFill>
                <a:latin typeface="ISOCPEUR" pitchFamily="34" charset="0"/>
              </a:rPr>
              <a:t>V</a:t>
            </a:r>
            <a:endParaRPr kumimoji="0" lang="en-US" altLang="zh-CN" sz="18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8D0F83D7-CC81-41C9-BC3C-3B915D91B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048" y="3461692"/>
            <a:ext cx="669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1800" i="1" dirty="0">
                <a:solidFill>
                  <a:srgbClr val="000000"/>
                </a:solidFill>
                <a:latin typeface="ISOCPEUR" pitchFamily="34" charset="0"/>
              </a:rPr>
              <a:t>3</a:t>
            </a:r>
            <a:r>
              <a:rPr kumimoji="0" lang="en-US" altLang="zh-CN" sz="18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5EBA5D62-F554-DF9E-E4DC-326028335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373" y="2928292"/>
            <a:ext cx="452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en-US" sz="1800" i="1" dirty="0">
                <a:solidFill>
                  <a:srgbClr val="000000"/>
                </a:solidFill>
                <a:latin typeface="ISOCPEUR" pitchFamily="34" charset="0"/>
              </a:rPr>
              <a:t>4</a:t>
            </a:r>
            <a:r>
              <a:rPr kumimoji="0" lang="en-US" altLang="en-US" sz="18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</a:t>
            </a:r>
            <a:endParaRPr kumimoji="0" lang="en-US" altLang="zh-CN" sz="1800" i="1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37CFED02-E5E4-74DE-C675-DA8EC2A7D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611" y="3512492"/>
            <a:ext cx="0" cy="5524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33F673BD-9586-B018-CC67-3B0161513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611" y="4055417"/>
            <a:ext cx="0" cy="12382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DA3E0F6A-5CC8-498F-5A5A-C43FDC722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3786" y="3141017"/>
            <a:ext cx="0" cy="9334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6BE8B476-5AE5-628B-DE13-1968090199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3786" y="4055417"/>
            <a:ext cx="0" cy="29527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86370C9D-5B11-4DE1-6CD9-CB0C2C6D30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3436" y="4350692"/>
            <a:ext cx="260350" cy="9493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96762E88-AD5B-97CC-59CA-0B288A281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323" y="5219055"/>
            <a:ext cx="34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000000"/>
                </a:solidFill>
                <a:latin typeface="ISOCPEUR" pitchFamily="34" charset="0"/>
              </a:rPr>
              <a:t>3</a:t>
            </a:r>
            <a:endParaRPr kumimoji="0" lang="en-US" altLang="zh-CN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5BA3801B-276F-A703-D779-175238C1B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173" y="4055417"/>
            <a:ext cx="319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rgbClr val="000000"/>
                </a:solidFill>
                <a:latin typeface="ISOCPEUR" pitchFamily="34" charset="0"/>
              </a:rPr>
              <a:t>4</a:t>
            </a:r>
            <a:endParaRPr kumimoji="0" lang="en-US" altLang="zh-CN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D2FE0316-43DA-0A02-FFB1-E8D7EB016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136" y="4530080"/>
            <a:ext cx="374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rgbClr val="000000"/>
                </a:solidFill>
                <a:latin typeface="ISOCPEUR" pitchFamily="34" charset="0"/>
              </a:rPr>
              <a:t>e</a:t>
            </a:r>
            <a:endParaRPr kumimoji="0" lang="en-US" altLang="zh-CN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1B204A63-806F-0ED9-1FFE-277B1B2AF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8061" y="4036367"/>
            <a:ext cx="0" cy="63817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7E00D909-9442-62C5-595A-26B4B00B6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1236" y="3245792"/>
            <a:ext cx="0" cy="809625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D8DB8CF7-A0C0-7EB0-96E8-4C67D161D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402" y="2926675"/>
            <a:ext cx="4587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000000"/>
                </a:solidFill>
                <a:latin typeface="ISOCPEUR" pitchFamily="34" charset="0"/>
              </a:rPr>
              <a:t>e</a:t>
            </a:r>
            <a:r>
              <a:rPr kumimoji="0" lang="en-US" altLang="en-US" sz="18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kumimoji="0" lang="en-US" altLang="en-US" sz="1800" i="1" dirty="0">
                <a:solidFill>
                  <a:srgbClr val="000000"/>
                </a:solidFill>
                <a:latin typeface="ISOCPEUR" pitchFamily="34" charset="0"/>
              </a:rPr>
              <a:t> </a:t>
            </a:r>
            <a:endParaRPr kumimoji="0" lang="en-US" altLang="zh-CN" sz="1800" i="1" dirty="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7C7E015F-7853-9A2F-40EF-12963D586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4411" y="3264842"/>
            <a:ext cx="622300" cy="2476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88AAF037-A529-DBC2-9E98-4C78766786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7586" y="4345930"/>
            <a:ext cx="633412" cy="3286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601EF345-EC1C-73FA-CA8E-0FF10C137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4411" y="3517255"/>
            <a:ext cx="2047875" cy="1587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9" name="Line 47">
            <a:extLst>
              <a:ext uri="{FF2B5EF4-FFF2-40B4-BE49-F238E27FC236}">
                <a16:creationId xmlns:a16="http://schemas.microsoft.com/office/drawing/2014/main" id="{F52FD46F-0380-FD11-FE39-EC69206AA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4411" y="3264842"/>
            <a:ext cx="204787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0" name="Line 48">
            <a:extLst>
              <a:ext uri="{FF2B5EF4-FFF2-40B4-BE49-F238E27FC236}">
                <a16:creationId xmlns:a16="http://schemas.microsoft.com/office/drawing/2014/main" id="{60F08D21-A2AF-F896-0BFB-0C3924B033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2286" y="3268017"/>
            <a:ext cx="0" cy="24765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1" name="Text Box 49">
            <a:extLst>
              <a:ext uri="{FF2B5EF4-FFF2-40B4-BE49-F238E27FC236}">
                <a16:creationId xmlns:a16="http://schemas.microsoft.com/office/drawing/2014/main" id="{2373B160-3F91-CEF3-2F88-A1F1A5239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2748" y="3201342"/>
            <a:ext cx="577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16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△</a:t>
            </a:r>
            <a:r>
              <a:rPr kumimoji="0" lang="en-US" altLang="zh-CN" sz="1600" i="1">
                <a:solidFill>
                  <a:srgbClr val="000000"/>
                </a:solidFill>
                <a:latin typeface="ISOCPEUR" pitchFamily="34" charset="0"/>
              </a:rPr>
              <a:t>Z </a:t>
            </a:r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60976B05-2188-B2B7-C772-57C0995C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8698" y="4341167"/>
            <a:ext cx="631825" cy="328613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3" name="Text Box 53">
            <a:extLst>
              <a:ext uri="{FF2B5EF4-FFF2-40B4-BE49-F238E27FC236}">
                <a16:creationId xmlns:a16="http://schemas.microsoft.com/office/drawing/2014/main" id="{F3613F6C-0F0F-6F1A-6F44-7F9A7483C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8709" y="3441848"/>
            <a:ext cx="449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 dirty="0">
                <a:solidFill>
                  <a:srgbClr val="000000"/>
                </a:solidFill>
                <a:latin typeface="ISOCPEUR" pitchFamily="34" charset="0"/>
              </a:rPr>
              <a:t>c</a:t>
            </a:r>
          </a:p>
        </p:txBody>
      </p:sp>
      <p:sp>
        <p:nvSpPr>
          <p:cNvPr id="54" name="AutoShape 54">
            <a:extLst>
              <a:ext uri="{FF2B5EF4-FFF2-40B4-BE49-F238E27FC236}">
                <a16:creationId xmlns:a16="http://schemas.microsoft.com/office/drawing/2014/main" id="{628BFDCC-BD0A-20CC-1B91-C4E9640A9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373" y="4639617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5" name="AutoShape 55">
            <a:extLst>
              <a:ext uri="{FF2B5EF4-FFF2-40B4-BE49-F238E27FC236}">
                <a16:creationId xmlns:a16="http://schemas.microsoft.com/office/drawing/2014/main" id="{209A3746-18A5-370E-6736-CC920375B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136" y="3226742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333333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6" name="Text Box 56">
            <a:extLst>
              <a:ext uri="{FF2B5EF4-FFF2-40B4-BE49-F238E27FC236}">
                <a16:creationId xmlns:a16="http://schemas.microsoft.com/office/drawing/2014/main" id="{53767A53-68EE-829E-1043-4135A070F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398" y="4149080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en-US" sz="1800" i="1">
                <a:solidFill>
                  <a:srgbClr val="000000"/>
                </a:solidFill>
                <a:latin typeface="ISOCPEUR" pitchFamily="34" charset="0"/>
              </a:rPr>
              <a:t>2</a:t>
            </a:r>
            <a:endParaRPr kumimoji="0" lang="en-US" altLang="zh-CN" sz="18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38F83005-96A7-0CDF-95D9-1696CE243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736" y="5519092"/>
            <a:ext cx="3889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58" name="Text Box 58">
            <a:extLst>
              <a:ext uri="{FF2B5EF4-FFF2-40B4-BE49-F238E27FC236}">
                <a16:creationId xmlns:a16="http://schemas.microsoft.com/office/drawing/2014/main" id="{85FA5DF4-FA5C-21C8-0575-8487F9C1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586" y="3168005"/>
            <a:ext cx="276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0" lang="en-US" altLang="zh-CN" sz="1600" i="1">
                <a:solidFill>
                  <a:srgbClr val="000000"/>
                </a:solidFill>
                <a:latin typeface="ISOCPEUR" pitchFamily="34" charset="0"/>
              </a:rPr>
              <a:t>L</a:t>
            </a:r>
            <a:endParaRPr kumimoji="0" lang="en-US" altLang="zh-CN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5FC567CB-48F5-6468-A1C1-D68BFD578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934" y="2412791"/>
            <a:ext cx="294022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kumimoji="0"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作图步骤：</a:t>
            </a:r>
          </a:p>
          <a:p>
            <a:pPr eaLnBrk="1" hangingPunct="1">
              <a:buFontTx/>
              <a:buChar char="•"/>
            </a:pP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过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作平面</a:t>
            </a:r>
            <a:r>
              <a:rPr kumimoji="0"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ⅠCⅡ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 CD</a:t>
            </a:r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7EC39CAD-7E09-CC1F-52FF-7B635EE6BA84}"/>
              </a:ext>
            </a:extLst>
          </p:cNvPr>
          <p:cNvSpPr>
            <a:spLocks noChangeShapeType="1"/>
          </p:cNvSpPr>
          <p:nvPr/>
        </p:nvSpPr>
        <p:spPr bwMode="auto">
          <a:xfrm rot="1672060" flipV="1">
            <a:off x="7356648" y="3356917"/>
            <a:ext cx="620713" cy="32702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1" name="Line 61">
            <a:extLst>
              <a:ext uri="{FF2B5EF4-FFF2-40B4-BE49-F238E27FC236}">
                <a16:creationId xmlns:a16="http://schemas.microsoft.com/office/drawing/2014/main" id="{1A7092BD-4A86-B8F8-1B40-95502CEC9B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0611" y="3264842"/>
            <a:ext cx="701675" cy="255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2" name="Text Box 62">
            <a:extLst>
              <a:ext uri="{FF2B5EF4-FFF2-40B4-BE49-F238E27FC236}">
                <a16:creationId xmlns:a16="http://schemas.microsoft.com/office/drawing/2014/main" id="{9EA332D4-CB85-047D-855C-659AA2AC3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934" y="3435200"/>
            <a:ext cx="3334567" cy="7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求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AB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与平面</a:t>
            </a:r>
            <a:r>
              <a:rPr kumimoji="0"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ⅠCⅡ</a:t>
            </a:r>
            <a:r>
              <a:rPr kumimoji="0" lang="zh-CN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的交点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0" lang="zh-CN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kumimoji="0" lang="zh-CN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为距离的投影</a:t>
            </a:r>
            <a:endParaRPr kumimoji="0" lang="zh-CN" altLang="en-US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 Box 63">
            <a:extLst>
              <a:ext uri="{FF2B5EF4-FFF2-40B4-BE49-F238E27FC236}">
                <a16:creationId xmlns:a16="http://schemas.microsoft.com/office/drawing/2014/main" id="{7A37EF93-D0BA-7416-C52B-D08D327FD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934" y="4363661"/>
            <a:ext cx="17107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kumimoji="0"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的实长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D4FFA32-52D7-4F91-BFD3-2AA3274DC53A}"/>
              </a:ext>
            </a:extLst>
          </p:cNvPr>
          <p:cNvGrpSpPr/>
          <p:nvPr/>
        </p:nvGrpSpPr>
        <p:grpSpPr>
          <a:xfrm>
            <a:off x="7953154" y="3311167"/>
            <a:ext cx="107961" cy="282525"/>
            <a:chOff x="7933540" y="3707140"/>
            <a:chExt cx="107961" cy="282525"/>
          </a:xfrm>
        </p:grpSpPr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0CCCF201-36BF-877B-F224-70182291A30A}"/>
                </a:ext>
              </a:extLst>
            </p:cNvPr>
            <p:cNvSpPr/>
            <p:nvPr/>
          </p:nvSpPr>
          <p:spPr bwMode="auto">
            <a:xfrm rot="16200000">
              <a:off x="7905401" y="3853564"/>
              <a:ext cx="164240" cy="107961"/>
            </a:xfrm>
            <a:prstGeom prst="arc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6" name="TextBox 126">
              <a:extLst>
                <a:ext uri="{FF2B5EF4-FFF2-40B4-BE49-F238E27FC236}">
                  <a16:creationId xmlns:a16="http://schemas.microsoft.com/office/drawing/2014/main" id="{E910C610-E1E8-A8AD-165C-9B9D352A58FD}"/>
                </a:ext>
              </a:extLst>
            </p:cNvPr>
            <p:cNvSpPr txBox="1"/>
            <p:nvPr/>
          </p:nvSpPr>
          <p:spPr>
            <a:xfrm>
              <a:off x="7933540" y="3707140"/>
              <a:ext cx="868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</a:rPr>
                <a:t>.</a:t>
              </a:r>
              <a:endPara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B1596148-C5B6-5BB6-B900-B73AB80699D1}"/>
              </a:ext>
            </a:extLst>
          </p:cNvPr>
          <p:cNvSpPr txBox="1"/>
          <p:nvPr/>
        </p:nvSpPr>
        <p:spPr>
          <a:xfrm>
            <a:off x="7883310" y="2920356"/>
            <a:ext cx="25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ISOCPEUR" pitchFamily="34" charset="0"/>
              </a:rPr>
              <a:t>e</a:t>
            </a:r>
            <a:endParaRPr lang="zh-HK" altLang="en-US" b="1" dirty="0"/>
          </a:p>
        </p:txBody>
      </p:sp>
    </p:spTree>
    <p:extLst>
      <p:ext uri="{BB962C8B-B14F-4D97-AF65-F5344CB8AC3E}">
        <p14:creationId xmlns:p14="http://schemas.microsoft.com/office/powerpoint/2010/main" val="292955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4"/>
                                            </p:cond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27" grpId="0" autoUpdateAnimBg="0"/>
      <p:bldP spid="31" grpId="0" autoUpdateAnimBg="0"/>
      <p:bldP spid="32" grpId="0" autoUpdateAnimBg="0"/>
      <p:bldP spid="33" grpId="0" autoUpdateAnimBg="0"/>
      <p:bldP spid="40" grpId="0" autoUpdateAnimBg="0"/>
      <p:bldP spid="41" grpId="0" autoUpdateAnimBg="0"/>
      <p:bldP spid="42" grpId="0" autoUpdateAnimBg="0"/>
      <p:bldP spid="45" grpId="0" autoUpdateAnimBg="0"/>
      <p:bldP spid="51" grpId="0" autoUpdateAnimBg="0"/>
      <p:bldP spid="53" grpId="0" autoUpdateAnimBg="0"/>
      <p:bldP spid="54" grpId="0" animBg="1"/>
      <p:bldP spid="55" grpId="0" animBg="1"/>
      <p:bldP spid="56" grpId="0" autoUpdateAnimBg="0"/>
      <p:bldP spid="57" grpId="0" autoUpdateAnimBg="0"/>
      <p:bldP spid="58" grpId="0" autoUpdateAnimBg="0"/>
      <p:bldP spid="59" grpId="0"/>
      <p:bldP spid="62" grpId="0"/>
      <p:bldP spid="63" grpId="0"/>
      <p:bldP spid="6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9F162-C4F4-879D-4CE0-42B8719A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6774A20-CF36-B295-FDFA-4E5E1BA3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40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26D519C1-4B74-3FCB-4D8A-E8DAC9C14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综合问题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0D0AE23A-E521-CB84-EA1E-1E2D3C666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267247"/>
            <a:ext cx="5697394" cy="427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作直线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KL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∥</a:t>
            </a:r>
            <a:r>
              <a:rPr lang="zh-CN" altLang="en-US" sz="2000" b="1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，并与直线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相交。</a:t>
            </a:r>
          </a:p>
        </p:txBody>
      </p:sp>
      <p:grpSp>
        <p:nvGrpSpPr>
          <p:cNvPr id="3" name="Group 92">
            <a:extLst>
              <a:ext uri="{FF2B5EF4-FFF2-40B4-BE49-F238E27FC236}">
                <a16:creationId xmlns:a16="http://schemas.microsoft.com/office/drawing/2014/main" id="{7E7A7C6D-A9A5-0EC6-619B-66DBC4300F31}"/>
              </a:ext>
            </a:extLst>
          </p:cNvPr>
          <p:cNvGrpSpPr>
            <a:grpSpLocks/>
          </p:cNvGrpSpPr>
          <p:nvPr/>
        </p:nvGrpSpPr>
        <p:grpSpPr bwMode="auto">
          <a:xfrm>
            <a:off x="2915816" y="3140968"/>
            <a:ext cx="74612" cy="1746250"/>
            <a:chOff x="2913" y="1659"/>
            <a:chExt cx="47" cy="1100"/>
          </a:xfrm>
        </p:grpSpPr>
        <p:sp>
          <p:nvSpPr>
            <p:cNvPr id="4" name="Line 64">
              <a:extLst>
                <a:ext uri="{FF2B5EF4-FFF2-40B4-BE49-F238E27FC236}">
                  <a16:creationId xmlns:a16="http://schemas.microsoft.com/office/drawing/2014/main" id="{A3FFB67B-E72C-526E-A906-BA1F3C35E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" y="1659"/>
              <a:ext cx="0" cy="1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</a:endParaRPr>
            </a:p>
          </p:txBody>
        </p:sp>
        <p:sp>
          <p:nvSpPr>
            <p:cNvPr id="5" name="Freeform 90">
              <a:extLst>
                <a:ext uri="{FF2B5EF4-FFF2-40B4-BE49-F238E27FC236}">
                  <a16:creationId xmlns:a16="http://schemas.microsoft.com/office/drawing/2014/main" id="{77AC5534-BE83-5BBF-84CB-2B10FB6202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13" y="1961"/>
              <a:ext cx="47" cy="170"/>
            </a:xfrm>
            <a:custGeom>
              <a:avLst/>
              <a:gdLst>
                <a:gd name="T0" fmla="*/ 32 w 56"/>
                <a:gd name="T1" fmla="*/ 0 h 288"/>
                <a:gd name="T2" fmla="*/ 0 w 56"/>
                <a:gd name="T3" fmla="*/ 288 h 288"/>
                <a:gd name="T4" fmla="*/ 56 w 56"/>
                <a:gd name="T5" fmla="*/ 284 h 288"/>
                <a:gd name="T6" fmla="*/ 32 w 56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288">
                  <a:moveTo>
                    <a:pt x="32" y="0"/>
                  </a:moveTo>
                  <a:lnTo>
                    <a:pt x="0" y="288"/>
                  </a:lnTo>
                  <a:lnTo>
                    <a:pt x="56" y="284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6" name="Line 18">
            <a:extLst>
              <a:ext uri="{FF2B5EF4-FFF2-40B4-BE49-F238E27FC236}">
                <a16:creationId xmlns:a16="http://schemas.microsoft.com/office/drawing/2014/main" id="{E457702E-F68E-D151-5226-7DE80A1C80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8866" y="3144143"/>
            <a:ext cx="2038350" cy="3016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7" name="Line 19">
            <a:extLst>
              <a:ext uri="{FF2B5EF4-FFF2-40B4-BE49-F238E27FC236}">
                <a16:creationId xmlns:a16="http://schemas.microsoft.com/office/drawing/2014/main" id="{CD7ED5E3-52B8-85A1-123F-FCE2A2A676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2041" y="2226568"/>
            <a:ext cx="762000" cy="914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8" name="Line 21">
            <a:extLst>
              <a:ext uri="{FF2B5EF4-FFF2-40B4-BE49-F238E27FC236}">
                <a16:creationId xmlns:a16="http://schemas.microsoft.com/office/drawing/2014/main" id="{CC2CD3D5-2AB6-5C42-505D-3AC4BAE3A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5216" y="4442718"/>
            <a:ext cx="762000" cy="1076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9" name="Line 22">
            <a:extLst>
              <a:ext uri="{FF2B5EF4-FFF2-40B4-BE49-F238E27FC236}">
                <a16:creationId xmlns:a16="http://schemas.microsoft.com/office/drawing/2014/main" id="{F9E66002-65B4-C2B3-6B69-55D8CC2BE7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5691" y="4442718"/>
            <a:ext cx="2038350" cy="609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10" name="Line 24">
            <a:extLst>
              <a:ext uri="{FF2B5EF4-FFF2-40B4-BE49-F238E27FC236}">
                <a16:creationId xmlns:a16="http://schemas.microsoft.com/office/drawing/2014/main" id="{A69305FC-B458-EA54-5EA6-1201625FD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2041" y="2223393"/>
            <a:ext cx="0" cy="3286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12" name="Line 25">
            <a:extLst>
              <a:ext uri="{FF2B5EF4-FFF2-40B4-BE49-F238E27FC236}">
                <a16:creationId xmlns:a16="http://schemas.microsoft.com/office/drawing/2014/main" id="{7AE58025-BEFF-2D64-3CD8-A3FE945790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1403" y="3433068"/>
            <a:ext cx="0" cy="1628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13" name="Line 42">
            <a:extLst>
              <a:ext uri="{FF2B5EF4-FFF2-40B4-BE49-F238E27FC236}">
                <a16:creationId xmlns:a16="http://schemas.microsoft.com/office/drawing/2014/main" id="{83F7A0A1-C30A-AFCB-7EBD-222297BB42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8016" y="2680593"/>
            <a:ext cx="835025" cy="642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14" name="Line 44">
            <a:extLst>
              <a:ext uri="{FF2B5EF4-FFF2-40B4-BE49-F238E27FC236}">
                <a16:creationId xmlns:a16="http://schemas.microsoft.com/office/drawing/2014/main" id="{ABB6FC3D-5218-AD2C-6C43-9CDA874DD0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4553" y="4442718"/>
            <a:ext cx="990600" cy="4191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15" name="Line 45">
            <a:extLst>
              <a:ext uri="{FF2B5EF4-FFF2-40B4-BE49-F238E27FC236}">
                <a16:creationId xmlns:a16="http://schemas.microsoft.com/office/drawing/2014/main" id="{EAD7A930-D82A-E9C2-69DD-B4AD48E6A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3441" y="3147318"/>
            <a:ext cx="9906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grpSp>
        <p:nvGrpSpPr>
          <p:cNvPr id="16" name="Group 95">
            <a:extLst>
              <a:ext uri="{FF2B5EF4-FFF2-40B4-BE49-F238E27FC236}">
                <a16:creationId xmlns:a16="http://schemas.microsoft.com/office/drawing/2014/main" id="{EC888000-2DD6-5A50-1F75-B670C652745F}"/>
              </a:ext>
            </a:extLst>
          </p:cNvPr>
          <p:cNvGrpSpPr>
            <a:grpSpLocks/>
          </p:cNvGrpSpPr>
          <p:nvPr/>
        </p:nvGrpSpPr>
        <p:grpSpPr bwMode="auto">
          <a:xfrm>
            <a:off x="1753766" y="2425005"/>
            <a:ext cx="4824413" cy="3095626"/>
            <a:chOff x="2181" y="1208"/>
            <a:chExt cx="3039" cy="1950"/>
          </a:xfrm>
        </p:grpSpPr>
        <p:sp>
          <p:nvSpPr>
            <p:cNvPr id="17" name="Text Box 48">
              <a:extLst>
                <a:ext uri="{FF2B5EF4-FFF2-40B4-BE49-F238E27FC236}">
                  <a16:creationId xmlns:a16="http://schemas.microsoft.com/office/drawing/2014/main" id="{014761FD-4234-A951-E97A-AE920FDEE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2870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ysClr val="windowText" lastClr="000000"/>
                  </a:solidFill>
                  <a:latin typeface="黑体" pitchFamily="49" charset="-122"/>
                </a:rPr>
                <a:t>f</a:t>
              </a:r>
              <a:endParaRPr lang="en-US" altLang="zh-CN" b="1" kern="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itchFamily="49" charset="-122"/>
              </a:endParaRPr>
            </a:p>
          </p:txBody>
        </p:sp>
        <p:grpSp>
          <p:nvGrpSpPr>
            <p:cNvPr id="18" name="Group 94">
              <a:extLst>
                <a:ext uri="{FF2B5EF4-FFF2-40B4-BE49-F238E27FC236}">
                  <a16:creationId xmlns:a16="http://schemas.microsoft.com/office/drawing/2014/main" id="{A845AC48-22E1-E73A-1D56-FC0064F93D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208"/>
              <a:ext cx="3039" cy="1826"/>
              <a:chOff x="2181" y="1208"/>
              <a:chExt cx="3039" cy="1826"/>
            </a:xfrm>
          </p:grpSpPr>
          <p:sp>
            <p:nvSpPr>
              <p:cNvPr id="19" name="Line 6">
                <a:extLst>
                  <a:ext uri="{FF2B5EF4-FFF2-40B4-BE49-F238E27FC236}">
                    <a16:creationId xmlns:a16="http://schemas.microsoft.com/office/drawing/2014/main" id="{9AF868BD-B722-468A-577F-6C8BBEEDFF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2203"/>
                <a:ext cx="291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20" name="Group 93">
                <a:extLst>
                  <a:ext uri="{FF2B5EF4-FFF2-40B4-BE49-F238E27FC236}">
                    <a16:creationId xmlns:a16="http://schemas.microsoft.com/office/drawing/2014/main" id="{677A70FE-61B1-B90F-799E-EBA62ACE4D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6" y="1208"/>
                <a:ext cx="2734" cy="1826"/>
                <a:chOff x="2486" y="1208"/>
                <a:chExt cx="2734" cy="1826"/>
              </a:xfrm>
            </p:grpSpPr>
            <p:grpSp>
              <p:nvGrpSpPr>
                <p:cNvPr id="21" name="Group 73">
                  <a:extLst>
                    <a:ext uri="{FF2B5EF4-FFF2-40B4-BE49-F238E27FC236}">
                      <a16:creationId xmlns:a16="http://schemas.microsoft.com/office/drawing/2014/main" id="{796E9D08-E14D-CA3C-7FD1-D5FEC649F8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73" y="1448"/>
                  <a:ext cx="986" cy="1373"/>
                  <a:chOff x="4017" y="1855"/>
                  <a:chExt cx="986" cy="1373"/>
                </a:xfrm>
              </p:grpSpPr>
              <p:sp>
                <p:nvSpPr>
                  <p:cNvPr id="41" name="Line 8">
                    <a:extLst>
                      <a:ext uri="{FF2B5EF4-FFF2-40B4-BE49-F238E27FC236}">
                        <a16:creationId xmlns:a16="http://schemas.microsoft.com/office/drawing/2014/main" id="{8158BDB2-09B0-6978-3290-37E0EFF48D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17" y="1855"/>
                    <a:ext cx="621" cy="584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2" name="Line 9">
                    <a:extLst>
                      <a:ext uri="{FF2B5EF4-FFF2-40B4-BE49-F238E27FC236}">
                        <a16:creationId xmlns:a16="http://schemas.microsoft.com/office/drawing/2014/main" id="{B0D753F8-940F-7056-1FE2-60E337161B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17" y="2293"/>
                    <a:ext cx="986" cy="146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3" name="Line 10">
                    <a:extLst>
                      <a:ext uri="{FF2B5EF4-FFF2-40B4-BE49-F238E27FC236}">
                        <a16:creationId xmlns:a16="http://schemas.microsoft.com/office/drawing/2014/main" id="{B428E49D-CF65-640A-0922-6E2CB7B679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638" y="1855"/>
                    <a:ext cx="365" cy="438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4" name="Line 11">
                    <a:extLst>
                      <a:ext uri="{FF2B5EF4-FFF2-40B4-BE49-F238E27FC236}">
                        <a16:creationId xmlns:a16="http://schemas.microsoft.com/office/drawing/2014/main" id="{354D9055-A3F7-DA43-A4CA-DC0A3F2260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38" y="1860"/>
                    <a:ext cx="0" cy="13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5" name="Line 12">
                    <a:extLst>
                      <a:ext uri="{FF2B5EF4-FFF2-40B4-BE49-F238E27FC236}">
                        <a16:creationId xmlns:a16="http://schemas.microsoft.com/office/drawing/2014/main" id="{C0C97A3E-FA41-D486-1C1B-85910162BA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38" y="2713"/>
                    <a:ext cx="365" cy="515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6" name="Line 13">
                    <a:extLst>
                      <a:ext uri="{FF2B5EF4-FFF2-40B4-BE49-F238E27FC236}">
                        <a16:creationId xmlns:a16="http://schemas.microsoft.com/office/drawing/2014/main" id="{16129FB7-BEC4-F988-5FC4-C842E5F8FB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17" y="2722"/>
                    <a:ext cx="981" cy="296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7" name="Line 14">
                    <a:extLst>
                      <a:ext uri="{FF2B5EF4-FFF2-40B4-BE49-F238E27FC236}">
                        <a16:creationId xmlns:a16="http://schemas.microsoft.com/office/drawing/2014/main" id="{B3ED139E-514F-80E3-985B-31D879A2AC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7" y="3018"/>
                    <a:ext cx="621" cy="205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" name="Line 15">
                    <a:extLst>
                      <a:ext uri="{FF2B5EF4-FFF2-40B4-BE49-F238E27FC236}">
                        <a16:creationId xmlns:a16="http://schemas.microsoft.com/office/drawing/2014/main" id="{A5829207-6F13-E926-5414-95D5670E26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26" y="2430"/>
                    <a:ext cx="0" cy="58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9" name="Line 16">
                    <a:extLst>
                      <a:ext uri="{FF2B5EF4-FFF2-40B4-BE49-F238E27FC236}">
                        <a16:creationId xmlns:a16="http://schemas.microsoft.com/office/drawing/2014/main" id="{1CA2F9AC-5AAA-DCAE-F81A-62AC397E8A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998" y="2284"/>
                    <a:ext cx="0" cy="45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22" name="Line 20">
                  <a:extLst>
                    <a:ext uri="{FF2B5EF4-FFF2-40B4-BE49-F238E27FC236}">
                      <a16:creationId xmlns:a16="http://schemas.microsoft.com/office/drawing/2014/main" id="{5418C1E9-073D-52AA-927F-E2E9CFC189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7" y="1663"/>
                  <a:ext cx="0" cy="82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23" name="Text Box 28">
                  <a:extLst>
                    <a:ext uri="{FF2B5EF4-FFF2-40B4-BE49-F238E27FC236}">
                      <a16:creationId xmlns:a16="http://schemas.microsoft.com/office/drawing/2014/main" id="{DEC4DEC6-4180-30C3-AA48-33D9C5C92C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24" y="1483"/>
                  <a:ext cx="23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k</a:t>
                  </a: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'</a:t>
                  </a:r>
                  <a:endParaRPr lang="en-US" altLang="zh-CN" b="1" kern="0" dirty="0">
                    <a:solidFill>
                      <a:sysClr val="windowText" lastClr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4" name="Text Box 29">
                  <a:extLst>
                    <a:ext uri="{FF2B5EF4-FFF2-40B4-BE49-F238E27FC236}">
                      <a16:creationId xmlns:a16="http://schemas.microsoft.com/office/drawing/2014/main" id="{0F03EE69-6253-28DB-CAA4-D5A531B258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80" y="2306"/>
                  <a:ext cx="2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k</a:t>
                  </a:r>
                  <a:endParaRPr lang="en-US" altLang="zh-CN" b="1" kern="0">
                    <a:solidFill>
                      <a:sysClr val="windowText" lastClr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49" charset="-122"/>
                  </a:endParaRPr>
                </a:p>
              </p:txBody>
            </p:sp>
            <p:sp>
              <p:nvSpPr>
                <p:cNvPr id="25" name="Text Box 30">
                  <a:extLst>
                    <a:ext uri="{FF2B5EF4-FFF2-40B4-BE49-F238E27FC236}">
                      <a16:creationId xmlns:a16="http://schemas.microsoft.com/office/drawing/2014/main" id="{21442D9F-5E67-F744-5CB9-7367A6DF1B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06" y="1819"/>
                  <a:ext cx="23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a</a:t>
                  </a: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'</a:t>
                  </a:r>
                </a:p>
              </p:txBody>
            </p:sp>
            <p:sp>
              <p:nvSpPr>
                <p:cNvPr id="26" name="Text Box 31">
                  <a:extLst>
                    <a:ext uri="{FF2B5EF4-FFF2-40B4-BE49-F238E27FC236}">
                      <a16:creationId xmlns:a16="http://schemas.microsoft.com/office/drawing/2014/main" id="{C90285D3-7A92-226D-C3D7-38607518FA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68" y="1208"/>
                  <a:ext cx="23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b</a:t>
                  </a: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Segoe UI" panose="020B0502040204020203" pitchFamily="34" charset="0"/>
                      <a:ea typeface="黑体" panose="02010609060101010101" pitchFamily="49" charset="-122"/>
                      <a:cs typeface="Segoe UI" panose="020B0502040204020203" pitchFamily="34" charset="0"/>
                    </a:rPr>
                    <a:t>'</a:t>
                  </a:r>
                </a:p>
              </p:txBody>
            </p:sp>
            <p:sp>
              <p:nvSpPr>
                <p:cNvPr id="27" name="Text Box 32">
                  <a:extLst>
                    <a:ext uri="{FF2B5EF4-FFF2-40B4-BE49-F238E27FC236}">
                      <a16:creationId xmlns:a16="http://schemas.microsoft.com/office/drawing/2014/main" id="{0470CE80-FF3A-99F1-1AC5-A11AAF3736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88" y="1698"/>
                  <a:ext cx="23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c</a:t>
                  </a:r>
                  <a:r>
                    <a:rPr lang="en-US" altLang="zh-CN" b="1" kern="0" dirty="0">
                      <a:solidFill>
                        <a:sysClr val="windowText" lastClr="0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Segoe UI" panose="020B0502040204020203" pitchFamily="34" charset="0"/>
                      <a:cs typeface="Segoe UI" panose="020B0502040204020203" pitchFamily="34" charset="0"/>
                    </a:rPr>
                    <a:t>'</a:t>
                  </a:r>
                </a:p>
              </p:txBody>
            </p:sp>
            <p:sp>
              <p:nvSpPr>
                <p:cNvPr id="28" name="Text Box 33">
                  <a:extLst>
                    <a:ext uri="{FF2B5EF4-FFF2-40B4-BE49-F238E27FC236}">
                      <a16:creationId xmlns:a16="http://schemas.microsoft.com/office/drawing/2014/main" id="{9DEF112E-4590-A42E-88A9-ED3F5CAFC1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90" y="2470"/>
                  <a:ext cx="2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a</a:t>
                  </a:r>
                  <a:endParaRPr lang="en-US" altLang="zh-CN" b="1" kern="0">
                    <a:solidFill>
                      <a:sysClr val="windowText" lastClr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49" charset="-122"/>
                  </a:endParaRPr>
                </a:p>
              </p:txBody>
            </p:sp>
            <p:sp>
              <p:nvSpPr>
                <p:cNvPr id="29" name="Text Box 34">
                  <a:extLst>
                    <a:ext uri="{FF2B5EF4-FFF2-40B4-BE49-F238E27FC236}">
                      <a16:creationId xmlns:a16="http://schemas.microsoft.com/office/drawing/2014/main" id="{542BFE82-2EB6-14B0-2743-FE53B177A9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43" y="2746"/>
                  <a:ext cx="2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b</a:t>
                  </a:r>
                  <a:endParaRPr lang="en-US" altLang="zh-CN" b="1" kern="0">
                    <a:solidFill>
                      <a:sysClr val="windowText" lastClr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49" charset="-122"/>
                  </a:endParaRPr>
                </a:p>
              </p:txBody>
            </p:sp>
            <p:sp>
              <p:nvSpPr>
                <p:cNvPr id="30" name="Text Box 35">
                  <a:extLst>
                    <a:ext uri="{FF2B5EF4-FFF2-40B4-BE49-F238E27FC236}">
                      <a16:creationId xmlns:a16="http://schemas.microsoft.com/office/drawing/2014/main" id="{39009C2A-531F-B134-C06A-16498F7A70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43" y="2180"/>
                  <a:ext cx="2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c</a:t>
                  </a:r>
                </a:p>
              </p:txBody>
            </p:sp>
            <p:sp>
              <p:nvSpPr>
                <p:cNvPr id="31" name="Line 36">
                  <a:extLst>
                    <a:ext uri="{FF2B5EF4-FFF2-40B4-BE49-F238E27FC236}">
                      <a16:creationId xmlns:a16="http://schemas.microsoft.com/office/drawing/2014/main" id="{7A05241E-B971-6825-6EB9-1F2340F40A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1" y="1435"/>
                  <a:ext cx="756" cy="612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2" name="Line 37">
                  <a:extLst>
                    <a:ext uri="{FF2B5EF4-FFF2-40B4-BE49-F238E27FC236}">
                      <a16:creationId xmlns:a16="http://schemas.microsoft.com/office/drawing/2014/main" id="{F3BE58A3-DCEB-055D-91AF-66E9A20BEE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3" y="2677"/>
                  <a:ext cx="756" cy="174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3" name="Line 38">
                  <a:extLst>
                    <a:ext uri="{FF2B5EF4-FFF2-40B4-BE49-F238E27FC236}">
                      <a16:creationId xmlns:a16="http://schemas.microsoft.com/office/drawing/2014/main" id="{A5C24F9E-AE48-AD58-AD9F-41DF2F4015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17" y="2023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4" name="Line 39">
                  <a:extLst>
                    <a:ext uri="{FF2B5EF4-FFF2-40B4-BE49-F238E27FC236}">
                      <a16:creationId xmlns:a16="http://schemas.microsoft.com/office/drawing/2014/main" id="{90D6FD39-29F3-1CE4-88D8-C5015CB0CC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73" y="1459"/>
                  <a:ext cx="0" cy="121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5" name="Oval 27">
                  <a:extLst>
                    <a:ext uri="{FF2B5EF4-FFF2-40B4-BE49-F238E27FC236}">
                      <a16:creationId xmlns:a16="http://schemas.microsoft.com/office/drawing/2014/main" id="{9F359935-64FD-EE86-8E08-2F656C4599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0" y="2458"/>
                  <a:ext cx="57" cy="57"/>
                </a:xfrm>
                <a:prstGeom prst="ellipse">
                  <a:avLst/>
                </a:prstGeom>
                <a:solidFill>
                  <a:srgbClr val="FFFFCC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6" name="Oval 26">
                  <a:extLst>
                    <a:ext uri="{FF2B5EF4-FFF2-40B4-BE49-F238E27FC236}">
                      <a16:creationId xmlns:a16="http://schemas.microsoft.com/office/drawing/2014/main" id="{ED921EED-27D4-63B4-2221-29B4AAF622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0" y="1633"/>
                  <a:ext cx="56" cy="56"/>
                </a:xfrm>
                <a:prstGeom prst="ellipse">
                  <a:avLst/>
                </a:prstGeom>
                <a:solidFill>
                  <a:srgbClr val="FFFFCC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" name="Text Box 46">
                  <a:extLst>
                    <a:ext uri="{FF2B5EF4-FFF2-40B4-BE49-F238E27FC236}">
                      <a16:creationId xmlns:a16="http://schemas.microsoft.com/office/drawing/2014/main" id="{C5001282-FD87-4E6C-9F8F-32B679049A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19" y="1245"/>
                  <a:ext cx="23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e</a:t>
                  </a: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'</a:t>
                  </a:r>
                </a:p>
              </p:txBody>
            </p:sp>
            <p:sp>
              <p:nvSpPr>
                <p:cNvPr id="39" name="Text Box 47">
                  <a:extLst>
                    <a:ext uri="{FF2B5EF4-FFF2-40B4-BE49-F238E27FC236}">
                      <a16:creationId xmlns:a16="http://schemas.microsoft.com/office/drawing/2014/main" id="{0B684008-C7E0-CD4D-ADFF-CB0A576363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93" y="1765"/>
                  <a:ext cx="23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f</a:t>
                  </a:r>
                  <a:r>
                    <a:rPr lang="en-US" altLang="zh-CN" b="1" kern="0" dirty="0">
                      <a:solidFill>
                        <a:sysClr val="windowText" lastClr="0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'</a:t>
                  </a:r>
                  <a:endParaRPr lang="en-US" altLang="zh-CN" b="1" kern="0" dirty="0">
                    <a:solidFill>
                      <a:sysClr val="windowText" lastClr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0" name="Text Box 49">
                  <a:extLst>
                    <a:ext uri="{FF2B5EF4-FFF2-40B4-BE49-F238E27FC236}">
                      <a16:creationId xmlns:a16="http://schemas.microsoft.com/office/drawing/2014/main" id="{35493E3D-FB3D-BF3F-BE5E-B70E5AD838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86" y="2486"/>
                  <a:ext cx="2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kern="0">
                      <a:solidFill>
                        <a:sysClr val="windowText" lastClr="000000"/>
                      </a:solidFill>
                      <a:latin typeface="黑体" pitchFamily="49" charset="-122"/>
                    </a:rPr>
                    <a:t>e</a:t>
                  </a:r>
                  <a:endParaRPr lang="en-US" altLang="zh-CN" b="1" kern="0">
                    <a:solidFill>
                      <a:sysClr val="windowText" lastClr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49" charset="-122"/>
                  </a:endParaRPr>
                </a:p>
              </p:txBody>
            </p:sp>
          </p:grpSp>
        </p:grpSp>
      </p:grpSp>
      <p:sp>
        <p:nvSpPr>
          <p:cNvPr id="50" name="Line 61">
            <a:extLst>
              <a:ext uri="{FF2B5EF4-FFF2-40B4-BE49-F238E27FC236}">
                <a16:creationId xmlns:a16="http://schemas.microsoft.com/office/drawing/2014/main" id="{41FA9919-9E0E-4977-41F4-69C8C32E3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2903" y="5028505"/>
            <a:ext cx="441325" cy="88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sp>
        <p:nvSpPr>
          <p:cNvPr id="51" name="Text Box 62">
            <a:extLst>
              <a:ext uri="{FF2B5EF4-FFF2-40B4-BE49-F238E27FC236}">
                <a16:creationId xmlns:a16="http://schemas.microsoft.com/office/drawing/2014/main" id="{99291D14-B73F-139B-623C-D8D64AD5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09" y="4933255"/>
            <a:ext cx="383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000066"/>
                </a:solidFill>
                <a:latin typeface="黑体" pitchFamily="49" charset="-122"/>
              </a:rPr>
              <a:t>S</a:t>
            </a:r>
            <a:r>
              <a:rPr lang="en-US" altLang="zh-CN" sz="1600" baseline="-25000" dirty="0">
                <a:solidFill>
                  <a:srgbClr val="000066"/>
                </a:solidFill>
                <a:latin typeface="黑体" pitchFamily="49" charset="-122"/>
              </a:rPr>
              <a:t>H</a:t>
            </a:r>
            <a:endParaRPr lang="en-US" altLang="zh-CN" sz="2000" baseline="-25000" dirty="0">
              <a:solidFill>
                <a:srgbClr val="000066"/>
              </a:solidFill>
              <a:latin typeface="黑体" pitchFamily="49" charset="-122"/>
            </a:endParaRPr>
          </a:p>
        </p:txBody>
      </p:sp>
      <p:sp>
        <p:nvSpPr>
          <p:cNvPr id="52" name="Text Box 65">
            <a:extLst>
              <a:ext uri="{FF2B5EF4-FFF2-40B4-BE49-F238E27FC236}">
                <a16:creationId xmlns:a16="http://schemas.microsoft.com/office/drawing/2014/main" id="{D897E48C-AAE9-2CBE-25C9-458694888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854" y="2719399"/>
            <a:ext cx="369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800" dirty="0">
                <a:solidFill>
                  <a:srgbClr val="000000"/>
                </a:solidFill>
                <a:latin typeface="黑体" pitchFamily="49" charset="-122"/>
              </a:rPr>
              <a:t>l</a:t>
            </a:r>
            <a:r>
              <a:rPr lang="en-US" altLang="zh-CN" sz="1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</a:t>
            </a:r>
          </a:p>
        </p:txBody>
      </p:sp>
      <p:sp>
        <p:nvSpPr>
          <p:cNvPr id="53" name="Oval 69">
            <a:extLst>
              <a:ext uri="{FF2B5EF4-FFF2-40B4-BE49-F238E27FC236}">
                <a16:creationId xmlns:a16="http://schemas.microsoft.com/office/drawing/2014/main" id="{D187D956-083A-0E39-02BE-6D0251308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641" y="3093343"/>
            <a:ext cx="95250" cy="95250"/>
          </a:xfrm>
          <a:prstGeom prst="ellipse">
            <a:avLst/>
          </a:prstGeom>
          <a:solidFill>
            <a:srgbClr val="FFFFCC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itchFamily="18" charset="0"/>
            </a:endParaRPr>
          </a:p>
        </p:txBody>
      </p:sp>
      <p:grpSp>
        <p:nvGrpSpPr>
          <p:cNvPr id="54" name="Group 98">
            <a:extLst>
              <a:ext uri="{FF2B5EF4-FFF2-40B4-BE49-F238E27FC236}">
                <a16:creationId xmlns:a16="http://schemas.microsoft.com/office/drawing/2014/main" id="{9A9729A4-6AA2-05AB-99A3-86C925C2A552}"/>
              </a:ext>
            </a:extLst>
          </p:cNvPr>
          <p:cNvGrpSpPr>
            <a:grpSpLocks/>
          </p:cNvGrpSpPr>
          <p:nvPr/>
        </p:nvGrpSpPr>
        <p:grpSpPr bwMode="auto">
          <a:xfrm>
            <a:off x="2761828" y="4814193"/>
            <a:ext cx="338138" cy="476250"/>
            <a:chOff x="2816" y="2650"/>
            <a:chExt cx="213" cy="300"/>
          </a:xfrm>
        </p:grpSpPr>
        <p:sp>
          <p:nvSpPr>
            <p:cNvPr id="55" name="Text Box 66">
              <a:extLst>
                <a:ext uri="{FF2B5EF4-FFF2-40B4-BE49-F238E27FC236}">
                  <a16:creationId xmlns:a16="http://schemas.microsoft.com/office/drawing/2014/main" id="{0603B9FA-87C9-311F-C30C-BAC13A145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" y="2662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ysClr val="windowText" lastClr="000000"/>
                  </a:solidFill>
                  <a:latin typeface="黑体" pitchFamily="49" charset="-122"/>
                </a:rPr>
                <a:t>l</a:t>
              </a:r>
            </a:p>
          </p:txBody>
        </p:sp>
        <p:sp>
          <p:nvSpPr>
            <p:cNvPr id="56" name="Oval 71">
              <a:extLst>
                <a:ext uri="{FF2B5EF4-FFF2-40B4-BE49-F238E27FC236}">
                  <a16:creationId xmlns:a16="http://schemas.microsoft.com/office/drawing/2014/main" id="{8A66660B-E14D-B865-62CA-94FE8765C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7" y="2650"/>
              <a:ext cx="63" cy="60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7" name="Group 96">
            <a:extLst>
              <a:ext uri="{FF2B5EF4-FFF2-40B4-BE49-F238E27FC236}">
                <a16:creationId xmlns:a16="http://schemas.microsoft.com/office/drawing/2014/main" id="{C7F5200A-EDA4-8315-6FCB-9A7EAA0925D3}"/>
              </a:ext>
            </a:extLst>
          </p:cNvPr>
          <p:cNvGrpSpPr>
            <a:grpSpLocks/>
          </p:cNvGrpSpPr>
          <p:nvPr/>
        </p:nvGrpSpPr>
        <p:grpSpPr bwMode="auto">
          <a:xfrm>
            <a:off x="2704678" y="2679005"/>
            <a:ext cx="898525" cy="2295525"/>
            <a:chOff x="2780" y="1368"/>
            <a:chExt cx="566" cy="1446"/>
          </a:xfrm>
        </p:grpSpPr>
        <p:grpSp>
          <p:nvGrpSpPr>
            <p:cNvPr id="58" name="Group 85">
              <a:extLst>
                <a:ext uri="{FF2B5EF4-FFF2-40B4-BE49-F238E27FC236}">
                  <a16:creationId xmlns:a16="http://schemas.microsoft.com/office/drawing/2014/main" id="{EE49CCBF-3FB0-725D-1553-409EB0BC3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0" y="1771"/>
              <a:ext cx="47" cy="942"/>
              <a:chOff x="2780" y="1771"/>
              <a:chExt cx="47" cy="942"/>
            </a:xfrm>
          </p:grpSpPr>
          <p:sp>
            <p:nvSpPr>
              <p:cNvPr id="62" name="Line 40">
                <a:extLst>
                  <a:ext uri="{FF2B5EF4-FFF2-40B4-BE49-F238E27FC236}">
                    <a16:creationId xmlns:a16="http://schemas.microsoft.com/office/drawing/2014/main" id="{2585B132-8EBC-8BBE-05A3-EA22DA5AF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05" y="1771"/>
                <a:ext cx="0" cy="9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3" name="Freeform 84">
                <a:extLst>
                  <a:ext uri="{FF2B5EF4-FFF2-40B4-BE49-F238E27FC236}">
                    <a16:creationId xmlns:a16="http://schemas.microsoft.com/office/drawing/2014/main" id="{5F07B946-F4F6-8A6A-A78D-73E616946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2240"/>
                <a:ext cx="47" cy="170"/>
              </a:xfrm>
              <a:custGeom>
                <a:avLst/>
                <a:gdLst>
                  <a:gd name="T0" fmla="*/ 32 w 56"/>
                  <a:gd name="T1" fmla="*/ 0 h 288"/>
                  <a:gd name="T2" fmla="*/ 0 w 56"/>
                  <a:gd name="T3" fmla="*/ 288 h 288"/>
                  <a:gd name="T4" fmla="*/ 56 w 56"/>
                  <a:gd name="T5" fmla="*/ 284 h 288"/>
                  <a:gd name="T6" fmla="*/ 32 w 56"/>
                  <a:gd name="T7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288">
                    <a:moveTo>
                      <a:pt x="32" y="0"/>
                    </a:moveTo>
                    <a:lnTo>
                      <a:pt x="0" y="288"/>
                    </a:lnTo>
                    <a:lnTo>
                      <a:pt x="56" y="28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59" name="Group 91">
              <a:extLst>
                <a:ext uri="{FF2B5EF4-FFF2-40B4-BE49-F238E27FC236}">
                  <a16:creationId xmlns:a16="http://schemas.microsoft.com/office/drawing/2014/main" id="{2B8A351D-748A-E1E0-6EDF-5A023EB25E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9" y="1368"/>
              <a:ext cx="47" cy="1446"/>
              <a:chOff x="3299" y="1381"/>
              <a:chExt cx="47" cy="1446"/>
            </a:xfrm>
          </p:grpSpPr>
          <p:sp>
            <p:nvSpPr>
              <p:cNvPr id="60" name="Line 87">
                <a:extLst>
                  <a:ext uri="{FF2B5EF4-FFF2-40B4-BE49-F238E27FC236}">
                    <a16:creationId xmlns:a16="http://schemas.microsoft.com/office/drawing/2014/main" id="{3AA62A43-82CE-05B1-410B-8EBB24214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7" y="1381"/>
                <a:ext cx="0" cy="14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5F7CBC5D-461E-49E2-23DB-E39143E49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9" y="2243"/>
                <a:ext cx="47" cy="170"/>
              </a:xfrm>
              <a:custGeom>
                <a:avLst/>
                <a:gdLst>
                  <a:gd name="T0" fmla="*/ 32 w 56"/>
                  <a:gd name="T1" fmla="*/ 0 h 288"/>
                  <a:gd name="T2" fmla="*/ 0 w 56"/>
                  <a:gd name="T3" fmla="*/ 288 h 288"/>
                  <a:gd name="T4" fmla="*/ 56 w 56"/>
                  <a:gd name="T5" fmla="*/ 284 h 288"/>
                  <a:gd name="T6" fmla="*/ 32 w 56"/>
                  <a:gd name="T7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288">
                    <a:moveTo>
                      <a:pt x="32" y="0"/>
                    </a:moveTo>
                    <a:lnTo>
                      <a:pt x="0" y="288"/>
                    </a:lnTo>
                    <a:lnTo>
                      <a:pt x="56" y="28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64" name="Text Box 28">
            <a:extLst>
              <a:ext uri="{FF2B5EF4-FFF2-40B4-BE49-F238E27FC236}">
                <a16:creationId xmlns:a16="http://schemas.microsoft.com/office/drawing/2014/main" id="{65599B81-8982-A315-5352-D9D25F426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935" y="1917799"/>
            <a:ext cx="369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solidFill>
                  <a:sysClr val="windowText" lastClr="000000"/>
                </a:solidFill>
                <a:latin typeface="黑体" pitchFamily="49" charset="-122"/>
              </a:rPr>
              <a:t>m</a:t>
            </a:r>
            <a:r>
              <a:rPr lang="en-US" altLang="zh-CN" b="1" kern="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</a:t>
            </a:r>
            <a:endParaRPr lang="en-US" altLang="zh-CN" b="1" kern="0" dirty="0">
              <a:solidFill>
                <a:sysClr val="windowText" lastClr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 Box 28">
            <a:extLst>
              <a:ext uri="{FF2B5EF4-FFF2-40B4-BE49-F238E27FC236}">
                <a16:creationId xmlns:a16="http://schemas.microsoft.com/office/drawing/2014/main" id="{07040668-DEED-548D-9798-355805998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9677" y="5451752"/>
            <a:ext cx="3016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solidFill>
                  <a:sysClr val="windowText" lastClr="000000"/>
                </a:solidFill>
                <a:latin typeface="黑体" pitchFamily="49" charset="-122"/>
              </a:rPr>
              <a:t>m</a:t>
            </a:r>
            <a:endParaRPr lang="en-US" altLang="zh-CN" b="1" kern="0" dirty="0">
              <a:solidFill>
                <a:sysClr val="windowText" lastClr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Text Box 28">
            <a:extLst>
              <a:ext uri="{FF2B5EF4-FFF2-40B4-BE49-F238E27FC236}">
                <a16:creationId xmlns:a16="http://schemas.microsoft.com/office/drawing/2014/main" id="{A7CF336D-EA2E-A583-184C-13847BB2F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725" y="5018815"/>
            <a:ext cx="3016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solidFill>
                  <a:sysClr val="windowText" lastClr="000000"/>
                </a:solidFill>
                <a:latin typeface="黑体" pitchFamily="49" charset="-122"/>
              </a:rPr>
              <a:t>n</a:t>
            </a:r>
            <a:endParaRPr lang="en-US" altLang="zh-CN" b="1" kern="0" dirty="0">
              <a:solidFill>
                <a:sysClr val="windowText" lastClr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 Box 28">
            <a:extLst>
              <a:ext uri="{FF2B5EF4-FFF2-40B4-BE49-F238E27FC236}">
                <a16:creationId xmlns:a16="http://schemas.microsoft.com/office/drawing/2014/main" id="{2C00376B-4772-2C87-3ADC-359EDC029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2033" y="3067934"/>
            <a:ext cx="369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solidFill>
                  <a:sysClr val="windowText" lastClr="000000"/>
                </a:solidFill>
                <a:latin typeface="黑体" pitchFamily="49" charset="-122"/>
              </a:rPr>
              <a:t>n</a:t>
            </a:r>
            <a:r>
              <a:rPr lang="en-US" altLang="zh-CN" b="1" kern="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</a:t>
            </a:r>
            <a:endParaRPr lang="en-US" altLang="zh-CN" b="1" kern="0" dirty="0">
              <a:solidFill>
                <a:sysClr val="windowText" lastClr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93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 autoUpdateAnimBg="0" advAuto="0"/>
      <p:bldP spid="52" grpId="0" build="p" autoUpdateAnimBg="0" advAuto="0"/>
      <p:bldP spid="53" grpId="0" animBg="1"/>
      <p:bldP spid="64" grpId="0"/>
      <p:bldP spid="65" grpId="0"/>
      <p:bldP spid="66" grpId="0"/>
      <p:bldP spid="6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EE48-54C6-6D28-A325-A2D3B8F1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矩形 161">
            <a:extLst>
              <a:ext uri="{FF2B5EF4-FFF2-40B4-BE49-F238E27FC236}">
                <a16:creationId xmlns:a16="http://schemas.microsoft.com/office/drawing/2014/main" id="{4F788D1C-9AC0-2910-D48D-9EB2653EB721}"/>
              </a:ext>
            </a:extLst>
          </p:cNvPr>
          <p:cNvSpPr/>
          <p:nvPr/>
        </p:nvSpPr>
        <p:spPr>
          <a:xfrm>
            <a:off x="5568517" y="0"/>
            <a:ext cx="3611995" cy="2879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6B5C044-F0B9-6795-0505-D90024F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F567BFE-5257-9B98-E91F-EEFB5EBF9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综合问题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F59B2BAF-75CD-E48D-470F-C0286E8B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265580"/>
            <a:ext cx="5400837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作与平面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的点的轨迹。</a:t>
            </a:r>
          </a:p>
        </p:txBody>
      </p:sp>
      <p:sp>
        <p:nvSpPr>
          <p:cNvPr id="84" name="Line 6">
            <a:extLst>
              <a:ext uri="{FF2B5EF4-FFF2-40B4-BE49-F238E27FC236}">
                <a16:creationId xmlns:a16="http://schemas.microsoft.com/office/drawing/2014/main" id="{72550B18-C0C3-7DDF-8C7B-A67414B45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5000" y="4727724"/>
            <a:ext cx="2590800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Line 7">
            <a:extLst>
              <a:ext uri="{FF2B5EF4-FFF2-40B4-BE49-F238E27FC236}">
                <a16:creationId xmlns:a16="http://schemas.microsoft.com/office/drawing/2014/main" id="{5A4027D8-F3EE-00A7-B918-6C1110DA1C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5800" y="3706961"/>
            <a:ext cx="0" cy="99060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Line 8">
            <a:extLst>
              <a:ext uri="{FF2B5EF4-FFF2-40B4-BE49-F238E27FC236}">
                <a16:creationId xmlns:a16="http://schemas.microsoft.com/office/drawing/2014/main" id="{5B30893F-A062-60EA-A187-EE039AEAEA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32200" y="2640161"/>
            <a:ext cx="2743200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Line 9">
            <a:extLst>
              <a:ext uri="{FF2B5EF4-FFF2-40B4-BE49-F238E27FC236}">
                <a16:creationId xmlns:a16="http://schemas.microsoft.com/office/drawing/2014/main" id="{484D4D7A-A0EE-B010-E9F3-E7C6512D24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5800" y="2976711"/>
            <a:ext cx="0" cy="80645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Line 10">
            <a:extLst>
              <a:ext uri="{FF2B5EF4-FFF2-40B4-BE49-F238E27FC236}">
                <a16:creationId xmlns:a16="http://schemas.microsoft.com/office/drawing/2014/main" id="{D5835894-AFE1-E002-B9B5-368741698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2300" y="2043261"/>
            <a:ext cx="2590800" cy="93345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Line 11">
            <a:extLst>
              <a:ext uri="{FF2B5EF4-FFF2-40B4-BE49-F238E27FC236}">
                <a16:creationId xmlns:a16="http://schemas.microsoft.com/office/drawing/2014/main" id="{3D54E361-58E7-8DE8-3C22-A5C3C8A09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2200" y="2640161"/>
            <a:ext cx="0" cy="114300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Line 12">
            <a:extLst>
              <a:ext uri="{FF2B5EF4-FFF2-40B4-BE49-F238E27FC236}">
                <a16:creationId xmlns:a16="http://schemas.microsoft.com/office/drawing/2014/main" id="{5DE64B57-A912-5FFB-C858-A9E7C58E5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2200" y="3754586"/>
            <a:ext cx="0" cy="160020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1" name="Group 13">
            <a:extLst>
              <a:ext uri="{FF2B5EF4-FFF2-40B4-BE49-F238E27FC236}">
                <a16:creationId xmlns:a16="http://schemas.microsoft.com/office/drawing/2014/main" id="{2D4AD495-AB0B-9124-E841-68DB43853AA6}"/>
              </a:ext>
            </a:extLst>
          </p:cNvPr>
          <p:cNvGrpSpPr>
            <a:grpSpLocks/>
          </p:cNvGrpSpPr>
          <p:nvPr/>
        </p:nvGrpSpPr>
        <p:grpSpPr bwMode="auto">
          <a:xfrm>
            <a:off x="2982888" y="1668611"/>
            <a:ext cx="3697287" cy="5148263"/>
            <a:chOff x="809" y="1020"/>
            <a:chExt cx="2329" cy="3243"/>
          </a:xfrm>
        </p:grpSpPr>
        <p:sp>
          <p:nvSpPr>
            <p:cNvPr id="92" name="Line 14">
              <a:extLst>
                <a:ext uri="{FF2B5EF4-FFF2-40B4-BE49-F238E27FC236}">
                  <a16:creationId xmlns:a16="http://schemas.microsoft.com/office/drawing/2014/main" id="{1021F926-E252-57E0-77E9-D262F68A9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248"/>
              <a:ext cx="0" cy="168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15">
              <a:extLst>
                <a:ext uri="{FF2B5EF4-FFF2-40B4-BE49-F238E27FC236}">
                  <a16:creationId xmlns:a16="http://schemas.microsoft.com/office/drawing/2014/main" id="{7CD03085-386B-5722-DB6A-DE4068DD1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304"/>
              <a:ext cx="0" cy="177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A9F33465-178A-86C1-7235-39EDC49ED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632"/>
              <a:ext cx="0" cy="76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17">
              <a:extLst>
                <a:ext uri="{FF2B5EF4-FFF2-40B4-BE49-F238E27FC236}">
                  <a16:creationId xmlns:a16="http://schemas.microsoft.com/office/drawing/2014/main" id="{279037EC-1A0C-36F6-EF54-8855A0145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248"/>
              <a:ext cx="2016" cy="384"/>
            </a:xfrm>
            <a:prstGeom prst="line">
              <a:avLst/>
            </a:prstGeom>
            <a:noFill/>
            <a:ln w="50800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18">
              <a:extLst>
                <a:ext uri="{FF2B5EF4-FFF2-40B4-BE49-F238E27FC236}">
                  <a16:creationId xmlns:a16="http://schemas.microsoft.com/office/drawing/2014/main" id="{C73C996E-2777-6084-32D6-EF3B4A551D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632"/>
              <a:ext cx="1200" cy="672"/>
            </a:xfrm>
            <a:prstGeom prst="line">
              <a:avLst/>
            </a:prstGeom>
            <a:noFill/>
            <a:ln w="50800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19">
              <a:extLst>
                <a:ext uri="{FF2B5EF4-FFF2-40B4-BE49-F238E27FC236}">
                  <a16:creationId xmlns:a16="http://schemas.microsoft.com/office/drawing/2014/main" id="{41358664-B6B8-EDEE-5B51-34BB2883A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56" y="1248"/>
              <a:ext cx="816" cy="1056"/>
            </a:xfrm>
            <a:prstGeom prst="line">
              <a:avLst/>
            </a:prstGeom>
            <a:noFill/>
            <a:ln w="50800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Line 20">
              <a:extLst>
                <a:ext uri="{FF2B5EF4-FFF2-40B4-BE49-F238E27FC236}">
                  <a16:creationId xmlns:a16="http://schemas.microsoft.com/office/drawing/2014/main" id="{2C20F569-FADA-D864-196C-B0BA645E7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400"/>
              <a:ext cx="2016" cy="528"/>
            </a:xfrm>
            <a:prstGeom prst="line">
              <a:avLst/>
            </a:prstGeom>
            <a:noFill/>
            <a:ln w="50800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Line 21">
              <a:extLst>
                <a:ext uri="{FF2B5EF4-FFF2-40B4-BE49-F238E27FC236}">
                  <a16:creationId xmlns:a16="http://schemas.microsoft.com/office/drawing/2014/main" id="{F7A2B728-D81E-1835-5D41-C0388DF6E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928"/>
              <a:ext cx="816" cy="1152"/>
            </a:xfrm>
            <a:prstGeom prst="line">
              <a:avLst/>
            </a:prstGeom>
            <a:noFill/>
            <a:ln w="50800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22">
              <a:extLst>
                <a:ext uri="{FF2B5EF4-FFF2-40B4-BE49-F238E27FC236}">
                  <a16:creationId xmlns:a16="http://schemas.microsoft.com/office/drawing/2014/main" id="{4F9D46EA-7F11-A1AC-2D26-B7AD43EE8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2400"/>
              <a:ext cx="1200" cy="1680"/>
            </a:xfrm>
            <a:prstGeom prst="line">
              <a:avLst/>
            </a:prstGeom>
            <a:noFill/>
            <a:ln w="50800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Text Box 23">
              <a:extLst>
                <a:ext uri="{FF2B5EF4-FFF2-40B4-BE49-F238E27FC236}">
                  <a16:creationId xmlns:a16="http://schemas.microsoft.com/office/drawing/2014/main" id="{1AE7497C-88CE-B991-86C8-FC3177A4B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020"/>
              <a:ext cx="2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a’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SOCPEUR" pitchFamily="34" charset="0"/>
                <a:ea typeface="宋体" pitchFamily="2" charset="-122"/>
              </a:endParaRPr>
            </a:p>
          </p:txBody>
        </p:sp>
        <p:sp>
          <p:nvSpPr>
            <p:cNvPr id="102" name="Text Box 24">
              <a:extLst>
                <a:ext uri="{FF2B5EF4-FFF2-40B4-BE49-F238E27FC236}">
                  <a16:creationId xmlns:a16="http://schemas.microsoft.com/office/drawing/2014/main" id="{C8666CE7-FD08-E116-5AD8-7DC2E947D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" y="1356"/>
              <a:ext cx="3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b’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SOCPEUR" pitchFamily="34" charset="0"/>
                <a:ea typeface="宋体" pitchFamily="2" charset="-122"/>
              </a:endParaRPr>
            </a:p>
          </p:txBody>
        </p:sp>
        <p:sp>
          <p:nvSpPr>
            <p:cNvPr id="103" name="Text Box 25">
              <a:extLst>
                <a:ext uri="{FF2B5EF4-FFF2-40B4-BE49-F238E27FC236}">
                  <a16:creationId xmlns:a16="http://schemas.microsoft.com/office/drawing/2014/main" id="{7FFAB3AA-0554-8C7A-1B56-FAADAD994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5" y="2254"/>
              <a:ext cx="3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c’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SOCPEUR" pitchFamily="34" charset="0"/>
                <a:ea typeface="宋体" pitchFamily="2" charset="-122"/>
              </a:endParaRPr>
            </a:p>
          </p:txBody>
        </p:sp>
        <p:sp>
          <p:nvSpPr>
            <p:cNvPr id="104" name="Text Box 26">
              <a:extLst>
                <a:ext uri="{FF2B5EF4-FFF2-40B4-BE49-F238E27FC236}">
                  <a16:creationId xmlns:a16="http://schemas.microsoft.com/office/drawing/2014/main" id="{6D08EFFA-6487-8D6D-6580-B799F8984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" y="2826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105" name="Text Box 27">
              <a:extLst>
                <a:ext uri="{FF2B5EF4-FFF2-40B4-BE49-F238E27FC236}">
                  <a16:creationId xmlns:a16="http://schemas.microsoft.com/office/drawing/2014/main" id="{EF5BDFD2-5D94-8CEF-2D4B-18DB6748C1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0" y="2176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06" name="Text Box 28">
              <a:extLst>
                <a:ext uri="{FF2B5EF4-FFF2-40B4-BE49-F238E27FC236}">
                  <a16:creationId xmlns:a16="http://schemas.microsoft.com/office/drawing/2014/main" id="{47AE2A35-2C6F-8099-7CB0-2F37BED37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8" y="3975"/>
              <a:ext cx="3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c</a:t>
              </a:r>
            </a:p>
          </p:txBody>
        </p:sp>
      </p:grpSp>
      <p:sp>
        <p:nvSpPr>
          <p:cNvPr id="107" name="Line 29">
            <a:extLst>
              <a:ext uri="{FF2B5EF4-FFF2-40B4-BE49-F238E27FC236}">
                <a16:creationId xmlns:a16="http://schemas.microsoft.com/office/drawing/2014/main" id="{AE6D678C-3432-D231-1B49-2832AF5637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2200" y="3868886"/>
            <a:ext cx="2733675" cy="146685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" name="Line 30">
            <a:extLst>
              <a:ext uri="{FF2B5EF4-FFF2-40B4-BE49-F238E27FC236}">
                <a16:creationId xmlns:a16="http://schemas.microsoft.com/office/drawing/2014/main" id="{6EEA67D5-632A-6323-A1D6-6F9ED3FBB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5325" y="2989411"/>
            <a:ext cx="419100" cy="15240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" name="Line 31">
            <a:extLst>
              <a:ext uri="{FF2B5EF4-FFF2-40B4-BE49-F238E27FC236}">
                <a16:creationId xmlns:a16="http://schemas.microsoft.com/office/drawing/2014/main" id="{ED406625-C318-C8F6-BD84-A35938EF0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5400" y="3872061"/>
            <a:ext cx="749300" cy="151130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" name="Line 32">
            <a:extLst>
              <a:ext uri="{FF2B5EF4-FFF2-40B4-BE49-F238E27FC236}">
                <a16:creationId xmlns:a16="http://schemas.microsoft.com/office/drawing/2014/main" id="{7B8F3037-26E7-E57E-C36F-C61346A153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5875" y="389086"/>
            <a:ext cx="758825" cy="2249488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1" name="Group 33">
            <a:extLst>
              <a:ext uri="{FF2B5EF4-FFF2-40B4-BE49-F238E27FC236}">
                <a16:creationId xmlns:a16="http://schemas.microsoft.com/office/drawing/2014/main" id="{41682E1B-D894-61B3-FB1F-95D416FEEF0F}"/>
              </a:ext>
            </a:extLst>
          </p:cNvPr>
          <p:cNvGrpSpPr>
            <a:grpSpLocks/>
          </p:cNvGrpSpPr>
          <p:nvPr/>
        </p:nvGrpSpPr>
        <p:grpSpPr bwMode="auto">
          <a:xfrm>
            <a:off x="6351563" y="3697436"/>
            <a:ext cx="319087" cy="457200"/>
            <a:chOff x="2931" y="2298"/>
            <a:chExt cx="201" cy="288"/>
          </a:xfrm>
        </p:grpSpPr>
        <p:sp>
          <p:nvSpPr>
            <p:cNvPr id="112" name="Arc 34">
              <a:extLst>
                <a:ext uri="{FF2B5EF4-FFF2-40B4-BE49-F238E27FC236}">
                  <a16:creationId xmlns:a16="http://schemas.microsoft.com/office/drawing/2014/main" id="{051EF36B-57EF-5F00-27EF-E7FE315C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430"/>
              <a:ext cx="201" cy="132"/>
            </a:xfrm>
            <a:custGeom>
              <a:avLst/>
              <a:gdLst>
                <a:gd name="T0" fmla="*/ 0 w 34135"/>
                <a:gd name="T1" fmla="*/ 0 h 21600"/>
                <a:gd name="T2" fmla="*/ 0 w 34135"/>
                <a:gd name="T3" fmla="*/ 0 h 21600"/>
                <a:gd name="T4" fmla="*/ 0 w 34135"/>
                <a:gd name="T5" fmla="*/ 0 h 21600"/>
                <a:gd name="T6" fmla="*/ 0 60000 65536"/>
                <a:gd name="T7" fmla="*/ 0 60000 65536"/>
                <a:gd name="T8" fmla="*/ 0 60000 65536"/>
                <a:gd name="T9" fmla="*/ 0 w 34135"/>
                <a:gd name="T10" fmla="*/ 0 h 21600"/>
                <a:gd name="T11" fmla="*/ 34135 w 341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135" h="21600" fill="none" extrusionOk="0">
                  <a:moveTo>
                    <a:pt x="34134" y="16712"/>
                  </a:moveTo>
                  <a:cubicBezTo>
                    <a:pt x="30274" y="19873"/>
                    <a:pt x="25439" y="21599"/>
                    <a:pt x="20451" y="21600"/>
                  </a:cubicBezTo>
                  <a:cubicBezTo>
                    <a:pt x="11200" y="21600"/>
                    <a:pt x="2976" y="15709"/>
                    <a:pt x="-1" y="6950"/>
                  </a:cubicBezTo>
                </a:path>
                <a:path w="34135" h="21600" stroke="0" extrusionOk="0">
                  <a:moveTo>
                    <a:pt x="34134" y="16712"/>
                  </a:moveTo>
                  <a:cubicBezTo>
                    <a:pt x="30274" y="19873"/>
                    <a:pt x="25439" y="21599"/>
                    <a:pt x="20451" y="21600"/>
                  </a:cubicBezTo>
                  <a:cubicBezTo>
                    <a:pt x="11200" y="21600"/>
                    <a:pt x="2976" y="15709"/>
                    <a:pt x="-1" y="6950"/>
                  </a:cubicBezTo>
                  <a:lnTo>
                    <a:pt x="20451" y="0"/>
                  </a:lnTo>
                  <a:lnTo>
                    <a:pt x="34134" y="16712"/>
                  </a:lnTo>
                  <a:close/>
                </a:path>
              </a:pathLst>
            </a:custGeom>
            <a:noFill/>
            <a:ln w="9525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Text Box 35">
              <a:extLst>
                <a:ext uri="{FF2B5EF4-FFF2-40B4-BE49-F238E27FC236}">
                  <a16:creationId xmlns:a16="http://schemas.microsoft.com/office/drawing/2014/main" id="{DEA12D6B-C1CC-04F6-EBD7-6DDCB8373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6" y="2298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.</a:t>
              </a:r>
            </a:p>
          </p:txBody>
        </p:sp>
      </p:grpSp>
      <p:grpSp>
        <p:nvGrpSpPr>
          <p:cNvPr id="114" name="Group 36">
            <a:extLst>
              <a:ext uri="{FF2B5EF4-FFF2-40B4-BE49-F238E27FC236}">
                <a16:creationId xmlns:a16="http://schemas.microsoft.com/office/drawing/2014/main" id="{8C865493-9035-A3F5-9450-0B10E0A118AA}"/>
              </a:ext>
            </a:extLst>
          </p:cNvPr>
          <p:cNvGrpSpPr>
            <a:grpSpLocks/>
          </p:cNvGrpSpPr>
          <p:nvPr/>
        </p:nvGrpSpPr>
        <p:grpSpPr bwMode="auto">
          <a:xfrm>
            <a:off x="6207100" y="2710011"/>
            <a:ext cx="287338" cy="457200"/>
            <a:chOff x="2823" y="1686"/>
            <a:chExt cx="181" cy="288"/>
          </a:xfrm>
        </p:grpSpPr>
        <p:sp>
          <p:nvSpPr>
            <p:cNvPr id="115" name="Arc 37">
              <a:extLst>
                <a:ext uri="{FF2B5EF4-FFF2-40B4-BE49-F238E27FC236}">
                  <a16:creationId xmlns:a16="http://schemas.microsoft.com/office/drawing/2014/main" id="{A282C386-4358-E3B5-E827-26DA8B426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1815"/>
              <a:ext cx="163" cy="132"/>
            </a:xfrm>
            <a:custGeom>
              <a:avLst/>
              <a:gdLst>
                <a:gd name="T0" fmla="*/ 0 w 27724"/>
                <a:gd name="T1" fmla="*/ 0 h 21600"/>
                <a:gd name="T2" fmla="*/ 0 w 27724"/>
                <a:gd name="T3" fmla="*/ 0 h 21600"/>
                <a:gd name="T4" fmla="*/ 0 w 27724"/>
                <a:gd name="T5" fmla="*/ 0 h 21600"/>
                <a:gd name="T6" fmla="*/ 0 60000 65536"/>
                <a:gd name="T7" fmla="*/ 0 60000 65536"/>
                <a:gd name="T8" fmla="*/ 0 60000 65536"/>
                <a:gd name="T9" fmla="*/ 0 w 27724"/>
                <a:gd name="T10" fmla="*/ 0 h 21600"/>
                <a:gd name="T11" fmla="*/ 27724 w 2772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724" h="21600" fill="none" extrusionOk="0">
                  <a:moveTo>
                    <a:pt x="0" y="16130"/>
                  </a:moveTo>
                  <a:cubicBezTo>
                    <a:pt x="2487" y="6627"/>
                    <a:pt x="11073" y="-1"/>
                    <a:pt x="20896" y="0"/>
                  </a:cubicBezTo>
                  <a:cubicBezTo>
                    <a:pt x="23216" y="0"/>
                    <a:pt x="25522" y="374"/>
                    <a:pt x="27724" y="1107"/>
                  </a:cubicBezTo>
                </a:path>
                <a:path w="27724" h="21600" stroke="0" extrusionOk="0">
                  <a:moveTo>
                    <a:pt x="0" y="16130"/>
                  </a:moveTo>
                  <a:cubicBezTo>
                    <a:pt x="2487" y="6627"/>
                    <a:pt x="11073" y="-1"/>
                    <a:pt x="20896" y="0"/>
                  </a:cubicBezTo>
                  <a:cubicBezTo>
                    <a:pt x="23216" y="0"/>
                    <a:pt x="25522" y="374"/>
                    <a:pt x="27724" y="1107"/>
                  </a:cubicBezTo>
                  <a:lnTo>
                    <a:pt x="20896" y="21600"/>
                  </a:lnTo>
                  <a:lnTo>
                    <a:pt x="0" y="16130"/>
                  </a:lnTo>
                  <a:close/>
                </a:path>
              </a:pathLst>
            </a:custGeom>
            <a:noFill/>
            <a:ln w="9525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Text Box 38">
              <a:extLst>
                <a:ext uri="{FF2B5EF4-FFF2-40B4-BE49-F238E27FC236}">
                  <a16:creationId xmlns:a16="http://schemas.microsoft.com/office/drawing/2014/main" id="{45BFA316-FA6E-D915-D46E-43DF31F67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0" y="1686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.</a:t>
              </a:r>
            </a:p>
          </p:txBody>
        </p:sp>
      </p:grpSp>
      <p:sp>
        <p:nvSpPr>
          <p:cNvPr id="117" name="Line 39">
            <a:extLst>
              <a:ext uri="{FF2B5EF4-FFF2-40B4-BE49-F238E27FC236}">
                <a16:creationId xmlns:a16="http://schemas.microsoft.com/office/drawing/2014/main" id="{B4E69393-C098-3170-0BB0-6B7309D64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5400" y="2640161"/>
            <a:ext cx="2449513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8" name="Line 40">
            <a:extLst>
              <a:ext uri="{FF2B5EF4-FFF2-40B4-BE49-F238E27FC236}">
                <a16:creationId xmlns:a16="http://schemas.microsoft.com/office/drawing/2014/main" id="{36E856F0-C1C3-3F34-BBD7-B9CDF82631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4700" y="393848"/>
            <a:ext cx="0" cy="496800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9" name="Group 41">
            <a:extLst>
              <a:ext uri="{FF2B5EF4-FFF2-40B4-BE49-F238E27FC236}">
                <a16:creationId xmlns:a16="http://schemas.microsoft.com/office/drawing/2014/main" id="{056F1DCF-EF04-FCBA-D469-E877E8783BA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70725" y="2240111"/>
            <a:ext cx="266700" cy="457200"/>
            <a:chOff x="3408" y="1372"/>
            <a:chExt cx="168" cy="288"/>
          </a:xfrm>
        </p:grpSpPr>
        <p:sp>
          <p:nvSpPr>
            <p:cNvPr id="120" name="Arc 42">
              <a:extLst>
                <a:ext uri="{FF2B5EF4-FFF2-40B4-BE49-F238E27FC236}">
                  <a16:creationId xmlns:a16="http://schemas.microsoft.com/office/drawing/2014/main" id="{B5B2721B-9368-4090-DFA7-11D36A5DB2C8}"/>
                </a:ext>
              </a:extLst>
            </p:cNvPr>
            <p:cNvSpPr>
              <a:spLocks/>
            </p:cNvSpPr>
            <p:nvPr/>
          </p:nvSpPr>
          <p:spPr bwMode="auto">
            <a:xfrm rot="46082">
              <a:off x="3408" y="1486"/>
              <a:ext cx="130" cy="138"/>
            </a:xfrm>
            <a:custGeom>
              <a:avLst/>
              <a:gdLst>
                <a:gd name="T0" fmla="*/ 0 w 22129"/>
                <a:gd name="T1" fmla="*/ 0 h 22548"/>
                <a:gd name="T2" fmla="*/ 0 w 22129"/>
                <a:gd name="T3" fmla="*/ 0 h 22548"/>
                <a:gd name="T4" fmla="*/ 0 w 22129"/>
                <a:gd name="T5" fmla="*/ 0 h 22548"/>
                <a:gd name="T6" fmla="*/ 0 60000 65536"/>
                <a:gd name="T7" fmla="*/ 0 60000 65536"/>
                <a:gd name="T8" fmla="*/ 0 60000 65536"/>
                <a:gd name="T9" fmla="*/ 0 w 22129"/>
                <a:gd name="T10" fmla="*/ 0 h 22548"/>
                <a:gd name="T11" fmla="*/ 22129 w 22129"/>
                <a:gd name="T12" fmla="*/ 22548 h 225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29" h="22548" fill="none" extrusionOk="0">
                  <a:moveTo>
                    <a:pt x="20" y="22548"/>
                  </a:moveTo>
                  <a:cubicBezTo>
                    <a:pt x="6" y="22232"/>
                    <a:pt x="0" y="2191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6" y="-1"/>
                    <a:pt x="21952" y="2"/>
                    <a:pt x="22128" y="6"/>
                  </a:cubicBezTo>
                </a:path>
                <a:path w="22129" h="22548" stroke="0" extrusionOk="0">
                  <a:moveTo>
                    <a:pt x="20" y="22548"/>
                  </a:moveTo>
                  <a:cubicBezTo>
                    <a:pt x="6" y="22232"/>
                    <a:pt x="0" y="2191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6" y="-1"/>
                    <a:pt x="21952" y="2"/>
                    <a:pt x="22128" y="6"/>
                  </a:cubicBezTo>
                  <a:lnTo>
                    <a:pt x="21600" y="21600"/>
                  </a:lnTo>
                  <a:lnTo>
                    <a:pt x="20" y="22548"/>
                  </a:lnTo>
                  <a:close/>
                </a:path>
              </a:pathLst>
            </a:custGeom>
            <a:noFill/>
            <a:ln w="9525">
              <a:solidFill>
                <a:sysClr val="windowText" lastClr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1" name="Text Box 43">
              <a:extLst>
                <a:ext uri="{FF2B5EF4-FFF2-40B4-BE49-F238E27FC236}">
                  <a16:creationId xmlns:a16="http://schemas.microsoft.com/office/drawing/2014/main" id="{D6DC6167-53E3-B74C-74DD-C085DEF62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32758">
              <a:off x="3412" y="1372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ISOCPEUR" pitchFamily="34" charset="0"/>
                  <a:ea typeface="宋体" pitchFamily="2" charset="-122"/>
                </a:rPr>
                <a:t>.</a:t>
              </a:r>
            </a:p>
          </p:txBody>
        </p:sp>
      </p:grpSp>
      <p:sp>
        <p:nvSpPr>
          <p:cNvPr id="122" name="Line 44">
            <a:extLst>
              <a:ext uri="{FF2B5EF4-FFF2-40B4-BE49-F238E27FC236}">
                <a16:creationId xmlns:a16="http://schemas.microsoft.com/office/drawing/2014/main" id="{BD9FB9C4-A5A5-5DBC-7480-0666ADB47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425" y="4916636"/>
            <a:ext cx="247650" cy="104775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" name="Line 45">
            <a:extLst>
              <a:ext uri="{FF2B5EF4-FFF2-40B4-BE49-F238E27FC236}">
                <a16:creationId xmlns:a16="http://schemas.microsoft.com/office/drawing/2014/main" id="{DB34AEBE-C988-4C47-C5FC-7518D0B2268C}"/>
              </a:ext>
            </a:extLst>
          </p:cNvPr>
          <p:cNvSpPr>
            <a:spLocks noChangeShapeType="1"/>
          </p:cNvSpPr>
          <p:nvPr/>
        </p:nvSpPr>
        <p:spPr bwMode="auto">
          <a:xfrm rot="19279507" flipH="1">
            <a:off x="7802538" y="2608411"/>
            <a:ext cx="247650" cy="104775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" name="Line 46">
            <a:extLst>
              <a:ext uri="{FF2B5EF4-FFF2-40B4-BE49-F238E27FC236}">
                <a16:creationId xmlns:a16="http://schemas.microsoft.com/office/drawing/2014/main" id="{05FC20E0-12FD-298E-27E5-7DA105BB7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4700" y="387499"/>
            <a:ext cx="1704975" cy="225266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" name="Text Box 47">
            <a:extLst>
              <a:ext uri="{FF2B5EF4-FFF2-40B4-BE49-F238E27FC236}">
                <a16:creationId xmlns:a16="http://schemas.microsoft.com/office/drawing/2014/main" id="{9A166030-76D0-7D26-8E32-E6CCDB2AE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25" y="917724"/>
            <a:ext cx="58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L</a:t>
            </a:r>
            <a:r>
              <a:rPr kumimoji="0" lang="en-US" altLang="zh-CN" sz="1400" i="1">
                <a:solidFill>
                  <a:srgbClr val="333333"/>
                </a:solidFill>
                <a:latin typeface="ISOCPEUR" pitchFamily="34" charset="0"/>
              </a:rPr>
              <a:t>KB </a:t>
            </a:r>
            <a:endParaRPr kumimoji="0" lang="en-US" altLang="zh-CN" b="0" i="1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26" name="Line 48">
            <a:extLst>
              <a:ext uri="{FF2B5EF4-FFF2-40B4-BE49-F238E27FC236}">
                <a16:creationId xmlns:a16="http://schemas.microsoft.com/office/drawing/2014/main" id="{D7CE90A3-6C5A-7B7B-ED5E-D0E6D117E0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66100" y="1778149"/>
            <a:ext cx="660400" cy="8588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" name="Line 49">
            <a:extLst>
              <a:ext uri="{FF2B5EF4-FFF2-40B4-BE49-F238E27FC236}">
                <a16:creationId xmlns:a16="http://schemas.microsoft.com/office/drawing/2014/main" id="{2C8463F4-43B1-4BD7-3F3D-B44C6D3085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24700" y="1776561"/>
            <a:ext cx="1041400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8" name="Line 50">
            <a:extLst>
              <a:ext uri="{FF2B5EF4-FFF2-40B4-BE49-F238E27FC236}">
                <a16:creationId xmlns:a16="http://schemas.microsoft.com/office/drawing/2014/main" id="{7B201CCB-CF69-8C05-7B31-8CB5718DCF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4800" y="1776561"/>
            <a:ext cx="469900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9" name="Text Box 51">
            <a:extLst>
              <a:ext uri="{FF2B5EF4-FFF2-40B4-BE49-F238E27FC236}">
                <a16:creationId xmlns:a16="http://schemas.microsoft.com/office/drawing/2014/main" id="{2DDC8902-150C-983B-6DC6-BDC0A2072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1400" y="1401911"/>
            <a:ext cx="687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i="1">
                <a:solidFill>
                  <a:srgbClr val="333333"/>
                </a:solidFill>
                <a:latin typeface="ISOCPEUR" pitchFamily="34" charset="0"/>
              </a:rPr>
              <a:t>a</a:t>
            </a:r>
            <a:r>
              <a:rPr kumimoji="0" lang="en-US" altLang="zh-CN" sz="1200" i="1">
                <a:solidFill>
                  <a:srgbClr val="333333"/>
                </a:solidFill>
                <a:latin typeface="ISOCPEUR" pitchFamily="34" charset="0"/>
              </a:rPr>
              <a:t>1</a:t>
            </a:r>
            <a:r>
              <a:rPr kumimoji="0" lang="en-US" altLang="zh-CN" i="1">
                <a:solidFill>
                  <a:srgbClr val="333333"/>
                </a:solidFill>
                <a:latin typeface="ISOCPEUR" pitchFamily="34" charset="0"/>
              </a:rPr>
              <a:t>’</a:t>
            </a:r>
            <a:endParaRPr kumimoji="0" lang="en-US" altLang="zh-CN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30" name="Text Box 52">
            <a:extLst>
              <a:ext uri="{FF2B5EF4-FFF2-40B4-BE49-F238E27FC236}">
                <a16:creationId xmlns:a16="http://schemas.microsoft.com/office/drawing/2014/main" id="{159CF12C-6DC5-03E7-2438-970BA0929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288" y="2571899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i="1">
                <a:solidFill>
                  <a:srgbClr val="333333"/>
                </a:solidFill>
                <a:latin typeface="ISOCPEUR" pitchFamily="34" charset="0"/>
              </a:rPr>
              <a:t>1’</a:t>
            </a:r>
            <a:endParaRPr kumimoji="0" lang="en-US" altLang="zh-CN" b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31" name="Text Box 53">
            <a:extLst>
              <a:ext uri="{FF2B5EF4-FFF2-40B4-BE49-F238E27FC236}">
                <a16:creationId xmlns:a16="http://schemas.microsoft.com/office/drawing/2014/main" id="{47251C29-0243-C61A-1F9D-94742DF67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25" y="5272236"/>
            <a:ext cx="43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i="1">
                <a:solidFill>
                  <a:srgbClr val="333333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132" name="Text Box 54">
            <a:extLst>
              <a:ext uri="{FF2B5EF4-FFF2-40B4-BE49-F238E27FC236}">
                <a16:creationId xmlns:a16="http://schemas.microsoft.com/office/drawing/2014/main" id="{5090C883-1449-34E8-AD96-21BB4ED5C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375" y="3068786"/>
            <a:ext cx="758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i="1">
                <a:solidFill>
                  <a:srgbClr val="333333"/>
                </a:solidFill>
                <a:latin typeface="ISOCPEUR" pitchFamily="34" charset="0"/>
              </a:rPr>
              <a:t>2’</a:t>
            </a:r>
          </a:p>
        </p:txBody>
      </p:sp>
      <p:sp>
        <p:nvSpPr>
          <p:cNvPr id="133" name="Text Box 55">
            <a:extLst>
              <a:ext uri="{FF2B5EF4-FFF2-40B4-BE49-F238E27FC236}">
                <a16:creationId xmlns:a16="http://schemas.microsoft.com/office/drawing/2014/main" id="{11BA0DB3-F258-A671-CFCF-0D6ADFDAD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38" y="4654699"/>
            <a:ext cx="496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i="1">
                <a:solidFill>
                  <a:srgbClr val="333333"/>
                </a:solidFill>
                <a:latin typeface="ISOCPEUR" pitchFamily="34" charset="0"/>
              </a:rPr>
              <a:t>2</a:t>
            </a:r>
            <a:endParaRPr kumimoji="0" lang="en-US" altLang="zh-CN" b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34" name="Text Box 56">
            <a:extLst>
              <a:ext uri="{FF2B5EF4-FFF2-40B4-BE49-F238E27FC236}">
                <a16:creationId xmlns:a16="http://schemas.microsoft.com/office/drawing/2014/main" id="{9FEDD89A-BC5F-3DBF-8C35-9280FDA6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63" y="263674"/>
            <a:ext cx="758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k’</a:t>
            </a:r>
            <a:endParaRPr kumimoji="0" lang="en-US" altLang="zh-CN" b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35" name="Text Box 57">
            <a:extLst>
              <a:ext uri="{FF2B5EF4-FFF2-40B4-BE49-F238E27FC236}">
                <a16:creationId xmlns:a16="http://schemas.microsoft.com/office/drawing/2014/main" id="{C7ECC2D5-E3F1-C7A2-C21B-AD491832F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238" y="5253186"/>
            <a:ext cx="44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k</a:t>
            </a:r>
          </a:p>
        </p:txBody>
      </p:sp>
      <p:sp>
        <p:nvSpPr>
          <p:cNvPr id="136" name="Line 58">
            <a:extLst>
              <a:ext uri="{FF2B5EF4-FFF2-40B4-BE49-F238E27FC236}">
                <a16:creationId xmlns:a16="http://schemas.microsoft.com/office/drawing/2014/main" id="{41EEAD5C-E7DC-1F71-4D07-01D9E0CBC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1625" y="1763861"/>
            <a:ext cx="0" cy="1781175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" name="Line 59">
            <a:extLst>
              <a:ext uri="{FF2B5EF4-FFF2-40B4-BE49-F238E27FC236}">
                <a16:creationId xmlns:a16="http://schemas.microsoft.com/office/drawing/2014/main" id="{9791C440-A07D-C7B1-AED3-AB78E8BEC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1625" y="3535511"/>
            <a:ext cx="0" cy="89535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" name="Text Box 60">
            <a:extLst>
              <a:ext uri="{FF2B5EF4-FFF2-40B4-BE49-F238E27FC236}">
                <a16:creationId xmlns:a16="http://schemas.microsoft.com/office/drawing/2014/main" id="{D4062A36-8C8A-7FBF-2442-90D793205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375" y="436418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a</a:t>
            </a:r>
            <a:r>
              <a:rPr kumimoji="0" lang="en-US" altLang="zh-CN" sz="1200" i="1">
                <a:solidFill>
                  <a:srgbClr val="333333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139" name="Line 61">
            <a:extLst>
              <a:ext uri="{FF2B5EF4-FFF2-40B4-BE49-F238E27FC236}">
                <a16:creationId xmlns:a16="http://schemas.microsoft.com/office/drawing/2014/main" id="{55C55AD3-6988-128F-A9AF-2A85220BBF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9925" y="1954361"/>
            <a:ext cx="536575" cy="300038"/>
          </a:xfrm>
          <a:prstGeom prst="line">
            <a:avLst/>
          </a:prstGeom>
          <a:noFill/>
          <a:ln w="508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" name="Line 62">
            <a:extLst>
              <a:ext uri="{FF2B5EF4-FFF2-40B4-BE49-F238E27FC236}">
                <a16:creationId xmlns:a16="http://schemas.microsoft.com/office/drawing/2014/main" id="{230451A2-6ED3-B45B-3806-1DADE7AD94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70675" y="1782911"/>
            <a:ext cx="876300" cy="166688"/>
          </a:xfrm>
          <a:prstGeom prst="line">
            <a:avLst/>
          </a:prstGeom>
          <a:noFill/>
          <a:ln w="508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" name="Line 63">
            <a:extLst>
              <a:ext uri="{FF2B5EF4-FFF2-40B4-BE49-F238E27FC236}">
                <a16:creationId xmlns:a16="http://schemas.microsoft.com/office/drawing/2014/main" id="{6F31FE2B-04B6-BA88-7841-B9493080CD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61150" y="1782911"/>
            <a:ext cx="365125" cy="476250"/>
          </a:xfrm>
          <a:prstGeom prst="line">
            <a:avLst/>
          </a:prstGeom>
          <a:noFill/>
          <a:ln w="508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" name="Line 64">
            <a:extLst>
              <a:ext uri="{FF2B5EF4-FFF2-40B4-BE49-F238E27FC236}">
                <a16:creationId xmlns:a16="http://schemas.microsoft.com/office/drawing/2014/main" id="{C9115B83-8848-F0D4-654E-214A80F7E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6975" y="1973411"/>
            <a:ext cx="0" cy="222885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" name="Line 65">
            <a:extLst>
              <a:ext uri="{FF2B5EF4-FFF2-40B4-BE49-F238E27FC236}">
                <a16:creationId xmlns:a16="http://schemas.microsoft.com/office/drawing/2014/main" id="{673D9BB0-8756-B413-E76B-A1FBAB229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3575" y="2249636"/>
            <a:ext cx="0" cy="2701925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" name="Line 66">
            <a:extLst>
              <a:ext uri="{FF2B5EF4-FFF2-40B4-BE49-F238E27FC236}">
                <a16:creationId xmlns:a16="http://schemas.microsoft.com/office/drawing/2014/main" id="{757AE258-05B0-5D17-54B0-A1760E5FE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6750" y="4192736"/>
            <a:ext cx="539750" cy="769938"/>
          </a:xfrm>
          <a:prstGeom prst="line">
            <a:avLst/>
          </a:prstGeom>
          <a:noFill/>
          <a:ln w="508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" name="Line 67">
            <a:extLst>
              <a:ext uri="{FF2B5EF4-FFF2-40B4-BE49-F238E27FC236}">
                <a16:creationId xmlns:a16="http://schemas.microsoft.com/office/drawing/2014/main" id="{43AB3AFD-5BF8-CA37-0634-B59FEAC0D7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1150" y="4202261"/>
            <a:ext cx="882650" cy="223838"/>
          </a:xfrm>
          <a:prstGeom prst="line">
            <a:avLst/>
          </a:prstGeom>
          <a:noFill/>
          <a:ln w="508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" name="Line 68">
            <a:extLst>
              <a:ext uri="{FF2B5EF4-FFF2-40B4-BE49-F238E27FC236}">
                <a16:creationId xmlns:a16="http://schemas.microsoft.com/office/drawing/2014/main" id="{4E9963C1-AFB6-20D2-6405-BE1248D3C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1150" y="4430861"/>
            <a:ext cx="360363" cy="527050"/>
          </a:xfrm>
          <a:prstGeom prst="line">
            <a:avLst/>
          </a:prstGeom>
          <a:noFill/>
          <a:ln w="508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" name="AutoShape 69">
            <a:extLst>
              <a:ext uri="{FF2B5EF4-FFF2-40B4-BE49-F238E27FC236}">
                <a16:creationId xmlns:a16="http://schemas.microsoft.com/office/drawing/2014/main" id="{C45953E1-8380-9B0D-7E59-4F4DFEBF2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525" y="1733699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ysClr val="windowText" lastClr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" name="Line 70">
            <a:extLst>
              <a:ext uri="{FF2B5EF4-FFF2-40B4-BE49-F238E27FC236}">
                <a16:creationId xmlns:a16="http://schemas.microsoft.com/office/drawing/2014/main" id="{D9C1985B-BB89-2F72-F81C-BF8AA908C1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4700" y="5203974"/>
            <a:ext cx="0" cy="179387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" name="Text Box 71">
            <a:extLst>
              <a:ext uri="{FF2B5EF4-FFF2-40B4-BE49-F238E27FC236}">
                <a16:creationId xmlns:a16="http://schemas.microsoft.com/office/drawing/2014/main" id="{6E74672B-2822-2B33-6D00-110C64FC1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6300" y="1814661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i="1">
                <a:solidFill>
                  <a:srgbClr val="FF3300"/>
                </a:solidFill>
                <a:latin typeface="ISOCPEUR" pitchFamily="34" charset="0"/>
              </a:rPr>
              <a:t>L</a:t>
            </a:r>
            <a:endParaRPr kumimoji="0" lang="en-US" altLang="zh-CN" b="0" i="1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50" name="Text Box 72">
            <a:extLst>
              <a:ext uri="{FF2B5EF4-FFF2-40B4-BE49-F238E27FC236}">
                <a16:creationId xmlns:a16="http://schemas.microsoft.com/office/drawing/2014/main" id="{73F4CB1C-0206-8375-DE53-6F2B2F220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4900" y="3959374"/>
            <a:ext cx="617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b</a:t>
            </a:r>
            <a:r>
              <a:rPr kumimoji="0" lang="en-US" altLang="zh-CN" sz="1200" i="1">
                <a:solidFill>
                  <a:srgbClr val="333333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151" name="Text Box 73">
            <a:extLst>
              <a:ext uri="{FF2B5EF4-FFF2-40B4-BE49-F238E27FC236}">
                <a16:creationId xmlns:a16="http://schemas.microsoft.com/office/drawing/2014/main" id="{FCBEAC4F-1163-4DC9-7E7A-430C828E9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325" y="4757886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i="1">
                <a:solidFill>
                  <a:srgbClr val="333333"/>
                </a:solidFill>
                <a:latin typeface="ISOCPEUR" pitchFamily="34" charset="0"/>
              </a:rPr>
              <a:t>c</a:t>
            </a:r>
            <a:r>
              <a:rPr kumimoji="0" lang="en-US" altLang="zh-CN" sz="1200" i="1">
                <a:solidFill>
                  <a:srgbClr val="333333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152" name="Text Box 74">
            <a:extLst>
              <a:ext uri="{FF2B5EF4-FFF2-40B4-BE49-F238E27FC236}">
                <a16:creationId xmlns:a16="http://schemas.microsoft.com/office/drawing/2014/main" id="{A0189DEC-0A99-04E0-D127-B863E65C7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625" y="1767036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b</a:t>
            </a:r>
            <a:r>
              <a:rPr kumimoji="0" lang="en-US" altLang="zh-CN" sz="1200" i="1">
                <a:solidFill>
                  <a:srgbClr val="333333"/>
                </a:solidFill>
                <a:latin typeface="ISOCPEUR" pitchFamily="34" charset="0"/>
              </a:rPr>
              <a:t>1</a:t>
            </a: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’</a:t>
            </a:r>
            <a:endParaRPr kumimoji="0" lang="en-US" altLang="zh-CN" b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53" name="Text Box 75">
            <a:extLst>
              <a:ext uri="{FF2B5EF4-FFF2-40B4-BE49-F238E27FC236}">
                <a16:creationId xmlns:a16="http://schemas.microsoft.com/office/drawing/2014/main" id="{EF37E40F-233F-5513-11F6-21BF138A1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38" y="2165499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c</a:t>
            </a:r>
            <a:r>
              <a:rPr kumimoji="0" lang="en-US" altLang="zh-CN" sz="1200" i="1">
                <a:solidFill>
                  <a:srgbClr val="333333"/>
                </a:solidFill>
                <a:latin typeface="ISOCPEUR" pitchFamily="34" charset="0"/>
              </a:rPr>
              <a:t>1</a:t>
            </a: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’</a:t>
            </a:r>
            <a:endParaRPr kumimoji="0" lang="en-US" altLang="zh-CN" b="0">
              <a:solidFill>
                <a:srgbClr val="333333"/>
              </a:solidFill>
              <a:latin typeface="ISOCPEUR" pitchFamily="34" charset="0"/>
            </a:endParaRPr>
          </a:p>
        </p:txBody>
      </p:sp>
      <p:sp>
        <p:nvSpPr>
          <p:cNvPr id="154" name="AutoShape 76">
            <a:extLst>
              <a:ext uri="{FF2B5EF4-FFF2-40B4-BE49-F238E27FC236}">
                <a16:creationId xmlns:a16="http://schemas.microsoft.com/office/drawing/2014/main" id="{9FE2FDA6-CC5A-3F20-AE66-EDBE37CE4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525" y="4391174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ysClr val="windowText" lastClr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5" name="Text Box 77">
            <a:extLst>
              <a:ext uri="{FF2B5EF4-FFF2-40B4-BE49-F238E27FC236}">
                <a16:creationId xmlns:a16="http://schemas.microsoft.com/office/drawing/2014/main" id="{4CBCB6D7-FB49-5F9A-D8EE-1D340CEF3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13" y="5293667"/>
            <a:ext cx="126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此题</a:t>
            </a:r>
            <a:r>
              <a:rPr kumimoji="0" lang="en-US" altLang="zh-CN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解</a:t>
            </a:r>
          </a:p>
        </p:txBody>
      </p:sp>
      <p:sp>
        <p:nvSpPr>
          <p:cNvPr id="156" name="Text Box 79">
            <a:extLst>
              <a:ext uri="{FF2B5EF4-FFF2-40B4-BE49-F238E27FC236}">
                <a16:creationId xmlns:a16="http://schemas.microsoft.com/office/drawing/2014/main" id="{523D09C4-6926-BE13-3AAD-0F158FD38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386951"/>
            <a:ext cx="2474061" cy="240065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作图思路：</a:t>
            </a:r>
          </a:p>
          <a:p>
            <a:pPr marL="1440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作平面垂线</a:t>
            </a:r>
          </a:p>
          <a:p>
            <a:pPr marL="1440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求垂线实长</a:t>
            </a:r>
          </a:p>
          <a:p>
            <a:pPr marL="1440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取距离为</a:t>
            </a:r>
            <a:r>
              <a:rPr kumimoji="0" lang="en-US" altLang="zh-CN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L</a:t>
            </a:r>
            <a:r>
              <a:rPr kumimoji="0" lang="zh-CN" altLang="en-US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点</a:t>
            </a:r>
            <a:endParaRPr kumimoji="0" lang="en-US" altLang="zh-CN" dirty="0">
              <a:solidFill>
                <a:srgbClr val="333333"/>
              </a:solidFill>
              <a:latin typeface="黑体" pitchFamily="49" charset="-122"/>
              <a:ea typeface="黑体" pitchFamily="49" charset="-122"/>
            </a:endParaRPr>
          </a:p>
          <a:p>
            <a:pPr marL="1440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dirty="0">
                <a:solidFill>
                  <a:srgbClr val="333333"/>
                </a:solidFill>
                <a:latin typeface="黑体" pitchFamily="49" charset="-122"/>
                <a:ea typeface="黑体" pitchFamily="49" charset="-122"/>
              </a:rPr>
              <a:t> 作点平行面</a:t>
            </a:r>
          </a:p>
        </p:txBody>
      </p:sp>
      <p:sp>
        <p:nvSpPr>
          <p:cNvPr id="157" name="Line 80">
            <a:extLst>
              <a:ext uri="{FF2B5EF4-FFF2-40B4-BE49-F238E27FC236}">
                <a16:creationId xmlns:a16="http://schemas.microsoft.com/office/drawing/2014/main" id="{BD726F73-2CF7-07F7-EADC-09D03B63FC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4700" y="2794149"/>
            <a:ext cx="0" cy="2408237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" name="Text Box 81">
            <a:extLst>
              <a:ext uri="{FF2B5EF4-FFF2-40B4-BE49-F238E27FC236}">
                <a16:creationId xmlns:a16="http://schemas.microsoft.com/office/drawing/2014/main" id="{77CADB29-5545-C9F0-A8C3-07A4912AD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175" y="2592536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1">
                <a:solidFill>
                  <a:srgbClr val="333333"/>
                </a:solidFill>
                <a:latin typeface="ISOCPEUR" pitchFamily="34" charset="0"/>
              </a:rPr>
              <a:t>kb</a:t>
            </a:r>
          </a:p>
        </p:txBody>
      </p:sp>
      <p:sp>
        <p:nvSpPr>
          <p:cNvPr id="159" name="Line 82">
            <a:extLst>
              <a:ext uri="{FF2B5EF4-FFF2-40B4-BE49-F238E27FC236}">
                <a16:creationId xmlns:a16="http://schemas.microsoft.com/office/drawing/2014/main" id="{896E4623-6650-1F4A-3269-1727E981E2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4338" y="4997599"/>
            <a:ext cx="247650" cy="104775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0" name="Line 83">
            <a:extLst>
              <a:ext uri="{FF2B5EF4-FFF2-40B4-BE49-F238E27FC236}">
                <a16:creationId xmlns:a16="http://schemas.microsoft.com/office/drawing/2014/main" id="{2C81DBA4-7EF3-8ED0-6D88-B98B52921D3A}"/>
              </a:ext>
            </a:extLst>
          </p:cNvPr>
          <p:cNvSpPr>
            <a:spLocks noChangeShapeType="1"/>
          </p:cNvSpPr>
          <p:nvPr/>
        </p:nvSpPr>
        <p:spPr bwMode="auto">
          <a:xfrm rot="19279507" flipH="1">
            <a:off x="7931125" y="2608411"/>
            <a:ext cx="247650" cy="104775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1" name="Line 84">
            <a:extLst>
              <a:ext uri="{FF2B5EF4-FFF2-40B4-BE49-F238E27FC236}">
                <a16:creationId xmlns:a16="http://schemas.microsoft.com/office/drawing/2014/main" id="{60FB7D68-D28D-E8B9-0A41-6552250B0F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2363" y="2641749"/>
            <a:ext cx="168275" cy="496887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727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1"/>
                                            </p:cond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000"/>
                            </p:stCondLst>
                            <p:childTnLst>
                              <p:par>
                                <p:cTn id="2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107" grpId="0" animBg="1"/>
      <p:bldP spid="108" grpId="0" animBg="1"/>
      <p:bldP spid="109" grpId="0" animBg="1"/>
      <p:bldP spid="110" grpId="0" animBg="1"/>
      <p:bldP spid="117" grpId="0" animBg="1"/>
      <p:bldP spid="118" grpId="0" animBg="1"/>
      <p:bldP spid="122" grpId="0" animBg="1"/>
      <p:bldP spid="123" grpId="0" animBg="1"/>
      <p:bldP spid="124" grpId="0" animBg="1"/>
      <p:bldP spid="125" grpId="0" autoUpdateAnimBg="0"/>
      <p:bldP spid="126" grpId="0" animBg="1"/>
      <p:bldP spid="127" grpId="0" animBg="1"/>
      <p:bldP spid="128" grpId="0" animBg="1"/>
      <p:bldP spid="129" grpId="0" autoUpdateAnimBg="0"/>
      <p:bldP spid="130" grpId="0" autoUpdateAnimBg="0"/>
      <p:bldP spid="131" grpId="0" autoUpdateAnimBg="0"/>
      <p:bldP spid="132" grpId="0" autoUpdateAnimBg="0"/>
      <p:bldP spid="133" grpId="0" autoUpdateAnimBg="0"/>
      <p:bldP spid="134" grpId="0" autoUpdateAnimBg="0"/>
      <p:bldP spid="135" grpId="0" autoUpdateAnimBg="0"/>
      <p:bldP spid="136" grpId="0" animBg="1"/>
      <p:bldP spid="137" grpId="0" animBg="1"/>
      <p:bldP spid="138" grpId="0" autoUpdateAnimBg="0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utoUpdateAnimBg="0"/>
      <p:bldP spid="150" grpId="0" autoUpdateAnimBg="0"/>
      <p:bldP spid="151" grpId="0" autoUpdateAnimBg="0"/>
      <p:bldP spid="152" grpId="0" autoUpdateAnimBg="0"/>
      <p:bldP spid="153" grpId="0" autoUpdateAnimBg="0"/>
      <p:bldP spid="154" grpId="0" animBg="1"/>
      <p:bldP spid="155" grpId="0" autoUpdateAnimBg="0"/>
      <p:bldP spid="156" grpId="0" build="p" animBg="1" autoUpdateAnimBg="0"/>
      <p:bldP spid="157" grpId="0" animBg="1"/>
      <p:bldP spid="158" grpId="0" autoUpdateAnimBg="0"/>
      <p:bldP spid="159" grpId="0" animBg="1"/>
      <p:bldP spid="160" grpId="0" animBg="1"/>
      <p:bldP spid="16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CDD7-2A96-89E3-58E1-5DEDD139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3647DFA-A237-B3B7-E3DD-5B48D25D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42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CCD8073-8C8C-BCB7-C750-C6B4D77EC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28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综合问题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F2D184F-DE8D-86DE-C573-6EF75E13D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FA17E0E-18AA-F29E-0823-A6BD16B85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772816"/>
            <a:ext cx="7776863" cy="1422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点、线、面投影的基本知识及相互关系，是解决复杂问题的基础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Sz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坚持从空间分析入手，把复杂问题分解为若干个简单问题，最后加以综合</a:t>
            </a:r>
          </a:p>
        </p:txBody>
      </p:sp>
    </p:spTree>
    <p:extLst>
      <p:ext uri="{BB962C8B-B14F-4D97-AF65-F5344CB8AC3E}">
        <p14:creationId xmlns:p14="http://schemas.microsoft.com/office/powerpoint/2010/main" val="222980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E63-A9C3-BA41-617C-4C36EE3D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0E4F6B3-07A3-185A-EF90-7F58A87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43</a:t>
            </a:fld>
            <a:endParaRPr lang="en-US" altLang="zh-CN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424D131C-8BF6-732C-F5C6-E1FF00D6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420" y="412173"/>
            <a:ext cx="30091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FCC83B-C54B-FD42-4C25-CE5769A4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556792"/>
            <a:ext cx="2005677" cy="2230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P9 – 2, 4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 – 1, 2, 4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P11 – 6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P12 – 2, 3</a:t>
            </a:r>
          </a:p>
        </p:txBody>
      </p:sp>
    </p:spTree>
    <p:extLst>
      <p:ext uri="{BB962C8B-B14F-4D97-AF65-F5344CB8AC3E}">
        <p14:creationId xmlns:p14="http://schemas.microsoft.com/office/powerpoint/2010/main" val="21312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5211</TotalTime>
  <Words>2746</Words>
  <Application>Microsoft Office PowerPoint</Application>
  <PresentationFormat>全屏显示(4:3)</PresentationFormat>
  <Paragraphs>666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ISOCPEUR</vt:lpstr>
      <vt:lpstr>黑体</vt:lpstr>
      <vt:lpstr>华文细黑</vt:lpstr>
      <vt:lpstr>华文新魏</vt:lpstr>
      <vt:lpstr>宋体</vt:lpstr>
      <vt:lpstr>微软雅黑</vt:lpstr>
      <vt:lpstr>Arial</vt:lpstr>
      <vt:lpstr>Calibri</vt:lpstr>
      <vt:lpstr>Segoe UI</vt:lpstr>
      <vt:lpstr>Times New Roman</vt:lpstr>
      <vt:lpstr>Wingdings</vt:lpstr>
      <vt:lpstr>Office 主题​​</vt:lpstr>
      <vt:lpstr>PowerPoint 演示文稿</vt:lpstr>
      <vt:lpstr>几何元素间的相对位置关系</vt:lpstr>
      <vt:lpstr>PowerPoint 演示文稿</vt:lpstr>
      <vt:lpstr>3.1 平行问题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相交问题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垂直问题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综合问题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605</cp:revision>
  <dcterms:created xsi:type="dcterms:W3CDTF">2013-06-24T05:49:57Z</dcterms:created>
  <dcterms:modified xsi:type="dcterms:W3CDTF">2025-02-24T01:12:57Z</dcterms:modified>
</cp:coreProperties>
</file>