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2" r:id="rId3"/>
    <p:sldId id="259" r:id="rId4"/>
    <p:sldId id="262" r:id="rId5"/>
    <p:sldId id="374" r:id="rId7"/>
    <p:sldId id="478" r:id="rId8"/>
    <p:sldId id="479" r:id="rId9"/>
    <p:sldId id="480" r:id="rId10"/>
    <p:sldId id="481" r:id="rId11"/>
    <p:sldId id="354" r:id="rId12"/>
    <p:sldId id="449" r:id="rId13"/>
    <p:sldId id="450" r:id="rId14"/>
    <p:sldId id="451" r:id="rId15"/>
    <p:sldId id="452" r:id="rId16"/>
    <p:sldId id="392" r:id="rId17"/>
    <p:sldId id="474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460" r:id="rId26"/>
    <p:sldId id="475" r:id="rId27"/>
    <p:sldId id="461" r:id="rId28"/>
    <p:sldId id="462" r:id="rId29"/>
    <p:sldId id="463" r:id="rId30"/>
    <p:sldId id="464" r:id="rId31"/>
    <p:sldId id="466" r:id="rId32"/>
    <p:sldId id="465" r:id="rId33"/>
    <p:sldId id="467" r:id="rId34"/>
    <p:sldId id="468" r:id="rId35"/>
    <p:sldId id="469" r:id="rId36"/>
    <p:sldId id="476" r:id="rId37"/>
    <p:sldId id="477" r:id="rId38"/>
    <p:sldId id="471" r:id="rId39"/>
    <p:sldId id="472" r:id="rId40"/>
    <p:sldId id="473" r:id="rId41"/>
    <p:sldId id="372" r:id="rId42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15" autoAdjust="0"/>
    <p:restoredTop sz="96895" autoAdjust="0"/>
  </p:normalViewPr>
  <p:slideViewPr>
    <p:cSldViewPr>
      <p:cViewPr varScale="1">
        <p:scale>
          <a:sx n="132" d="100"/>
          <a:sy n="132" d="100"/>
        </p:scale>
        <p:origin x="78" y="240"/>
      </p:cViewPr>
      <p:guideLst>
        <p:guide orient="horz" pos="2174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第 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</a:rPr>
              <a:t># 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讲  标题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 userDrawn="1"/>
        </p:nvSpPr>
        <p:spPr bwMode="auto">
          <a:xfrm>
            <a:off x="1832148" y="1626923"/>
            <a:ext cx="1189906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1653902" y="1056168"/>
            <a:ext cx="1563248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    讲</a:t>
            </a:r>
            <a:endParaRPr lang="zh-CN" altLang="en-US" sz="3600" b="1" dirty="0">
              <a:solidFill>
                <a:srgbClr val="01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22" y="366323"/>
            <a:ext cx="1366780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>
            <a:fillRect/>
          </a:stretch>
        </p:blipFill>
        <p:spPr>
          <a:xfrm>
            <a:off x="5625737" y="3733164"/>
            <a:ext cx="3640183" cy="31248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624935"/>
            <a:ext cx="9144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1034333" y="2817663"/>
            <a:ext cx="7075335" cy="5909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5" y="123774"/>
            <a:ext cx="3988851" cy="13487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>
              <a:buNone/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  <a:endParaRPr lang="zh-CN" altLang="en-US" dirty="0"/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  <a:endParaRPr lang="zh-CN" altLang="en-US" dirty="0"/>
          </a:p>
        </p:txBody>
      </p:sp>
      <p:sp>
        <p:nvSpPr>
          <p:cNvPr id="7" name="矩形 4"/>
          <p:cNvSpPr/>
          <p:nvPr userDrawn="1"/>
        </p:nvSpPr>
        <p:spPr>
          <a:xfrm>
            <a:off x="0" y="332656"/>
            <a:ext cx="9144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1763688" y="692696"/>
            <a:ext cx="6923112" cy="724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705146" y="2697631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  <a:endParaRPr lang="zh-CN" altLang="en-US" sz="4800" spc="6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325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93204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2633009" y="2727900"/>
            <a:ext cx="3877985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基本体的投影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/>
          <p:nvPr/>
        </p:nvSpPr>
        <p:spPr bwMode="auto">
          <a:xfrm>
            <a:off x="2737203" y="2132856"/>
            <a:ext cx="3357009" cy="195521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t" anchorCtr="0" compatLnSpc="1"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形体的构成方式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体的投影 </a:t>
            </a: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–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视图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5.3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基本体的三视图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/>
          <p:nvPr/>
        </p:nvSpPr>
        <p:spPr bwMode="auto">
          <a:xfrm>
            <a:off x="3835260" y="454422"/>
            <a:ext cx="1473480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内 容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组合 12"/>
          <p:cNvGrpSpPr/>
          <p:nvPr/>
        </p:nvGrpSpPr>
        <p:grpSpPr>
          <a:xfrm flipV="1">
            <a:off x="0" y="1412776"/>
            <a:ext cx="9144000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-1" fmla="*/ 0 w 364864"/>
                  <a:gd name="connsiteY0-2" fmla="*/ 0 h 270030"/>
                  <a:gd name="connsiteX1-3" fmla="*/ 364864 w 364864"/>
                  <a:gd name="connsiteY1-4" fmla="*/ 72957 h 270030"/>
                  <a:gd name="connsiteX2-5" fmla="*/ 360000 w 364864"/>
                  <a:gd name="connsiteY2-6" fmla="*/ 270030 h 270030"/>
                  <a:gd name="connsiteX3-7" fmla="*/ 0 w 364864"/>
                  <a:gd name="connsiteY3-8" fmla="*/ 270030 h 270030"/>
                  <a:gd name="connsiteX4-9" fmla="*/ 0 w 364864"/>
                  <a:gd name="connsiteY4-10" fmla="*/ 0 h 270030"/>
                  <a:gd name="connsiteX0-11" fmla="*/ 0 w 364864"/>
                  <a:gd name="connsiteY0-12" fmla="*/ 0 h 294349"/>
                  <a:gd name="connsiteX1-13" fmla="*/ 364864 w 364864"/>
                  <a:gd name="connsiteY1-14" fmla="*/ 72957 h 294349"/>
                  <a:gd name="connsiteX2-15" fmla="*/ 364864 w 364864"/>
                  <a:gd name="connsiteY2-16" fmla="*/ 294349 h 294349"/>
                  <a:gd name="connsiteX3-17" fmla="*/ 0 w 364864"/>
                  <a:gd name="connsiteY3-18" fmla="*/ 270030 h 294349"/>
                  <a:gd name="connsiteX4-19" fmla="*/ 0 w 364864"/>
                  <a:gd name="connsiteY4-20" fmla="*/ 0 h 294349"/>
                  <a:gd name="connsiteX0-21" fmla="*/ 0 w 364864"/>
                  <a:gd name="connsiteY0-22" fmla="*/ 0 h 290893"/>
                  <a:gd name="connsiteX1-23" fmla="*/ 364864 w 364864"/>
                  <a:gd name="connsiteY1-24" fmla="*/ 72957 h 290893"/>
                  <a:gd name="connsiteX2-25" fmla="*/ 363396 w 364864"/>
                  <a:gd name="connsiteY2-26" fmla="*/ 290893 h 290893"/>
                  <a:gd name="connsiteX3-27" fmla="*/ 358533 w 364864"/>
                  <a:gd name="connsiteY3-28" fmla="*/ 266574 h 290893"/>
                  <a:gd name="connsiteX4-29" fmla="*/ 0 w 364864"/>
                  <a:gd name="connsiteY4-30" fmla="*/ 270030 h 290893"/>
                  <a:gd name="connsiteX5" fmla="*/ 0 w 364864"/>
                  <a:gd name="connsiteY5" fmla="*/ 0 h 290893"/>
                  <a:gd name="connsiteX0-31" fmla="*/ 0 w 368581"/>
                  <a:gd name="connsiteY0-32" fmla="*/ 0 h 321274"/>
                  <a:gd name="connsiteX1-33" fmla="*/ 364864 w 368581"/>
                  <a:gd name="connsiteY1-34" fmla="*/ 72957 h 321274"/>
                  <a:gd name="connsiteX2-35" fmla="*/ 363396 w 368581"/>
                  <a:gd name="connsiteY2-36" fmla="*/ 290893 h 321274"/>
                  <a:gd name="connsiteX3-37" fmla="*/ 368261 w 368581"/>
                  <a:gd name="connsiteY3-38" fmla="*/ 320076 h 321274"/>
                  <a:gd name="connsiteX4-39" fmla="*/ 0 w 368581"/>
                  <a:gd name="connsiteY4-40" fmla="*/ 270030 h 321274"/>
                  <a:gd name="connsiteX5-41" fmla="*/ 0 w 368581"/>
                  <a:gd name="connsiteY5-42" fmla="*/ 0 h 321274"/>
                  <a:gd name="connsiteX0-43" fmla="*/ 0 w 368581"/>
                  <a:gd name="connsiteY0-44" fmla="*/ 0 h 321274"/>
                  <a:gd name="connsiteX1-45" fmla="*/ 364864 w 368581"/>
                  <a:gd name="connsiteY1-46" fmla="*/ 87549 h 321274"/>
                  <a:gd name="connsiteX2-47" fmla="*/ 363396 w 368581"/>
                  <a:gd name="connsiteY2-48" fmla="*/ 290893 h 321274"/>
                  <a:gd name="connsiteX3-49" fmla="*/ 368261 w 368581"/>
                  <a:gd name="connsiteY3-50" fmla="*/ 320076 h 321274"/>
                  <a:gd name="connsiteX4-51" fmla="*/ 0 w 368581"/>
                  <a:gd name="connsiteY4-52" fmla="*/ 270030 h 321274"/>
                  <a:gd name="connsiteX5-53" fmla="*/ 0 w 368581"/>
                  <a:gd name="connsiteY5-54" fmla="*/ 0 h 321274"/>
                  <a:gd name="connsiteX0-55" fmla="*/ 0 w 368581"/>
                  <a:gd name="connsiteY0-56" fmla="*/ 0 h 364509"/>
                  <a:gd name="connsiteX1-57" fmla="*/ 364864 w 368581"/>
                  <a:gd name="connsiteY1-58" fmla="*/ 87549 h 364509"/>
                  <a:gd name="connsiteX2-59" fmla="*/ 363396 w 368581"/>
                  <a:gd name="connsiteY2-60" fmla="*/ 290893 h 364509"/>
                  <a:gd name="connsiteX3-61" fmla="*/ 368261 w 368581"/>
                  <a:gd name="connsiteY3-62" fmla="*/ 363850 h 364509"/>
                  <a:gd name="connsiteX4-63" fmla="*/ 0 w 368581"/>
                  <a:gd name="connsiteY4-64" fmla="*/ 270030 h 364509"/>
                  <a:gd name="connsiteX5-65" fmla="*/ 0 w 368581"/>
                  <a:gd name="connsiteY5-66" fmla="*/ 0 h 36450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-1" fmla="*/ 0 w 364864"/>
                  <a:gd name="connsiteY0-2" fmla="*/ 0 h 270030"/>
                  <a:gd name="connsiteX1-3" fmla="*/ 364864 w 364864"/>
                  <a:gd name="connsiteY1-4" fmla="*/ 72957 h 270030"/>
                  <a:gd name="connsiteX2-5" fmla="*/ 360000 w 364864"/>
                  <a:gd name="connsiteY2-6" fmla="*/ 270030 h 270030"/>
                  <a:gd name="connsiteX3-7" fmla="*/ 0 w 364864"/>
                  <a:gd name="connsiteY3-8" fmla="*/ 270030 h 270030"/>
                  <a:gd name="connsiteX4-9" fmla="*/ 0 w 364864"/>
                  <a:gd name="connsiteY4-10" fmla="*/ 0 h 270030"/>
                  <a:gd name="connsiteX0-11" fmla="*/ 0 w 364864"/>
                  <a:gd name="connsiteY0-12" fmla="*/ 0 h 294349"/>
                  <a:gd name="connsiteX1-13" fmla="*/ 364864 w 364864"/>
                  <a:gd name="connsiteY1-14" fmla="*/ 72957 h 294349"/>
                  <a:gd name="connsiteX2-15" fmla="*/ 364864 w 364864"/>
                  <a:gd name="connsiteY2-16" fmla="*/ 294349 h 294349"/>
                  <a:gd name="connsiteX3-17" fmla="*/ 0 w 364864"/>
                  <a:gd name="connsiteY3-18" fmla="*/ 270030 h 294349"/>
                  <a:gd name="connsiteX4-19" fmla="*/ 0 w 364864"/>
                  <a:gd name="connsiteY4-20" fmla="*/ 0 h 294349"/>
                  <a:gd name="connsiteX0-21" fmla="*/ 0 w 364864"/>
                  <a:gd name="connsiteY0-22" fmla="*/ 0 h 290893"/>
                  <a:gd name="connsiteX1-23" fmla="*/ 364864 w 364864"/>
                  <a:gd name="connsiteY1-24" fmla="*/ 72957 h 290893"/>
                  <a:gd name="connsiteX2-25" fmla="*/ 363396 w 364864"/>
                  <a:gd name="connsiteY2-26" fmla="*/ 290893 h 290893"/>
                  <a:gd name="connsiteX3-27" fmla="*/ 358533 w 364864"/>
                  <a:gd name="connsiteY3-28" fmla="*/ 266574 h 290893"/>
                  <a:gd name="connsiteX4-29" fmla="*/ 0 w 364864"/>
                  <a:gd name="connsiteY4-30" fmla="*/ 270030 h 290893"/>
                  <a:gd name="connsiteX5" fmla="*/ 0 w 364864"/>
                  <a:gd name="connsiteY5" fmla="*/ 0 h 290893"/>
                  <a:gd name="connsiteX0-31" fmla="*/ 0 w 368581"/>
                  <a:gd name="connsiteY0-32" fmla="*/ 0 h 321274"/>
                  <a:gd name="connsiteX1-33" fmla="*/ 364864 w 368581"/>
                  <a:gd name="connsiteY1-34" fmla="*/ 72957 h 321274"/>
                  <a:gd name="connsiteX2-35" fmla="*/ 363396 w 368581"/>
                  <a:gd name="connsiteY2-36" fmla="*/ 290893 h 321274"/>
                  <a:gd name="connsiteX3-37" fmla="*/ 368261 w 368581"/>
                  <a:gd name="connsiteY3-38" fmla="*/ 320076 h 321274"/>
                  <a:gd name="connsiteX4-39" fmla="*/ 0 w 368581"/>
                  <a:gd name="connsiteY4-40" fmla="*/ 270030 h 321274"/>
                  <a:gd name="connsiteX5-41" fmla="*/ 0 w 368581"/>
                  <a:gd name="connsiteY5-42" fmla="*/ 0 h 321274"/>
                  <a:gd name="connsiteX0-43" fmla="*/ 0 w 368581"/>
                  <a:gd name="connsiteY0-44" fmla="*/ 0 h 321274"/>
                  <a:gd name="connsiteX1-45" fmla="*/ 364864 w 368581"/>
                  <a:gd name="connsiteY1-46" fmla="*/ 87549 h 321274"/>
                  <a:gd name="connsiteX2-47" fmla="*/ 363396 w 368581"/>
                  <a:gd name="connsiteY2-48" fmla="*/ 290893 h 321274"/>
                  <a:gd name="connsiteX3-49" fmla="*/ 368261 w 368581"/>
                  <a:gd name="connsiteY3-50" fmla="*/ 320076 h 321274"/>
                  <a:gd name="connsiteX4-51" fmla="*/ 0 w 368581"/>
                  <a:gd name="connsiteY4-52" fmla="*/ 270030 h 321274"/>
                  <a:gd name="connsiteX5-53" fmla="*/ 0 w 368581"/>
                  <a:gd name="connsiteY5-54" fmla="*/ 0 h 321274"/>
                  <a:gd name="connsiteX0-55" fmla="*/ 0 w 368581"/>
                  <a:gd name="connsiteY0-56" fmla="*/ 0 h 364509"/>
                  <a:gd name="connsiteX1-57" fmla="*/ 364864 w 368581"/>
                  <a:gd name="connsiteY1-58" fmla="*/ 87549 h 364509"/>
                  <a:gd name="connsiteX2-59" fmla="*/ 363396 w 368581"/>
                  <a:gd name="connsiteY2-60" fmla="*/ 290893 h 364509"/>
                  <a:gd name="connsiteX3-61" fmla="*/ 368261 w 368581"/>
                  <a:gd name="connsiteY3-62" fmla="*/ 363850 h 364509"/>
                  <a:gd name="connsiteX4-63" fmla="*/ 0 w 368581"/>
                  <a:gd name="connsiteY4-64" fmla="*/ 270030 h 364509"/>
                  <a:gd name="connsiteX5-65" fmla="*/ 0 w 368581"/>
                  <a:gd name="connsiteY5-66" fmla="*/ 0 h 36450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1799449" y="2727900"/>
            <a:ext cx="5545109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形体的构成方式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形体的构成方式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76" y="1923522"/>
            <a:ext cx="2119328" cy="1777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3233059" y="1763182"/>
            <a:ext cx="2216150" cy="2122773"/>
            <a:chOff x="3233059" y="1988840"/>
            <a:chExt cx="2216150" cy="2122773"/>
          </a:xfrm>
        </p:grpSpPr>
        <p:pic>
          <p:nvPicPr>
            <p:cNvPr id="5" name="Picture 3" descr="图7-1b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6340" y="1988840"/>
              <a:ext cx="1084644" cy="1677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3233059" y="3742281"/>
              <a:ext cx="221615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拉伸形成圆柱体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77364" y="1804452"/>
            <a:ext cx="2216150" cy="2081503"/>
            <a:chOff x="5677364" y="2030110"/>
            <a:chExt cx="2216150" cy="2081503"/>
          </a:xfrm>
        </p:grpSpPr>
        <p:pic>
          <p:nvPicPr>
            <p:cNvPr id="8" name="Picture 4" descr="图7-1c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9454" y="2030110"/>
              <a:ext cx="1065278" cy="1640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5677364" y="3742281"/>
              <a:ext cx="221615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拉伸形成圆台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31323" y="4220448"/>
            <a:ext cx="6984548" cy="1923064"/>
            <a:chOff x="1131323" y="4220448"/>
            <a:chExt cx="6984548" cy="1923064"/>
          </a:xfrm>
        </p:grpSpPr>
        <p:pic>
          <p:nvPicPr>
            <p:cNvPr id="10" name="图片 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323" y="4293096"/>
              <a:ext cx="1627835" cy="1777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组合 11"/>
            <p:cNvGrpSpPr/>
            <p:nvPr/>
          </p:nvGrpSpPr>
          <p:grpSpPr>
            <a:xfrm>
              <a:off x="4311791" y="4220448"/>
              <a:ext cx="3804080" cy="1923064"/>
              <a:chOff x="4651524" y="4336434"/>
              <a:chExt cx="3804080" cy="1923064"/>
            </a:xfrm>
          </p:grpSpPr>
          <p:pic>
            <p:nvPicPr>
              <p:cNvPr id="13" name="图片 1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1524" y="4336434"/>
                <a:ext cx="1432644" cy="19230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6239454" y="5157192"/>
                <a:ext cx="2216150" cy="3693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沿曲线路径拉伸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539552" y="1189221"/>
            <a:ext cx="80352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拉伸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二维图形沿着指定的路径拉伸一定的距离，形成三维形体。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8138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形体的构成方式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539552" y="1268760"/>
            <a:ext cx="80352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：令二维图形绕着一根轴旋转一定的角度，形成三维形体。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39541"/>
            <a:ext cx="1872208" cy="1813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3995936" y="1983613"/>
            <a:ext cx="4448398" cy="1725696"/>
            <a:chOff x="3995936" y="1820457"/>
            <a:chExt cx="4448398" cy="1725696"/>
          </a:xfrm>
        </p:grpSpPr>
        <p:pic>
          <p:nvPicPr>
            <p:cNvPr id="18" name="Picture 4" descr="图7-3b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936" y="1820457"/>
              <a:ext cx="2016224" cy="1725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6228184" y="2483250"/>
              <a:ext cx="2216150" cy="3693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旋转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360°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形成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Picture 5" descr="图7-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221087"/>
            <a:ext cx="1725697" cy="1725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683568" y="4576105"/>
            <a:ext cx="381642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切割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：用一个或几个平面对已有的三维形体进行切割，形成新的形体。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8138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形体的构成方式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539552" y="1222681"/>
            <a:ext cx="80648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布尔运算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：对已有的若干个三维形体进行集合运算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“交”“并”“差”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15816" y="2636912"/>
            <a:ext cx="1754790" cy="2831563"/>
            <a:chOff x="2627784" y="2159769"/>
            <a:chExt cx="1754790" cy="2831563"/>
          </a:xfrm>
        </p:grpSpPr>
        <p:pic>
          <p:nvPicPr>
            <p:cNvPr id="4" name="图片 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7784" y="2159769"/>
              <a:ext cx="1754790" cy="2397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 Box 12"/>
            <p:cNvSpPr txBox="1">
              <a:spLocks noChangeArrowheads="1"/>
            </p:cNvSpPr>
            <p:nvPr/>
          </p:nvSpPr>
          <p:spPr bwMode="auto">
            <a:xfrm>
              <a:off x="2857106" y="4591222"/>
              <a:ext cx="1296145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∪ 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291927" y="3087253"/>
            <a:ext cx="1296145" cy="2381222"/>
            <a:chOff x="5003895" y="2610110"/>
            <a:chExt cx="1296145" cy="2381222"/>
          </a:xfrm>
        </p:grpSpPr>
        <p:pic>
          <p:nvPicPr>
            <p:cNvPr id="7" name="Picture 5" descr="E:\1-制图\教材\机类教材\第2版\第7章\抓图\图7-5c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3320" y="2610110"/>
              <a:ext cx="797297" cy="1259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5003895" y="4591222"/>
              <a:ext cx="1296145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∩ 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020272" y="2849809"/>
            <a:ext cx="1656184" cy="2618666"/>
            <a:chOff x="6732240" y="2372666"/>
            <a:chExt cx="1656184" cy="2618666"/>
          </a:xfrm>
        </p:grpSpPr>
        <p:pic>
          <p:nvPicPr>
            <p:cNvPr id="10" name="图片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2372666"/>
              <a:ext cx="1656184" cy="1734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6912259" y="4591222"/>
              <a:ext cx="1296145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- B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14743" y="2212594"/>
            <a:ext cx="1924883" cy="3221999"/>
            <a:chOff x="302271" y="1641647"/>
            <a:chExt cx="1924883" cy="3221999"/>
          </a:xfrm>
        </p:grpSpPr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866519" y="2088503"/>
              <a:ext cx="36063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>
              <a:off x="621653" y="1641647"/>
              <a:ext cx="360635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02271" y="2159769"/>
              <a:ext cx="1660899" cy="2703877"/>
              <a:chOff x="302271" y="2159769"/>
              <a:chExt cx="1660899" cy="2703877"/>
            </a:xfrm>
          </p:grpSpPr>
          <p:pic>
            <p:nvPicPr>
              <p:cNvPr id="26" name="图片 1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2271" y="2159769"/>
                <a:ext cx="1660899" cy="2160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575716" y="4463536"/>
                <a:ext cx="1296145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ctr" eaLnBrk="0" hangingPunct="0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运算前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 flipH="1" flipV="1">
              <a:off x="982288" y="1982868"/>
              <a:ext cx="215831" cy="3364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 flipV="1">
              <a:off x="1763689" y="2510234"/>
              <a:ext cx="144016" cy="4320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1758572" y="2727900"/>
            <a:ext cx="5626861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体的投影 </a:t>
            </a:r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8138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体的投影 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62021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体的投影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130"/>
          <p:cNvSpPr txBox="1">
            <a:spLocks noChangeArrowheads="1"/>
          </p:cNvSpPr>
          <p:nvPr/>
        </p:nvSpPr>
        <p:spPr bwMode="auto">
          <a:xfrm>
            <a:off x="674628" y="1683660"/>
            <a:ext cx="51331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体的投影是构成体的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所有表面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投影的总和。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9" name="Group 5"/>
          <p:cNvGrpSpPr/>
          <p:nvPr/>
        </p:nvGrpSpPr>
        <p:grpSpPr bwMode="auto">
          <a:xfrm>
            <a:off x="846005" y="2639992"/>
            <a:ext cx="3571875" cy="2979738"/>
            <a:chOff x="378" y="822"/>
            <a:chExt cx="2250" cy="1877"/>
          </a:xfrm>
        </p:grpSpPr>
        <p:sp>
          <p:nvSpPr>
            <p:cNvPr id="80" name="Freeform 6"/>
            <p:cNvSpPr/>
            <p:nvPr/>
          </p:nvSpPr>
          <p:spPr bwMode="auto">
            <a:xfrm>
              <a:off x="1758" y="864"/>
              <a:ext cx="810" cy="1764"/>
            </a:xfrm>
            <a:custGeom>
              <a:avLst/>
              <a:gdLst>
                <a:gd name="T0" fmla="*/ 6 w 810"/>
                <a:gd name="T1" fmla="*/ 0 h 1764"/>
                <a:gd name="T2" fmla="*/ 0 w 810"/>
                <a:gd name="T3" fmla="*/ 954 h 1764"/>
                <a:gd name="T4" fmla="*/ 810 w 810"/>
                <a:gd name="T5" fmla="*/ 1764 h 1764"/>
                <a:gd name="T6" fmla="*/ 810 w 810"/>
                <a:gd name="T7" fmla="*/ 810 h 1764"/>
                <a:gd name="T8" fmla="*/ 6 w 810"/>
                <a:gd name="T9" fmla="*/ 0 h 17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0" h="1764">
                  <a:moveTo>
                    <a:pt x="6" y="0"/>
                  </a:moveTo>
                  <a:lnTo>
                    <a:pt x="0" y="954"/>
                  </a:lnTo>
                  <a:lnTo>
                    <a:pt x="810" y="1764"/>
                  </a:lnTo>
                  <a:lnTo>
                    <a:pt x="810" y="81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C000">
                <a:alpha val="63136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426" y="1818"/>
              <a:ext cx="2142" cy="816"/>
            </a:xfrm>
            <a:custGeom>
              <a:avLst/>
              <a:gdLst>
                <a:gd name="T0" fmla="*/ 0 w 2142"/>
                <a:gd name="T1" fmla="*/ 0 h 816"/>
                <a:gd name="T2" fmla="*/ 816 w 2142"/>
                <a:gd name="T3" fmla="*/ 816 h 816"/>
                <a:gd name="T4" fmla="*/ 2142 w 2142"/>
                <a:gd name="T5" fmla="*/ 816 h 816"/>
                <a:gd name="T6" fmla="*/ 1332 w 2142"/>
                <a:gd name="T7" fmla="*/ 6 h 816"/>
                <a:gd name="T8" fmla="*/ 0 w 2142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2" h="816">
                  <a:moveTo>
                    <a:pt x="0" y="0"/>
                  </a:moveTo>
                  <a:lnTo>
                    <a:pt x="816" y="816"/>
                  </a:lnTo>
                  <a:lnTo>
                    <a:pt x="2142" y="816"/>
                  </a:lnTo>
                  <a:lnTo>
                    <a:pt x="1332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>
                <a:alpha val="65881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426" y="870"/>
              <a:ext cx="1338" cy="948"/>
            </a:xfrm>
            <a:custGeom>
              <a:avLst/>
              <a:gdLst>
                <a:gd name="T0" fmla="*/ 0 w 1338"/>
                <a:gd name="T1" fmla="*/ 948 h 948"/>
                <a:gd name="T2" fmla="*/ 6 w 1338"/>
                <a:gd name="T3" fmla="*/ 0 h 948"/>
                <a:gd name="T4" fmla="*/ 1338 w 1338"/>
                <a:gd name="T5" fmla="*/ 0 h 948"/>
                <a:gd name="T6" fmla="*/ 1338 w 1338"/>
                <a:gd name="T7" fmla="*/ 942 h 948"/>
                <a:gd name="T8" fmla="*/ 0 w 1338"/>
                <a:gd name="T9" fmla="*/ 948 h 9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8" h="948">
                  <a:moveTo>
                    <a:pt x="0" y="948"/>
                  </a:moveTo>
                  <a:lnTo>
                    <a:pt x="6" y="0"/>
                  </a:lnTo>
                  <a:lnTo>
                    <a:pt x="1338" y="0"/>
                  </a:lnTo>
                  <a:lnTo>
                    <a:pt x="1338" y="942"/>
                  </a:lnTo>
                  <a:lnTo>
                    <a:pt x="0" y="94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63136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Text Box 9"/>
            <p:cNvSpPr txBox="1">
              <a:spLocks noChangeArrowheads="1"/>
            </p:cNvSpPr>
            <p:nvPr/>
          </p:nvSpPr>
          <p:spPr bwMode="auto">
            <a:xfrm>
              <a:off x="378" y="822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 i="1"/>
                <a:t>V</a:t>
              </a:r>
              <a:endParaRPr lang="en-US" altLang="zh-CN" sz="2400" b="1" i="1"/>
            </a:p>
          </p:txBody>
        </p:sp>
        <p:sp>
          <p:nvSpPr>
            <p:cNvPr id="95" name="Text Box 10"/>
            <p:cNvSpPr txBox="1">
              <a:spLocks noChangeArrowheads="1"/>
            </p:cNvSpPr>
            <p:nvPr/>
          </p:nvSpPr>
          <p:spPr bwMode="auto">
            <a:xfrm>
              <a:off x="2292" y="1568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isometricOffAxis1Left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b="1" dirty="0"/>
                <a:t>W</a:t>
              </a:r>
              <a:endParaRPr lang="en-US" altLang="zh-CN" b="1" dirty="0"/>
            </a:p>
          </p:txBody>
        </p:sp>
        <p:sp>
          <p:nvSpPr>
            <p:cNvPr id="96" name="Text Box 11"/>
            <p:cNvSpPr txBox="1">
              <a:spLocks noChangeArrowheads="1"/>
            </p:cNvSpPr>
            <p:nvPr/>
          </p:nvSpPr>
          <p:spPr bwMode="auto">
            <a:xfrm rot="1740000">
              <a:off x="1097" y="2411"/>
              <a:ext cx="349" cy="288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isometricBottomDown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400" b="1" dirty="0"/>
                <a:t>H</a:t>
              </a:r>
              <a:endParaRPr lang="en-US" altLang="zh-CN" sz="2400" b="1" dirty="0"/>
            </a:p>
          </p:txBody>
        </p:sp>
      </p:grpSp>
      <p:sp>
        <p:nvSpPr>
          <p:cNvPr id="101" name="Freeform 12"/>
          <p:cNvSpPr/>
          <p:nvPr/>
        </p:nvSpPr>
        <p:spPr bwMode="auto">
          <a:xfrm>
            <a:off x="1255580" y="2840017"/>
            <a:ext cx="1114425" cy="552450"/>
          </a:xfrm>
          <a:custGeom>
            <a:avLst/>
            <a:gdLst>
              <a:gd name="T0" fmla="*/ 0 w 702"/>
              <a:gd name="T1" fmla="*/ 2147483647 h 348"/>
              <a:gd name="T2" fmla="*/ 2147483647 w 702"/>
              <a:gd name="T3" fmla="*/ 2147483647 h 348"/>
              <a:gd name="T4" fmla="*/ 2147483647 w 702"/>
              <a:gd name="T5" fmla="*/ 0 h 348"/>
              <a:gd name="T6" fmla="*/ 2147483647 w 702"/>
              <a:gd name="T7" fmla="*/ 0 h 348"/>
              <a:gd name="T8" fmla="*/ 2147483647 w 702"/>
              <a:gd name="T9" fmla="*/ 2147483647 h 348"/>
              <a:gd name="T10" fmla="*/ 0 w 702"/>
              <a:gd name="T11" fmla="*/ 2147483647 h 3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2" h="348">
                <a:moveTo>
                  <a:pt x="0" y="348"/>
                </a:moveTo>
                <a:lnTo>
                  <a:pt x="6" y="156"/>
                </a:lnTo>
                <a:lnTo>
                  <a:pt x="336" y="0"/>
                </a:lnTo>
                <a:lnTo>
                  <a:pt x="702" y="0"/>
                </a:lnTo>
                <a:lnTo>
                  <a:pt x="702" y="348"/>
                </a:lnTo>
                <a:lnTo>
                  <a:pt x="0" y="3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2" name="Group 13"/>
          <p:cNvGrpSpPr/>
          <p:nvPr/>
        </p:nvGrpSpPr>
        <p:grpSpPr bwMode="auto">
          <a:xfrm>
            <a:off x="3513005" y="3516292"/>
            <a:ext cx="371475" cy="923925"/>
            <a:chOff x="2064" y="1416"/>
            <a:chExt cx="234" cy="582"/>
          </a:xfrm>
        </p:grpSpPr>
        <p:sp>
          <p:nvSpPr>
            <p:cNvPr id="103" name="Freeform 14"/>
            <p:cNvSpPr/>
            <p:nvPr/>
          </p:nvSpPr>
          <p:spPr bwMode="auto">
            <a:xfrm>
              <a:off x="2064" y="1416"/>
              <a:ext cx="234" cy="582"/>
            </a:xfrm>
            <a:custGeom>
              <a:avLst/>
              <a:gdLst>
                <a:gd name="T0" fmla="*/ 0 w 234"/>
                <a:gd name="T1" fmla="*/ 0 h 582"/>
                <a:gd name="T2" fmla="*/ 234 w 234"/>
                <a:gd name="T3" fmla="*/ 234 h 582"/>
                <a:gd name="T4" fmla="*/ 234 w 234"/>
                <a:gd name="T5" fmla="*/ 582 h 582"/>
                <a:gd name="T6" fmla="*/ 6 w 234"/>
                <a:gd name="T7" fmla="*/ 354 h 582"/>
                <a:gd name="T8" fmla="*/ 0 w 234"/>
                <a:gd name="T9" fmla="*/ 0 h 5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582">
                  <a:moveTo>
                    <a:pt x="0" y="0"/>
                  </a:moveTo>
                  <a:lnTo>
                    <a:pt x="234" y="234"/>
                  </a:lnTo>
                  <a:lnTo>
                    <a:pt x="234" y="582"/>
                  </a:lnTo>
                  <a:lnTo>
                    <a:pt x="6" y="35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Freeform 15"/>
            <p:cNvSpPr/>
            <p:nvPr/>
          </p:nvSpPr>
          <p:spPr bwMode="auto">
            <a:xfrm>
              <a:off x="2073" y="1580"/>
              <a:ext cx="219" cy="214"/>
            </a:xfrm>
            <a:custGeom>
              <a:avLst/>
              <a:gdLst>
                <a:gd name="T0" fmla="*/ 0 w 219"/>
                <a:gd name="T1" fmla="*/ 0 h 214"/>
                <a:gd name="T2" fmla="*/ 219 w 219"/>
                <a:gd name="T3" fmla="*/ 214 h 2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9" h="214">
                  <a:moveTo>
                    <a:pt x="0" y="0"/>
                  </a:moveTo>
                  <a:lnTo>
                    <a:pt x="219" y="214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" name="Group 16"/>
          <p:cNvGrpSpPr/>
          <p:nvPr/>
        </p:nvGrpSpPr>
        <p:grpSpPr bwMode="auto">
          <a:xfrm>
            <a:off x="1950905" y="4859317"/>
            <a:ext cx="1457325" cy="352425"/>
            <a:chOff x="1080" y="2262"/>
            <a:chExt cx="918" cy="222"/>
          </a:xfrm>
        </p:grpSpPr>
        <p:sp>
          <p:nvSpPr>
            <p:cNvPr id="106" name="Freeform 17"/>
            <p:cNvSpPr/>
            <p:nvPr/>
          </p:nvSpPr>
          <p:spPr bwMode="auto">
            <a:xfrm>
              <a:off x="1080" y="2262"/>
              <a:ext cx="918" cy="222"/>
            </a:xfrm>
            <a:custGeom>
              <a:avLst/>
              <a:gdLst>
                <a:gd name="T0" fmla="*/ 0 w 918"/>
                <a:gd name="T1" fmla="*/ 0 h 222"/>
                <a:gd name="T2" fmla="*/ 696 w 918"/>
                <a:gd name="T3" fmla="*/ 0 h 222"/>
                <a:gd name="T4" fmla="*/ 918 w 918"/>
                <a:gd name="T5" fmla="*/ 222 h 222"/>
                <a:gd name="T6" fmla="*/ 222 w 918"/>
                <a:gd name="T7" fmla="*/ 222 h 222"/>
                <a:gd name="T8" fmla="*/ 0 w 918"/>
                <a:gd name="T9" fmla="*/ 0 h 2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8" h="222">
                  <a:moveTo>
                    <a:pt x="0" y="0"/>
                  </a:moveTo>
                  <a:lnTo>
                    <a:pt x="696" y="0"/>
                  </a:lnTo>
                  <a:lnTo>
                    <a:pt x="918" y="222"/>
                  </a:lnTo>
                  <a:lnTo>
                    <a:pt x="222" y="22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18"/>
            <p:cNvSpPr>
              <a:spLocks noChangeShapeType="1"/>
            </p:cNvSpPr>
            <p:nvPr/>
          </p:nvSpPr>
          <p:spPr bwMode="auto">
            <a:xfrm>
              <a:off x="1418" y="2262"/>
              <a:ext cx="214" cy="21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8" name="Group 19"/>
          <p:cNvGrpSpPr/>
          <p:nvPr/>
        </p:nvGrpSpPr>
        <p:grpSpPr bwMode="auto">
          <a:xfrm>
            <a:off x="1957255" y="3865542"/>
            <a:ext cx="1450975" cy="1336675"/>
            <a:chOff x="1084" y="1635"/>
            <a:chExt cx="914" cy="842"/>
          </a:xfrm>
        </p:grpSpPr>
        <p:sp>
          <p:nvSpPr>
            <p:cNvPr id="109" name="Line 20"/>
            <p:cNvSpPr>
              <a:spLocks noChangeShapeType="1"/>
            </p:cNvSpPr>
            <p:nvPr/>
          </p:nvSpPr>
          <p:spPr bwMode="auto">
            <a:xfrm>
              <a:off x="1632" y="1635"/>
              <a:ext cx="1" cy="842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21"/>
            <p:cNvSpPr>
              <a:spLocks noChangeShapeType="1"/>
            </p:cNvSpPr>
            <p:nvPr/>
          </p:nvSpPr>
          <p:spPr bwMode="auto">
            <a:xfrm>
              <a:off x="1298" y="1990"/>
              <a:ext cx="1" cy="487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2"/>
            <p:cNvSpPr>
              <a:spLocks noChangeShapeType="1"/>
            </p:cNvSpPr>
            <p:nvPr/>
          </p:nvSpPr>
          <p:spPr bwMode="auto">
            <a:xfrm>
              <a:off x="1418" y="1990"/>
              <a:ext cx="1" cy="272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3"/>
            <p:cNvSpPr>
              <a:spLocks noChangeShapeType="1"/>
            </p:cNvSpPr>
            <p:nvPr/>
          </p:nvSpPr>
          <p:spPr bwMode="auto">
            <a:xfrm>
              <a:off x="1084" y="1776"/>
              <a:ext cx="1" cy="48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>
              <a:off x="1997" y="1990"/>
              <a:ext cx="1" cy="487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1771" y="1990"/>
              <a:ext cx="1" cy="272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5" name="Group 26"/>
          <p:cNvGrpSpPr/>
          <p:nvPr/>
        </p:nvGrpSpPr>
        <p:grpSpPr bwMode="auto">
          <a:xfrm>
            <a:off x="2296980" y="3525817"/>
            <a:ext cx="1577975" cy="904875"/>
            <a:chOff x="1298" y="1421"/>
            <a:chExt cx="994" cy="570"/>
          </a:xfrm>
        </p:grpSpPr>
        <p:sp>
          <p:nvSpPr>
            <p:cNvPr id="116" name="Line 27"/>
            <p:cNvSpPr>
              <a:spLocks noChangeShapeType="1"/>
            </p:cNvSpPr>
            <p:nvPr/>
          </p:nvSpPr>
          <p:spPr bwMode="auto">
            <a:xfrm flipH="1">
              <a:off x="1991" y="1779"/>
              <a:ext cx="82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8"/>
            <p:cNvSpPr>
              <a:spLocks noChangeShapeType="1"/>
            </p:cNvSpPr>
            <p:nvPr/>
          </p:nvSpPr>
          <p:spPr bwMode="auto">
            <a:xfrm>
              <a:off x="1298" y="1792"/>
              <a:ext cx="990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9"/>
            <p:cNvSpPr>
              <a:spLocks noChangeShapeType="1"/>
            </p:cNvSpPr>
            <p:nvPr/>
          </p:nvSpPr>
          <p:spPr bwMode="auto">
            <a:xfrm>
              <a:off x="1991" y="1990"/>
              <a:ext cx="297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30"/>
            <p:cNvSpPr>
              <a:spLocks noChangeShapeType="1"/>
            </p:cNvSpPr>
            <p:nvPr/>
          </p:nvSpPr>
          <p:spPr bwMode="auto">
            <a:xfrm>
              <a:off x="1936" y="1580"/>
              <a:ext cx="137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31"/>
            <p:cNvSpPr>
              <a:spLocks noChangeShapeType="1"/>
            </p:cNvSpPr>
            <p:nvPr/>
          </p:nvSpPr>
          <p:spPr bwMode="auto">
            <a:xfrm>
              <a:off x="1777" y="1421"/>
              <a:ext cx="293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32"/>
            <p:cNvSpPr/>
            <p:nvPr/>
          </p:nvSpPr>
          <p:spPr bwMode="auto">
            <a:xfrm>
              <a:off x="1998" y="1638"/>
              <a:ext cx="294" cy="1"/>
            </a:xfrm>
            <a:custGeom>
              <a:avLst/>
              <a:gdLst>
                <a:gd name="T0" fmla="*/ 0 w 294"/>
                <a:gd name="T1" fmla="*/ 0 h 1"/>
                <a:gd name="T2" fmla="*/ 294 w 29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4" h="1">
                  <a:moveTo>
                    <a:pt x="0" y="0"/>
                  </a:moveTo>
                  <a:lnTo>
                    <a:pt x="294" y="0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3333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" name="Group 33"/>
          <p:cNvGrpSpPr/>
          <p:nvPr/>
        </p:nvGrpSpPr>
        <p:grpSpPr bwMode="auto">
          <a:xfrm>
            <a:off x="1255580" y="2830492"/>
            <a:ext cx="1809750" cy="1266825"/>
            <a:chOff x="642" y="983"/>
            <a:chExt cx="1140" cy="799"/>
          </a:xfrm>
        </p:grpSpPr>
        <p:sp>
          <p:nvSpPr>
            <p:cNvPr id="123" name="Line 34"/>
            <p:cNvSpPr>
              <a:spLocks noChangeShapeType="1"/>
            </p:cNvSpPr>
            <p:nvPr/>
          </p:nvSpPr>
          <p:spPr bwMode="auto">
            <a:xfrm>
              <a:off x="651" y="1145"/>
              <a:ext cx="433" cy="433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35"/>
            <p:cNvSpPr/>
            <p:nvPr/>
          </p:nvSpPr>
          <p:spPr bwMode="auto">
            <a:xfrm>
              <a:off x="642" y="1338"/>
              <a:ext cx="443" cy="444"/>
            </a:xfrm>
            <a:custGeom>
              <a:avLst/>
              <a:gdLst>
                <a:gd name="T0" fmla="*/ 443 w 443"/>
                <a:gd name="T1" fmla="*/ 444 h 444"/>
                <a:gd name="T2" fmla="*/ 0 w 443"/>
                <a:gd name="T3" fmla="*/ 0 h 4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3" h="444">
                  <a:moveTo>
                    <a:pt x="443" y="44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3333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36"/>
            <p:cNvSpPr/>
            <p:nvPr/>
          </p:nvSpPr>
          <p:spPr bwMode="auto">
            <a:xfrm>
              <a:off x="1347" y="983"/>
              <a:ext cx="435" cy="439"/>
            </a:xfrm>
            <a:custGeom>
              <a:avLst/>
              <a:gdLst>
                <a:gd name="T0" fmla="*/ 435 w 435"/>
                <a:gd name="T1" fmla="*/ 439 h 439"/>
                <a:gd name="T2" fmla="*/ 0 w 435"/>
                <a:gd name="T3" fmla="*/ 0 h 4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5" h="439">
                  <a:moveTo>
                    <a:pt x="435" y="439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3333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37"/>
            <p:cNvSpPr>
              <a:spLocks noChangeShapeType="1"/>
            </p:cNvSpPr>
            <p:nvPr/>
          </p:nvSpPr>
          <p:spPr bwMode="auto">
            <a:xfrm flipH="1" flipV="1">
              <a:off x="983" y="988"/>
              <a:ext cx="435" cy="433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7" name="Freeform 43"/>
          <p:cNvSpPr/>
          <p:nvPr/>
        </p:nvSpPr>
        <p:spPr bwMode="auto">
          <a:xfrm>
            <a:off x="5324680" y="2953858"/>
            <a:ext cx="1371600" cy="723900"/>
          </a:xfrm>
          <a:custGeom>
            <a:avLst/>
            <a:gdLst>
              <a:gd name="T0" fmla="*/ 0 w 864"/>
              <a:gd name="T1" fmla="*/ 2147483647 h 456"/>
              <a:gd name="T2" fmla="*/ 0 w 864"/>
              <a:gd name="T3" fmla="*/ 2147483647 h 456"/>
              <a:gd name="T4" fmla="*/ 2147483647 w 864"/>
              <a:gd name="T5" fmla="*/ 2147483647 h 456"/>
              <a:gd name="T6" fmla="*/ 2147483647 w 864"/>
              <a:gd name="T7" fmla="*/ 0 h 456"/>
              <a:gd name="T8" fmla="*/ 2147483647 w 864"/>
              <a:gd name="T9" fmla="*/ 2147483647 h 456"/>
              <a:gd name="T10" fmla="*/ 0 w 864"/>
              <a:gd name="T11" fmla="*/ 2147483647 h 4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64" h="456">
                <a:moveTo>
                  <a:pt x="0" y="198"/>
                </a:moveTo>
                <a:lnTo>
                  <a:pt x="0" y="456"/>
                </a:lnTo>
                <a:lnTo>
                  <a:pt x="864" y="456"/>
                </a:lnTo>
                <a:lnTo>
                  <a:pt x="858" y="0"/>
                </a:lnTo>
                <a:lnTo>
                  <a:pt x="408" y="6"/>
                </a:lnTo>
                <a:lnTo>
                  <a:pt x="0" y="19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Rectangle 44"/>
          <p:cNvSpPr>
            <a:spLocks noChangeArrowheads="1"/>
          </p:cNvSpPr>
          <p:nvPr/>
        </p:nvSpPr>
        <p:spPr bwMode="auto">
          <a:xfrm>
            <a:off x="7594805" y="2963383"/>
            <a:ext cx="746125" cy="70485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29" name="Line 48"/>
          <p:cNvSpPr>
            <a:spLocks noChangeShapeType="1"/>
          </p:cNvSpPr>
          <p:nvPr/>
        </p:nvSpPr>
        <p:spPr bwMode="auto">
          <a:xfrm>
            <a:off x="5983492" y="2963383"/>
            <a:ext cx="1588" cy="1714500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0" name="Group 49"/>
          <p:cNvGrpSpPr/>
          <p:nvPr/>
        </p:nvGrpSpPr>
        <p:grpSpPr bwMode="auto">
          <a:xfrm>
            <a:off x="5321505" y="3668233"/>
            <a:ext cx="1376362" cy="1009650"/>
            <a:chOff x="2968" y="1464"/>
            <a:chExt cx="867" cy="636"/>
          </a:xfrm>
        </p:grpSpPr>
        <p:sp>
          <p:nvSpPr>
            <p:cNvPr id="131" name="Freeform 50"/>
            <p:cNvSpPr/>
            <p:nvPr/>
          </p:nvSpPr>
          <p:spPr bwMode="auto">
            <a:xfrm>
              <a:off x="3834" y="1470"/>
              <a:ext cx="1" cy="630"/>
            </a:xfrm>
            <a:custGeom>
              <a:avLst/>
              <a:gdLst>
                <a:gd name="T0" fmla="*/ 0 w 1"/>
                <a:gd name="T1" fmla="*/ 0 h 630"/>
                <a:gd name="T2" fmla="*/ 0 w 1"/>
                <a:gd name="T3" fmla="*/ 630 h 6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30">
                  <a:moveTo>
                    <a:pt x="0" y="0"/>
                  </a:moveTo>
                  <a:lnTo>
                    <a:pt x="0" y="630"/>
                  </a:lnTo>
                </a:path>
              </a:pathLst>
            </a:custGeom>
            <a:solidFill>
              <a:srgbClr val="FFFFFF"/>
            </a:solidFill>
            <a:ln w="19050" cmpd="sng">
              <a:solidFill>
                <a:srgbClr val="3333FF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51"/>
            <p:cNvSpPr>
              <a:spLocks noChangeShapeType="1"/>
            </p:cNvSpPr>
            <p:nvPr/>
          </p:nvSpPr>
          <p:spPr bwMode="auto">
            <a:xfrm>
              <a:off x="2968" y="1464"/>
              <a:ext cx="1" cy="63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" name="Group 52"/>
          <p:cNvGrpSpPr/>
          <p:nvPr/>
        </p:nvGrpSpPr>
        <p:grpSpPr bwMode="auto">
          <a:xfrm>
            <a:off x="5110367" y="2750658"/>
            <a:ext cx="3484563" cy="2784475"/>
            <a:chOff x="2835" y="886"/>
            <a:chExt cx="2195" cy="1754"/>
          </a:xfrm>
        </p:grpSpPr>
        <p:sp>
          <p:nvSpPr>
            <p:cNvPr id="134" name="Line 53"/>
            <p:cNvSpPr>
              <a:spLocks noChangeShapeType="1"/>
            </p:cNvSpPr>
            <p:nvPr/>
          </p:nvSpPr>
          <p:spPr bwMode="auto">
            <a:xfrm>
              <a:off x="4136" y="886"/>
              <a:ext cx="1" cy="1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54"/>
            <p:cNvSpPr>
              <a:spLocks noChangeShapeType="1"/>
            </p:cNvSpPr>
            <p:nvPr/>
          </p:nvSpPr>
          <p:spPr bwMode="auto">
            <a:xfrm>
              <a:off x="2835" y="1836"/>
              <a:ext cx="21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6" name="Line 59"/>
          <p:cNvSpPr>
            <a:spLocks noChangeShapeType="1"/>
          </p:cNvSpPr>
          <p:nvPr/>
        </p:nvSpPr>
        <p:spPr bwMode="auto">
          <a:xfrm>
            <a:off x="5983492" y="4677883"/>
            <a:ext cx="1588" cy="746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" name="Line 60"/>
          <p:cNvSpPr>
            <a:spLocks noChangeShapeType="1"/>
          </p:cNvSpPr>
          <p:nvPr/>
        </p:nvSpPr>
        <p:spPr bwMode="auto">
          <a:xfrm>
            <a:off x="5321505" y="3274533"/>
            <a:ext cx="2273300" cy="3175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" name="Line 61"/>
          <p:cNvSpPr>
            <a:spLocks noChangeShapeType="1"/>
          </p:cNvSpPr>
          <p:nvPr/>
        </p:nvSpPr>
        <p:spPr bwMode="auto">
          <a:xfrm>
            <a:off x="7594805" y="3274533"/>
            <a:ext cx="746125" cy="3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9" name="Group 62"/>
          <p:cNvGrpSpPr/>
          <p:nvPr/>
        </p:nvGrpSpPr>
        <p:grpSpPr bwMode="auto">
          <a:xfrm>
            <a:off x="6694692" y="2963383"/>
            <a:ext cx="900113" cy="708025"/>
            <a:chOff x="3833" y="1020"/>
            <a:chExt cx="567" cy="445"/>
          </a:xfrm>
        </p:grpSpPr>
        <p:sp>
          <p:nvSpPr>
            <p:cNvPr id="140" name="Line 63"/>
            <p:cNvSpPr>
              <a:spLocks noChangeShapeType="1"/>
            </p:cNvSpPr>
            <p:nvPr/>
          </p:nvSpPr>
          <p:spPr bwMode="auto">
            <a:xfrm>
              <a:off x="3833" y="1464"/>
              <a:ext cx="567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64"/>
            <p:cNvSpPr>
              <a:spLocks noChangeShapeType="1"/>
            </p:cNvSpPr>
            <p:nvPr/>
          </p:nvSpPr>
          <p:spPr bwMode="auto">
            <a:xfrm>
              <a:off x="3833" y="1020"/>
              <a:ext cx="567" cy="1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2" name="Rectangle 65"/>
          <p:cNvSpPr>
            <a:spLocks noChangeArrowheads="1"/>
          </p:cNvSpPr>
          <p:nvPr/>
        </p:nvSpPr>
        <p:spPr bwMode="auto">
          <a:xfrm>
            <a:off x="5323092" y="4677883"/>
            <a:ext cx="1371600" cy="74612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143" name="Group 71"/>
          <p:cNvGrpSpPr/>
          <p:nvPr/>
        </p:nvGrpSpPr>
        <p:grpSpPr bwMode="auto">
          <a:xfrm>
            <a:off x="1944555" y="3503592"/>
            <a:ext cx="1466850" cy="939800"/>
            <a:chOff x="2212" y="1728"/>
            <a:chExt cx="924" cy="592"/>
          </a:xfrm>
        </p:grpSpPr>
        <p:sp>
          <p:nvSpPr>
            <p:cNvPr id="144" name="Freeform 72"/>
            <p:cNvSpPr/>
            <p:nvPr/>
          </p:nvSpPr>
          <p:spPr bwMode="auto">
            <a:xfrm>
              <a:off x="2232" y="1732"/>
              <a:ext cx="900" cy="580"/>
            </a:xfrm>
            <a:custGeom>
              <a:avLst/>
              <a:gdLst>
                <a:gd name="T0" fmla="*/ 200 w 900"/>
                <a:gd name="T1" fmla="*/ 580 h 580"/>
                <a:gd name="T2" fmla="*/ 900 w 900"/>
                <a:gd name="T3" fmla="*/ 572 h 580"/>
                <a:gd name="T4" fmla="*/ 900 w 900"/>
                <a:gd name="T5" fmla="*/ 211 h 580"/>
                <a:gd name="T6" fmla="*/ 688 w 900"/>
                <a:gd name="T7" fmla="*/ 0 h 580"/>
                <a:gd name="T8" fmla="*/ 312 w 900"/>
                <a:gd name="T9" fmla="*/ 0 h 580"/>
                <a:gd name="T10" fmla="*/ 0 w 900"/>
                <a:gd name="T11" fmla="*/ 172 h 580"/>
                <a:gd name="T12" fmla="*/ 8 w 900"/>
                <a:gd name="T13" fmla="*/ 364 h 580"/>
                <a:gd name="T14" fmla="*/ 200 w 900"/>
                <a:gd name="T15" fmla="*/ 580 h 5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0" h="580">
                  <a:moveTo>
                    <a:pt x="200" y="580"/>
                  </a:moveTo>
                  <a:lnTo>
                    <a:pt x="900" y="572"/>
                  </a:lnTo>
                  <a:lnTo>
                    <a:pt x="900" y="211"/>
                  </a:lnTo>
                  <a:lnTo>
                    <a:pt x="688" y="0"/>
                  </a:lnTo>
                  <a:lnTo>
                    <a:pt x="312" y="0"/>
                  </a:lnTo>
                  <a:lnTo>
                    <a:pt x="0" y="172"/>
                  </a:lnTo>
                  <a:lnTo>
                    <a:pt x="8" y="364"/>
                  </a:lnTo>
                  <a:lnTo>
                    <a:pt x="200" y="58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73"/>
            <p:cNvSpPr/>
            <p:nvPr/>
          </p:nvSpPr>
          <p:spPr bwMode="auto">
            <a:xfrm>
              <a:off x="2212" y="1890"/>
              <a:ext cx="218" cy="420"/>
            </a:xfrm>
            <a:custGeom>
              <a:avLst/>
              <a:gdLst>
                <a:gd name="T0" fmla="*/ 2 w 218"/>
                <a:gd name="T1" fmla="*/ 0 h 420"/>
                <a:gd name="T2" fmla="*/ 0 w 218"/>
                <a:gd name="T3" fmla="*/ 206 h 420"/>
                <a:gd name="T4" fmla="*/ 218 w 218"/>
                <a:gd name="T5" fmla="*/ 420 h 420"/>
                <a:gd name="T6" fmla="*/ 218 w 218"/>
                <a:gd name="T7" fmla="*/ 216 h 420"/>
                <a:gd name="T8" fmla="*/ 2 w 218"/>
                <a:gd name="T9" fmla="*/ 0 h 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8" h="420">
                  <a:moveTo>
                    <a:pt x="2" y="0"/>
                  </a:moveTo>
                  <a:lnTo>
                    <a:pt x="0" y="206"/>
                  </a:lnTo>
                  <a:lnTo>
                    <a:pt x="218" y="420"/>
                  </a:lnTo>
                  <a:lnTo>
                    <a:pt x="218" y="216"/>
                  </a:lnTo>
                  <a:lnTo>
                    <a:pt x="2" y="0"/>
                  </a:lnTo>
                  <a:close/>
                </a:path>
              </a:pathLst>
            </a:custGeom>
            <a:gradFill rotWithShape="0">
              <a:gsLst>
                <a:gs pos="0">
                  <a:srgbClr val="CA0000"/>
                </a:gs>
                <a:gs pos="50000">
                  <a:srgbClr val="FF0000"/>
                </a:gs>
                <a:gs pos="100000">
                  <a:srgbClr val="CA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Freeform 74"/>
            <p:cNvSpPr/>
            <p:nvPr/>
          </p:nvSpPr>
          <p:spPr bwMode="auto">
            <a:xfrm>
              <a:off x="2548" y="1732"/>
              <a:ext cx="588" cy="216"/>
            </a:xfrm>
            <a:custGeom>
              <a:avLst/>
              <a:gdLst>
                <a:gd name="T0" fmla="*/ 0 w 588"/>
                <a:gd name="T1" fmla="*/ 0 h 216"/>
                <a:gd name="T2" fmla="*/ 372 w 588"/>
                <a:gd name="T3" fmla="*/ 0 h 216"/>
                <a:gd name="T4" fmla="*/ 588 w 588"/>
                <a:gd name="T5" fmla="*/ 216 h 216"/>
                <a:gd name="T6" fmla="*/ 216 w 588"/>
                <a:gd name="T7" fmla="*/ 216 h 216"/>
                <a:gd name="T8" fmla="*/ 0 w 588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216">
                  <a:moveTo>
                    <a:pt x="0" y="0"/>
                  </a:moveTo>
                  <a:lnTo>
                    <a:pt x="372" y="0"/>
                  </a:lnTo>
                  <a:lnTo>
                    <a:pt x="588" y="216"/>
                  </a:lnTo>
                  <a:lnTo>
                    <a:pt x="216" y="21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Freeform 75"/>
            <p:cNvSpPr/>
            <p:nvPr/>
          </p:nvSpPr>
          <p:spPr bwMode="auto">
            <a:xfrm>
              <a:off x="2216" y="1728"/>
              <a:ext cx="544" cy="376"/>
            </a:xfrm>
            <a:custGeom>
              <a:avLst/>
              <a:gdLst>
                <a:gd name="T0" fmla="*/ 328 w 544"/>
                <a:gd name="T1" fmla="*/ 0 h 376"/>
                <a:gd name="T2" fmla="*/ 0 w 544"/>
                <a:gd name="T3" fmla="*/ 164 h 376"/>
                <a:gd name="T4" fmla="*/ 212 w 544"/>
                <a:gd name="T5" fmla="*/ 376 h 376"/>
                <a:gd name="T6" fmla="*/ 544 w 544"/>
                <a:gd name="T7" fmla="*/ 216 h 376"/>
                <a:gd name="T8" fmla="*/ 328 w 544"/>
                <a:gd name="T9" fmla="*/ 0 h 3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4" h="376">
                  <a:moveTo>
                    <a:pt x="328" y="0"/>
                  </a:moveTo>
                  <a:lnTo>
                    <a:pt x="0" y="164"/>
                  </a:lnTo>
                  <a:lnTo>
                    <a:pt x="212" y="376"/>
                  </a:lnTo>
                  <a:lnTo>
                    <a:pt x="544" y="216"/>
                  </a:lnTo>
                  <a:lnTo>
                    <a:pt x="32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AA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Freeform 76"/>
            <p:cNvSpPr/>
            <p:nvPr/>
          </p:nvSpPr>
          <p:spPr bwMode="auto">
            <a:xfrm>
              <a:off x="2428" y="1944"/>
              <a:ext cx="708" cy="376"/>
            </a:xfrm>
            <a:custGeom>
              <a:avLst/>
              <a:gdLst>
                <a:gd name="T0" fmla="*/ 704 w 708"/>
                <a:gd name="T1" fmla="*/ 4 h 376"/>
                <a:gd name="T2" fmla="*/ 708 w 708"/>
                <a:gd name="T3" fmla="*/ 376 h 376"/>
                <a:gd name="T4" fmla="*/ 4 w 708"/>
                <a:gd name="T5" fmla="*/ 376 h 376"/>
                <a:gd name="T6" fmla="*/ 0 w 708"/>
                <a:gd name="T7" fmla="*/ 160 h 376"/>
                <a:gd name="T8" fmla="*/ 336 w 708"/>
                <a:gd name="T9" fmla="*/ 0 h 376"/>
                <a:gd name="T10" fmla="*/ 704 w 708"/>
                <a:gd name="T11" fmla="*/ 4 h 3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8" h="376">
                  <a:moveTo>
                    <a:pt x="704" y="4"/>
                  </a:moveTo>
                  <a:lnTo>
                    <a:pt x="708" y="376"/>
                  </a:lnTo>
                  <a:lnTo>
                    <a:pt x="4" y="376"/>
                  </a:lnTo>
                  <a:lnTo>
                    <a:pt x="0" y="160"/>
                  </a:lnTo>
                  <a:lnTo>
                    <a:pt x="336" y="0"/>
                  </a:lnTo>
                  <a:lnTo>
                    <a:pt x="704" y="4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B2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27" grpId="0" animBg="1"/>
      <p:bldP spid="128" grpId="0" animBg="1"/>
      <p:bldP spid="129" grpId="0" animBg="1"/>
      <p:bldP spid="129" grpId="1" animBg="1"/>
      <p:bldP spid="136" grpId="0" animBg="1"/>
      <p:bldP spid="137" grpId="0" animBg="1"/>
      <p:bldP spid="137" grpId="1" animBg="1"/>
      <p:bldP spid="138" grpId="0" animBg="1"/>
      <p:bldP spid="1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8138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体的投影 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069797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体的三视图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5"/>
          <p:cNvSpPr txBox="1">
            <a:spLocks noChangeArrowheads="1"/>
          </p:cNvSpPr>
          <p:nvPr/>
        </p:nvSpPr>
        <p:spPr bwMode="auto">
          <a:xfrm>
            <a:off x="616482" y="2231557"/>
            <a:ext cx="3753355" cy="1074146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用正投影法绘制的物体在不同投影面的投影称为视图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65"/>
          <p:cNvSpPr txBox="1">
            <a:spLocks noChangeArrowheads="1"/>
          </p:cNvSpPr>
          <p:nvPr/>
        </p:nvSpPr>
        <p:spPr bwMode="auto">
          <a:xfrm>
            <a:off x="5311153" y="2315102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2" charset="-122"/>
              </a:rPr>
              <a:t>主视图</a:t>
            </a:r>
            <a:endParaRPr lang="zh-CN" altLang="en-US" sz="2400" b="1" dirty="0">
              <a:solidFill>
                <a:srgbClr val="C00000"/>
              </a:solidFill>
              <a:ea typeface="黑体" panose="02010609060101010101" pitchFamily="2" charset="-122"/>
            </a:endParaRPr>
          </a:p>
        </p:txBody>
      </p:sp>
      <p:sp>
        <p:nvSpPr>
          <p:cNvPr id="6" name="Text Box 66"/>
          <p:cNvSpPr txBox="1">
            <a:spLocks noChangeArrowheads="1"/>
          </p:cNvSpPr>
          <p:nvPr/>
        </p:nvSpPr>
        <p:spPr bwMode="auto">
          <a:xfrm>
            <a:off x="5393703" y="5004327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ea typeface="黑体" panose="02010609060101010101" pitchFamily="2" charset="-122"/>
              </a:rPr>
              <a:t>俯视图</a:t>
            </a:r>
            <a:endParaRPr lang="zh-CN" altLang="en-US" sz="2400" b="1">
              <a:solidFill>
                <a:srgbClr val="C00000"/>
              </a:solidFill>
              <a:ea typeface="黑体" panose="02010609060101010101" pitchFamily="2" charset="-122"/>
            </a:endParaRPr>
          </a:p>
        </p:txBody>
      </p:sp>
      <p:sp>
        <p:nvSpPr>
          <p:cNvPr id="7" name="Text Box 67"/>
          <p:cNvSpPr txBox="1">
            <a:spLocks noChangeArrowheads="1"/>
          </p:cNvSpPr>
          <p:nvPr/>
        </p:nvSpPr>
        <p:spPr bwMode="auto">
          <a:xfrm>
            <a:off x="7024065" y="2294464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ea typeface="黑体" panose="02010609060101010101" pitchFamily="2" charset="-122"/>
              </a:rPr>
              <a:t>左视图</a:t>
            </a:r>
            <a:endParaRPr lang="zh-CN" altLang="en-US" sz="2400" b="1">
              <a:solidFill>
                <a:srgbClr val="C00000"/>
              </a:solidFill>
              <a:ea typeface="黑体" panose="02010609060101010101" pitchFamily="2" charset="-122"/>
            </a:endParaRPr>
          </a:p>
        </p:txBody>
      </p:sp>
      <p:sp>
        <p:nvSpPr>
          <p:cNvPr id="8" name="Rectangle 111"/>
          <p:cNvSpPr>
            <a:spLocks noChangeArrowheads="1"/>
          </p:cNvSpPr>
          <p:nvPr/>
        </p:nvSpPr>
        <p:spPr bwMode="auto">
          <a:xfrm>
            <a:off x="826122" y="4534747"/>
            <a:ext cx="25058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投影轴省略不画</a:t>
            </a:r>
            <a:endParaRPr kumimoji="0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21"/>
          <p:cNvSpPr/>
          <p:nvPr/>
        </p:nvSpPr>
        <p:spPr bwMode="auto">
          <a:xfrm>
            <a:off x="5250828" y="2926289"/>
            <a:ext cx="1371600" cy="723900"/>
          </a:xfrm>
          <a:custGeom>
            <a:avLst/>
            <a:gdLst>
              <a:gd name="T0" fmla="*/ 0 w 864"/>
              <a:gd name="T1" fmla="*/ 2147483647 h 456"/>
              <a:gd name="T2" fmla="*/ 0 w 864"/>
              <a:gd name="T3" fmla="*/ 2147483647 h 456"/>
              <a:gd name="T4" fmla="*/ 2147483647 w 864"/>
              <a:gd name="T5" fmla="*/ 2147483647 h 456"/>
              <a:gd name="T6" fmla="*/ 2147483647 w 864"/>
              <a:gd name="T7" fmla="*/ 0 h 456"/>
              <a:gd name="T8" fmla="*/ 2147483647 w 864"/>
              <a:gd name="T9" fmla="*/ 2147483647 h 456"/>
              <a:gd name="T10" fmla="*/ 0 w 864"/>
              <a:gd name="T11" fmla="*/ 2147483647 h 4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64" h="456">
                <a:moveTo>
                  <a:pt x="0" y="198"/>
                </a:moveTo>
                <a:lnTo>
                  <a:pt x="0" y="456"/>
                </a:lnTo>
                <a:lnTo>
                  <a:pt x="864" y="456"/>
                </a:lnTo>
                <a:lnTo>
                  <a:pt x="858" y="0"/>
                </a:lnTo>
                <a:lnTo>
                  <a:pt x="408" y="6"/>
                </a:lnTo>
                <a:lnTo>
                  <a:pt x="0" y="19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22"/>
          <p:cNvGrpSpPr/>
          <p:nvPr/>
        </p:nvGrpSpPr>
        <p:grpSpPr bwMode="auto">
          <a:xfrm>
            <a:off x="7228853" y="2935814"/>
            <a:ext cx="746125" cy="704850"/>
            <a:chOff x="4600" y="804"/>
            <a:chExt cx="470" cy="444"/>
          </a:xfrm>
        </p:grpSpPr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4600" y="804"/>
              <a:ext cx="470" cy="44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3" name="Line 24"/>
            <p:cNvSpPr>
              <a:spLocks noChangeShapeType="1"/>
            </p:cNvSpPr>
            <p:nvPr/>
          </p:nvSpPr>
          <p:spPr bwMode="auto">
            <a:xfrm>
              <a:off x="4600" y="1000"/>
              <a:ext cx="47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25"/>
          <p:cNvGrpSpPr/>
          <p:nvPr/>
        </p:nvGrpSpPr>
        <p:grpSpPr bwMode="auto">
          <a:xfrm>
            <a:off x="5249240" y="4180414"/>
            <a:ext cx="1371600" cy="746125"/>
            <a:chOff x="3353" y="1588"/>
            <a:chExt cx="864" cy="470"/>
          </a:xfrm>
        </p:grpSpPr>
        <p:sp>
          <p:nvSpPr>
            <p:cNvPr id="15" name="Line 26"/>
            <p:cNvSpPr>
              <a:spLocks noChangeShapeType="1"/>
            </p:cNvSpPr>
            <p:nvPr/>
          </p:nvSpPr>
          <p:spPr bwMode="auto">
            <a:xfrm>
              <a:off x="3769" y="1588"/>
              <a:ext cx="1" cy="4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27"/>
            <p:cNvSpPr>
              <a:spLocks noChangeArrowheads="1"/>
            </p:cNvSpPr>
            <p:nvPr/>
          </p:nvSpPr>
          <p:spPr bwMode="auto">
            <a:xfrm>
              <a:off x="3353" y="1588"/>
              <a:ext cx="864" cy="47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826122" y="3666540"/>
            <a:ext cx="333407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可见部分的投影画实线，被遮挡的画虚线</a:t>
            </a:r>
            <a:endParaRPr kumimoji="0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Group 88"/>
          <p:cNvGrpSpPr/>
          <p:nvPr/>
        </p:nvGrpSpPr>
        <p:grpSpPr bwMode="auto">
          <a:xfrm>
            <a:off x="5071440" y="2650064"/>
            <a:ext cx="3246438" cy="2636838"/>
            <a:chOff x="3488" y="340"/>
            <a:chExt cx="2045" cy="1661"/>
          </a:xfrm>
        </p:grpSpPr>
        <p:sp>
          <p:nvSpPr>
            <p:cNvPr id="19" name="Line 86"/>
            <p:cNvSpPr>
              <a:spLocks noChangeShapeType="1"/>
            </p:cNvSpPr>
            <p:nvPr/>
          </p:nvSpPr>
          <p:spPr bwMode="auto">
            <a:xfrm>
              <a:off x="3488" y="1156"/>
              <a:ext cx="20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87"/>
            <p:cNvSpPr>
              <a:spLocks noChangeShapeType="1"/>
            </p:cNvSpPr>
            <p:nvPr/>
          </p:nvSpPr>
          <p:spPr bwMode="auto">
            <a:xfrm>
              <a:off x="4671" y="340"/>
              <a:ext cx="0" cy="16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Text Box 130"/>
          <p:cNvSpPr txBox="1">
            <a:spLocks noChangeArrowheads="1"/>
          </p:cNvSpPr>
          <p:nvPr/>
        </p:nvSpPr>
        <p:spPr bwMode="auto">
          <a:xfrm>
            <a:off x="467544" y="1676550"/>
            <a:ext cx="11320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视图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8138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体的投影 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069797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体的三视图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92"/>
          <p:cNvSpPr>
            <a:spLocks noChangeArrowheads="1"/>
          </p:cNvSpPr>
          <p:nvPr/>
        </p:nvSpPr>
        <p:spPr bwMode="auto">
          <a:xfrm>
            <a:off x="4982989" y="1998665"/>
            <a:ext cx="2988786" cy="1445662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主视俯视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相等且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对正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主视左视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相等且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平齐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俯视左视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宽相等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且对应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24750" y="2492896"/>
            <a:ext cx="2994025" cy="3167062"/>
            <a:chOff x="1403477" y="2484056"/>
            <a:chExt cx="2994025" cy="3167062"/>
          </a:xfrm>
        </p:grpSpPr>
        <p:sp>
          <p:nvSpPr>
            <p:cNvPr id="5" name="Text Box 65"/>
            <p:cNvSpPr txBox="1">
              <a:spLocks noChangeArrowheads="1"/>
            </p:cNvSpPr>
            <p:nvPr/>
          </p:nvSpPr>
          <p:spPr bwMode="auto">
            <a:xfrm>
              <a:off x="1465389" y="2504693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2" charset="-122"/>
                </a:rPr>
                <a:t>主视图</a:t>
              </a:r>
              <a:endParaRPr lang="zh-CN" altLang="en-US" sz="24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6" name="Text Box 66"/>
            <p:cNvSpPr txBox="1">
              <a:spLocks noChangeArrowheads="1"/>
            </p:cNvSpPr>
            <p:nvPr/>
          </p:nvSpPr>
          <p:spPr bwMode="auto">
            <a:xfrm>
              <a:off x="1547939" y="5193918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2" charset="-122"/>
                </a:rPr>
                <a:t>俯视图</a:t>
              </a:r>
              <a:endParaRPr lang="zh-CN" altLang="en-US" sz="24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7" name="Text Box 67"/>
            <p:cNvSpPr txBox="1">
              <a:spLocks noChangeArrowheads="1"/>
            </p:cNvSpPr>
            <p:nvPr/>
          </p:nvSpPr>
          <p:spPr bwMode="auto">
            <a:xfrm>
              <a:off x="3178302" y="2484056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2" charset="-122"/>
                </a:rPr>
                <a:t>左视图</a:t>
              </a:r>
              <a:endParaRPr lang="zh-CN" altLang="en-US" sz="24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8" name="Freeform 21"/>
            <p:cNvSpPr/>
            <p:nvPr/>
          </p:nvSpPr>
          <p:spPr bwMode="auto">
            <a:xfrm>
              <a:off x="1405064" y="3115881"/>
              <a:ext cx="1371600" cy="723900"/>
            </a:xfrm>
            <a:custGeom>
              <a:avLst/>
              <a:gdLst>
                <a:gd name="T0" fmla="*/ 0 w 864"/>
                <a:gd name="T1" fmla="*/ 2147483647 h 456"/>
                <a:gd name="T2" fmla="*/ 0 w 864"/>
                <a:gd name="T3" fmla="*/ 2147483647 h 456"/>
                <a:gd name="T4" fmla="*/ 2147483647 w 864"/>
                <a:gd name="T5" fmla="*/ 2147483647 h 456"/>
                <a:gd name="T6" fmla="*/ 2147483647 w 864"/>
                <a:gd name="T7" fmla="*/ 0 h 456"/>
                <a:gd name="T8" fmla="*/ 2147483647 w 864"/>
                <a:gd name="T9" fmla="*/ 2147483647 h 456"/>
                <a:gd name="T10" fmla="*/ 0 w 864"/>
                <a:gd name="T11" fmla="*/ 2147483647 h 4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4" h="456">
                  <a:moveTo>
                    <a:pt x="0" y="198"/>
                  </a:moveTo>
                  <a:lnTo>
                    <a:pt x="0" y="456"/>
                  </a:lnTo>
                  <a:lnTo>
                    <a:pt x="864" y="456"/>
                  </a:lnTo>
                  <a:lnTo>
                    <a:pt x="858" y="0"/>
                  </a:lnTo>
                  <a:lnTo>
                    <a:pt x="408" y="6"/>
                  </a:lnTo>
                  <a:lnTo>
                    <a:pt x="0" y="198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" name="Group 22"/>
            <p:cNvGrpSpPr/>
            <p:nvPr/>
          </p:nvGrpSpPr>
          <p:grpSpPr bwMode="auto">
            <a:xfrm>
              <a:off x="3383089" y="3125406"/>
              <a:ext cx="746125" cy="704850"/>
              <a:chOff x="4600" y="804"/>
              <a:chExt cx="470" cy="444"/>
            </a:xfrm>
          </p:grpSpPr>
          <p:sp>
            <p:nvSpPr>
              <p:cNvPr id="14" name="Rectangle 23"/>
              <p:cNvSpPr>
                <a:spLocks noChangeArrowheads="1"/>
              </p:cNvSpPr>
              <p:nvPr/>
            </p:nvSpPr>
            <p:spPr bwMode="auto">
              <a:xfrm>
                <a:off x="4600" y="804"/>
                <a:ext cx="470" cy="44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5" name="Line 24"/>
              <p:cNvSpPr>
                <a:spLocks noChangeShapeType="1"/>
              </p:cNvSpPr>
              <p:nvPr/>
            </p:nvSpPr>
            <p:spPr bwMode="auto">
              <a:xfrm>
                <a:off x="4600" y="1000"/>
                <a:ext cx="470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25"/>
            <p:cNvGrpSpPr/>
            <p:nvPr/>
          </p:nvGrpSpPr>
          <p:grpSpPr bwMode="auto">
            <a:xfrm>
              <a:off x="1403477" y="4370006"/>
              <a:ext cx="1371600" cy="746125"/>
              <a:chOff x="3353" y="1588"/>
              <a:chExt cx="864" cy="470"/>
            </a:xfrm>
          </p:grpSpPr>
          <p:sp>
            <p:nvSpPr>
              <p:cNvPr id="12" name="Line 26"/>
              <p:cNvSpPr>
                <a:spLocks noChangeShapeType="1"/>
              </p:cNvSpPr>
              <p:nvPr/>
            </p:nvSpPr>
            <p:spPr bwMode="auto">
              <a:xfrm>
                <a:off x="3769" y="1588"/>
                <a:ext cx="1" cy="47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Rectangle 27"/>
              <p:cNvSpPr>
                <a:spLocks noChangeArrowheads="1"/>
              </p:cNvSpPr>
              <p:nvPr/>
            </p:nvSpPr>
            <p:spPr bwMode="auto">
              <a:xfrm>
                <a:off x="3353" y="1588"/>
                <a:ext cx="864" cy="47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</p:grpSp>
      <p:grpSp>
        <p:nvGrpSpPr>
          <p:cNvPr id="16" name="Group 88"/>
          <p:cNvGrpSpPr/>
          <p:nvPr/>
        </p:nvGrpSpPr>
        <p:grpSpPr bwMode="auto">
          <a:xfrm>
            <a:off x="646950" y="2848496"/>
            <a:ext cx="3246437" cy="2636837"/>
            <a:chOff x="3488" y="340"/>
            <a:chExt cx="2045" cy="1661"/>
          </a:xfrm>
        </p:grpSpPr>
        <p:sp>
          <p:nvSpPr>
            <p:cNvPr id="17" name="Line 86"/>
            <p:cNvSpPr>
              <a:spLocks noChangeShapeType="1"/>
            </p:cNvSpPr>
            <p:nvPr/>
          </p:nvSpPr>
          <p:spPr bwMode="auto">
            <a:xfrm>
              <a:off x="3488" y="1156"/>
              <a:ext cx="20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87"/>
            <p:cNvSpPr>
              <a:spLocks noChangeShapeType="1"/>
            </p:cNvSpPr>
            <p:nvPr/>
          </p:nvSpPr>
          <p:spPr bwMode="auto">
            <a:xfrm>
              <a:off x="4671" y="340"/>
              <a:ext cx="0" cy="16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129"/>
          <p:cNvGrpSpPr/>
          <p:nvPr/>
        </p:nvGrpSpPr>
        <p:grpSpPr bwMode="auto">
          <a:xfrm>
            <a:off x="567575" y="2627833"/>
            <a:ext cx="3468687" cy="2960688"/>
            <a:chOff x="3438" y="192"/>
            <a:chExt cx="2185" cy="1865"/>
          </a:xfrm>
        </p:grpSpPr>
        <p:sp>
          <p:nvSpPr>
            <p:cNvPr id="20" name="Line 106"/>
            <p:cNvSpPr>
              <a:spLocks noChangeShapeType="1"/>
            </p:cNvSpPr>
            <p:nvPr/>
          </p:nvSpPr>
          <p:spPr bwMode="auto">
            <a:xfrm>
              <a:off x="3438" y="1152"/>
              <a:ext cx="218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07"/>
            <p:cNvSpPr>
              <a:spLocks noChangeShapeType="1"/>
            </p:cNvSpPr>
            <p:nvPr/>
          </p:nvSpPr>
          <p:spPr bwMode="auto">
            <a:xfrm flipV="1">
              <a:off x="4672" y="192"/>
              <a:ext cx="0" cy="1865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42"/>
          <p:cNvGrpSpPr/>
          <p:nvPr/>
        </p:nvGrpSpPr>
        <p:grpSpPr bwMode="auto">
          <a:xfrm>
            <a:off x="2196350" y="3124721"/>
            <a:ext cx="649287" cy="714375"/>
            <a:chOff x="4217" y="798"/>
            <a:chExt cx="409" cy="450"/>
          </a:xfrm>
        </p:grpSpPr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 rot="-5400000">
              <a:off x="4259" y="940"/>
              <a:ext cx="2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高</a:t>
              </a:r>
              <a:endParaRPr lang="zh-CN" altLang="en-US" sz="1800" b="1"/>
            </a:p>
          </p:txBody>
        </p:sp>
        <p:sp>
          <p:nvSpPr>
            <p:cNvPr id="24" name="Line 44"/>
            <p:cNvSpPr>
              <a:spLocks noChangeShapeType="1"/>
            </p:cNvSpPr>
            <p:nvPr/>
          </p:nvSpPr>
          <p:spPr bwMode="auto">
            <a:xfrm>
              <a:off x="4217" y="798"/>
              <a:ext cx="3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45"/>
            <p:cNvSpPr>
              <a:spLocks noChangeShapeType="1"/>
            </p:cNvSpPr>
            <p:nvPr/>
          </p:nvSpPr>
          <p:spPr bwMode="auto">
            <a:xfrm>
              <a:off x="4217" y="1248"/>
              <a:ext cx="4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46"/>
            <p:cNvSpPr>
              <a:spLocks noChangeShapeType="1"/>
            </p:cNvSpPr>
            <p:nvPr/>
          </p:nvSpPr>
          <p:spPr bwMode="auto">
            <a:xfrm>
              <a:off x="4464" y="798"/>
              <a:ext cx="0" cy="4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28"/>
          <p:cNvGrpSpPr/>
          <p:nvPr/>
        </p:nvGrpSpPr>
        <p:grpSpPr bwMode="auto">
          <a:xfrm>
            <a:off x="2197937" y="3800996"/>
            <a:ext cx="1352550" cy="1323975"/>
            <a:chOff x="4218" y="1224"/>
            <a:chExt cx="852" cy="834"/>
          </a:xfrm>
        </p:grpSpPr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 rot="-5400000">
              <a:off x="4128" y="1643"/>
              <a:ext cx="4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宽</a:t>
              </a:r>
              <a:endParaRPr lang="zh-CN" altLang="en-US" sz="1600" b="1"/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4704" y="1224"/>
              <a:ext cx="34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宽</a:t>
              </a:r>
              <a:endParaRPr lang="zh-CN" altLang="en-US" sz="1800" b="1"/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4218" y="1588"/>
              <a:ext cx="24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4600" y="1248"/>
              <a:ext cx="0" cy="2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5070" y="1248"/>
              <a:ext cx="0" cy="2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4416" y="1582"/>
              <a:ext cx="0" cy="4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4600" y="1425"/>
              <a:ext cx="4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4218" y="2058"/>
              <a:ext cx="24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" name="Group 37"/>
          <p:cNvGrpSpPr/>
          <p:nvPr/>
        </p:nvGrpSpPr>
        <p:grpSpPr bwMode="auto">
          <a:xfrm>
            <a:off x="824750" y="3839096"/>
            <a:ext cx="1373187" cy="539750"/>
            <a:chOff x="3353" y="1248"/>
            <a:chExt cx="865" cy="340"/>
          </a:xfrm>
        </p:grpSpPr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353" y="1248"/>
              <a:ext cx="0" cy="3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4218" y="1254"/>
              <a:ext cx="0" cy="3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354" y="1467"/>
              <a:ext cx="8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38"/>
            <p:cNvSpPr txBox="1">
              <a:spLocks noChangeArrowheads="1"/>
            </p:cNvSpPr>
            <p:nvPr/>
          </p:nvSpPr>
          <p:spPr bwMode="auto">
            <a:xfrm>
              <a:off x="3648" y="1283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长</a:t>
              </a:r>
              <a:endParaRPr lang="zh-CN" altLang="en-US" sz="1800" b="1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755938" y="4562554"/>
            <a:ext cx="1513816" cy="1544538"/>
            <a:chOff x="5755938" y="4562554"/>
            <a:chExt cx="1513816" cy="1544538"/>
          </a:xfrm>
        </p:grpSpPr>
        <p:sp>
          <p:nvSpPr>
            <p:cNvPr id="43" name="任意多边形 6"/>
            <p:cNvSpPr/>
            <p:nvPr/>
          </p:nvSpPr>
          <p:spPr>
            <a:xfrm>
              <a:off x="5989213" y="5069949"/>
              <a:ext cx="1037143" cy="1037143"/>
            </a:xfrm>
            <a:custGeom>
              <a:avLst/>
              <a:gdLst>
                <a:gd name="connsiteX0" fmla="*/ 0 w 1037143"/>
                <a:gd name="connsiteY0" fmla="*/ 518572 h 1037143"/>
                <a:gd name="connsiteX1" fmla="*/ 518572 w 1037143"/>
                <a:gd name="connsiteY1" fmla="*/ 0 h 1037143"/>
                <a:gd name="connsiteX2" fmla="*/ 1037144 w 1037143"/>
                <a:gd name="connsiteY2" fmla="*/ 518572 h 1037143"/>
                <a:gd name="connsiteX3" fmla="*/ 518572 w 1037143"/>
                <a:gd name="connsiteY3" fmla="*/ 1037144 h 1037143"/>
                <a:gd name="connsiteX4" fmla="*/ 0 w 1037143"/>
                <a:gd name="connsiteY4" fmla="*/ 518572 h 103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7143" h="1037143">
                  <a:moveTo>
                    <a:pt x="0" y="518572"/>
                  </a:moveTo>
                  <a:cubicBezTo>
                    <a:pt x="0" y="232173"/>
                    <a:pt x="232173" y="0"/>
                    <a:pt x="518572" y="0"/>
                  </a:cubicBezTo>
                  <a:cubicBezTo>
                    <a:pt x="804971" y="0"/>
                    <a:pt x="1037144" y="232173"/>
                    <a:pt x="1037144" y="518572"/>
                  </a:cubicBezTo>
                  <a:cubicBezTo>
                    <a:pt x="1037144" y="804971"/>
                    <a:pt x="804971" y="1037144"/>
                    <a:pt x="518572" y="1037144"/>
                  </a:cubicBezTo>
                  <a:cubicBezTo>
                    <a:pt x="232173" y="1037144"/>
                    <a:pt x="0" y="804971"/>
                    <a:pt x="0" y="518572"/>
                  </a:cubicBez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6491" tIns="166491" rIns="166491" bIns="166491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300" kern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三等关系</a:t>
              </a:r>
              <a:endParaRPr lang="zh-CN" altLang="en-US" sz="23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左箭头 7"/>
            <p:cNvSpPr/>
            <p:nvPr/>
          </p:nvSpPr>
          <p:spPr>
            <a:xfrm rot="12900000">
              <a:off x="5755938" y="5024533"/>
              <a:ext cx="314916" cy="295586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6" name="左箭头 9"/>
            <p:cNvSpPr/>
            <p:nvPr/>
          </p:nvSpPr>
          <p:spPr>
            <a:xfrm rot="16200000">
              <a:off x="6278878" y="4643667"/>
              <a:ext cx="457812" cy="295586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519836"/>
                <a:satOff val="1607"/>
                <a:lumOff val="-294"/>
                <a:alphaOff val="0"/>
              </a:schemeClr>
            </a:fillRef>
            <a:effectRef idx="1">
              <a:schemeClr val="accent5">
                <a:hueOff val="-1519836"/>
                <a:satOff val="1607"/>
                <a:lumOff val="-294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左箭头 11"/>
            <p:cNvSpPr/>
            <p:nvPr/>
          </p:nvSpPr>
          <p:spPr>
            <a:xfrm rot="19500000">
              <a:off x="6943707" y="5021340"/>
              <a:ext cx="326047" cy="295586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039673"/>
                <a:satOff val="3213"/>
                <a:lumOff val="-588"/>
                <a:alphaOff val="0"/>
              </a:schemeClr>
            </a:fillRef>
            <a:effectRef idx="1">
              <a:schemeClr val="accent5">
                <a:hueOff val="-3039673"/>
                <a:satOff val="3213"/>
                <a:lumOff val="-58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49" name="任意多边形 12"/>
          <p:cNvSpPr/>
          <p:nvPr/>
        </p:nvSpPr>
        <p:spPr>
          <a:xfrm>
            <a:off x="7178404" y="4379881"/>
            <a:ext cx="985286" cy="788229"/>
          </a:xfrm>
          <a:custGeom>
            <a:avLst/>
            <a:gdLst>
              <a:gd name="connsiteX0" fmla="*/ 0 w 985286"/>
              <a:gd name="connsiteY0" fmla="*/ 78823 h 788229"/>
              <a:gd name="connsiteX1" fmla="*/ 78823 w 985286"/>
              <a:gd name="connsiteY1" fmla="*/ 0 h 788229"/>
              <a:gd name="connsiteX2" fmla="*/ 906463 w 985286"/>
              <a:gd name="connsiteY2" fmla="*/ 0 h 788229"/>
              <a:gd name="connsiteX3" fmla="*/ 985286 w 985286"/>
              <a:gd name="connsiteY3" fmla="*/ 78823 h 788229"/>
              <a:gd name="connsiteX4" fmla="*/ 985286 w 985286"/>
              <a:gd name="connsiteY4" fmla="*/ 709406 h 788229"/>
              <a:gd name="connsiteX5" fmla="*/ 906463 w 985286"/>
              <a:gd name="connsiteY5" fmla="*/ 788229 h 788229"/>
              <a:gd name="connsiteX6" fmla="*/ 78823 w 985286"/>
              <a:gd name="connsiteY6" fmla="*/ 788229 h 788229"/>
              <a:gd name="connsiteX7" fmla="*/ 0 w 985286"/>
              <a:gd name="connsiteY7" fmla="*/ 709406 h 788229"/>
              <a:gd name="connsiteX8" fmla="*/ 0 w 985286"/>
              <a:gd name="connsiteY8" fmla="*/ 78823 h 78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286" h="788229">
                <a:moveTo>
                  <a:pt x="0" y="78823"/>
                </a:moveTo>
                <a:cubicBezTo>
                  <a:pt x="0" y="35290"/>
                  <a:pt x="35290" y="0"/>
                  <a:pt x="78823" y="0"/>
                </a:cubicBezTo>
                <a:lnTo>
                  <a:pt x="906463" y="0"/>
                </a:lnTo>
                <a:cubicBezTo>
                  <a:pt x="949996" y="0"/>
                  <a:pt x="985286" y="35290"/>
                  <a:pt x="985286" y="78823"/>
                </a:cubicBezTo>
                <a:lnTo>
                  <a:pt x="985286" y="709406"/>
                </a:lnTo>
                <a:cubicBezTo>
                  <a:pt x="985286" y="752939"/>
                  <a:pt x="949996" y="788229"/>
                  <a:pt x="906463" y="788229"/>
                </a:cubicBezTo>
                <a:lnTo>
                  <a:pt x="78823" y="788229"/>
                </a:lnTo>
                <a:cubicBezTo>
                  <a:pt x="35290" y="788229"/>
                  <a:pt x="0" y="752939"/>
                  <a:pt x="0" y="709406"/>
                </a:cubicBezTo>
                <a:lnTo>
                  <a:pt x="0" y="78823"/>
                </a:lnTo>
                <a:close/>
              </a:path>
            </a:pathLst>
          </a:custGeom>
          <a:solidFill>
            <a:srgbClr val="7030A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3039673"/>
              <a:satOff val="3213"/>
              <a:lumOff val="-588"/>
              <a:alphaOff val="0"/>
            </a:schemeClr>
          </a:fillRef>
          <a:effectRef idx="1">
            <a:schemeClr val="accent5">
              <a:hueOff val="-3039673"/>
              <a:satOff val="3213"/>
              <a:lumOff val="-58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996" tIns="64996" rIns="64996" bIns="64996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2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宽相等</a:t>
            </a:r>
            <a:endParaRPr lang="zh-CN" altLang="en-US" sz="22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Box 130"/>
          <p:cNvSpPr txBox="1">
            <a:spLocks noChangeArrowheads="1"/>
          </p:cNvSpPr>
          <p:nvPr/>
        </p:nvSpPr>
        <p:spPr bwMode="auto">
          <a:xfrm>
            <a:off x="467544" y="1676550"/>
            <a:ext cx="36968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三视图之间的度量对应关系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8"/>
          <p:cNvSpPr/>
          <p:nvPr/>
        </p:nvSpPr>
        <p:spPr>
          <a:xfrm>
            <a:off x="4851878" y="4379881"/>
            <a:ext cx="985286" cy="788229"/>
          </a:xfrm>
          <a:custGeom>
            <a:avLst/>
            <a:gdLst>
              <a:gd name="connsiteX0" fmla="*/ 0 w 985286"/>
              <a:gd name="connsiteY0" fmla="*/ 78823 h 788229"/>
              <a:gd name="connsiteX1" fmla="*/ 78823 w 985286"/>
              <a:gd name="connsiteY1" fmla="*/ 0 h 788229"/>
              <a:gd name="connsiteX2" fmla="*/ 906463 w 985286"/>
              <a:gd name="connsiteY2" fmla="*/ 0 h 788229"/>
              <a:gd name="connsiteX3" fmla="*/ 985286 w 985286"/>
              <a:gd name="connsiteY3" fmla="*/ 78823 h 788229"/>
              <a:gd name="connsiteX4" fmla="*/ 985286 w 985286"/>
              <a:gd name="connsiteY4" fmla="*/ 709406 h 788229"/>
              <a:gd name="connsiteX5" fmla="*/ 906463 w 985286"/>
              <a:gd name="connsiteY5" fmla="*/ 788229 h 788229"/>
              <a:gd name="connsiteX6" fmla="*/ 78823 w 985286"/>
              <a:gd name="connsiteY6" fmla="*/ 788229 h 788229"/>
              <a:gd name="connsiteX7" fmla="*/ 0 w 985286"/>
              <a:gd name="connsiteY7" fmla="*/ 709406 h 788229"/>
              <a:gd name="connsiteX8" fmla="*/ 0 w 985286"/>
              <a:gd name="connsiteY8" fmla="*/ 78823 h 78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286" h="788229">
                <a:moveTo>
                  <a:pt x="0" y="78823"/>
                </a:moveTo>
                <a:cubicBezTo>
                  <a:pt x="0" y="35290"/>
                  <a:pt x="35290" y="0"/>
                  <a:pt x="78823" y="0"/>
                </a:cubicBezTo>
                <a:lnTo>
                  <a:pt x="906463" y="0"/>
                </a:lnTo>
                <a:cubicBezTo>
                  <a:pt x="949996" y="0"/>
                  <a:pt x="985286" y="35290"/>
                  <a:pt x="985286" y="78823"/>
                </a:cubicBezTo>
                <a:lnTo>
                  <a:pt x="985286" y="709406"/>
                </a:lnTo>
                <a:cubicBezTo>
                  <a:pt x="985286" y="752939"/>
                  <a:pt x="949996" y="788229"/>
                  <a:pt x="906463" y="788229"/>
                </a:cubicBezTo>
                <a:lnTo>
                  <a:pt x="78823" y="788229"/>
                </a:lnTo>
                <a:cubicBezTo>
                  <a:pt x="35290" y="788229"/>
                  <a:pt x="0" y="752939"/>
                  <a:pt x="0" y="709406"/>
                </a:cubicBezTo>
                <a:lnTo>
                  <a:pt x="0" y="78823"/>
                </a:lnTo>
                <a:close/>
              </a:path>
            </a:pathLst>
          </a:custGeom>
          <a:solidFill>
            <a:srgbClr val="00604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996" tIns="64996" rIns="64996" bIns="64996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2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长对正</a:t>
            </a:r>
            <a:endParaRPr lang="zh-CN" altLang="en-US" sz="22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任意多边形 10"/>
          <p:cNvSpPr/>
          <p:nvPr/>
        </p:nvSpPr>
        <p:spPr>
          <a:xfrm>
            <a:off x="6015141" y="3774325"/>
            <a:ext cx="985286" cy="788229"/>
          </a:xfrm>
          <a:custGeom>
            <a:avLst/>
            <a:gdLst>
              <a:gd name="connsiteX0" fmla="*/ 0 w 985286"/>
              <a:gd name="connsiteY0" fmla="*/ 78823 h 788229"/>
              <a:gd name="connsiteX1" fmla="*/ 78823 w 985286"/>
              <a:gd name="connsiteY1" fmla="*/ 0 h 788229"/>
              <a:gd name="connsiteX2" fmla="*/ 906463 w 985286"/>
              <a:gd name="connsiteY2" fmla="*/ 0 h 788229"/>
              <a:gd name="connsiteX3" fmla="*/ 985286 w 985286"/>
              <a:gd name="connsiteY3" fmla="*/ 78823 h 788229"/>
              <a:gd name="connsiteX4" fmla="*/ 985286 w 985286"/>
              <a:gd name="connsiteY4" fmla="*/ 709406 h 788229"/>
              <a:gd name="connsiteX5" fmla="*/ 906463 w 985286"/>
              <a:gd name="connsiteY5" fmla="*/ 788229 h 788229"/>
              <a:gd name="connsiteX6" fmla="*/ 78823 w 985286"/>
              <a:gd name="connsiteY6" fmla="*/ 788229 h 788229"/>
              <a:gd name="connsiteX7" fmla="*/ 0 w 985286"/>
              <a:gd name="connsiteY7" fmla="*/ 709406 h 788229"/>
              <a:gd name="connsiteX8" fmla="*/ 0 w 985286"/>
              <a:gd name="connsiteY8" fmla="*/ 78823 h 78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286" h="788229">
                <a:moveTo>
                  <a:pt x="0" y="78823"/>
                </a:moveTo>
                <a:cubicBezTo>
                  <a:pt x="0" y="35290"/>
                  <a:pt x="35290" y="0"/>
                  <a:pt x="78823" y="0"/>
                </a:cubicBezTo>
                <a:lnTo>
                  <a:pt x="906463" y="0"/>
                </a:lnTo>
                <a:cubicBezTo>
                  <a:pt x="949996" y="0"/>
                  <a:pt x="985286" y="35290"/>
                  <a:pt x="985286" y="78823"/>
                </a:cubicBezTo>
                <a:lnTo>
                  <a:pt x="985286" y="709406"/>
                </a:lnTo>
                <a:cubicBezTo>
                  <a:pt x="985286" y="752939"/>
                  <a:pt x="949996" y="788229"/>
                  <a:pt x="906463" y="788229"/>
                </a:cubicBezTo>
                <a:lnTo>
                  <a:pt x="78823" y="788229"/>
                </a:lnTo>
                <a:cubicBezTo>
                  <a:pt x="35290" y="788229"/>
                  <a:pt x="0" y="752939"/>
                  <a:pt x="0" y="709406"/>
                </a:cubicBezTo>
                <a:lnTo>
                  <a:pt x="0" y="78823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1519836"/>
              <a:satOff val="1607"/>
              <a:lumOff val="-294"/>
              <a:alphaOff val="0"/>
            </a:schemeClr>
          </a:fillRef>
          <a:effectRef idx="1">
            <a:schemeClr val="accent5">
              <a:hueOff val="-1519836"/>
              <a:satOff val="1607"/>
              <a:lumOff val="-29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4996" tIns="64996" rIns="64996" bIns="64996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2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高平齐</a:t>
            </a:r>
            <a:endParaRPr lang="zh-CN" altLang="en-US" sz="22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49" grpId="0" animBg="1"/>
      <p:bldP spid="45" grpId="0" animBg="1"/>
      <p:bldP spid="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81386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体的投影 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069797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体的三视图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74089" y="4855004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黑体" panose="02010609060101010101" pitchFamily="2" charset="-122"/>
              </a:rPr>
              <a:t>左</a:t>
            </a:r>
            <a:endParaRPr lang="zh-CN" altLang="en-US" sz="2000" b="1">
              <a:ea typeface="黑体" panose="0201060906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456608" y="4855004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黑体" panose="02010609060101010101" pitchFamily="2" charset="-122"/>
              </a:rPr>
              <a:t>右</a:t>
            </a:r>
            <a:endParaRPr lang="zh-CN" altLang="en-US" sz="2000" b="1">
              <a:ea typeface="黑体" panose="0201060906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528585" y="4240642"/>
            <a:ext cx="4905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后</a:t>
            </a:r>
            <a:endParaRPr lang="zh-CN" altLang="en-US" sz="2000" b="1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28584" y="5509609"/>
            <a:ext cx="490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前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756546" y="2356064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黑体" panose="02010609060101010101" pitchFamily="2" charset="-122"/>
              </a:rPr>
              <a:t>上</a:t>
            </a:r>
            <a:endParaRPr lang="zh-CN" altLang="en-US" sz="2000" b="1">
              <a:ea typeface="黑体" panose="02010609060101010101" pitchFamily="2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754958" y="3543700"/>
            <a:ext cx="5603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ea typeface="黑体" panose="02010609060101010101" pitchFamily="2" charset="-122"/>
              </a:rPr>
              <a:t>下</a:t>
            </a:r>
            <a:endParaRPr lang="zh-CN" altLang="en-US" sz="2000" b="1" dirty="0">
              <a:ea typeface="黑体" panose="02010609060101010101" pitchFamily="2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381140" y="3037176"/>
            <a:ext cx="490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前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175732" y="3037176"/>
            <a:ext cx="4905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后</a:t>
            </a:r>
            <a:endParaRPr lang="zh-CN" altLang="en-US" sz="2000" b="1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552478" y="2333839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ea typeface="黑体" panose="02010609060101010101" pitchFamily="2" charset="-122"/>
              </a:rPr>
              <a:t>上</a:t>
            </a:r>
            <a:endParaRPr lang="zh-CN" altLang="en-US" sz="2000" b="1" dirty="0">
              <a:ea typeface="黑体" panose="02010609060101010101" pitchFamily="2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552478" y="3543700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黑体" panose="02010609060101010101" pitchFamily="2" charset="-122"/>
              </a:rPr>
              <a:t>下</a:t>
            </a:r>
            <a:endParaRPr lang="zh-CN" altLang="en-US" sz="2000" b="1">
              <a:ea typeface="黑体" panose="02010609060101010101" pitchFamily="2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74089" y="3021787"/>
            <a:ext cx="560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黑体" panose="02010609060101010101" pitchFamily="2" charset="-122"/>
              </a:rPr>
              <a:t>左</a:t>
            </a:r>
            <a:endParaRPr lang="zh-CN" altLang="en-US" sz="2000" b="1">
              <a:ea typeface="黑体" panose="02010609060101010101" pitchFamily="2" charset="-122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2456608" y="3021787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黑体" panose="02010609060101010101" pitchFamily="2" charset="-122"/>
              </a:rPr>
              <a:t>右</a:t>
            </a:r>
            <a:endParaRPr lang="zh-CN" altLang="en-US" sz="2000" b="1">
              <a:ea typeface="黑体" panose="02010609060101010101" pitchFamily="2" charset="-122"/>
            </a:endParaRPr>
          </a:p>
        </p:txBody>
      </p:sp>
      <p:grpSp>
        <p:nvGrpSpPr>
          <p:cNvPr id="18" name="Group 26"/>
          <p:cNvGrpSpPr/>
          <p:nvPr/>
        </p:nvGrpSpPr>
        <p:grpSpPr bwMode="auto">
          <a:xfrm>
            <a:off x="6877233" y="3014790"/>
            <a:ext cx="582613" cy="1785271"/>
            <a:chOff x="4143" y="2140"/>
            <a:chExt cx="367" cy="856"/>
          </a:xfrm>
        </p:grpSpPr>
        <p:sp>
          <p:nvSpPr>
            <p:cNvPr id="41" name="Text Box 27"/>
            <p:cNvSpPr txBox="1">
              <a:spLocks noChangeArrowheads="1"/>
            </p:cNvSpPr>
            <p:nvPr/>
          </p:nvSpPr>
          <p:spPr bwMode="auto">
            <a:xfrm>
              <a:off x="4143" y="2140"/>
              <a:ext cx="27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ea typeface="黑体" panose="02010609060101010101" pitchFamily="2" charset="-122"/>
                </a:rPr>
                <a:t>上</a:t>
              </a:r>
              <a:endParaRPr lang="zh-CN" altLang="en-US" sz="2000" b="1" dirty="0">
                <a:ea typeface="黑体" panose="02010609060101010101" pitchFamily="2" charset="-122"/>
              </a:endParaRPr>
            </a:p>
          </p:txBody>
        </p:sp>
        <p:sp>
          <p:nvSpPr>
            <p:cNvPr id="42" name="Text Box 28"/>
            <p:cNvSpPr txBox="1">
              <a:spLocks noChangeArrowheads="1"/>
            </p:cNvSpPr>
            <p:nvPr/>
          </p:nvSpPr>
          <p:spPr bwMode="auto">
            <a:xfrm>
              <a:off x="4157" y="2804"/>
              <a:ext cx="3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ea typeface="黑体" panose="02010609060101010101" pitchFamily="2" charset="-122"/>
                </a:rPr>
                <a:t>下</a:t>
              </a:r>
              <a:endParaRPr lang="zh-CN" altLang="en-US" sz="2000" b="1" dirty="0">
                <a:ea typeface="黑体" panose="02010609060101010101" pitchFamily="2" charset="-122"/>
              </a:endParaRPr>
            </a:p>
          </p:txBody>
        </p:sp>
      </p:grpSp>
      <p:grpSp>
        <p:nvGrpSpPr>
          <p:cNvPr id="19" name="Group 29"/>
          <p:cNvGrpSpPr/>
          <p:nvPr/>
        </p:nvGrpSpPr>
        <p:grpSpPr bwMode="auto">
          <a:xfrm>
            <a:off x="5750306" y="3813449"/>
            <a:ext cx="2530774" cy="400050"/>
            <a:chOff x="3604" y="2423"/>
            <a:chExt cx="1283" cy="252"/>
          </a:xfrm>
        </p:grpSpPr>
        <p:sp>
          <p:nvSpPr>
            <p:cNvPr id="39" name="Text Box 30"/>
            <p:cNvSpPr txBox="1">
              <a:spLocks noChangeArrowheads="1"/>
            </p:cNvSpPr>
            <p:nvPr/>
          </p:nvSpPr>
          <p:spPr bwMode="auto">
            <a:xfrm>
              <a:off x="3604" y="2423"/>
              <a:ext cx="34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ea typeface="黑体" panose="02010609060101010101" pitchFamily="2" charset="-122"/>
                </a:rPr>
                <a:t>左</a:t>
              </a:r>
              <a:endParaRPr lang="zh-CN" altLang="en-US" sz="2000" b="1" dirty="0">
                <a:ea typeface="黑体" panose="02010609060101010101" pitchFamily="2" charset="-122"/>
              </a:endParaRPr>
            </a:p>
          </p:txBody>
        </p:sp>
        <p:sp>
          <p:nvSpPr>
            <p:cNvPr id="40" name="Text Box 31"/>
            <p:cNvSpPr txBox="1">
              <a:spLocks noChangeArrowheads="1"/>
            </p:cNvSpPr>
            <p:nvPr/>
          </p:nvSpPr>
          <p:spPr bwMode="auto">
            <a:xfrm>
              <a:off x="4663" y="2423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ea typeface="黑体" panose="02010609060101010101" pitchFamily="2" charset="-122"/>
                </a:rPr>
                <a:t>右</a:t>
              </a:r>
              <a:endParaRPr lang="zh-CN" altLang="en-US" sz="2000" b="1" dirty="0">
                <a:ea typeface="黑体" panose="02010609060101010101" pitchFamily="2" charset="-122"/>
              </a:endParaRPr>
            </a:p>
          </p:txBody>
        </p:sp>
      </p:grpSp>
      <p:grpSp>
        <p:nvGrpSpPr>
          <p:cNvPr id="20" name="Group 32"/>
          <p:cNvGrpSpPr/>
          <p:nvPr/>
        </p:nvGrpSpPr>
        <p:grpSpPr bwMode="auto">
          <a:xfrm>
            <a:off x="6026093" y="2505581"/>
            <a:ext cx="2255383" cy="2817675"/>
            <a:chOff x="3718" y="1721"/>
            <a:chExt cx="1079" cy="1345"/>
          </a:xfrm>
        </p:grpSpPr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4585" y="2875"/>
              <a:ext cx="212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ea typeface="黑体" panose="02010609060101010101" pitchFamily="2" charset="-122"/>
                </a:rPr>
                <a:t>前</a:t>
              </a:r>
              <a:endParaRPr lang="zh-CN" altLang="en-US" sz="2000" b="1">
                <a:ea typeface="黑体" panose="02010609060101010101" pitchFamily="2" charset="-122"/>
              </a:endParaRPr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3718" y="1721"/>
              <a:ext cx="212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 dirty="0">
                  <a:ea typeface="黑体" panose="02010609060101010101" pitchFamily="2" charset="-122"/>
                </a:rPr>
                <a:t>后</a:t>
              </a:r>
              <a:endParaRPr lang="zh-CN" altLang="en-US" sz="2000" b="1" dirty="0">
                <a:ea typeface="黑体" panose="02010609060101010101" pitchFamily="2" charset="-122"/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3865" y="1920"/>
              <a:ext cx="200" cy="2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H="1" flipV="1">
              <a:off x="4418" y="2659"/>
              <a:ext cx="191" cy="2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</p:grpSp>
      <p:grpSp>
        <p:nvGrpSpPr>
          <p:cNvPr id="21" name="Group 71"/>
          <p:cNvGrpSpPr/>
          <p:nvPr/>
        </p:nvGrpSpPr>
        <p:grpSpPr bwMode="auto">
          <a:xfrm>
            <a:off x="6275566" y="3440387"/>
            <a:ext cx="1466850" cy="939800"/>
            <a:chOff x="2212" y="1728"/>
            <a:chExt cx="924" cy="592"/>
          </a:xfrm>
        </p:grpSpPr>
        <p:sp>
          <p:nvSpPr>
            <p:cNvPr id="29" name="Freeform 72"/>
            <p:cNvSpPr/>
            <p:nvPr/>
          </p:nvSpPr>
          <p:spPr bwMode="auto">
            <a:xfrm>
              <a:off x="2232" y="1732"/>
              <a:ext cx="900" cy="580"/>
            </a:xfrm>
            <a:custGeom>
              <a:avLst/>
              <a:gdLst>
                <a:gd name="T0" fmla="*/ 200 w 900"/>
                <a:gd name="T1" fmla="*/ 580 h 580"/>
                <a:gd name="T2" fmla="*/ 900 w 900"/>
                <a:gd name="T3" fmla="*/ 572 h 580"/>
                <a:gd name="T4" fmla="*/ 900 w 900"/>
                <a:gd name="T5" fmla="*/ 211 h 580"/>
                <a:gd name="T6" fmla="*/ 688 w 900"/>
                <a:gd name="T7" fmla="*/ 0 h 580"/>
                <a:gd name="T8" fmla="*/ 312 w 900"/>
                <a:gd name="T9" fmla="*/ 0 h 580"/>
                <a:gd name="T10" fmla="*/ 0 w 900"/>
                <a:gd name="T11" fmla="*/ 172 h 580"/>
                <a:gd name="T12" fmla="*/ 8 w 900"/>
                <a:gd name="T13" fmla="*/ 364 h 580"/>
                <a:gd name="T14" fmla="*/ 200 w 900"/>
                <a:gd name="T15" fmla="*/ 580 h 5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0" h="580">
                  <a:moveTo>
                    <a:pt x="200" y="580"/>
                  </a:moveTo>
                  <a:lnTo>
                    <a:pt x="900" y="572"/>
                  </a:lnTo>
                  <a:lnTo>
                    <a:pt x="900" y="211"/>
                  </a:lnTo>
                  <a:lnTo>
                    <a:pt x="688" y="0"/>
                  </a:lnTo>
                  <a:lnTo>
                    <a:pt x="312" y="0"/>
                  </a:lnTo>
                  <a:lnTo>
                    <a:pt x="0" y="172"/>
                  </a:lnTo>
                  <a:lnTo>
                    <a:pt x="8" y="364"/>
                  </a:lnTo>
                  <a:lnTo>
                    <a:pt x="200" y="58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0" name="Freeform 73"/>
            <p:cNvSpPr/>
            <p:nvPr/>
          </p:nvSpPr>
          <p:spPr bwMode="auto">
            <a:xfrm>
              <a:off x="2212" y="1890"/>
              <a:ext cx="218" cy="420"/>
            </a:xfrm>
            <a:custGeom>
              <a:avLst/>
              <a:gdLst>
                <a:gd name="T0" fmla="*/ 2 w 218"/>
                <a:gd name="T1" fmla="*/ 0 h 420"/>
                <a:gd name="T2" fmla="*/ 0 w 218"/>
                <a:gd name="T3" fmla="*/ 206 h 420"/>
                <a:gd name="T4" fmla="*/ 218 w 218"/>
                <a:gd name="T5" fmla="*/ 420 h 420"/>
                <a:gd name="T6" fmla="*/ 218 w 218"/>
                <a:gd name="T7" fmla="*/ 216 h 420"/>
                <a:gd name="T8" fmla="*/ 2 w 218"/>
                <a:gd name="T9" fmla="*/ 0 h 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8" h="420">
                  <a:moveTo>
                    <a:pt x="2" y="0"/>
                  </a:moveTo>
                  <a:lnTo>
                    <a:pt x="0" y="206"/>
                  </a:lnTo>
                  <a:lnTo>
                    <a:pt x="218" y="420"/>
                  </a:lnTo>
                  <a:lnTo>
                    <a:pt x="218" y="216"/>
                  </a:lnTo>
                  <a:lnTo>
                    <a:pt x="2" y="0"/>
                  </a:lnTo>
                  <a:close/>
                </a:path>
              </a:pathLst>
            </a:custGeom>
            <a:gradFill rotWithShape="0">
              <a:gsLst>
                <a:gs pos="0">
                  <a:srgbClr val="CA0000"/>
                </a:gs>
                <a:gs pos="50000">
                  <a:srgbClr val="FF0000"/>
                </a:gs>
                <a:gs pos="100000">
                  <a:srgbClr val="CA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1" name="Freeform 74"/>
            <p:cNvSpPr/>
            <p:nvPr/>
          </p:nvSpPr>
          <p:spPr bwMode="auto">
            <a:xfrm>
              <a:off x="2548" y="1732"/>
              <a:ext cx="588" cy="216"/>
            </a:xfrm>
            <a:custGeom>
              <a:avLst/>
              <a:gdLst>
                <a:gd name="T0" fmla="*/ 0 w 588"/>
                <a:gd name="T1" fmla="*/ 0 h 216"/>
                <a:gd name="T2" fmla="*/ 372 w 588"/>
                <a:gd name="T3" fmla="*/ 0 h 216"/>
                <a:gd name="T4" fmla="*/ 588 w 588"/>
                <a:gd name="T5" fmla="*/ 216 h 216"/>
                <a:gd name="T6" fmla="*/ 216 w 588"/>
                <a:gd name="T7" fmla="*/ 216 h 216"/>
                <a:gd name="T8" fmla="*/ 0 w 588"/>
                <a:gd name="T9" fmla="*/ 0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8" h="216">
                  <a:moveTo>
                    <a:pt x="0" y="0"/>
                  </a:moveTo>
                  <a:lnTo>
                    <a:pt x="372" y="0"/>
                  </a:lnTo>
                  <a:lnTo>
                    <a:pt x="588" y="216"/>
                  </a:lnTo>
                  <a:lnTo>
                    <a:pt x="216" y="21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2" name="Freeform 75"/>
            <p:cNvSpPr/>
            <p:nvPr/>
          </p:nvSpPr>
          <p:spPr bwMode="auto">
            <a:xfrm>
              <a:off x="2216" y="1728"/>
              <a:ext cx="544" cy="376"/>
            </a:xfrm>
            <a:custGeom>
              <a:avLst/>
              <a:gdLst>
                <a:gd name="T0" fmla="*/ 328 w 544"/>
                <a:gd name="T1" fmla="*/ 0 h 376"/>
                <a:gd name="T2" fmla="*/ 0 w 544"/>
                <a:gd name="T3" fmla="*/ 164 h 376"/>
                <a:gd name="T4" fmla="*/ 212 w 544"/>
                <a:gd name="T5" fmla="*/ 376 h 376"/>
                <a:gd name="T6" fmla="*/ 544 w 544"/>
                <a:gd name="T7" fmla="*/ 216 h 376"/>
                <a:gd name="T8" fmla="*/ 328 w 544"/>
                <a:gd name="T9" fmla="*/ 0 h 3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4" h="376">
                  <a:moveTo>
                    <a:pt x="328" y="0"/>
                  </a:moveTo>
                  <a:lnTo>
                    <a:pt x="0" y="164"/>
                  </a:lnTo>
                  <a:lnTo>
                    <a:pt x="212" y="376"/>
                  </a:lnTo>
                  <a:lnTo>
                    <a:pt x="544" y="216"/>
                  </a:lnTo>
                  <a:lnTo>
                    <a:pt x="32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AA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33" name="Freeform 76"/>
            <p:cNvSpPr/>
            <p:nvPr/>
          </p:nvSpPr>
          <p:spPr bwMode="auto">
            <a:xfrm>
              <a:off x="2428" y="1944"/>
              <a:ext cx="708" cy="376"/>
            </a:xfrm>
            <a:custGeom>
              <a:avLst/>
              <a:gdLst>
                <a:gd name="T0" fmla="*/ 704 w 708"/>
                <a:gd name="T1" fmla="*/ 4 h 376"/>
                <a:gd name="T2" fmla="*/ 708 w 708"/>
                <a:gd name="T3" fmla="*/ 376 h 376"/>
                <a:gd name="T4" fmla="*/ 4 w 708"/>
                <a:gd name="T5" fmla="*/ 376 h 376"/>
                <a:gd name="T6" fmla="*/ 0 w 708"/>
                <a:gd name="T7" fmla="*/ 160 h 376"/>
                <a:gd name="T8" fmla="*/ 336 w 708"/>
                <a:gd name="T9" fmla="*/ 0 h 376"/>
                <a:gd name="T10" fmla="*/ 704 w 708"/>
                <a:gd name="T11" fmla="*/ 4 h 3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8" h="376">
                  <a:moveTo>
                    <a:pt x="704" y="4"/>
                  </a:moveTo>
                  <a:lnTo>
                    <a:pt x="708" y="376"/>
                  </a:lnTo>
                  <a:lnTo>
                    <a:pt x="4" y="376"/>
                  </a:lnTo>
                  <a:lnTo>
                    <a:pt x="0" y="160"/>
                  </a:lnTo>
                  <a:lnTo>
                    <a:pt x="336" y="0"/>
                  </a:lnTo>
                  <a:lnTo>
                    <a:pt x="704" y="4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B2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</p:grpSp>
      <p:sp>
        <p:nvSpPr>
          <p:cNvPr id="22" name="Freeform 25"/>
          <p:cNvSpPr/>
          <p:nvPr/>
        </p:nvSpPr>
        <p:spPr bwMode="auto">
          <a:xfrm>
            <a:off x="1061860" y="2797604"/>
            <a:ext cx="1371600" cy="723900"/>
          </a:xfrm>
          <a:custGeom>
            <a:avLst/>
            <a:gdLst>
              <a:gd name="T0" fmla="*/ 0 w 864"/>
              <a:gd name="T1" fmla="*/ 2147483647 h 456"/>
              <a:gd name="T2" fmla="*/ 0 w 864"/>
              <a:gd name="T3" fmla="*/ 2147483647 h 456"/>
              <a:gd name="T4" fmla="*/ 2147483647 w 864"/>
              <a:gd name="T5" fmla="*/ 2147483647 h 456"/>
              <a:gd name="T6" fmla="*/ 2147483647 w 864"/>
              <a:gd name="T7" fmla="*/ 0 h 456"/>
              <a:gd name="T8" fmla="*/ 2147483647 w 864"/>
              <a:gd name="T9" fmla="*/ 2147483647 h 456"/>
              <a:gd name="T10" fmla="*/ 0 w 864"/>
              <a:gd name="T11" fmla="*/ 2147483647 h 4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64" h="456">
                <a:moveTo>
                  <a:pt x="0" y="198"/>
                </a:moveTo>
                <a:lnTo>
                  <a:pt x="0" y="456"/>
                </a:lnTo>
                <a:lnTo>
                  <a:pt x="864" y="456"/>
                </a:lnTo>
                <a:lnTo>
                  <a:pt x="858" y="0"/>
                </a:lnTo>
                <a:lnTo>
                  <a:pt x="408" y="6"/>
                </a:lnTo>
                <a:lnTo>
                  <a:pt x="0" y="19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" name="Group 26"/>
          <p:cNvGrpSpPr/>
          <p:nvPr/>
        </p:nvGrpSpPr>
        <p:grpSpPr bwMode="auto">
          <a:xfrm>
            <a:off x="3636785" y="2807129"/>
            <a:ext cx="746125" cy="704850"/>
            <a:chOff x="4600" y="804"/>
            <a:chExt cx="470" cy="444"/>
          </a:xfrm>
        </p:grpSpPr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4600" y="804"/>
              <a:ext cx="470" cy="44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4600" y="1000"/>
              <a:ext cx="47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9"/>
          <p:cNvGrpSpPr/>
          <p:nvPr/>
        </p:nvGrpSpPr>
        <p:grpSpPr bwMode="auto">
          <a:xfrm>
            <a:off x="1072972" y="4686729"/>
            <a:ext cx="1371600" cy="746125"/>
            <a:chOff x="3353" y="1588"/>
            <a:chExt cx="864" cy="470"/>
          </a:xfrm>
        </p:grpSpPr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3769" y="1588"/>
              <a:ext cx="1" cy="4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3353" y="1588"/>
              <a:ext cx="864" cy="47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3323042" y="5589240"/>
            <a:ext cx="326243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靠近主视图一侧为后方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130"/>
          <p:cNvSpPr txBox="1">
            <a:spLocks noChangeArrowheads="1"/>
          </p:cNvSpPr>
          <p:nvPr/>
        </p:nvSpPr>
        <p:spPr bwMode="auto">
          <a:xfrm>
            <a:off x="467544" y="1676550"/>
            <a:ext cx="36968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三视图之间的方位对应关系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  <p:bldP spid="5" grpId="0" autoUpdateAnimBg="0" build="p"/>
      <p:bldP spid="6" grpId="0" autoUpdateAnimBg="0" build="p"/>
      <p:bldP spid="7" grpId="0" autoUpdateAnimBg="0" build="p"/>
      <p:bldP spid="8" grpId="0" autoUpdateAnimBg="0" build="p"/>
      <p:bldP spid="9" grpId="0" autoUpdateAnimBg="0" build="p"/>
      <p:bldP spid="10" grpId="0" autoUpdateAnimBg="0" build="p"/>
      <p:bldP spid="12" grpId="0" autoUpdateAnimBg="0" build="p"/>
      <p:bldP spid="13" grpId="0" autoUpdateAnimBg="0" build="p"/>
      <p:bldP spid="14" grpId="0" autoUpdateAnimBg="0" build="p"/>
      <p:bldP spid="15" grpId="0" autoUpdateAnimBg="0" build="p"/>
      <p:bldP spid="16" grpId="0" autoUpdateAnimBg="0" build="p"/>
      <p:bldP spid="4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1799448" y="2727900"/>
            <a:ext cx="5545109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152927" y="1846643"/>
            <a:ext cx="1114163" cy="1513736"/>
          </a:xfrm>
          <a:prstGeom prst="cube">
            <a:avLst>
              <a:gd name="adj" fmla="val 250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210249" y="1802461"/>
            <a:ext cx="1001711" cy="1602101"/>
          </a:xfrm>
          <a:prstGeom prst="can">
            <a:avLst>
              <a:gd name="adj" fmla="val 39984"/>
            </a:avLst>
          </a:prstGeom>
          <a:gradFill rotWithShape="0">
            <a:gsLst>
              <a:gs pos="0">
                <a:schemeClr val="accent5">
                  <a:lumMod val="75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</a:gradFill>
          <a:ln w="9525">
            <a:solidFill>
              <a:schemeClr val="accent5">
                <a:lumMod val="75000"/>
              </a:schemeClr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4" name="Group 6"/>
          <p:cNvGrpSpPr/>
          <p:nvPr/>
        </p:nvGrpSpPr>
        <p:grpSpPr bwMode="auto">
          <a:xfrm>
            <a:off x="1438079" y="1811178"/>
            <a:ext cx="1440606" cy="1584667"/>
            <a:chOff x="2160" y="1056"/>
            <a:chExt cx="960" cy="1056"/>
          </a:xfrm>
        </p:grpSpPr>
        <p:sp>
          <p:nvSpPr>
            <p:cNvPr id="24" name="Freeform 7"/>
            <p:cNvSpPr/>
            <p:nvPr/>
          </p:nvSpPr>
          <p:spPr bwMode="auto">
            <a:xfrm>
              <a:off x="2160" y="1056"/>
              <a:ext cx="624" cy="1056"/>
            </a:xfrm>
            <a:custGeom>
              <a:avLst/>
              <a:gdLst>
                <a:gd name="T0" fmla="*/ 480 w 624"/>
                <a:gd name="T1" fmla="*/ 0 h 960"/>
                <a:gd name="T2" fmla="*/ 0 w 624"/>
                <a:gd name="T3" fmla="*/ 2822 h 960"/>
                <a:gd name="T4" fmla="*/ 624 w 624"/>
                <a:gd name="T5" fmla="*/ 3317 h 960"/>
                <a:gd name="T6" fmla="*/ 480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960">
                  <a:moveTo>
                    <a:pt x="480" y="0"/>
                  </a:moveTo>
                  <a:lnTo>
                    <a:pt x="0" y="816"/>
                  </a:lnTo>
                  <a:lnTo>
                    <a:pt x="624" y="960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8"/>
            <p:cNvSpPr/>
            <p:nvPr/>
          </p:nvSpPr>
          <p:spPr bwMode="auto">
            <a:xfrm>
              <a:off x="2640" y="1056"/>
              <a:ext cx="480" cy="1056"/>
            </a:xfrm>
            <a:custGeom>
              <a:avLst/>
              <a:gdLst>
                <a:gd name="T0" fmla="*/ 0 w 480"/>
                <a:gd name="T1" fmla="*/ 0 h 960"/>
                <a:gd name="T2" fmla="*/ 480 w 480"/>
                <a:gd name="T3" fmla="*/ 720 h 960"/>
                <a:gd name="T4" fmla="*/ 144 w 480"/>
                <a:gd name="T5" fmla="*/ 960 h 960"/>
                <a:gd name="T6" fmla="*/ 0 w 480"/>
                <a:gd name="T7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960">
                  <a:moveTo>
                    <a:pt x="0" y="0"/>
                  </a:moveTo>
                  <a:lnTo>
                    <a:pt x="480" y="720"/>
                  </a:lnTo>
                  <a:lnTo>
                    <a:pt x="144" y="9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pic>
        <p:nvPicPr>
          <p:cNvPr id="54" name="Picture 1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410" y="1677975"/>
            <a:ext cx="1592742" cy="1851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" name="Picture 2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009" y="2003225"/>
            <a:ext cx="1598964" cy="1200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/>
          <p:cNvSpPr txBox="1"/>
          <p:nvPr/>
        </p:nvSpPr>
        <p:spPr>
          <a:xfrm>
            <a:off x="495403" y="4277589"/>
            <a:ext cx="81531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单一的几何体称为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，如棱柱、棱锥、圆柱、圆锥、圆球、圆环等，它们是构成形体的基本单元。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在现代计算机技术“实体造型”中又称为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基本体素。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Oval 9"/>
          <p:cNvSpPr>
            <a:spLocks noChangeArrowheads="1"/>
          </p:cNvSpPr>
          <p:nvPr/>
        </p:nvSpPr>
        <p:spPr bwMode="auto">
          <a:xfrm>
            <a:off x="5986105" y="1938864"/>
            <a:ext cx="1328913" cy="1329294"/>
          </a:xfrm>
          <a:prstGeom prst="ellipse">
            <a:avLst/>
          </a:prstGeom>
          <a:gradFill rotWithShape="0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5">
                <a:lumMod val="75000"/>
              </a:schemeClr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6" grpId="0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10306" t="11138" r="57303"/>
          <a:stretch>
            <a:fillRect/>
          </a:stretch>
        </p:blipFill>
        <p:spPr>
          <a:xfrm>
            <a:off x="827584" y="1268760"/>
            <a:ext cx="3119434" cy="478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52323" t="5676" r="13300"/>
          <a:stretch>
            <a:fillRect/>
          </a:stretch>
        </p:blipFill>
        <p:spPr>
          <a:xfrm>
            <a:off x="4932040" y="1268760"/>
            <a:ext cx="3118987" cy="478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5385972" y="1852034"/>
            <a:ext cx="812688" cy="1104143"/>
          </a:xfrm>
          <a:prstGeom prst="cube">
            <a:avLst>
              <a:gd name="adj" fmla="val 250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75000"/>
              </a:schemeClr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426984" y="3376893"/>
            <a:ext cx="730664" cy="1168598"/>
          </a:xfrm>
          <a:prstGeom prst="can">
            <a:avLst>
              <a:gd name="adj" fmla="val 39984"/>
            </a:avLst>
          </a:prstGeom>
          <a:gradFill rotWithShape="0">
            <a:gsLst>
              <a:gs pos="0">
                <a:schemeClr val="accent5">
                  <a:lumMod val="75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</a:gradFill>
          <a:ln w="9525">
            <a:solidFill>
              <a:schemeClr val="accent5">
                <a:lumMod val="75000"/>
              </a:schemeClr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7" name="Group 6"/>
          <p:cNvGrpSpPr/>
          <p:nvPr/>
        </p:nvGrpSpPr>
        <p:grpSpPr bwMode="auto">
          <a:xfrm>
            <a:off x="6947554" y="1826165"/>
            <a:ext cx="1050801" cy="1155881"/>
            <a:chOff x="2160" y="1056"/>
            <a:chExt cx="960" cy="1056"/>
          </a:xfrm>
        </p:grpSpPr>
        <p:sp>
          <p:nvSpPr>
            <p:cNvPr id="8" name="Freeform 7"/>
            <p:cNvSpPr/>
            <p:nvPr/>
          </p:nvSpPr>
          <p:spPr bwMode="auto">
            <a:xfrm>
              <a:off x="2160" y="1056"/>
              <a:ext cx="624" cy="1056"/>
            </a:xfrm>
            <a:custGeom>
              <a:avLst/>
              <a:gdLst>
                <a:gd name="T0" fmla="*/ 480 w 624"/>
                <a:gd name="T1" fmla="*/ 0 h 960"/>
                <a:gd name="T2" fmla="*/ 0 w 624"/>
                <a:gd name="T3" fmla="*/ 2822 h 960"/>
                <a:gd name="T4" fmla="*/ 624 w 624"/>
                <a:gd name="T5" fmla="*/ 3317 h 960"/>
                <a:gd name="T6" fmla="*/ 480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960">
                  <a:moveTo>
                    <a:pt x="480" y="0"/>
                  </a:moveTo>
                  <a:lnTo>
                    <a:pt x="0" y="816"/>
                  </a:lnTo>
                  <a:lnTo>
                    <a:pt x="624" y="960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640" y="1056"/>
              <a:ext cx="480" cy="1056"/>
            </a:xfrm>
            <a:custGeom>
              <a:avLst/>
              <a:gdLst>
                <a:gd name="T0" fmla="*/ 0 w 480"/>
                <a:gd name="T1" fmla="*/ 0 h 960"/>
                <a:gd name="T2" fmla="*/ 480 w 480"/>
                <a:gd name="T3" fmla="*/ 720 h 960"/>
                <a:gd name="T4" fmla="*/ 144 w 480"/>
                <a:gd name="T5" fmla="*/ 960 h 960"/>
                <a:gd name="T6" fmla="*/ 0 w 480"/>
                <a:gd name="T7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960">
                  <a:moveTo>
                    <a:pt x="0" y="0"/>
                  </a:moveTo>
                  <a:lnTo>
                    <a:pt x="480" y="720"/>
                  </a:lnTo>
                  <a:lnTo>
                    <a:pt x="144" y="9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5300779" y="4991774"/>
            <a:ext cx="983075" cy="969608"/>
          </a:xfrm>
          <a:prstGeom prst="ellipse">
            <a:avLst/>
          </a:prstGeom>
          <a:gradFill rotWithShape="0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5">
                <a:lumMod val="75000"/>
              </a:schemeClr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217" y="3332752"/>
            <a:ext cx="1081475" cy="1256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632964" y="1988607"/>
            <a:ext cx="21325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每一表面都是平面的基本体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573609" y="3545694"/>
            <a:ext cx="22512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表面中包含曲面的基本体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824851" y="2142495"/>
            <a:ext cx="1832592" cy="523220"/>
            <a:chOff x="2824851" y="2142495"/>
            <a:chExt cx="1832592" cy="523220"/>
          </a:xfrm>
        </p:grpSpPr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390750" y="2142495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u="sng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平面体</a:t>
              </a:r>
              <a:endParaRPr lang="zh-CN" altLang="en-US" sz="28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20"/>
            <p:cNvSpPr>
              <a:spLocks noChangeArrowheads="1"/>
            </p:cNvSpPr>
            <p:nvPr/>
          </p:nvSpPr>
          <p:spPr bwMode="auto">
            <a:xfrm rot="10800000" flipV="1">
              <a:off x="2824851" y="2175505"/>
              <a:ext cx="5095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</a:t>
              </a:r>
              <a:endPara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824852" y="3699582"/>
            <a:ext cx="1832590" cy="523220"/>
            <a:chOff x="2824852" y="3699582"/>
            <a:chExt cx="1832590" cy="523220"/>
          </a:xfrm>
        </p:grpSpPr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390750" y="3699582"/>
              <a:ext cx="12666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曲面体</a:t>
              </a:r>
              <a:endPara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 rot="10800000" flipV="1">
              <a:off x="2824852" y="3732592"/>
              <a:ext cx="5095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</a:t>
              </a:r>
              <a:endPara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83568" y="5245597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曲面为回转面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824852" y="5214968"/>
            <a:ext cx="1832590" cy="523220"/>
            <a:chOff x="2824852" y="5214968"/>
            <a:chExt cx="1832590" cy="523220"/>
          </a:xfrm>
        </p:grpSpPr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3390750" y="5214968"/>
              <a:ext cx="12666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u="sng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回转体</a:t>
              </a:r>
              <a:endParaRPr lang="zh-CN" altLang="en-US" sz="28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 rot="10800000" flipV="1">
              <a:off x="2824852" y="5247978"/>
              <a:ext cx="5095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</a:t>
              </a:r>
              <a:endParaRPr lang="en-US" altLang="zh-CN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pic>
        <p:nvPicPr>
          <p:cNvPr id="22" name="Picture 2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159" y="5038720"/>
            <a:ext cx="1255590" cy="87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基本体的分类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5" grpId="0"/>
      <p:bldP spid="16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12"/>
          <p:cNvGrpSpPr/>
          <p:nvPr/>
        </p:nvGrpSpPr>
        <p:grpSpPr bwMode="auto">
          <a:xfrm>
            <a:off x="5893849" y="1745461"/>
            <a:ext cx="1524000" cy="1981200"/>
            <a:chOff x="4032" y="624"/>
            <a:chExt cx="960" cy="1248"/>
          </a:xfrm>
        </p:grpSpPr>
        <p:sp>
          <p:nvSpPr>
            <p:cNvPr id="5" name="Freeform 13"/>
            <p:cNvSpPr/>
            <p:nvPr/>
          </p:nvSpPr>
          <p:spPr bwMode="auto">
            <a:xfrm>
              <a:off x="4032" y="808"/>
              <a:ext cx="240" cy="1064"/>
            </a:xfrm>
            <a:custGeom>
              <a:avLst/>
              <a:gdLst>
                <a:gd name="T0" fmla="*/ 0 w 288"/>
                <a:gd name="T1" fmla="*/ 0 h 1392"/>
                <a:gd name="T2" fmla="*/ 0 w 288"/>
                <a:gd name="T3" fmla="*/ 1104 h 1392"/>
                <a:gd name="T4" fmla="*/ 288 w 288"/>
                <a:gd name="T5" fmla="*/ 1392 h 1392"/>
                <a:gd name="T6" fmla="*/ 288 w 288"/>
                <a:gd name="T7" fmla="*/ 288 h 1392"/>
                <a:gd name="T8" fmla="*/ 0 w 288"/>
                <a:gd name="T9" fmla="*/ 0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92">
                  <a:moveTo>
                    <a:pt x="0" y="0"/>
                  </a:moveTo>
                  <a:lnTo>
                    <a:pt x="0" y="1104"/>
                  </a:lnTo>
                  <a:lnTo>
                    <a:pt x="288" y="1392"/>
                  </a:lnTo>
                  <a:lnTo>
                    <a:pt x="288" y="28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8900000" scaled="1"/>
            </a:gra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Freeform 14"/>
            <p:cNvSpPr/>
            <p:nvPr/>
          </p:nvSpPr>
          <p:spPr bwMode="auto">
            <a:xfrm>
              <a:off x="4272" y="1028"/>
              <a:ext cx="480" cy="844"/>
            </a:xfrm>
            <a:custGeom>
              <a:avLst/>
              <a:gdLst>
                <a:gd name="T0" fmla="*/ 0 w 576"/>
                <a:gd name="T1" fmla="*/ 0 h 1104"/>
                <a:gd name="T2" fmla="*/ 54 w 576"/>
                <a:gd name="T3" fmla="*/ 0 h 1104"/>
                <a:gd name="T4" fmla="*/ 54 w 576"/>
                <a:gd name="T5" fmla="*/ 34 h 1104"/>
                <a:gd name="T6" fmla="*/ 0 w 576"/>
                <a:gd name="T7" fmla="*/ 34 h 1104"/>
                <a:gd name="T8" fmla="*/ 0 w 576"/>
                <a:gd name="T9" fmla="*/ 0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" h="1104">
                  <a:moveTo>
                    <a:pt x="0" y="0"/>
                  </a:moveTo>
                  <a:lnTo>
                    <a:pt x="576" y="0"/>
                  </a:lnTo>
                  <a:lnTo>
                    <a:pt x="576" y="1104"/>
                  </a:lnTo>
                  <a:lnTo>
                    <a:pt x="0" y="1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15"/>
            <p:cNvSpPr/>
            <p:nvPr/>
          </p:nvSpPr>
          <p:spPr bwMode="auto">
            <a:xfrm>
              <a:off x="4752" y="844"/>
              <a:ext cx="240" cy="1028"/>
            </a:xfrm>
            <a:custGeom>
              <a:avLst/>
              <a:gdLst>
                <a:gd name="T0" fmla="*/ 0 w 288"/>
                <a:gd name="T1" fmla="*/ 1344 h 1344"/>
                <a:gd name="T2" fmla="*/ 288 w 288"/>
                <a:gd name="T3" fmla="*/ 1104 h 1344"/>
                <a:gd name="T4" fmla="*/ 288 w 288"/>
                <a:gd name="T5" fmla="*/ 0 h 1344"/>
                <a:gd name="T6" fmla="*/ 0 w 288"/>
                <a:gd name="T7" fmla="*/ 240 h 1344"/>
                <a:gd name="T8" fmla="*/ 0 w 288"/>
                <a:gd name="T9" fmla="*/ 1344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44">
                  <a:moveTo>
                    <a:pt x="0" y="1344"/>
                  </a:moveTo>
                  <a:lnTo>
                    <a:pt x="288" y="1104"/>
                  </a:lnTo>
                  <a:lnTo>
                    <a:pt x="288" y="0"/>
                  </a:lnTo>
                  <a:lnTo>
                    <a:pt x="0" y="240"/>
                  </a:lnTo>
                  <a:lnTo>
                    <a:pt x="0" y="134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Freeform 16"/>
            <p:cNvSpPr/>
            <p:nvPr/>
          </p:nvSpPr>
          <p:spPr bwMode="auto">
            <a:xfrm>
              <a:off x="4032" y="624"/>
              <a:ext cx="960" cy="404"/>
            </a:xfrm>
            <a:custGeom>
              <a:avLst/>
              <a:gdLst>
                <a:gd name="T0" fmla="*/ 0 w 1152"/>
                <a:gd name="T1" fmla="*/ 7 h 528"/>
                <a:gd name="T2" fmla="*/ 28 w 1152"/>
                <a:gd name="T3" fmla="*/ 0 h 528"/>
                <a:gd name="T4" fmla="*/ 82 w 1152"/>
                <a:gd name="T5" fmla="*/ 0 h 528"/>
                <a:gd name="T6" fmla="*/ 108 w 1152"/>
                <a:gd name="T7" fmla="*/ 8 h 528"/>
                <a:gd name="T8" fmla="*/ 82 w 1152"/>
                <a:gd name="T9" fmla="*/ 16 h 528"/>
                <a:gd name="T10" fmla="*/ 28 w 1152"/>
                <a:gd name="T11" fmla="*/ 16 h 528"/>
                <a:gd name="T12" fmla="*/ 0 w 1152"/>
                <a:gd name="T13" fmla="*/ 7 h 5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28">
                  <a:moveTo>
                    <a:pt x="0" y="240"/>
                  </a:moveTo>
                  <a:lnTo>
                    <a:pt x="288" y="0"/>
                  </a:lnTo>
                  <a:lnTo>
                    <a:pt x="864" y="0"/>
                  </a:lnTo>
                  <a:lnTo>
                    <a:pt x="1152" y="288"/>
                  </a:lnTo>
                  <a:lnTo>
                    <a:pt x="864" y="528"/>
                  </a:lnTo>
                  <a:lnTo>
                    <a:pt x="288" y="528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7460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棱柱的组成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961738" y="5651314"/>
            <a:ext cx="3262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棱柱的侧棱线相互平行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68"/>
          <p:cNvSpPr>
            <a:spLocks noChangeShapeType="1"/>
          </p:cNvSpPr>
          <p:nvPr/>
        </p:nvSpPr>
        <p:spPr bwMode="auto">
          <a:xfrm>
            <a:off x="5483113" y="1745461"/>
            <a:ext cx="968192" cy="34924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69"/>
          <p:cNvSpPr txBox="1">
            <a:spLocks noChangeArrowheads="1"/>
          </p:cNvSpPr>
          <p:nvPr/>
        </p:nvSpPr>
        <p:spPr bwMode="auto">
          <a:xfrm>
            <a:off x="5123073" y="1373102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底面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70"/>
          <p:cNvSpPr txBox="1">
            <a:spLocks noChangeArrowheads="1"/>
          </p:cNvSpPr>
          <p:nvPr/>
        </p:nvSpPr>
        <p:spPr bwMode="auto">
          <a:xfrm>
            <a:off x="961738" y="2760865"/>
            <a:ext cx="326243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直棱柱：侧棱线垂直于底面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斜棱柱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侧棱线与底面倾斜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5" name="Text Box 71"/>
          <p:cNvSpPr txBox="1">
            <a:spLocks noChangeArrowheads="1"/>
          </p:cNvSpPr>
          <p:nvPr/>
        </p:nvSpPr>
        <p:spPr bwMode="auto">
          <a:xfrm>
            <a:off x="7331531" y="3261663"/>
            <a:ext cx="12105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侧棱面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（棱面）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72"/>
          <p:cNvSpPr txBox="1">
            <a:spLocks noChangeArrowheads="1"/>
          </p:cNvSpPr>
          <p:nvPr/>
        </p:nvSpPr>
        <p:spPr bwMode="auto">
          <a:xfrm>
            <a:off x="7283313" y="1409019"/>
            <a:ext cx="12105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侧棱线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（棱线）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74"/>
          <p:cNvSpPr>
            <a:spLocks noChangeShapeType="1"/>
          </p:cNvSpPr>
          <p:nvPr/>
        </p:nvSpPr>
        <p:spPr bwMode="auto">
          <a:xfrm flipH="1">
            <a:off x="7424199" y="2159797"/>
            <a:ext cx="381000" cy="35242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75"/>
          <p:cNvSpPr>
            <a:spLocks noChangeShapeType="1"/>
          </p:cNvSpPr>
          <p:nvPr/>
        </p:nvSpPr>
        <p:spPr bwMode="auto">
          <a:xfrm>
            <a:off x="7241637" y="2888461"/>
            <a:ext cx="609600" cy="35242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90"/>
          <p:cNvGrpSpPr/>
          <p:nvPr/>
        </p:nvGrpSpPr>
        <p:grpSpPr bwMode="auto">
          <a:xfrm>
            <a:off x="5704937" y="4295770"/>
            <a:ext cx="1689100" cy="1803400"/>
            <a:chOff x="4036" y="2848"/>
            <a:chExt cx="1064" cy="1136"/>
          </a:xfrm>
        </p:grpSpPr>
        <p:sp>
          <p:nvSpPr>
            <p:cNvPr id="20" name="AutoShape 77"/>
            <p:cNvSpPr>
              <a:spLocks noChangeArrowheads="1"/>
            </p:cNvSpPr>
            <p:nvPr/>
          </p:nvSpPr>
          <p:spPr bwMode="auto">
            <a:xfrm>
              <a:off x="4244" y="2848"/>
              <a:ext cx="852" cy="325"/>
            </a:xfrm>
            <a:prstGeom prst="parallelogram">
              <a:avLst>
                <a:gd name="adj" fmla="val 65538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400"/>
            </a:p>
          </p:txBody>
        </p:sp>
        <p:sp>
          <p:nvSpPr>
            <p:cNvPr id="21" name="AutoShape 80"/>
            <p:cNvSpPr>
              <a:spLocks noChangeArrowheads="1"/>
            </p:cNvSpPr>
            <p:nvPr/>
          </p:nvSpPr>
          <p:spPr bwMode="auto">
            <a:xfrm>
              <a:off x="4036" y="3173"/>
              <a:ext cx="844" cy="811"/>
            </a:xfrm>
            <a:prstGeom prst="parallelogram">
              <a:avLst>
                <a:gd name="adj" fmla="val 26017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8900000" scaled="1"/>
            </a:gra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2" name="Freeform 89"/>
            <p:cNvSpPr/>
            <p:nvPr/>
          </p:nvSpPr>
          <p:spPr bwMode="auto">
            <a:xfrm>
              <a:off x="4672" y="2852"/>
              <a:ext cx="428" cy="1132"/>
            </a:xfrm>
            <a:custGeom>
              <a:avLst/>
              <a:gdLst>
                <a:gd name="T0" fmla="*/ 428 w 428"/>
                <a:gd name="T1" fmla="*/ 0 h 1132"/>
                <a:gd name="T2" fmla="*/ 208 w 428"/>
                <a:gd name="T3" fmla="*/ 320 h 1132"/>
                <a:gd name="T4" fmla="*/ 0 w 428"/>
                <a:gd name="T5" fmla="*/ 1132 h 1132"/>
                <a:gd name="T6" fmla="*/ 212 w 428"/>
                <a:gd name="T7" fmla="*/ 804 h 1132"/>
                <a:gd name="T8" fmla="*/ 428 w 428"/>
                <a:gd name="T9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1132">
                  <a:moveTo>
                    <a:pt x="428" y="0"/>
                  </a:moveTo>
                  <a:lnTo>
                    <a:pt x="208" y="320"/>
                  </a:lnTo>
                  <a:lnTo>
                    <a:pt x="0" y="1132"/>
                  </a:lnTo>
                  <a:lnTo>
                    <a:pt x="212" y="804"/>
                  </a:lnTo>
                  <a:lnTo>
                    <a:pt x="42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3" name="Freeform 92"/>
          <p:cNvSpPr/>
          <p:nvPr/>
        </p:nvSpPr>
        <p:spPr bwMode="auto">
          <a:xfrm>
            <a:off x="5912899" y="3067848"/>
            <a:ext cx="1485900" cy="355600"/>
          </a:xfrm>
          <a:custGeom>
            <a:avLst/>
            <a:gdLst>
              <a:gd name="T0" fmla="*/ 0 w 936"/>
              <a:gd name="T1" fmla="*/ 2147483647 h 224"/>
              <a:gd name="T2" fmla="*/ 2147483647 w 936"/>
              <a:gd name="T3" fmla="*/ 0 h 224"/>
              <a:gd name="T4" fmla="*/ 2147483647 w 936"/>
              <a:gd name="T5" fmla="*/ 0 h 224"/>
              <a:gd name="T6" fmla="*/ 2147483647 w 936"/>
              <a:gd name="T7" fmla="*/ 2147483647 h 2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36" h="224">
                <a:moveTo>
                  <a:pt x="0" y="184"/>
                </a:moveTo>
                <a:lnTo>
                  <a:pt x="240" y="0"/>
                </a:lnTo>
                <a:lnTo>
                  <a:pt x="712" y="0"/>
                </a:lnTo>
                <a:lnTo>
                  <a:pt x="936" y="224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93"/>
          <p:cNvSpPr>
            <a:spLocks noChangeShapeType="1"/>
          </p:cNvSpPr>
          <p:nvPr/>
        </p:nvSpPr>
        <p:spPr bwMode="auto">
          <a:xfrm>
            <a:off x="5484602" y="1741142"/>
            <a:ext cx="1006623" cy="161664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" name="Group 94"/>
          <p:cNvGrpSpPr>
            <a:grpSpLocks noChangeAspect="1"/>
          </p:cNvGrpSpPr>
          <p:nvPr/>
        </p:nvGrpSpPr>
        <p:grpSpPr bwMode="auto">
          <a:xfrm>
            <a:off x="1507492" y="3785714"/>
            <a:ext cx="2056899" cy="1616645"/>
            <a:chOff x="2084" y="1035"/>
            <a:chExt cx="1449" cy="1139"/>
          </a:xfrm>
        </p:grpSpPr>
        <p:sp>
          <p:nvSpPr>
            <p:cNvPr id="26" name="Rectangle 95"/>
            <p:cNvSpPr>
              <a:spLocks noChangeArrowheads="1"/>
            </p:cNvSpPr>
            <p:nvPr/>
          </p:nvSpPr>
          <p:spPr bwMode="auto">
            <a:xfrm>
              <a:off x="2084" y="1035"/>
              <a:ext cx="1449" cy="1139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pic>
          <p:nvPicPr>
            <p:cNvPr id="27" name="Picture 9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3" y="1161"/>
              <a:ext cx="1199" cy="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" name="Line 68"/>
          <p:cNvSpPr>
            <a:spLocks noChangeShapeType="1"/>
          </p:cNvSpPr>
          <p:nvPr/>
        </p:nvSpPr>
        <p:spPr bwMode="auto">
          <a:xfrm flipV="1">
            <a:off x="5704937" y="3515523"/>
            <a:ext cx="360362" cy="274312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4997754" y="3705692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底边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12" grpId="0" animBg="1"/>
      <p:bldP spid="13" grpId="0"/>
      <p:bldP spid="14" grpId="0" uiExpand="1" build="p"/>
      <p:bldP spid="15" grpId="0"/>
      <p:bldP spid="16" grpId="0"/>
      <p:bldP spid="17" grpId="0" animBg="1"/>
      <p:bldP spid="18" grpId="0" animBg="1"/>
      <p:bldP spid="23" grpId="0" animBg="1"/>
      <p:bldP spid="24" grpId="0" animBg="1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6"/>
          <p:cNvSpPr>
            <a:spLocks noChangeShapeType="1"/>
          </p:cNvSpPr>
          <p:nvPr/>
        </p:nvSpPr>
        <p:spPr bwMode="auto">
          <a:xfrm>
            <a:off x="6459388" y="4616635"/>
            <a:ext cx="1524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Freeform 4"/>
          <p:cNvSpPr/>
          <p:nvPr/>
        </p:nvSpPr>
        <p:spPr bwMode="auto">
          <a:xfrm>
            <a:off x="6924526" y="4610285"/>
            <a:ext cx="1096962" cy="1588"/>
          </a:xfrm>
          <a:custGeom>
            <a:avLst/>
            <a:gdLst>
              <a:gd name="T0" fmla="*/ 0 w 691"/>
              <a:gd name="T1" fmla="*/ 0 h 1"/>
              <a:gd name="T2" fmla="*/ 2147483647 w 69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91" h="1">
                <a:moveTo>
                  <a:pt x="0" y="0"/>
                </a:moveTo>
                <a:lnTo>
                  <a:pt x="691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6483201" y="3310123"/>
            <a:ext cx="1524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Freeform 9"/>
          <p:cNvSpPr/>
          <p:nvPr/>
        </p:nvSpPr>
        <p:spPr bwMode="auto">
          <a:xfrm>
            <a:off x="5187801" y="3305360"/>
            <a:ext cx="1295400" cy="1295400"/>
          </a:xfrm>
          <a:custGeom>
            <a:avLst/>
            <a:gdLst>
              <a:gd name="T0" fmla="*/ 0 w 816"/>
              <a:gd name="T1" fmla="*/ 0 h 816"/>
              <a:gd name="T2" fmla="*/ 0 w 816"/>
              <a:gd name="T3" fmla="*/ 2147483647 h 816"/>
              <a:gd name="T4" fmla="*/ 2147483647 w 816"/>
              <a:gd name="T5" fmla="*/ 2147483647 h 816"/>
              <a:gd name="T6" fmla="*/ 2147483647 w 816"/>
              <a:gd name="T7" fmla="*/ 0 h 816"/>
              <a:gd name="T8" fmla="*/ 0 w 81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6" h="816">
                <a:moveTo>
                  <a:pt x="0" y="0"/>
                </a:moveTo>
                <a:lnTo>
                  <a:pt x="0" y="816"/>
                </a:lnTo>
                <a:lnTo>
                  <a:pt x="816" y="816"/>
                </a:lnTo>
                <a:lnTo>
                  <a:pt x="816" y="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5514826" y="3310123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6156176" y="3310123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5187801" y="5142098"/>
            <a:ext cx="1295400" cy="1066800"/>
          </a:xfrm>
          <a:prstGeom prst="hexagon">
            <a:avLst>
              <a:gd name="adj" fmla="val 30357"/>
              <a:gd name="vf" fmla="val 11547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13" name="Group 28"/>
          <p:cNvGrpSpPr/>
          <p:nvPr/>
        </p:nvGrpSpPr>
        <p:grpSpPr bwMode="auto">
          <a:xfrm>
            <a:off x="5187801" y="4605523"/>
            <a:ext cx="1295400" cy="1076325"/>
            <a:chOff x="3648" y="3216"/>
            <a:chExt cx="816" cy="528"/>
          </a:xfrm>
        </p:grpSpPr>
        <p:sp>
          <p:nvSpPr>
            <p:cNvPr id="14" name="Line 29"/>
            <p:cNvSpPr>
              <a:spLocks noChangeShapeType="1"/>
            </p:cNvSpPr>
            <p:nvPr/>
          </p:nvSpPr>
          <p:spPr bwMode="auto">
            <a:xfrm flipV="1">
              <a:off x="3648" y="3216"/>
              <a:ext cx="0" cy="52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 flipV="1">
              <a:off x="4464" y="3216"/>
              <a:ext cx="0" cy="52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" name="Freeform 31"/>
          <p:cNvSpPr/>
          <p:nvPr/>
        </p:nvSpPr>
        <p:spPr bwMode="auto">
          <a:xfrm>
            <a:off x="5514826" y="4610285"/>
            <a:ext cx="46037" cy="1598613"/>
          </a:xfrm>
          <a:custGeom>
            <a:avLst/>
            <a:gdLst>
              <a:gd name="T0" fmla="*/ 0 w 1"/>
              <a:gd name="T1" fmla="*/ 2147483647 h 880"/>
              <a:gd name="T2" fmla="*/ 0 w 1"/>
              <a:gd name="T3" fmla="*/ 0 h 8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80">
                <a:moveTo>
                  <a:pt x="0" y="88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Freeform 32"/>
          <p:cNvSpPr/>
          <p:nvPr/>
        </p:nvSpPr>
        <p:spPr bwMode="auto">
          <a:xfrm>
            <a:off x="6160938" y="4610285"/>
            <a:ext cx="49213" cy="1598613"/>
          </a:xfrm>
          <a:custGeom>
            <a:avLst/>
            <a:gdLst>
              <a:gd name="T0" fmla="*/ 0 w 1"/>
              <a:gd name="T1" fmla="*/ 2147483647 h 858"/>
              <a:gd name="T2" fmla="*/ 0 w 1"/>
              <a:gd name="T3" fmla="*/ 0 h 85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58">
                <a:moveTo>
                  <a:pt x="0" y="858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5837088" y="4616635"/>
            <a:ext cx="1651000" cy="1073150"/>
            <a:chOff x="5759450" y="3325794"/>
            <a:chExt cx="1651227" cy="1073844"/>
          </a:xfrm>
        </p:grpSpPr>
        <p:sp>
          <p:nvSpPr>
            <p:cNvPr id="19" name="Line 37"/>
            <p:cNvSpPr>
              <a:spLocks noChangeShapeType="1"/>
            </p:cNvSpPr>
            <p:nvPr/>
          </p:nvSpPr>
          <p:spPr bwMode="auto">
            <a:xfrm>
              <a:off x="5759450" y="3866238"/>
              <a:ext cx="0" cy="5334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38"/>
            <p:cNvSpPr>
              <a:spLocks noChangeShapeType="1"/>
            </p:cNvSpPr>
            <p:nvPr/>
          </p:nvSpPr>
          <p:spPr bwMode="auto">
            <a:xfrm rot="5400000">
              <a:off x="7143977" y="3059094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Freeform 39"/>
          <p:cNvSpPr/>
          <p:nvPr/>
        </p:nvSpPr>
        <p:spPr bwMode="auto">
          <a:xfrm>
            <a:off x="6940401" y="3310123"/>
            <a:ext cx="1587" cy="1295400"/>
          </a:xfrm>
          <a:custGeom>
            <a:avLst/>
            <a:gdLst>
              <a:gd name="T0" fmla="*/ 0 w 1"/>
              <a:gd name="T1" fmla="*/ 2147483647 h 816"/>
              <a:gd name="T2" fmla="*/ 0 w 1"/>
              <a:gd name="T3" fmla="*/ 0 h 8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16">
                <a:moveTo>
                  <a:pt x="0" y="81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Freeform 40"/>
          <p:cNvSpPr/>
          <p:nvPr/>
        </p:nvSpPr>
        <p:spPr bwMode="auto">
          <a:xfrm>
            <a:off x="8007201" y="3310123"/>
            <a:ext cx="1587" cy="1295400"/>
          </a:xfrm>
          <a:custGeom>
            <a:avLst/>
            <a:gdLst>
              <a:gd name="T0" fmla="*/ 0 w 1"/>
              <a:gd name="T1" fmla="*/ 2147483647 h 816"/>
              <a:gd name="T2" fmla="*/ 0 w 1"/>
              <a:gd name="T3" fmla="*/ 0 h 8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16">
                <a:moveTo>
                  <a:pt x="0" y="81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Freeform 41"/>
          <p:cNvSpPr/>
          <p:nvPr/>
        </p:nvSpPr>
        <p:spPr bwMode="auto">
          <a:xfrm>
            <a:off x="6929288" y="3305360"/>
            <a:ext cx="1090613" cy="4763"/>
          </a:xfrm>
          <a:custGeom>
            <a:avLst/>
            <a:gdLst>
              <a:gd name="T0" fmla="*/ 0 w 687"/>
              <a:gd name="T1" fmla="*/ 2147483647 h 3"/>
              <a:gd name="T2" fmla="*/ 2147483647 w 687"/>
              <a:gd name="T3" fmla="*/ 0 h 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7" h="3">
                <a:moveTo>
                  <a:pt x="0" y="3"/>
                </a:moveTo>
                <a:lnTo>
                  <a:pt x="687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42"/>
          <p:cNvSpPr>
            <a:spLocks noChangeShapeType="1"/>
          </p:cNvSpPr>
          <p:nvPr/>
        </p:nvSpPr>
        <p:spPr bwMode="auto">
          <a:xfrm flipV="1">
            <a:off x="7483326" y="3310123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5837088" y="4619810"/>
            <a:ext cx="2184400" cy="1589088"/>
            <a:chOff x="5759450" y="3329214"/>
            <a:chExt cx="2184627" cy="1589310"/>
          </a:xfrm>
        </p:grpSpPr>
        <p:sp>
          <p:nvSpPr>
            <p:cNvPr id="26" name="Line 44"/>
            <p:cNvSpPr>
              <a:spLocks noChangeShapeType="1"/>
            </p:cNvSpPr>
            <p:nvPr/>
          </p:nvSpPr>
          <p:spPr bwMode="auto">
            <a:xfrm rot="5400000">
              <a:off x="7677377" y="3062514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45"/>
            <p:cNvSpPr>
              <a:spLocks noChangeShapeType="1"/>
            </p:cNvSpPr>
            <p:nvPr/>
          </p:nvSpPr>
          <p:spPr bwMode="auto">
            <a:xfrm>
              <a:off x="5759450" y="4385124"/>
              <a:ext cx="0" cy="533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70"/>
          <p:cNvGrpSpPr>
            <a:grpSpLocks noChangeAspect="1"/>
          </p:cNvGrpSpPr>
          <p:nvPr/>
        </p:nvGrpSpPr>
        <p:grpSpPr bwMode="auto">
          <a:xfrm>
            <a:off x="3908655" y="1131429"/>
            <a:ext cx="2154506" cy="1897867"/>
            <a:chOff x="502" y="1157"/>
            <a:chExt cx="2116" cy="1863"/>
          </a:xfrm>
        </p:grpSpPr>
        <p:sp>
          <p:nvSpPr>
            <p:cNvPr id="29" name="Freeform 62"/>
            <p:cNvSpPr/>
            <p:nvPr/>
          </p:nvSpPr>
          <p:spPr bwMode="auto">
            <a:xfrm>
              <a:off x="531" y="2526"/>
              <a:ext cx="1933" cy="443"/>
            </a:xfrm>
            <a:custGeom>
              <a:avLst/>
              <a:gdLst>
                <a:gd name="T0" fmla="*/ 1356 w 1933"/>
                <a:gd name="T1" fmla="*/ 0 h 443"/>
                <a:gd name="T2" fmla="*/ 0 w 1933"/>
                <a:gd name="T3" fmla="*/ 0 h 443"/>
                <a:gd name="T4" fmla="*/ 555 w 1933"/>
                <a:gd name="T5" fmla="*/ 443 h 443"/>
                <a:gd name="T6" fmla="*/ 1933 w 1933"/>
                <a:gd name="T7" fmla="*/ 432 h 443"/>
                <a:gd name="T8" fmla="*/ 1356 w 1933"/>
                <a:gd name="T9" fmla="*/ 0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33" h="443">
                  <a:moveTo>
                    <a:pt x="1356" y="0"/>
                  </a:moveTo>
                  <a:lnTo>
                    <a:pt x="0" y="0"/>
                  </a:lnTo>
                  <a:lnTo>
                    <a:pt x="555" y="443"/>
                  </a:lnTo>
                  <a:lnTo>
                    <a:pt x="1933" y="43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  <a:ln w="28575" cmpd="sng">
              <a:solidFill>
                <a:schemeClr val="accent5">
                  <a:lumMod val="50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63"/>
            <p:cNvSpPr/>
            <p:nvPr/>
          </p:nvSpPr>
          <p:spPr bwMode="auto">
            <a:xfrm>
              <a:off x="1909" y="1169"/>
              <a:ext cx="566" cy="1800"/>
            </a:xfrm>
            <a:custGeom>
              <a:avLst/>
              <a:gdLst>
                <a:gd name="T0" fmla="*/ 0 w 566"/>
                <a:gd name="T1" fmla="*/ 0 h 1800"/>
                <a:gd name="T2" fmla="*/ 0 w 566"/>
                <a:gd name="T3" fmla="*/ 1355 h 1800"/>
                <a:gd name="T4" fmla="*/ 566 w 566"/>
                <a:gd name="T5" fmla="*/ 1800 h 1800"/>
                <a:gd name="T6" fmla="*/ 566 w 566"/>
                <a:gd name="T7" fmla="*/ 402 h 1800"/>
                <a:gd name="T8" fmla="*/ 0 w 566"/>
                <a:gd name="T9" fmla="*/ 0 h 1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6" h="1800">
                  <a:moveTo>
                    <a:pt x="0" y="0"/>
                  </a:moveTo>
                  <a:lnTo>
                    <a:pt x="0" y="1355"/>
                  </a:lnTo>
                  <a:lnTo>
                    <a:pt x="566" y="1800"/>
                  </a:lnTo>
                  <a:lnTo>
                    <a:pt x="566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  <a:ln w="28575" cmpd="sng">
              <a:solidFill>
                <a:schemeClr val="accent5">
                  <a:lumMod val="50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64"/>
            <p:cNvSpPr/>
            <p:nvPr/>
          </p:nvSpPr>
          <p:spPr bwMode="auto">
            <a:xfrm>
              <a:off x="542" y="1169"/>
              <a:ext cx="1367" cy="1356"/>
            </a:xfrm>
            <a:custGeom>
              <a:avLst/>
              <a:gdLst>
                <a:gd name="T0" fmla="*/ 0 w 1367"/>
                <a:gd name="T1" fmla="*/ 0 h 1478"/>
                <a:gd name="T2" fmla="*/ 1367 w 1367"/>
                <a:gd name="T3" fmla="*/ 6 h 1478"/>
                <a:gd name="T4" fmla="*/ 1367 w 1367"/>
                <a:gd name="T5" fmla="*/ 481 h 1478"/>
                <a:gd name="T6" fmla="*/ 0 w 1367"/>
                <a:gd name="T7" fmla="*/ 483 h 1478"/>
                <a:gd name="T8" fmla="*/ 0 w 1367"/>
                <a:gd name="T9" fmla="*/ 0 h 14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7" h="1478">
                  <a:moveTo>
                    <a:pt x="0" y="0"/>
                  </a:moveTo>
                  <a:lnTo>
                    <a:pt x="1367" y="6"/>
                  </a:lnTo>
                  <a:lnTo>
                    <a:pt x="1367" y="1473"/>
                  </a:lnTo>
                  <a:lnTo>
                    <a:pt x="0" y="1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  <a:ln w="28575" cmpd="sng">
              <a:solidFill>
                <a:schemeClr val="accent5">
                  <a:lumMod val="50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65"/>
            <p:cNvSpPr txBox="1">
              <a:spLocks noChangeArrowheads="1"/>
            </p:cNvSpPr>
            <p:nvPr/>
          </p:nvSpPr>
          <p:spPr bwMode="auto">
            <a:xfrm>
              <a:off x="502" y="1157"/>
              <a:ext cx="344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endParaRPr lang="en-US" altLang="zh-CN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66"/>
            <p:cNvSpPr txBox="1">
              <a:spLocks noChangeArrowheads="1"/>
            </p:cNvSpPr>
            <p:nvPr/>
          </p:nvSpPr>
          <p:spPr bwMode="auto">
            <a:xfrm>
              <a:off x="2111" y="1483"/>
              <a:ext cx="507" cy="453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isometricOffAxis1Left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W</a:t>
              </a:r>
              <a:endParaRPr lang="en-US" altLang="zh-CN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67"/>
            <p:cNvSpPr txBox="1">
              <a:spLocks noChangeArrowheads="1"/>
            </p:cNvSpPr>
            <p:nvPr/>
          </p:nvSpPr>
          <p:spPr bwMode="auto">
            <a:xfrm rot="698130">
              <a:off x="892" y="2723"/>
              <a:ext cx="484" cy="297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isometricBottomDown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vert"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lang="en-US" altLang="zh-CN" sz="20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Group 46"/>
            <p:cNvGrpSpPr/>
            <p:nvPr/>
          </p:nvGrpSpPr>
          <p:grpSpPr bwMode="auto">
            <a:xfrm>
              <a:off x="1053" y="1502"/>
              <a:ext cx="896" cy="1202"/>
              <a:chOff x="4032" y="624"/>
              <a:chExt cx="960" cy="1248"/>
            </a:xfrm>
          </p:grpSpPr>
          <p:sp>
            <p:nvSpPr>
              <p:cNvPr id="36" name="Freeform 47"/>
              <p:cNvSpPr/>
              <p:nvPr/>
            </p:nvSpPr>
            <p:spPr bwMode="auto">
              <a:xfrm>
                <a:off x="4032" y="808"/>
                <a:ext cx="240" cy="1064"/>
              </a:xfrm>
              <a:custGeom>
                <a:avLst/>
                <a:gdLst>
                  <a:gd name="T0" fmla="*/ 0 w 288"/>
                  <a:gd name="T1" fmla="*/ 0 h 1392"/>
                  <a:gd name="T2" fmla="*/ 0 w 288"/>
                  <a:gd name="T3" fmla="*/ 1104 h 1392"/>
                  <a:gd name="T4" fmla="*/ 288 w 288"/>
                  <a:gd name="T5" fmla="*/ 1392 h 1392"/>
                  <a:gd name="T6" fmla="*/ 288 w 288"/>
                  <a:gd name="T7" fmla="*/ 288 h 1392"/>
                  <a:gd name="T8" fmla="*/ 0 w 288"/>
                  <a:gd name="T9" fmla="*/ 0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92">
                    <a:moveTo>
                      <a:pt x="0" y="0"/>
                    </a:moveTo>
                    <a:lnTo>
                      <a:pt x="0" y="1104"/>
                    </a:lnTo>
                    <a:lnTo>
                      <a:pt x="288" y="1392"/>
                    </a:lnTo>
                    <a:lnTo>
                      <a:pt x="288" y="28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18900000" scaled="1"/>
              </a:gradFill>
              <a:ln w="28575" cap="flat" cmpd="sng">
                <a:solidFill>
                  <a:schemeClr val="tx1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Freeform 48"/>
              <p:cNvSpPr/>
              <p:nvPr/>
            </p:nvSpPr>
            <p:spPr bwMode="auto">
              <a:xfrm>
                <a:off x="4272" y="1028"/>
                <a:ext cx="480" cy="844"/>
              </a:xfrm>
              <a:custGeom>
                <a:avLst/>
                <a:gdLst>
                  <a:gd name="T0" fmla="*/ 0 w 576"/>
                  <a:gd name="T1" fmla="*/ 0 h 1104"/>
                  <a:gd name="T2" fmla="*/ 54 w 576"/>
                  <a:gd name="T3" fmla="*/ 0 h 1104"/>
                  <a:gd name="T4" fmla="*/ 54 w 576"/>
                  <a:gd name="T5" fmla="*/ 34 h 1104"/>
                  <a:gd name="T6" fmla="*/ 0 w 576"/>
                  <a:gd name="T7" fmla="*/ 34 h 1104"/>
                  <a:gd name="T8" fmla="*/ 0 w 576"/>
                  <a:gd name="T9" fmla="*/ 0 h 1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1104">
                    <a:moveTo>
                      <a:pt x="0" y="0"/>
                    </a:moveTo>
                    <a:lnTo>
                      <a:pt x="576" y="0"/>
                    </a:lnTo>
                    <a:lnTo>
                      <a:pt x="576" y="1104"/>
                    </a:lnTo>
                    <a:lnTo>
                      <a:pt x="0" y="1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28575" cap="flat" cmpd="sng">
                <a:solidFill>
                  <a:schemeClr val="tx1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Freeform 49"/>
              <p:cNvSpPr/>
              <p:nvPr/>
            </p:nvSpPr>
            <p:spPr bwMode="auto">
              <a:xfrm>
                <a:off x="4752" y="844"/>
                <a:ext cx="240" cy="1028"/>
              </a:xfrm>
              <a:custGeom>
                <a:avLst/>
                <a:gdLst>
                  <a:gd name="T0" fmla="*/ 0 w 288"/>
                  <a:gd name="T1" fmla="*/ 1344 h 1344"/>
                  <a:gd name="T2" fmla="*/ 288 w 288"/>
                  <a:gd name="T3" fmla="*/ 1104 h 1344"/>
                  <a:gd name="T4" fmla="*/ 288 w 288"/>
                  <a:gd name="T5" fmla="*/ 0 h 1344"/>
                  <a:gd name="T6" fmla="*/ 0 w 288"/>
                  <a:gd name="T7" fmla="*/ 240 h 1344"/>
                  <a:gd name="T8" fmla="*/ 0 w 288"/>
                  <a:gd name="T9" fmla="*/ 1344 h 1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44">
                    <a:moveTo>
                      <a:pt x="0" y="1344"/>
                    </a:moveTo>
                    <a:lnTo>
                      <a:pt x="288" y="1104"/>
                    </a:lnTo>
                    <a:lnTo>
                      <a:pt x="288" y="0"/>
                    </a:lnTo>
                    <a:lnTo>
                      <a:pt x="0" y="240"/>
                    </a:lnTo>
                    <a:lnTo>
                      <a:pt x="0" y="13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lin ang="0" scaled="1"/>
              </a:gradFill>
              <a:ln w="28575" cap="flat" cmpd="sng">
                <a:solidFill>
                  <a:schemeClr val="tx1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50"/>
              <p:cNvSpPr/>
              <p:nvPr/>
            </p:nvSpPr>
            <p:spPr bwMode="auto">
              <a:xfrm>
                <a:off x="4032" y="624"/>
                <a:ext cx="960" cy="404"/>
              </a:xfrm>
              <a:custGeom>
                <a:avLst/>
                <a:gdLst>
                  <a:gd name="T0" fmla="*/ 0 w 1152"/>
                  <a:gd name="T1" fmla="*/ 7 h 528"/>
                  <a:gd name="T2" fmla="*/ 28 w 1152"/>
                  <a:gd name="T3" fmla="*/ 0 h 528"/>
                  <a:gd name="T4" fmla="*/ 82 w 1152"/>
                  <a:gd name="T5" fmla="*/ 0 h 528"/>
                  <a:gd name="T6" fmla="*/ 108 w 1152"/>
                  <a:gd name="T7" fmla="*/ 8 h 528"/>
                  <a:gd name="T8" fmla="*/ 82 w 1152"/>
                  <a:gd name="T9" fmla="*/ 16 h 528"/>
                  <a:gd name="T10" fmla="*/ 28 w 1152"/>
                  <a:gd name="T11" fmla="*/ 16 h 528"/>
                  <a:gd name="T12" fmla="*/ 0 w 1152"/>
                  <a:gd name="T13" fmla="*/ 7 h 5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2" h="528">
                    <a:moveTo>
                      <a:pt x="0" y="240"/>
                    </a:moveTo>
                    <a:lnTo>
                      <a:pt x="288" y="0"/>
                    </a:lnTo>
                    <a:lnTo>
                      <a:pt x="864" y="0"/>
                    </a:lnTo>
                    <a:lnTo>
                      <a:pt x="1152" y="288"/>
                    </a:lnTo>
                    <a:lnTo>
                      <a:pt x="864" y="528"/>
                    </a:lnTo>
                    <a:lnTo>
                      <a:pt x="288" y="528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28575" cap="flat" cmpd="sng">
                <a:solidFill>
                  <a:schemeClr val="tx1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1" name="Text Box 71"/>
          <p:cNvSpPr txBox="1">
            <a:spLocks noChangeArrowheads="1"/>
          </p:cNvSpPr>
          <p:nvPr/>
        </p:nvSpPr>
        <p:spPr bwMode="auto">
          <a:xfrm>
            <a:off x="6508753" y="2446220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检查：三等关系</a:t>
            </a:r>
            <a:endParaRPr lang="zh-CN" altLang="en-US" sz="2000" b="1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Group 124"/>
          <p:cNvGrpSpPr/>
          <p:nvPr/>
        </p:nvGrpSpPr>
        <p:grpSpPr bwMode="auto">
          <a:xfrm>
            <a:off x="4956026" y="5681848"/>
            <a:ext cx="1778000" cy="161925"/>
            <a:chOff x="3061" y="1845"/>
            <a:chExt cx="763" cy="0"/>
          </a:xfrm>
        </p:grpSpPr>
        <p:sp>
          <p:nvSpPr>
            <p:cNvPr id="43" name="Line 119"/>
            <p:cNvSpPr>
              <a:spLocks noChangeShapeType="1"/>
            </p:cNvSpPr>
            <p:nvPr/>
          </p:nvSpPr>
          <p:spPr bwMode="auto">
            <a:xfrm>
              <a:off x="3061" y="1845"/>
              <a:ext cx="1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20"/>
            <p:cNvSpPr>
              <a:spLocks noChangeShapeType="1"/>
            </p:cNvSpPr>
            <p:nvPr/>
          </p:nvSpPr>
          <p:spPr bwMode="auto">
            <a:xfrm>
              <a:off x="3257" y="1845"/>
              <a:ext cx="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21"/>
            <p:cNvSpPr>
              <a:spLocks noChangeShapeType="1"/>
            </p:cNvSpPr>
            <p:nvPr/>
          </p:nvSpPr>
          <p:spPr bwMode="auto">
            <a:xfrm>
              <a:off x="3315" y="1845"/>
              <a:ext cx="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22"/>
            <p:cNvSpPr>
              <a:spLocks noChangeShapeType="1"/>
            </p:cNvSpPr>
            <p:nvPr/>
          </p:nvSpPr>
          <p:spPr bwMode="auto">
            <a:xfrm>
              <a:off x="3599" y="1845"/>
              <a:ext cx="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23"/>
            <p:cNvSpPr>
              <a:spLocks noChangeShapeType="1"/>
            </p:cNvSpPr>
            <p:nvPr/>
          </p:nvSpPr>
          <p:spPr bwMode="auto">
            <a:xfrm>
              <a:off x="3663" y="1845"/>
              <a:ext cx="1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组合 47"/>
          <p:cNvGrpSpPr/>
          <p:nvPr/>
        </p:nvGrpSpPr>
        <p:grpSpPr bwMode="auto">
          <a:xfrm>
            <a:off x="5838676" y="4881748"/>
            <a:ext cx="0" cy="1555750"/>
            <a:chOff x="7880350" y="3634975"/>
            <a:chExt cx="1" cy="1555911"/>
          </a:xfrm>
        </p:grpSpPr>
        <p:sp>
          <p:nvSpPr>
            <p:cNvPr id="49" name="Line 126"/>
            <p:cNvSpPr>
              <a:spLocks noChangeShapeType="1"/>
            </p:cNvSpPr>
            <p:nvPr/>
          </p:nvSpPr>
          <p:spPr bwMode="auto">
            <a:xfrm rot="5400000" flipH="1">
              <a:off x="7736835" y="5047372"/>
              <a:ext cx="2870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27"/>
            <p:cNvSpPr>
              <a:spLocks noChangeShapeType="1"/>
            </p:cNvSpPr>
            <p:nvPr/>
          </p:nvSpPr>
          <p:spPr bwMode="auto">
            <a:xfrm rot="5400000" flipH="1">
              <a:off x="7841531" y="4802692"/>
              <a:ext cx="776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28"/>
            <p:cNvSpPr>
              <a:spLocks noChangeShapeType="1"/>
            </p:cNvSpPr>
            <p:nvPr/>
          </p:nvSpPr>
          <p:spPr bwMode="auto">
            <a:xfrm rot="5400000" flipH="1">
              <a:off x="7599398" y="4400584"/>
              <a:ext cx="5619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29"/>
            <p:cNvSpPr>
              <a:spLocks noChangeShapeType="1"/>
            </p:cNvSpPr>
            <p:nvPr/>
          </p:nvSpPr>
          <p:spPr bwMode="auto">
            <a:xfrm rot="5400000" flipH="1">
              <a:off x="7841531" y="4012583"/>
              <a:ext cx="776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30"/>
            <p:cNvSpPr>
              <a:spLocks noChangeShapeType="1"/>
            </p:cNvSpPr>
            <p:nvPr/>
          </p:nvSpPr>
          <p:spPr bwMode="auto">
            <a:xfrm rot="5400000" flipH="1">
              <a:off x="7747423" y="3767903"/>
              <a:ext cx="2658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 bwMode="auto">
          <a:xfrm>
            <a:off x="5840263" y="3162485"/>
            <a:ext cx="0" cy="1595438"/>
            <a:chOff x="5763150" y="1872455"/>
            <a:chExt cx="0" cy="1594644"/>
          </a:xfrm>
        </p:grpSpPr>
        <p:sp>
          <p:nvSpPr>
            <p:cNvPr id="55" name="Line 134"/>
            <p:cNvSpPr>
              <a:spLocks noChangeShapeType="1"/>
            </p:cNvSpPr>
            <p:nvPr/>
          </p:nvSpPr>
          <p:spPr bwMode="auto">
            <a:xfrm flipV="1">
              <a:off x="5763150" y="2770868"/>
              <a:ext cx="0" cy="696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41"/>
            <p:cNvSpPr>
              <a:spLocks noChangeShapeType="1"/>
            </p:cNvSpPr>
            <p:nvPr/>
          </p:nvSpPr>
          <p:spPr bwMode="auto">
            <a:xfrm flipV="1">
              <a:off x="5763150" y="1872455"/>
              <a:ext cx="0" cy="609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42"/>
            <p:cNvSpPr>
              <a:spLocks noChangeShapeType="1"/>
            </p:cNvSpPr>
            <p:nvPr/>
          </p:nvSpPr>
          <p:spPr bwMode="auto">
            <a:xfrm flipV="1">
              <a:off x="5763150" y="2561393"/>
              <a:ext cx="0" cy="1309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" name="组合 57"/>
          <p:cNvGrpSpPr/>
          <p:nvPr/>
        </p:nvGrpSpPr>
        <p:grpSpPr bwMode="auto">
          <a:xfrm>
            <a:off x="7483326" y="3160898"/>
            <a:ext cx="0" cy="1595437"/>
            <a:chOff x="5763150" y="1872455"/>
            <a:chExt cx="0" cy="1594644"/>
          </a:xfrm>
        </p:grpSpPr>
        <p:sp>
          <p:nvSpPr>
            <p:cNvPr id="59" name="Line 134"/>
            <p:cNvSpPr>
              <a:spLocks noChangeShapeType="1"/>
            </p:cNvSpPr>
            <p:nvPr/>
          </p:nvSpPr>
          <p:spPr bwMode="auto">
            <a:xfrm flipV="1">
              <a:off x="5763150" y="2770868"/>
              <a:ext cx="0" cy="696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41"/>
            <p:cNvSpPr>
              <a:spLocks noChangeShapeType="1"/>
            </p:cNvSpPr>
            <p:nvPr/>
          </p:nvSpPr>
          <p:spPr bwMode="auto">
            <a:xfrm flipV="1">
              <a:off x="5763150" y="1872455"/>
              <a:ext cx="0" cy="609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42"/>
            <p:cNvSpPr>
              <a:spLocks noChangeShapeType="1"/>
            </p:cNvSpPr>
            <p:nvPr/>
          </p:nvSpPr>
          <p:spPr bwMode="auto">
            <a:xfrm flipV="1">
              <a:off x="5763150" y="2561393"/>
              <a:ext cx="0" cy="1309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" name="Text Box 179"/>
          <p:cNvSpPr txBox="1">
            <a:spLocks noChangeArrowheads="1"/>
          </p:cNvSpPr>
          <p:nvPr/>
        </p:nvSpPr>
        <p:spPr bwMode="auto">
          <a:xfrm>
            <a:off x="561055" y="283227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画图步骤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 Box 180"/>
          <p:cNvSpPr txBox="1">
            <a:spLocks noChangeArrowheads="1"/>
          </p:cNvSpPr>
          <p:nvPr/>
        </p:nvSpPr>
        <p:spPr bwMode="auto">
          <a:xfrm>
            <a:off x="823948" y="3322884"/>
            <a:ext cx="29001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、画中心线、对称线；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 Box 186"/>
          <p:cNvSpPr txBox="1">
            <a:spLocks noChangeArrowheads="1"/>
          </p:cNvSpPr>
          <p:nvPr/>
        </p:nvSpPr>
        <p:spPr bwMode="auto">
          <a:xfrm>
            <a:off x="822360" y="3953737"/>
            <a:ext cx="26436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、画六棱柱特征视图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俯视图；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187"/>
          <p:cNvSpPr txBox="1">
            <a:spLocks noChangeArrowheads="1"/>
          </p:cNvSpPr>
          <p:nvPr/>
        </p:nvSpPr>
        <p:spPr bwMode="auto">
          <a:xfrm>
            <a:off x="823948" y="4923144"/>
            <a:ext cx="3926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、利用“三等”关系画主视图；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200"/>
          <p:cNvSpPr txBox="1">
            <a:spLocks noChangeArrowheads="1"/>
          </p:cNvSpPr>
          <p:nvPr/>
        </p:nvSpPr>
        <p:spPr bwMode="auto">
          <a:xfrm>
            <a:off x="844585" y="5553996"/>
            <a:ext cx="3926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、利用“三等”关系画左视图。</a:t>
            </a:r>
            <a:endParaRPr lang="zh-CN" altLang="en-US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Box 116"/>
          <p:cNvSpPr txBox="1">
            <a:spLocks noChangeArrowheads="1"/>
          </p:cNvSpPr>
          <p:nvPr/>
        </p:nvSpPr>
        <p:spPr bwMode="auto">
          <a:xfrm>
            <a:off x="6160901" y="1346552"/>
            <a:ext cx="2675732" cy="799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将底面平行于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前后侧棱面平行于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 Box 76"/>
          <p:cNvSpPr txBox="1">
            <a:spLocks noChangeArrowheads="1"/>
          </p:cNvSpPr>
          <p:nvPr/>
        </p:nvSpPr>
        <p:spPr bwMode="auto">
          <a:xfrm>
            <a:off x="7105895" y="4979699"/>
            <a:ext cx="15684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有粗实线</a:t>
            </a:r>
            <a:endParaRPr lang="zh-CN" altLang="en-US" sz="2400" b="1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Line 77"/>
          <p:cNvSpPr>
            <a:spLocks noChangeShapeType="1"/>
          </p:cNvSpPr>
          <p:nvPr/>
        </p:nvSpPr>
        <p:spPr bwMode="auto">
          <a:xfrm flipH="1" flipV="1">
            <a:off x="7488088" y="4148323"/>
            <a:ext cx="355020" cy="764804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329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棱柱的视图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7" grpId="0" animBg="1"/>
      <p:bldP spid="7" grpId="1" animBg="1"/>
      <p:bldP spid="8" grpId="0" animBg="1"/>
      <p:bldP spid="9" grpId="0" animBg="1"/>
      <p:bldP spid="10" grpId="0" animBg="1"/>
      <p:bldP spid="12" grpId="0" animBg="1"/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4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grpSp>
        <p:nvGrpSpPr>
          <p:cNvPr id="2" name="Group 46"/>
          <p:cNvGrpSpPr/>
          <p:nvPr/>
        </p:nvGrpSpPr>
        <p:grpSpPr bwMode="auto">
          <a:xfrm>
            <a:off x="6023687" y="4372495"/>
            <a:ext cx="1356625" cy="1804009"/>
            <a:chOff x="4032" y="624"/>
            <a:chExt cx="960" cy="1248"/>
          </a:xfrm>
        </p:grpSpPr>
        <p:sp>
          <p:nvSpPr>
            <p:cNvPr id="3" name="Freeform 47"/>
            <p:cNvSpPr/>
            <p:nvPr/>
          </p:nvSpPr>
          <p:spPr bwMode="auto">
            <a:xfrm>
              <a:off x="4032" y="808"/>
              <a:ext cx="240" cy="1064"/>
            </a:xfrm>
            <a:custGeom>
              <a:avLst/>
              <a:gdLst>
                <a:gd name="T0" fmla="*/ 0 w 288"/>
                <a:gd name="T1" fmla="*/ 0 h 1392"/>
                <a:gd name="T2" fmla="*/ 0 w 288"/>
                <a:gd name="T3" fmla="*/ 1104 h 1392"/>
                <a:gd name="T4" fmla="*/ 288 w 288"/>
                <a:gd name="T5" fmla="*/ 1392 h 1392"/>
                <a:gd name="T6" fmla="*/ 288 w 288"/>
                <a:gd name="T7" fmla="*/ 288 h 1392"/>
                <a:gd name="T8" fmla="*/ 0 w 288"/>
                <a:gd name="T9" fmla="*/ 0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92">
                  <a:moveTo>
                    <a:pt x="0" y="0"/>
                  </a:moveTo>
                  <a:lnTo>
                    <a:pt x="0" y="1104"/>
                  </a:lnTo>
                  <a:lnTo>
                    <a:pt x="288" y="1392"/>
                  </a:lnTo>
                  <a:lnTo>
                    <a:pt x="288" y="28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8900000" scaled="1"/>
            </a:gra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" name="Freeform 48"/>
            <p:cNvSpPr/>
            <p:nvPr/>
          </p:nvSpPr>
          <p:spPr bwMode="auto">
            <a:xfrm>
              <a:off x="4272" y="1028"/>
              <a:ext cx="480" cy="844"/>
            </a:xfrm>
            <a:custGeom>
              <a:avLst/>
              <a:gdLst>
                <a:gd name="T0" fmla="*/ 0 w 576"/>
                <a:gd name="T1" fmla="*/ 0 h 1104"/>
                <a:gd name="T2" fmla="*/ 54 w 576"/>
                <a:gd name="T3" fmla="*/ 0 h 1104"/>
                <a:gd name="T4" fmla="*/ 54 w 576"/>
                <a:gd name="T5" fmla="*/ 34 h 1104"/>
                <a:gd name="T6" fmla="*/ 0 w 576"/>
                <a:gd name="T7" fmla="*/ 34 h 1104"/>
                <a:gd name="T8" fmla="*/ 0 w 576"/>
                <a:gd name="T9" fmla="*/ 0 h 1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" h="1104">
                  <a:moveTo>
                    <a:pt x="0" y="0"/>
                  </a:moveTo>
                  <a:lnTo>
                    <a:pt x="576" y="0"/>
                  </a:lnTo>
                  <a:lnTo>
                    <a:pt x="576" y="1104"/>
                  </a:lnTo>
                  <a:lnTo>
                    <a:pt x="0" y="1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Freeform 49"/>
            <p:cNvSpPr/>
            <p:nvPr/>
          </p:nvSpPr>
          <p:spPr bwMode="auto">
            <a:xfrm>
              <a:off x="4752" y="844"/>
              <a:ext cx="240" cy="1028"/>
            </a:xfrm>
            <a:custGeom>
              <a:avLst/>
              <a:gdLst>
                <a:gd name="T0" fmla="*/ 0 w 288"/>
                <a:gd name="T1" fmla="*/ 1344 h 1344"/>
                <a:gd name="T2" fmla="*/ 288 w 288"/>
                <a:gd name="T3" fmla="*/ 1104 h 1344"/>
                <a:gd name="T4" fmla="*/ 288 w 288"/>
                <a:gd name="T5" fmla="*/ 0 h 1344"/>
                <a:gd name="T6" fmla="*/ 0 w 288"/>
                <a:gd name="T7" fmla="*/ 240 h 1344"/>
                <a:gd name="T8" fmla="*/ 0 w 288"/>
                <a:gd name="T9" fmla="*/ 1344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44">
                  <a:moveTo>
                    <a:pt x="0" y="1344"/>
                  </a:moveTo>
                  <a:lnTo>
                    <a:pt x="288" y="1104"/>
                  </a:lnTo>
                  <a:lnTo>
                    <a:pt x="288" y="0"/>
                  </a:lnTo>
                  <a:lnTo>
                    <a:pt x="0" y="240"/>
                  </a:lnTo>
                  <a:lnTo>
                    <a:pt x="0" y="134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Freeform 50"/>
            <p:cNvSpPr/>
            <p:nvPr/>
          </p:nvSpPr>
          <p:spPr bwMode="auto">
            <a:xfrm>
              <a:off x="4032" y="624"/>
              <a:ext cx="960" cy="404"/>
            </a:xfrm>
            <a:custGeom>
              <a:avLst/>
              <a:gdLst>
                <a:gd name="T0" fmla="*/ 0 w 1152"/>
                <a:gd name="T1" fmla="*/ 7 h 528"/>
                <a:gd name="T2" fmla="*/ 28 w 1152"/>
                <a:gd name="T3" fmla="*/ 0 h 528"/>
                <a:gd name="T4" fmla="*/ 82 w 1152"/>
                <a:gd name="T5" fmla="*/ 0 h 528"/>
                <a:gd name="T6" fmla="*/ 108 w 1152"/>
                <a:gd name="T7" fmla="*/ 8 h 528"/>
                <a:gd name="T8" fmla="*/ 82 w 1152"/>
                <a:gd name="T9" fmla="*/ 16 h 528"/>
                <a:gd name="T10" fmla="*/ 28 w 1152"/>
                <a:gd name="T11" fmla="*/ 16 h 528"/>
                <a:gd name="T12" fmla="*/ 0 w 1152"/>
                <a:gd name="T13" fmla="*/ 7 h 5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2" h="528">
                  <a:moveTo>
                    <a:pt x="0" y="240"/>
                  </a:moveTo>
                  <a:lnTo>
                    <a:pt x="288" y="0"/>
                  </a:lnTo>
                  <a:lnTo>
                    <a:pt x="864" y="0"/>
                  </a:lnTo>
                  <a:lnTo>
                    <a:pt x="1152" y="288"/>
                  </a:lnTo>
                  <a:lnTo>
                    <a:pt x="864" y="528"/>
                  </a:lnTo>
                  <a:lnTo>
                    <a:pt x="288" y="528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" name="Freeform 4"/>
          <p:cNvSpPr/>
          <p:nvPr/>
        </p:nvSpPr>
        <p:spPr bwMode="auto">
          <a:xfrm>
            <a:off x="6708555" y="2614402"/>
            <a:ext cx="1096962" cy="1588"/>
          </a:xfrm>
          <a:custGeom>
            <a:avLst/>
            <a:gdLst>
              <a:gd name="T0" fmla="*/ 0 w 691"/>
              <a:gd name="T1" fmla="*/ 0 h 1"/>
              <a:gd name="T2" fmla="*/ 2147483647 w 69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91" h="1">
                <a:moveTo>
                  <a:pt x="0" y="0"/>
                </a:moveTo>
                <a:lnTo>
                  <a:pt x="691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9"/>
          <p:cNvSpPr/>
          <p:nvPr/>
        </p:nvSpPr>
        <p:spPr bwMode="auto">
          <a:xfrm>
            <a:off x="4962305" y="1314240"/>
            <a:ext cx="1295400" cy="1295400"/>
          </a:xfrm>
          <a:custGeom>
            <a:avLst/>
            <a:gdLst>
              <a:gd name="T0" fmla="*/ 0 w 816"/>
              <a:gd name="T1" fmla="*/ 0 h 816"/>
              <a:gd name="T2" fmla="*/ 0 w 816"/>
              <a:gd name="T3" fmla="*/ 2147483647 h 816"/>
              <a:gd name="T4" fmla="*/ 2147483647 w 816"/>
              <a:gd name="T5" fmla="*/ 2147483647 h 816"/>
              <a:gd name="T6" fmla="*/ 2147483647 w 816"/>
              <a:gd name="T7" fmla="*/ 0 h 816"/>
              <a:gd name="T8" fmla="*/ 0 w 81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6" h="816">
                <a:moveTo>
                  <a:pt x="0" y="0"/>
                </a:moveTo>
                <a:lnTo>
                  <a:pt x="0" y="816"/>
                </a:lnTo>
                <a:lnTo>
                  <a:pt x="816" y="816"/>
                </a:lnTo>
                <a:lnTo>
                  <a:pt x="816" y="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289330" y="131424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30680" y="131424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4962305" y="2914440"/>
            <a:ext cx="1295400" cy="1066800"/>
          </a:xfrm>
          <a:prstGeom prst="hexagon">
            <a:avLst>
              <a:gd name="adj" fmla="val 30357"/>
              <a:gd name="vf" fmla="val 11547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114705" y="1771440"/>
            <a:ext cx="0" cy="1905000"/>
          </a:xfrm>
          <a:prstGeom prst="line">
            <a:avLst/>
          </a:prstGeom>
          <a:noFill/>
          <a:ln w="12700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114705" y="1771440"/>
            <a:ext cx="2438400" cy="0"/>
          </a:xfrm>
          <a:prstGeom prst="line">
            <a:avLst/>
          </a:prstGeom>
          <a:noFill/>
          <a:ln w="12700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4851180" y="1352346"/>
            <a:ext cx="463550" cy="571501"/>
            <a:chOff x="3578" y="2424"/>
            <a:chExt cx="292" cy="360"/>
          </a:xfrm>
        </p:grpSpPr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664" y="263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3578" y="2424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/>
                <a:t> </a:t>
              </a:r>
              <a:r>
                <a:rPr lang="en-US" altLang="zh-CN" sz="2400" b="1" dirty="0"/>
                <a:t>a</a:t>
              </a:r>
              <a:r>
                <a:rPr lang="en-US" altLang="zh-CN" sz="2400" b="1" dirty="0">
                  <a:sym typeface="Symbol" panose="05050102010706020507" pitchFamily="18" charset="2"/>
                </a:rPr>
                <a:t></a:t>
              </a:r>
              <a:endParaRPr lang="en-US" altLang="zh-CN" sz="2400" b="1" dirty="0">
                <a:sym typeface="CommercialPi BT" panose="05020102010206080802" pitchFamily="18" charset="2"/>
              </a:endParaRPr>
            </a:p>
          </p:txBody>
        </p:sp>
      </p:grpSp>
      <p:grpSp>
        <p:nvGrpSpPr>
          <p:cNvPr id="21" name="Group 21"/>
          <p:cNvGrpSpPr/>
          <p:nvPr/>
        </p:nvGrpSpPr>
        <p:grpSpPr bwMode="auto">
          <a:xfrm>
            <a:off x="4873405" y="3539915"/>
            <a:ext cx="368300" cy="396875"/>
            <a:chOff x="3608" y="3802"/>
            <a:chExt cx="232" cy="250"/>
          </a:xfrm>
        </p:grpSpPr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3664" y="383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3608" y="380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a</a:t>
              </a:r>
              <a:endParaRPr lang="en-US" altLang="zh-CN" sz="1600" b="1"/>
            </a:p>
          </p:txBody>
        </p:sp>
      </p:grpSp>
      <p:grpSp>
        <p:nvGrpSpPr>
          <p:cNvPr id="24" name="Group 24"/>
          <p:cNvGrpSpPr/>
          <p:nvPr/>
        </p:nvGrpSpPr>
        <p:grpSpPr bwMode="auto">
          <a:xfrm>
            <a:off x="7353080" y="1342816"/>
            <a:ext cx="512762" cy="550862"/>
            <a:chOff x="5154" y="2418"/>
            <a:chExt cx="323" cy="347"/>
          </a:xfrm>
        </p:grpSpPr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5184" y="2611"/>
              <a:ext cx="19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5154" y="2418"/>
              <a:ext cx="3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/>
                <a:t> </a:t>
              </a:r>
              <a:r>
                <a:rPr lang="en-US" altLang="zh-CN" sz="2400" b="1" dirty="0"/>
                <a:t>a</a:t>
              </a:r>
              <a:r>
                <a:rPr lang="en-US" altLang="zh-CN" sz="2400" b="1" dirty="0">
                  <a:sym typeface="Symbol" panose="05050102010706020507" pitchFamily="18" charset="2"/>
                </a:rPr>
                <a:t></a:t>
              </a:r>
              <a:endParaRPr lang="en-US" altLang="zh-CN" sz="2400" b="1" dirty="0">
                <a:sym typeface="Symbol" panose="05050102010706020507" pitchFamily="18" charset="2"/>
              </a:endParaRPr>
            </a:p>
          </p:txBody>
        </p:sp>
      </p:grpSp>
      <p:sp>
        <p:nvSpPr>
          <p:cNvPr id="27" name="Freeform 27"/>
          <p:cNvSpPr/>
          <p:nvPr/>
        </p:nvSpPr>
        <p:spPr bwMode="auto">
          <a:xfrm>
            <a:off x="4954367" y="2612815"/>
            <a:ext cx="1322388" cy="1587"/>
          </a:xfrm>
          <a:custGeom>
            <a:avLst/>
            <a:gdLst>
              <a:gd name="T0" fmla="*/ 0 w 833"/>
              <a:gd name="T1" fmla="*/ 0 h 1"/>
              <a:gd name="T2" fmla="*/ 2147483647 w 83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3" h="1">
                <a:moveTo>
                  <a:pt x="0" y="0"/>
                </a:moveTo>
                <a:lnTo>
                  <a:pt x="83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Group 33"/>
          <p:cNvGrpSpPr/>
          <p:nvPr/>
        </p:nvGrpSpPr>
        <p:grpSpPr bwMode="auto">
          <a:xfrm>
            <a:off x="5114705" y="1771440"/>
            <a:ext cx="2438400" cy="1905000"/>
            <a:chOff x="3744" y="2400"/>
            <a:chExt cx="1536" cy="1200"/>
          </a:xfrm>
        </p:grpSpPr>
        <p:sp>
          <p:nvSpPr>
            <p:cNvPr id="29" name="Line 34"/>
            <p:cNvSpPr>
              <a:spLocks noChangeShapeType="1"/>
            </p:cNvSpPr>
            <p:nvPr/>
          </p:nvSpPr>
          <p:spPr bwMode="auto">
            <a:xfrm>
              <a:off x="3744" y="3456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5088" y="2400"/>
              <a:ext cx="19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Freeform 39"/>
          <p:cNvSpPr/>
          <p:nvPr/>
        </p:nvSpPr>
        <p:spPr bwMode="auto">
          <a:xfrm>
            <a:off x="6714905" y="1314240"/>
            <a:ext cx="1587" cy="1295400"/>
          </a:xfrm>
          <a:custGeom>
            <a:avLst/>
            <a:gdLst>
              <a:gd name="T0" fmla="*/ 0 w 1"/>
              <a:gd name="T1" fmla="*/ 2147483647 h 816"/>
              <a:gd name="T2" fmla="*/ 0 w 1"/>
              <a:gd name="T3" fmla="*/ 0 h 8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16">
                <a:moveTo>
                  <a:pt x="0" y="81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Freeform 40"/>
          <p:cNvSpPr/>
          <p:nvPr/>
        </p:nvSpPr>
        <p:spPr bwMode="auto">
          <a:xfrm>
            <a:off x="7781705" y="1314240"/>
            <a:ext cx="1587" cy="1295400"/>
          </a:xfrm>
          <a:custGeom>
            <a:avLst/>
            <a:gdLst>
              <a:gd name="T0" fmla="*/ 0 w 1"/>
              <a:gd name="T1" fmla="*/ 2147483647 h 816"/>
              <a:gd name="T2" fmla="*/ 0 w 1"/>
              <a:gd name="T3" fmla="*/ 0 h 8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16">
                <a:moveTo>
                  <a:pt x="0" y="81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Freeform 41"/>
          <p:cNvSpPr/>
          <p:nvPr/>
        </p:nvSpPr>
        <p:spPr bwMode="auto">
          <a:xfrm>
            <a:off x="6703792" y="1309477"/>
            <a:ext cx="1090613" cy="4763"/>
          </a:xfrm>
          <a:custGeom>
            <a:avLst/>
            <a:gdLst>
              <a:gd name="T0" fmla="*/ 0 w 687"/>
              <a:gd name="T1" fmla="*/ 2147483647 h 3"/>
              <a:gd name="T2" fmla="*/ 2147483647 w 687"/>
              <a:gd name="T3" fmla="*/ 0 h 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7" h="3">
                <a:moveTo>
                  <a:pt x="0" y="3"/>
                </a:moveTo>
                <a:lnTo>
                  <a:pt x="687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42"/>
          <p:cNvSpPr>
            <a:spLocks noChangeShapeType="1"/>
          </p:cNvSpPr>
          <p:nvPr/>
        </p:nvSpPr>
        <p:spPr bwMode="auto">
          <a:xfrm flipV="1">
            <a:off x="7248305" y="131424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52"/>
          <p:cNvSpPr>
            <a:spLocks noChangeArrowheads="1"/>
          </p:cNvSpPr>
          <p:nvPr/>
        </p:nvSpPr>
        <p:spPr bwMode="auto">
          <a:xfrm>
            <a:off x="6085775" y="5135080"/>
            <a:ext cx="110584" cy="1095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36" name="Text Box 53"/>
          <p:cNvSpPr txBox="1">
            <a:spLocks noChangeArrowheads="1"/>
          </p:cNvSpPr>
          <p:nvPr/>
        </p:nvSpPr>
        <p:spPr bwMode="auto">
          <a:xfrm>
            <a:off x="5616980" y="4945822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A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  <p:sp>
        <p:nvSpPr>
          <p:cNvPr id="38" name="Text Box 58"/>
          <p:cNvSpPr txBox="1">
            <a:spLocks noChangeArrowheads="1"/>
          </p:cNvSpPr>
          <p:nvPr/>
        </p:nvSpPr>
        <p:spPr bwMode="auto">
          <a:xfrm>
            <a:off x="683568" y="2770304"/>
            <a:ext cx="248497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 </a:t>
            </a:r>
            <a:r>
              <a:rPr lang="en-US" altLang="zh-CN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2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</a:t>
            </a:r>
            <a:endParaRPr lang="en-US" altLang="zh-CN" sz="22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39" name="Text Box 60"/>
          <p:cNvSpPr txBox="1">
            <a:spLocks noChangeArrowheads="1"/>
          </p:cNvSpPr>
          <p:nvPr/>
        </p:nvSpPr>
        <p:spPr bwMode="auto">
          <a:xfrm>
            <a:off x="562562" y="3494882"/>
            <a:ext cx="4067319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判断点的位置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作图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可见性判断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55600" lvl="1" indent="0">
              <a:spcBef>
                <a:spcPct val="50000"/>
              </a:spcBef>
              <a:buNone/>
              <a:tabLst>
                <a:tab pos="812800" algn="l"/>
              </a:tabLst>
            </a:pPr>
            <a:r>
              <a:rPr lang="zh-CN" altLang="en-US" sz="2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若点所在的平面的投影可见，则点的投影也可见</a:t>
            </a:r>
            <a:endParaRPr lang="zh-CN" altLang="en-US" sz="2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73"/>
          <p:cNvSpPr>
            <a:spLocks noChangeArrowheads="1"/>
          </p:cNvSpPr>
          <p:nvPr/>
        </p:nvSpPr>
        <p:spPr bwMode="auto">
          <a:xfrm>
            <a:off x="3730406" y="3248112"/>
            <a:ext cx="828753" cy="749412"/>
          </a:xfrm>
          <a:prstGeom prst="wedgeRoundRectCallout">
            <a:avLst>
              <a:gd name="adj1" fmla="val 94744"/>
              <a:gd name="adj2" fmla="val 20953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lIns="91440" tIns="0" rIns="91440" bIns="4572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200" dirty="0">
                <a:ea typeface="黑体" panose="02010609060101010101" pitchFamily="2" charset="-122"/>
              </a:rPr>
              <a:t>不加括弧</a:t>
            </a:r>
            <a:endParaRPr lang="zh-CN" altLang="en-US" sz="2200" dirty="0">
              <a:ea typeface="黑体" panose="02010609060101010101" pitchFamily="2" charset="-122"/>
            </a:endParaRPr>
          </a:p>
        </p:txBody>
      </p:sp>
      <p:grpSp>
        <p:nvGrpSpPr>
          <p:cNvPr id="42" name="组合 41"/>
          <p:cNvGrpSpPr/>
          <p:nvPr/>
        </p:nvGrpSpPr>
        <p:grpSpPr bwMode="auto">
          <a:xfrm>
            <a:off x="5616980" y="1238040"/>
            <a:ext cx="0" cy="1595438"/>
            <a:chOff x="5763150" y="1872455"/>
            <a:chExt cx="0" cy="1594644"/>
          </a:xfrm>
        </p:grpSpPr>
        <p:sp>
          <p:nvSpPr>
            <p:cNvPr id="43" name="Line 134"/>
            <p:cNvSpPr>
              <a:spLocks noChangeShapeType="1"/>
            </p:cNvSpPr>
            <p:nvPr/>
          </p:nvSpPr>
          <p:spPr bwMode="auto">
            <a:xfrm flipV="1">
              <a:off x="5763150" y="2770868"/>
              <a:ext cx="0" cy="696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41"/>
            <p:cNvSpPr>
              <a:spLocks noChangeShapeType="1"/>
            </p:cNvSpPr>
            <p:nvPr/>
          </p:nvSpPr>
          <p:spPr bwMode="auto">
            <a:xfrm flipV="1">
              <a:off x="5763150" y="1872455"/>
              <a:ext cx="0" cy="609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42"/>
            <p:cNvSpPr>
              <a:spLocks noChangeShapeType="1"/>
            </p:cNvSpPr>
            <p:nvPr/>
          </p:nvSpPr>
          <p:spPr bwMode="auto">
            <a:xfrm flipV="1">
              <a:off x="5763150" y="2561393"/>
              <a:ext cx="0" cy="1309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Group 124"/>
          <p:cNvGrpSpPr/>
          <p:nvPr/>
        </p:nvGrpSpPr>
        <p:grpSpPr bwMode="auto">
          <a:xfrm>
            <a:off x="4727980" y="3454635"/>
            <a:ext cx="1778000" cy="161925"/>
            <a:chOff x="3061" y="1845"/>
            <a:chExt cx="763" cy="0"/>
          </a:xfrm>
        </p:grpSpPr>
        <p:sp>
          <p:nvSpPr>
            <p:cNvPr id="47" name="Line 119"/>
            <p:cNvSpPr>
              <a:spLocks noChangeShapeType="1"/>
            </p:cNvSpPr>
            <p:nvPr/>
          </p:nvSpPr>
          <p:spPr bwMode="auto">
            <a:xfrm>
              <a:off x="3061" y="1845"/>
              <a:ext cx="1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20"/>
            <p:cNvSpPr>
              <a:spLocks noChangeShapeType="1"/>
            </p:cNvSpPr>
            <p:nvPr/>
          </p:nvSpPr>
          <p:spPr bwMode="auto">
            <a:xfrm>
              <a:off x="3257" y="1845"/>
              <a:ext cx="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21"/>
            <p:cNvSpPr>
              <a:spLocks noChangeShapeType="1"/>
            </p:cNvSpPr>
            <p:nvPr/>
          </p:nvSpPr>
          <p:spPr bwMode="auto">
            <a:xfrm>
              <a:off x="3315" y="1845"/>
              <a:ext cx="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22"/>
            <p:cNvSpPr>
              <a:spLocks noChangeShapeType="1"/>
            </p:cNvSpPr>
            <p:nvPr/>
          </p:nvSpPr>
          <p:spPr bwMode="auto">
            <a:xfrm>
              <a:off x="3599" y="1845"/>
              <a:ext cx="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23"/>
            <p:cNvSpPr>
              <a:spLocks noChangeShapeType="1"/>
            </p:cNvSpPr>
            <p:nvPr/>
          </p:nvSpPr>
          <p:spPr bwMode="auto">
            <a:xfrm>
              <a:off x="3663" y="1845"/>
              <a:ext cx="1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" name="组合 51"/>
          <p:cNvGrpSpPr/>
          <p:nvPr/>
        </p:nvGrpSpPr>
        <p:grpSpPr bwMode="auto">
          <a:xfrm>
            <a:off x="5617858" y="2654535"/>
            <a:ext cx="0" cy="1555750"/>
            <a:chOff x="7880350" y="3634975"/>
            <a:chExt cx="1" cy="1555911"/>
          </a:xfrm>
        </p:grpSpPr>
        <p:sp>
          <p:nvSpPr>
            <p:cNvPr id="53" name="Line 126"/>
            <p:cNvSpPr>
              <a:spLocks noChangeShapeType="1"/>
            </p:cNvSpPr>
            <p:nvPr/>
          </p:nvSpPr>
          <p:spPr bwMode="auto">
            <a:xfrm rot="5400000" flipH="1">
              <a:off x="7736835" y="5047372"/>
              <a:ext cx="2870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27"/>
            <p:cNvSpPr>
              <a:spLocks noChangeShapeType="1"/>
            </p:cNvSpPr>
            <p:nvPr/>
          </p:nvSpPr>
          <p:spPr bwMode="auto">
            <a:xfrm rot="5400000" flipH="1">
              <a:off x="7841531" y="4802692"/>
              <a:ext cx="776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28"/>
            <p:cNvSpPr>
              <a:spLocks noChangeShapeType="1"/>
            </p:cNvSpPr>
            <p:nvPr/>
          </p:nvSpPr>
          <p:spPr bwMode="auto">
            <a:xfrm rot="5400000" flipH="1">
              <a:off x="7599398" y="4400584"/>
              <a:ext cx="5619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29"/>
            <p:cNvSpPr>
              <a:spLocks noChangeShapeType="1"/>
            </p:cNvSpPr>
            <p:nvPr/>
          </p:nvSpPr>
          <p:spPr bwMode="auto">
            <a:xfrm rot="5400000" flipH="1">
              <a:off x="7841531" y="4012583"/>
              <a:ext cx="776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30"/>
            <p:cNvSpPr>
              <a:spLocks noChangeShapeType="1"/>
            </p:cNvSpPr>
            <p:nvPr/>
          </p:nvSpPr>
          <p:spPr bwMode="auto">
            <a:xfrm rot="5400000" flipH="1">
              <a:off x="7747423" y="3767903"/>
              <a:ext cx="2658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" name="组合 57"/>
          <p:cNvGrpSpPr/>
          <p:nvPr/>
        </p:nvGrpSpPr>
        <p:grpSpPr bwMode="auto">
          <a:xfrm>
            <a:off x="7252319" y="1238040"/>
            <a:ext cx="0" cy="1595438"/>
            <a:chOff x="5763150" y="1872455"/>
            <a:chExt cx="0" cy="1594644"/>
          </a:xfrm>
        </p:grpSpPr>
        <p:sp>
          <p:nvSpPr>
            <p:cNvPr id="59" name="Line 134"/>
            <p:cNvSpPr>
              <a:spLocks noChangeShapeType="1"/>
            </p:cNvSpPr>
            <p:nvPr/>
          </p:nvSpPr>
          <p:spPr bwMode="auto">
            <a:xfrm flipV="1">
              <a:off x="5763150" y="2770868"/>
              <a:ext cx="0" cy="696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41"/>
            <p:cNvSpPr>
              <a:spLocks noChangeShapeType="1"/>
            </p:cNvSpPr>
            <p:nvPr/>
          </p:nvSpPr>
          <p:spPr bwMode="auto">
            <a:xfrm flipV="1">
              <a:off x="5763150" y="1872455"/>
              <a:ext cx="0" cy="609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42"/>
            <p:cNvSpPr>
              <a:spLocks noChangeShapeType="1"/>
            </p:cNvSpPr>
            <p:nvPr/>
          </p:nvSpPr>
          <p:spPr bwMode="auto">
            <a:xfrm flipV="1">
              <a:off x="5763150" y="2561393"/>
              <a:ext cx="0" cy="1309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棱柱面上取点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52"/>
          <p:cNvSpPr txBox="1">
            <a:spLocks noChangeArrowheads="1"/>
          </p:cNvSpPr>
          <p:nvPr/>
        </p:nvSpPr>
        <p:spPr bwMode="auto">
          <a:xfrm>
            <a:off x="6727113" y="3147633"/>
            <a:ext cx="187743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基本方法</a:t>
            </a:r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面内取点方法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35" grpId="0" animBg="1"/>
      <p:bldP spid="36" grpId="0"/>
      <p:bldP spid="38" grpId="0"/>
      <p:bldP spid="39" grpId="0" uiExpand="1" build="p"/>
      <p:bldP spid="41" grpId="0" animBg="1"/>
      <p:bldP spid="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84"/>
          <p:cNvGrpSpPr/>
          <p:nvPr/>
        </p:nvGrpSpPr>
        <p:grpSpPr bwMode="auto">
          <a:xfrm>
            <a:off x="6012160" y="3233418"/>
            <a:ext cx="1574800" cy="2001837"/>
            <a:chOff x="2906" y="269"/>
            <a:chExt cx="992" cy="1261"/>
          </a:xfrm>
        </p:grpSpPr>
        <p:sp>
          <p:nvSpPr>
            <p:cNvPr id="5" name="Freeform 85"/>
            <p:cNvSpPr/>
            <p:nvPr/>
          </p:nvSpPr>
          <p:spPr bwMode="auto">
            <a:xfrm>
              <a:off x="3454" y="269"/>
              <a:ext cx="444" cy="1251"/>
            </a:xfrm>
            <a:custGeom>
              <a:avLst/>
              <a:gdLst>
                <a:gd name="T0" fmla="*/ 0 w 444"/>
                <a:gd name="T1" fmla="*/ 0 h 1251"/>
                <a:gd name="T2" fmla="*/ 0 w 444"/>
                <a:gd name="T3" fmla="*/ 1251 h 1251"/>
                <a:gd name="T4" fmla="*/ 444 w 444"/>
                <a:gd name="T5" fmla="*/ 895 h 1251"/>
                <a:gd name="T6" fmla="*/ 0 w 444"/>
                <a:gd name="T7" fmla="*/ 0 h 1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4" h="1251">
                  <a:moveTo>
                    <a:pt x="0" y="0"/>
                  </a:moveTo>
                  <a:lnTo>
                    <a:pt x="0" y="1251"/>
                  </a:lnTo>
                  <a:lnTo>
                    <a:pt x="444" y="89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" name="Freeform 86"/>
            <p:cNvSpPr/>
            <p:nvPr/>
          </p:nvSpPr>
          <p:spPr bwMode="auto">
            <a:xfrm>
              <a:off x="2916" y="276"/>
              <a:ext cx="545" cy="1237"/>
            </a:xfrm>
            <a:custGeom>
              <a:avLst/>
              <a:gdLst>
                <a:gd name="T0" fmla="*/ 545 w 545"/>
                <a:gd name="T1" fmla="*/ 0 h 1237"/>
                <a:gd name="T2" fmla="*/ 0 w 545"/>
                <a:gd name="T3" fmla="*/ 946 h 1237"/>
                <a:gd name="T4" fmla="*/ 538 w 545"/>
                <a:gd name="T5" fmla="*/ 1237 h 1237"/>
                <a:gd name="T6" fmla="*/ 545 w 545"/>
                <a:gd name="T7" fmla="*/ 0 h 12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5" h="1237">
                  <a:moveTo>
                    <a:pt x="545" y="0"/>
                  </a:moveTo>
                  <a:lnTo>
                    <a:pt x="0" y="946"/>
                  </a:lnTo>
                  <a:lnTo>
                    <a:pt x="538" y="123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" name="Group 87"/>
            <p:cNvGrpSpPr/>
            <p:nvPr/>
          </p:nvGrpSpPr>
          <p:grpSpPr bwMode="auto">
            <a:xfrm>
              <a:off x="2906" y="269"/>
              <a:ext cx="992" cy="1261"/>
              <a:chOff x="2906" y="269"/>
              <a:chExt cx="992" cy="1261"/>
            </a:xfrm>
          </p:grpSpPr>
          <p:sp>
            <p:nvSpPr>
              <p:cNvPr id="8" name="Line 88"/>
              <p:cNvSpPr>
                <a:spLocks noChangeShapeType="1"/>
              </p:cNvSpPr>
              <p:nvPr/>
            </p:nvSpPr>
            <p:spPr bwMode="auto">
              <a:xfrm flipH="1">
                <a:off x="2906" y="269"/>
                <a:ext cx="548" cy="948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Line 89"/>
              <p:cNvSpPr>
                <a:spLocks noChangeShapeType="1"/>
              </p:cNvSpPr>
              <p:nvPr/>
            </p:nvSpPr>
            <p:spPr bwMode="auto">
              <a:xfrm>
                <a:off x="2909" y="1215"/>
                <a:ext cx="552" cy="315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" name="Line 90"/>
              <p:cNvSpPr>
                <a:spLocks noChangeShapeType="1"/>
              </p:cNvSpPr>
              <p:nvPr/>
            </p:nvSpPr>
            <p:spPr bwMode="auto">
              <a:xfrm>
                <a:off x="3454" y="269"/>
                <a:ext cx="0" cy="1258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Line 91"/>
              <p:cNvSpPr>
                <a:spLocks noChangeShapeType="1"/>
              </p:cNvSpPr>
              <p:nvPr/>
            </p:nvSpPr>
            <p:spPr bwMode="auto">
              <a:xfrm>
                <a:off x="3447" y="269"/>
                <a:ext cx="451" cy="902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Line 92"/>
              <p:cNvSpPr>
                <a:spLocks noChangeShapeType="1"/>
              </p:cNvSpPr>
              <p:nvPr/>
            </p:nvSpPr>
            <p:spPr bwMode="auto">
              <a:xfrm flipH="1">
                <a:off x="3461" y="1171"/>
                <a:ext cx="437" cy="349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Line 97"/>
          <p:cNvSpPr>
            <a:spLocks noChangeShapeType="1"/>
          </p:cNvSpPr>
          <p:nvPr/>
        </p:nvSpPr>
        <p:spPr bwMode="auto">
          <a:xfrm flipH="1">
            <a:off x="5988869" y="4890768"/>
            <a:ext cx="697628" cy="603250"/>
          </a:xfrm>
          <a:prstGeom prst="line">
            <a:avLst/>
          </a:prstGeom>
          <a:noFill/>
          <a:ln w="9525">
            <a:solidFill>
              <a:schemeClr val="accent6">
                <a:lumMod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Text Box 98"/>
          <p:cNvSpPr txBox="1">
            <a:spLocks noChangeArrowheads="1"/>
          </p:cNvSpPr>
          <p:nvPr/>
        </p:nvSpPr>
        <p:spPr bwMode="auto">
          <a:xfrm>
            <a:off x="5504596" y="5498443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底面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99"/>
          <p:cNvSpPr txBox="1">
            <a:spLocks noChangeArrowheads="1"/>
          </p:cNvSpPr>
          <p:nvPr/>
        </p:nvSpPr>
        <p:spPr bwMode="auto">
          <a:xfrm>
            <a:off x="6709508" y="2516602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锥顶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101"/>
          <p:cNvSpPr>
            <a:spLocks noChangeShapeType="1"/>
          </p:cNvSpPr>
          <p:nvPr/>
        </p:nvSpPr>
        <p:spPr bwMode="auto">
          <a:xfrm flipH="1">
            <a:off x="6896397" y="4038280"/>
            <a:ext cx="971550" cy="414338"/>
          </a:xfrm>
          <a:prstGeom prst="line">
            <a:avLst/>
          </a:prstGeom>
          <a:noFill/>
          <a:ln w="9525">
            <a:solidFill>
              <a:schemeClr val="accent6">
                <a:lumMod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102"/>
          <p:cNvSpPr>
            <a:spLocks noChangeShapeType="1"/>
          </p:cNvSpPr>
          <p:nvPr/>
        </p:nvSpPr>
        <p:spPr bwMode="auto">
          <a:xfrm flipV="1">
            <a:off x="6897985" y="2922268"/>
            <a:ext cx="160337" cy="317500"/>
          </a:xfrm>
          <a:prstGeom prst="line">
            <a:avLst/>
          </a:prstGeom>
          <a:noFill/>
          <a:ln w="9525">
            <a:solidFill>
              <a:schemeClr val="accent6">
                <a:lumMod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Text Box 103"/>
          <p:cNvSpPr txBox="1">
            <a:spLocks noChangeArrowheads="1"/>
          </p:cNvSpPr>
          <p:nvPr/>
        </p:nvSpPr>
        <p:spPr bwMode="auto">
          <a:xfrm>
            <a:off x="5318346" y="1600148"/>
            <a:ext cx="29690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棱锥的棱线交于一点</a:t>
            </a:r>
            <a:endParaRPr lang="zh-CN" altLang="en-US" sz="2400" b="1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04"/>
          <p:cNvSpPr txBox="1">
            <a:spLocks noChangeArrowheads="1"/>
          </p:cNvSpPr>
          <p:nvPr/>
        </p:nvSpPr>
        <p:spPr bwMode="auto">
          <a:xfrm>
            <a:off x="4883429" y="3693763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侧棱面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105"/>
          <p:cNvSpPr>
            <a:spLocks noChangeShapeType="1"/>
          </p:cNvSpPr>
          <p:nvPr/>
        </p:nvSpPr>
        <p:spPr bwMode="auto">
          <a:xfrm flipH="1" flipV="1">
            <a:off x="5853410" y="3893818"/>
            <a:ext cx="769937" cy="665162"/>
          </a:xfrm>
          <a:prstGeom prst="line">
            <a:avLst/>
          </a:prstGeom>
          <a:noFill/>
          <a:ln w="9525">
            <a:solidFill>
              <a:schemeClr val="accent6">
                <a:lumMod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22" name="Picture 107" descr="金字塔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46" y="3001309"/>
            <a:ext cx="3288076" cy="246605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Line 68"/>
          <p:cNvSpPr>
            <a:spLocks noChangeShapeType="1"/>
          </p:cNvSpPr>
          <p:nvPr/>
        </p:nvSpPr>
        <p:spPr bwMode="auto">
          <a:xfrm flipH="1" flipV="1">
            <a:off x="7158335" y="4995543"/>
            <a:ext cx="377825" cy="498475"/>
          </a:xfrm>
          <a:prstGeom prst="line">
            <a:avLst/>
          </a:prstGeom>
          <a:noFill/>
          <a:ln w="9525">
            <a:solidFill>
              <a:schemeClr val="accent6">
                <a:lumMod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7364823" y="5498443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底边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100"/>
          <p:cNvSpPr txBox="1">
            <a:spLocks noChangeArrowheads="1"/>
          </p:cNvSpPr>
          <p:nvPr/>
        </p:nvSpPr>
        <p:spPr bwMode="auto">
          <a:xfrm>
            <a:off x="7890958" y="3826288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侧棱线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329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棱锥的组成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3" grpId="0" animBg="1"/>
      <p:bldP spid="24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 flipV="1">
            <a:off x="7486673" y="2395063"/>
            <a:ext cx="0" cy="2057400"/>
          </a:xfrm>
          <a:prstGeom prst="line">
            <a:avLst/>
          </a:prstGeom>
          <a:noFill/>
          <a:ln w="12700">
            <a:solidFill>
              <a:srgbClr val="CC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"/>
          <p:cNvGrpSpPr/>
          <p:nvPr/>
        </p:nvGrpSpPr>
        <p:grpSpPr bwMode="auto">
          <a:xfrm>
            <a:off x="6124598" y="2226788"/>
            <a:ext cx="466725" cy="534987"/>
            <a:chOff x="3952" y="1737"/>
            <a:chExt cx="294" cy="337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3961" y="1737"/>
              <a:ext cx="28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>
                  <a:latin typeface="ISOCPEUR" panose="020B0604020202020204" pitchFamily="34" charset="0"/>
                </a:rPr>
                <a:t>s</a:t>
              </a:r>
              <a:r>
                <a:rPr lang="en-US" altLang="zh-CN" sz="2400" b="1">
                  <a:latin typeface="ISOCPEUR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zh-CN" sz="2400" b="1">
                <a:latin typeface="ISOCPEUR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3952" y="192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</p:grpSp>
      <p:grpSp>
        <p:nvGrpSpPr>
          <p:cNvPr id="9" name="Group 7"/>
          <p:cNvGrpSpPr/>
          <p:nvPr/>
        </p:nvGrpSpPr>
        <p:grpSpPr bwMode="auto">
          <a:xfrm>
            <a:off x="7653360" y="2210913"/>
            <a:ext cx="501650" cy="536575"/>
            <a:chOff x="4915" y="1736"/>
            <a:chExt cx="316" cy="338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4915" y="1736"/>
              <a:ext cx="3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>
                  <a:latin typeface="ISOCPEUR" panose="020B0604020202020204" pitchFamily="34" charset="0"/>
                </a:rPr>
                <a:t>s</a:t>
              </a:r>
              <a:r>
                <a:rPr lang="en-US" altLang="zh-CN" sz="2400" b="1">
                  <a:latin typeface="ISOCPEUR" panose="020B0604020202020204" pitchFamily="34" charset="0"/>
                  <a:sym typeface="Symbol" panose="05050102010706020507" pitchFamily="18" charset="2"/>
                </a:rPr>
                <a:t></a:t>
              </a:r>
              <a:endParaRPr lang="en-US" altLang="zh-CN" sz="2400" b="1">
                <a:latin typeface="ISOCPEUR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960" y="192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</p:grp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5581673" y="2623663"/>
            <a:ext cx="1371600" cy="18288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6267473" y="2618900"/>
            <a:ext cx="0" cy="18351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14"/>
          <p:cNvSpPr>
            <a:spLocks noChangeArrowheads="1"/>
          </p:cNvSpPr>
          <p:nvPr/>
        </p:nvSpPr>
        <p:spPr bwMode="auto">
          <a:xfrm rot="10800000">
            <a:off x="5581673" y="4985863"/>
            <a:ext cx="13716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V="1">
            <a:off x="6267473" y="5366863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Group 16"/>
          <p:cNvGrpSpPr/>
          <p:nvPr/>
        </p:nvGrpSpPr>
        <p:grpSpPr bwMode="auto">
          <a:xfrm>
            <a:off x="5581673" y="4985863"/>
            <a:ext cx="1371600" cy="381000"/>
            <a:chOff x="3600" y="3504"/>
            <a:chExt cx="864" cy="2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600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V="1">
              <a:off x="4032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Freeform 19"/>
          <p:cNvSpPr/>
          <p:nvPr/>
        </p:nvSpPr>
        <p:spPr bwMode="auto">
          <a:xfrm>
            <a:off x="7486673" y="2623663"/>
            <a:ext cx="990600" cy="1828800"/>
          </a:xfrm>
          <a:custGeom>
            <a:avLst/>
            <a:gdLst>
              <a:gd name="T0" fmla="*/ 2147483647 w 624"/>
              <a:gd name="T1" fmla="*/ 0 h 1152"/>
              <a:gd name="T2" fmla="*/ 0 w 624"/>
              <a:gd name="T3" fmla="*/ 2147483647 h 1152"/>
              <a:gd name="T4" fmla="*/ 2147483647 w 624"/>
              <a:gd name="T5" fmla="*/ 2147483647 h 1152"/>
              <a:gd name="T6" fmla="*/ 2147483647 w 624"/>
              <a:gd name="T7" fmla="*/ 0 h 1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52">
                <a:moveTo>
                  <a:pt x="240" y="0"/>
                </a:moveTo>
                <a:lnTo>
                  <a:pt x="0" y="1152"/>
                </a:lnTo>
                <a:lnTo>
                  <a:pt x="624" y="1152"/>
                </a:lnTo>
                <a:lnTo>
                  <a:pt x="24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Text Box 33"/>
          <p:cNvSpPr txBox="1">
            <a:spLocks noChangeArrowheads="1"/>
          </p:cNvSpPr>
          <p:nvPr/>
        </p:nvSpPr>
        <p:spPr bwMode="auto">
          <a:xfrm>
            <a:off x="6067448" y="4358800"/>
            <a:ext cx="4524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/>
              <a:t> </a:t>
            </a:r>
            <a:r>
              <a:rPr lang="en-US" altLang="zh-CN" sz="2400" b="1">
                <a:latin typeface="ISOCPEUR" panose="020B0604020202020204" pitchFamily="34" charset="0"/>
              </a:rPr>
              <a:t>b</a:t>
            </a:r>
            <a:r>
              <a:rPr lang="en-US" altLang="zh-CN" sz="2400" b="1">
                <a:latin typeface="ISOCPEUR" panose="020B0604020202020204" pitchFamily="34" charset="0"/>
                <a:sym typeface="Symbol" panose="05050102010706020507" pitchFamily="18" charset="2"/>
              </a:rPr>
              <a:t></a:t>
            </a:r>
            <a:endParaRPr lang="en-US" altLang="zh-CN" sz="2400" b="1">
              <a:latin typeface="ISOCPEUR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2" name="Group 34"/>
          <p:cNvGrpSpPr/>
          <p:nvPr/>
        </p:nvGrpSpPr>
        <p:grpSpPr bwMode="auto">
          <a:xfrm>
            <a:off x="5165748" y="4315938"/>
            <a:ext cx="2143125" cy="504825"/>
            <a:chOff x="3338" y="3081"/>
            <a:chExt cx="1350" cy="318"/>
          </a:xfrm>
        </p:grpSpPr>
        <p:sp>
          <p:nvSpPr>
            <p:cNvPr id="23" name="Text Box 35"/>
            <p:cNvSpPr txBox="1">
              <a:spLocks noChangeArrowheads="1"/>
            </p:cNvSpPr>
            <p:nvPr/>
          </p:nvSpPr>
          <p:spPr bwMode="auto">
            <a:xfrm>
              <a:off x="3338" y="3081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>
                  <a:latin typeface="ISOCPEUR" panose="020B0604020202020204" pitchFamily="34" charset="0"/>
                </a:rPr>
                <a:t>a</a:t>
              </a:r>
              <a:r>
                <a:rPr lang="en-US" altLang="zh-CN" sz="2400" b="1">
                  <a:latin typeface="ISOCPEUR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zh-CN" sz="2400" b="1">
                <a:latin typeface="ISOCPEUR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4" name="Text Box 36"/>
            <p:cNvSpPr txBox="1">
              <a:spLocks noChangeArrowheads="1"/>
            </p:cNvSpPr>
            <p:nvPr/>
          </p:nvSpPr>
          <p:spPr bwMode="auto">
            <a:xfrm>
              <a:off x="4374" y="3108"/>
              <a:ext cx="3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ISOCPEUR" panose="020B0604020202020204" pitchFamily="34" charset="0"/>
                </a:rPr>
                <a:t> c</a:t>
              </a:r>
              <a:r>
                <a:rPr lang="en-US" altLang="zh-CN" sz="2400" b="1">
                  <a:latin typeface="ISOCPEUR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zh-CN" sz="2400" b="1">
                <a:latin typeface="ISOCPEUR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5" name="Group 37"/>
          <p:cNvGrpSpPr/>
          <p:nvPr/>
        </p:nvGrpSpPr>
        <p:grpSpPr bwMode="auto">
          <a:xfrm>
            <a:off x="5246710" y="4741388"/>
            <a:ext cx="1949450" cy="1603375"/>
            <a:chOff x="3389" y="3350"/>
            <a:chExt cx="1228" cy="1010"/>
          </a:xfrm>
        </p:grpSpPr>
        <p:sp>
          <p:nvSpPr>
            <p:cNvPr id="26" name="Text Box 38"/>
            <p:cNvSpPr txBox="1">
              <a:spLocks noChangeArrowheads="1"/>
            </p:cNvSpPr>
            <p:nvPr/>
          </p:nvSpPr>
          <p:spPr bwMode="auto">
            <a:xfrm>
              <a:off x="3389" y="335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ISOCPEUR" panose="020B0604020202020204" pitchFamily="34" charset="0"/>
                </a:rPr>
                <a:t>a</a:t>
              </a:r>
              <a:endParaRPr lang="en-US" altLang="zh-CN" sz="1600" b="1">
                <a:latin typeface="ISOCPEUR" panose="020B0604020202020204" pitchFamily="34" charset="0"/>
              </a:endParaRPr>
            </a:p>
          </p:txBody>
        </p:sp>
        <p:sp>
          <p:nvSpPr>
            <p:cNvPr id="27" name="Text Box 39"/>
            <p:cNvSpPr txBox="1">
              <a:spLocks noChangeArrowheads="1"/>
            </p:cNvSpPr>
            <p:nvPr/>
          </p:nvSpPr>
          <p:spPr bwMode="auto">
            <a:xfrm>
              <a:off x="3936" y="4069"/>
              <a:ext cx="2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ISOCPEUR" panose="020B0604020202020204" pitchFamily="34" charset="0"/>
                </a:rPr>
                <a:t>b</a:t>
              </a:r>
              <a:endParaRPr lang="en-US" altLang="zh-CN" sz="1600" b="1">
                <a:latin typeface="ISOCPEUR" panose="020B0604020202020204" pitchFamily="34" charset="0"/>
              </a:endParaRPr>
            </a:p>
          </p:txBody>
        </p:sp>
        <p:sp>
          <p:nvSpPr>
            <p:cNvPr id="28" name="Text Box 40"/>
            <p:cNvSpPr txBox="1">
              <a:spLocks noChangeArrowheads="1"/>
            </p:cNvSpPr>
            <p:nvPr/>
          </p:nvSpPr>
          <p:spPr bwMode="auto">
            <a:xfrm>
              <a:off x="4426" y="3369"/>
              <a:ext cx="1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ISOCPEUR" panose="020B0604020202020204" pitchFamily="34" charset="0"/>
                </a:rPr>
                <a:t>c</a:t>
              </a:r>
              <a:endParaRPr lang="en-US" altLang="zh-CN" sz="1600" b="1">
                <a:latin typeface="ISOCPEUR" panose="020B0604020202020204" pitchFamily="34" charset="0"/>
              </a:endParaRPr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7091385" y="4358800"/>
            <a:ext cx="9763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ISOCPEUR" panose="020B0604020202020204" pitchFamily="34" charset="0"/>
              </a:rPr>
              <a:t> a</a:t>
            </a:r>
            <a:r>
              <a:rPr lang="en-US" altLang="zh-CN" sz="2400" b="1">
                <a:latin typeface="ISOCPEUR" panose="020B0604020202020204" pitchFamily="34" charset="0"/>
                <a:sym typeface="Symbol" panose="05050102010706020507" pitchFamily="18" charset="2"/>
              </a:rPr>
              <a:t></a:t>
            </a:r>
            <a:r>
              <a:rPr lang="en-US" altLang="zh-CN" sz="2400" b="1">
                <a:latin typeface="ISOCPEUR" panose="020B0604020202020204" pitchFamily="34" charset="0"/>
              </a:rPr>
              <a:t>(c</a:t>
            </a:r>
            <a:r>
              <a:rPr lang="en-US" altLang="zh-CN" sz="2400" b="1">
                <a:latin typeface="ISOCPEUR" panose="020B0604020202020204" pitchFamily="34" charset="0"/>
                <a:sym typeface="Symbol" panose="05050102010706020507" pitchFamily="18" charset="2"/>
              </a:rPr>
              <a:t></a:t>
            </a:r>
            <a:r>
              <a:rPr lang="en-US" altLang="zh-CN" sz="2400" b="1">
                <a:latin typeface="ISOCPEUR" panose="020B0604020202020204" pitchFamily="34" charset="0"/>
              </a:rPr>
              <a:t>)</a:t>
            </a:r>
            <a:endParaRPr lang="en-US" altLang="zh-CN" sz="2400" b="1">
              <a:latin typeface="ISOCPEUR" panose="020B0604020202020204" pitchFamily="34" charset="0"/>
            </a:endParaRPr>
          </a:p>
        </p:txBody>
      </p:sp>
      <p:sp>
        <p:nvSpPr>
          <p:cNvPr id="30" name="Text Box 42"/>
          <p:cNvSpPr txBox="1">
            <a:spLocks noChangeArrowheads="1"/>
          </p:cNvSpPr>
          <p:nvPr/>
        </p:nvSpPr>
        <p:spPr bwMode="auto">
          <a:xfrm>
            <a:off x="8415360" y="4358800"/>
            <a:ext cx="4508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ISOCPEUR" panose="020B0604020202020204" pitchFamily="34" charset="0"/>
              </a:rPr>
              <a:t>b</a:t>
            </a:r>
            <a:r>
              <a:rPr lang="en-US" altLang="zh-CN" sz="2400" b="1">
                <a:latin typeface="ISOCPEUR" panose="020B0604020202020204" pitchFamily="34" charset="0"/>
                <a:sym typeface="Symbol" panose="05050102010706020507" pitchFamily="18" charset="2"/>
              </a:rPr>
              <a:t></a:t>
            </a:r>
            <a:endParaRPr lang="en-US" altLang="zh-CN" sz="2400" b="1">
              <a:latin typeface="ISOCPEUR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" name="Line 43"/>
          <p:cNvSpPr>
            <a:spLocks noChangeShapeType="1"/>
          </p:cNvSpPr>
          <p:nvPr/>
        </p:nvSpPr>
        <p:spPr bwMode="auto">
          <a:xfrm>
            <a:off x="5561035" y="4458813"/>
            <a:ext cx="1392238" cy="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44"/>
          <p:cNvSpPr>
            <a:spLocks noChangeShapeType="1"/>
          </p:cNvSpPr>
          <p:nvPr/>
        </p:nvSpPr>
        <p:spPr bwMode="auto">
          <a:xfrm>
            <a:off x="7486673" y="4439763"/>
            <a:ext cx="996950" cy="127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" name="Group 45"/>
          <p:cNvGrpSpPr/>
          <p:nvPr/>
        </p:nvGrpSpPr>
        <p:grpSpPr bwMode="auto">
          <a:xfrm>
            <a:off x="5581673" y="4431825"/>
            <a:ext cx="1371600" cy="550863"/>
            <a:chOff x="3600" y="3168"/>
            <a:chExt cx="864" cy="336"/>
          </a:xfrm>
        </p:grpSpPr>
        <p:sp>
          <p:nvSpPr>
            <p:cNvPr id="34" name="Line 46"/>
            <p:cNvSpPr>
              <a:spLocks noChangeShapeType="1"/>
            </p:cNvSpPr>
            <p:nvPr/>
          </p:nvSpPr>
          <p:spPr bwMode="auto">
            <a:xfrm>
              <a:off x="3600" y="3168"/>
              <a:ext cx="0" cy="33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47"/>
            <p:cNvSpPr>
              <a:spLocks noChangeShapeType="1"/>
            </p:cNvSpPr>
            <p:nvPr/>
          </p:nvSpPr>
          <p:spPr bwMode="auto">
            <a:xfrm>
              <a:off x="4464" y="3168"/>
              <a:ext cx="0" cy="33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Line 48"/>
          <p:cNvSpPr>
            <a:spLocks noChangeShapeType="1"/>
          </p:cNvSpPr>
          <p:nvPr/>
        </p:nvSpPr>
        <p:spPr bwMode="auto">
          <a:xfrm>
            <a:off x="5578498" y="4455638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49"/>
          <p:cNvSpPr>
            <a:spLocks noChangeShapeType="1"/>
          </p:cNvSpPr>
          <p:nvPr/>
        </p:nvSpPr>
        <p:spPr bwMode="auto">
          <a:xfrm>
            <a:off x="7486673" y="4452463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" name="Group 50"/>
          <p:cNvGrpSpPr/>
          <p:nvPr/>
        </p:nvGrpSpPr>
        <p:grpSpPr bwMode="auto">
          <a:xfrm>
            <a:off x="6113485" y="4968400"/>
            <a:ext cx="323850" cy="519113"/>
            <a:chOff x="3943" y="3513"/>
            <a:chExt cx="204" cy="327"/>
          </a:xfrm>
        </p:grpSpPr>
        <p:sp>
          <p:nvSpPr>
            <p:cNvPr id="40" name="Text Box 51"/>
            <p:cNvSpPr txBox="1">
              <a:spLocks noChangeArrowheads="1"/>
            </p:cNvSpPr>
            <p:nvPr/>
          </p:nvSpPr>
          <p:spPr bwMode="auto">
            <a:xfrm>
              <a:off x="3943" y="3513"/>
              <a:ext cx="2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ISOCPEUR" panose="020B0604020202020204" pitchFamily="34" charset="0"/>
                </a:rPr>
                <a:t>s</a:t>
              </a:r>
              <a:endParaRPr lang="en-US" altLang="zh-CN" sz="1600" b="1">
                <a:latin typeface="ISOCPEUR" panose="020B0604020202020204" pitchFamily="34" charset="0"/>
              </a:endParaRPr>
            </a:p>
          </p:txBody>
        </p:sp>
        <p:sp>
          <p:nvSpPr>
            <p:cNvPr id="41" name="Text Box 52"/>
            <p:cNvSpPr txBox="1">
              <a:spLocks noChangeArrowheads="1"/>
            </p:cNvSpPr>
            <p:nvPr/>
          </p:nvSpPr>
          <p:spPr bwMode="auto">
            <a:xfrm>
              <a:off x="3952" y="3686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latin typeface="ISOCPEUR" panose="020B0604020202020204" pitchFamily="34" charset="0"/>
                  <a:sym typeface="Wingdings" panose="05000000000000000000" pitchFamily="2" charset="2"/>
                </a:rPr>
                <a:t></a:t>
              </a:r>
              <a:endParaRPr lang="en-US" altLang="zh-CN" sz="1600" b="1">
                <a:latin typeface="ISOCPEUR" panose="020B0604020202020204" pitchFamily="34" charset="0"/>
              </a:endParaRPr>
            </a:p>
          </p:txBody>
        </p:sp>
      </p:grpSp>
      <p:grpSp>
        <p:nvGrpSpPr>
          <p:cNvPr id="42" name="Group 57"/>
          <p:cNvGrpSpPr/>
          <p:nvPr/>
        </p:nvGrpSpPr>
        <p:grpSpPr bwMode="auto">
          <a:xfrm>
            <a:off x="6267473" y="4454050"/>
            <a:ext cx="2209800" cy="1524000"/>
            <a:chOff x="4032" y="2736"/>
            <a:chExt cx="1392" cy="960"/>
          </a:xfrm>
        </p:grpSpPr>
        <p:sp>
          <p:nvSpPr>
            <p:cNvPr id="43" name="Line 58"/>
            <p:cNvSpPr>
              <a:spLocks noChangeShapeType="1"/>
            </p:cNvSpPr>
            <p:nvPr/>
          </p:nvSpPr>
          <p:spPr bwMode="auto">
            <a:xfrm>
              <a:off x="4032" y="3072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59"/>
            <p:cNvSpPr>
              <a:spLocks noChangeShapeType="1"/>
            </p:cNvSpPr>
            <p:nvPr/>
          </p:nvSpPr>
          <p:spPr bwMode="auto">
            <a:xfrm>
              <a:off x="4800" y="2736"/>
              <a:ext cx="6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Line 60"/>
          <p:cNvSpPr>
            <a:spLocks noChangeShapeType="1"/>
          </p:cNvSpPr>
          <p:nvPr/>
        </p:nvSpPr>
        <p:spPr bwMode="auto">
          <a:xfrm flipV="1">
            <a:off x="6267473" y="4377850"/>
            <a:ext cx="0" cy="990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61"/>
          <p:cNvSpPr>
            <a:spLocks noChangeShapeType="1"/>
          </p:cNvSpPr>
          <p:nvPr/>
        </p:nvSpPr>
        <p:spPr bwMode="auto">
          <a:xfrm flipV="1">
            <a:off x="6267473" y="262525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" name="Group 62"/>
          <p:cNvGrpSpPr/>
          <p:nvPr/>
        </p:nvGrpSpPr>
        <p:grpSpPr bwMode="auto">
          <a:xfrm>
            <a:off x="6273823" y="2625250"/>
            <a:ext cx="1593850" cy="2773363"/>
            <a:chOff x="4036" y="1584"/>
            <a:chExt cx="1004" cy="1747"/>
          </a:xfrm>
        </p:grpSpPr>
        <p:sp>
          <p:nvSpPr>
            <p:cNvPr id="48" name="Line 63"/>
            <p:cNvSpPr>
              <a:spLocks noChangeShapeType="1"/>
            </p:cNvSpPr>
            <p:nvPr/>
          </p:nvSpPr>
          <p:spPr bwMode="auto">
            <a:xfrm>
              <a:off x="4036" y="3071"/>
              <a:ext cx="0" cy="2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64"/>
            <p:cNvSpPr>
              <a:spLocks noChangeShapeType="1"/>
            </p:cNvSpPr>
            <p:nvPr/>
          </p:nvSpPr>
          <p:spPr bwMode="auto">
            <a:xfrm>
              <a:off x="4800" y="1584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" name="Line 2"/>
          <p:cNvSpPr>
            <a:spLocks noChangeShapeType="1"/>
          </p:cNvSpPr>
          <p:nvPr/>
        </p:nvSpPr>
        <p:spPr bwMode="auto">
          <a:xfrm>
            <a:off x="6267473" y="2623663"/>
            <a:ext cx="16002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Text Box 189"/>
          <p:cNvSpPr txBox="1">
            <a:spLocks noChangeArrowheads="1"/>
          </p:cNvSpPr>
          <p:nvPr/>
        </p:nvSpPr>
        <p:spPr bwMode="auto">
          <a:xfrm>
            <a:off x="510228" y="2782158"/>
            <a:ext cx="1503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画图步骤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 Box 190"/>
          <p:cNvSpPr txBox="1">
            <a:spLocks noChangeArrowheads="1"/>
          </p:cNvSpPr>
          <p:nvPr/>
        </p:nvSpPr>
        <p:spPr bwMode="auto">
          <a:xfrm>
            <a:off x="527081" y="3347110"/>
            <a:ext cx="288893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、画底面的俯视图；</a:t>
            </a:r>
            <a:endParaRPr lang="zh-CN" altLang="en-US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191"/>
          <p:cNvSpPr txBox="1">
            <a:spLocks noChangeArrowheads="1"/>
          </p:cNvSpPr>
          <p:nvPr/>
        </p:nvSpPr>
        <p:spPr bwMode="auto">
          <a:xfrm>
            <a:off x="527081" y="4287958"/>
            <a:ext cx="204254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、画主视图；</a:t>
            </a:r>
            <a:endParaRPr lang="zh-CN" altLang="en-US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Box 192"/>
          <p:cNvSpPr txBox="1">
            <a:spLocks noChangeArrowheads="1"/>
          </p:cNvSpPr>
          <p:nvPr/>
        </p:nvSpPr>
        <p:spPr bwMode="auto">
          <a:xfrm>
            <a:off x="527081" y="4758381"/>
            <a:ext cx="429957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、利用“三等”关系画左视图。</a:t>
            </a:r>
            <a:endParaRPr lang="zh-CN" altLang="en-US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Box 229"/>
          <p:cNvSpPr txBox="1">
            <a:spLocks noChangeArrowheads="1"/>
          </p:cNvSpPr>
          <p:nvPr/>
        </p:nvSpPr>
        <p:spPr bwMode="auto">
          <a:xfrm>
            <a:off x="527081" y="3817534"/>
            <a:ext cx="345318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、画三个侧面的俯视图；</a:t>
            </a:r>
            <a:endParaRPr lang="zh-CN" altLang="en-US" sz="220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184"/>
          <p:cNvSpPr txBox="1">
            <a:spLocks noChangeArrowheads="1"/>
          </p:cNvSpPr>
          <p:nvPr/>
        </p:nvSpPr>
        <p:spPr bwMode="auto">
          <a:xfrm>
            <a:off x="5626082" y="1235314"/>
            <a:ext cx="3025187" cy="799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将底面平行于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并使后侧底边垂直于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>
            <a:grpSpLocks noChangeAspect="1"/>
          </p:cNvGrpSpPr>
          <p:nvPr/>
        </p:nvGrpSpPr>
        <p:grpSpPr>
          <a:xfrm>
            <a:off x="3204910" y="1190115"/>
            <a:ext cx="2274862" cy="2022646"/>
            <a:chOff x="8593566" y="1131443"/>
            <a:chExt cx="3335229" cy="2965450"/>
          </a:xfrm>
        </p:grpSpPr>
        <p:grpSp>
          <p:nvGrpSpPr>
            <p:cNvPr id="58" name="Group 70"/>
            <p:cNvGrpSpPr/>
            <p:nvPr/>
          </p:nvGrpSpPr>
          <p:grpSpPr bwMode="auto">
            <a:xfrm>
              <a:off x="8593566" y="1131443"/>
              <a:ext cx="3335229" cy="2965450"/>
              <a:chOff x="517" y="1127"/>
              <a:chExt cx="2102" cy="1868"/>
            </a:xfrm>
          </p:grpSpPr>
          <p:sp>
            <p:nvSpPr>
              <p:cNvPr id="68" name="Freeform 62"/>
              <p:cNvSpPr/>
              <p:nvPr/>
            </p:nvSpPr>
            <p:spPr bwMode="auto">
              <a:xfrm>
                <a:off x="531" y="2526"/>
                <a:ext cx="1933" cy="443"/>
              </a:xfrm>
              <a:custGeom>
                <a:avLst/>
                <a:gdLst>
                  <a:gd name="T0" fmla="*/ 1356 w 1933"/>
                  <a:gd name="T1" fmla="*/ 0 h 443"/>
                  <a:gd name="T2" fmla="*/ 0 w 1933"/>
                  <a:gd name="T3" fmla="*/ 0 h 443"/>
                  <a:gd name="T4" fmla="*/ 555 w 1933"/>
                  <a:gd name="T5" fmla="*/ 443 h 443"/>
                  <a:gd name="T6" fmla="*/ 1933 w 1933"/>
                  <a:gd name="T7" fmla="*/ 432 h 443"/>
                  <a:gd name="T8" fmla="*/ 1356 w 193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33" h="443">
                    <a:moveTo>
                      <a:pt x="1356" y="0"/>
                    </a:moveTo>
                    <a:lnTo>
                      <a:pt x="0" y="0"/>
                    </a:lnTo>
                    <a:lnTo>
                      <a:pt x="555" y="443"/>
                    </a:lnTo>
                    <a:lnTo>
                      <a:pt x="1933" y="432"/>
                    </a:lnTo>
                    <a:lnTo>
                      <a:pt x="1356" y="0"/>
                    </a:lnTo>
                    <a:close/>
                  </a:path>
                </a:pathLst>
              </a:custGeom>
              <a:solidFill>
                <a:srgbClr val="99CCFF">
                  <a:alpha val="50195"/>
                </a:srgbClr>
              </a:solidFill>
              <a:ln w="28575" cmpd="sng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Freeform 63"/>
              <p:cNvSpPr/>
              <p:nvPr/>
            </p:nvSpPr>
            <p:spPr bwMode="auto">
              <a:xfrm>
                <a:off x="1909" y="1169"/>
                <a:ext cx="566" cy="1800"/>
              </a:xfrm>
              <a:custGeom>
                <a:avLst/>
                <a:gdLst>
                  <a:gd name="T0" fmla="*/ 0 w 566"/>
                  <a:gd name="T1" fmla="*/ 0 h 1800"/>
                  <a:gd name="T2" fmla="*/ 0 w 566"/>
                  <a:gd name="T3" fmla="*/ 1355 h 1800"/>
                  <a:gd name="T4" fmla="*/ 566 w 566"/>
                  <a:gd name="T5" fmla="*/ 1800 h 1800"/>
                  <a:gd name="T6" fmla="*/ 566 w 566"/>
                  <a:gd name="T7" fmla="*/ 402 h 1800"/>
                  <a:gd name="T8" fmla="*/ 0 w 566"/>
                  <a:gd name="T9" fmla="*/ 0 h 18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6" h="1800">
                    <a:moveTo>
                      <a:pt x="0" y="0"/>
                    </a:moveTo>
                    <a:lnTo>
                      <a:pt x="0" y="1355"/>
                    </a:lnTo>
                    <a:lnTo>
                      <a:pt x="566" y="1800"/>
                    </a:lnTo>
                    <a:lnTo>
                      <a:pt x="566" y="4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>
                  <a:alpha val="50195"/>
                </a:srgbClr>
              </a:solidFill>
              <a:ln w="28575" cmpd="sng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Freeform 64"/>
              <p:cNvSpPr/>
              <p:nvPr/>
            </p:nvSpPr>
            <p:spPr bwMode="auto">
              <a:xfrm>
                <a:off x="542" y="1169"/>
                <a:ext cx="1367" cy="1356"/>
              </a:xfrm>
              <a:custGeom>
                <a:avLst/>
                <a:gdLst>
                  <a:gd name="T0" fmla="*/ 0 w 1367"/>
                  <a:gd name="T1" fmla="*/ 0 h 1478"/>
                  <a:gd name="T2" fmla="*/ 1367 w 1367"/>
                  <a:gd name="T3" fmla="*/ 6 h 1478"/>
                  <a:gd name="T4" fmla="*/ 1367 w 1367"/>
                  <a:gd name="T5" fmla="*/ 481 h 1478"/>
                  <a:gd name="T6" fmla="*/ 0 w 1367"/>
                  <a:gd name="T7" fmla="*/ 483 h 1478"/>
                  <a:gd name="T8" fmla="*/ 0 w 1367"/>
                  <a:gd name="T9" fmla="*/ 0 h 14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7" h="1478">
                    <a:moveTo>
                      <a:pt x="0" y="0"/>
                    </a:moveTo>
                    <a:lnTo>
                      <a:pt x="1367" y="6"/>
                    </a:lnTo>
                    <a:lnTo>
                      <a:pt x="1367" y="1473"/>
                    </a:lnTo>
                    <a:lnTo>
                      <a:pt x="0" y="14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>
                  <a:alpha val="50195"/>
                </a:srgbClr>
              </a:solidFill>
              <a:ln w="28575" cmpd="sng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Text Box 65"/>
              <p:cNvSpPr txBox="1">
                <a:spLocks noChangeArrowheads="1"/>
              </p:cNvSpPr>
              <p:nvPr/>
            </p:nvSpPr>
            <p:spPr bwMode="auto">
              <a:xfrm>
                <a:off x="517" y="1127"/>
                <a:ext cx="360" cy="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99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b="1" dirty="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anose="02010509060101010101" pitchFamily="49" charset="-122"/>
                  </a:rPr>
                  <a:t>V</a:t>
                </a:r>
                <a:endParaRPr lang="en-US" altLang="zh-CN" sz="24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</a:endParaRPr>
              </a:p>
            </p:txBody>
          </p:sp>
          <p:sp>
            <p:nvSpPr>
              <p:cNvPr id="72" name="Text Box 66"/>
              <p:cNvSpPr txBox="1">
                <a:spLocks noChangeArrowheads="1"/>
              </p:cNvSpPr>
              <p:nvPr/>
            </p:nvSpPr>
            <p:spPr bwMode="auto">
              <a:xfrm>
                <a:off x="2136" y="1498"/>
                <a:ext cx="483" cy="483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isometricOffAxis1Left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99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800" b="1" dirty="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anose="02010509060101010101" pitchFamily="49" charset="-122"/>
                  </a:rPr>
                  <a:t>W</a:t>
                </a:r>
                <a:endParaRPr lang="en-US" altLang="zh-CN" sz="28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</a:endParaRPr>
              </a:p>
            </p:txBody>
          </p:sp>
          <p:sp>
            <p:nvSpPr>
              <p:cNvPr id="73" name="Text Box 67"/>
              <p:cNvSpPr txBox="1">
                <a:spLocks noChangeArrowheads="1"/>
              </p:cNvSpPr>
              <p:nvPr/>
            </p:nvSpPr>
            <p:spPr bwMode="auto">
              <a:xfrm rot="1620000">
                <a:off x="905" y="2704"/>
                <a:ext cx="512" cy="291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isometricBottomDown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99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vert"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b="1" dirty="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anose="02010509060101010101" pitchFamily="49" charset="-122"/>
                  </a:rPr>
                  <a:t>H</a:t>
                </a:r>
                <a:endParaRPr lang="en-US" altLang="zh-CN" sz="24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59" name="Group 84"/>
            <p:cNvGrpSpPr/>
            <p:nvPr/>
          </p:nvGrpSpPr>
          <p:grpSpPr bwMode="auto">
            <a:xfrm>
              <a:off x="9373114" y="1494734"/>
              <a:ext cx="1574800" cy="2001837"/>
              <a:chOff x="2906" y="269"/>
              <a:chExt cx="992" cy="1261"/>
            </a:xfrm>
          </p:grpSpPr>
          <p:sp>
            <p:nvSpPr>
              <p:cNvPr id="60" name="Freeform 85"/>
              <p:cNvSpPr/>
              <p:nvPr/>
            </p:nvSpPr>
            <p:spPr bwMode="auto">
              <a:xfrm>
                <a:off x="3454" y="269"/>
                <a:ext cx="444" cy="1251"/>
              </a:xfrm>
              <a:custGeom>
                <a:avLst/>
                <a:gdLst>
                  <a:gd name="T0" fmla="*/ 0 w 444"/>
                  <a:gd name="T1" fmla="*/ 0 h 1251"/>
                  <a:gd name="T2" fmla="*/ 0 w 444"/>
                  <a:gd name="T3" fmla="*/ 1251 h 1251"/>
                  <a:gd name="T4" fmla="*/ 444 w 444"/>
                  <a:gd name="T5" fmla="*/ 895 h 1251"/>
                  <a:gd name="T6" fmla="*/ 0 w 444"/>
                  <a:gd name="T7" fmla="*/ 0 h 1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4" h="1251">
                    <a:moveTo>
                      <a:pt x="0" y="0"/>
                    </a:moveTo>
                    <a:lnTo>
                      <a:pt x="0" y="1251"/>
                    </a:lnTo>
                    <a:lnTo>
                      <a:pt x="444" y="89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86"/>
              <p:cNvSpPr/>
              <p:nvPr/>
            </p:nvSpPr>
            <p:spPr bwMode="auto">
              <a:xfrm>
                <a:off x="2916" y="276"/>
                <a:ext cx="545" cy="1237"/>
              </a:xfrm>
              <a:custGeom>
                <a:avLst/>
                <a:gdLst>
                  <a:gd name="T0" fmla="*/ 545 w 545"/>
                  <a:gd name="T1" fmla="*/ 0 h 1237"/>
                  <a:gd name="T2" fmla="*/ 0 w 545"/>
                  <a:gd name="T3" fmla="*/ 946 h 1237"/>
                  <a:gd name="T4" fmla="*/ 538 w 545"/>
                  <a:gd name="T5" fmla="*/ 1237 h 1237"/>
                  <a:gd name="T6" fmla="*/ 545 w 545"/>
                  <a:gd name="T7" fmla="*/ 0 h 12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45" h="1237">
                    <a:moveTo>
                      <a:pt x="545" y="0"/>
                    </a:moveTo>
                    <a:lnTo>
                      <a:pt x="0" y="946"/>
                    </a:lnTo>
                    <a:lnTo>
                      <a:pt x="538" y="1237"/>
                    </a:lnTo>
                    <a:lnTo>
                      <a:pt x="545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Group 87"/>
              <p:cNvGrpSpPr/>
              <p:nvPr/>
            </p:nvGrpSpPr>
            <p:grpSpPr bwMode="auto">
              <a:xfrm>
                <a:off x="2906" y="269"/>
                <a:ext cx="992" cy="1261"/>
                <a:chOff x="2906" y="269"/>
                <a:chExt cx="992" cy="1261"/>
              </a:xfrm>
            </p:grpSpPr>
            <p:sp>
              <p:nvSpPr>
                <p:cNvPr id="63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2906" y="269"/>
                  <a:ext cx="548" cy="948"/>
                </a:xfrm>
                <a:prstGeom prst="line">
                  <a:avLst/>
                </a:prstGeom>
                <a:noFill/>
                <a:ln w="38100">
                  <a:solidFill>
                    <a:schemeClr val="accent5">
                      <a:lumMod val="5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Line 89"/>
                <p:cNvSpPr>
                  <a:spLocks noChangeShapeType="1"/>
                </p:cNvSpPr>
                <p:nvPr/>
              </p:nvSpPr>
              <p:spPr bwMode="auto">
                <a:xfrm>
                  <a:off x="2909" y="1215"/>
                  <a:ext cx="552" cy="315"/>
                </a:xfrm>
                <a:prstGeom prst="line">
                  <a:avLst/>
                </a:prstGeom>
                <a:noFill/>
                <a:ln w="38100">
                  <a:solidFill>
                    <a:schemeClr val="accent5">
                      <a:lumMod val="5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Line 90"/>
                <p:cNvSpPr>
                  <a:spLocks noChangeShapeType="1"/>
                </p:cNvSpPr>
                <p:nvPr/>
              </p:nvSpPr>
              <p:spPr bwMode="auto">
                <a:xfrm>
                  <a:off x="3454" y="269"/>
                  <a:ext cx="0" cy="1258"/>
                </a:xfrm>
                <a:prstGeom prst="line">
                  <a:avLst/>
                </a:prstGeom>
                <a:noFill/>
                <a:ln w="38100">
                  <a:solidFill>
                    <a:schemeClr val="accent5">
                      <a:lumMod val="5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Line 91"/>
                <p:cNvSpPr>
                  <a:spLocks noChangeShapeType="1"/>
                </p:cNvSpPr>
                <p:nvPr/>
              </p:nvSpPr>
              <p:spPr bwMode="auto">
                <a:xfrm>
                  <a:off x="3447" y="269"/>
                  <a:ext cx="451" cy="902"/>
                </a:xfrm>
                <a:prstGeom prst="line">
                  <a:avLst/>
                </a:prstGeom>
                <a:noFill/>
                <a:ln w="38100">
                  <a:solidFill>
                    <a:schemeClr val="accent5">
                      <a:lumMod val="5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3461" y="1171"/>
                  <a:ext cx="437" cy="349"/>
                </a:xfrm>
                <a:prstGeom prst="line">
                  <a:avLst/>
                </a:prstGeom>
                <a:noFill/>
                <a:ln w="38100">
                  <a:solidFill>
                    <a:schemeClr val="accent5">
                      <a:lumMod val="50000"/>
                    </a:schemeClr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4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棱锥的三视图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6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75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75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25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3" grpId="0" animBg="1" autoUpdateAnimBg="0"/>
      <p:bldP spid="14" grpId="0" animBg="1"/>
      <p:bldP spid="15" grpId="0" animBg="1" autoUpdateAnimBg="0"/>
      <p:bldP spid="16" grpId="0" animBg="1"/>
      <p:bldP spid="20" grpId="0" animBg="1"/>
      <p:bldP spid="21" grpId="0" autoUpdateAnimBg="0" build="p"/>
      <p:bldP spid="29" grpId="0" autoUpdateAnimBg="0" build="p"/>
      <p:bldP spid="30" grpId="0" autoUpdateAnimBg="0" build="p"/>
      <p:bldP spid="31" grpId="0" animBg="1"/>
      <p:bldP spid="32" grpId="0" animBg="1"/>
      <p:bldP spid="36" grpId="0" animBg="1"/>
      <p:bldP spid="38" grpId="0" animBg="1"/>
      <p:bldP spid="45" grpId="0" animBg="1"/>
      <p:bldP spid="46" grpId="0" animBg="1"/>
      <p:bldP spid="50" grpId="0" animBg="1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84"/>
          <p:cNvGrpSpPr/>
          <p:nvPr/>
        </p:nvGrpSpPr>
        <p:grpSpPr bwMode="auto">
          <a:xfrm>
            <a:off x="2871941" y="3933056"/>
            <a:ext cx="1726565" cy="2194756"/>
            <a:chOff x="2906" y="269"/>
            <a:chExt cx="992" cy="1261"/>
          </a:xfrm>
        </p:grpSpPr>
        <p:sp>
          <p:nvSpPr>
            <p:cNvPr id="6" name="Freeform 85"/>
            <p:cNvSpPr/>
            <p:nvPr/>
          </p:nvSpPr>
          <p:spPr bwMode="auto">
            <a:xfrm>
              <a:off x="3454" y="269"/>
              <a:ext cx="444" cy="1251"/>
            </a:xfrm>
            <a:custGeom>
              <a:avLst/>
              <a:gdLst>
                <a:gd name="T0" fmla="*/ 0 w 444"/>
                <a:gd name="T1" fmla="*/ 0 h 1251"/>
                <a:gd name="T2" fmla="*/ 0 w 444"/>
                <a:gd name="T3" fmla="*/ 1251 h 1251"/>
                <a:gd name="T4" fmla="*/ 444 w 444"/>
                <a:gd name="T5" fmla="*/ 895 h 1251"/>
                <a:gd name="T6" fmla="*/ 0 w 444"/>
                <a:gd name="T7" fmla="*/ 0 h 1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4" h="1251">
                  <a:moveTo>
                    <a:pt x="0" y="0"/>
                  </a:moveTo>
                  <a:lnTo>
                    <a:pt x="0" y="1251"/>
                  </a:lnTo>
                  <a:lnTo>
                    <a:pt x="444" y="89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" name="Freeform 86"/>
            <p:cNvSpPr/>
            <p:nvPr/>
          </p:nvSpPr>
          <p:spPr bwMode="auto">
            <a:xfrm>
              <a:off x="2916" y="276"/>
              <a:ext cx="545" cy="1237"/>
            </a:xfrm>
            <a:custGeom>
              <a:avLst/>
              <a:gdLst>
                <a:gd name="T0" fmla="*/ 545 w 545"/>
                <a:gd name="T1" fmla="*/ 0 h 1237"/>
                <a:gd name="T2" fmla="*/ 0 w 545"/>
                <a:gd name="T3" fmla="*/ 946 h 1237"/>
                <a:gd name="T4" fmla="*/ 538 w 545"/>
                <a:gd name="T5" fmla="*/ 1237 h 1237"/>
                <a:gd name="T6" fmla="*/ 545 w 545"/>
                <a:gd name="T7" fmla="*/ 0 h 12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5" h="1237">
                  <a:moveTo>
                    <a:pt x="545" y="0"/>
                  </a:moveTo>
                  <a:lnTo>
                    <a:pt x="0" y="946"/>
                  </a:lnTo>
                  <a:lnTo>
                    <a:pt x="538" y="123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" name="Group 87"/>
            <p:cNvGrpSpPr/>
            <p:nvPr/>
          </p:nvGrpSpPr>
          <p:grpSpPr bwMode="auto">
            <a:xfrm>
              <a:off x="2906" y="269"/>
              <a:ext cx="992" cy="1261"/>
              <a:chOff x="2906" y="269"/>
              <a:chExt cx="992" cy="1261"/>
            </a:xfrm>
          </p:grpSpPr>
          <p:sp>
            <p:nvSpPr>
              <p:cNvPr id="9" name="Line 88"/>
              <p:cNvSpPr>
                <a:spLocks noChangeShapeType="1"/>
              </p:cNvSpPr>
              <p:nvPr/>
            </p:nvSpPr>
            <p:spPr bwMode="auto">
              <a:xfrm flipH="1">
                <a:off x="2906" y="269"/>
                <a:ext cx="548" cy="948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" name="Line 89"/>
              <p:cNvSpPr>
                <a:spLocks noChangeShapeType="1"/>
              </p:cNvSpPr>
              <p:nvPr/>
            </p:nvSpPr>
            <p:spPr bwMode="auto">
              <a:xfrm>
                <a:off x="2909" y="1215"/>
                <a:ext cx="552" cy="315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Line 90"/>
              <p:cNvSpPr>
                <a:spLocks noChangeShapeType="1"/>
              </p:cNvSpPr>
              <p:nvPr/>
            </p:nvSpPr>
            <p:spPr bwMode="auto">
              <a:xfrm>
                <a:off x="3454" y="269"/>
                <a:ext cx="0" cy="1258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Line 91"/>
              <p:cNvSpPr>
                <a:spLocks noChangeShapeType="1"/>
              </p:cNvSpPr>
              <p:nvPr/>
            </p:nvSpPr>
            <p:spPr bwMode="auto">
              <a:xfrm>
                <a:off x="3447" y="269"/>
                <a:ext cx="451" cy="902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Line 92"/>
              <p:cNvSpPr>
                <a:spLocks noChangeShapeType="1"/>
              </p:cNvSpPr>
              <p:nvPr/>
            </p:nvSpPr>
            <p:spPr bwMode="auto">
              <a:xfrm flipH="1">
                <a:off x="3461" y="1171"/>
                <a:ext cx="437" cy="349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5014906" y="1957211"/>
            <a:ext cx="1371600" cy="18288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5700706" y="1952449"/>
            <a:ext cx="0" cy="183515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 rot="10800000">
            <a:off x="5014906" y="4319411"/>
            <a:ext cx="13716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 flipV="1">
            <a:off x="5700706" y="4700411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" name="Group 17"/>
          <p:cNvGrpSpPr/>
          <p:nvPr/>
        </p:nvGrpSpPr>
        <p:grpSpPr bwMode="auto">
          <a:xfrm>
            <a:off x="5014906" y="4319411"/>
            <a:ext cx="1371600" cy="381000"/>
            <a:chOff x="3600" y="3504"/>
            <a:chExt cx="864" cy="240"/>
          </a:xfrm>
        </p:grpSpPr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3600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V="1">
              <a:off x="4032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5243506" y="3176411"/>
            <a:ext cx="2209800" cy="0"/>
          </a:xfrm>
          <a:prstGeom prst="line">
            <a:avLst/>
          </a:prstGeom>
          <a:noFill/>
          <a:ln w="12700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Freeform 24"/>
          <p:cNvSpPr/>
          <p:nvPr/>
        </p:nvSpPr>
        <p:spPr bwMode="auto">
          <a:xfrm>
            <a:off x="5881681" y="3166886"/>
            <a:ext cx="1588" cy="1693863"/>
          </a:xfrm>
          <a:custGeom>
            <a:avLst/>
            <a:gdLst>
              <a:gd name="T0" fmla="*/ 0 w 1"/>
              <a:gd name="T1" fmla="*/ 0 h 1067"/>
              <a:gd name="T2" fmla="*/ 0 w 1"/>
              <a:gd name="T3" fmla="*/ 2147483647 h 106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067">
                <a:moveTo>
                  <a:pt x="0" y="0"/>
                </a:moveTo>
                <a:lnTo>
                  <a:pt x="0" y="1067"/>
                </a:lnTo>
              </a:path>
            </a:pathLst>
          </a:custGeom>
          <a:noFill/>
          <a:ln w="12700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" name="Group 25"/>
          <p:cNvGrpSpPr/>
          <p:nvPr/>
        </p:nvGrpSpPr>
        <p:grpSpPr bwMode="auto">
          <a:xfrm>
            <a:off x="5667369" y="2785886"/>
            <a:ext cx="481012" cy="533400"/>
            <a:chOff x="3753" y="2544"/>
            <a:chExt cx="303" cy="336"/>
          </a:xfrm>
        </p:grpSpPr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3802" y="2707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3753" y="2544"/>
              <a:ext cx="3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/>
                <a:t>k</a:t>
              </a:r>
              <a:r>
                <a:rPr lang="en-US" altLang="zh-CN" sz="2400" b="1">
                  <a:sym typeface="Symbol" panose="05050102010706020507" pitchFamily="18" charset="2"/>
                </a:rPr>
                <a:t>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5738806" y="4678186"/>
            <a:ext cx="2984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200" b="1">
                <a:solidFill>
                  <a:srgbClr val="FF3300"/>
                </a:solidFill>
                <a:sym typeface="Wingdings" panose="05000000000000000000" pitchFamily="2" charset="2"/>
              </a:rPr>
              <a:t></a:t>
            </a:r>
            <a:endParaRPr lang="en-US" altLang="zh-CN" sz="1600" b="1"/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5648319" y="4616274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/>
              <a:t>k</a:t>
            </a:r>
            <a:endParaRPr lang="en-US" altLang="zh-CN" sz="1600" b="1"/>
          </a:p>
        </p:txBody>
      </p:sp>
      <p:grpSp>
        <p:nvGrpSpPr>
          <p:cNvPr id="29" name="Group 31"/>
          <p:cNvGrpSpPr/>
          <p:nvPr/>
        </p:nvGrpSpPr>
        <p:grpSpPr bwMode="auto">
          <a:xfrm>
            <a:off x="7204069" y="2811286"/>
            <a:ext cx="530225" cy="517525"/>
            <a:chOff x="4979" y="2554"/>
            <a:chExt cx="334" cy="326"/>
          </a:xfrm>
        </p:grpSpPr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5044" y="2707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31" name="Text Box 33"/>
            <p:cNvSpPr txBox="1">
              <a:spLocks noChangeArrowheads="1"/>
            </p:cNvSpPr>
            <p:nvPr/>
          </p:nvSpPr>
          <p:spPr bwMode="auto">
            <a:xfrm>
              <a:off x="4979" y="2554"/>
              <a:ext cx="3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/>
                <a:t>k</a:t>
              </a:r>
              <a:r>
                <a:rPr lang="en-US" altLang="zh-CN" sz="2400" b="1">
                  <a:sym typeface="Symbol" panose="05050102010706020507" pitchFamily="18" charset="2"/>
                </a:rPr>
                <a:t>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5486394" y="3693936"/>
            <a:ext cx="481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/>
              <a:t> </a:t>
            </a:r>
            <a:r>
              <a:rPr lang="en-US" altLang="zh-CN" sz="2400" b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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grpSp>
        <p:nvGrpSpPr>
          <p:cNvPr id="33" name="Group 35"/>
          <p:cNvGrpSpPr/>
          <p:nvPr/>
        </p:nvGrpSpPr>
        <p:grpSpPr bwMode="auto">
          <a:xfrm>
            <a:off x="4598981" y="3649486"/>
            <a:ext cx="2117725" cy="501650"/>
            <a:chOff x="3338" y="3081"/>
            <a:chExt cx="1334" cy="316"/>
          </a:xfrm>
        </p:grpSpPr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3338" y="3081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/>
                <a:t>a</a:t>
              </a:r>
              <a:r>
                <a:rPr lang="en-US" altLang="zh-CN" sz="2400" b="1">
                  <a:sym typeface="Symbol" panose="05050102010706020507" pitchFamily="18" charset="2"/>
                </a:rPr>
                <a:t>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4391" y="3109"/>
              <a:ext cx="2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/>
                <a:t>c</a:t>
              </a:r>
              <a:r>
                <a:rPr lang="en-US" altLang="zh-CN" sz="2400" b="1">
                  <a:sym typeface="Symbol" panose="05050102010706020507" pitchFamily="18" charset="2"/>
                </a:rPr>
                <a:t>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  <p:grpSp>
        <p:nvGrpSpPr>
          <p:cNvPr id="36" name="Group 38"/>
          <p:cNvGrpSpPr/>
          <p:nvPr/>
        </p:nvGrpSpPr>
        <p:grpSpPr bwMode="auto">
          <a:xfrm>
            <a:off x="4679944" y="4074936"/>
            <a:ext cx="1957387" cy="1600200"/>
            <a:chOff x="3389" y="3350"/>
            <a:chExt cx="1233" cy="1008"/>
          </a:xfrm>
        </p:grpSpPr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3389" y="335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a</a:t>
              </a:r>
              <a:endParaRPr lang="en-US" altLang="zh-CN" sz="1600" b="1"/>
            </a:p>
          </p:txBody>
        </p:sp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3927" y="407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b</a:t>
              </a:r>
              <a:endParaRPr lang="en-US" altLang="zh-CN" sz="1600" b="1"/>
            </a:p>
          </p:txBody>
        </p:sp>
        <p:sp>
          <p:nvSpPr>
            <p:cNvPr id="40" name="Text Box 41"/>
            <p:cNvSpPr txBox="1">
              <a:spLocks noChangeArrowheads="1"/>
            </p:cNvSpPr>
            <p:nvPr/>
          </p:nvSpPr>
          <p:spPr bwMode="auto">
            <a:xfrm>
              <a:off x="4421" y="337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c</a:t>
              </a:r>
              <a:endParaRPr lang="en-US" altLang="zh-CN" sz="1600" b="1"/>
            </a:p>
          </p:txBody>
        </p:sp>
      </p:grp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6557956" y="3693936"/>
            <a:ext cx="909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/>
              <a:t> 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</a:t>
            </a:r>
            <a:r>
              <a:rPr lang="en-US" altLang="zh-CN" sz="1600" b="1"/>
              <a:t>(</a:t>
            </a:r>
            <a:r>
              <a:rPr lang="en-US" altLang="zh-CN" sz="2400" b="1"/>
              <a:t>c</a:t>
            </a:r>
            <a:r>
              <a:rPr lang="en-US" altLang="zh-CN" sz="2400" b="1">
                <a:sym typeface="Symbol" panose="05050102010706020507" pitchFamily="18" charset="2"/>
              </a:rPr>
              <a:t></a:t>
            </a:r>
            <a:r>
              <a:rPr lang="en-US" altLang="zh-CN" sz="1600" b="1"/>
              <a:t>)</a:t>
            </a:r>
            <a:endParaRPr lang="en-US" altLang="zh-CN" sz="1600" b="1"/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7834306" y="3693936"/>
            <a:ext cx="479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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43" name="Line 45"/>
          <p:cNvSpPr>
            <a:spLocks noChangeShapeType="1"/>
          </p:cNvSpPr>
          <p:nvPr/>
        </p:nvSpPr>
        <p:spPr bwMode="auto">
          <a:xfrm>
            <a:off x="6919906" y="3773311"/>
            <a:ext cx="996950" cy="127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50"/>
          <p:cNvSpPr>
            <a:spLocks noChangeShapeType="1"/>
          </p:cNvSpPr>
          <p:nvPr/>
        </p:nvSpPr>
        <p:spPr bwMode="auto">
          <a:xfrm>
            <a:off x="6919906" y="3786011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" name="Group 51"/>
          <p:cNvGrpSpPr/>
          <p:nvPr/>
        </p:nvGrpSpPr>
        <p:grpSpPr bwMode="auto">
          <a:xfrm>
            <a:off x="5556244" y="4292434"/>
            <a:ext cx="303213" cy="542926"/>
            <a:chOff x="3941" y="3487"/>
            <a:chExt cx="191" cy="342"/>
          </a:xfrm>
        </p:grpSpPr>
        <p:sp>
          <p:nvSpPr>
            <p:cNvPr id="46" name="Text Box 52"/>
            <p:cNvSpPr txBox="1">
              <a:spLocks noChangeArrowheads="1"/>
            </p:cNvSpPr>
            <p:nvPr/>
          </p:nvSpPr>
          <p:spPr bwMode="auto">
            <a:xfrm>
              <a:off x="3941" y="3487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 dirty="0"/>
                <a:t>s</a:t>
              </a:r>
              <a:endParaRPr lang="en-US" altLang="zh-CN" sz="1600" b="1" dirty="0"/>
            </a:p>
          </p:txBody>
        </p:sp>
        <p:sp>
          <p:nvSpPr>
            <p:cNvPr id="47" name="Text Box 53"/>
            <p:cNvSpPr txBox="1">
              <a:spLocks noChangeArrowheads="1"/>
            </p:cNvSpPr>
            <p:nvPr/>
          </p:nvSpPr>
          <p:spPr bwMode="auto">
            <a:xfrm>
              <a:off x="3942" y="3675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 dirty="0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 dirty="0"/>
            </a:p>
          </p:txBody>
        </p:sp>
      </p:grpSp>
      <p:sp>
        <p:nvSpPr>
          <p:cNvPr id="48" name="Line 62"/>
          <p:cNvSpPr>
            <a:spLocks noChangeShapeType="1"/>
          </p:cNvSpPr>
          <p:nvPr/>
        </p:nvSpPr>
        <p:spPr bwMode="auto">
          <a:xfrm flipV="1">
            <a:off x="5700706" y="1958799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Oval 77"/>
          <p:cNvSpPr>
            <a:spLocks noChangeArrowheads="1"/>
          </p:cNvSpPr>
          <p:nvPr/>
        </p:nvSpPr>
        <p:spPr bwMode="auto">
          <a:xfrm>
            <a:off x="3936835" y="5107428"/>
            <a:ext cx="115888" cy="115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0" name="Text Box 78"/>
          <p:cNvSpPr txBox="1">
            <a:spLocks noChangeArrowheads="1"/>
          </p:cNvSpPr>
          <p:nvPr/>
        </p:nvSpPr>
        <p:spPr bwMode="auto">
          <a:xfrm>
            <a:off x="4040023" y="4770878"/>
            <a:ext cx="423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C00000"/>
                </a:solidFill>
              </a:rPr>
              <a:t>K</a:t>
            </a:r>
            <a:endParaRPr lang="en-US" altLang="zh-CN" sz="2400" b="1">
              <a:solidFill>
                <a:srgbClr val="C00000"/>
              </a:solidFill>
            </a:endParaRP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559788" y="2718636"/>
            <a:ext cx="24913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None/>
              <a:defRPr kumimoji="1" sz="2200">
                <a:solidFill>
                  <a:srgbClr val="7E529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52" name="Group 96"/>
          <p:cNvGrpSpPr/>
          <p:nvPr/>
        </p:nvGrpSpPr>
        <p:grpSpPr bwMode="auto">
          <a:xfrm>
            <a:off x="5891206" y="1723849"/>
            <a:ext cx="1546225" cy="3062287"/>
            <a:chOff x="3576" y="1387"/>
            <a:chExt cx="974" cy="1929"/>
          </a:xfrm>
        </p:grpSpPr>
        <p:sp>
          <p:nvSpPr>
            <p:cNvPr id="53" name="Line 55"/>
            <p:cNvSpPr>
              <a:spLocks noChangeShapeType="1"/>
            </p:cNvSpPr>
            <p:nvPr/>
          </p:nvSpPr>
          <p:spPr bwMode="auto">
            <a:xfrm>
              <a:off x="3576" y="3028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4214" y="2308"/>
              <a:ext cx="33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81"/>
            <p:cNvSpPr>
              <a:spLocks noChangeShapeType="1"/>
            </p:cNvSpPr>
            <p:nvPr/>
          </p:nvSpPr>
          <p:spPr bwMode="auto">
            <a:xfrm flipV="1">
              <a:off x="4213" y="1387"/>
              <a:ext cx="0" cy="1296"/>
            </a:xfrm>
            <a:prstGeom prst="line">
              <a:avLst/>
            </a:prstGeom>
            <a:noFill/>
            <a:ln w="12700">
              <a:solidFill>
                <a:srgbClr val="CC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" name="Line 94"/>
          <p:cNvSpPr>
            <a:spLocks noChangeShapeType="1"/>
          </p:cNvSpPr>
          <p:nvPr/>
        </p:nvSpPr>
        <p:spPr bwMode="auto">
          <a:xfrm>
            <a:off x="6145206" y="3189111"/>
            <a:ext cx="0" cy="1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95"/>
          <p:cNvSpPr>
            <a:spLocks noChangeShapeType="1"/>
          </p:cNvSpPr>
          <p:nvPr/>
        </p:nvSpPr>
        <p:spPr bwMode="auto">
          <a:xfrm flipH="1">
            <a:off x="5694356" y="4446411"/>
            <a:ext cx="457200" cy="6635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97"/>
          <p:cNvSpPr txBox="1">
            <a:spLocks noChangeArrowheads="1"/>
          </p:cNvSpPr>
          <p:nvPr/>
        </p:nvSpPr>
        <p:spPr bwMode="auto">
          <a:xfrm>
            <a:off x="6984994" y="2833511"/>
            <a:ext cx="1131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/>
              <a:t>（    ）</a:t>
            </a:r>
            <a:endParaRPr lang="zh-CN" altLang="en-US" sz="2400"/>
          </a:p>
        </p:txBody>
      </p:sp>
      <p:sp>
        <p:nvSpPr>
          <p:cNvPr id="59" name="Freeform 20"/>
          <p:cNvSpPr/>
          <p:nvPr/>
        </p:nvSpPr>
        <p:spPr bwMode="auto">
          <a:xfrm>
            <a:off x="6919906" y="1957211"/>
            <a:ext cx="990600" cy="1828800"/>
          </a:xfrm>
          <a:custGeom>
            <a:avLst/>
            <a:gdLst>
              <a:gd name="T0" fmla="*/ 2147483647 w 624"/>
              <a:gd name="T1" fmla="*/ 0 h 1152"/>
              <a:gd name="T2" fmla="*/ 0 w 624"/>
              <a:gd name="T3" fmla="*/ 2147483647 h 1152"/>
              <a:gd name="T4" fmla="*/ 2147483647 w 624"/>
              <a:gd name="T5" fmla="*/ 2147483647 h 1152"/>
              <a:gd name="T6" fmla="*/ 2147483647 w 624"/>
              <a:gd name="T7" fmla="*/ 0 h 1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52">
                <a:moveTo>
                  <a:pt x="240" y="0"/>
                </a:moveTo>
                <a:lnTo>
                  <a:pt x="0" y="1152"/>
                </a:lnTo>
                <a:lnTo>
                  <a:pt x="624" y="1152"/>
                </a:lnTo>
                <a:lnTo>
                  <a:pt x="24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0"/>
          <p:cNvSpPr txBox="1">
            <a:spLocks noChangeArrowheads="1"/>
          </p:cNvSpPr>
          <p:nvPr/>
        </p:nvSpPr>
        <p:spPr bwMode="auto">
          <a:xfrm>
            <a:off x="581093" y="3217223"/>
            <a:ext cx="222368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判断点的位置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作图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可见性判断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62" name="Group 4"/>
          <p:cNvGrpSpPr/>
          <p:nvPr/>
        </p:nvGrpSpPr>
        <p:grpSpPr bwMode="auto">
          <a:xfrm>
            <a:off x="5557831" y="1542872"/>
            <a:ext cx="455613" cy="533400"/>
            <a:chOff x="3952" y="1738"/>
            <a:chExt cx="287" cy="336"/>
          </a:xfrm>
        </p:grpSpPr>
        <p:sp>
          <p:nvSpPr>
            <p:cNvPr id="63" name="Text Box 5"/>
            <p:cNvSpPr txBox="1">
              <a:spLocks noChangeArrowheads="1"/>
            </p:cNvSpPr>
            <p:nvPr/>
          </p:nvSpPr>
          <p:spPr bwMode="auto">
            <a:xfrm>
              <a:off x="3968" y="1738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/>
                <a:t>s</a:t>
              </a:r>
              <a:r>
                <a:rPr lang="en-US" altLang="zh-CN" sz="2400" b="1">
                  <a:sym typeface="Symbol" panose="05050102010706020507" pitchFamily="18" charset="2"/>
                </a:rPr>
                <a:t>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  <p:sp>
          <p:nvSpPr>
            <p:cNvPr id="64" name="Text Box 6"/>
            <p:cNvSpPr txBox="1">
              <a:spLocks noChangeArrowheads="1"/>
            </p:cNvSpPr>
            <p:nvPr/>
          </p:nvSpPr>
          <p:spPr bwMode="auto">
            <a:xfrm>
              <a:off x="3952" y="192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</p:grpSp>
      <p:grpSp>
        <p:nvGrpSpPr>
          <p:cNvPr id="65" name="Group 7"/>
          <p:cNvGrpSpPr/>
          <p:nvPr/>
        </p:nvGrpSpPr>
        <p:grpSpPr bwMode="auto">
          <a:xfrm>
            <a:off x="7097706" y="1547636"/>
            <a:ext cx="479425" cy="533400"/>
            <a:chOff x="4922" y="1738"/>
            <a:chExt cx="302" cy="336"/>
          </a:xfrm>
        </p:grpSpPr>
        <p:sp>
          <p:nvSpPr>
            <p:cNvPr id="66" name="Text Box 8"/>
            <p:cNvSpPr txBox="1">
              <a:spLocks noChangeArrowheads="1"/>
            </p:cNvSpPr>
            <p:nvPr/>
          </p:nvSpPr>
          <p:spPr bwMode="auto">
            <a:xfrm>
              <a:off x="4922" y="1738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/>
                <a:t>s</a:t>
              </a:r>
              <a:r>
                <a:rPr lang="en-US" altLang="zh-CN" sz="2400" b="1">
                  <a:sym typeface="Symbol" panose="05050102010706020507" pitchFamily="18" charset="2"/>
                </a:rPr>
                <a:t>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  <p:sp>
          <p:nvSpPr>
            <p:cNvPr id="67" name="Text Box 9"/>
            <p:cNvSpPr txBox="1">
              <a:spLocks noChangeArrowheads="1"/>
            </p:cNvSpPr>
            <p:nvPr/>
          </p:nvSpPr>
          <p:spPr bwMode="auto">
            <a:xfrm>
              <a:off x="4960" y="192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</p:grpSp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棱锥面上取点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0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 Box 52"/>
          <p:cNvSpPr txBox="1">
            <a:spLocks noChangeArrowheads="1"/>
          </p:cNvSpPr>
          <p:nvPr/>
        </p:nvSpPr>
        <p:spPr bwMode="auto">
          <a:xfrm>
            <a:off x="6811469" y="4496667"/>
            <a:ext cx="187743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基本方法</a:t>
            </a:r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面内取点方法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7" grpId="0"/>
      <p:bldP spid="28" grpId="0"/>
      <p:bldP spid="49" grpId="0" animBg="1"/>
      <p:bldP spid="50" grpId="0"/>
      <p:bldP spid="51" grpId="0"/>
      <p:bldP spid="56" grpId="0" animBg="1"/>
      <p:bldP spid="57" grpId="0" animBg="1"/>
      <p:bldP spid="58" grpId="0"/>
      <p:bldP spid="61" grpId="0" uiExpand="1" build="p"/>
      <p:bldP spid="7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149"/>
          <p:cNvGrpSpPr/>
          <p:nvPr/>
        </p:nvGrpSpPr>
        <p:grpSpPr bwMode="auto">
          <a:xfrm>
            <a:off x="5483467" y="3296606"/>
            <a:ext cx="57150" cy="1895475"/>
            <a:chOff x="3556" y="2136"/>
            <a:chExt cx="36" cy="1194"/>
          </a:xfrm>
        </p:grpSpPr>
        <p:sp>
          <p:nvSpPr>
            <p:cNvPr id="6" name="Line 113"/>
            <p:cNvSpPr>
              <a:spLocks noChangeShapeType="1"/>
            </p:cNvSpPr>
            <p:nvPr/>
          </p:nvSpPr>
          <p:spPr bwMode="auto">
            <a:xfrm>
              <a:off x="3574" y="2136"/>
              <a:ext cx="0" cy="1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utoShape 147"/>
            <p:cNvSpPr>
              <a:spLocks noChangeArrowheads="1"/>
            </p:cNvSpPr>
            <p:nvPr/>
          </p:nvSpPr>
          <p:spPr bwMode="auto">
            <a:xfrm flipV="1">
              <a:off x="3556" y="2554"/>
              <a:ext cx="36" cy="128"/>
            </a:xfrm>
            <a:prstGeom prst="triangle">
              <a:avLst>
                <a:gd name="adj" fmla="val 50000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 i="1"/>
            </a:p>
          </p:txBody>
        </p:sp>
      </p:grpSp>
      <p:sp>
        <p:nvSpPr>
          <p:cNvPr id="8" name="Line 124"/>
          <p:cNvSpPr>
            <a:spLocks noChangeShapeType="1"/>
          </p:cNvSpPr>
          <p:nvPr/>
        </p:nvSpPr>
        <p:spPr bwMode="auto">
          <a:xfrm flipV="1">
            <a:off x="5069130" y="2098044"/>
            <a:ext cx="2581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67"/>
          <p:cNvSpPr txBox="1">
            <a:spLocks noChangeArrowheads="1"/>
          </p:cNvSpPr>
          <p:nvPr/>
        </p:nvSpPr>
        <p:spPr bwMode="auto">
          <a:xfrm>
            <a:off x="2499485" y="3601406"/>
            <a:ext cx="7521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黑体" panose="02010609060101010101" pitchFamily="2" charset="-122"/>
              </a:rPr>
              <a:t>M</a:t>
            </a:r>
            <a:r>
              <a:rPr lang="en-US" altLang="zh-CN" sz="2000">
                <a:latin typeface="黑体" panose="02010609060101010101" pitchFamily="2" charset="-122"/>
                <a:sym typeface="Symbol" panose="05050102010706020507" pitchFamily="18" charset="2"/>
              </a:rPr>
              <a:t>SA</a:t>
            </a:r>
            <a:endParaRPr lang="en-US" altLang="zh-CN" sz="2000">
              <a:latin typeface="黑体" panose="02010609060101010101" pitchFamily="2" charset="-122"/>
            </a:endParaRPr>
          </a:p>
        </p:txBody>
      </p:sp>
      <p:sp>
        <p:nvSpPr>
          <p:cNvPr id="10" name="Text Box 68"/>
          <p:cNvSpPr txBox="1">
            <a:spLocks noChangeArrowheads="1"/>
          </p:cNvSpPr>
          <p:nvPr/>
        </p:nvSpPr>
        <p:spPr bwMode="auto">
          <a:xfrm>
            <a:off x="2499485" y="3931606"/>
            <a:ext cx="7521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黑体" panose="02010609060101010101" pitchFamily="2" charset="-122"/>
              </a:rPr>
              <a:t>N</a:t>
            </a:r>
            <a:r>
              <a:rPr lang="en-US" altLang="zh-CN" sz="2000">
                <a:latin typeface="黑体" panose="02010609060101010101" pitchFamily="2" charset="-122"/>
                <a:sym typeface="Symbol" panose="05050102010706020507" pitchFamily="18" charset="2"/>
              </a:rPr>
              <a:t>SB</a:t>
            </a:r>
            <a:endParaRPr lang="en-US" altLang="zh-CN" sz="2000">
              <a:latin typeface="黑体" panose="02010609060101010101" pitchFamily="2" charset="-122"/>
            </a:endParaRPr>
          </a:p>
        </p:txBody>
      </p:sp>
      <p:sp>
        <p:nvSpPr>
          <p:cNvPr id="12" name="Text Box 69"/>
          <p:cNvSpPr txBox="1">
            <a:spLocks noChangeArrowheads="1"/>
          </p:cNvSpPr>
          <p:nvPr/>
        </p:nvSpPr>
        <p:spPr bwMode="auto">
          <a:xfrm>
            <a:off x="2435365" y="4236406"/>
            <a:ext cx="8803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黑体" panose="02010609060101010101" pitchFamily="2" charset="-122"/>
              </a:rPr>
              <a:t>K</a:t>
            </a:r>
            <a:r>
              <a:rPr lang="en-US" altLang="zh-CN" sz="2000">
                <a:latin typeface="黑体" panose="02010609060101010101" pitchFamily="2" charset="-122"/>
                <a:sym typeface="Symbol" panose="05050102010706020507" pitchFamily="18" charset="2"/>
              </a:rPr>
              <a:t>SBC</a:t>
            </a:r>
            <a:endParaRPr lang="en-US" altLang="zh-CN" sz="2000">
              <a:latin typeface="黑体" panose="02010609060101010101" pitchFamily="2" charset="-12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323191" y="4895189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如何在平面上取点？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6" name="Group 146"/>
          <p:cNvGrpSpPr/>
          <p:nvPr/>
        </p:nvGrpSpPr>
        <p:grpSpPr bwMode="auto">
          <a:xfrm>
            <a:off x="316394" y="3418957"/>
            <a:ext cx="2690813" cy="2638425"/>
            <a:chOff x="293" y="995"/>
            <a:chExt cx="1695" cy="1662"/>
          </a:xfrm>
        </p:grpSpPr>
        <p:grpSp>
          <p:nvGrpSpPr>
            <p:cNvPr id="17" name="Group 138"/>
            <p:cNvGrpSpPr/>
            <p:nvPr/>
          </p:nvGrpSpPr>
          <p:grpSpPr bwMode="auto">
            <a:xfrm>
              <a:off x="514" y="1169"/>
              <a:ext cx="1303" cy="1488"/>
              <a:chOff x="514" y="1169"/>
              <a:chExt cx="1303" cy="1488"/>
            </a:xfrm>
          </p:grpSpPr>
          <p:sp>
            <p:nvSpPr>
              <p:cNvPr id="21" name="Freeform 129"/>
              <p:cNvSpPr/>
              <p:nvPr/>
            </p:nvSpPr>
            <p:spPr bwMode="auto">
              <a:xfrm>
                <a:off x="514" y="1169"/>
                <a:ext cx="822" cy="1488"/>
              </a:xfrm>
              <a:custGeom>
                <a:avLst/>
                <a:gdLst>
                  <a:gd name="T0" fmla="*/ 656 w 822"/>
                  <a:gd name="T1" fmla="*/ 0 h 1488"/>
                  <a:gd name="T2" fmla="*/ 0 w 822"/>
                  <a:gd name="T3" fmla="*/ 1267 h 1488"/>
                  <a:gd name="T4" fmla="*/ 822 w 822"/>
                  <a:gd name="T5" fmla="*/ 1488 h 1488"/>
                  <a:gd name="T6" fmla="*/ 656 w 822"/>
                  <a:gd name="T7" fmla="*/ 0 h 14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22" h="1488">
                    <a:moveTo>
                      <a:pt x="656" y="0"/>
                    </a:moveTo>
                    <a:lnTo>
                      <a:pt x="0" y="1267"/>
                    </a:lnTo>
                    <a:lnTo>
                      <a:pt x="822" y="1488"/>
                    </a:lnTo>
                    <a:lnTo>
                      <a:pt x="656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28575" cmpd="sng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Freeform 130"/>
              <p:cNvSpPr/>
              <p:nvPr/>
            </p:nvSpPr>
            <p:spPr bwMode="auto">
              <a:xfrm>
                <a:off x="1170" y="1180"/>
                <a:ext cx="647" cy="1466"/>
              </a:xfrm>
              <a:custGeom>
                <a:avLst/>
                <a:gdLst>
                  <a:gd name="T0" fmla="*/ 0 w 647"/>
                  <a:gd name="T1" fmla="*/ 0 h 1466"/>
                  <a:gd name="T2" fmla="*/ 166 w 647"/>
                  <a:gd name="T3" fmla="*/ 1466 h 1466"/>
                  <a:gd name="T4" fmla="*/ 647 w 647"/>
                  <a:gd name="T5" fmla="*/ 1219 h 1466"/>
                  <a:gd name="T6" fmla="*/ 0 w 647"/>
                  <a:gd name="T7" fmla="*/ 0 h 14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7" h="1466">
                    <a:moveTo>
                      <a:pt x="0" y="0"/>
                    </a:moveTo>
                    <a:lnTo>
                      <a:pt x="166" y="1466"/>
                    </a:lnTo>
                    <a:lnTo>
                      <a:pt x="647" y="1219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lin ang="600000" scaled="0"/>
                <a:tileRect/>
              </a:gradFill>
              <a:ln w="28575" cmpd="sng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131"/>
            <p:cNvSpPr txBox="1">
              <a:spLocks noChangeArrowheads="1"/>
            </p:cNvSpPr>
            <p:nvPr/>
          </p:nvSpPr>
          <p:spPr bwMode="auto">
            <a:xfrm>
              <a:off x="293" y="2341"/>
              <a:ext cx="2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32"/>
            <p:cNvSpPr txBox="1">
              <a:spLocks noChangeArrowheads="1"/>
            </p:cNvSpPr>
            <p:nvPr/>
          </p:nvSpPr>
          <p:spPr bwMode="auto">
            <a:xfrm>
              <a:off x="1775" y="2337"/>
              <a:ext cx="2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en-US" altLang="zh-CN" sz="18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33"/>
            <p:cNvSpPr txBox="1">
              <a:spLocks noChangeArrowheads="1"/>
            </p:cNvSpPr>
            <p:nvPr/>
          </p:nvSpPr>
          <p:spPr bwMode="auto">
            <a:xfrm>
              <a:off x="1158" y="995"/>
              <a:ext cx="20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Text Box 134"/>
          <p:cNvSpPr txBox="1">
            <a:spLocks noChangeArrowheads="1"/>
          </p:cNvSpPr>
          <p:nvPr/>
        </p:nvSpPr>
        <p:spPr bwMode="auto">
          <a:xfrm>
            <a:off x="2031787" y="5851272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i="1" dirty="0">
                <a:latin typeface="黑体" panose="02010609060101010101" pitchFamily="2" charset="-122"/>
              </a:rPr>
              <a:t>B</a:t>
            </a:r>
            <a:endParaRPr lang="en-US" altLang="zh-CN" sz="2000" i="1" dirty="0">
              <a:latin typeface="黑体" panose="02010609060101010101" pitchFamily="2" charset="-122"/>
            </a:endParaRP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346821" y="2668135"/>
            <a:ext cx="287681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求棱锥表面的折线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MNK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的水平投影和侧面投影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>
            <a:off x="4378567" y="3010856"/>
            <a:ext cx="0" cy="1497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7531342" y="3071181"/>
            <a:ext cx="9620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黑体" panose="02010609060101010101" pitchFamily="2" charset="-122"/>
              </a:rPr>
              <a:t>(k")</a:t>
            </a:r>
            <a:endParaRPr lang="en-US" altLang="zh-CN" sz="2400" i="1" dirty="0">
              <a:latin typeface="黑体" panose="02010609060101010101" pitchFamily="2" charset="-122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4688130" y="4946019"/>
            <a:ext cx="363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黑体" panose="02010609060101010101" pitchFamily="2" charset="-122"/>
              </a:rPr>
              <a:t>n</a:t>
            </a:r>
            <a:endParaRPr lang="en-US" altLang="zh-CN" sz="2800" i="1">
              <a:latin typeface="黑体" panose="02010609060101010101" pitchFamily="2" charset="-122"/>
            </a:endParaRPr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 rot="849585">
            <a:off x="5400917" y="4772981"/>
            <a:ext cx="207963" cy="57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" name="Group 126"/>
          <p:cNvGrpSpPr/>
          <p:nvPr/>
        </p:nvGrpSpPr>
        <p:grpSpPr bwMode="auto">
          <a:xfrm>
            <a:off x="3746742" y="1134431"/>
            <a:ext cx="4927600" cy="5038726"/>
            <a:chOff x="2462" y="774"/>
            <a:chExt cx="3104" cy="3174"/>
          </a:xfrm>
        </p:grpSpPr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2687" y="2802"/>
              <a:ext cx="123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3294" y="3129"/>
              <a:ext cx="0" cy="69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H="1" flipV="1">
              <a:off x="2687" y="2802"/>
              <a:ext cx="607" cy="102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 flipH="1">
              <a:off x="3294" y="2802"/>
              <a:ext cx="628" cy="102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2687" y="2802"/>
              <a:ext cx="607" cy="33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 flipV="1">
              <a:off x="3294" y="2802"/>
              <a:ext cx="628" cy="33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2693" y="2334"/>
              <a:ext cx="12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 flipH="1" flipV="1">
              <a:off x="3280" y="968"/>
              <a:ext cx="641" cy="136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flipH="1">
              <a:off x="2693" y="981"/>
              <a:ext cx="588" cy="135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V="1">
              <a:off x="4394" y="973"/>
              <a:ext cx="344" cy="136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4734" y="970"/>
              <a:ext cx="675" cy="13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 flipH="1">
              <a:off x="4394" y="2335"/>
              <a:ext cx="101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3288" y="988"/>
              <a:ext cx="0" cy="134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39"/>
            <p:cNvSpPr txBox="1">
              <a:spLocks noChangeArrowheads="1"/>
            </p:cNvSpPr>
            <p:nvPr/>
          </p:nvSpPr>
          <p:spPr bwMode="auto">
            <a:xfrm>
              <a:off x="3280" y="2989"/>
              <a:ext cx="2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s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45" name="Text Box 40"/>
            <p:cNvSpPr txBox="1">
              <a:spLocks noChangeArrowheads="1"/>
            </p:cNvSpPr>
            <p:nvPr/>
          </p:nvSpPr>
          <p:spPr bwMode="auto">
            <a:xfrm>
              <a:off x="2462" y="2609"/>
              <a:ext cx="2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a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46" name="Text Box 41"/>
            <p:cNvSpPr txBox="1">
              <a:spLocks noChangeArrowheads="1"/>
            </p:cNvSpPr>
            <p:nvPr/>
          </p:nvSpPr>
          <p:spPr bwMode="auto">
            <a:xfrm>
              <a:off x="3929" y="2605"/>
              <a:ext cx="2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c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47" name="Text Box 42"/>
            <p:cNvSpPr txBox="1">
              <a:spLocks noChangeArrowheads="1"/>
            </p:cNvSpPr>
            <p:nvPr/>
          </p:nvSpPr>
          <p:spPr bwMode="auto">
            <a:xfrm>
              <a:off x="2469" y="226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a'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48" name="Text Box 43"/>
            <p:cNvSpPr txBox="1">
              <a:spLocks noChangeArrowheads="1"/>
            </p:cNvSpPr>
            <p:nvPr/>
          </p:nvSpPr>
          <p:spPr bwMode="auto">
            <a:xfrm>
              <a:off x="3844" y="2254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c'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3152" y="2273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b'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50" name="Text Box 45"/>
            <p:cNvSpPr txBox="1">
              <a:spLocks noChangeArrowheads="1"/>
            </p:cNvSpPr>
            <p:nvPr/>
          </p:nvSpPr>
          <p:spPr bwMode="auto">
            <a:xfrm>
              <a:off x="3011" y="774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s'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5224" y="2263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b"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4232" y="2285"/>
              <a:ext cx="7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a"(c")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sp>
          <p:nvSpPr>
            <p:cNvPr id="53" name="Text Box 48"/>
            <p:cNvSpPr txBox="1">
              <a:spLocks noChangeArrowheads="1"/>
            </p:cNvSpPr>
            <p:nvPr/>
          </p:nvSpPr>
          <p:spPr bwMode="auto">
            <a:xfrm>
              <a:off x="4771" y="787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黑体" panose="02010609060101010101" pitchFamily="2" charset="-122"/>
                </a:rPr>
                <a:t>s"</a:t>
              </a:r>
              <a:endParaRPr lang="en-US" altLang="zh-CN" sz="2800" i="1" dirty="0">
                <a:latin typeface="黑体" panose="02010609060101010101" pitchFamily="2" charset="-122"/>
              </a:endParaRPr>
            </a:p>
          </p:txBody>
        </p:sp>
        <p:sp>
          <p:nvSpPr>
            <p:cNvPr id="54" name="Text Box 49"/>
            <p:cNvSpPr txBox="1">
              <a:spLocks noChangeArrowheads="1"/>
            </p:cNvSpPr>
            <p:nvPr/>
          </p:nvSpPr>
          <p:spPr bwMode="auto">
            <a:xfrm>
              <a:off x="3031" y="3621"/>
              <a:ext cx="2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黑体" panose="02010609060101010101" pitchFamily="2" charset="-122"/>
                </a:rPr>
                <a:t>b</a:t>
              </a:r>
              <a:endParaRPr lang="en-US" altLang="zh-CN" sz="2800" i="1" dirty="0">
                <a:latin typeface="黑体" panose="02010609060101010101" pitchFamily="2" charset="-122"/>
              </a:endParaRPr>
            </a:p>
          </p:txBody>
        </p:sp>
      </p:grpSp>
      <p:sp>
        <p:nvSpPr>
          <p:cNvPr id="55" name="Line 50"/>
          <p:cNvSpPr>
            <a:spLocks noChangeShapeType="1"/>
          </p:cNvSpPr>
          <p:nvPr/>
        </p:nvSpPr>
        <p:spPr bwMode="auto">
          <a:xfrm rot="1990415">
            <a:off x="7064617" y="3539494"/>
            <a:ext cx="187325" cy="1047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Text Box 78"/>
          <p:cNvSpPr txBox="1">
            <a:spLocks noChangeArrowheads="1"/>
          </p:cNvSpPr>
          <p:nvPr/>
        </p:nvSpPr>
        <p:spPr bwMode="auto">
          <a:xfrm>
            <a:off x="3908667" y="4320544"/>
            <a:ext cx="363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黑体" panose="02010609060101010101" pitchFamily="2" charset="-122"/>
              </a:rPr>
              <a:t>m</a:t>
            </a:r>
            <a:endParaRPr lang="en-US" altLang="zh-CN" sz="2800" i="1">
              <a:latin typeface="黑体" panose="02010609060101010101" pitchFamily="2" charset="-122"/>
            </a:endParaRPr>
          </a:p>
        </p:txBody>
      </p:sp>
      <p:sp>
        <p:nvSpPr>
          <p:cNvPr id="57" name="Line 79"/>
          <p:cNvSpPr>
            <a:spLocks noChangeShapeType="1"/>
          </p:cNvSpPr>
          <p:nvPr/>
        </p:nvSpPr>
        <p:spPr bwMode="auto">
          <a:xfrm>
            <a:off x="4378567" y="2991806"/>
            <a:ext cx="2600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81"/>
          <p:cNvSpPr txBox="1">
            <a:spLocks noChangeArrowheads="1"/>
          </p:cNvSpPr>
          <p:nvPr/>
        </p:nvSpPr>
        <p:spPr bwMode="auto">
          <a:xfrm>
            <a:off x="6418505" y="2544131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黑体" panose="02010609060101010101" pitchFamily="2" charset="-122"/>
              </a:rPr>
              <a:t>m"</a:t>
            </a:r>
            <a:endParaRPr lang="en-US" altLang="zh-CN" sz="2800" i="1">
              <a:latin typeface="黑体" panose="02010609060101010101" pitchFamily="2" charset="-122"/>
            </a:endParaRPr>
          </a:p>
        </p:txBody>
      </p:sp>
      <p:sp>
        <p:nvSpPr>
          <p:cNvPr id="59" name="Text Box 84"/>
          <p:cNvSpPr txBox="1">
            <a:spLocks noChangeArrowheads="1"/>
          </p:cNvSpPr>
          <p:nvPr/>
        </p:nvSpPr>
        <p:spPr bwMode="auto">
          <a:xfrm>
            <a:off x="7656755" y="1620206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黑体" panose="02010609060101010101" pitchFamily="2" charset="-122"/>
              </a:rPr>
              <a:t>n"</a:t>
            </a:r>
            <a:endParaRPr lang="en-US" altLang="zh-CN" sz="2800" i="1">
              <a:latin typeface="黑体" panose="02010609060101010101" pitchFamily="2" charset="-122"/>
            </a:endParaRPr>
          </a:p>
        </p:txBody>
      </p:sp>
      <p:sp>
        <p:nvSpPr>
          <p:cNvPr id="60" name="Line 85"/>
          <p:cNvSpPr>
            <a:spLocks noChangeShapeType="1"/>
          </p:cNvSpPr>
          <p:nvPr/>
        </p:nvSpPr>
        <p:spPr bwMode="auto">
          <a:xfrm>
            <a:off x="7683742" y="2105981"/>
            <a:ext cx="0" cy="149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86"/>
          <p:cNvSpPr>
            <a:spLocks noChangeShapeType="1"/>
          </p:cNvSpPr>
          <p:nvPr/>
        </p:nvSpPr>
        <p:spPr bwMode="auto">
          <a:xfrm>
            <a:off x="5070717" y="4350706"/>
            <a:ext cx="0" cy="1038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2" name="Group 98"/>
          <p:cNvGrpSpPr/>
          <p:nvPr/>
        </p:nvGrpSpPr>
        <p:grpSpPr bwMode="auto">
          <a:xfrm>
            <a:off x="5067542" y="3601406"/>
            <a:ext cx="2625725" cy="1628775"/>
            <a:chOff x="3338" y="2460"/>
            <a:chExt cx="1654" cy="1026"/>
          </a:xfrm>
        </p:grpSpPr>
        <p:grpSp>
          <p:nvGrpSpPr>
            <p:cNvPr id="63" name="Group 93"/>
            <p:cNvGrpSpPr/>
            <p:nvPr/>
          </p:nvGrpSpPr>
          <p:grpSpPr bwMode="auto">
            <a:xfrm>
              <a:off x="4446" y="2460"/>
              <a:ext cx="546" cy="714"/>
              <a:chOff x="4446" y="2460"/>
              <a:chExt cx="546" cy="714"/>
            </a:xfrm>
          </p:grpSpPr>
          <p:sp>
            <p:nvSpPr>
              <p:cNvPr id="68" name="Line 89"/>
              <p:cNvSpPr>
                <a:spLocks noChangeShapeType="1"/>
              </p:cNvSpPr>
              <p:nvPr/>
            </p:nvSpPr>
            <p:spPr bwMode="auto">
              <a:xfrm>
                <a:off x="4446" y="2472"/>
                <a:ext cx="290" cy="556"/>
              </a:xfrm>
              <a:prstGeom prst="line">
                <a:avLst/>
              </a:prstGeom>
              <a:noFill/>
              <a:ln w="38100">
                <a:solidFill>
                  <a:srgbClr val="9900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90"/>
              <p:cNvSpPr>
                <a:spLocks noChangeShapeType="1"/>
              </p:cNvSpPr>
              <p:nvPr/>
            </p:nvSpPr>
            <p:spPr bwMode="auto">
              <a:xfrm flipH="1">
                <a:off x="4732" y="2460"/>
                <a:ext cx="260" cy="560"/>
              </a:xfrm>
              <a:prstGeom prst="line">
                <a:avLst/>
              </a:prstGeom>
              <a:noFill/>
              <a:ln w="38100">
                <a:solidFill>
                  <a:srgbClr val="9900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91"/>
              <p:cNvSpPr>
                <a:spLocks noChangeShapeType="1"/>
              </p:cNvSpPr>
              <p:nvPr/>
            </p:nvSpPr>
            <p:spPr bwMode="auto">
              <a:xfrm>
                <a:off x="4732" y="3018"/>
                <a:ext cx="0" cy="156"/>
              </a:xfrm>
              <a:prstGeom prst="line">
                <a:avLst/>
              </a:prstGeom>
              <a:noFill/>
              <a:ln w="38100">
                <a:solidFill>
                  <a:srgbClr val="9900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" name="Group 94"/>
            <p:cNvGrpSpPr/>
            <p:nvPr/>
          </p:nvGrpSpPr>
          <p:grpSpPr bwMode="auto">
            <a:xfrm rot="-5400000">
              <a:off x="3422" y="2856"/>
              <a:ext cx="546" cy="714"/>
              <a:chOff x="4446" y="2460"/>
              <a:chExt cx="546" cy="714"/>
            </a:xfrm>
          </p:grpSpPr>
          <p:sp>
            <p:nvSpPr>
              <p:cNvPr id="65" name="Line 95"/>
              <p:cNvSpPr>
                <a:spLocks noChangeShapeType="1"/>
              </p:cNvSpPr>
              <p:nvPr/>
            </p:nvSpPr>
            <p:spPr bwMode="auto">
              <a:xfrm>
                <a:off x="4446" y="2472"/>
                <a:ext cx="290" cy="556"/>
              </a:xfrm>
              <a:prstGeom prst="line">
                <a:avLst/>
              </a:prstGeom>
              <a:noFill/>
              <a:ln w="38100">
                <a:solidFill>
                  <a:srgbClr val="9900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96"/>
              <p:cNvSpPr>
                <a:spLocks noChangeShapeType="1"/>
              </p:cNvSpPr>
              <p:nvPr/>
            </p:nvSpPr>
            <p:spPr bwMode="auto">
              <a:xfrm flipH="1">
                <a:off x="4732" y="2460"/>
                <a:ext cx="260" cy="560"/>
              </a:xfrm>
              <a:prstGeom prst="line">
                <a:avLst/>
              </a:prstGeom>
              <a:noFill/>
              <a:ln w="38100">
                <a:solidFill>
                  <a:srgbClr val="9900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97"/>
              <p:cNvSpPr>
                <a:spLocks noChangeShapeType="1"/>
              </p:cNvSpPr>
              <p:nvPr/>
            </p:nvSpPr>
            <p:spPr bwMode="auto">
              <a:xfrm>
                <a:off x="4732" y="3018"/>
                <a:ext cx="0" cy="156"/>
              </a:xfrm>
              <a:prstGeom prst="line">
                <a:avLst/>
              </a:prstGeom>
              <a:noFill/>
              <a:ln w="38100">
                <a:solidFill>
                  <a:srgbClr val="9900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0" name="Text Box 109"/>
          <p:cNvSpPr txBox="1">
            <a:spLocks noChangeArrowheads="1"/>
          </p:cNvSpPr>
          <p:nvPr/>
        </p:nvSpPr>
        <p:spPr bwMode="auto">
          <a:xfrm>
            <a:off x="5534267" y="4995231"/>
            <a:ext cx="363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黑体" panose="02010609060101010101" pitchFamily="2" charset="-122"/>
              </a:rPr>
              <a:t>k</a:t>
            </a:r>
            <a:endParaRPr lang="en-US" altLang="zh-CN" sz="2800" i="1">
              <a:latin typeface="黑体" panose="02010609060101010101" pitchFamily="2" charset="-122"/>
            </a:endParaRPr>
          </a:p>
        </p:txBody>
      </p:sp>
      <p:sp>
        <p:nvSpPr>
          <p:cNvPr id="81" name="Line 110"/>
          <p:cNvSpPr>
            <a:spLocks noChangeShapeType="1"/>
          </p:cNvSpPr>
          <p:nvPr/>
        </p:nvSpPr>
        <p:spPr bwMode="auto">
          <a:xfrm>
            <a:off x="5043730" y="3293431"/>
            <a:ext cx="881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112"/>
          <p:cNvSpPr>
            <a:spLocks noChangeShapeType="1"/>
          </p:cNvSpPr>
          <p:nvPr/>
        </p:nvSpPr>
        <p:spPr bwMode="auto">
          <a:xfrm flipH="1">
            <a:off x="5426317" y="4439606"/>
            <a:ext cx="49530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114"/>
          <p:cNvSpPr>
            <a:spLocks noChangeShapeType="1"/>
          </p:cNvSpPr>
          <p:nvPr/>
        </p:nvSpPr>
        <p:spPr bwMode="auto">
          <a:xfrm>
            <a:off x="5921617" y="3291844"/>
            <a:ext cx="1704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116"/>
          <p:cNvSpPr>
            <a:spLocks noChangeShapeType="1"/>
          </p:cNvSpPr>
          <p:nvPr/>
        </p:nvSpPr>
        <p:spPr bwMode="auto">
          <a:xfrm flipV="1">
            <a:off x="7588492" y="3283906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Line 117"/>
          <p:cNvSpPr>
            <a:spLocks noChangeShapeType="1"/>
          </p:cNvSpPr>
          <p:nvPr/>
        </p:nvSpPr>
        <p:spPr bwMode="auto">
          <a:xfrm>
            <a:off x="4364280" y="4496756"/>
            <a:ext cx="709612" cy="7239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Line 118"/>
          <p:cNvSpPr>
            <a:spLocks noChangeShapeType="1"/>
          </p:cNvSpPr>
          <p:nvPr/>
        </p:nvSpPr>
        <p:spPr bwMode="auto">
          <a:xfrm flipV="1">
            <a:off x="5054842" y="5134931"/>
            <a:ext cx="466725" cy="87313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Oval 77"/>
          <p:cNvSpPr>
            <a:spLocks noChangeArrowheads="1"/>
          </p:cNvSpPr>
          <p:nvPr/>
        </p:nvSpPr>
        <p:spPr bwMode="auto">
          <a:xfrm>
            <a:off x="4319830" y="4453894"/>
            <a:ext cx="103187" cy="100012"/>
          </a:xfrm>
          <a:prstGeom prst="ellipse">
            <a:avLst/>
          </a:prstGeom>
          <a:solidFill>
            <a:srgbClr val="FFFFCC"/>
          </a:solidFill>
          <a:ln w="38100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i="1"/>
          </a:p>
        </p:txBody>
      </p:sp>
      <p:sp>
        <p:nvSpPr>
          <p:cNvPr id="88" name="Oval 99"/>
          <p:cNvSpPr>
            <a:spLocks noChangeArrowheads="1"/>
          </p:cNvSpPr>
          <p:nvPr/>
        </p:nvSpPr>
        <p:spPr bwMode="auto">
          <a:xfrm>
            <a:off x="5013567" y="5166681"/>
            <a:ext cx="104775" cy="101600"/>
          </a:xfrm>
          <a:prstGeom prst="ellipse">
            <a:avLst/>
          </a:prstGeom>
          <a:solidFill>
            <a:srgbClr val="FFFFCC"/>
          </a:solidFill>
          <a:ln w="38100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i="1"/>
          </a:p>
        </p:txBody>
      </p:sp>
      <p:sp>
        <p:nvSpPr>
          <p:cNvPr id="89" name="Oval 21"/>
          <p:cNvSpPr>
            <a:spLocks noChangeArrowheads="1"/>
          </p:cNvSpPr>
          <p:nvPr/>
        </p:nvSpPr>
        <p:spPr bwMode="auto">
          <a:xfrm>
            <a:off x="5458067" y="5095244"/>
            <a:ext cx="96838" cy="95250"/>
          </a:xfrm>
          <a:prstGeom prst="ellipse">
            <a:avLst/>
          </a:prstGeom>
          <a:solidFill>
            <a:srgbClr val="FFFFCC"/>
          </a:solidFill>
          <a:ln w="38100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i="1"/>
          </a:p>
        </p:txBody>
      </p:sp>
      <p:sp>
        <p:nvSpPr>
          <p:cNvPr id="90" name="Line 119"/>
          <p:cNvSpPr>
            <a:spLocks noChangeShapeType="1"/>
          </p:cNvSpPr>
          <p:nvPr/>
        </p:nvSpPr>
        <p:spPr bwMode="auto">
          <a:xfrm flipV="1">
            <a:off x="6974130" y="2096456"/>
            <a:ext cx="719137" cy="89535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Line 120"/>
          <p:cNvSpPr>
            <a:spLocks noChangeShapeType="1"/>
          </p:cNvSpPr>
          <p:nvPr/>
        </p:nvSpPr>
        <p:spPr bwMode="auto">
          <a:xfrm flipH="1">
            <a:off x="7586905" y="2099631"/>
            <a:ext cx="92075" cy="1192213"/>
          </a:xfrm>
          <a:prstGeom prst="line">
            <a:avLst/>
          </a:prstGeom>
          <a:noFill/>
          <a:ln w="19050">
            <a:solidFill>
              <a:srgbClr val="A5002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Oval 16"/>
          <p:cNvSpPr>
            <a:spLocks noChangeArrowheads="1"/>
          </p:cNvSpPr>
          <p:nvPr/>
        </p:nvSpPr>
        <p:spPr bwMode="auto">
          <a:xfrm>
            <a:off x="7540867" y="3250569"/>
            <a:ext cx="98425" cy="100012"/>
          </a:xfrm>
          <a:prstGeom prst="ellipse">
            <a:avLst/>
          </a:prstGeom>
          <a:solidFill>
            <a:srgbClr val="FFFFCC"/>
          </a:solidFill>
          <a:ln w="38100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i="1"/>
          </a:p>
        </p:txBody>
      </p:sp>
      <p:sp>
        <p:nvSpPr>
          <p:cNvPr id="93" name="Oval 80"/>
          <p:cNvSpPr>
            <a:spLocks noChangeArrowheads="1"/>
          </p:cNvSpPr>
          <p:nvPr/>
        </p:nvSpPr>
        <p:spPr bwMode="auto">
          <a:xfrm>
            <a:off x="6929680" y="2934656"/>
            <a:ext cx="103187" cy="100013"/>
          </a:xfrm>
          <a:prstGeom prst="ellipse">
            <a:avLst/>
          </a:prstGeom>
          <a:solidFill>
            <a:srgbClr val="FFFFCC"/>
          </a:solidFill>
          <a:ln w="38100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i="1"/>
          </a:p>
        </p:txBody>
      </p:sp>
      <p:sp>
        <p:nvSpPr>
          <p:cNvPr id="94" name="Oval 83"/>
          <p:cNvSpPr>
            <a:spLocks noChangeArrowheads="1"/>
          </p:cNvSpPr>
          <p:nvPr/>
        </p:nvSpPr>
        <p:spPr bwMode="auto">
          <a:xfrm>
            <a:off x="7625005" y="2048831"/>
            <a:ext cx="96837" cy="95250"/>
          </a:xfrm>
          <a:prstGeom prst="ellipse">
            <a:avLst/>
          </a:prstGeom>
          <a:solidFill>
            <a:srgbClr val="FFFFCC"/>
          </a:solidFill>
          <a:ln w="38100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 i="1"/>
          </a:p>
        </p:txBody>
      </p:sp>
      <p:sp>
        <p:nvSpPr>
          <p:cNvPr id="95" name="Text Box 121"/>
          <p:cNvSpPr txBox="1">
            <a:spLocks noChangeArrowheads="1"/>
          </p:cNvSpPr>
          <p:nvPr/>
        </p:nvSpPr>
        <p:spPr bwMode="auto">
          <a:xfrm>
            <a:off x="5945225" y="5539215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连线</a:t>
            </a:r>
            <a:endParaRPr lang="zh-CN" altLang="en-US" sz="20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 Box 122"/>
          <p:cNvSpPr txBox="1">
            <a:spLocks noChangeArrowheads="1"/>
          </p:cNvSpPr>
          <p:nvPr/>
        </p:nvSpPr>
        <p:spPr bwMode="auto">
          <a:xfrm>
            <a:off x="6642852" y="5416105"/>
            <a:ext cx="2031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注意分析点、直线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所在表面的可见性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Group 151"/>
          <p:cNvGrpSpPr/>
          <p:nvPr/>
        </p:nvGrpSpPr>
        <p:grpSpPr bwMode="auto">
          <a:xfrm>
            <a:off x="624369" y="4138096"/>
            <a:ext cx="1941512" cy="1538288"/>
            <a:chOff x="487" y="1448"/>
            <a:chExt cx="1223" cy="969"/>
          </a:xfrm>
        </p:grpSpPr>
        <p:sp>
          <p:nvSpPr>
            <p:cNvPr id="98" name="Text Box 9"/>
            <p:cNvSpPr txBox="1">
              <a:spLocks noChangeArrowheads="1"/>
            </p:cNvSpPr>
            <p:nvPr/>
          </p:nvSpPr>
          <p:spPr bwMode="auto">
            <a:xfrm>
              <a:off x="1521" y="2184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solidFill>
                    <a:srgbClr val="A50021"/>
                  </a:solidFill>
                  <a:latin typeface="黑体" panose="02010609060101010101" pitchFamily="2" charset="-122"/>
                </a:rPr>
                <a:t>K</a:t>
              </a:r>
              <a:endParaRPr lang="en-US" altLang="zh-CN" sz="1800" i="1">
                <a:solidFill>
                  <a:srgbClr val="CC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99" name="Line 55"/>
            <p:cNvSpPr>
              <a:spLocks noChangeShapeType="1"/>
            </p:cNvSpPr>
            <p:nvPr/>
          </p:nvSpPr>
          <p:spPr bwMode="auto">
            <a:xfrm flipV="1">
              <a:off x="689" y="1688"/>
              <a:ext cx="536" cy="39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100" name="Line 56"/>
            <p:cNvSpPr>
              <a:spLocks noChangeShapeType="1"/>
            </p:cNvSpPr>
            <p:nvPr/>
          </p:nvSpPr>
          <p:spPr bwMode="auto">
            <a:xfrm>
              <a:off x="1226" y="1677"/>
              <a:ext cx="286" cy="65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101" name="Text Box 61"/>
            <p:cNvSpPr txBox="1">
              <a:spLocks noChangeArrowheads="1"/>
            </p:cNvSpPr>
            <p:nvPr/>
          </p:nvSpPr>
          <p:spPr bwMode="auto">
            <a:xfrm>
              <a:off x="487" y="1912"/>
              <a:ext cx="18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solidFill>
                    <a:srgbClr val="A50021"/>
                  </a:solidFill>
                  <a:latin typeface="黑体" panose="02010609060101010101" pitchFamily="2" charset="-122"/>
                </a:rPr>
                <a:t>M</a:t>
              </a:r>
              <a:endParaRPr lang="en-US" altLang="zh-CN" sz="1800" i="1">
                <a:solidFill>
                  <a:srgbClr val="CC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2" name="Oval 62"/>
            <p:cNvSpPr>
              <a:spLocks noChangeArrowheads="1"/>
            </p:cNvSpPr>
            <p:nvPr/>
          </p:nvSpPr>
          <p:spPr bwMode="auto">
            <a:xfrm>
              <a:off x="1175" y="1647"/>
              <a:ext cx="97" cy="9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 i="1">
                <a:latin typeface="黑体" panose="02010609060101010101" pitchFamily="2" charset="-122"/>
              </a:endParaRPr>
            </a:p>
          </p:txBody>
        </p:sp>
        <p:sp>
          <p:nvSpPr>
            <p:cNvPr id="103" name="Text Box 63"/>
            <p:cNvSpPr txBox="1">
              <a:spLocks noChangeArrowheads="1"/>
            </p:cNvSpPr>
            <p:nvPr/>
          </p:nvSpPr>
          <p:spPr bwMode="auto">
            <a:xfrm>
              <a:off x="999" y="1448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i="1" dirty="0">
                  <a:solidFill>
                    <a:srgbClr val="A50021"/>
                  </a:solidFill>
                  <a:latin typeface="黑体" panose="02010609060101010101" pitchFamily="2" charset="-122"/>
                </a:rPr>
                <a:t>N</a:t>
              </a:r>
              <a:endParaRPr lang="en-US" altLang="zh-CN" sz="1800" i="1" dirty="0">
                <a:solidFill>
                  <a:srgbClr val="CC0000"/>
                </a:solidFill>
                <a:latin typeface="黑体" panose="02010609060101010101" pitchFamily="2" charset="-122"/>
              </a:endParaRPr>
            </a:p>
          </p:txBody>
        </p:sp>
        <p:sp>
          <p:nvSpPr>
            <p:cNvPr id="104" name="Oval 64"/>
            <p:cNvSpPr>
              <a:spLocks noChangeArrowheads="1"/>
            </p:cNvSpPr>
            <p:nvPr/>
          </p:nvSpPr>
          <p:spPr bwMode="auto">
            <a:xfrm>
              <a:off x="1451" y="2277"/>
              <a:ext cx="99" cy="9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 i="1">
                <a:latin typeface="黑体" panose="02010609060101010101" pitchFamily="2" charset="-122"/>
              </a:endParaRPr>
            </a:p>
          </p:txBody>
        </p:sp>
        <p:sp>
          <p:nvSpPr>
            <p:cNvPr id="105" name="Oval 8"/>
            <p:cNvSpPr>
              <a:spLocks noChangeArrowheads="1"/>
            </p:cNvSpPr>
            <p:nvPr/>
          </p:nvSpPr>
          <p:spPr bwMode="auto">
            <a:xfrm>
              <a:off x="657" y="2021"/>
              <a:ext cx="99" cy="9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1800" i="1">
                <a:latin typeface="黑体" panose="02010609060101010101" pitchFamily="2" charset="-122"/>
              </a:endParaRPr>
            </a:p>
          </p:txBody>
        </p:sp>
      </p:grpSp>
      <p:grpSp>
        <p:nvGrpSpPr>
          <p:cNvPr id="107" name="Group 145"/>
          <p:cNvGrpSpPr/>
          <p:nvPr/>
        </p:nvGrpSpPr>
        <p:grpSpPr bwMode="auto">
          <a:xfrm>
            <a:off x="3922956" y="1798006"/>
            <a:ext cx="2055813" cy="1889125"/>
            <a:chOff x="2573" y="1192"/>
            <a:chExt cx="1295" cy="1190"/>
          </a:xfrm>
        </p:grpSpPr>
        <p:sp>
          <p:nvSpPr>
            <p:cNvPr id="108" name="Text Box 10"/>
            <p:cNvSpPr txBox="1">
              <a:spLocks noChangeArrowheads="1"/>
            </p:cNvSpPr>
            <p:nvPr/>
          </p:nvSpPr>
          <p:spPr bwMode="auto">
            <a:xfrm>
              <a:off x="2573" y="1698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黑体" panose="02010609060101010101" pitchFamily="2" charset="-122"/>
                </a:rPr>
                <a:t>m'</a:t>
              </a:r>
              <a:endParaRPr lang="en-US" altLang="zh-CN" sz="2800" i="1">
                <a:latin typeface="黑体" panose="02010609060101010101" pitchFamily="2" charset="-122"/>
              </a:endParaRPr>
            </a:p>
          </p:txBody>
        </p:sp>
        <p:grpSp>
          <p:nvGrpSpPr>
            <p:cNvPr id="109" name="Group 140"/>
            <p:cNvGrpSpPr/>
            <p:nvPr/>
          </p:nvGrpSpPr>
          <p:grpSpPr bwMode="auto">
            <a:xfrm>
              <a:off x="2821" y="1348"/>
              <a:ext cx="782" cy="814"/>
              <a:chOff x="2821" y="1348"/>
              <a:chExt cx="782" cy="814"/>
            </a:xfrm>
          </p:grpSpPr>
          <p:sp>
            <p:nvSpPr>
              <p:cNvPr id="112" name="Line 73"/>
              <p:cNvSpPr>
                <a:spLocks noChangeShapeType="1"/>
              </p:cNvSpPr>
              <p:nvPr/>
            </p:nvSpPr>
            <p:spPr bwMode="auto">
              <a:xfrm flipV="1">
                <a:off x="2856" y="1378"/>
                <a:ext cx="438" cy="579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74"/>
              <p:cNvSpPr>
                <a:spLocks noChangeShapeType="1"/>
              </p:cNvSpPr>
              <p:nvPr/>
            </p:nvSpPr>
            <p:spPr bwMode="auto">
              <a:xfrm flipH="1" flipV="1">
                <a:off x="3288" y="1380"/>
                <a:ext cx="283" cy="75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Oval 71"/>
              <p:cNvSpPr>
                <a:spLocks noChangeArrowheads="1"/>
              </p:cNvSpPr>
              <p:nvPr/>
            </p:nvSpPr>
            <p:spPr bwMode="auto">
              <a:xfrm>
                <a:off x="3258" y="1348"/>
                <a:ext cx="63" cy="66"/>
              </a:xfrm>
              <a:prstGeom prst="ellipse">
                <a:avLst/>
              </a:prstGeom>
              <a:solidFill>
                <a:srgbClr val="FFFFCC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 i="1"/>
              </a:p>
            </p:txBody>
          </p:sp>
          <p:sp>
            <p:nvSpPr>
              <p:cNvPr id="115" name="Oval 72"/>
              <p:cNvSpPr>
                <a:spLocks noChangeArrowheads="1"/>
              </p:cNvSpPr>
              <p:nvPr/>
            </p:nvSpPr>
            <p:spPr bwMode="auto">
              <a:xfrm>
                <a:off x="3540" y="2100"/>
                <a:ext cx="63" cy="62"/>
              </a:xfrm>
              <a:prstGeom prst="ellipse">
                <a:avLst/>
              </a:prstGeom>
              <a:solidFill>
                <a:srgbClr val="FFFFCC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 i="1"/>
              </a:p>
            </p:txBody>
          </p:sp>
          <p:sp>
            <p:nvSpPr>
              <p:cNvPr id="116" name="Oval 17"/>
              <p:cNvSpPr>
                <a:spLocks noChangeArrowheads="1"/>
              </p:cNvSpPr>
              <p:nvPr/>
            </p:nvSpPr>
            <p:spPr bwMode="auto">
              <a:xfrm>
                <a:off x="2821" y="1914"/>
                <a:ext cx="67" cy="68"/>
              </a:xfrm>
              <a:prstGeom prst="ellipse">
                <a:avLst/>
              </a:prstGeom>
              <a:solidFill>
                <a:srgbClr val="FFFFCC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 i="1"/>
              </a:p>
            </p:txBody>
          </p:sp>
        </p:grpSp>
        <p:sp>
          <p:nvSpPr>
            <p:cNvPr id="110" name="Text Box 76"/>
            <p:cNvSpPr txBox="1">
              <a:spLocks noChangeArrowheads="1"/>
            </p:cNvSpPr>
            <p:nvPr/>
          </p:nvSpPr>
          <p:spPr bwMode="auto">
            <a:xfrm>
              <a:off x="3526" y="2055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黑体" panose="02010609060101010101" pitchFamily="2" charset="-122"/>
                </a:rPr>
                <a:t>k'</a:t>
              </a:r>
              <a:endParaRPr lang="en-US" altLang="zh-CN" sz="2800" i="1" dirty="0">
                <a:latin typeface="黑体" panose="02010609060101010101" pitchFamily="2" charset="-122"/>
              </a:endParaRPr>
            </a:p>
          </p:txBody>
        </p:sp>
        <p:sp>
          <p:nvSpPr>
            <p:cNvPr id="111" name="Text Box 75"/>
            <p:cNvSpPr txBox="1">
              <a:spLocks noChangeArrowheads="1"/>
            </p:cNvSpPr>
            <p:nvPr/>
          </p:nvSpPr>
          <p:spPr bwMode="auto">
            <a:xfrm>
              <a:off x="3258" y="1192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黑体" panose="02010609060101010101" pitchFamily="2" charset="-122"/>
                </a:rPr>
                <a:t>n'</a:t>
              </a:r>
              <a:endParaRPr lang="en-US" altLang="zh-CN" sz="2800" i="1" dirty="0">
                <a:latin typeface="黑体" panose="02010609060101010101" pitchFamily="2" charset="-122"/>
              </a:endParaRPr>
            </a:p>
          </p:txBody>
        </p:sp>
      </p:grpSp>
      <p:grpSp>
        <p:nvGrpSpPr>
          <p:cNvPr id="117" name="Group 150"/>
          <p:cNvGrpSpPr/>
          <p:nvPr/>
        </p:nvGrpSpPr>
        <p:grpSpPr bwMode="auto">
          <a:xfrm>
            <a:off x="5889867" y="3293431"/>
            <a:ext cx="57150" cy="1147763"/>
            <a:chOff x="3815" y="2134"/>
            <a:chExt cx="36" cy="723"/>
          </a:xfrm>
        </p:grpSpPr>
        <p:sp>
          <p:nvSpPr>
            <p:cNvPr id="118" name="Line 111"/>
            <p:cNvSpPr>
              <a:spLocks noChangeShapeType="1"/>
            </p:cNvSpPr>
            <p:nvPr/>
          </p:nvSpPr>
          <p:spPr bwMode="auto">
            <a:xfrm>
              <a:off x="3834" y="2134"/>
              <a:ext cx="0" cy="7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AutoShape 148"/>
            <p:cNvSpPr>
              <a:spLocks noChangeArrowheads="1"/>
            </p:cNvSpPr>
            <p:nvPr/>
          </p:nvSpPr>
          <p:spPr bwMode="auto">
            <a:xfrm flipV="1">
              <a:off x="3815" y="2536"/>
              <a:ext cx="36" cy="128"/>
            </a:xfrm>
            <a:prstGeom prst="triangle">
              <a:avLst>
                <a:gd name="adj" fmla="val 50000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 i="1"/>
            </a:p>
          </p:txBody>
        </p:sp>
      </p:grpSp>
      <p:sp>
        <p:nvSpPr>
          <p:cNvPr id="120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棱锥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棱锥面上取线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2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2339102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一、平面基本体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utoUpdateAnimBg="0" build="p"/>
      <p:bldP spid="10" grpId="0" autoUpdateAnimBg="0"/>
      <p:bldP spid="12" grpId="0" autoUpdateAnimBg="0"/>
      <p:bldP spid="13" grpId="0"/>
      <p:bldP spid="25" grpId="0" animBg="1"/>
      <p:bldP spid="26" grpId="0" autoUpdateAnimBg="0" build="p"/>
      <p:bldP spid="27" grpId="0" advAuto="0" autoUpdateAnimBg="0" build="p"/>
      <p:bldP spid="28" grpId="0" animBg="1"/>
      <p:bldP spid="55" grpId="0" animBg="1"/>
      <p:bldP spid="56" grpId="0" advAuto="0" autoUpdateAnimBg="0" build="p"/>
      <p:bldP spid="57" grpId="0" animBg="1"/>
      <p:bldP spid="58" grpId="0" advAuto="0" autoUpdateAnimBg="0" build="p"/>
      <p:bldP spid="59" grpId="0" advAuto="0" autoUpdateAnimBg="0" build="p"/>
      <p:bldP spid="60" grpId="0" animBg="1"/>
      <p:bldP spid="61" grpId="0" animBg="1"/>
      <p:bldP spid="80" grpId="0" advAuto="0" autoUpdateAnimBg="0" build="p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/>
      <p:bldP spid="9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52"/>
          <p:cNvSpPr txBox="1">
            <a:spLocks noChangeArrowheads="1"/>
          </p:cNvSpPr>
          <p:nvPr/>
        </p:nvSpPr>
        <p:spPr bwMode="auto">
          <a:xfrm>
            <a:off x="697281" y="1275316"/>
            <a:ext cx="278794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平面体投影的特点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331640" y="1707364"/>
            <a:ext cx="4472062" cy="710964"/>
            <a:chOff x="1331640" y="1707364"/>
            <a:chExt cx="4472062" cy="710964"/>
          </a:xfrm>
        </p:grpSpPr>
        <p:sp>
          <p:nvSpPr>
            <p:cNvPr id="3" name="Text Box 52"/>
            <p:cNvSpPr txBox="1">
              <a:spLocks noChangeArrowheads="1"/>
            </p:cNvSpPr>
            <p:nvPr/>
          </p:nvSpPr>
          <p:spPr bwMode="auto">
            <a:xfrm>
              <a:off x="1331640" y="1707364"/>
              <a:ext cx="258275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各投影之间关系：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25" name="Text Box 52"/>
            <p:cNvSpPr txBox="1">
              <a:spLocks noChangeArrowheads="1"/>
            </p:cNvSpPr>
            <p:nvPr/>
          </p:nvSpPr>
          <p:spPr bwMode="auto">
            <a:xfrm>
              <a:off x="3684211" y="1710442"/>
              <a:ext cx="211949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(1)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“三等”关系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(2)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方位对应关系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331640" y="2559051"/>
            <a:ext cx="4728542" cy="707886"/>
            <a:chOff x="1331640" y="2559051"/>
            <a:chExt cx="4728542" cy="707886"/>
          </a:xfrm>
        </p:grpSpPr>
        <p:sp>
          <p:nvSpPr>
            <p:cNvPr id="31" name="Text Box 52"/>
            <p:cNvSpPr txBox="1">
              <a:spLocks noChangeArrowheads="1"/>
            </p:cNvSpPr>
            <p:nvPr/>
          </p:nvSpPr>
          <p:spPr bwMode="auto">
            <a:xfrm>
              <a:off x="1331640" y="2559051"/>
              <a:ext cx="232627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各表面的投影：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32" name="Text Box 52"/>
            <p:cNvSpPr txBox="1">
              <a:spLocks noChangeArrowheads="1"/>
            </p:cNvSpPr>
            <p:nvPr/>
          </p:nvSpPr>
          <p:spPr bwMode="auto">
            <a:xfrm>
              <a:off x="3684211" y="2559051"/>
              <a:ext cx="237597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(1)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积聚为直线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(2)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类似图形、实形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97281" y="3504382"/>
            <a:ext cx="3730078" cy="795270"/>
            <a:chOff x="697281" y="3504382"/>
            <a:chExt cx="3730078" cy="795270"/>
          </a:xfrm>
        </p:grpSpPr>
        <p:sp>
          <p:nvSpPr>
            <p:cNvPr id="33" name="Text Box 52"/>
            <p:cNvSpPr txBox="1">
              <a:spLocks noChangeArrowheads="1"/>
            </p:cNvSpPr>
            <p:nvPr/>
          </p:nvSpPr>
          <p:spPr bwMode="auto">
            <a:xfrm>
              <a:off x="697281" y="3504382"/>
              <a:ext cx="2505814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n"/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平面体表面取点</a:t>
              </a:r>
              <a:endPara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34" name="Text Box 52"/>
            <p:cNvSpPr txBox="1">
              <a:spLocks noChangeArrowheads="1"/>
            </p:cNvSpPr>
            <p:nvPr/>
          </p:nvSpPr>
          <p:spPr bwMode="auto">
            <a:xfrm>
              <a:off x="1331640" y="3899542"/>
              <a:ext cx="30957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基本方法：平面内取点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5" name="Text Box 52"/>
          <p:cNvSpPr txBox="1">
            <a:spLocks noChangeArrowheads="1"/>
          </p:cNvSpPr>
          <p:nvPr/>
        </p:nvSpPr>
        <p:spPr bwMode="auto">
          <a:xfrm>
            <a:off x="697281" y="4564659"/>
            <a:ext cx="22236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作图检查要点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36" name="Text Box 52"/>
          <p:cNvSpPr txBox="1">
            <a:spLocks noChangeArrowheads="1"/>
          </p:cNvSpPr>
          <p:nvPr/>
        </p:nvSpPr>
        <p:spPr bwMode="auto">
          <a:xfrm>
            <a:off x="1331640" y="5000689"/>
            <a:ext cx="4410182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投影面垂直面的投影特性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类似性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 eaLnBrk="1" hangingPunct="1"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“三等”关系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整体、局部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 eaLnBrk="1" hangingPunct="1"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是否漏线、可见性判断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" grpId="0"/>
      <p:bldP spid="3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329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圆柱的组成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97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Box 82"/>
          <p:cNvSpPr txBox="1">
            <a:spLocks noChangeArrowheads="1"/>
          </p:cNvSpPr>
          <p:nvPr/>
        </p:nvSpPr>
        <p:spPr bwMode="auto">
          <a:xfrm>
            <a:off x="611076" y="2813056"/>
            <a:ext cx="3835400" cy="87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由两个圆形底面和一个圆柱面构成。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AutoShape 5"/>
          <p:cNvSpPr>
            <a:spLocks noChangeArrowheads="1"/>
          </p:cNvSpPr>
          <p:nvPr/>
        </p:nvSpPr>
        <p:spPr bwMode="auto">
          <a:xfrm>
            <a:off x="5932352" y="2859905"/>
            <a:ext cx="1530350" cy="2049463"/>
          </a:xfrm>
          <a:prstGeom prst="can">
            <a:avLst>
              <a:gd name="adj" fmla="val 3348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  <a:rou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5295641" y="2003894"/>
            <a:ext cx="1990849" cy="3696050"/>
            <a:chOff x="5735489" y="1038348"/>
            <a:chExt cx="1990849" cy="3696050"/>
          </a:xfrm>
        </p:grpSpPr>
        <p:sp>
          <p:nvSpPr>
            <p:cNvPr id="104" name="Line 6"/>
            <p:cNvSpPr>
              <a:spLocks noChangeShapeType="1"/>
            </p:cNvSpPr>
            <p:nvPr/>
          </p:nvSpPr>
          <p:spPr bwMode="auto">
            <a:xfrm flipV="1">
              <a:off x="7123088" y="1667347"/>
              <a:ext cx="0" cy="490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Line 7"/>
            <p:cNvSpPr>
              <a:spLocks noChangeShapeType="1"/>
            </p:cNvSpPr>
            <p:nvPr/>
          </p:nvSpPr>
          <p:spPr bwMode="auto">
            <a:xfrm>
              <a:off x="7180238" y="3943823"/>
              <a:ext cx="0" cy="6080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Text Box 8"/>
            <p:cNvSpPr txBox="1">
              <a:spLocks noChangeArrowheads="1"/>
            </p:cNvSpPr>
            <p:nvPr/>
          </p:nvSpPr>
          <p:spPr bwMode="auto">
            <a:xfrm>
              <a:off x="7048475" y="1376834"/>
              <a:ext cx="3978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 spc="-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lang="en-US" altLang="zh-CN" sz="2400" b="1" i="1" spc="-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Text Box 9"/>
            <p:cNvSpPr txBox="1">
              <a:spLocks noChangeArrowheads="1"/>
            </p:cNvSpPr>
            <p:nvPr/>
          </p:nvSpPr>
          <p:spPr bwMode="auto">
            <a:xfrm>
              <a:off x="7116738" y="4272435"/>
              <a:ext cx="609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en-US" altLang="zh-CN" sz="16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</a:t>
              </a:r>
              <a:endParaRPr lang="en-US" altLang="zh-CN" sz="2400" b="1" i="1" spc="-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5735489" y="1038348"/>
              <a:ext cx="1350962" cy="701676"/>
              <a:chOff x="5386388" y="219075"/>
              <a:chExt cx="1350962" cy="701676"/>
            </a:xfrm>
          </p:grpSpPr>
          <p:sp>
            <p:nvSpPr>
              <p:cNvPr id="109" name="Text Box 76"/>
              <p:cNvSpPr txBox="1">
                <a:spLocks noChangeArrowheads="1"/>
              </p:cNvSpPr>
              <p:nvPr/>
            </p:nvSpPr>
            <p:spPr bwMode="auto">
              <a:xfrm>
                <a:off x="5386388" y="219075"/>
                <a:ext cx="1058862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 eaLnBrk="0" hangingPunct="0">
                  <a:defRPr sz="2000" b="1">
                    <a:latin typeface="黑体" panose="02010609060101010101" pitchFamily="2" charset="-122"/>
                    <a:ea typeface="黑体" panose="02010609060101010101" pitchFamily="2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轴线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79"/>
              <p:cNvSpPr>
                <a:spLocks noChangeShapeType="1"/>
              </p:cNvSpPr>
              <p:nvPr/>
            </p:nvSpPr>
            <p:spPr bwMode="auto">
              <a:xfrm>
                <a:off x="6084168" y="596961"/>
                <a:ext cx="653182" cy="32379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11" name="Text Box 11"/>
          <p:cNvSpPr txBox="1">
            <a:spLocks noChangeArrowheads="1"/>
          </p:cNvSpPr>
          <p:nvPr/>
        </p:nvSpPr>
        <p:spPr bwMode="auto">
          <a:xfrm>
            <a:off x="648705" y="3878893"/>
            <a:ext cx="3800475" cy="87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24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圆柱面由母线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AA1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绕与之平行的轴线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OO1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旋转而成。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Rectangle 47"/>
          <p:cNvSpPr>
            <a:spLocks noChangeArrowheads="1"/>
          </p:cNvSpPr>
          <p:nvPr/>
        </p:nvSpPr>
        <p:spPr bwMode="auto">
          <a:xfrm>
            <a:off x="593589" y="4944730"/>
            <a:ext cx="3821112" cy="87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母线在圆柱表面的任一位置，称为圆柱面的素线。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869422" y="2954386"/>
            <a:ext cx="2023677" cy="2258989"/>
            <a:chOff x="5309270" y="1988840"/>
            <a:chExt cx="2023677" cy="2258989"/>
          </a:xfrm>
        </p:grpSpPr>
        <p:grpSp>
          <p:nvGrpSpPr>
            <p:cNvPr id="114" name="组合 113"/>
            <p:cNvGrpSpPr/>
            <p:nvPr/>
          </p:nvGrpSpPr>
          <p:grpSpPr>
            <a:xfrm>
              <a:off x="5309270" y="1988840"/>
              <a:ext cx="1655980" cy="2258989"/>
              <a:chOff x="5309270" y="1988840"/>
              <a:chExt cx="1655980" cy="2258989"/>
            </a:xfrm>
          </p:grpSpPr>
          <p:grpSp>
            <p:nvGrpSpPr>
              <p:cNvPr id="116" name="组合 115"/>
              <p:cNvGrpSpPr/>
              <p:nvPr/>
            </p:nvGrpSpPr>
            <p:grpSpPr>
              <a:xfrm>
                <a:off x="5309270" y="2771057"/>
                <a:ext cx="1350962" cy="701676"/>
                <a:chOff x="5386388" y="219075"/>
                <a:chExt cx="1350962" cy="701676"/>
              </a:xfrm>
            </p:grpSpPr>
            <p:sp>
              <p:nvSpPr>
                <p:cNvPr id="12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5386388" y="219075"/>
                  <a:ext cx="1058862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algn="ctr" eaLnBrk="0" hangingPunct="0">
                    <a:defRPr sz="2000" b="1">
                      <a:latin typeface="黑体" panose="02010609060101010101" pitchFamily="2" charset="-122"/>
                      <a:ea typeface="黑体" panose="0201060906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母线</a:t>
                  </a: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1" name="Line 79"/>
                <p:cNvSpPr>
                  <a:spLocks noChangeShapeType="1"/>
                </p:cNvSpPr>
                <p:nvPr/>
              </p:nvSpPr>
              <p:spPr bwMode="auto">
                <a:xfrm>
                  <a:off x="6084168" y="596961"/>
                  <a:ext cx="653182" cy="32379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7" name="Line 26"/>
              <p:cNvSpPr>
                <a:spLocks noChangeShapeType="1"/>
              </p:cNvSpPr>
              <p:nvPr/>
            </p:nvSpPr>
            <p:spPr bwMode="auto">
              <a:xfrm>
                <a:off x="6660232" y="2347595"/>
                <a:ext cx="0" cy="1548601"/>
              </a:xfrm>
              <a:prstGeom prst="line">
                <a:avLst/>
              </a:prstGeom>
              <a:noFill/>
              <a:ln w="12700">
                <a:solidFill>
                  <a:srgbClr val="FFC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8"/>
              <p:cNvSpPr txBox="1">
                <a:spLocks noChangeArrowheads="1"/>
              </p:cNvSpPr>
              <p:nvPr/>
            </p:nvSpPr>
            <p:spPr bwMode="auto">
              <a:xfrm>
                <a:off x="6588224" y="1988840"/>
                <a:ext cx="37702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 spc="-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en-US" altLang="zh-CN" sz="2400" b="1" i="1" spc="-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Text Box 9"/>
              <p:cNvSpPr txBox="1">
                <a:spLocks noChangeArrowheads="1"/>
              </p:cNvSpPr>
              <p:nvPr/>
            </p:nvSpPr>
            <p:spPr bwMode="auto">
              <a:xfrm>
                <a:off x="6278059" y="3785866"/>
                <a:ext cx="609600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 spc="-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600" b="1" i="1" spc="-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lang="en-US" altLang="zh-CN" sz="24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5" name="弧形 114"/>
            <p:cNvSpPr/>
            <p:nvPr/>
          </p:nvSpPr>
          <p:spPr>
            <a:xfrm rot="9995817">
              <a:off x="6479334" y="3211473"/>
              <a:ext cx="853613" cy="552335"/>
            </a:xfrm>
            <a:prstGeom prst="arc">
              <a:avLst/>
            </a:prstGeom>
            <a:ln w="15875">
              <a:solidFill>
                <a:srgbClr val="FF0000"/>
              </a:solidFill>
              <a:head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6924350" y="2256535"/>
            <a:ext cx="1548491" cy="808067"/>
            <a:chOff x="7370762" y="263496"/>
            <a:chExt cx="1548491" cy="808067"/>
          </a:xfrm>
        </p:grpSpPr>
        <p:sp>
          <p:nvSpPr>
            <p:cNvPr id="123" name="Text Box 74"/>
            <p:cNvSpPr txBox="1">
              <a:spLocks noChangeArrowheads="1"/>
            </p:cNvSpPr>
            <p:nvPr/>
          </p:nvSpPr>
          <p:spPr bwMode="auto">
            <a:xfrm>
              <a:off x="7850865" y="263496"/>
              <a:ext cx="1068388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eaLnBrk="0" hangingPunct="0">
                <a:defRPr sz="2000" b="1">
                  <a:latin typeface="黑体" panose="02010609060101010101" pitchFamily="2" charset="-122"/>
                  <a:ea typeface="黑体" panose="02010609060101010101" pitchFamily="2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底面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77"/>
            <p:cNvSpPr>
              <a:spLocks noChangeShapeType="1"/>
            </p:cNvSpPr>
            <p:nvPr/>
          </p:nvSpPr>
          <p:spPr bwMode="auto">
            <a:xfrm flipH="1">
              <a:off x="7370762" y="463551"/>
              <a:ext cx="708936" cy="608012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6997143" y="3256604"/>
            <a:ext cx="1895185" cy="1710802"/>
            <a:chOff x="7436991" y="2291058"/>
            <a:chExt cx="1895185" cy="1710802"/>
          </a:xfrm>
        </p:grpSpPr>
        <p:grpSp>
          <p:nvGrpSpPr>
            <p:cNvPr id="126" name="组合 125"/>
            <p:cNvGrpSpPr/>
            <p:nvPr/>
          </p:nvGrpSpPr>
          <p:grpSpPr>
            <a:xfrm>
              <a:off x="7718666" y="3198495"/>
              <a:ext cx="1613510" cy="803365"/>
              <a:chOff x="7768316" y="1646178"/>
              <a:chExt cx="1613510" cy="803365"/>
            </a:xfrm>
          </p:grpSpPr>
          <p:sp>
            <p:nvSpPr>
              <p:cNvPr id="130" name="Text Box 73"/>
              <p:cNvSpPr txBox="1">
                <a:spLocks noChangeArrowheads="1"/>
              </p:cNvSpPr>
              <p:nvPr/>
            </p:nvSpPr>
            <p:spPr bwMode="auto">
              <a:xfrm>
                <a:off x="7967364" y="2049433"/>
                <a:ext cx="1414462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 eaLnBrk="0" hangingPunct="0">
                  <a:defRPr sz="2000" b="1">
                    <a:latin typeface="黑体" panose="02010609060101010101" pitchFamily="2" charset="-122"/>
                    <a:ea typeface="黑体" panose="02010609060101010101" pitchFamily="2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素线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Line 78"/>
              <p:cNvSpPr>
                <a:spLocks noChangeShapeType="1"/>
              </p:cNvSpPr>
              <p:nvPr/>
            </p:nvSpPr>
            <p:spPr bwMode="auto">
              <a:xfrm flipH="1" flipV="1">
                <a:off x="7768316" y="1646178"/>
                <a:ext cx="656760" cy="50171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7" name="Line 26"/>
            <p:cNvSpPr>
              <a:spLocks noChangeShapeType="1"/>
            </p:cNvSpPr>
            <p:nvPr/>
          </p:nvSpPr>
          <p:spPr bwMode="auto">
            <a:xfrm>
              <a:off x="7524328" y="2371150"/>
              <a:ext cx="0" cy="1548601"/>
            </a:xfrm>
            <a:prstGeom prst="line">
              <a:avLst/>
            </a:prstGeom>
            <a:noFill/>
            <a:ln w="12700">
              <a:solidFill>
                <a:srgbClr val="FFC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26"/>
            <p:cNvSpPr>
              <a:spLocks noChangeShapeType="1"/>
            </p:cNvSpPr>
            <p:nvPr/>
          </p:nvSpPr>
          <p:spPr bwMode="auto">
            <a:xfrm>
              <a:off x="7436991" y="2390200"/>
              <a:ext cx="0" cy="1548601"/>
            </a:xfrm>
            <a:prstGeom prst="line">
              <a:avLst/>
            </a:prstGeom>
            <a:noFill/>
            <a:ln w="12700">
              <a:solidFill>
                <a:srgbClr val="FFC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6"/>
            <p:cNvSpPr>
              <a:spLocks noChangeShapeType="1"/>
            </p:cNvSpPr>
            <p:nvPr/>
          </p:nvSpPr>
          <p:spPr bwMode="auto">
            <a:xfrm>
              <a:off x="7726157" y="2291058"/>
              <a:ext cx="0" cy="1548601"/>
            </a:xfrm>
            <a:prstGeom prst="line">
              <a:avLst/>
            </a:prstGeom>
            <a:noFill/>
            <a:ln w="12700">
              <a:solidFill>
                <a:srgbClr val="FFC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5628042" y="4567296"/>
            <a:ext cx="1161534" cy="1146920"/>
            <a:chOff x="5575814" y="1666052"/>
            <a:chExt cx="1161534" cy="1146920"/>
          </a:xfrm>
        </p:grpSpPr>
        <p:sp>
          <p:nvSpPr>
            <p:cNvPr id="133" name="Text Box 75"/>
            <p:cNvSpPr txBox="1">
              <a:spLocks noChangeArrowheads="1"/>
            </p:cNvSpPr>
            <p:nvPr/>
          </p:nvSpPr>
          <p:spPr bwMode="auto">
            <a:xfrm>
              <a:off x="5575814" y="2412862"/>
              <a:ext cx="1068387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eaLnBrk="0" hangingPunct="0">
                <a:defRPr sz="2000" b="1">
                  <a:latin typeface="黑体" panose="02010609060101010101" pitchFamily="2" charset="-122"/>
                  <a:ea typeface="黑体" panose="02010609060101010101" pitchFamily="2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圆柱面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80"/>
            <p:cNvSpPr>
              <a:spLocks noChangeShapeType="1"/>
            </p:cNvSpPr>
            <p:nvPr/>
          </p:nvSpPr>
          <p:spPr bwMode="auto">
            <a:xfrm flipH="1">
              <a:off x="6090781" y="1666052"/>
              <a:ext cx="646567" cy="74681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11" grpId="0"/>
      <p:bldP spid="1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15865" y="2969774"/>
            <a:ext cx="3498850" cy="3378200"/>
            <a:chOff x="3260535" y="1653392"/>
            <a:chExt cx="3498850" cy="3378200"/>
          </a:xfrm>
        </p:grpSpPr>
        <p:grpSp>
          <p:nvGrpSpPr>
            <p:cNvPr id="3" name="组合 2"/>
            <p:cNvGrpSpPr/>
            <p:nvPr/>
          </p:nvGrpSpPr>
          <p:grpSpPr>
            <a:xfrm>
              <a:off x="3260535" y="1653392"/>
              <a:ext cx="3498850" cy="3378200"/>
              <a:chOff x="3260535" y="1653392"/>
              <a:chExt cx="3498850" cy="3378200"/>
            </a:xfrm>
          </p:grpSpPr>
          <p:grpSp>
            <p:nvGrpSpPr>
              <p:cNvPr id="8" name="Group 2"/>
              <p:cNvGrpSpPr/>
              <p:nvPr/>
            </p:nvGrpSpPr>
            <p:grpSpPr bwMode="auto">
              <a:xfrm>
                <a:off x="3260535" y="1653392"/>
                <a:ext cx="3498850" cy="3378200"/>
                <a:chOff x="219" y="1236"/>
                <a:chExt cx="2204" cy="2128"/>
              </a:xfrm>
            </p:grpSpPr>
            <p:grpSp>
              <p:nvGrpSpPr>
                <p:cNvPr id="15" name="Group 3"/>
                <p:cNvGrpSpPr/>
                <p:nvPr/>
              </p:nvGrpSpPr>
              <p:grpSpPr bwMode="auto">
                <a:xfrm>
                  <a:off x="219" y="1236"/>
                  <a:ext cx="2204" cy="2105"/>
                  <a:chOff x="219" y="1236"/>
                  <a:chExt cx="2204" cy="2105"/>
                </a:xfrm>
              </p:grpSpPr>
              <p:sp>
                <p:nvSpPr>
                  <p:cNvPr id="17" name="Freeform 4"/>
                  <p:cNvSpPr/>
                  <p:nvPr/>
                </p:nvSpPr>
                <p:spPr bwMode="auto">
                  <a:xfrm>
                    <a:off x="263" y="2719"/>
                    <a:ext cx="2147" cy="622"/>
                  </a:xfrm>
                  <a:custGeom>
                    <a:avLst/>
                    <a:gdLst>
                      <a:gd name="T0" fmla="*/ 1125 w 2147"/>
                      <a:gd name="T1" fmla="*/ 0 h 622"/>
                      <a:gd name="T2" fmla="*/ 0 w 2147"/>
                      <a:gd name="T3" fmla="*/ 415 h 622"/>
                      <a:gd name="T4" fmla="*/ 1058 w 2147"/>
                      <a:gd name="T5" fmla="*/ 622 h 622"/>
                      <a:gd name="T6" fmla="*/ 2147 w 2147"/>
                      <a:gd name="T7" fmla="*/ 255 h 622"/>
                      <a:gd name="T8" fmla="*/ 1125 w 2147"/>
                      <a:gd name="T9" fmla="*/ 0 h 62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147" h="622">
                        <a:moveTo>
                          <a:pt x="1125" y="0"/>
                        </a:moveTo>
                        <a:lnTo>
                          <a:pt x="0" y="415"/>
                        </a:lnTo>
                        <a:lnTo>
                          <a:pt x="1058" y="622"/>
                        </a:lnTo>
                        <a:lnTo>
                          <a:pt x="2147" y="255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rgbClr val="CCECFF">
                      <a:alpha val="50195"/>
                    </a:srgbClr>
                  </a:solidFill>
                  <a:ln w="28575" cmpd="sng">
                    <a:solidFill>
                      <a:schemeClr val="accent5">
                        <a:lumMod val="75000"/>
                      </a:schemeClr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" name="Freeform 5"/>
                  <p:cNvSpPr/>
                  <p:nvPr/>
                </p:nvSpPr>
                <p:spPr bwMode="auto">
                  <a:xfrm>
                    <a:off x="1367" y="1238"/>
                    <a:ext cx="1056" cy="1740"/>
                  </a:xfrm>
                  <a:custGeom>
                    <a:avLst/>
                    <a:gdLst>
                      <a:gd name="T0" fmla="*/ 0 w 1056"/>
                      <a:gd name="T1" fmla="*/ 0 h 2156"/>
                      <a:gd name="T2" fmla="*/ 0 w 1056"/>
                      <a:gd name="T3" fmla="*/ 142 h 2156"/>
                      <a:gd name="T4" fmla="*/ 1056 w 1056"/>
                      <a:gd name="T5" fmla="*/ 170 h 2156"/>
                      <a:gd name="T6" fmla="*/ 1056 w 1056"/>
                      <a:gd name="T7" fmla="*/ 27 h 2156"/>
                      <a:gd name="T8" fmla="*/ 0 w 1056"/>
                      <a:gd name="T9" fmla="*/ 0 h 21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connsiteX0" fmla="*/ 38 w 10000"/>
                      <a:gd name="connsiteY0" fmla="*/ 0 h 10011"/>
                      <a:gd name="connsiteX1" fmla="*/ 0 w 10000"/>
                      <a:gd name="connsiteY1" fmla="*/ 8411 h 10011"/>
                      <a:gd name="connsiteX2" fmla="*/ 10000 w 10000"/>
                      <a:gd name="connsiteY2" fmla="*/ 10011 h 10011"/>
                      <a:gd name="connsiteX3" fmla="*/ 10000 w 10000"/>
                      <a:gd name="connsiteY3" fmla="*/ 1611 h 10011"/>
                      <a:gd name="connsiteX4" fmla="*/ 38 w 10000"/>
                      <a:gd name="connsiteY4" fmla="*/ 0 h 10011"/>
                      <a:gd name="connsiteX0-1" fmla="*/ 38 w 10000"/>
                      <a:gd name="connsiteY0-2" fmla="*/ 0 h 9977"/>
                      <a:gd name="connsiteX1-3" fmla="*/ 0 w 10000"/>
                      <a:gd name="connsiteY1-4" fmla="*/ 8377 h 9977"/>
                      <a:gd name="connsiteX2-5" fmla="*/ 10000 w 10000"/>
                      <a:gd name="connsiteY2-6" fmla="*/ 9977 h 9977"/>
                      <a:gd name="connsiteX3-7" fmla="*/ 10000 w 10000"/>
                      <a:gd name="connsiteY3-8" fmla="*/ 1577 h 9977"/>
                      <a:gd name="connsiteX4-9" fmla="*/ 38 w 10000"/>
                      <a:gd name="connsiteY4-10" fmla="*/ 0 h 9977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10000" h="9977">
                        <a:moveTo>
                          <a:pt x="38" y="0"/>
                        </a:moveTo>
                        <a:cubicBezTo>
                          <a:pt x="25" y="2804"/>
                          <a:pt x="13" y="5573"/>
                          <a:pt x="0" y="8377"/>
                        </a:cubicBezTo>
                        <a:lnTo>
                          <a:pt x="10000" y="9977"/>
                        </a:lnTo>
                        <a:lnTo>
                          <a:pt x="10000" y="1577"/>
                        </a:lnTo>
                        <a:lnTo>
                          <a:pt x="38" y="0"/>
                        </a:lnTo>
                        <a:close/>
                      </a:path>
                    </a:pathLst>
                  </a:custGeom>
                  <a:solidFill>
                    <a:srgbClr val="CCECFF">
                      <a:alpha val="50195"/>
                    </a:srgbClr>
                  </a:solidFill>
                  <a:ln w="28575" cmpd="sng">
                    <a:solidFill>
                      <a:schemeClr val="accent5">
                        <a:lumMod val="75000"/>
                      </a:schemeClr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" name="Freeform 6"/>
                  <p:cNvSpPr/>
                  <p:nvPr/>
                </p:nvSpPr>
                <p:spPr bwMode="auto">
                  <a:xfrm>
                    <a:off x="255" y="1236"/>
                    <a:ext cx="1123" cy="1899"/>
                  </a:xfrm>
                  <a:custGeom>
                    <a:avLst/>
                    <a:gdLst>
                      <a:gd name="T0" fmla="*/ 0 w 1123"/>
                      <a:gd name="T1" fmla="*/ 384 h 1899"/>
                      <a:gd name="T2" fmla="*/ 1123 w 1123"/>
                      <a:gd name="T3" fmla="*/ 0 h 1899"/>
                      <a:gd name="T4" fmla="*/ 1123 w 1123"/>
                      <a:gd name="T5" fmla="*/ 1467 h 1899"/>
                      <a:gd name="T6" fmla="*/ 1 w 1123"/>
                      <a:gd name="T7" fmla="*/ 1899 h 1899"/>
                      <a:gd name="T8" fmla="*/ 0 w 1123"/>
                      <a:gd name="T9" fmla="*/ 384 h 189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123" h="1899">
                        <a:moveTo>
                          <a:pt x="0" y="384"/>
                        </a:moveTo>
                        <a:lnTo>
                          <a:pt x="1123" y="0"/>
                        </a:lnTo>
                        <a:lnTo>
                          <a:pt x="1123" y="1467"/>
                        </a:lnTo>
                        <a:lnTo>
                          <a:pt x="1" y="1899"/>
                        </a:lnTo>
                        <a:lnTo>
                          <a:pt x="0" y="384"/>
                        </a:lnTo>
                        <a:close/>
                      </a:path>
                    </a:pathLst>
                  </a:custGeom>
                  <a:solidFill>
                    <a:srgbClr val="CCECFF">
                      <a:alpha val="50195"/>
                    </a:srgbClr>
                  </a:solidFill>
                  <a:ln w="28575" cmpd="sng">
                    <a:solidFill>
                      <a:schemeClr val="accent5">
                        <a:lumMod val="75000"/>
                      </a:schemeClr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9" y="1555"/>
                    <a:ext cx="267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perspectiveContrastingRightFacing"/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defPPr>
                      <a:defRPr lang="zh-CN"/>
                    </a:defPPr>
                    <a:lvl1pPr eaLnBrk="1" hangingPunct="1">
                      <a:defRPr sz="3200" b="1">
                        <a:solidFill>
                          <a:srgbClr val="000066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ISOCPEUR" panose="020B0604020202020204" pitchFamily="34" charset="0"/>
                        <a:ea typeface="隶书" panose="02010509060101010101" pitchFamily="49" charset="-122"/>
                      </a:defRPr>
                    </a:lvl1pPr>
                  </a:lstStyle>
                  <a:p>
                    <a:pPr>
                      <a:defRPr/>
                    </a:pPr>
                    <a:r>
                      <a:rPr lang="en-US" altLang="zh-CN" dirty="0"/>
                      <a:t>V</a:t>
                    </a:r>
                    <a:endParaRPr lang="en-US" altLang="zh-CN" dirty="0"/>
                  </a:p>
                </p:txBody>
              </p:sp>
              <p:sp>
                <p:nvSpPr>
                  <p:cNvPr id="21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48" y="1428"/>
                    <a:ext cx="306" cy="3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scene3d>
                    <a:camera prst="isometricOffAxis2Left"/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eaLnBrk="1" hangingPunct="1">
                      <a:defRPr/>
                    </a:pPr>
                    <a:r>
                      <a:rPr lang="en-US" altLang="zh-CN" sz="3200" b="1" dirty="0">
                        <a:solidFill>
                          <a:srgbClr val="000066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ISOCPEUR" panose="020B0604020202020204" pitchFamily="34" charset="0"/>
                        <a:ea typeface="隶书" panose="02010509060101010101" pitchFamily="49" charset="-122"/>
                      </a:rPr>
                      <a:t>W</a:t>
                    </a:r>
                    <a:endParaRPr lang="en-US" altLang="zh-CN" sz="3200" b="1" dirty="0">
                      <a:solidFill>
                        <a:srgbClr val="000066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ISOCPEUR" panose="020B0604020202020204" pitchFamily="34" charset="0"/>
                      <a:ea typeface="隶书" panose="02010509060101010101" pitchFamily="49" charset="-122"/>
                    </a:endParaRPr>
                  </a:p>
                </p:txBody>
              </p:sp>
            </p:grpSp>
            <p:sp>
              <p:nvSpPr>
                <p:cNvPr id="16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37" y="2996"/>
                  <a:ext cx="250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scene3d>
                  <a:camera prst="isometricBottomDown"/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eaLnBrk="1" hangingPunct="1">
                    <a:defRPr sz="3200" b="1">
                      <a:solidFill>
                        <a:srgbClr val="000066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ISOCPEUR" panose="020B0604020202020204" pitchFamily="34" charset="0"/>
                      <a:ea typeface="隶书" panose="02010509060101010101" pitchFamily="49" charset="-122"/>
                    </a:defRPr>
                  </a:lvl1pPr>
                </a:lstStyle>
                <a:p>
                  <a:pPr>
                    <a:defRPr/>
                  </a:pPr>
                  <a:r>
                    <a:rPr lang="en-US" altLang="zh-CN" dirty="0"/>
                    <a:t>H</a:t>
                  </a:r>
                  <a:endParaRPr lang="en-US" altLang="zh-CN" dirty="0"/>
                </a:p>
              </p:txBody>
            </p:sp>
          </p:grpSp>
          <p:grpSp>
            <p:nvGrpSpPr>
              <p:cNvPr id="9" name="Group 10"/>
              <p:cNvGrpSpPr/>
              <p:nvPr/>
            </p:nvGrpSpPr>
            <p:grpSpPr bwMode="auto">
              <a:xfrm>
                <a:off x="4228910" y="1667679"/>
                <a:ext cx="1530350" cy="2968625"/>
                <a:chOff x="829" y="1245"/>
                <a:chExt cx="964" cy="1870"/>
              </a:xfrm>
            </p:grpSpPr>
            <p:sp>
              <p:nvSpPr>
                <p:cNvPr id="10" name="AutoShape 11"/>
                <p:cNvSpPr>
                  <a:spLocks noChangeArrowheads="1"/>
                </p:cNvSpPr>
                <p:nvPr/>
              </p:nvSpPr>
              <p:spPr bwMode="auto">
                <a:xfrm>
                  <a:off x="829" y="1571"/>
                  <a:ext cx="964" cy="1291"/>
                </a:xfrm>
                <a:prstGeom prst="can">
                  <a:avLst>
                    <a:gd name="adj" fmla="val 33480"/>
                  </a:avLst>
                </a:prstGeom>
                <a:gradFill rotWithShape="0">
                  <a:gsLst>
                    <a:gs pos="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0" scaled="1"/>
                </a:gradFill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12" name="Line 13"/>
                <p:cNvSpPr>
                  <a:spLocks noChangeShapeType="1"/>
                </p:cNvSpPr>
                <p:nvPr/>
              </p:nvSpPr>
              <p:spPr bwMode="auto">
                <a:xfrm>
                  <a:off x="1338" y="2862"/>
                  <a:ext cx="0" cy="1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280" y="1245"/>
                  <a:ext cx="237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b="1" i="1">
                      <a:latin typeface="ISOCPEUR" panose="020B0604020202020204" pitchFamily="34" charset="0"/>
                    </a:rPr>
                    <a:t>O</a:t>
                  </a:r>
                  <a:endParaRPr lang="en-US" altLang="zh-CN" sz="2800" b="1" i="1">
                    <a:latin typeface="ISOCPEUR" panose="020B0604020202020204" pitchFamily="34" charset="0"/>
                  </a:endParaRPr>
                </a:p>
              </p:txBody>
            </p:sp>
            <p:sp>
              <p:nvSpPr>
                <p:cNvPr id="14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287" y="2785"/>
                  <a:ext cx="237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b="1" i="1">
                      <a:latin typeface="ISOCPEUR" panose="020B0604020202020204" pitchFamily="34" charset="0"/>
                    </a:rPr>
                    <a:t>O</a:t>
                  </a:r>
                  <a:endParaRPr lang="en-US" altLang="zh-CN" sz="2800" b="1" i="1">
                    <a:latin typeface="ISOCPEUR" panose="020B0604020202020204" pitchFamily="34" charset="0"/>
                  </a:endParaRPr>
                </a:p>
              </p:txBody>
            </p:sp>
          </p:grpSp>
        </p:grpSp>
        <p:grpSp>
          <p:nvGrpSpPr>
            <p:cNvPr id="4" name="组合 104"/>
            <p:cNvGrpSpPr/>
            <p:nvPr/>
          </p:nvGrpSpPr>
          <p:grpSpPr bwMode="auto">
            <a:xfrm>
              <a:off x="4994085" y="1920092"/>
              <a:ext cx="0" cy="528637"/>
              <a:chOff x="3648077" y="548680"/>
              <a:chExt cx="0" cy="527844"/>
            </a:xfrm>
          </p:grpSpPr>
          <p:sp>
            <p:nvSpPr>
              <p:cNvPr id="5" name="Line 190"/>
              <p:cNvSpPr>
                <a:spLocks noChangeShapeType="1"/>
              </p:cNvSpPr>
              <p:nvPr/>
            </p:nvSpPr>
            <p:spPr bwMode="auto">
              <a:xfrm rot="-5400000">
                <a:off x="3547667" y="976115"/>
                <a:ext cx="20081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Line 191"/>
              <p:cNvSpPr>
                <a:spLocks noChangeShapeType="1"/>
              </p:cNvSpPr>
              <p:nvPr/>
            </p:nvSpPr>
            <p:spPr bwMode="auto">
              <a:xfrm rot="-5400000">
                <a:off x="3621883" y="803474"/>
                <a:ext cx="523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Line 192"/>
              <p:cNvSpPr>
                <a:spLocks noChangeShapeType="1"/>
              </p:cNvSpPr>
              <p:nvPr/>
            </p:nvSpPr>
            <p:spPr bwMode="auto">
              <a:xfrm rot="-5400000">
                <a:off x="3558383" y="638374"/>
                <a:ext cx="1793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/>
        </p:nvGrpSpPr>
        <p:grpSpPr bwMode="auto">
          <a:xfrm>
            <a:off x="5783177" y="3576637"/>
            <a:ext cx="0" cy="1938337"/>
            <a:chOff x="5940151" y="3429000"/>
            <a:chExt cx="1" cy="1938337"/>
          </a:xfrm>
        </p:grpSpPr>
        <p:sp>
          <p:nvSpPr>
            <p:cNvPr id="26" name="Line 188"/>
            <p:cNvSpPr>
              <a:spLocks noChangeShapeType="1"/>
            </p:cNvSpPr>
            <p:nvPr/>
          </p:nvSpPr>
          <p:spPr bwMode="auto">
            <a:xfrm rot="16200000" flipV="1">
              <a:off x="5658781" y="5085967"/>
              <a:ext cx="562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89"/>
            <p:cNvSpPr>
              <a:spLocks noChangeShapeType="1"/>
            </p:cNvSpPr>
            <p:nvPr/>
          </p:nvSpPr>
          <p:spPr bwMode="auto">
            <a:xfrm rot="-5400000">
              <a:off x="5913958" y="4692823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0"/>
            <p:cNvSpPr>
              <a:spLocks noChangeShapeType="1"/>
            </p:cNvSpPr>
            <p:nvPr/>
          </p:nvSpPr>
          <p:spPr bwMode="auto">
            <a:xfrm rot="-5400000">
              <a:off x="5737745" y="4424535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91"/>
            <p:cNvSpPr>
              <a:spLocks noChangeShapeType="1"/>
            </p:cNvSpPr>
            <p:nvPr/>
          </p:nvSpPr>
          <p:spPr bwMode="auto">
            <a:xfrm rot="-5400000">
              <a:off x="5913958" y="414989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92"/>
            <p:cNvSpPr>
              <a:spLocks noChangeShapeType="1"/>
            </p:cNvSpPr>
            <p:nvPr/>
          </p:nvSpPr>
          <p:spPr bwMode="auto">
            <a:xfrm rot="-5400000">
              <a:off x="5617406" y="3751746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 bwMode="auto">
          <a:xfrm rot="5400000">
            <a:off x="5776034" y="3537742"/>
            <a:ext cx="0" cy="1928813"/>
            <a:chOff x="5940151" y="3429000"/>
            <a:chExt cx="1" cy="1938337"/>
          </a:xfrm>
        </p:grpSpPr>
        <p:sp>
          <p:nvSpPr>
            <p:cNvPr id="32" name="Line 188"/>
            <p:cNvSpPr>
              <a:spLocks noChangeShapeType="1"/>
            </p:cNvSpPr>
            <p:nvPr/>
          </p:nvSpPr>
          <p:spPr bwMode="auto">
            <a:xfrm rot="16200000" flipV="1">
              <a:off x="5658781" y="5085967"/>
              <a:ext cx="562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89"/>
            <p:cNvSpPr>
              <a:spLocks noChangeShapeType="1"/>
            </p:cNvSpPr>
            <p:nvPr/>
          </p:nvSpPr>
          <p:spPr bwMode="auto">
            <a:xfrm rot="-5400000">
              <a:off x="5913958" y="4692823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90"/>
            <p:cNvSpPr>
              <a:spLocks noChangeShapeType="1"/>
            </p:cNvSpPr>
            <p:nvPr/>
          </p:nvSpPr>
          <p:spPr bwMode="auto">
            <a:xfrm rot="-5400000">
              <a:off x="5737745" y="4424535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91"/>
            <p:cNvSpPr>
              <a:spLocks noChangeShapeType="1"/>
            </p:cNvSpPr>
            <p:nvPr/>
          </p:nvSpPr>
          <p:spPr bwMode="auto">
            <a:xfrm rot="-5400000">
              <a:off x="5913958" y="414989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92"/>
            <p:cNvSpPr>
              <a:spLocks noChangeShapeType="1"/>
            </p:cNvSpPr>
            <p:nvPr/>
          </p:nvSpPr>
          <p:spPr bwMode="auto">
            <a:xfrm rot="-5400000">
              <a:off x="5617406" y="3751746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 bwMode="auto">
          <a:xfrm>
            <a:off x="5783177" y="1198562"/>
            <a:ext cx="0" cy="2132012"/>
            <a:chOff x="6461125" y="1076524"/>
            <a:chExt cx="1" cy="2131813"/>
          </a:xfrm>
        </p:grpSpPr>
        <p:sp>
          <p:nvSpPr>
            <p:cNvPr id="39" name="Line 188"/>
            <p:cNvSpPr>
              <a:spLocks noChangeShapeType="1"/>
            </p:cNvSpPr>
            <p:nvPr/>
          </p:nvSpPr>
          <p:spPr bwMode="auto">
            <a:xfrm rot="16200000" flipV="1">
              <a:off x="6083016" y="2830229"/>
              <a:ext cx="756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89"/>
            <p:cNvSpPr>
              <a:spLocks noChangeShapeType="1"/>
            </p:cNvSpPr>
            <p:nvPr/>
          </p:nvSpPr>
          <p:spPr bwMode="auto">
            <a:xfrm rot="-5400000">
              <a:off x="6434932" y="234034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90"/>
            <p:cNvSpPr>
              <a:spLocks noChangeShapeType="1"/>
            </p:cNvSpPr>
            <p:nvPr/>
          </p:nvSpPr>
          <p:spPr bwMode="auto">
            <a:xfrm rot="-5400000">
              <a:off x="6258719" y="2072059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91"/>
            <p:cNvSpPr>
              <a:spLocks noChangeShapeType="1"/>
            </p:cNvSpPr>
            <p:nvPr/>
          </p:nvSpPr>
          <p:spPr bwMode="auto">
            <a:xfrm rot="-5400000">
              <a:off x="6434932" y="179742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92"/>
            <p:cNvSpPr>
              <a:spLocks noChangeShapeType="1"/>
            </p:cNvSpPr>
            <p:nvPr/>
          </p:nvSpPr>
          <p:spPr bwMode="auto">
            <a:xfrm rot="-5400000">
              <a:off x="6138380" y="1399270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Oval 16"/>
          <p:cNvSpPr>
            <a:spLocks noChangeArrowheads="1"/>
          </p:cNvSpPr>
          <p:nvPr/>
        </p:nvSpPr>
        <p:spPr bwMode="auto">
          <a:xfrm>
            <a:off x="4992602" y="3727449"/>
            <a:ext cx="1570038" cy="157003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5" name="AutoShape 18"/>
          <p:cNvSpPr>
            <a:spLocks noChangeArrowheads="1"/>
          </p:cNvSpPr>
          <p:nvPr/>
        </p:nvSpPr>
        <p:spPr bwMode="auto">
          <a:xfrm>
            <a:off x="2273215" y="2668884"/>
            <a:ext cx="358775" cy="251842"/>
          </a:xfrm>
          <a:prstGeom prst="downArrow">
            <a:avLst>
              <a:gd name="adj1" fmla="val 50000"/>
              <a:gd name="adj2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6" name="AutoShape 19"/>
          <p:cNvSpPr>
            <a:spLocks noChangeArrowheads="1"/>
          </p:cNvSpPr>
          <p:nvPr/>
        </p:nvSpPr>
        <p:spPr bwMode="auto">
          <a:xfrm rot="6494034">
            <a:off x="3594425" y="4690678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7" name="AutoShape 20"/>
          <p:cNvSpPr>
            <a:spLocks noChangeArrowheads="1"/>
          </p:cNvSpPr>
          <p:nvPr/>
        </p:nvSpPr>
        <p:spPr bwMode="auto">
          <a:xfrm rot="14661409">
            <a:off x="812714" y="4877949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8" name="Line 24"/>
          <p:cNvSpPr>
            <a:spLocks noChangeShapeType="1"/>
          </p:cNvSpPr>
          <p:nvPr/>
        </p:nvSpPr>
        <p:spPr bwMode="auto">
          <a:xfrm>
            <a:off x="4983077" y="1308099"/>
            <a:ext cx="1584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25"/>
          <p:cNvSpPr>
            <a:spLocks noChangeShapeType="1"/>
          </p:cNvSpPr>
          <p:nvPr/>
        </p:nvSpPr>
        <p:spPr bwMode="auto">
          <a:xfrm>
            <a:off x="4971965" y="3213099"/>
            <a:ext cx="1590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26"/>
          <p:cNvSpPr>
            <a:spLocks noChangeShapeType="1"/>
          </p:cNvSpPr>
          <p:nvPr/>
        </p:nvSpPr>
        <p:spPr bwMode="auto">
          <a:xfrm flipV="1">
            <a:off x="4971965" y="1289049"/>
            <a:ext cx="0" cy="1941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27"/>
          <p:cNvSpPr>
            <a:spLocks noChangeShapeType="1"/>
          </p:cNvSpPr>
          <p:nvPr/>
        </p:nvSpPr>
        <p:spPr bwMode="auto">
          <a:xfrm flipV="1">
            <a:off x="6572165" y="1296987"/>
            <a:ext cx="0" cy="1933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28"/>
          <p:cNvSpPr>
            <a:spLocks noChangeShapeType="1"/>
          </p:cNvSpPr>
          <p:nvPr/>
        </p:nvSpPr>
        <p:spPr bwMode="auto">
          <a:xfrm flipV="1">
            <a:off x="5770477" y="5573712"/>
            <a:ext cx="0" cy="4222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29"/>
          <p:cNvSpPr>
            <a:spLocks noChangeShapeType="1"/>
          </p:cNvSpPr>
          <p:nvPr/>
        </p:nvSpPr>
        <p:spPr bwMode="auto">
          <a:xfrm>
            <a:off x="4335377" y="4189894"/>
            <a:ext cx="401638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31"/>
          <p:cNvSpPr>
            <a:spLocks noChangeShapeType="1"/>
          </p:cNvSpPr>
          <p:nvPr/>
        </p:nvSpPr>
        <p:spPr bwMode="auto">
          <a:xfrm>
            <a:off x="7043652" y="1304924"/>
            <a:ext cx="1576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32"/>
          <p:cNvSpPr>
            <a:spLocks noChangeShapeType="1"/>
          </p:cNvSpPr>
          <p:nvPr/>
        </p:nvSpPr>
        <p:spPr bwMode="auto">
          <a:xfrm>
            <a:off x="7042065" y="3201987"/>
            <a:ext cx="1577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 flipV="1">
            <a:off x="7051590" y="1292224"/>
            <a:ext cx="0" cy="1911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34"/>
          <p:cNvSpPr>
            <a:spLocks noChangeShapeType="1"/>
          </p:cNvSpPr>
          <p:nvPr/>
        </p:nvSpPr>
        <p:spPr bwMode="auto">
          <a:xfrm flipV="1">
            <a:off x="8597815" y="1298574"/>
            <a:ext cx="0" cy="1911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rc 35"/>
          <p:cNvSpPr/>
          <p:nvPr/>
        </p:nvSpPr>
        <p:spPr bwMode="auto">
          <a:xfrm rot="10928259">
            <a:off x="4975140" y="4476749"/>
            <a:ext cx="1584325" cy="833438"/>
          </a:xfrm>
          <a:custGeom>
            <a:avLst/>
            <a:gdLst>
              <a:gd name="T0" fmla="*/ 2147483647 w 43200"/>
              <a:gd name="T1" fmla="*/ 2147483647 h 24318"/>
              <a:gd name="T2" fmla="*/ 2147483647 w 43200"/>
              <a:gd name="T3" fmla="*/ 2147483647 h 24318"/>
              <a:gd name="T4" fmla="*/ 2147483647 w 43200"/>
              <a:gd name="T5" fmla="*/ 2147483647 h 243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4318" fill="none" extrusionOk="0">
                <a:moveTo>
                  <a:pt x="171" y="24318"/>
                </a:moveTo>
                <a:cubicBezTo>
                  <a:pt x="57" y="23416"/>
                  <a:pt x="0" y="2250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97"/>
                  <a:pt x="43199" y="21794"/>
                  <a:pt x="43198" y="21891"/>
                </a:cubicBezTo>
              </a:path>
              <a:path w="43200" h="24318" stroke="0" extrusionOk="0">
                <a:moveTo>
                  <a:pt x="171" y="24318"/>
                </a:moveTo>
                <a:cubicBezTo>
                  <a:pt x="57" y="23416"/>
                  <a:pt x="0" y="2250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97"/>
                  <a:pt x="43199" y="21794"/>
                  <a:pt x="43198" y="21891"/>
                </a:cubicBezTo>
                <a:lnTo>
                  <a:pt x="21600" y="21600"/>
                </a:lnTo>
                <a:lnTo>
                  <a:pt x="171" y="24318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Rectangle 37"/>
          <p:cNvSpPr>
            <a:spLocks noChangeArrowheads="1"/>
          </p:cNvSpPr>
          <p:nvPr/>
        </p:nvSpPr>
        <p:spPr bwMode="auto">
          <a:xfrm>
            <a:off x="4984665" y="1319212"/>
            <a:ext cx="1581150" cy="1881187"/>
          </a:xfrm>
          <a:prstGeom prst="rect">
            <a:avLst/>
          </a:prstGeom>
          <a:solidFill>
            <a:srgbClr val="FFCCFF">
              <a:alpha val="50195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2" name="Oval 39"/>
          <p:cNvSpPr>
            <a:spLocks noChangeArrowheads="1"/>
          </p:cNvSpPr>
          <p:nvPr/>
        </p:nvSpPr>
        <p:spPr bwMode="auto">
          <a:xfrm>
            <a:off x="4916402" y="4433887"/>
            <a:ext cx="128588" cy="12858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3" name="Rectangle 40"/>
          <p:cNvSpPr>
            <a:spLocks noChangeArrowheads="1"/>
          </p:cNvSpPr>
          <p:nvPr/>
        </p:nvSpPr>
        <p:spPr bwMode="auto">
          <a:xfrm>
            <a:off x="7059527" y="1319212"/>
            <a:ext cx="1522413" cy="1881187"/>
          </a:xfrm>
          <a:prstGeom prst="rect">
            <a:avLst/>
          </a:prstGeom>
          <a:solidFill>
            <a:srgbClr val="66FFCC">
              <a:alpha val="50195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5" name="Arc 42"/>
          <p:cNvSpPr/>
          <p:nvPr/>
        </p:nvSpPr>
        <p:spPr bwMode="auto">
          <a:xfrm rot="16200000">
            <a:off x="4601804" y="4102372"/>
            <a:ext cx="1589633" cy="808038"/>
          </a:xfrm>
          <a:custGeom>
            <a:avLst/>
            <a:gdLst>
              <a:gd name="T0" fmla="*/ 2147483647 w 43200"/>
              <a:gd name="T1" fmla="*/ 2147483647 h 24196"/>
              <a:gd name="T2" fmla="*/ 2147483647 w 43200"/>
              <a:gd name="T3" fmla="*/ 2147483647 h 24196"/>
              <a:gd name="T4" fmla="*/ 2147483647 w 43200"/>
              <a:gd name="T5" fmla="*/ 2147483647 h 241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4196" fill="none" extrusionOk="0">
                <a:moveTo>
                  <a:pt x="156" y="24196"/>
                </a:moveTo>
                <a:cubicBezTo>
                  <a:pt x="52" y="23334"/>
                  <a:pt x="0" y="224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34"/>
                  <a:pt x="43180" y="22668"/>
                  <a:pt x="43140" y="23202"/>
                </a:cubicBezTo>
              </a:path>
              <a:path w="43200" h="24196" stroke="0" extrusionOk="0">
                <a:moveTo>
                  <a:pt x="156" y="24196"/>
                </a:moveTo>
                <a:cubicBezTo>
                  <a:pt x="52" y="23334"/>
                  <a:pt x="0" y="224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34"/>
                  <a:pt x="43180" y="22668"/>
                  <a:pt x="43140" y="23202"/>
                </a:cubicBezTo>
                <a:lnTo>
                  <a:pt x="21600" y="21600"/>
                </a:lnTo>
                <a:lnTo>
                  <a:pt x="156" y="24196"/>
                </a:lnTo>
                <a:close/>
              </a:path>
            </a:pathLst>
          </a:custGeom>
          <a:noFill/>
          <a:ln w="76200">
            <a:solidFill>
              <a:srgbClr val="3399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Oval 44"/>
          <p:cNvSpPr>
            <a:spLocks noChangeArrowheads="1"/>
          </p:cNvSpPr>
          <p:nvPr/>
        </p:nvSpPr>
        <p:spPr bwMode="auto">
          <a:xfrm>
            <a:off x="6486440" y="4419599"/>
            <a:ext cx="144462" cy="14446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8" name="Line 45"/>
          <p:cNvSpPr>
            <a:spLocks noChangeShapeType="1"/>
          </p:cNvSpPr>
          <p:nvPr/>
        </p:nvSpPr>
        <p:spPr bwMode="auto">
          <a:xfrm>
            <a:off x="4976727" y="1287462"/>
            <a:ext cx="0" cy="19383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47"/>
          <p:cNvSpPr>
            <a:spLocks noChangeShapeType="1"/>
          </p:cNvSpPr>
          <p:nvPr/>
        </p:nvSpPr>
        <p:spPr bwMode="auto">
          <a:xfrm>
            <a:off x="6573752" y="1295399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 Box 49" descr="信纸"/>
          <p:cNvSpPr txBox="1">
            <a:spLocks noChangeArrowheads="1"/>
          </p:cNvSpPr>
          <p:nvPr/>
        </p:nvSpPr>
        <p:spPr bwMode="auto">
          <a:xfrm>
            <a:off x="875307" y="5682976"/>
            <a:ext cx="115288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buNone/>
              <a:defRPr kumimoji="1" sz="2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/>
              <a:t>对</a:t>
            </a:r>
            <a:r>
              <a:rPr lang="en-US" altLang="zh-CN" sz="1600" dirty="0"/>
              <a:t>V</a:t>
            </a:r>
            <a:r>
              <a:rPr lang="zh-CN" altLang="en-US" sz="1600" dirty="0"/>
              <a:t>面的外</a:t>
            </a:r>
            <a:endParaRPr lang="zh-CN" altLang="en-US" sz="1600" dirty="0"/>
          </a:p>
          <a:p>
            <a:r>
              <a:rPr lang="zh-CN" altLang="en-US" sz="1600" dirty="0"/>
              <a:t>形轮廓线</a:t>
            </a:r>
            <a:endParaRPr lang="zh-CN" altLang="en-US" sz="1600" dirty="0"/>
          </a:p>
        </p:txBody>
      </p:sp>
      <p:sp>
        <p:nvSpPr>
          <p:cNvPr id="73" name="Line 50"/>
          <p:cNvSpPr>
            <a:spLocks noChangeShapeType="1"/>
          </p:cNvSpPr>
          <p:nvPr/>
        </p:nvSpPr>
        <p:spPr bwMode="auto">
          <a:xfrm>
            <a:off x="1774740" y="3927036"/>
            <a:ext cx="0" cy="1538288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51"/>
          <p:cNvSpPr>
            <a:spLocks noChangeShapeType="1"/>
          </p:cNvSpPr>
          <p:nvPr/>
        </p:nvSpPr>
        <p:spPr bwMode="auto">
          <a:xfrm flipH="1">
            <a:off x="1475654" y="5183054"/>
            <a:ext cx="299083" cy="53254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" name="Group 52"/>
          <p:cNvGrpSpPr/>
          <p:nvPr/>
        </p:nvGrpSpPr>
        <p:grpSpPr bwMode="auto">
          <a:xfrm>
            <a:off x="1231815" y="3796861"/>
            <a:ext cx="554037" cy="1651000"/>
            <a:chOff x="552" y="1471"/>
            <a:chExt cx="349" cy="1040"/>
          </a:xfrm>
        </p:grpSpPr>
        <p:sp>
          <p:nvSpPr>
            <p:cNvPr id="76" name="Line 53"/>
            <p:cNvSpPr>
              <a:spLocks noChangeShapeType="1"/>
            </p:cNvSpPr>
            <p:nvPr/>
          </p:nvSpPr>
          <p:spPr bwMode="auto">
            <a:xfrm flipH="1" flipV="1">
              <a:off x="563" y="1471"/>
              <a:ext cx="3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54"/>
            <p:cNvSpPr>
              <a:spLocks noChangeShapeType="1"/>
            </p:cNvSpPr>
            <p:nvPr/>
          </p:nvSpPr>
          <p:spPr bwMode="auto">
            <a:xfrm flipH="1" flipV="1">
              <a:off x="568" y="1578"/>
              <a:ext cx="333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55"/>
            <p:cNvSpPr>
              <a:spLocks noChangeShapeType="1"/>
            </p:cNvSpPr>
            <p:nvPr/>
          </p:nvSpPr>
          <p:spPr bwMode="auto">
            <a:xfrm flipH="1" flipV="1">
              <a:off x="560" y="1705"/>
              <a:ext cx="337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56"/>
            <p:cNvSpPr>
              <a:spLocks noChangeShapeType="1"/>
            </p:cNvSpPr>
            <p:nvPr/>
          </p:nvSpPr>
          <p:spPr bwMode="auto">
            <a:xfrm flipH="1" flipV="1">
              <a:off x="552" y="1933"/>
              <a:ext cx="34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57"/>
            <p:cNvSpPr>
              <a:spLocks noChangeShapeType="1"/>
            </p:cNvSpPr>
            <p:nvPr/>
          </p:nvSpPr>
          <p:spPr bwMode="auto">
            <a:xfrm flipH="1" flipV="1">
              <a:off x="552" y="2066"/>
              <a:ext cx="345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58"/>
            <p:cNvSpPr>
              <a:spLocks noChangeShapeType="1"/>
            </p:cNvSpPr>
            <p:nvPr/>
          </p:nvSpPr>
          <p:spPr bwMode="auto">
            <a:xfrm flipH="1" flipV="1">
              <a:off x="560" y="2194"/>
              <a:ext cx="3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59"/>
            <p:cNvSpPr>
              <a:spLocks noChangeShapeType="1"/>
            </p:cNvSpPr>
            <p:nvPr/>
          </p:nvSpPr>
          <p:spPr bwMode="auto">
            <a:xfrm flipH="1" flipV="1">
              <a:off x="552" y="2429"/>
              <a:ext cx="341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60"/>
            <p:cNvSpPr>
              <a:spLocks noChangeShapeType="1"/>
            </p:cNvSpPr>
            <p:nvPr/>
          </p:nvSpPr>
          <p:spPr bwMode="auto">
            <a:xfrm flipH="1" flipV="1">
              <a:off x="560" y="1821"/>
              <a:ext cx="3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61"/>
            <p:cNvSpPr>
              <a:spLocks noChangeShapeType="1"/>
            </p:cNvSpPr>
            <p:nvPr/>
          </p:nvSpPr>
          <p:spPr bwMode="auto">
            <a:xfrm flipH="1" flipV="1">
              <a:off x="561" y="2306"/>
              <a:ext cx="337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5" name="Group 62"/>
          <p:cNvGrpSpPr/>
          <p:nvPr/>
        </p:nvGrpSpPr>
        <p:grpSpPr bwMode="auto">
          <a:xfrm>
            <a:off x="2981240" y="3727011"/>
            <a:ext cx="477837" cy="1709738"/>
            <a:chOff x="1654" y="1427"/>
            <a:chExt cx="301" cy="1077"/>
          </a:xfrm>
        </p:grpSpPr>
        <p:sp>
          <p:nvSpPr>
            <p:cNvPr id="86" name="Line 63"/>
            <p:cNvSpPr>
              <a:spLocks noChangeShapeType="1"/>
            </p:cNvSpPr>
            <p:nvPr/>
          </p:nvSpPr>
          <p:spPr bwMode="auto">
            <a:xfrm flipV="1">
              <a:off x="1654" y="1427"/>
              <a:ext cx="288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64"/>
            <p:cNvSpPr>
              <a:spLocks noChangeShapeType="1"/>
            </p:cNvSpPr>
            <p:nvPr/>
          </p:nvSpPr>
          <p:spPr bwMode="auto">
            <a:xfrm flipV="1">
              <a:off x="1660" y="1547"/>
              <a:ext cx="282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65"/>
            <p:cNvSpPr>
              <a:spLocks noChangeShapeType="1"/>
            </p:cNvSpPr>
            <p:nvPr/>
          </p:nvSpPr>
          <p:spPr bwMode="auto">
            <a:xfrm flipV="1">
              <a:off x="1660" y="1673"/>
              <a:ext cx="286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66"/>
            <p:cNvSpPr>
              <a:spLocks noChangeShapeType="1"/>
            </p:cNvSpPr>
            <p:nvPr/>
          </p:nvSpPr>
          <p:spPr bwMode="auto">
            <a:xfrm flipV="1">
              <a:off x="1661" y="1788"/>
              <a:ext cx="29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67"/>
            <p:cNvSpPr>
              <a:spLocks noChangeShapeType="1"/>
            </p:cNvSpPr>
            <p:nvPr/>
          </p:nvSpPr>
          <p:spPr bwMode="auto">
            <a:xfrm flipV="1">
              <a:off x="1654" y="1906"/>
              <a:ext cx="298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68"/>
            <p:cNvSpPr>
              <a:spLocks noChangeShapeType="1"/>
            </p:cNvSpPr>
            <p:nvPr/>
          </p:nvSpPr>
          <p:spPr bwMode="auto">
            <a:xfrm flipV="1">
              <a:off x="1660" y="2029"/>
              <a:ext cx="29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69"/>
            <p:cNvSpPr>
              <a:spLocks noChangeShapeType="1"/>
            </p:cNvSpPr>
            <p:nvPr/>
          </p:nvSpPr>
          <p:spPr bwMode="auto">
            <a:xfrm flipV="1">
              <a:off x="1661" y="2148"/>
              <a:ext cx="294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70"/>
            <p:cNvSpPr>
              <a:spLocks noChangeShapeType="1"/>
            </p:cNvSpPr>
            <p:nvPr/>
          </p:nvSpPr>
          <p:spPr bwMode="auto">
            <a:xfrm flipV="1">
              <a:off x="1662" y="2276"/>
              <a:ext cx="286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71"/>
            <p:cNvSpPr>
              <a:spLocks noChangeShapeType="1"/>
            </p:cNvSpPr>
            <p:nvPr/>
          </p:nvSpPr>
          <p:spPr bwMode="auto">
            <a:xfrm flipV="1">
              <a:off x="1655" y="2388"/>
              <a:ext cx="298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5" name="Line 72"/>
          <p:cNvSpPr>
            <a:spLocks noChangeShapeType="1"/>
          </p:cNvSpPr>
          <p:nvPr/>
        </p:nvSpPr>
        <p:spPr bwMode="auto">
          <a:xfrm>
            <a:off x="2982827" y="3880999"/>
            <a:ext cx="0" cy="157003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73"/>
          <p:cNvSpPr>
            <a:spLocks noChangeShapeType="1"/>
          </p:cNvSpPr>
          <p:nvPr/>
        </p:nvSpPr>
        <p:spPr bwMode="auto">
          <a:xfrm>
            <a:off x="2982906" y="5130823"/>
            <a:ext cx="235187" cy="584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Text Box 74" descr="信纸"/>
          <p:cNvSpPr txBox="1">
            <a:spLocks noChangeArrowheads="1"/>
          </p:cNvSpPr>
          <p:nvPr/>
        </p:nvSpPr>
        <p:spPr bwMode="auto">
          <a:xfrm>
            <a:off x="2699792" y="5693220"/>
            <a:ext cx="1199366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buNone/>
              <a:defRPr kumimoji="1" sz="16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对</a:t>
            </a:r>
            <a:r>
              <a:rPr lang="en-US" altLang="zh-CN" dirty="0"/>
              <a:t>W</a:t>
            </a:r>
            <a:r>
              <a:rPr lang="zh-CN" altLang="en-US" dirty="0"/>
              <a:t>面的外</a:t>
            </a:r>
            <a:endParaRPr lang="zh-CN" altLang="en-US" dirty="0"/>
          </a:p>
          <a:p>
            <a:r>
              <a:rPr lang="zh-CN" altLang="en-US" dirty="0"/>
              <a:t>形轮廓线</a:t>
            </a:r>
            <a:endParaRPr lang="zh-CN" altLang="en-US" dirty="0"/>
          </a:p>
        </p:txBody>
      </p:sp>
      <p:sp>
        <p:nvSpPr>
          <p:cNvPr id="98" name="Line 75"/>
          <p:cNvSpPr>
            <a:spLocks noChangeShapeType="1"/>
          </p:cNvSpPr>
          <p:nvPr/>
        </p:nvSpPr>
        <p:spPr bwMode="auto">
          <a:xfrm>
            <a:off x="7819940" y="1298574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7042065" y="3841749"/>
            <a:ext cx="1992312" cy="830997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外形轮廓线投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影的对应关系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Box 80"/>
          <p:cNvSpPr txBox="1">
            <a:spLocks noChangeArrowheads="1"/>
          </p:cNvSpPr>
          <p:nvPr/>
        </p:nvSpPr>
        <p:spPr bwMode="auto">
          <a:xfrm>
            <a:off x="7073733" y="5073649"/>
            <a:ext cx="1906669" cy="830997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spcBef>
                <a:spcPct val="0"/>
              </a:spcBef>
              <a:buNone/>
              <a:defRPr kumimoji="1" sz="24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圆柱面投影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可见性判断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Oval 81"/>
          <p:cNvSpPr>
            <a:spLocks noChangeArrowheads="1"/>
          </p:cNvSpPr>
          <p:nvPr/>
        </p:nvSpPr>
        <p:spPr bwMode="auto">
          <a:xfrm>
            <a:off x="5710152" y="5229224"/>
            <a:ext cx="141288" cy="1412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03" name="Oval 82"/>
          <p:cNvSpPr>
            <a:spLocks noChangeArrowheads="1"/>
          </p:cNvSpPr>
          <p:nvPr/>
        </p:nvSpPr>
        <p:spPr bwMode="auto">
          <a:xfrm>
            <a:off x="5708565" y="3644899"/>
            <a:ext cx="128587" cy="1285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04" name="Line 83"/>
          <p:cNvSpPr>
            <a:spLocks noChangeShapeType="1"/>
          </p:cNvSpPr>
          <p:nvPr/>
        </p:nvSpPr>
        <p:spPr bwMode="auto">
          <a:xfrm>
            <a:off x="8604165" y="1293812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Line 85"/>
          <p:cNvSpPr>
            <a:spLocks noChangeShapeType="1"/>
          </p:cNvSpPr>
          <p:nvPr/>
        </p:nvSpPr>
        <p:spPr bwMode="auto">
          <a:xfrm>
            <a:off x="7043652" y="1303337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Line 87"/>
          <p:cNvSpPr>
            <a:spLocks noChangeShapeType="1"/>
          </p:cNvSpPr>
          <p:nvPr/>
        </p:nvSpPr>
        <p:spPr bwMode="auto">
          <a:xfrm>
            <a:off x="5784765" y="1319212"/>
            <a:ext cx="0" cy="190023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Line 89"/>
          <p:cNvSpPr>
            <a:spLocks noChangeShapeType="1"/>
          </p:cNvSpPr>
          <p:nvPr/>
        </p:nvSpPr>
        <p:spPr bwMode="auto">
          <a:xfrm flipV="1">
            <a:off x="4973552" y="3211512"/>
            <a:ext cx="0" cy="124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Line 90"/>
          <p:cNvSpPr>
            <a:spLocks noChangeShapeType="1"/>
          </p:cNvSpPr>
          <p:nvPr/>
        </p:nvSpPr>
        <p:spPr bwMode="auto">
          <a:xfrm flipV="1">
            <a:off x="6580102" y="3222624"/>
            <a:ext cx="0" cy="1241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2" name="组合 111"/>
          <p:cNvGrpSpPr/>
          <p:nvPr/>
        </p:nvGrpSpPr>
        <p:grpSpPr bwMode="auto">
          <a:xfrm>
            <a:off x="7816765" y="1169987"/>
            <a:ext cx="0" cy="2132012"/>
            <a:chOff x="6461125" y="1076524"/>
            <a:chExt cx="1" cy="2131813"/>
          </a:xfrm>
        </p:grpSpPr>
        <p:sp>
          <p:nvSpPr>
            <p:cNvPr id="113" name="Line 188"/>
            <p:cNvSpPr>
              <a:spLocks noChangeShapeType="1"/>
            </p:cNvSpPr>
            <p:nvPr/>
          </p:nvSpPr>
          <p:spPr bwMode="auto">
            <a:xfrm rot="16200000" flipV="1">
              <a:off x="6083016" y="2830229"/>
              <a:ext cx="756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89"/>
            <p:cNvSpPr>
              <a:spLocks noChangeShapeType="1"/>
            </p:cNvSpPr>
            <p:nvPr/>
          </p:nvSpPr>
          <p:spPr bwMode="auto">
            <a:xfrm rot="-5400000">
              <a:off x="6434932" y="234034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90"/>
            <p:cNvSpPr>
              <a:spLocks noChangeShapeType="1"/>
            </p:cNvSpPr>
            <p:nvPr/>
          </p:nvSpPr>
          <p:spPr bwMode="auto">
            <a:xfrm rot="-5400000">
              <a:off x="6258719" y="2072059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91"/>
            <p:cNvSpPr>
              <a:spLocks noChangeShapeType="1"/>
            </p:cNvSpPr>
            <p:nvPr/>
          </p:nvSpPr>
          <p:spPr bwMode="auto">
            <a:xfrm rot="-5400000">
              <a:off x="6434932" y="179742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92"/>
            <p:cNvSpPr>
              <a:spLocks noChangeShapeType="1"/>
            </p:cNvSpPr>
            <p:nvPr/>
          </p:nvSpPr>
          <p:spPr bwMode="auto">
            <a:xfrm rot="-5400000">
              <a:off x="6138380" y="1399270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 Box 52"/>
          <p:cNvSpPr txBox="1">
            <a:spLocks noChangeArrowheads="1"/>
          </p:cNvSpPr>
          <p:nvPr/>
        </p:nvSpPr>
        <p:spPr bwMode="auto">
          <a:xfrm>
            <a:off x="413546" y="2091073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圆柱的三视图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20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2" grpId="0" animBg="1"/>
      <p:bldP spid="63" grpId="0" animBg="1"/>
      <p:bldP spid="65" grpId="0" animBg="1"/>
      <p:bldP spid="67" grpId="0" animBg="1"/>
      <p:bldP spid="68" grpId="0" animBg="1"/>
      <p:bldP spid="70" grpId="0" animBg="1"/>
      <p:bldP spid="72" grpId="0" animBg="1" autoUpdateAnimBg="0"/>
      <p:bldP spid="73" grpId="0" animBg="1"/>
      <p:bldP spid="74" grpId="0" animBg="1"/>
      <p:bldP spid="95" grpId="0" animBg="1"/>
      <p:bldP spid="96" grpId="0" animBg="1"/>
      <p:bldP spid="97" grpId="0" animBg="1" autoUpdateAnimBg="0"/>
      <p:bldP spid="98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6" grpId="0" animBg="1"/>
      <p:bldP spid="108" grpId="0" animBg="1"/>
      <p:bldP spid="110" grpId="0" animBg="1"/>
      <p:bldP spid="1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80"/>
          <p:cNvSpPr txBox="1">
            <a:spLocks noChangeArrowheads="1"/>
          </p:cNvSpPr>
          <p:nvPr/>
        </p:nvSpPr>
        <p:spPr bwMode="auto">
          <a:xfrm>
            <a:off x="797406" y="2712773"/>
            <a:ext cx="262604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None/>
              <a:defRPr kumimoji="1" sz="2200">
                <a:solidFill>
                  <a:srgbClr val="7E529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Lao UI" panose="020B0502040204020203" pitchFamily="34" charset="0"/>
              </a:rPr>
              <a:t>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60"/>
          <p:cNvSpPr txBox="1">
            <a:spLocks noChangeArrowheads="1"/>
          </p:cNvSpPr>
          <p:nvPr/>
        </p:nvSpPr>
        <p:spPr bwMode="auto">
          <a:xfrm>
            <a:off x="759083" y="3358308"/>
            <a:ext cx="206979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判断点的位置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作图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可见性判断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" name="AutoShape 11"/>
          <p:cNvSpPr>
            <a:spLocks noChangeArrowheads="1"/>
          </p:cNvSpPr>
          <p:nvPr/>
        </p:nvSpPr>
        <p:spPr bwMode="auto">
          <a:xfrm>
            <a:off x="6804248" y="4118440"/>
            <a:ext cx="1530350" cy="2049463"/>
          </a:xfrm>
          <a:prstGeom prst="can">
            <a:avLst>
              <a:gd name="adj" fmla="val 33480"/>
            </a:avLst>
          </a:prstGeom>
          <a:gradFill rotWithShape="0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</a:gradFill>
          <a:ln w="2857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6388224" y="1615294"/>
            <a:ext cx="10668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4788024" y="1615294"/>
            <a:ext cx="10668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4788024" y="3367894"/>
            <a:ext cx="1066800" cy="9906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12" name="Freeform 29"/>
          <p:cNvSpPr/>
          <p:nvPr/>
        </p:nvSpPr>
        <p:spPr bwMode="auto">
          <a:xfrm>
            <a:off x="5011861" y="2312206"/>
            <a:ext cx="2382838" cy="1588"/>
          </a:xfrm>
          <a:custGeom>
            <a:avLst/>
            <a:gdLst>
              <a:gd name="T0" fmla="*/ 0 w 1501"/>
              <a:gd name="T1" fmla="*/ 0 h 1"/>
              <a:gd name="T2" fmla="*/ 2147483647 w 150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01" h="1">
                <a:moveTo>
                  <a:pt x="0" y="0"/>
                </a:moveTo>
                <a:lnTo>
                  <a:pt x="1501" y="0"/>
                </a:lnTo>
              </a:path>
            </a:pathLst>
          </a:custGeom>
          <a:noFill/>
          <a:ln w="19050" cmpd="sng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30"/>
          <p:cNvSpPr>
            <a:spLocks noChangeShapeType="1"/>
          </p:cNvSpPr>
          <p:nvPr/>
        </p:nvSpPr>
        <p:spPr bwMode="auto">
          <a:xfrm>
            <a:off x="5016624" y="2301094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32"/>
          <p:cNvGrpSpPr/>
          <p:nvPr/>
        </p:nvGrpSpPr>
        <p:grpSpPr bwMode="auto">
          <a:xfrm>
            <a:off x="4699124" y="1920094"/>
            <a:ext cx="488950" cy="533400"/>
            <a:chOff x="3688" y="2592"/>
            <a:chExt cx="308" cy="336"/>
          </a:xfrm>
        </p:grpSpPr>
        <p:sp>
          <p:nvSpPr>
            <p:cNvPr id="15" name="Text Box 33"/>
            <p:cNvSpPr txBox="1">
              <a:spLocks noChangeArrowheads="1"/>
            </p:cNvSpPr>
            <p:nvPr/>
          </p:nvSpPr>
          <p:spPr bwMode="auto">
            <a:xfrm>
              <a:off x="3796" y="2755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3688" y="25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 dirty="0"/>
                <a:t> </a:t>
              </a:r>
              <a:r>
                <a:rPr lang="en-US" altLang="zh-CN" sz="2400" b="1" i="1" dirty="0"/>
                <a:t>a</a:t>
              </a:r>
              <a:r>
                <a:rPr lang="en-US" altLang="zh-CN" sz="2400" b="1" dirty="0">
                  <a:sym typeface="Symbol" panose="05050102010706020507" pitchFamily="18" charset="2"/>
                </a:rPr>
                <a:t></a:t>
              </a:r>
              <a:endParaRPr lang="en-US" altLang="zh-CN" sz="2400" b="1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17" name="Group 35"/>
          <p:cNvGrpSpPr/>
          <p:nvPr/>
        </p:nvGrpSpPr>
        <p:grpSpPr bwMode="auto">
          <a:xfrm>
            <a:off x="4705474" y="4134663"/>
            <a:ext cx="457200" cy="468313"/>
            <a:chOff x="3692" y="3987"/>
            <a:chExt cx="288" cy="295"/>
          </a:xfrm>
        </p:grpSpPr>
        <p:sp>
          <p:nvSpPr>
            <p:cNvPr id="18" name="Text Box 36"/>
            <p:cNvSpPr txBox="1">
              <a:spLocks noChangeArrowheads="1"/>
            </p:cNvSpPr>
            <p:nvPr/>
          </p:nvSpPr>
          <p:spPr bwMode="auto">
            <a:xfrm>
              <a:off x="3792" y="3987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200" b="1" dirty="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 dirty="0"/>
            </a:p>
          </p:txBody>
        </p:sp>
        <p:sp>
          <p:nvSpPr>
            <p:cNvPr id="19" name="Text Box 37"/>
            <p:cNvSpPr txBox="1">
              <a:spLocks noChangeArrowheads="1"/>
            </p:cNvSpPr>
            <p:nvPr/>
          </p:nvSpPr>
          <p:spPr bwMode="auto">
            <a:xfrm>
              <a:off x="3692" y="399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a</a:t>
              </a:r>
              <a:endParaRPr lang="en-US" altLang="zh-CN" sz="1600" b="1"/>
            </a:p>
          </p:txBody>
        </p:sp>
      </p:grpSp>
      <p:grpSp>
        <p:nvGrpSpPr>
          <p:cNvPr id="20" name="Group 38"/>
          <p:cNvGrpSpPr/>
          <p:nvPr/>
        </p:nvGrpSpPr>
        <p:grpSpPr bwMode="auto">
          <a:xfrm>
            <a:off x="7013706" y="1905813"/>
            <a:ext cx="514351" cy="541338"/>
            <a:chOff x="5146" y="2055"/>
            <a:chExt cx="324" cy="341"/>
          </a:xfrm>
        </p:grpSpPr>
        <p:sp>
          <p:nvSpPr>
            <p:cNvPr id="21" name="Text Box 39"/>
            <p:cNvSpPr txBox="1">
              <a:spLocks noChangeArrowheads="1"/>
            </p:cNvSpPr>
            <p:nvPr/>
          </p:nvSpPr>
          <p:spPr bwMode="auto">
            <a:xfrm>
              <a:off x="5282" y="2223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200" b="1" dirty="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 dirty="0"/>
            </a:p>
          </p:txBody>
        </p:sp>
        <p:sp>
          <p:nvSpPr>
            <p:cNvPr id="22" name="Text Box 40"/>
            <p:cNvSpPr txBox="1">
              <a:spLocks noChangeArrowheads="1"/>
            </p:cNvSpPr>
            <p:nvPr/>
          </p:nvSpPr>
          <p:spPr bwMode="auto">
            <a:xfrm>
              <a:off x="5146" y="2055"/>
              <a:ext cx="3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/>
                <a:t> </a:t>
              </a:r>
              <a:r>
                <a:rPr lang="en-US" altLang="zh-CN" sz="2400" b="1" i="1" dirty="0"/>
                <a:t>a</a:t>
              </a:r>
              <a:r>
                <a:rPr lang="en-US" altLang="zh-CN" sz="2400" b="1" dirty="0">
                  <a:sym typeface="Symbol" panose="05050102010706020507" pitchFamily="18" charset="2"/>
                </a:rPr>
                <a:t></a:t>
              </a:r>
              <a:endParaRPr lang="en-US" altLang="zh-CN" sz="2400" b="1" dirty="0">
                <a:sym typeface="CommercialPi BT" panose="05020102010206080802" pitchFamily="18" charset="2"/>
              </a:endParaRPr>
            </a:p>
          </p:txBody>
        </p:sp>
      </p:grpSp>
      <p:grpSp>
        <p:nvGrpSpPr>
          <p:cNvPr id="23" name="Group 41"/>
          <p:cNvGrpSpPr/>
          <p:nvPr/>
        </p:nvGrpSpPr>
        <p:grpSpPr bwMode="auto">
          <a:xfrm>
            <a:off x="5016628" y="2315381"/>
            <a:ext cx="2346327" cy="1971675"/>
            <a:chOff x="3888" y="2313"/>
            <a:chExt cx="1478" cy="1242"/>
          </a:xfrm>
        </p:grpSpPr>
        <p:sp>
          <p:nvSpPr>
            <p:cNvPr id="24" name="Freeform 42"/>
            <p:cNvSpPr/>
            <p:nvPr/>
          </p:nvSpPr>
          <p:spPr bwMode="auto">
            <a:xfrm>
              <a:off x="3888" y="3306"/>
              <a:ext cx="1" cy="249"/>
            </a:xfrm>
            <a:custGeom>
              <a:avLst/>
              <a:gdLst>
                <a:gd name="T0" fmla="*/ 1 w 1"/>
                <a:gd name="T1" fmla="*/ 0 h 316"/>
                <a:gd name="T2" fmla="*/ 0 w 1"/>
                <a:gd name="T3" fmla="*/ 316 h 3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6">
                  <a:moveTo>
                    <a:pt x="1" y="0"/>
                  </a:moveTo>
                  <a:lnTo>
                    <a:pt x="0" y="316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43"/>
            <p:cNvSpPr/>
            <p:nvPr/>
          </p:nvSpPr>
          <p:spPr bwMode="auto">
            <a:xfrm>
              <a:off x="5088" y="2313"/>
              <a:ext cx="278" cy="1"/>
            </a:xfrm>
            <a:custGeom>
              <a:avLst/>
              <a:gdLst>
                <a:gd name="T0" fmla="*/ 0 w 278"/>
                <a:gd name="T1" fmla="*/ 0 h 1"/>
                <a:gd name="T2" fmla="*/ 278 w 27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8" h="1">
                  <a:moveTo>
                    <a:pt x="0" y="0"/>
                  </a:moveTo>
                  <a:lnTo>
                    <a:pt x="278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" name="Oval 62"/>
          <p:cNvSpPr>
            <a:spLocks noChangeArrowheads="1"/>
          </p:cNvSpPr>
          <p:nvPr/>
        </p:nvSpPr>
        <p:spPr bwMode="auto">
          <a:xfrm>
            <a:off x="7190010" y="5301767"/>
            <a:ext cx="115888" cy="115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7305898" y="4872507"/>
            <a:ext cx="4443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C00000"/>
                </a:solidFill>
              </a:rPr>
              <a:t>A</a:t>
            </a:r>
            <a:endParaRPr lang="en-US" altLang="zh-CN" sz="2800" b="1">
              <a:solidFill>
                <a:srgbClr val="C00000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 bwMode="auto">
          <a:xfrm rot="5400000">
            <a:off x="5314281" y="2926117"/>
            <a:ext cx="0" cy="1928813"/>
            <a:chOff x="5940151" y="3429000"/>
            <a:chExt cx="1" cy="1938337"/>
          </a:xfrm>
        </p:grpSpPr>
        <p:sp>
          <p:nvSpPr>
            <p:cNvPr id="29" name="Line 188"/>
            <p:cNvSpPr>
              <a:spLocks noChangeShapeType="1"/>
            </p:cNvSpPr>
            <p:nvPr/>
          </p:nvSpPr>
          <p:spPr bwMode="auto">
            <a:xfrm rot="16200000" flipV="1">
              <a:off x="5658781" y="5085967"/>
              <a:ext cx="562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89"/>
            <p:cNvSpPr>
              <a:spLocks noChangeShapeType="1"/>
            </p:cNvSpPr>
            <p:nvPr/>
          </p:nvSpPr>
          <p:spPr bwMode="auto">
            <a:xfrm rot="-5400000">
              <a:off x="5913958" y="4692823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90"/>
            <p:cNvSpPr>
              <a:spLocks noChangeShapeType="1"/>
            </p:cNvSpPr>
            <p:nvPr/>
          </p:nvSpPr>
          <p:spPr bwMode="auto">
            <a:xfrm rot="-5400000">
              <a:off x="5737745" y="4424535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91"/>
            <p:cNvSpPr>
              <a:spLocks noChangeShapeType="1"/>
            </p:cNvSpPr>
            <p:nvPr/>
          </p:nvSpPr>
          <p:spPr bwMode="auto">
            <a:xfrm rot="-5400000">
              <a:off x="5913958" y="414989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92"/>
            <p:cNvSpPr>
              <a:spLocks noChangeShapeType="1"/>
            </p:cNvSpPr>
            <p:nvPr/>
          </p:nvSpPr>
          <p:spPr bwMode="auto">
            <a:xfrm rot="-5400000">
              <a:off x="5617406" y="3751746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5321424" y="1203344"/>
            <a:ext cx="0" cy="1938337"/>
            <a:chOff x="5940151" y="3429000"/>
            <a:chExt cx="1" cy="1938337"/>
          </a:xfrm>
        </p:grpSpPr>
        <p:sp>
          <p:nvSpPr>
            <p:cNvPr id="35" name="Line 188"/>
            <p:cNvSpPr>
              <a:spLocks noChangeShapeType="1"/>
            </p:cNvSpPr>
            <p:nvPr/>
          </p:nvSpPr>
          <p:spPr bwMode="auto">
            <a:xfrm rot="16200000" flipV="1">
              <a:off x="5658781" y="5085967"/>
              <a:ext cx="562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89"/>
            <p:cNvSpPr>
              <a:spLocks noChangeShapeType="1"/>
            </p:cNvSpPr>
            <p:nvPr/>
          </p:nvSpPr>
          <p:spPr bwMode="auto">
            <a:xfrm rot="-5400000">
              <a:off x="5913958" y="4692823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90"/>
            <p:cNvSpPr>
              <a:spLocks noChangeShapeType="1"/>
            </p:cNvSpPr>
            <p:nvPr/>
          </p:nvSpPr>
          <p:spPr bwMode="auto">
            <a:xfrm rot="-5400000">
              <a:off x="5737745" y="4424535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91"/>
            <p:cNvSpPr>
              <a:spLocks noChangeShapeType="1"/>
            </p:cNvSpPr>
            <p:nvPr/>
          </p:nvSpPr>
          <p:spPr bwMode="auto">
            <a:xfrm rot="-5400000">
              <a:off x="5913958" y="414989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92"/>
            <p:cNvSpPr>
              <a:spLocks noChangeShapeType="1"/>
            </p:cNvSpPr>
            <p:nvPr/>
          </p:nvSpPr>
          <p:spPr bwMode="auto">
            <a:xfrm rot="-5400000">
              <a:off x="5617406" y="3751746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 bwMode="auto">
          <a:xfrm>
            <a:off x="6912571" y="1203344"/>
            <a:ext cx="0" cy="1938337"/>
            <a:chOff x="5940151" y="3429000"/>
            <a:chExt cx="1" cy="1938337"/>
          </a:xfrm>
        </p:grpSpPr>
        <p:sp>
          <p:nvSpPr>
            <p:cNvPr id="42" name="Line 188"/>
            <p:cNvSpPr>
              <a:spLocks noChangeShapeType="1"/>
            </p:cNvSpPr>
            <p:nvPr/>
          </p:nvSpPr>
          <p:spPr bwMode="auto">
            <a:xfrm rot="16200000" flipV="1">
              <a:off x="5658781" y="5085967"/>
              <a:ext cx="562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89"/>
            <p:cNvSpPr>
              <a:spLocks noChangeShapeType="1"/>
            </p:cNvSpPr>
            <p:nvPr/>
          </p:nvSpPr>
          <p:spPr bwMode="auto">
            <a:xfrm rot="-5400000">
              <a:off x="5913958" y="4692823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90"/>
            <p:cNvSpPr>
              <a:spLocks noChangeShapeType="1"/>
            </p:cNvSpPr>
            <p:nvPr/>
          </p:nvSpPr>
          <p:spPr bwMode="auto">
            <a:xfrm rot="-5400000">
              <a:off x="5737745" y="4424535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91"/>
            <p:cNvSpPr>
              <a:spLocks noChangeShapeType="1"/>
            </p:cNvSpPr>
            <p:nvPr/>
          </p:nvSpPr>
          <p:spPr bwMode="auto">
            <a:xfrm rot="-5400000">
              <a:off x="5913958" y="414989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92"/>
            <p:cNvSpPr>
              <a:spLocks noChangeShapeType="1"/>
            </p:cNvSpPr>
            <p:nvPr/>
          </p:nvSpPr>
          <p:spPr bwMode="auto">
            <a:xfrm rot="-5400000">
              <a:off x="5617406" y="3751746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 bwMode="auto">
          <a:xfrm>
            <a:off x="5321424" y="2855926"/>
            <a:ext cx="0" cy="1938337"/>
            <a:chOff x="5940151" y="3429000"/>
            <a:chExt cx="1" cy="1938337"/>
          </a:xfrm>
        </p:grpSpPr>
        <p:sp>
          <p:nvSpPr>
            <p:cNvPr id="48" name="Line 188"/>
            <p:cNvSpPr>
              <a:spLocks noChangeShapeType="1"/>
            </p:cNvSpPr>
            <p:nvPr/>
          </p:nvSpPr>
          <p:spPr bwMode="auto">
            <a:xfrm rot="16200000" flipV="1">
              <a:off x="5658781" y="5085967"/>
              <a:ext cx="5627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89"/>
            <p:cNvSpPr>
              <a:spLocks noChangeShapeType="1"/>
            </p:cNvSpPr>
            <p:nvPr/>
          </p:nvSpPr>
          <p:spPr bwMode="auto">
            <a:xfrm rot="-5400000">
              <a:off x="5913958" y="4692823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90"/>
            <p:cNvSpPr>
              <a:spLocks noChangeShapeType="1"/>
            </p:cNvSpPr>
            <p:nvPr/>
          </p:nvSpPr>
          <p:spPr bwMode="auto">
            <a:xfrm rot="-5400000">
              <a:off x="5737745" y="4424535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91"/>
            <p:cNvSpPr>
              <a:spLocks noChangeShapeType="1"/>
            </p:cNvSpPr>
            <p:nvPr/>
          </p:nvSpPr>
          <p:spPr bwMode="auto">
            <a:xfrm rot="-5400000">
              <a:off x="5913958" y="414989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92"/>
            <p:cNvSpPr>
              <a:spLocks noChangeShapeType="1"/>
            </p:cNvSpPr>
            <p:nvPr/>
          </p:nvSpPr>
          <p:spPr bwMode="auto">
            <a:xfrm rot="-5400000">
              <a:off x="5617406" y="3751746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圆柱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圆柱表面取点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55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7" grpId="0" animBg="1"/>
      <p:bldP spid="12" grpId="0" animBg="1"/>
      <p:bldP spid="13" grpId="0" animBg="1"/>
      <p:bldP spid="26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102" y="2529934"/>
            <a:ext cx="1796894" cy="245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82"/>
          <p:cNvSpPr txBox="1">
            <a:spLocks noChangeArrowheads="1"/>
          </p:cNvSpPr>
          <p:nvPr/>
        </p:nvSpPr>
        <p:spPr bwMode="auto">
          <a:xfrm>
            <a:off x="635535" y="2797306"/>
            <a:ext cx="3611177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由一个圆形底面和一个圆锥表面构成。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360685" y="1692466"/>
            <a:ext cx="1811835" cy="3696050"/>
            <a:chOff x="5914503" y="1038348"/>
            <a:chExt cx="1811835" cy="3696050"/>
          </a:xfrm>
        </p:grpSpPr>
        <p:sp>
          <p:nvSpPr>
            <p:cNvPr id="35" name="Line 6"/>
            <p:cNvSpPr>
              <a:spLocks noChangeShapeType="1"/>
            </p:cNvSpPr>
            <p:nvPr/>
          </p:nvSpPr>
          <p:spPr bwMode="auto">
            <a:xfrm flipV="1">
              <a:off x="7123088" y="1667347"/>
              <a:ext cx="0" cy="4008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7180238" y="4247829"/>
              <a:ext cx="0" cy="3040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7048475" y="1376834"/>
              <a:ext cx="3978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 spc="-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lang="en-US" altLang="zh-CN" sz="2400" b="1" i="1" spc="-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7116738" y="4272435"/>
              <a:ext cx="609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en-US" altLang="zh-CN" sz="16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</a:t>
              </a:r>
              <a:endParaRPr lang="en-US" altLang="zh-CN" sz="2400" b="1" i="1" spc="-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5914503" y="1038348"/>
              <a:ext cx="1171948" cy="701676"/>
              <a:chOff x="5565402" y="219075"/>
              <a:chExt cx="1171948" cy="701676"/>
            </a:xfrm>
          </p:grpSpPr>
          <p:sp>
            <p:nvSpPr>
              <p:cNvPr id="41" name="Text Box 76"/>
              <p:cNvSpPr txBox="1">
                <a:spLocks noChangeArrowheads="1"/>
              </p:cNvSpPr>
              <p:nvPr/>
            </p:nvSpPr>
            <p:spPr bwMode="auto">
              <a:xfrm>
                <a:off x="5565402" y="219075"/>
                <a:ext cx="700833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 eaLnBrk="0" hangingPunct="0">
                  <a:defRPr sz="2000" b="1">
                    <a:latin typeface="黑体" panose="02010609060101010101" pitchFamily="2" charset="-122"/>
                    <a:ea typeface="黑体" panose="02010609060101010101" pitchFamily="2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轴线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Line 79"/>
              <p:cNvSpPr>
                <a:spLocks noChangeShapeType="1"/>
              </p:cNvSpPr>
              <p:nvPr/>
            </p:nvSpPr>
            <p:spPr bwMode="auto">
              <a:xfrm>
                <a:off x="6084168" y="596961"/>
                <a:ext cx="653182" cy="32379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35535" y="3758017"/>
            <a:ext cx="3573548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24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圆锥面由母线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绕与之相交的轴线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OO1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旋转而成。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7"/>
          <p:cNvSpPr>
            <a:spLocks noChangeArrowheads="1"/>
          </p:cNvSpPr>
          <p:nvPr/>
        </p:nvSpPr>
        <p:spPr bwMode="auto">
          <a:xfrm>
            <a:off x="635535" y="4718728"/>
            <a:ext cx="3821112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母线在圆柱表面的任一位置，称为圆锥面的素线。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934466" y="2426934"/>
            <a:ext cx="1844663" cy="2429099"/>
            <a:chOff x="5488284" y="1772816"/>
            <a:chExt cx="1844663" cy="2429099"/>
          </a:xfrm>
        </p:grpSpPr>
        <p:grpSp>
          <p:nvGrpSpPr>
            <p:cNvPr id="46" name="组合 45"/>
            <p:cNvGrpSpPr/>
            <p:nvPr/>
          </p:nvGrpSpPr>
          <p:grpSpPr>
            <a:xfrm>
              <a:off x="5488284" y="1772816"/>
              <a:ext cx="1637980" cy="2429099"/>
              <a:chOff x="5488284" y="1772816"/>
              <a:chExt cx="1637980" cy="2429099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5488284" y="2771057"/>
                <a:ext cx="1132013" cy="701676"/>
                <a:chOff x="5565402" y="219075"/>
                <a:chExt cx="1132013" cy="701676"/>
              </a:xfrm>
            </p:grpSpPr>
            <p:sp>
              <p:nvSpPr>
                <p:cNvPr id="5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5565402" y="219075"/>
                  <a:ext cx="700833" cy="400110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algn="ctr" eaLnBrk="0" hangingPunct="0">
                    <a:defRPr sz="2000" b="1">
                      <a:latin typeface="黑体" panose="02010609060101010101" pitchFamily="2" charset="-122"/>
                      <a:ea typeface="黑体" panose="02010609060101010101" pitchFamily="2" charset="-122"/>
                    </a:defRPr>
                  </a:lvl1pPr>
                </a:lstStyle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母线</a:t>
                  </a: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" name="Line 79"/>
                <p:cNvSpPr>
                  <a:spLocks noChangeShapeType="1"/>
                </p:cNvSpPr>
                <p:nvPr/>
              </p:nvSpPr>
              <p:spPr bwMode="auto">
                <a:xfrm>
                  <a:off x="6044233" y="596961"/>
                  <a:ext cx="653182" cy="32379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9" name="Line 26"/>
              <p:cNvSpPr>
                <a:spLocks noChangeShapeType="1"/>
              </p:cNvSpPr>
              <p:nvPr/>
            </p:nvSpPr>
            <p:spPr bwMode="auto">
              <a:xfrm flipH="1">
                <a:off x="6433270" y="2011049"/>
                <a:ext cx="692994" cy="2005798"/>
              </a:xfrm>
              <a:custGeom>
                <a:avLst/>
                <a:gdLst>
                  <a:gd name="connsiteX0" fmla="*/ 0 w 683469"/>
                  <a:gd name="connsiteY0" fmla="*/ 0 h 1948648"/>
                  <a:gd name="connsiteX1" fmla="*/ 683469 w 683469"/>
                  <a:gd name="connsiteY1" fmla="*/ 1948648 h 1948648"/>
                  <a:gd name="connsiteX0-1" fmla="*/ 0 w 692994"/>
                  <a:gd name="connsiteY0-2" fmla="*/ 0 h 2005798"/>
                  <a:gd name="connsiteX1-3" fmla="*/ 692994 w 692994"/>
                  <a:gd name="connsiteY1-4" fmla="*/ 2005798 h 200579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692994" h="2005798">
                    <a:moveTo>
                      <a:pt x="0" y="0"/>
                    </a:moveTo>
                    <a:cubicBezTo>
                      <a:pt x="227823" y="649549"/>
                      <a:pt x="465171" y="1356249"/>
                      <a:pt x="692994" y="2005798"/>
                    </a:cubicBezTo>
                  </a:path>
                </a:pathLst>
              </a:custGeom>
              <a:noFill/>
              <a:ln w="12700">
                <a:solidFill>
                  <a:srgbClr val="FFC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Text Box 8"/>
              <p:cNvSpPr txBox="1">
                <a:spLocks noChangeArrowheads="1"/>
              </p:cNvSpPr>
              <p:nvPr/>
            </p:nvSpPr>
            <p:spPr bwMode="auto">
              <a:xfrm>
                <a:off x="6296869" y="1772816"/>
                <a:ext cx="79541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b="1" spc="-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锥顶 </a:t>
                </a:r>
                <a:r>
                  <a:rPr lang="en-US" altLang="zh-CN" sz="2000" b="1" i="1" spc="-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endParaRPr lang="en-US" altLang="zh-CN" sz="2000" b="1" i="1" spc="-3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Text Box 9"/>
              <p:cNvSpPr txBox="1">
                <a:spLocks noChangeArrowheads="1"/>
              </p:cNvSpPr>
              <p:nvPr/>
            </p:nvSpPr>
            <p:spPr bwMode="auto">
              <a:xfrm>
                <a:off x="5960120" y="3801805"/>
                <a:ext cx="6096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i="1" spc="-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600" b="1" i="1" spc="-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en-US" altLang="zh-CN" sz="24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" name="弧形 46"/>
            <p:cNvSpPr/>
            <p:nvPr/>
          </p:nvSpPr>
          <p:spPr>
            <a:xfrm rot="9995817">
              <a:off x="6479334" y="3211473"/>
              <a:ext cx="853613" cy="552335"/>
            </a:xfrm>
            <a:prstGeom prst="arc">
              <a:avLst/>
            </a:prstGeom>
            <a:ln w="15875">
              <a:solidFill>
                <a:srgbClr val="FF0000"/>
              </a:solidFill>
              <a:head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247574" y="4853990"/>
            <a:ext cx="958468" cy="815216"/>
            <a:chOff x="6503328" y="-509629"/>
            <a:chExt cx="958468" cy="815216"/>
          </a:xfrm>
        </p:grpSpPr>
        <p:sp>
          <p:nvSpPr>
            <p:cNvPr id="55" name="Text Box 74"/>
            <p:cNvSpPr txBox="1">
              <a:spLocks noChangeArrowheads="1"/>
            </p:cNvSpPr>
            <p:nvPr/>
          </p:nvSpPr>
          <p:spPr bwMode="auto">
            <a:xfrm>
              <a:off x="6503328" y="-94523"/>
              <a:ext cx="700833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 eaLnBrk="0" hangingPunct="0">
                <a:defRPr sz="2000" b="1">
                  <a:latin typeface="黑体" panose="02010609060101010101" pitchFamily="2" charset="-122"/>
                  <a:ea typeface="黑体" panose="02010609060101010101" pitchFamily="2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底面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77"/>
            <p:cNvSpPr>
              <a:spLocks noChangeShapeType="1"/>
            </p:cNvSpPr>
            <p:nvPr/>
          </p:nvSpPr>
          <p:spPr bwMode="auto">
            <a:xfrm flipV="1">
              <a:off x="7070068" y="-509629"/>
              <a:ext cx="391728" cy="41510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569270" y="2646117"/>
            <a:ext cx="1653225" cy="2671879"/>
            <a:chOff x="7123088" y="1991999"/>
            <a:chExt cx="1653225" cy="2671879"/>
          </a:xfrm>
        </p:grpSpPr>
        <p:grpSp>
          <p:nvGrpSpPr>
            <p:cNvPr id="58" name="组合 57"/>
            <p:cNvGrpSpPr/>
            <p:nvPr/>
          </p:nvGrpSpPr>
          <p:grpSpPr>
            <a:xfrm>
              <a:off x="7385338" y="3855219"/>
              <a:ext cx="1390975" cy="808659"/>
              <a:chOff x="7434988" y="2302902"/>
              <a:chExt cx="1390975" cy="808659"/>
            </a:xfrm>
          </p:grpSpPr>
          <p:sp>
            <p:nvSpPr>
              <p:cNvPr id="61" name="Text Box 73"/>
              <p:cNvSpPr txBox="1">
                <a:spLocks noChangeArrowheads="1"/>
              </p:cNvSpPr>
              <p:nvPr/>
            </p:nvSpPr>
            <p:spPr bwMode="auto">
              <a:xfrm>
                <a:off x="8125130" y="2711451"/>
                <a:ext cx="700833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 eaLnBrk="0" hangingPunct="0">
                  <a:defRPr sz="2000" b="1">
                    <a:latin typeface="黑体" panose="02010609060101010101" pitchFamily="2" charset="-122"/>
                    <a:ea typeface="黑体" panose="02010609060101010101" pitchFamily="2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素线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78"/>
              <p:cNvSpPr>
                <a:spLocks noChangeShapeType="1"/>
              </p:cNvSpPr>
              <p:nvPr/>
            </p:nvSpPr>
            <p:spPr bwMode="auto">
              <a:xfrm flipH="1" flipV="1">
                <a:off x="7434988" y="2302902"/>
                <a:ext cx="687796" cy="60860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9" name="Line 26"/>
            <p:cNvSpPr>
              <a:spLocks noChangeShapeType="1"/>
            </p:cNvSpPr>
            <p:nvPr/>
          </p:nvSpPr>
          <p:spPr bwMode="auto">
            <a:xfrm>
              <a:off x="7132613" y="1991999"/>
              <a:ext cx="586053" cy="2090405"/>
            </a:xfrm>
            <a:custGeom>
              <a:avLst/>
              <a:gdLst>
                <a:gd name="connsiteX0" fmla="*/ 0 w 595578"/>
                <a:gd name="connsiteY0" fmla="*/ 0 h 2080880"/>
                <a:gd name="connsiteX1" fmla="*/ 595578 w 595578"/>
                <a:gd name="connsiteY1" fmla="*/ 2080880 h 2080880"/>
                <a:gd name="connsiteX0-1" fmla="*/ 0 w 595578"/>
                <a:gd name="connsiteY0-2" fmla="*/ 0 h 2014205"/>
                <a:gd name="connsiteX1-3" fmla="*/ 595578 w 595578"/>
                <a:gd name="connsiteY1-4" fmla="*/ 2014205 h 2014205"/>
                <a:gd name="connsiteX0-5" fmla="*/ 0 w 586053"/>
                <a:gd name="connsiteY0-6" fmla="*/ 0 h 2090405"/>
                <a:gd name="connsiteX1-7" fmla="*/ 586053 w 586053"/>
                <a:gd name="connsiteY1-8" fmla="*/ 2090405 h 20904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586053" h="2090405">
                  <a:moveTo>
                    <a:pt x="0" y="0"/>
                  </a:moveTo>
                  <a:cubicBezTo>
                    <a:pt x="198526" y="693627"/>
                    <a:pt x="387527" y="1396778"/>
                    <a:pt x="586053" y="2090405"/>
                  </a:cubicBezTo>
                </a:path>
              </a:pathLst>
            </a:custGeom>
            <a:noFill/>
            <a:ln w="12700">
              <a:solidFill>
                <a:srgbClr val="FFC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>
              <a:off x="7123088" y="1991999"/>
              <a:ext cx="313903" cy="2207873"/>
            </a:xfrm>
            <a:custGeom>
              <a:avLst/>
              <a:gdLst>
                <a:gd name="connsiteX0" fmla="*/ 0 w 313903"/>
                <a:gd name="connsiteY0" fmla="*/ 0 h 2131673"/>
                <a:gd name="connsiteX1" fmla="*/ 313903 w 313903"/>
                <a:gd name="connsiteY1" fmla="*/ 2131673 h 2131673"/>
                <a:gd name="connsiteX0-1" fmla="*/ 0 w 313903"/>
                <a:gd name="connsiteY0-2" fmla="*/ 0 h 2207873"/>
                <a:gd name="connsiteX1-3" fmla="*/ 313903 w 313903"/>
                <a:gd name="connsiteY1-4" fmla="*/ 2207873 h 22078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313903" h="2207873">
                  <a:moveTo>
                    <a:pt x="0" y="0"/>
                  </a:moveTo>
                  <a:cubicBezTo>
                    <a:pt x="104634" y="710558"/>
                    <a:pt x="209269" y="1497315"/>
                    <a:pt x="313903" y="2207873"/>
                  </a:cubicBezTo>
                </a:path>
              </a:pathLst>
            </a:custGeom>
            <a:noFill/>
            <a:ln w="12700">
              <a:solidFill>
                <a:srgbClr val="FFC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042517" y="2589776"/>
            <a:ext cx="1074673" cy="1235509"/>
            <a:chOff x="6694385" y="453881"/>
            <a:chExt cx="1074673" cy="1235509"/>
          </a:xfrm>
        </p:grpSpPr>
        <p:sp>
          <p:nvSpPr>
            <p:cNvPr id="64" name="Text Box 75"/>
            <p:cNvSpPr txBox="1">
              <a:spLocks noChangeArrowheads="1"/>
            </p:cNvSpPr>
            <p:nvPr/>
          </p:nvSpPr>
          <p:spPr bwMode="auto">
            <a:xfrm>
              <a:off x="6810142" y="453881"/>
              <a:ext cx="95891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 eaLnBrk="0" hangingPunct="0">
                <a:defRPr sz="2000" b="1">
                  <a:latin typeface="黑体" panose="02010609060101010101" pitchFamily="2" charset="-122"/>
                  <a:ea typeface="黑体" panose="02010609060101010101" pitchFamily="2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圆锥面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80"/>
            <p:cNvSpPr>
              <a:spLocks noChangeShapeType="1"/>
            </p:cNvSpPr>
            <p:nvPr/>
          </p:nvSpPr>
          <p:spPr bwMode="auto">
            <a:xfrm flipH="1">
              <a:off x="6694385" y="866294"/>
              <a:ext cx="539307" cy="8230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329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圆锥的组成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68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3" grpId="0"/>
      <p:bldP spid="4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7008146" y="1225752"/>
            <a:ext cx="563563" cy="463550"/>
            <a:chOff x="2384" y="3749"/>
            <a:chExt cx="355" cy="235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414" y="3749"/>
              <a:ext cx="325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 </a:t>
              </a:r>
              <a:r>
                <a:rPr lang="en-US" altLang="zh-CN" sz="2400" b="1" i="1">
                  <a:latin typeface="ISOCPEUR" panose="020B0604020202020204" pitchFamily="34" charset="0"/>
                </a:rPr>
                <a:t>s</a:t>
              </a:r>
              <a:r>
                <a:rPr lang="en-US" altLang="zh-CN" sz="2400" b="1" i="1">
                  <a:latin typeface="ISOCPEUR" panose="020B0604020202020204" pitchFamily="34" charset="0"/>
                  <a:sym typeface="Symbol" panose="05050102010706020507" pitchFamily="18" charset="2"/>
                </a:rPr>
                <a:t></a:t>
              </a:r>
              <a:endParaRPr lang="en-US" altLang="zh-CN" sz="2400" b="1" i="1">
                <a:latin typeface="ISOCPEUR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384" y="3867"/>
              <a:ext cx="186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b="1">
                  <a:solidFill>
                    <a:srgbClr val="C00000"/>
                  </a:solidFill>
                </a:rPr>
                <a:t>●</a:t>
              </a:r>
              <a:endParaRPr lang="en-US" altLang="zh-CN" sz="2400" b="1">
                <a:solidFill>
                  <a:srgbClr val="C00000"/>
                </a:solidFill>
              </a:endParaRPr>
            </a:p>
          </p:txBody>
        </p:sp>
      </p:grp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4649121" y="3726064"/>
            <a:ext cx="1219200" cy="1143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grpSp>
        <p:nvGrpSpPr>
          <p:cNvPr id="9" name="Group 8"/>
          <p:cNvGrpSpPr/>
          <p:nvPr/>
        </p:nvGrpSpPr>
        <p:grpSpPr bwMode="auto">
          <a:xfrm>
            <a:off x="4912646" y="1194002"/>
            <a:ext cx="500063" cy="493712"/>
            <a:chOff x="4024" y="1905"/>
            <a:chExt cx="315" cy="311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024" y="1905"/>
              <a:ext cx="2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C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 </a:t>
              </a:r>
              <a:r>
                <a:rPr lang="en-US" altLang="zh-CN" sz="2400" b="1" i="1">
                  <a:latin typeface="ISOCPEUR" panose="020B0604020202020204" pitchFamily="34" charset="0"/>
                </a:rPr>
                <a:t>s</a:t>
              </a:r>
              <a:r>
                <a:rPr lang="en-US" altLang="zh-CN" sz="2400" b="1" i="1">
                  <a:latin typeface="ISOCPEUR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zh-CN" sz="2400" b="1" i="1">
                <a:latin typeface="ISOCPEUR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150" y="2072"/>
              <a:ext cx="18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b="1">
                  <a:solidFill>
                    <a:srgbClr val="C00000"/>
                  </a:solidFill>
                </a:rPr>
                <a:t>●</a:t>
              </a:r>
              <a:endParaRPr lang="en-US" altLang="zh-CN" sz="2400" b="1">
                <a:solidFill>
                  <a:srgbClr val="C00000"/>
                </a:solidFill>
              </a:endParaRPr>
            </a:p>
          </p:txBody>
        </p:sp>
      </p:grp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6554121" y="1592464"/>
            <a:ext cx="1219200" cy="1676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4" name="AutoShape 12"/>
          <p:cNvSpPr>
            <a:spLocks noChangeArrowheads="1"/>
          </p:cNvSpPr>
          <p:nvPr/>
        </p:nvSpPr>
        <p:spPr bwMode="auto">
          <a:xfrm>
            <a:off x="4649121" y="1592464"/>
            <a:ext cx="1219200" cy="1676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5" name="Freeform 15"/>
          <p:cNvSpPr/>
          <p:nvPr/>
        </p:nvSpPr>
        <p:spPr bwMode="auto">
          <a:xfrm>
            <a:off x="4517359" y="3276802"/>
            <a:ext cx="1524000" cy="1587"/>
          </a:xfrm>
          <a:custGeom>
            <a:avLst/>
            <a:gdLst>
              <a:gd name="T0" fmla="*/ 0 w 960"/>
              <a:gd name="T1" fmla="*/ 0 h 1"/>
              <a:gd name="T2" fmla="*/ 2147483647 w 960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60" h="1">
                <a:moveTo>
                  <a:pt x="0" y="0"/>
                </a:moveTo>
                <a:lnTo>
                  <a:pt x="960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Freeform 17"/>
          <p:cNvSpPr/>
          <p:nvPr/>
        </p:nvSpPr>
        <p:spPr bwMode="auto">
          <a:xfrm>
            <a:off x="6430296" y="3278389"/>
            <a:ext cx="1479550" cy="1588"/>
          </a:xfrm>
          <a:custGeom>
            <a:avLst/>
            <a:gdLst>
              <a:gd name="T0" fmla="*/ 0 w 932"/>
              <a:gd name="T1" fmla="*/ 0 h 1"/>
              <a:gd name="T2" fmla="*/ 2147483647 w 932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32" h="1">
                <a:moveTo>
                  <a:pt x="0" y="0"/>
                </a:moveTo>
                <a:lnTo>
                  <a:pt x="932" y="0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>
            <a:off x="5258721" y="1592464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5190459" y="3916564"/>
            <a:ext cx="33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ISOCPEUR" panose="020B0604020202020204" pitchFamily="34" charset="0"/>
              </a:rPr>
              <a:t>s</a:t>
            </a:r>
            <a:endParaRPr lang="en-US" altLang="zh-CN" sz="2400" b="1" i="1">
              <a:latin typeface="ISOCPEUR" panose="020B0604020202020204" pitchFamily="34" charset="0"/>
            </a:endParaRPr>
          </a:p>
        </p:txBody>
      </p: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727640" y="3227323"/>
            <a:ext cx="2700949" cy="2493288"/>
            <a:chOff x="1038890" y="2746099"/>
            <a:chExt cx="3200399" cy="2954338"/>
          </a:xfrm>
        </p:grpSpPr>
        <p:sp>
          <p:nvSpPr>
            <p:cNvPr id="20" name="Line 188"/>
            <p:cNvSpPr>
              <a:spLocks noChangeShapeType="1"/>
            </p:cNvSpPr>
            <p:nvPr/>
          </p:nvSpPr>
          <p:spPr bwMode="auto">
            <a:xfrm rot="16200000" flipV="1">
              <a:off x="2438257" y="4996323"/>
              <a:ext cx="3006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8"/>
            <p:cNvSpPr>
              <a:spLocks noChangeShapeType="1"/>
            </p:cNvSpPr>
            <p:nvPr/>
          </p:nvSpPr>
          <p:spPr bwMode="auto">
            <a:xfrm rot="16200000">
              <a:off x="2441354" y="3214468"/>
              <a:ext cx="3230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" name="Group 22"/>
            <p:cNvGrpSpPr/>
            <p:nvPr/>
          </p:nvGrpSpPr>
          <p:grpSpPr bwMode="auto">
            <a:xfrm>
              <a:off x="1038890" y="2746099"/>
              <a:ext cx="3200399" cy="2954338"/>
              <a:chOff x="435" y="2206"/>
              <a:chExt cx="2016" cy="1861"/>
            </a:xfrm>
          </p:grpSpPr>
          <p:sp>
            <p:nvSpPr>
              <p:cNvPr id="23" name="Freeform 24"/>
              <p:cNvSpPr/>
              <p:nvPr/>
            </p:nvSpPr>
            <p:spPr bwMode="auto">
              <a:xfrm>
                <a:off x="1827" y="2248"/>
                <a:ext cx="566" cy="1800"/>
              </a:xfrm>
              <a:custGeom>
                <a:avLst/>
                <a:gdLst>
                  <a:gd name="T0" fmla="*/ 0 w 566"/>
                  <a:gd name="T1" fmla="*/ 0 h 1800"/>
                  <a:gd name="T2" fmla="*/ 0 w 566"/>
                  <a:gd name="T3" fmla="*/ 1355 h 1800"/>
                  <a:gd name="T4" fmla="*/ 566 w 566"/>
                  <a:gd name="T5" fmla="*/ 1800 h 1800"/>
                  <a:gd name="T6" fmla="*/ 566 w 566"/>
                  <a:gd name="T7" fmla="*/ 402 h 1800"/>
                  <a:gd name="T8" fmla="*/ 0 w 566"/>
                  <a:gd name="T9" fmla="*/ 0 h 18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6" h="1800">
                    <a:moveTo>
                      <a:pt x="0" y="0"/>
                    </a:moveTo>
                    <a:lnTo>
                      <a:pt x="0" y="1355"/>
                    </a:lnTo>
                    <a:lnTo>
                      <a:pt x="566" y="1800"/>
                    </a:lnTo>
                    <a:lnTo>
                      <a:pt x="566" y="4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>
                  <a:alpha val="50195"/>
                </a:srgbClr>
              </a:solidFill>
              <a:ln w="28575" cmpd="sng">
                <a:solidFill>
                  <a:schemeClr val="accent5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" name="Freeform 23"/>
              <p:cNvSpPr/>
              <p:nvPr/>
            </p:nvSpPr>
            <p:spPr bwMode="auto">
              <a:xfrm>
                <a:off x="473" y="3607"/>
                <a:ext cx="1920" cy="443"/>
              </a:xfrm>
              <a:custGeom>
                <a:avLst/>
                <a:gdLst>
                  <a:gd name="T0" fmla="*/ 1356 w 1933"/>
                  <a:gd name="T1" fmla="*/ 0 h 443"/>
                  <a:gd name="T2" fmla="*/ 0 w 1933"/>
                  <a:gd name="T3" fmla="*/ 0 h 443"/>
                  <a:gd name="T4" fmla="*/ 555 w 1933"/>
                  <a:gd name="T5" fmla="*/ 443 h 443"/>
                  <a:gd name="T6" fmla="*/ 1933 w 1933"/>
                  <a:gd name="T7" fmla="*/ 432 h 443"/>
                  <a:gd name="T8" fmla="*/ 1356 w 193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33" h="443">
                    <a:moveTo>
                      <a:pt x="1356" y="0"/>
                    </a:moveTo>
                    <a:lnTo>
                      <a:pt x="0" y="0"/>
                    </a:lnTo>
                    <a:lnTo>
                      <a:pt x="555" y="443"/>
                    </a:lnTo>
                    <a:lnTo>
                      <a:pt x="1933" y="432"/>
                    </a:lnTo>
                    <a:lnTo>
                      <a:pt x="1356" y="0"/>
                    </a:lnTo>
                    <a:close/>
                  </a:path>
                </a:pathLst>
              </a:custGeom>
              <a:solidFill>
                <a:srgbClr val="99CCFF">
                  <a:alpha val="50195"/>
                </a:srgbClr>
              </a:solidFill>
              <a:ln w="28575" cmpd="sng">
                <a:solidFill>
                  <a:schemeClr val="accent5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" name="Freeform 25"/>
              <p:cNvSpPr/>
              <p:nvPr/>
            </p:nvSpPr>
            <p:spPr bwMode="auto">
              <a:xfrm>
                <a:off x="460" y="2248"/>
                <a:ext cx="1367" cy="1356"/>
              </a:xfrm>
              <a:custGeom>
                <a:avLst/>
                <a:gdLst>
                  <a:gd name="T0" fmla="*/ 0 w 1367"/>
                  <a:gd name="T1" fmla="*/ 0 h 1478"/>
                  <a:gd name="T2" fmla="*/ 1367 w 1367"/>
                  <a:gd name="T3" fmla="*/ 6 h 1478"/>
                  <a:gd name="T4" fmla="*/ 1367 w 1367"/>
                  <a:gd name="T5" fmla="*/ 571 h 1478"/>
                  <a:gd name="T6" fmla="*/ 0 w 1367"/>
                  <a:gd name="T7" fmla="*/ 573 h 1478"/>
                  <a:gd name="T8" fmla="*/ 0 w 1367"/>
                  <a:gd name="T9" fmla="*/ 0 h 14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7" h="1478">
                    <a:moveTo>
                      <a:pt x="0" y="0"/>
                    </a:moveTo>
                    <a:lnTo>
                      <a:pt x="1367" y="6"/>
                    </a:lnTo>
                    <a:lnTo>
                      <a:pt x="1367" y="1473"/>
                    </a:lnTo>
                    <a:lnTo>
                      <a:pt x="0" y="14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>
                  <a:alpha val="50195"/>
                </a:srgbClr>
              </a:solidFill>
              <a:ln w="28575" cmpd="sng">
                <a:solidFill>
                  <a:schemeClr val="accent5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6" name="Text Box 26"/>
              <p:cNvSpPr txBox="1">
                <a:spLocks noChangeArrowheads="1"/>
              </p:cNvSpPr>
              <p:nvPr/>
            </p:nvSpPr>
            <p:spPr bwMode="auto">
              <a:xfrm>
                <a:off x="435" y="2206"/>
                <a:ext cx="26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ISOCPEUR" panose="020B0604020202020204" pitchFamily="34" charset="0"/>
                    <a:ea typeface="隶书" panose="02010509060101010101" pitchFamily="49" charset="-122"/>
                  </a:defRPr>
                </a:lvl1pPr>
              </a:lstStyle>
              <a:p>
                <a:pPr>
                  <a:defRPr/>
                </a:pPr>
                <a:r>
                  <a:rPr lang="en-US" altLang="zh-CN" dirty="0"/>
                  <a:t>V</a:t>
                </a:r>
                <a:endParaRPr lang="en-US" altLang="zh-CN" dirty="0"/>
              </a:p>
            </p:txBody>
          </p:sp>
          <p:sp>
            <p:nvSpPr>
              <p:cNvPr id="27" name="Text Box 27"/>
              <p:cNvSpPr txBox="1">
                <a:spLocks noChangeArrowheads="1"/>
              </p:cNvSpPr>
              <p:nvPr/>
            </p:nvSpPr>
            <p:spPr bwMode="auto">
              <a:xfrm>
                <a:off x="2030" y="2569"/>
                <a:ext cx="421" cy="446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isometricOffAxis1Left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ISOCPEUR" panose="020B0604020202020204" pitchFamily="34" charset="0"/>
                    <a:ea typeface="隶书" panose="02010509060101010101" pitchFamily="49" charset="-122"/>
                  </a:defRPr>
                </a:lvl1pPr>
              </a:lstStyle>
              <a:p>
                <a:pPr>
                  <a:defRPr/>
                </a:pPr>
                <a:r>
                  <a:rPr lang="en-US" altLang="zh-CN" sz="4000" dirty="0"/>
                  <a:t>W</a:t>
                </a:r>
                <a:endParaRPr lang="en-US" altLang="zh-CN" sz="4000" dirty="0"/>
              </a:p>
            </p:txBody>
          </p:sp>
          <p:sp>
            <p:nvSpPr>
              <p:cNvPr id="28" name="Text Box 28"/>
              <p:cNvSpPr txBox="1">
                <a:spLocks noChangeArrowheads="1"/>
              </p:cNvSpPr>
              <p:nvPr/>
            </p:nvSpPr>
            <p:spPr bwMode="auto">
              <a:xfrm rot="1320000">
                <a:off x="864" y="3808"/>
                <a:ext cx="427" cy="259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isometricBottomDown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99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vert" wrap="none">
                <a:spAutoFit/>
              </a:bodyPr>
              <a:lstStyle>
                <a:defPPr>
                  <a:defRPr lang="zh-CN"/>
                </a:defPPr>
                <a:lvl1pPr>
                  <a:defRPr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anose="02010509060101010101" pitchFamily="49" charset="-122"/>
                  </a:defRPr>
                </a:lvl1pPr>
              </a:lstStyle>
              <a:p>
                <a:r>
                  <a:rPr lang="en-US" altLang="zh-CN" dirty="0"/>
                  <a:t>H</a:t>
                </a:r>
                <a:endParaRPr lang="en-US" altLang="zh-CN" dirty="0"/>
              </a:p>
            </p:txBody>
          </p:sp>
          <p:pic>
            <p:nvPicPr>
              <p:cNvPr id="29" name="Picture 29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4" y="2429"/>
                <a:ext cx="1066" cy="1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30" name="组合 29"/>
          <p:cNvGrpSpPr/>
          <p:nvPr/>
        </p:nvGrpSpPr>
        <p:grpSpPr bwMode="auto">
          <a:xfrm>
            <a:off x="5255546" y="3605414"/>
            <a:ext cx="0" cy="1368425"/>
            <a:chOff x="5598000" y="4005064"/>
            <a:chExt cx="1" cy="1368152"/>
          </a:xfrm>
        </p:grpSpPr>
        <p:sp>
          <p:nvSpPr>
            <p:cNvPr id="31" name="Line 188"/>
            <p:cNvSpPr>
              <a:spLocks noChangeShapeType="1"/>
            </p:cNvSpPr>
            <p:nvPr/>
          </p:nvSpPr>
          <p:spPr bwMode="auto">
            <a:xfrm rot="16200000" flipV="1">
              <a:off x="5417980" y="5193197"/>
              <a:ext cx="360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89"/>
            <p:cNvSpPr>
              <a:spLocks noChangeShapeType="1"/>
            </p:cNvSpPr>
            <p:nvPr/>
          </p:nvSpPr>
          <p:spPr bwMode="auto">
            <a:xfrm rot="-5400000">
              <a:off x="5571807" y="494614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90"/>
            <p:cNvSpPr>
              <a:spLocks noChangeShapeType="1"/>
            </p:cNvSpPr>
            <p:nvPr/>
          </p:nvSpPr>
          <p:spPr bwMode="auto">
            <a:xfrm rot="-5400000">
              <a:off x="5395594" y="4677854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91"/>
            <p:cNvSpPr>
              <a:spLocks noChangeShapeType="1"/>
            </p:cNvSpPr>
            <p:nvPr/>
          </p:nvSpPr>
          <p:spPr bwMode="auto">
            <a:xfrm rot="-5400000">
              <a:off x="5571807" y="440321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92"/>
            <p:cNvSpPr>
              <a:spLocks noChangeShapeType="1"/>
            </p:cNvSpPr>
            <p:nvPr/>
          </p:nvSpPr>
          <p:spPr bwMode="auto">
            <a:xfrm rot="-5400000">
              <a:off x="5436628" y="4166437"/>
              <a:ext cx="322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 bwMode="auto">
          <a:xfrm>
            <a:off x="5255546" y="1440064"/>
            <a:ext cx="0" cy="1943100"/>
            <a:chOff x="5598000" y="1844824"/>
            <a:chExt cx="1" cy="1944215"/>
          </a:xfrm>
        </p:grpSpPr>
        <p:sp>
          <p:nvSpPr>
            <p:cNvPr id="38" name="Line 188"/>
            <p:cNvSpPr>
              <a:spLocks noChangeShapeType="1"/>
            </p:cNvSpPr>
            <p:nvPr/>
          </p:nvSpPr>
          <p:spPr bwMode="auto">
            <a:xfrm rot="16200000" flipV="1">
              <a:off x="5313690" y="3504730"/>
              <a:ext cx="5686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89"/>
            <p:cNvSpPr>
              <a:spLocks noChangeShapeType="1"/>
            </p:cNvSpPr>
            <p:nvPr/>
          </p:nvSpPr>
          <p:spPr bwMode="auto">
            <a:xfrm rot="-5400000">
              <a:off x="5571807" y="310864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90"/>
            <p:cNvSpPr>
              <a:spLocks noChangeShapeType="1"/>
            </p:cNvSpPr>
            <p:nvPr/>
          </p:nvSpPr>
          <p:spPr bwMode="auto">
            <a:xfrm rot="-5400000">
              <a:off x="5395594" y="2840359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91"/>
            <p:cNvSpPr>
              <a:spLocks noChangeShapeType="1"/>
            </p:cNvSpPr>
            <p:nvPr/>
          </p:nvSpPr>
          <p:spPr bwMode="auto">
            <a:xfrm rot="-5400000">
              <a:off x="5571807" y="256572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92"/>
            <p:cNvSpPr>
              <a:spLocks noChangeShapeType="1"/>
            </p:cNvSpPr>
            <p:nvPr/>
          </p:nvSpPr>
          <p:spPr bwMode="auto">
            <a:xfrm rot="-5400000">
              <a:off x="5275255" y="2167570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 bwMode="auto">
          <a:xfrm rot="5400000">
            <a:off x="5256340" y="3607795"/>
            <a:ext cx="0" cy="1404938"/>
            <a:chOff x="5598000" y="4005064"/>
            <a:chExt cx="1" cy="1368152"/>
          </a:xfrm>
        </p:grpSpPr>
        <p:sp>
          <p:nvSpPr>
            <p:cNvPr id="44" name="Line 188"/>
            <p:cNvSpPr>
              <a:spLocks noChangeShapeType="1"/>
            </p:cNvSpPr>
            <p:nvPr/>
          </p:nvSpPr>
          <p:spPr bwMode="auto">
            <a:xfrm rot="16200000" flipV="1">
              <a:off x="5417980" y="5193197"/>
              <a:ext cx="360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89"/>
            <p:cNvSpPr>
              <a:spLocks noChangeShapeType="1"/>
            </p:cNvSpPr>
            <p:nvPr/>
          </p:nvSpPr>
          <p:spPr bwMode="auto">
            <a:xfrm rot="-5400000">
              <a:off x="5571807" y="494614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90"/>
            <p:cNvSpPr>
              <a:spLocks noChangeShapeType="1"/>
            </p:cNvSpPr>
            <p:nvPr/>
          </p:nvSpPr>
          <p:spPr bwMode="auto">
            <a:xfrm rot="-5400000">
              <a:off x="5395594" y="4677854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91"/>
            <p:cNvSpPr>
              <a:spLocks noChangeShapeType="1"/>
            </p:cNvSpPr>
            <p:nvPr/>
          </p:nvSpPr>
          <p:spPr bwMode="auto">
            <a:xfrm rot="-5400000">
              <a:off x="5571807" y="440321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92"/>
            <p:cNvSpPr>
              <a:spLocks noChangeShapeType="1"/>
            </p:cNvSpPr>
            <p:nvPr/>
          </p:nvSpPr>
          <p:spPr bwMode="auto">
            <a:xfrm rot="-5400000">
              <a:off x="5436628" y="4166437"/>
              <a:ext cx="322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 bwMode="auto">
          <a:xfrm>
            <a:off x="7162134" y="1440064"/>
            <a:ext cx="0" cy="1943100"/>
            <a:chOff x="5598000" y="1844824"/>
            <a:chExt cx="1" cy="1944215"/>
          </a:xfrm>
        </p:grpSpPr>
        <p:sp>
          <p:nvSpPr>
            <p:cNvPr id="50" name="Line 188"/>
            <p:cNvSpPr>
              <a:spLocks noChangeShapeType="1"/>
            </p:cNvSpPr>
            <p:nvPr/>
          </p:nvSpPr>
          <p:spPr bwMode="auto">
            <a:xfrm rot="16200000" flipV="1">
              <a:off x="5313690" y="3504730"/>
              <a:ext cx="5686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89"/>
            <p:cNvSpPr>
              <a:spLocks noChangeShapeType="1"/>
            </p:cNvSpPr>
            <p:nvPr/>
          </p:nvSpPr>
          <p:spPr bwMode="auto">
            <a:xfrm rot="-5400000">
              <a:off x="5571807" y="310864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90"/>
            <p:cNvSpPr>
              <a:spLocks noChangeShapeType="1"/>
            </p:cNvSpPr>
            <p:nvPr/>
          </p:nvSpPr>
          <p:spPr bwMode="auto">
            <a:xfrm rot="-5400000">
              <a:off x="5395594" y="2840359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91"/>
            <p:cNvSpPr>
              <a:spLocks noChangeShapeType="1"/>
            </p:cNvSpPr>
            <p:nvPr/>
          </p:nvSpPr>
          <p:spPr bwMode="auto">
            <a:xfrm rot="-5400000">
              <a:off x="5571807" y="256572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92"/>
            <p:cNvSpPr>
              <a:spLocks noChangeShapeType="1"/>
            </p:cNvSpPr>
            <p:nvPr/>
          </p:nvSpPr>
          <p:spPr bwMode="auto">
            <a:xfrm rot="-5400000">
              <a:off x="5275255" y="2167570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" name="Group 78"/>
          <p:cNvGrpSpPr/>
          <p:nvPr/>
        </p:nvGrpSpPr>
        <p:grpSpPr bwMode="auto">
          <a:xfrm>
            <a:off x="4276059" y="3191077"/>
            <a:ext cx="611187" cy="1485900"/>
            <a:chOff x="3100" y="2549"/>
            <a:chExt cx="220" cy="936"/>
          </a:xfrm>
        </p:grpSpPr>
        <p:sp>
          <p:nvSpPr>
            <p:cNvPr id="56" name="Text Box 79"/>
            <p:cNvSpPr txBox="1">
              <a:spLocks noChangeArrowheads="1"/>
            </p:cNvSpPr>
            <p:nvPr/>
          </p:nvSpPr>
          <p:spPr bwMode="auto">
            <a:xfrm>
              <a:off x="3100" y="2549"/>
              <a:ext cx="2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rgbClr val="C00000"/>
                  </a:solidFill>
                  <a:latin typeface="ISOCPEUR" panose="020B0604020202020204" pitchFamily="34" charset="0"/>
                </a:rPr>
                <a:t>1′</a:t>
              </a:r>
              <a:endParaRPr lang="en-US" altLang="zh-CN" sz="2400" b="1" i="1" dirty="0">
                <a:solidFill>
                  <a:srgbClr val="C00000"/>
                </a:solidFill>
                <a:latin typeface="ISOCPEUR" panose="020B0604020202020204" pitchFamily="34" charset="0"/>
              </a:endParaRPr>
            </a:p>
          </p:txBody>
        </p:sp>
        <p:sp>
          <p:nvSpPr>
            <p:cNvPr id="57" name="Text Box 80"/>
            <p:cNvSpPr txBox="1">
              <a:spLocks noChangeArrowheads="1"/>
            </p:cNvSpPr>
            <p:nvPr/>
          </p:nvSpPr>
          <p:spPr bwMode="auto">
            <a:xfrm>
              <a:off x="3139" y="3197"/>
              <a:ext cx="1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rgbClr val="C00000"/>
                  </a:solidFill>
                  <a:latin typeface="ISOCPEUR" panose="020B0604020202020204" pitchFamily="34" charset="0"/>
                </a:rPr>
                <a:t>1</a:t>
              </a:r>
              <a:endParaRPr lang="en-US" altLang="zh-CN" sz="2400" b="1" i="1" dirty="0">
                <a:solidFill>
                  <a:srgbClr val="C00000"/>
                </a:solidFill>
                <a:latin typeface="ISOCPEUR" panose="020B0604020202020204" pitchFamily="34" charset="0"/>
              </a:endParaRPr>
            </a:p>
          </p:txBody>
        </p:sp>
      </p:grpSp>
      <p:grpSp>
        <p:nvGrpSpPr>
          <p:cNvPr id="58" name="Group 81"/>
          <p:cNvGrpSpPr/>
          <p:nvPr/>
        </p:nvGrpSpPr>
        <p:grpSpPr bwMode="auto">
          <a:xfrm>
            <a:off x="5654009" y="3149802"/>
            <a:ext cx="687387" cy="1466850"/>
            <a:chOff x="4036" y="2561"/>
            <a:chExt cx="247" cy="924"/>
          </a:xfrm>
        </p:grpSpPr>
        <p:sp>
          <p:nvSpPr>
            <p:cNvPr id="59" name="Text Box 82"/>
            <p:cNvSpPr txBox="1">
              <a:spLocks noChangeArrowheads="1"/>
            </p:cNvSpPr>
            <p:nvPr/>
          </p:nvSpPr>
          <p:spPr bwMode="auto">
            <a:xfrm>
              <a:off x="4036" y="2561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C00000"/>
                  </a:solidFill>
                  <a:latin typeface="ISOCPEUR" panose="020B0604020202020204" pitchFamily="34" charset="0"/>
                </a:rPr>
                <a:t>2′</a:t>
              </a:r>
              <a:endParaRPr lang="en-US" altLang="zh-CN" sz="2400" b="1" i="1">
                <a:solidFill>
                  <a:srgbClr val="C00000"/>
                </a:solidFill>
                <a:latin typeface="ISOCPEUR" panose="020B0604020202020204" pitchFamily="34" charset="0"/>
              </a:endParaRPr>
            </a:p>
          </p:txBody>
        </p:sp>
        <p:sp>
          <p:nvSpPr>
            <p:cNvPr id="60" name="Text Box 83"/>
            <p:cNvSpPr txBox="1">
              <a:spLocks noChangeArrowheads="1"/>
            </p:cNvSpPr>
            <p:nvPr/>
          </p:nvSpPr>
          <p:spPr bwMode="auto">
            <a:xfrm>
              <a:off x="4119" y="3197"/>
              <a:ext cx="1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C00000"/>
                  </a:solidFill>
                  <a:latin typeface="ISOCPEUR" panose="020B0604020202020204" pitchFamily="34" charset="0"/>
                </a:rPr>
                <a:t>2</a:t>
              </a:r>
              <a:endParaRPr lang="en-US" altLang="zh-CN" sz="2400" b="1" i="1">
                <a:solidFill>
                  <a:srgbClr val="C00000"/>
                </a:solidFill>
                <a:latin typeface="ISOCPEUR" panose="020B0604020202020204" pitchFamily="34" charset="0"/>
              </a:endParaRPr>
            </a:p>
          </p:txBody>
        </p:sp>
      </p:grpSp>
      <p:sp>
        <p:nvSpPr>
          <p:cNvPr id="61" name="Text Box 84"/>
          <p:cNvSpPr txBox="1">
            <a:spLocks noChangeArrowheads="1"/>
          </p:cNvSpPr>
          <p:nvPr/>
        </p:nvSpPr>
        <p:spPr bwMode="auto">
          <a:xfrm>
            <a:off x="6668421" y="3264102"/>
            <a:ext cx="76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olidFill>
                  <a:srgbClr val="C00000"/>
                </a:solidFill>
                <a:latin typeface="ISOCPEUR" panose="020B0604020202020204" pitchFamily="34" charset="0"/>
              </a:rPr>
              <a:t>1″</a:t>
            </a:r>
            <a:endParaRPr lang="en-US" altLang="zh-CN" sz="2400" b="1" i="1">
              <a:solidFill>
                <a:srgbClr val="C00000"/>
              </a:solidFill>
              <a:latin typeface="ISOCPEUR" panose="020B0604020202020204" pitchFamily="34" charset="0"/>
            </a:endParaRPr>
          </a:p>
        </p:txBody>
      </p:sp>
      <p:sp>
        <p:nvSpPr>
          <p:cNvPr id="62" name="Text Box 85"/>
          <p:cNvSpPr txBox="1">
            <a:spLocks noChangeArrowheads="1"/>
          </p:cNvSpPr>
          <p:nvPr/>
        </p:nvSpPr>
        <p:spPr bwMode="auto">
          <a:xfrm>
            <a:off x="7089109" y="3241877"/>
            <a:ext cx="820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olidFill>
                  <a:srgbClr val="C00000"/>
                </a:solidFill>
                <a:latin typeface="ISOCPEUR" panose="020B0604020202020204" pitchFamily="34" charset="0"/>
              </a:rPr>
              <a:t>,2″</a:t>
            </a:r>
            <a:endParaRPr lang="en-US" altLang="zh-CN" sz="2400" b="1" i="1">
              <a:solidFill>
                <a:srgbClr val="C00000"/>
              </a:solidFill>
              <a:latin typeface="ISOCPEUR" panose="020B0604020202020204" pitchFamily="34" charset="0"/>
            </a:endParaRPr>
          </a:p>
        </p:txBody>
      </p:sp>
      <p:sp>
        <p:nvSpPr>
          <p:cNvPr id="63" name="Line 102"/>
          <p:cNvSpPr>
            <a:spLocks noChangeShapeType="1"/>
          </p:cNvSpPr>
          <p:nvPr/>
        </p:nvSpPr>
        <p:spPr bwMode="auto">
          <a:xfrm flipH="1">
            <a:off x="4650709" y="1584527"/>
            <a:ext cx="604837" cy="168275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104"/>
          <p:cNvSpPr>
            <a:spLocks noChangeShapeType="1"/>
          </p:cNvSpPr>
          <p:nvPr/>
        </p:nvSpPr>
        <p:spPr bwMode="auto">
          <a:xfrm>
            <a:off x="5274596" y="1598814"/>
            <a:ext cx="595313" cy="1668463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110"/>
          <p:cNvSpPr>
            <a:spLocks noChangeShapeType="1"/>
          </p:cNvSpPr>
          <p:nvPr/>
        </p:nvSpPr>
        <p:spPr bwMode="auto">
          <a:xfrm>
            <a:off x="4661821" y="4303914"/>
            <a:ext cx="612775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111"/>
          <p:cNvSpPr>
            <a:spLocks noChangeShapeType="1"/>
          </p:cNvSpPr>
          <p:nvPr/>
        </p:nvSpPr>
        <p:spPr bwMode="auto">
          <a:xfrm>
            <a:off x="7163721" y="1598814"/>
            <a:ext cx="0" cy="1677988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10"/>
          <p:cNvSpPr>
            <a:spLocks noChangeShapeType="1"/>
          </p:cNvSpPr>
          <p:nvPr/>
        </p:nvSpPr>
        <p:spPr bwMode="auto">
          <a:xfrm>
            <a:off x="5274596" y="4307089"/>
            <a:ext cx="612775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Rectangle 78"/>
          <p:cNvSpPr>
            <a:spLocks noChangeArrowheads="1"/>
          </p:cNvSpPr>
          <p:nvPr/>
        </p:nvSpPr>
        <p:spPr bwMode="auto">
          <a:xfrm>
            <a:off x="6546803" y="4164606"/>
            <a:ext cx="2014537" cy="769441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外形轮廓线投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影的对应关系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80"/>
          <p:cNvSpPr txBox="1">
            <a:spLocks noChangeArrowheads="1"/>
          </p:cNvSpPr>
          <p:nvPr/>
        </p:nvSpPr>
        <p:spPr bwMode="auto">
          <a:xfrm>
            <a:off x="6551641" y="5184708"/>
            <a:ext cx="2014537" cy="769441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spcBef>
                <a:spcPct val="0"/>
              </a:spcBef>
              <a:defRPr kumimoji="1" sz="2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圆锥面投影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可见性判断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圆锥的三视图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2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13" grpId="0" animBg="1" autoUpdateAnimBg="0"/>
      <p:bldP spid="14" grpId="0" animBg="1"/>
      <p:bldP spid="15" grpId="0" animBg="1"/>
      <p:bldP spid="16" grpId="0" animBg="1"/>
      <p:bldP spid="17" grpId="0" animBg="1"/>
      <p:bldP spid="18" grpId="0" autoUpdateAnimBg="0" build="p"/>
      <p:bldP spid="61" grpId="0" autoUpdateAnimBg="0"/>
      <p:bldP spid="62" grpId="0" autoUpdateAnimBg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 autoUpdateAnimBg="0"/>
      <p:bldP spid="6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422" y="4292554"/>
            <a:ext cx="1692275" cy="196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7001121" y="1708199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/>
              <a:t> </a:t>
            </a:r>
            <a:r>
              <a:rPr lang="en-US" altLang="zh-CN" sz="2400" b="1"/>
              <a:t>s</a:t>
            </a:r>
            <a:r>
              <a:rPr lang="en-US" altLang="zh-CN" sz="2400" b="1">
                <a:sym typeface="Symbol" panose="05050102010706020507" pitchFamily="18" charset="2"/>
              </a:rPr>
              <a:t>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" name="Oval 11"/>
          <p:cNvSpPr>
            <a:spLocks noChangeArrowheads="1"/>
          </p:cNvSpPr>
          <p:nvPr/>
        </p:nvSpPr>
        <p:spPr bwMode="auto">
          <a:xfrm>
            <a:off x="4588121" y="4235499"/>
            <a:ext cx="1219200" cy="1143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5064371" y="1709786"/>
            <a:ext cx="442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/>
              <a:t> </a:t>
            </a:r>
            <a:r>
              <a:rPr lang="en-US" altLang="zh-CN" sz="2400" b="1"/>
              <a:t>s</a:t>
            </a:r>
            <a:r>
              <a:rPr lang="en-US" altLang="zh-CN" sz="2400" b="1">
                <a:sym typeface="Symbol" panose="05050102010706020507" pitchFamily="18" charset="2"/>
              </a:rPr>
              <a:t>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6493121" y="2101899"/>
            <a:ext cx="1219200" cy="1676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00" b="1"/>
          </a:p>
        </p:txBody>
      </p:sp>
      <p:sp>
        <p:nvSpPr>
          <p:cNvPr id="10" name="AutoShape 16"/>
          <p:cNvSpPr>
            <a:spLocks noChangeArrowheads="1"/>
          </p:cNvSpPr>
          <p:nvPr/>
        </p:nvSpPr>
        <p:spPr bwMode="auto">
          <a:xfrm>
            <a:off x="4588121" y="2101899"/>
            <a:ext cx="1219200" cy="1676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2" name="Line 22"/>
          <p:cNvSpPr>
            <a:spLocks noChangeShapeType="1"/>
          </p:cNvSpPr>
          <p:nvPr/>
        </p:nvSpPr>
        <p:spPr bwMode="auto">
          <a:xfrm flipH="1">
            <a:off x="4816721" y="2101899"/>
            <a:ext cx="381000" cy="1676400"/>
          </a:xfrm>
          <a:prstGeom prst="line">
            <a:avLst/>
          </a:prstGeom>
          <a:noFill/>
          <a:ln w="12700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23"/>
          <p:cNvSpPr/>
          <p:nvPr/>
        </p:nvSpPr>
        <p:spPr bwMode="auto">
          <a:xfrm flipV="1">
            <a:off x="4934196" y="3270617"/>
            <a:ext cx="2489201" cy="45719"/>
          </a:xfrm>
          <a:custGeom>
            <a:avLst/>
            <a:gdLst>
              <a:gd name="T0" fmla="*/ 0 w 1596"/>
              <a:gd name="T1" fmla="*/ 0 h 1"/>
              <a:gd name="T2" fmla="*/ 2147483647 w 1596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96" h="1">
                <a:moveTo>
                  <a:pt x="0" y="0"/>
                </a:moveTo>
                <a:lnTo>
                  <a:pt x="1596" y="0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24"/>
          <p:cNvSpPr/>
          <p:nvPr/>
        </p:nvSpPr>
        <p:spPr bwMode="auto">
          <a:xfrm>
            <a:off x="4934196" y="3360786"/>
            <a:ext cx="1588" cy="1770063"/>
          </a:xfrm>
          <a:custGeom>
            <a:avLst/>
            <a:gdLst>
              <a:gd name="T0" fmla="*/ 0 w 1"/>
              <a:gd name="T1" fmla="*/ 0 h 1115"/>
              <a:gd name="T2" fmla="*/ 0 w 1"/>
              <a:gd name="T3" fmla="*/ 2147483647 h 11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115">
                <a:moveTo>
                  <a:pt x="0" y="0"/>
                </a:moveTo>
                <a:lnTo>
                  <a:pt x="0" y="1115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4816721" y="3778299"/>
            <a:ext cx="0" cy="1524000"/>
          </a:xfrm>
          <a:prstGeom prst="line">
            <a:avLst/>
          </a:prstGeom>
          <a:noFill/>
          <a:ln w="12700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26"/>
          <p:cNvGrpSpPr/>
          <p:nvPr/>
        </p:nvGrpSpPr>
        <p:grpSpPr bwMode="auto">
          <a:xfrm>
            <a:off x="4789734" y="2955974"/>
            <a:ext cx="493712" cy="498475"/>
            <a:chOff x="3382" y="2552"/>
            <a:chExt cx="436" cy="319"/>
          </a:xfrm>
        </p:grpSpPr>
        <p:sp>
          <p:nvSpPr>
            <p:cNvPr id="17" name="Text Box 27"/>
            <p:cNvSpPr txBox="1">
              <a:spLocks noChangeArrowheads="1"/>
            </p:cNvSpPr>
            <p:nvPr/>
          </p:nvSpPr>
          <p:spPr bwMode="auto">
            <a:xfrm>
              <a:off x="3383" y="2714"/>
              <a:ext cx="247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3382" y="2552"/>
              <a:ext cx="43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 </a:t>
              </a:r>
              <a:r>
                <a:rPr lang="en-US" altLang="zh-CN" sz="2400" b="1"/>
                <a:t>k</a:t>
              </a:r>
              <a:r>
                <a:rPr lang="en-US" altLang="zh-CN" sz="2400" b="1">
                  <a:sym typeface="Symbol" panose="05050102010706020507" pitchFamily="18" charset="2"/>
                </a:rPr>
                <a:t>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  <p:sp>
        <p:nvSpPr>
          <p:cNvPr id="19" name="Text Box 31"/>
          <p:cNvSpPr txBox="1">
            <a:spLocks noChangeArrowheads="1"/>
          </p:cNvSpPr>
          <p:nvPr/>
        </p:nvSpPr>
        <p:spPr bwMode="auto">
          <a:xfrm>
            <a:off x="512373" y="3479204"/>
            <a:ext cx="2069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辅助直线法</a:t>
            </a:r>
            <a:endParaRPr lang="zh-CN" altLang="en-US" sz="2400" b="1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548885" y="4235499"/>
            <a:ext cx="17620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辅助圆法</a:t>
            </a:r>
            <a:endParaRPr lang="zh-CN" altLang="en-US" sz="2400" b="1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38"/>
          <p:cNvGrpSpPr/>
          <p:nvPr/>
        </p:nvGrpSpPr>
        <p:grpSpPr bwMode="auto">
          <a:xfrm>
            <a:off x="5075484" y="3052823"/>
            <a:ext cx="598487" cy="500064"/>
            <a:chOff x="3619" y="2135"/>
            <a:chExt cx="377" cy="315"/>
          </a:xfrm>
        </p:grpSpPr>
        <p:sp>
          <p:nvSpPr>
            <p:cNvPr id="22" name="Text Box 39"/>
            <p:cNvSpPr txBox="1">
              <a:spLocks noChangeArrowheads="1"/>
            </p:cNvSpPr>
            <p:nvPr/>
          </p:nvSpPr>
          <p:spPr bwMode="auto">
            <a:xfrm>
              <a:off x="3752" y="2135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23" name="Text Box 40"/>
            <p:cNvSpPr txBox="1">
              <a:spLocks noChangeArrowheads="1"/>
            </p:cNvSpPr>
            <p:nvPr/>
          </p:nvSpPr>
          <p:spPr bwMode="auto">
            <a:xfrm>
              <a:off x="3619" y="2162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(</a:t>
              </a:r>
              <a:r>
                <a:rPr lang="en-US" altLang="zh-CN" sz="2400" b="1" dirty="0"/>
                <a:t>n</a:t>
              </a:r>
              <a:r>
                <a:rPr lang="en-US" altLang="zh-CN" sz="2400" b="1" dirty="0">
                  <a:sym typeface="Symbol" panose="05050102010706020507" pitchFamily="18" charset="2"/>
                </a:rPr>
                <a:t></a:t>
              </a:r>
              <a:r>
                <a:rPr lang="en-US" altLang="zh-CN" sz="2000" b="1" dirty="0"/>
                <a:t>)</a:t>
              </a:r>
              <a:endParaRPr lang="en-US" altLang="zh-CN" sz="2000" b="1" dirty="0"/>
            </a:p>
          </p:txBody>
        </p:sp>
      </p:grpSp>
      <p:sp>
        <p:nvSpPr>
          <p:cNvPr id="24" name="Freeform 41"/>
          <p:cNvSpPr/>
          <p:nvPr/>
        </p:nvSpPr>
        <p:spPr bwMode="auto">
          <a:xfrm>
            <a:off x="4799259" y="3181399"/>
            <a:ext cx="808037" cy="1587"/>
          </a:xfrm>
          <a:custGeom>
            <a:avLst/>
            <a:gdLst>
              <a:gd name="T0" fmla="*/ 2147483647 w 509"/>
              <a:gd name="T1" fmla="*/ 0 h 1"/>
              <a:gd name="T2" fmla="*/ 0 w 509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509" h="1">
                <a:moveTo>
                  <a:pt x="509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5153271" y="4459336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CC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2"/>
                </a:solidFill>
              </a:rPr>
              <a:t>s</a:t>
            </a:r>
            <a:endParaRPr lang="en-US" altLang="zh-CN" sz="1600" b="1">
              <a:solidFill>
                <a:schemeClr val="tx2"/>
              </a:solidFill>
            </a:endParaRPr>
          </a:p>
        </p:txBody>
      </p:sp>
      <p:sp>
        <p:nvSpPr>
          <p:cNvPr id="26" name="Freeform 45"/>
          <p:cNvSpPr/>
          <p:nvPr/>
        </p:nvSpPr>
        <p:spPr bwMode="auto">
          <a:xfrm>
            <a:off x="5427909" y="3181399"/>
            <a:ext cx="1587" cy="1968500"/>
          </a:xfrm>
          <a:custGeom>
            <a:avLst/>
            <a:gdLst>
              <a:gd name="T0" fmla="*/ 0 w 1"/>
              <a:gd name="T1" fmla="*/ 0 h 1240"/>
              <a:gd name="T2" fmla="*/ 0 w 1"/>
              <a:gd name="T3" fmla="*/ 2147483647 h 124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240">
                <a:moveTo>
                  <a:pt x="0" y="0"/>
                </a:moveTo>
                <a:lnTo>
                  <a:pt x="0" y="1240"/>
                </a:lnTo>
              </a:path>
            </a:pathLst>
          </a:custGeom>
          <a:noFill/>
          <a:ln w="12700" cmpd="sng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Freeform 46"/>
          <p:cNvSpPr/>
          <p:nvPr/>
        </p:nvSpPr>
        <p:spPr bwMode="auto">
          <a:xfrm>
            <a:off x="5427909" y="3181399"/>
            <a:ext cx="1762125" cy="7937"/>
          </a:xfrm>
          <a:custGeom>
            <a:avLst/>
            <a:gdLst>
              <a:gd name="T0" fmla="*/ 0 w 1110"/>
              <a:gd name="T1" fmla="*/ 0 h 5"/>
              <a:gd name="T2" fmla="*/ 2147483647 w 1110"/>
              <a:gd name="T3" fmla="*/ 0 h 5"/>
              <a:gd name="T4" fmla="*/ 2147483647 w 1110"/>
              <a:gd name="T5" fmla="*/ 2147483647 h 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10" h="5">
                <a:moveTo>
                  <a:pt x="0" y="0"/>
                </a:moveTo>
                <a:lnTo>
                  <a:pt x="1016" y="0"/>
                </a:lnTo>
                <a:lnTo>
                  <a:pt x="1110" y="5"/>
                </a:lnTo>
              </a:path>
            </a:pathLst>
          </a:custGeom>
          <a:noFill/>
          <a:ln w="12700" cmpd="sng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Group 47"/>
          <p:cNvGrpSpPr/>
          <p:nvPr/>
        </p:nvGrpSpPr>
        <p:grpSpPr bwMode="auto">
          <a:xfrm>
            <a:off x="5426321" y="3189336"/>
            <a:ext cx="1692275" cy="1655763"/>
            <a:chOff x="3840" y="2221"/>
            <a:chExt cx="1066" cy="1043"/>
          </a:xfrm>
        </p:grpSpPr>
        <p:sp>
          <p:nvSpPr>
            <p:cNvPr id="29" name="Line 48"/>
            <p:cNvSpPr>
              <a:spLocks noChangeShapeType="1"/>
            </p:cNvSpPr>
            <p:nvPr/>
          </p:nvSpPr>
          <p:spPr bwMode="auto">
            <a:xfrm>
              <a:off x="3840" y="3072"/>
              <a:ext cx="0" cy="192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Freeform 49"/>
            <p:cNvSpPr/>
            <p:nvPr/>
          </p:nvSpPr>
          <p:spPr bwMode="auto">
            <a:xfrm>
              <a:off x="4689" y="2221"/>
              <a:ext cx="217" cy="1"/>
            </a:xfrm>
            <a:custGeom>
              <a:avLst/>
              <a:gdLst>
                <a:gd name="T0" fmla="*/ 0 w 217"/>
                <a:gd name="T1" fmla="*/ 1 h 1"/>
                <a:gd name="T2" fmla="*/ 217 w 21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7" h="1">
                  <a:moveTo>
                    <a:pt x="0" y="1"/>
                  </a:moveTo>
                  <a:lnTo>
                    <a:pt x="217" y="0"/>
                  </a:lnTo>
                </a:path>
              </a:pathLst>
            </a:custGeom>
            <a:noFill/>
            <a:ln w="38100" cmpd="sng">
              <a:solidFill>
                <a:srgbClr val="993366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Freeform 50"/>
          <p:cNvSpPr/>
          <p:nvPr/>
        </p:nvSpPr>
        <p:spPr bwMode="auto">
          <a:xfrm>
            <a:off x="4823071" y="4818111"/>
            <a:ext cx="381000" cy="447675"/>
          </a:xfrm>
          <a:custGeom>
            <a:avLst/>
            <a:gdLst>
              <a:gd name="T0" fmla="*/ 2147483647 w 240"/>
              <a:gd name="T1" fmla="*/ 0 h 282"/>
              <a:gd name="T2" fmla="*/ 0 w 240"/>
              <a:gd name="T3" fmla="*/ 2147483647 h 28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40" h="282">
                <a:moveTo>
                  <a:pt x="240" y="0"/>
                </a:moveTo>
                <a:lnTo>
                  <a:pt x="0" y="282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Freeform 51"/>
          <p:cNvSpPr/>
          <p:nvPr/>
        </p:nvSpPr>
        <p:spPr bwMode="auto">
          <a:xfrm>
            <a:off x="5585071" y="3181399"/>
            <a:ext cx="1588" cy="1658937"/>
          </a:xfrm>
          <a:custGeom>
            <a:avLst/>
            <a:gdLst>
              <a:gd name="T0" fmla="*/ 0 w 1"/>
              <a:gd name="T1" fmla="*/ 0 h 1045"/>
              <a:gd name="T2" fmla="*/ 0 w 1"/>
              <a:gd name="T3" fmla="*/ 2147483647 h 104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045">
                <a:moveTo>
                  <a:pt x="0" y="0"/>
                </a:moveTo>
                <a:lnTo>
                  <a:pt x="0" y="1045"/>
                </a:lnTo>
              </a:path>
            </a:pathLst>
          </a:custGeom>
          <a:noFill/>
          <a:ln w="127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" name="Group 52"/>
          <p:cNvGrpSpPr/>
          <p:nvPr/>
        </p:nvGrpSpPr>
        <p:grpSpPr bwMode="auto">
          <a:xfrm>
            <a:off x="4937371" y="3316336"/>
            <a:ext cx="2486025" cy="1793875"/>
            <a:chOff x="3532" y="2301"/>
            <a:chExt cx="1566" cy="1130"/>
          </a:xfrm>
        </p:grpSpPr>
        <p:sp>
          <p:nvSpPr>
            <p:cNvPr id="34" name="Freeform 53"/>
            <p:cNvSpPr/>
            <p:nvPr/>
          </p:nvSpPr>
          <p:spPr bwMode="auto">
            <a:xfrm>
              <a:off x="3532" y="3247"/>
              <a:ext cx="1" cy="184"/>
            </a:xfrm>
            <a:custGeom>
              <a:avLst/>
              <a:gdLst>
                <a:gd name="T0" fmla="*/ 0 w 1"/>
                <a:gd name="T1" fmla="*/ 0 h 184"/>
                <a:gd name="T2" fmla="*/ 0 w 1"/>
                <a:gd name="T3" fmla="*/ 184 h 1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84">
                  <a:moveTo>
                    <a:pt x="0" y="0"/>
                  </a:moveTo>
                  <a:lnTo>
                    <a:pt x="0" y="184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Freeform 54"/>
            <p:cNvSpPr/>
            <p:nvPr/>
          </p:nvSpPr>
          <p:spPr bwMode="auto">
            <a:xfrm>
              <a:off x="4895" y="2301"/>
              <a:ext cx="203" cy="4"/>
            </a:xfrm>
            <a:custGeom>
              <a:avLst/>
              <a:gdLst>
                <a:gd name="T0" fmla="*/ 0 w 203"/>
                <a:gd name="T1" fmla="*/ 4 h 4"/>
                <a:gd name="T2" fmla="*/ 203 w 20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3" h="4">
                  <a:moveTo>
                    <a:pt x="0" y="4"/>
                  </a:moveTo>
                  <a:lnTo>
                    <a:pt x="203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Oval 55"/>
          <p:cNvSpPr>
            <a:spLocks noChangeArrowheads="1"/>
          </p:cNvSpPr>
          <p:nvPr/>
        </p:nvSpPr>
        <p:spPr bwMode="auto">
          <a:xfrm>
            <a:off x="4816721" y="4464099"/>
            <a:ext cx="762000" cy="685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8" name="Group 56"/>
          <p:cNvGrpSpPr/>
          <p:nvPr/>
        </p:nvGrpSpPr>
        <p:grpSpPr bwMode="auto">
          <a:xfrm>
            <a:off x="5121521" y="4235499"/>
            <a:ext cx="454025" cy="419100"/>
            <a:chOff x="2604" y="3295"/>
            <a:chExt cx="276" cy="233"/>
          </a:xfrm>
        </p:grpSpPr>
        <p:sp>
          <p:nvSpPr>
            <p:cNvPr id="39" name="Text Box 57"/>
            <p:cNvSpPr txBox="1">
              <a:spLocks noChangeArrowheads="1"/>
            </p:cNvSpPr>
            <p:nvPr/>
          </p:nvSpPr>
          <p:spPr bwMode="auto">
            <a:xfrm>
              <a:off x="2698" y="3401"/>
              <a:ext cx="18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900" b="1">
                  <a:solidFill>
                    <a:srgbClr val="FF3300"/>
                  </a:solidFill>
                </a:rPr>
                <a:t>●</a:t>
              </a:r>
              <a:endParaRPr lang="en-US" altLang="zh-CN" sz="2400" b="1"/>
            </a:p>
          </p:txBody>
        </p:sp>
        <p:sp>
          <p:nvSpPr>
            <p:cNvPr id="40" name="Text Box 58"/>
            <p:cNvSpPr txBox="1">
              <a:spLocks noChangeArrowheads="1"/>
            </p:cNvSpPr>
            <p:nvPr/>
          </p:nvSpPr>
          <p:spPr bwMode="auto">
            <a:xfrm>
              <a:off x="2604" y="3295"/>
              <a:ext cx="19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n</a:t>
              </a:r>
              <a:endParaRPr lang="en-US" altLang="zh-CN" sz="1600" b="1"/>
            </a:p>
          </p:txBody>
        </p:sp>
      </p:grpSp>
      <p:grpSp>
        <p:nvGrpSpPr>
          <p:cNvPr id="41" name="Group 59"/>
          <p:cNvGrpSpPr/>
          <p:nvPr/>
        </p:nvGrpSpPr>
        <p:grpSpPr bwMode="auto">
          <a:xfrm>
            <a:off x="4800139" y="4954636"/>
            <a:ext cx="502354" cy="457200"/>
            <a:chOff x="3432" y="3841"/>
            <a:chExt cx="259" cy="288"/>
          </a:xfrm>
        </p:grpSpPr>
        <p:sp>
          <p:nvSpPr>
            <p:cNvPr id="42" name="Text Box 60"/>
            <p:cNvSpPr txBox="1">
              <a:spLocks noChangeArrowheads="1"/>
            </p:cNvSpPr>
            <p:nvPr/>
          </p:nvSpPr>
          <p:spPr bwMode="auto">
            <a:xfrm>
              <a:off x="3432" y="3860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 dirty="0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 dirty="0"/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3509" y="3841"/>
              <a:ext cx="1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k</a:t>
              </a:r>
              <a:endParaRPr lang="en-US" altLang="zh-CN" sz="2400" b="1"/>
            </a:p>
          </p:txBody>
        </p:sp>
      </p:grpSp>
      <p:grpSp>
        <p:nvGrpSpPr>
          <p:cNvPr id="44" name="Group 62"/>
          <p:cNvGrpSpPr/>
          <p:nvPr/>
        </p:nvGrpSpPr>
        <p:grpSpPr bwMode="auto">
          <a:xfrm>
            <a:off x="6650284" y="3021061"/>
            <a:ext cx="708025" cy="457200"/>
            <a:chOff x="2592" y="3766"/>
            <a:chExt cx="446" cy="288"/>
          </a:xfrm>
        </p:grpSpPr>
        <p:sp>
          <p:nvSpPr>
            <p:cNvPr id="45" name="Text Box 63"/>
            <p:cNvSpPr txBox="1">
              <a:spLocks noChangeArrowheads="1"/>
            </p:cNvSpPr>
            <p:nvPr/>
          </p:nvSpPr>
          <p:spPr bwMode="auto">
            <a:xfrm>
              <a:off x="2630" y="3766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(</a:t>
              </a:r>
              <a:r>
                <a:rPr lang="en-US" altLang="zh-CN" sz="2400" b="1"/>
                <a:t>n</a:t>
              </a:r>
              <a:r>
                <a:rPr lang="en-US" altLang="zh-CN" sz="2400" b="1">
                  <a:sym typeface="Symbol" panose="05050102010706020507" pitchFamily="18" charset="2"/>
                </a:rPr>
                <a:t></a:t>
              </a:r>
              <a:r>
                <a:rPr lang="en-US" altLang="zh-CN" sz="2000" b="1"/>
                <a:t>)</a:t>
              </a:r>
              <a:endParaRPr lang="en-US" altLang="zh-CN" sz="2000" b="1"/>
            </a:p>
          </p:txBody>
        </p:sp>
        <p:sp>
          <p:nvSpPr>
            <p:cNvPr id="46" name="Text Box 64"/>
            <p:cNvSpPr txBox="1">
              <a:spLocks noChangeArrowheads="1"/>
            </p:cNvSpPr>
            <p:nvPr/>
          </p:nvSpPr>
          <p:spPr bwMode="auto">
            <a:xfrm>
              <a:off x="2592" y="3801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800" b="1">
                  <a:solidFill>
                    <a:srgbClr val="FF3300"/>
                  </a:solidFill>
                </a:rPr>
                <a:t>●</a:t>
              </a:r>
              <a:endParaRPr lang="en-US" altLang="zh-CN" sz="2400" b="1"/>
            </a:p>
          </p:txBody>
        </p:sp>
      </p:grpSp>
      <p:grpSp>
        <p:nvGrpSpPr>
          <p:cNvPr id="47" name="Group 65"/>
          <p:cNvGrpSpPr/>
          <p:nvPr/>
        </p:nvGrpSpPr>
        <p:grpSpPr bwMode="auto">
          <a:xfrm>
            <a:off x="7112246" y="3206799"/>
            <a:ext cx="542925" cy="492125"/>
            <a:chOff x="4902" y="2240"/>
            <a:chExt cx="342" cy="310"/>
          </a:xfrm>
        </p:grpSpPr>
        <p:sp>
          <p:nvSpPr>
            <p:cNvPr id="48" name="Text Box 66"/>
            <p:cNvSpPr txBox="1">
              <a:spLocks noChangeArrowheads="1"/>
            </p:cNvSpPr>
            <p:nvPr/>
          </p:nvSpPr>
          <p:spPr bwMode="auto">
            <a:xfrm>
              <a:off x="5012" y="224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anose="05000000000000000000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49" name="Text Box 67"/>
            <p:cNvSpPr txBox="1">
              <a:spLocks noChangeArrowheads="1"/>
            </p:cNvSpPr>
            <p:nvPr/>
          </p:nvSpPr>
          <p:spPr bwMode="auto">
            <a:xfrm>
              <a:off x="4902" y="2262"/>
              <a:ext cx="3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/>
                <a:t> </a:t>
              </a:r>
              <a:r>
                <a:rPr lang="en-US" altLang="zh-CN" sz="2400" b="1"/>
                <a:t>k</a:t>
              </a:r>
              <a:r>
                <a:rPr lang="en-US" altLang="zh-CN" sz="2400" b="1">
                  <a:sym typeface="Symbol" panose="05050102010706020507" pitchFamily="18" charset="2"/>
                </a:rPr>
                <a:t>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  <p:sp>
        <p:nvSpPr>
          <p:cNvPr id="50" name="Freeform 68"/>
          <p:cNvSpPr/>
          <p:nvPr/>
        </p:nvSpPr>
        <p:spPr bwMode="auto">
          <a:xfrm>
            <a:off x="2644063" y="5330778"/>
            <a:ext cx="856433" cy="160494"/>
          </a:xfrm>
          <a:custGeom>
            <a:avLst/>
            <a:gdLst>
              <a:gd name="T0" fmla="*/ 0 w 541"/>
              <a:gd name="T1" fmla="*/ 0 h 107"/>
              <a:gd name="T2" fmla="*/ 2147483647 w 541"/>
              <a:gd name="T3" fmla="*/ 2147483647 h 107"/>
              <a:gd name="T4" fmla="*/ 2147483647 w 541"/>
              <a:gd name="T5" fmla="*/ 2147483647 h 107"/>
              <a:gd name="T6" fmla="*/ 2147483647 w 541"/>
              <a:gd name="T7" fmla="*/ 2147483647 h 107"/>
              <a:gd name="T8" fmla="*/ 2147483647 w 541"/>
              <a:gd name="T9" fmla="*/ 2147483647 h 107"/>
              <a:gd name="T10" fmla="*/ 2147483647 w 541"/>
              <a:gd name="T11" fmla="*/ 2147483647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9296"/>
              <a:gd name="connsiteX1" fmla="*/ 1941 w 10000"/>
              <a:gd name="connsiteY1" fmla="*/ 7009 h 9296"/>
              <a:gd name="connsiteX2" fmla="*/ 4381 w 10000"/>
              <a:gd name="connsiteY2" fmla="*/ 9252 h 9296"/>
              <a:gd name="connsiteX3" fmla="*/ 6396 w 10000"/>
              <a:gd name="connsiteY3" fmla="*/ 8411 h 9296"/>
              <a:gd name="connsiteX4" fmla="*/ 8336 w 10000"/>
              <a:gd name="connsiteY4" fmla="*/ 5607 h 9296"/>
              <a:gd name="connsiteX5" fmla="*/ 10000 w 10000"/>
              <a:gd name="connsiteY5" fmla="*/ 1402 h 9296"/>
              <a:gd name="connsiteX0-1" fmla="*/ 0 w 10000"/>
              <a:gd name="connsiteY0-2" fmla="*/ 0 h 10066"/>
              <a:gd name="connsiteX1-3" fmla="*/ 1941 w 10000"/>
              <a:gd name="connsiteY1-4" fmla="*/ 6786 h 10066"/>
              <a:gd name="connsiteX2-5" fmla="*/ 4381 w 10000"/>
              <a:gd name="connsiteY2-6" fmla="*/ 9953 h 10066"/>
              <a:gd name="connsiteX3-7" fmla="*/ 6396 w 10000"/>
              <a:gd name="connsiteY3-8" fmla="*/ 9048 h 10066"/>
              <a:gd name="connsiteX4-9" fmla="*/ 8336 w 10000"/>
              <a:gd name="connsiteY4-10" fmla="*/ 6032 h 10066"/>
              <a:gd name="connsiteX5-11" fmla="*/ 10000 w 10000"/>
              <a:gd name="connsiteY5-12" fmla="*/ 1508 h 10066"/>
              <a:gd name="connsiteX0-13" fmla="*/ 0 w 10000"/>
              <a:gd name="connsiteY0-14" fmla="*/ 0 h 10059"/>
              <a:gd name="connsiteX1-15" fmla="*/ 1941 w 10000"/>
              <a:gd name="connsiteY1-16" fmla="*/ 6786 h 10059"/>
              <a:gd name="connsiteX2-17" fmla="*/ 4381 w 10000"/>
              <a:gd name="connsiteY2-18" fmla="*/ 9953 h 10059"/>
              <a:gd name="connsiteX3-19" fmla="*/ 6396 w 10000"/>
              <a:gd name="connsiteY3-20" fmla="*/ 9048 h 10059"/>
              <a:gd name="connsiteX4-21" fmla="*/ 8391 w 10000"/>
              <a:gd name="connsiteY4-22" fmla="*/ 6484 h 10059"/>
              <a:gd name="connsiteX5-23" fmla="*/ 10000 w 10000"/>
              <a:gd name="connsiteY5-24" fmla="*/ 1508 h 10059"/>
              <a:gd name="connsiteX0-25" fmla="*/ 0 w 10000"/>
              <a:gd name="connsiteY0-26" fmla="*/ 0 h 10220"/>
              <a:gd name="connsiteX1-27" fmla="*/ 1941 w 10000"/>
              <a:gd name="connsiteY1-28" fmla="*/ 6786 h 10220"/>
              <a:gd name="connsiteX2-29" fmla="*/ 4381 w 10000"/>
              <a:gd name="connsiteY2-30" fmla="*/ 9953 h 10220"/>
              <a:gd name="connsiteX3-31" fmla="*/ 6479 w 10000"/>
              <a:gd name="connsiteY3-32" fmla="*/ 9651 h 10220"/>
              <a:gd name="connsiteX4-33" fmla="*/ 8391 w 10000"/>
              <a:gd name="connsiteY4-34" fmla="*/ 6484 h 10220"/>
              <a:gd name="connsiteX5-35" fmla="*/ 10000 w 10000"/>
              <a:gd name="connsiteY5-36" fmla="*/ 1508 h 10220"/>
              <a:gd name="connsiteX0-37" fmla="*/ 0 w 10000"/>
              <a:gd name="connsiteY0-38" fmla="*/ 0 h 10164"/>
              <a:gd name="connsiteX1-39" fmla="*/ 1941 w 10000"/>
              <a:gd name="connsiteY1-40" fmla="*/ 6786 h 10164"/>
              <a:gd name="connsiteX2-41" fmla="*/ 4381 w 10000"/>
              <a:gd name="connsiteY2-42" fmla="*/ 9953 h 10164"/>
              <a:gd name="connsiteX3-43" fmla="*/ 6590 w 10000"/>
              <a:gd name="connsiteY3-44" fmla="*/ 9500 h 10164"/>
              <a:gd name="connsiteX4-45" fmla="*/ 8391 w 10000"/>
              <a:gd name="connsiteY4-46" fmla="*/ 6484 h 10164"/>
              <a:gd name="connsiteX5-47" fmla="*/ 10000 w 10000"/>
              <a:gd name="connsiteY5-48" fmla="*/ 1508 h 10164"/>
              <a:gd name="connsiteX0-49" fmla="*/ 0 w 9972"/>
              <a:gd name="connsiteY0-50" fmla="*/ 0 h 10164"/>
              <a:gd name="connsiteX1-51" fmla="*/ 1941 w 9972"/>
              <a:gd name="connsiteY1-52" fmla="*/ 6786 h 10164"/>
              <a:gd name="connsiteX2-53" fmla="*/ 4381 w 9972"/>
              <a:gd name="connsiteY2-54" fmla="*/ 9953 h 10164"/>
              <a:gd name="connsiteX3-55" fmla="*/ 6590 w 9972"/>
              <a:gd name="connsiteY3-56" fmla="*/ 9500 h 10164"/>
              <a:gd name="connsiteX4-57" fmla="*/ 8391 w 9972"/>
              <a:gd name="connsiteY4-58" fmla="*/ 6484 h 10164"/>
              <a:gd name="connsiteX5-59" fmla="*/ 9972 w 9972"/>
              <a:gd name="connsiteY5-60" fmla="*/ 603 h 10164"/>
              <a:gd name="connsiteX0-61" fmla="*/ 0 w 10000"/>
              <a:gd name="connsiteY0-62" fmla="*/ 0 h 10000"/>
              <a:gd name="connsiteX1-63" fmla="*/ 1946 w 10000"/>
              <a:gd name="connsiteY1-64" fmla="*/ 6677 h 10000"/>
              <a:gd name="connsiteX2-65" fmla="*/ 4393 w 10000"/>
              <a:gd name="connsiteY2-66" fmla="*/ 9792 h 10000"/>
              <a:gd name="connsiteX3-67" fmla="*/ 6609 w 10000"/>
              <a:gd name="connsiteY3-68" fmla="*/ 9347 h 10000"/>
              <a:gd name="connsiteX4-69" fmla="*/ 8415 w 10000"/>
              <a:gd name="connsiteY4-70" fmla="*/ 6379 h 10000"/>
              <a:gd name="connsiteX5-71" fmla="*/ 10000 w 10000"/>
              <a:gd name="connsiteY5-72" fmla="*/ 59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593" y="2967"/>
                  <a:pt x="1214" y="5044"/>
                  <a:pt x="1946" y="6677"/>
                </a:cubicBezTo>
                <a:cubicBezTo>
                  <a:pt x="2678" y="8309"/>
                  <a:pt x="3616" y="9348"/>
                  <a:pt x="4393" y="9792"/>
                </a:cubicBezTo>
                <a:cubicBezTo>
                  <a:pt x="5170" y="10237"/>
                  <a:pt x="5939" y="9915"/>
                  <a:pt x="6609" y="9347"/>
                </a:cubicBezTo>
                <a:cubicBezTo>
                  <a:pt x="7278" y="8778"/>
                  <a:pt x="7822" y="7567"/>
                  <a:pt x="8415" y="6379"/>
                </a:cubicBezTo>
                <a:cubicBezTo>
                  <a:pt x="9008" y="5193"/>
                  <a:pt x="9704" y="2472"/>
                  <a:pt x="10000" y="593"/>
                </a:cubicBez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Text Box 69"/>
          <p:cNvSpPr txBox="1">
            <a:spLocks noChangeArrowheads="1"/>
          </p:cNvSpPr>
          <p:nvPr/>
        </p:nvSpPr>
        <p:spPr bwMode="auto">
          <a:xfrm>
            <a:off x="3123488" y="5343480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solidFill>
                  <a:srgbClr val="FF0000"/>
                </a:solidFill>
              </a:rPr>
              <a:t>●</a:t>
            </a:r>
            <a:endParaRPr lang="en-US" altLang="zh-CN" sz="1000">
              <a:solidFill>
                <a:srgbClr val="FF0000"/>
              </a:solidFill>
            </a:endParaRPr>
          </a:p>
        </p:txBody>
      </p: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6054971" y="4191049"/>
            <a:ext cx="203676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a typeface="黑体" panose="02010609060101010101" pitchFamily="2" charset="-122"/>
              </a:rPr>
              <a:t>如何在圆锥面上作直线？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a typeface="黑体" panose="02010609060101010101" pitchFamily="2" charset="-122"/>
            </a:endParaRPr>
          </a:p>
        </p:txBody>
      </p:sp>
      <p:sp>
        <p:nvSpPr>
          <p:cNvPr id="53" name="Text Box 76"/>
          <p:cNvSpPr txBox="1">
            <a:spLocks noChangeArrowheads="1"/>
          </p:cNvSpPr>
          <p:nvPr/>
        </p:nvSpPr>
        <p:spPr bwMode="auto">
          <a:xfrm>
            <a:off x="6233565" y="4232324"/>
            <a:ext cx="1679575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过锥顶作一条素线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6175621" y="4646661"/>
            <a:ext cx="2308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2060"/>
                </a:solidFill>
                <a:ea typeface="黑体" panose="02010609060101010101" pitchFamily="2" charset="-122"/>
              </a:rPr>
              <a:t>圆的半径？</a:t>
            </a:r>
            <a:endParaRPr lang="zh-CN" altLang="en-US" sz="2400" b="1" dirty="0">
              <a:solidFill>
                <a:srgbClr val="002060"/>
              </a:solidFill>
              <a:ea typeface="黑体" panose="0201060906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 bwMode="auto">
          <a:xfrm>
            <a:off x="5204071" y="4124567"/>
            <a:ext cx="0" cy="1368425"/>
            <a:chOff x="5598000" y="4005064"/>
            <a:chExt cx="1" cy="1368152"/>
          </a:xfrm>
        </p:grpSpPr>
        <p:sp>
          <p:nvSpPr>
            <p:cNvPr id="62" name="Line 188"/>
            <p:cNvSpPr>
              <a:spLocks noChangeShapeType="1"/>
            </p:cNvSpPr>
            <p:nvPr/>
          </p:nvSpPr>
          <p:spPr bwMode="auto">
            <a:xfrm rot="16200000" flipV="1">
              <a:off x="5417980" y="5193197"/>
              <a:ext cx="360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89"/>
            <p:cNvSpPr>
              <a:spLocks noChangeShapeType="1"/>
            </p:cNvSpPr>
            <p:nvPr/>
          </p:nvSpPr>
          <p:spPr bwMode="auto">
            <a:xfrm rot="-5400000">
              <a:off x="5571807" y="494614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90"/>
            <p:cNvSpPr>
              <a:spLocks noChangeShapeType="1"/>
            </p:cNvSpPr>
            <p:nvPr/>
          </p:nvSpPr>
          <p:spPr bwMode="auto">
            <a:xfrm rot="-5400000">
              <a:off x="5395594" y="4677854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191"/>
            <p:cNvSpPr>
              <a:spLocks noChangeShapeType="1"/>
            </p:cNvSpPr>
            <p:nvPr/>
          </p:nvSpPr>
          <p:spPr bwMode="auto">
            <a:xfrm rot="-5400000">
              <a:off x="5571807" y="440321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92"/>
            <p:cNvSpPr>
              <a:spLocks noChangeShapeType="1"/>
            </p:cNvSpPr>
            <p:nvPr/>
          </p:nvSpPr>
          <p:spPr bwMode="auto">
            <a:xfrm rot="-5400000">
              <a:off x="5436628" y="4166437"/>
              <a:ext cx="322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" name="组合 66"/>
          <p:cNvGrpSpPr/>
          <p:nvPr/>
        </p:nvGrpSpPr>
        <p:grpSpPr bwMode="auto">
          <a:xfrm>
            <a:off x="5195522" y="1991473"/>
            <a:ext cx="0" cy="1943100"/>
            <a:chOff x="5598000" y="1844824"/>
            <a:chExt cx="1" cy="1944215"/>
          </a:xfrm>
        </p:grpSpPr>
        <p:sp>
          <p:nvSpPr>
            <p:cNvPr id="68" name="Line 188"/>
            <p:cNvSpPr>
              <a:spLocks noChangeShapeType="1"/>
            </p:cNvSpPr>
            <p:nvPr/>
          </p:nvSpPr>
          <p:spPr bwMode="auto">
            <a:xfrm rot="16200000" flipV="1">
              <a:off x="5313690" y="3504730"/>
              <a:ext cx="5686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189"/>
            <p:cNvSpPr>
              <a:spLocks noChangeShapeType="1"/>
            </p:cNvSpPr>
            <p:nvPr/>
          </p:nvSpPr>
          <p:spPr bwMode="auto">
            <a:xfrm rot="-5400000">
              <a:off x="5571807" y="310864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90"/>
            <p:cNvSpPr>
              <a:spLocks noChangeShapeType="1"/>
            </p:cNvSpPr>
            <p:nvPr/>
          </p:nvSpPr>
          <p:spPr bwMode="auto">
            <a:xfrm rot="-5400000">
              <a:off x="5395594" y="2840359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91"/>
            <p:cNvSpPr>
              <a:spLocks noChangeShapeType="1"/>
            </p:cNvSpPr>
            <p:nvPr/>
          </p:nvSpPr>
          <p:spPr bwMode="auto">
            <a:xfrm rot="-5400000">
              <a:off x="5571807" y="256572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92"/>
            <p:cNvSpPr>
              <a:spLocks noChangeShapeType="1"/>
            </p:cNvSpPr>
            <p:nvPr/>
          </p:nvSpPr>
          <p:spPr bwMode="auto">
            <a:xfrm rot="-5400000">
              <a:off x="5275255" y="2167570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" name="组合 72"/>
          <p:cNvGrpSpPr/>
          <p:nvPr/>
        </p:nvGrpSpPr>
        <p:grpSpPr bwMode="auto">
          <a:xfrm rot="5400000">
            <a:off x="5184731" y="4137008"/>
            <a:ext cx="0" cy="1368425"/>
            <a:chOff x="5598000" y="4005064"/>
            <a:chExt cx="1" cy="1368152"/>
          </a:xfrm>
        </p:grpSpPr>
        <p:sp>
          <p:nvSpPr>
            <p:cNvPr id="74" name="Line 188"/>
            <p:cNvSpPr>
              <a:spLocks noChangeShapeType="1"/>
            </p:cNvSpPr>
            <p:nvPr/>
          </p:nvSpPr>
          <p:spPr bwMode="auto">
            <a:xfrm rot="16200000" flipV="1">
              <a:off x="5417980" y="5193197"/>
              <a:ext cx="360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189"/>
            <p:cNvSpPr>
              <a:spLocks noChangeShapeType="1"/>
            </p:cNvSpPr>
            <p:nvPr/>
          </p:nvSpPr>
          <p:spPr bwMode="auto">
            <a:xfrm rot="-5400000">
              <a:off x="5571807" y="494614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90"/>
            <p:cNvSpPr>
              <a:spLocks noChangeShapeType="1"/>
            </p:cNvSpPr>
            <p:nvPr/>
          </p:nvSpPr>
          <p:spPr bwMode="auto">
            <a:xfrm rot="-5400000">
              <a:off x="5395594" y="4677854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91"/>
            <p:cNvSpPr>
              <a:spLocks noChangeShapeType="1"/>
            </p:cNvSpPr>
            <p:nvPr/>
          </p:nvSpPr>
          <p:spPr bwMode="auto">
            <a:xfrm rot="-5400000">
              <a:off x="5571807" y="440321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92"/>
            <p:cNvSpPr>
              <a:spLocks noChangeShapeType="1"/>
            </p:cNvSpPr>
            <p:nvPr/>
          </p:nvSpPr>
          <p:spPr bwMode="auto">
            <a:xfrm rot="-5400000">
              <a:off x="5436628" y="4166437"/>
              <a:ext cx="3227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组合 78"/>
          <p:cNvGrpSpPr/>
          <p:nvPr/>
        </p:nvGrpSpPr>
        <p:grpSpPr bwMode="auto">
          <a:xfrm>
            <a:off x="7101134" y="1991473"/>
            <a:ext cx="0" cy="1943100"/>
            <a:chOff x="5598000" y="1844824"/>
            <a:chExt cx="1" cy="1944215"/>
          </a:xfrm>
        </p:grpSpPr>
        <p:sp>
          <p:nvSpPr>
            <p:cNvPr id="80" name="Line 188"/>
            <p:cNvSpPr>
              <a:spLocks noChangeShapeType="1"/>
            </p:cNvSpPr>
            <p:nvPr/>
          </p:nvSpPr>
          <p:spPr bwMode="auto">
            <a:xfrm rot="16200000" flipV="1">
              <a:off x="5313690" y="3504730"/>
              <a:ext cx="5686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89"/>
            <p:cNvSpPr>
              <a:spLocks noChangeShapeType="1"/>
            </p:cNvSpPr>
            <p:nvPr/>
          </p:nvSpPr>
          <p:spPr bwMode="auto">
            <a:xfrm rot="-5400000">
              <a:off x="5571807" y="3108647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90"/>
            <p:cNvSpPr>
              <a:spLocks noChangeShapeType="1"/>
            </p:cNvSpPr>
            <p:nvPr/>
          </p:nvSpPr>
          <p:spPr bwMode="auto">
            <a:xfrm rot="-5400000">
              <a:off x="5395594" y="2840359"/>
              <a:ext cx="404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91"/>
            <p:cNvSpPr>
              <a:spLocks noChangeShapeType="1"/>
            </p:cNvSpPr>
            <p:nvPr/>
          </p:nvSpPr>
          <p:spPr bwMode="auto">
            <a:xfrm rot="-5400000">
              <a:off x="5571807" y="2565722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92"/>
            <p:cNvSpPr>
              <a:spLocks noChangeShapeType="1"/>
            </p:cNvSpPr>
            <p:nvPr/>
          </p:nvSpPr>
          <p:spPr bwMode="auto">
            <a:xfrm rot="-5400000">
              <a:off x="5275255" y="2167570"/>
              <a:ext cx="645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圆锥表面取点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87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Text Box 80"/>
          <p:cNvSpPr txBox="1">
            <a:spLocks noChangeArrowheads="1"/>
          </p:cNvSpPr>
          <p:nvPr/>
        </p:nvSpPr>
        <p:spPr bwMode="auto">
          <a:xfrm>
            <a:off x="559788" y="2718636"/>
            <a:ext cx="24913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None/>
              <a:defRPr kumimoji="1" sz="2200">
                <a:solidFill>
                  <a:srgbClr val="7E529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9" grpId="0"/>
      <p:bldP spid="20" grpId="0"/>
      <p:bldP spid="24" grpId="0" animBg="1"/>
      <p:bldP spid="26" grpId="0" animBg="1"/>
      <p:bldP spid="27" grpId="0" animBg="1"/>
      <p:bldP spid="31" grpId="0" animBg="1"/>
      <p:bldP spid="32" grpId="0" animBg="1"/>
      <p:bldP spid="36" grpId="0" animBg="1"/>
      <p:bldP spid="50" grpId="0" animBg="1"/>
      <p:bldP spid="51" grpId="0" autoUpdateAnimBg="0" build="p"/>
      <p:bldP spid="52" grpId="0" autoUpdateAnimBg="0"/>
      <p:bldP spid="53" grpId="0" autoUpdateAnimBg="0"/>
      <p:bldP spid="54" grpId="0" autoUpdateAnimBg="0"/>
      <p:bldP spid="8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482340" y="3491698"/>
            <a:ext cx="4036375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母线在圆球表面的任一位置，称为圆球面的素线。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母线上任一点的运动轨迹为垂直于轴线的圆。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圆球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329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圆球的组成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758331" y="1761578"/>
            <a:ext cx="1811835" cy="3696050"/>
            <a:chOff x="5914503" y="1038348"/>
            <a:chExt cx="1811835" cy="3696050"/>
          </a:xfrm>
        </p:grpSpPr>
        <p:sp>
          <p:nvSpPr>
            <p:cNvPr id="31" name="Line 7"/>
            <p:cNvSpPr>
              <a:spLocks noChangeShapeType="1"/>
            </p:cNvSpPr>
            <p:nvPr/>
          </p:nvSpPr>
          <p:spPr bwMode="auto">
            <a:xfrm>
              <a:off x="7120855" y="3943823"/>
              <a:ext cx="0" cy="6080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V="1">
              <a:off x="7123088" y="1667347"/>
              <a:ext cx="0" cy="490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7048475" y="1376834"/>
              <a:ext cx="3978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 spc="-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endParaRPr lang="en-US" altLang="zh-CN" sz="2400" b="1" i="1" spc="-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7116738" y="4272435"/>
              <a:ext cx="609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en-US" altLang="zh-CN" sz="1600" b="1" i="1" spc="-1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</a:t>
              </a:r>
              <a:endParaRPr lang="en-US" altLang="zh-CN" sz="2400" b="1" i="1" spc="-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5914503" y="1038348"/>
              <a:ext cx="1171948" cy="701676"/>
              <a:chOff x="5565402" y="219075"/>
              <a:chExt cx="1171948" cy="701676"/>
            </a:xfrm>
          </p:grpSpPr>
          <p:sp>
            <p:nvSpPr>
              <p:cNvPr id="36" name="Text Box 76"/>
              <p:cNvSpPr txBox="1">
                <a:spLocks noChangeArrowheads="1"/>
              </p:cNvSpPr>
              <p:nvPr/>
            </p:nvSpPr>
            <p:spPr bwMode="auto">
              <a:xfrm>
                <a:off x="5565402" y="219075"/>
                <a:ext cx="700833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 eaLnBrk="0" hangingPunct="0">
                  <a:defRPr sz="2000" b="1">
                    <a:latin typeface="黑体" panose="02010609060101010101" pitchFamily="2" charset="-122"/>
                    <a:ea typeface="黑体" panose="02010609060101010101" pitchFamily="2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轴线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79"/>
              <p:cNvSpPr>
                <a:spLocks noChangeShapeType="1"/>
              </p:cNvSpPr>
              <p:nvPr/>
            </p:nvSpPr>
            <p:spPr bwMode="auto">
              <a:xfrm>
                <a:off x="6084168" y="596961"/>
                <a:ext cx="653182" cy="32379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9" name="Oval 86"/>
          <p:cNvSpPr>
            <a:spLocks noChangeArrowheads="1"/>
          </p:cNvSpPr>
          <p:nvPr/>
        </p:nvSpPr>
        <p:spPr bwMode="auto">
          <a:xfrm>
            <a:off x="5899322" y="2770355"/>
            <a:ext cx="2135188" cy="21351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570915" y="2770355"/>
            <a:ext cx="3852337" cy="464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24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由圆母线绕其直径旋转而成。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963032" y="3202613"/>
            <a:ext cx="1909686" cy="1139715"/>
            <a:chOff x="5488284" y="2771057"/>
            <a:chExt cx="1909686" cy="1139715"/>
          </a:xfrm>
        </p:grpSpPr>
        <p:grpSp>
          <p:nvGrpSpPr>
            <p:cNvPr id="43" name="组合 42"/>
            <p:cNvGrpSpPr/>
            <p:nvPr/>
          </p:nvGrpSpPr>
          <p:grpSpPr>
            <a:xfrm>
              <a:off x="5488284" y="2771057"/>
              <a:ext cx="1171948" cy="701676"/>
              <a:chOff x="5565402" y="219075"/>
              <a:chExt cx="1171948" cy="701676"/>
            </a:xfrm>
          </p:grpSpPr>
          <p:sp>
            <p:nvSpPr>
              <p:cNvPr id="45" name="Text Box 76"/>
              <p:cNvSpPr txBox="1">
                <a:spLocks noChangeArrowheads="1"/>
              </p:cNvSpPr>
              <p:nvPr/>
            </p:nvSpPr>
            <p:spPr bwMode="auto">
              <a:xfrm>
                <a:off x="5565402" y="219075"/>
                <a:ext cx="700833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 eaLnBrk="0" hangingPunct="0">
                  <a:defRPr sz="2000" b="1">
                    <a:latin typeface="黑体" panose="02010609060101010101" pitchFamily="2" charset="-122"/>
                    <a:ea typeface="黑体" panose="02010609060101010101" pitchFamily="2" charset="-122"/>
                  </a:defRPr>
                </a:lvl1pPr>
              </a:lstStyle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母线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79"/>
              <p:cNvSpPr>
                <a:spLocks noChangeShapeType="1"/>
              </p:cNvSpPr>
              <p:nvPr/>
            </p:nvSpPr>
            <p:spPr bwMode="auto">
              <a:xfrm>
                <a:off x="6084168" y="596961"/>
                <a:ext cx="653182" cy="32379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弧形 43"/>
            <p:cNvSpPr/>
            <p:nvPr/>
          </p:nvSpPr>
          <p:spPr>
            <a:xfrm rot="9995817">
              <a:off x="6544357" y="3358437"/>
              <a:ext cx="853613" cy="552335"/>
            </a:xfrm>
            <a:prstGeom prst="arc">
              <a:avLst/>
            </a:prstGeom>
            <a:ln w="15875">
              <a:solidFill>
                <a:srgbClr val="FF0000"/>
              </a:solidFill>
              <a:head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385214" y="2301359"/>
            <a:ext cx="1143909" cy="1115660"/>
            <a:chOff x="4921063" y="2351191"/>
            <a:chExt cx="1143909" cy="1115660"/>
          </a:xfrm>
        </p:grpSpPr>
        <p:sp>
          <p:nvSpPr>
            <p:cNvPr id="48" name="Text Box 75"/>
            <p:cNvSpPr txBox="1">
              <a:spLocks noChangeArrowheads="1"/>
            </p:cNvSpPr>
            <p:nvPr/>
          </p:nvSpPr>
          <p:spPr bwMode="auto">
            <a:xfrm>
              <a:off x="5106056" y="2351191"/>
              <a:ext cx="95891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 eaLnBrk="0" hangingPunct="0">
                <a:defRPr sz="2000" b="1">
                  <a:latin typeface="黑体" panose="02010609060101010101" pitchFamily="2" charset="-122"/>
                  <a:ea typeface="黑体" panose="02010609060101010101" pitchFamily="2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圆球面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80"/>
            <p:cNvSpPr>
              <a:spLocks noChangeShapeType="1"/>
            </p:cNvSpPr>
            <p:nvPr/>
          </p:nvSpPr>
          <p:spPr bwMode="auto">
            <a:xfrm flipH="1">
              <a:off x="4921063" y="2720041"/>
              <a:ext cx="646567" cy="74681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0" name="Arc 94"/>
          <p:cNvSpPr/>
          <p:nvPr/>
        </p:nvSpPr>
        <p:spPr bwMode="auto">
          <a:xfrm rot="5462161" flipV="1">
            <a:off x="5662343" y="3283754"/>
            <a:ext cx="2078037" cy="1090613"/>
          </a:xfrm>
          <a:custGeom>
            <a:avLst/>
            <a:gdLst>
              <a:gd name="T0" fmla="*/ 2147483647 w 43200"/>
              <a:gd name="T1" fmla="*/ 2147483647 h 27647"/>
              <a:gd name="T2" fmla="*/ 2147483647 w 43200"/>
              <a:gd name="T3" fmla="*/ 2147483647 h 27647"/>
              <a:gd name="T4" fmla="*/ 2147483647 w 43200"/>
              <a:gd name="T5" fmla="*/ 2147483647 h 276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7647" fill="none" extrusionOk="0">
                <a:moveTo>
                  <a:pt x="863" y="27647"/>
                </a:moveTo>
                <a:cubicBezTo>
                  <a:pt x="290" y="25682"/>
                  <a:pt x="0" y="2364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589"/>
                  <a:pt x="43132" y="23577"/>
                  <a:pt x="42996" y="24558"/>
                </a:cubicBezTo>
              </a:path>
              <a:path w="43200" h="27647" stroke="0" extrusionOk="0">
                <a:moveTo>
                  <a:pt x="863" y="27647"/>
                </a:moveTo>
                <a:cubicBezTo>
                  <a:pt x="290" y="25682"/>
                  <a:pt x="0" y="2364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589"/>
                  <a:pt x="43132" y="23577"/>
                  <a:pt x="42996" y="24558"/>
                </a:cubicBezTo>
                <a:lnTo>
                  <a:pt x="21600" y="21600"/>
                </a:lnTo>
                <a:lnTo>
                  <a:pt x="863" y="27647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1" grpId="0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85496" y="1320587"/>
            <a:ext cx="4313238" cy="3831493"/>
            <a:chOff x="5838825" y="1311229"/>
            <a:chExt cx="4313238" cy="3831493"/>
          </a:xfrm>
        </p:grpSpPr>
        <p:grpSp>
          <p:nvGrpSpPr>
            <p:cNvPr id="3" name="Group 8"/>
            <p:cNvGrpSpPr/>
            <p:nvPr/>
          </p:nvGrpSpPr>
          <p:grpSpPr bwMode="auto">
            <a:xfrm>
              <a:off x="6092031" y="1519192"/>
              <a:ext cx="3800475" cy="3529013"/>
              <a:chOff x="2661" y="984"/>
              <a:chExt cx="2394" cy="2223"/>
            </a:xfrm>
          </p:grpSpPr>
          <p:sp>
            <p:nvSpPr>
              <p:cNvPr id="10" name="Oval 9"/>
              <p:cNvSpPr>
                <a:spLocks noChangeArrowheads="1"/>
              </p:cNvSpPr>
              <p:nvPr/>
            </p:nvSpPr>
            <p:spPr bwMode="auto">
              <a:xfrm>
                <a:off x="2661" y="2226"/>
                <a:ext cx="981" cy="981"/>
              </a:xfrm>
              <a:prstGeom prst="ellipse">
                <a:avLst/>
              </a:prstGeom>
              <a:solidFill>
                <a:srgbClr val="92D050">
                  <a:alpha val="20000"/>
                </a:srgbClr>
              </a:solidFill>
              <a:ln w="38100">
                <a:solidFill>
                  <a:schemeClr val="accent5">
                    <a:lumMod val="50000"/>
                  </a:schemeClr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" name="Oval 10"/>
              <p:cNvSpPr>
                <a:spLocks noChangeArrowheads="1"/>
              </p:cNvSpPr>
              <p:nvPr/>
            </p:nvSpPr>
            <p:spPr bwMode="auto">
              <a:xfrm>
                <a:off x="4074" y="998"/>
                <a:ext cx="981" cy="981"/>
              </a:xfrm>
              <a:prstGeom prst="ellipse">
                <a:avLst/>
              </a:prstGeom>
              <a:solidFill>
                <a:srgbClr val="92D050">
                  <a:alpha val="20000"/>
                </a:srgbClr>
              </a:solidFill>
              <a:ln w="38100">
                <a:solidFill>
                  <a:schemeClr val="accent5">
                    <a:lumMod val="50000"/>
                  </a:schemeClr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3" name="Oval 11"/>
              <p:cNvSpPr>
                <a:spLocks noChangeArrowheads="1"/>
              </p:cNvSpPr>
              <p:nvPr/>
            </p:nvSpPr>
            <p:spPr bwMode="auto">
              <a:xfrm>
                <a:off x="2668" y="984"/>
                <a:ext cx="981" cy="981"/>
              </a:xfrm>
              <a:prstGeom prst="ellipse">
                <a:avLst/>
              </a:prstGeom>
              <a:solidFill>
                <a:srgbClr val="92D050">
                  <a:alpha val="20000"/>
                </a:srgbClr>
              </a:solidFill>
              <a:ln w="38100">
                <a:solidFill>
                  <a:schemeClr val="accent5">
                    <a:lumMod val="50000"/>
                  </a:schemeClr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18" t="-19089" r="38250" b="-8835"/>
            <a:stretch>
              <a:fillRect/>
            </a:stretch>
          </p:blipFill>
          <p:spPr>
            <a:xfrm>
              <a:off x="5848350" y="4152900"/>
              <a:ext cx="2076450" cy="2286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18" t="-19089" r="38250" b="-8835"/>
            <a:stretch>
              <a:fillRect/>
            </a:stretch>
          </p:blipFill>
          <p:spPr>
            <a:xfrm>
              <a:off x="5838825" y="2197054"/>
              <a:ext cx="2076450" cy="2286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18" t="-19089" r="38250" b="-8835"/>
            <a:stretch>
              <a:fillRect/>
            </a:stretch>
          </p:blipFill>
          <p:spPr>
            <a:xfrm>
              <a:off x="8075613" y="2197054"/>
              <a:ext cx="2076450" cy="2286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18" t="-19088" r="39591" b="-8836"/>
            <a:stretch>
              <a:fillRect/>
            </a:stretch>
          </p:blipFill>
          <p:spPr>
            <a:xfrm rot="5400000">
              <a:off x="5944368" y="2153423"/>
              <a:ext cx="1912987" cy="2286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18" t="-19088" r="39591" b="-8836"/>
            <a:stretch>
              <a:fillRect/>
            </a:stretch>
          </p:blipFill>
          <p:spPr>
            <a:xfrm rot="5400000">
              <a:off x="5944368" y="4071929"/>
              <a:ext cx="1912987" cy="2286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18" t="-19088" r="39591" b="-8836"/>
            <a:stretch>
              <a:fillRect/>
            </a:stretch>
          </p:blipFill>
          <p:spPr>
            <a:xfrm rot="5400000">
              <a:off x="8157345" y="2153424"/>
              <a:ext cx="1912987" cy="228600"/>
            </a:xfrm>
            <a:prstGeom prst="rect">
              <a:avLst/>
            </a:prstGeom>
          </p:spPr>
        </p:pic>
      </p:grpSp>
      <p:grpSp>
        <p:nvGrpSpPr>
          <p:cNvPr id="14" name="Group 2"/>
          <p:cNvGrpSpPr/>
          <p:nvPr/>
        </p:nvGrpSpPr>
        <p:grpSpPr bwMode="auto">
          <a:xfrm>
            <a:off x="517131" y="2741771"/>
            <a:ext cx="3498851" cy="3344863"/>
            <a:chOff x="219" y="1234"/>
            <a:chExt cx="2204" cy="2107"/>
          </a:xfrm>
        </p:grpSpPr>
        <p:grpSp>
          <p:nvGrpSpPr>
            <p:cNvPr id="15" name="Group 3"/>
            <p:cNvGrpSpPr/>
            <p:nvPr/>
          </p:nvGrpSpPr>
          <p:grpSpPr bwMode="auto">
            <a:xfrm>
              <a:off x="219" y="1234"/>
              <a:ext cx="2204" cy="2107"/>
              <a:chOff x="219" y="1234"/>
              <a:chExt cx="2204" cy="2107"/>
            </a:xfrm>
          </p:grpSpPr>
          <p:sp>
            <p:nvSpPr>
              <p:cNvPr id="17" name="Freeform 4"/>
              <p:cNvSpPr/>
              <p:nvPr/>
            </p:nvSpPr>
            <p:spPr bwMode="auto">
              <a:xfrm>
                <a:off x="263" y="2719"/>
                <a:ext cx="2147" cy="622"/>
              </a:xfrm>
              <a:custGeom>
                <a:avLst/>
                <a:gdLst>
                  <a:gd name="T0" fmla="*/ 1125 w 2147"/>
                  <a:gd name="T1" fmla="*/ 0 h 622"/>
                  <a:gd name="T2" fmla="*/ 0 w 2147"/>
                  <a:gd name="T3" fmla="*/ 415 h 622"/>
                  <a:gd name="T4" fmla="*/ 1058 w 2147"/>
                  <a:gd name="T5" fmla="*/ 622 h 622"/>
                  <a:gd name="T6" fmla="*/ 2147 w 2147"/>
                  <a:gd name="T7" fmla="*/ 255 h 622"/>
                  <a:gd name="T8" fmla="*/ 1125 w 2147"/>
                  <a:gd name="T9" fmla="*/ 0 h 6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47" h="622">
                    <a:moveTo>
                      <a:pt x="1125" y="0"/>
                    </a:moveTo>
                    <a:lnTo>
                      <a:pt x="0" y="415"/>
                    </a:lnTo>
                    <a:lnTo>
                      <a:pt x="1058" y="622"/>
                    </a:lnTo>
                    <a:lnTo>
                      <a:pt x="2147" y="25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rgbClr val="CCECFF">
                  <a:alpha val="50195"/>
                </a:srgbClr>
              </a:solidFill>
              <a:ln w="28575" cmpd="sng">
                <a:solidFill>
                  <a:schemeClr val="accent5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5"/>
              <p:cNvSpPr/>
              <p:nvPr/>
            </p:nvSpPr>
            <p:spPr bwMode="auto">
              <a:xfrm>
                <a:off x="1367" y="1234"/>
                <a:ext cx="1056" cy="1744"/>
              </a:xfrm>
              <a:custGeom>
                <a:avLst/>
                <a:gdLst>
                  <a:gd name="T0" fmla="*/ 0 w 1056"/>
                  <a:gd name="T1" fmla="*/ 0 h 2156"/>
                  <a:gd name="T2" fmla="*/ 0 w 1056"/>
                  <a:gd name="T3" fmla="*/ 142 h 2156"/>
                  <a:gd name="T4" fmla="*/ 1056 w 1056"/>
                  <a:gd name="T5" fmla="*/ 170 h 2156"/>
                  <a:gd name="T6" fmla="*/ 1056 w 1056"/>
                  <a:gd name="T7" fmla="*/ 27 h 2156"/>
                  <a:gd name="T8" fmla="*/ 0 w 1056"/>
                  <a:gd name="T9" fmla="*/ 0 h 2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6" h="2156">
                    <a:moveTo>
                      <a:pt x="0" y="0"/>
                    </a:moveTo>
                    <a:lnTo>
                      <a:pt x="0" y="1811"/>
                    </a:lnTo>
                    <a:lnTo>
                      <a:pt x="1056" y="2156"/>
                    </a:lnTo>
                    <a:lnTo>
                      <a:pt x="1056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ECFF">
                  <a:alpha val="50195"/>
                </a:srgbClr>
              </a:solidFill>
              <a:ln w="28575" cmpd="sng">
                <a:solidFill>
                  <a:schemeClr val="accent5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6"/>
              <p:cNvSpPr/>
              <p:nvPr/>
            </p:nvSpPr>
            <p:spPr bwMode="auto">
              <a:xfrm>
                <a:off x="255" y="1236"/>
                <a:ext cx="1123" cy="1899"/>
              </a:xfrm>
              <a:custGeom>
                <a:avLst/>
                <a:gdLst>
                  <a:gd name="T0" fmla="*/ 0 w 1123"/>
                  <a:gd name="T1" fmla="*/ 384 h 1899"/>
                  <a:gd name="T2" fmla="*/ 1123 w 1123"/>
                  <a:gd name="T3" fmla="*/ 0 h 1899"/>
                  <a:gd name="T4" fmla="*/ 1123 w 1123"/>
                  <a:gd name="T5" fmla="*/ 1467 h 1899"/>
                  <a:gd name="T6" fmla="*/ 1 w 1123"/>
                  <a:gd name="T7" fmla="*/ 1899 h 1899"/>
                  <a:gd name="T8" fmla="*/ 0 w 1123"/>
                  <a:gd name="T9" fmla="*/ 384 h 18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3" h="1899">
                    <a:moveTo>
                      <a:pt x="0" y="384"/>
                    </a:moveTo>
                    <a:lnTo>
                      <a:pt x="1123" y="0"/>
                    </a:lnTo>
                    <a:lnTo>
                      <a:pt x="1123" y="1467"/>
                    </a:lnTo>
                    <a:lnTo>
                      <a:pt x="1" y="1899"/>
                    </a:lnTo>
                    <a:lnTo>
                      <a:pt x="0" y="384"/>
                    </a:lnTo>
                    <a:close/>
                  </a:path>
                </a:pathLst>
              </a:custGeom>
              <a:solidFill>
                <a:srgbClr val="CCECFF">
                  <a:alpha val="50195"/>
                </a:srgbClr>
              </a:solidFill>
              <a:ln w="28575" cmpd="sng">
                <a:solidFill>
                  <a:schemeClr val="accent5">
                    <a:lumMod val="75000"/>
                  </a:schemeClr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Text Box 7"/>
              <p:cNvSpPr txBox="1">
                <a:spLocks noChangeArrowheads="1"/>
              </p:cNvSpPr>
              <p:nvPr/>
            </p:nvSpPr>
            <p:spPr bwMode="auto">
              <a:xfrm>
                <a:off x="219" y="1555"/>
                <a:ext cx="267" cy="368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perspectiveContrastingRightFacing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eaLnBrk="1" hangingPunct="1">
                  <a:defRPr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ISOCPEUR" panose="020B0604020202020204" pitchFamily="34" charset="0"/>
                    <a:ea typeface="隶书" panose="02010509060101010101" pitchFamily="49" charset="-122"/>
                  </a:defRPr>
                </a:lvl1pPr>
              </a:lstStyle>
              <a:p>
                <a:pPr>
                  <a:defRPr/>
                </a:pPr>
                <a:r>
                  <a:rPr lang="en-US" altLang="zh-CN" dirty="0"/>
                  <a:t>V</a:t>
                </a:r>
                <a:endParaRPr lang="en-US" altLang="zh-CN" dirty="0"/>
              </a:p>
            </p:txBody>
          </p:sp>
          <p:sp>
            <p:nvSpPr>
              <p:cNvPr id="21" name="Text Box 8"/>
              <p:cNvSpPr txBox="1">
                <a:spLocks noChangeArrowheads="1"/>
              </p:cNvSpPr>
              <p:nvPr/>
            </p:nvSpPr>
            <p:spPr bwMode="auto">
              <a:xfrm>
                <a:off x="2048" y="1428"/>
                <a:ext cx="306" cy="368"/>
              </a:xfrm>
              <a:prstGeom prst="rect">
                <a:avLst/>
              </a:prstGeom>
              <a:noFill/>
              <a:ln>
                <a:noFill/>
              </a:ln>
              <a:effectLst/>
              <a:scene3d>
                <a:camera prst="isometricOffAxis2Left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3200" b="1" dirty="0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ISOCPEUR" panose="020B0604020202020204" pitchFamily="34" charset="0"/>
                    <a:ea typeface="隶书" panose="02010509060101010101" pitchFamily="49" charset="-122"/>
                  </a:rPr>
                  <a:t>W</a:t>
                </a:r>
                <a:endParaRPr lang="en-US" altLang="zh-CN" sz="3200" b="1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PEUR" panose="020B0604020202020204" pitchFamily="34" charset="0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1840" y="2830"/>
              <a:ext cx="250" cy="368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isometricBottomDown"/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PEUR" panose="020B0604020202020204" pitchFamily="34" charset="0"/>
                  <a:ea typeface="隶书" panose="02010509060101010101" pitchFamily="49" charset="-122"/>
                </a:defRPr>
              </a:lvl1pPr>
            </a:lstStyle>
            <a:p>
              <a:pPr>
                <a:defRPr/>
              </a:pPr>
              <a:r>
                <a:rPr lang="en-US" altLang="zh-CN" dirty="0"/>
                <a:t>H</a:t>
              </a:r>
              <a:endParaRPr lang="en-US" altLang="zh-CN" dirty="0"/>
            </a:p>
          </p:txBody>
        </p:sp>
      </p:grpSp>
      <p:sp>
        <p:nvSpPr>
          <p:cNvPr id="25" name="Line 18"/>
          <p:cNvSpPr>
            <a:spLocks noChangeShapeType="1"/>
          </p:cNvSpPr>
          <p:nvPr/>
        </p:nvSpPr>
        <p:spPr bwMode="auto">
          <a:xfrm>
            <a:off x="6234115" y="2765212"/>
            <a:ext cx="239713" cy="2476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Text Box 19"/>
          <p:cNvSpPr txBox="1">
            <a:spLocks noChangeArrowheads="1"/>
          </p:cNvSpPr>
          <p:nvPr/>
        </p:nvSpPr>
        <p:spPr bwMode="auto">
          <a:xfrm>
            <a:off x="6419853" y="2796962"/>
            <a:ext cx="5826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olidFill>
                  <a:srgbClr val="990033"/>
                </a:solidFill>
                <a:latin typeface="ISOCPEUR" panose="020B0604020202020204" pitchFamily="34" charset="0"/>
              </a:rPr>
              <a:t>a'</a:t>
            </a:r>
            <a:endParaRPr lang="en-US" altLang="zh-CN" sz="2400" b="1" i="1">
              <a:solidFill>
                <a:srgbClr val="990033"/>
              </a:solidFill>
              <a:latin typeface="ISOCPEUR" panose="020B0604020202020204" pitchFamily="34" charset="0"/>
            </a:endParaRPr>
          </a:p>
        </p:txBody>
      </p:sp>
      <p:sp>
        <p:nvSpPr>
          <p:cNvPr id="27" name="Line 20"/>
          <p:cNvSpPr>
            <a:spLocks noChangeShapeType="1"/>
          </p:cNvSpPr>
          <p:nvPr/>
        </p:nvSpPr>
        <p:spPr bwMode="auto">
          <a:xfrm flipH="1">
            <a:off x="5014915" y="5030575"/>
            <a:ext cx="319088" cy="230187"/>
          </a:xfrm>
          <a:prstGeom prst="line">
            <a:avLst/>
          </a:prstGeom>
          <a:noFill/>
          <a:ln w="1270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4729165" y="5287750"/>
            <a:ext cx="330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solidFill>
                  <a:srgbClr val="16165D"/>
                </a:solidFill>
                <a:latin typeface="ISOCPEUR" panose="020B0604020202020204" pitchFamily="34" charset="0"/>
                <a:ea typeface="黑体" panose="02010609060101010101" pitchFamily="2" charset="-122"/>
              </a:rPr>
              <a:t>b</a:t>
            </a:r>
            <a:endParaRPr lang="en-US" altLang="zh-CN" sz="2400" b="1" i="1">
              <a:solidFill>
                <a:srgbClr val="16165D"/>
              </a:solidFill>
              <a:latin typeface="ISOCPEUR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>
            <a:off x="8305803" y="2952537"/>
            <a:ext cx="252412" cy="157163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8520115" y="2939837"/>
            <a:ext cx="43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solidFill>
                  <a:srgbClr val="006049"/>
                </a:solidFill>
                <a:latin typeface="ISOCPEUR" panose="020B0604020202020204" pitchFamily="34" charset="0"/>
                <a:ea typeface="黑体" panose="02010609060101010101" pitchFamily="2" charset="-122"/>
              </a:rPr>
              <a:t>c"</a:t>
            </a:r>
            <a:endParaRPr lang="en-US" altLang="zh-CN" sz="2400" b="1" i="1">
              <a:solidFill>
                <a:srgbClr val="006049"/>
              </a:solidFill>
              <a:latin typeface="ISOCPEUR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1" name="Line 24"/>
          <p:cNvSpPr>
            <a:spLocks noChangeShapeType="1"/>
          </p:cNvSpPr>
          <p:nvPr/>
        </p:nvSpPr>
        <p:spPr bwMode="auto">
          <a:xfrm>
            <a:off x="4813303" y="4274925"/>
            <a:ext cx="1587500" cy="9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auto">
          <a:xfrm>
            <a:off x="7858128" y="1565062"/>
            <a:ext cx="0" cy="153035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26"/>
          <p:cNvSpPr>
            <a:spLocks noChangeShapeType="1"/>
          </p:cNvSpPr>
          <p:nvPr/>
        </p:nvSpPr>
        <p:spPr bwMode="auto">
          <a:xfrm>
            <a:off x="4833940" y="2325475"/>
            <a:ext cx="15589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27"/>
          <p:cNvSpPr>
            <a:spLocks noChangeShapeType="1"/>
          </p:cNvSpPr>
          <p:nvPr/>
        </p:nvSpPr>
        <p:spPr bwMode="auto">
          <a:xfrm>
            <a:off x="7078665" y="2323887"/>
            <a:ext cx="15589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28"/>
          <p:cNvSpPr>
            <a:spLocks noChangeShapeType="1"/>
          </p:cNvSpPr>
          <p:nvPr/>
        </p:nvSpPr>
        <p:spPr bwMode="auto">
          <a:xfrm>
            <a:off x="5635628" y="1534900"/>
            <a:ext cx="0" cy="154940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>
            <a:off x="5635628" y="3498637"/>
            <a:ext cx="0" cy="1558925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" name="Group 30"/>
          <p:cNvGrpSpPr/>
          <p:nvPr/>
        </p:nvGrpSpPr>
        <p:grpSpPr bwMode="auto">
          <a:xfrm>
            <a:off x="1118794" y="2927202"/>
            <a:ext cx="2135187" cy="2940050"/>
            <a:chOff x="3841" y="1128"/>
            <a:chExt cx="1345" cy="1852"/>
          </a:xfrm>
        </p:grpSpPr>
        <p:sp>
          <p:nvSpPr>
            <p:cNvPr id="39" name="Oval 31"/>
            <p:cNvSpPr>
              <a:spLocks noChangeArrowheads="1"/>
            </p:cNvSpPr>
            <p:nvPr/>
          </p:nvSpPr>
          <p:spPr bwMode="auto">
            <a:xfrm>
              <a:off x="3841" y="1374"/>
              <a:ext cx="1345" cy="1345"/>
            </a:xfrm>
            <a:prstGeom prst="ellipse">
              <a:avLst/>
            </a:prstGeom>
            <a:gradFill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accent5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4507" y="1254"/>
              <a:ext cx="0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4504" y="2722"/>
              <a:ext cx="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34"/>
            <p:cNvSpPr txBox="1">
              <a:spLocks noChangeArrowheads="1"/>
            </p:cNvSpPr>
            <p:nvPr/>
          </p:nvSpPr>
          <p:spPr bwMode="auto">
            <a:xfrm>
              <a:off x="4282" y="1128"/>
              <a:ext cx="2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ISOCPEUR" panose="020B0604020202020204" pitchFamily="34" charset="0"/>
                </a:rPr>
                <a:t>O</a:t>
              </a:r>
              <a:endParaRPr lang="en-US" altLang="zh-CN" sz="2400" b="1" i="1">
                <a:latin typeface="ISOCPEUR" panose="020B0604020202020204" pitchFamily="34" charset="0"/>
              </a:endParaRPr>
            </a:p>
          </p:txBody>
        </p:sp>
        <p:sp>
          <p:nvSpPr>
            <p:cNvPr id="43" name="Text Box 35"/>
            <p:cNvSpPr txBox="1">
              <a:spLocks noChangeArrowheads="1"/>
            </p:cNvSpPr>
            <p:nvPr/>
          </p:nvSpPr>
          <p:spPr bwMode="auto">
            <a:xfrm>
              <a:off x="4288" y="2689"/>
              <a:ext cx="2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ISOCPEUR" panose="020B0604020202020204" pitchFamily="34" charset="0"/>
                </a:rPr>
                <a:t>O</a:t>
              </a:r>
              <a:endParaRPr lang="en-US" altLang="zh-CN" sz="2400" b="1" i="1">
                <a:latin typeface="ISOCPEUR" panose="020B0604020202020204" pitchFamily="34" charset="0"/>
              </a:endParaRPr>
            </a:p>
          </p:txBody>
        </p:sp>
      </p:grpSp>
      <p:sp>
        <p:nvSpPr>
          <p:cNvPr id="50" name="Text Box 50"/>
          <p:cNvSpPr txBox="1">
            <a:spLocks noChangeArrowheads="1"/>
          </p:cNvSpPr>
          <p:nvPr/>
        </p:nvSpPr>
        <p:spPr bwMode="auto">
          <a:xfrm>
            <a:off x="6878530" y="4149080"/>
            <a:ext cx="1952845" cy="430887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square" anchor="ctr"/>
          <a:lstStyle>
            <a:defPPr>
              <a:defRPr lang="zh-CN"/>
            </a:defPPr>
            <a:lvl1pPr algn="ctr">
              <a:spcBef>
                <a:spcPct val="0"/>
              </a:spcBef>
              <a:defRPr kumimoji="1" sz="2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sym typeface="Symbol" panose="05050102010706020507" pitchFamily="18" charset="2"/>
              </a:rPr>
              <a:t>轮廓圆的投影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6841223" y="4893499"/>
            <a:ext cx="1952845" cy="752293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square" anchor="ctr"/>
          <a:lstStyle>
            <a:defPPr>
              <a:defRPr lang="zh-CN"/>
            </a:defPPr>
            <a:lvl1pPr algn="ctr">
              <a:spcBef>
                <a:spcPct val="0"/>
              </a:spcBef>
              <a:defRPr kumimoji="1" sz="2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球面投影可见性判断</a:t>
            </a:r>
            <a:endParaRPr lang="zh-CN" altLang="en-US" dirty="0"/>
          </a:p>
        </p:txBody>
      </p:sp>
      <p:sp>
        <p:nvSpPr>
          <p:cNvPr id="52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圆球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圆球的三视图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54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utoUpdateAnimBg="0"/>
      <p:bldP spid="27" grpId="0" animBg="1"/>
      <p:bldP spid="28" grpId="0" autoUpdateAnimBg="0"/>
      <p:bldP spid="29" grpId="0" animBg="1"/>
      <p:bldP spid="30" grpId="0" autoUpdateAnimBg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50" grpId="0" animBg="1"/>
      <p:bldP spid="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4779633" y="1294897"/>
            <a:ext cx="29578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在球面的一水平圆上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val 13"/>
          <p:cNvSpPr>
            <a:spLocks noChangeArrowheads="1"/>
          </p:cNvSpPr>
          <p:nvPr/>
        </p:nvSpPr>
        <p:spPr bwMode="auto">
          <a:xfrm>
            <a:off x="5205432" y="2537144"/>
            <a:ext cx="173037" cy="17303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4938732" y="2164082"/>
            <a:ext cx="481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n'</a:t>
            </a:r>
            <a:endParaRPr lang="en-US" altLang="zh-CN" sz="2800" b="1">
              <a:solidFill>
                <a:srgbClr val="A50021"/>
              </a:solidFill>
            </a:endParaRPr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>
            <a:off x="4311669" y="2630807"/>
            <a:ext cx="1385888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5662632" y="2648269"/>
            <a:ext cx="0" cy="23368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7"/>
          <p:cNvSpPr>
            <a:spLocks noChangeShapeType="1"/>
          </p:cNvSpPr>
          <p:nvPr/>
        </p:nvSpPr>
        <p:spPr bwMode="auto">
          <a:xfrm>
            <a:off x="5291157" y="2638744"/>
            <a:ext cx="0" cy="296386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19"/>
          <p:cNvSpPr>
            <a:spLocks noChangeArrowheads="1"/>
          </p:cNvSpPr>
          <p:nvPr/>
        </p:nvSpPr>
        <p:spPr bwMode="auto">
          <a:xfrm>
            <a:off x="5205432" y="5474019"/>
            <a:ext cx="173037" cy="17303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5316557" y="5494657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n</a:t>
            </a:r>
            <a:endParaRPr lang="en-US" altLang="zh-CN" sz="2800" b="1">
              <a:solidFill>
                <a:srgbClr val="A50021"/>
              </a:solidFill>
            </a:endParaRPr>
          </a:p>
        </p:txBody>
      </p:sp>
      <p:sp>
        <p:nvSpPr>
          <p:cNvPr id="14" name="Line 21"/>
          <p:cNvSpPr>
            <a:spLocks noChangeShapeType="1"/>
          </p:cNvSpPr>
          <p:nvPr/>
        </p:nvSpPr>
        <p:spPr bwMode="auto">
          <a:xfrm rot="2617279">
            <a:off x="5081607" y="5070794"/>
            <a:ext cx="406400" cy="420688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 flipV="1">
            <a:off x="7215208" y="2624911"/>
            <a:ext cx="552708" cy="272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7778769" y="2125982"/>
            <a:ext cx="579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n"</a:t>
            </a:r>
            <a:endParaRPr lang="en-US" altLang="zh-CN" sz="2800" b="1">
              <a:solidFill>
                <a:srgbClr val="A50021"/>
              </a:solidFill>
            </a:endParaRPr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>
            <a:off x="5730894" y="2635569"/>
            <a:ext cx="20066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" name="Group 26"/>
          <p:cNvGrpSpPr/>
          <p:nvPr/>
        </p:nvGrpSpPr>
        <p:grpSpPr bwMode="auto">
          <a:xfrm>
            <a:off x="719002" y="3259918"/>
            <a:ext cx="2135188" cy="3049588"/>
            <a:chOff x="3841" y="1050"/>
            <a:chExt cx="1345" cy="1921"/>
          </a:xfrm>
        </p:grpSpPr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841" y="1374"/>
              <a:ext cx="1345" cy="1345"/>
            </a:xfrm>
            <a:prstGeom prst="ellipse">
              <a:avLst/>
            </a:prstGeom>
            <a:gradFill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accent5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>
              <a:off x="4507" y="1097"/>
              <a:ext cx="0" cy="3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>
              <a:off x="4504" y="2722"/>
              <a:ext cx="0" cy="211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4256" y="1050"/>
              <a:ext cx="24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O</a:t>
              </a:r>
              <a:endParaRPr lang="en-US" altLang="zh-CN" sz="2000" b="1" dirty="0"/>
            </a:p>
          </p:txBody>
        </p:sp>
        <p:sp>
          <p:nvSpPr>
            <p:cNvPr id="23" name="Text Box 31"/>
            <p:cNvSpPr txBox="1">
              <a:spLocks noChangeArrowheads="1"/>
            </p:cNvSpPr>
            <p:nvPr/>
          </p:nvSpPr>
          <p:spPr bwMode="auto">
            <a:xfrm>
              <a:off x="4270" y="2719"/>
              <a:ext cx="24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O</a:t>
              </a:r>
              <a:endParaRPr lang="en-US" altLang="zh-CN" sz="2000" b="1" dirty="0"/>
            </a:p>
          </p:txBody>
        </p:sp>
      </p:grpSp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1884227" y="3790143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</a:rPr>
              <a:t>N</a:t>
            </a:r>
            <a:endParaRPr lang="en-US" altLang="zh-CN" sz="2800" b="1">
              <a:solidFill>
                <a:schemeClr val="bg1"/>
              </a:solidFill>
            </a:endParaRPr>
          </a:p>
        </p:txBody>
      </p:sp>
      <p:sp>
        <p:nvSpPr>
          <p:cNvPr id="25" name="Arc 33"/>
          <p:cNvSpPr/>
          <p:nvPr/>
        </p:nvSpPr>
        <p:spPr bwMode="auto">
          <a:xfrm flipV="1">
            <a:off x="4329132" y="4316732"/>
            <a:ext cx="1330325" cy="1330325"/>
          </a:xfrm>
          <a:prstGeom prst="ellipse">
            <a:avLst/>
          </a:prstGeom>
          <a:noFill/>
          <a:ln w="12700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rc 34"/>
          <p:cNvSpPr/>
          <p:nvPr/>
        </p:nvSpPr>
        <p:spPr bwMode="auto">
          <a:xfrm flipV="1">
            <a:off x="1065077" y="3929843"/>
            <a:ext cx="1436688" cy="441325"/>
          </a:xfrm>
          <a:custGeom>
            <a:avLst/>
            <a:gdLst>
              <a:gd name="T0" fmla="*/ 2147483647 w 43200"/>
              <a:gd name="T1" fmla="*/ 2147483647 h 33987"/>
              <a:gd name="T2" fmla="*/ 2147483647 w 43200"/>
              <a:gd name="T3" fmla="*/ 2147483647 h 33987"/>
              <a:gd name="T4" fmla="*/ 2147483647 w 43200"/>
              <a:gd name="T5" fmla="*/ 2147483647 h 339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3987" fill="none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6031"/>
                  <a:pt x="41836" y="30356"/>
                  <a:pt x="39295" y="33987"/>
                </a:cubicBezTo>
              </a:path>
              <a:path w="43200" h="33987" stroke="0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6031"/>
                  <a:pt x="41836" y="30356"/>
                  <a:pt x="39295" y="33987"/>
                </a:cubicBezTo>
                <a:lnTo>
                  <a:pt x="21600" y="21600"/>
                </a:lnTo>
                <a:lnTo>
                  <a:pt x="911" y="27809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Oval 35"/>
          <p:cNvSpPr>
            <a:spLocks noChangeArrowheads="1"/>
          </p:cNvSpPr>
          <p:nvPr/>
        </p:nvSpPr>
        <p:spPr bwMode="auto">
          <a:xfrm>
            <a:off x="2209665" y="4177493"/>
            <a:ext cx="210681" cy="210681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65111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7675582" y="2072007"/>
            <a:ext cx="866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(     )</a:t>
            </a:r>
            <a:endParaRPr lang="en-US" altLang="zh-CN" sz="2800" b="1">
              <a:solidFill>
                <a:srgbClr val="A50021"/>
              </a:solidFill>
            </a:endParaRPr>
          </a:p>
        </p:txBody>
      </p:sp>
      <p:sp>
        <p:nvSpPr>
          <p:cNvPr id="29" name="Text Box 38"/>
          <p:cNvSpPr txBox="1">
            <a:spLocks noChangeArrowheads="1"/>
          </p:cNvSpPr>
          <p:nvPr/>
        </p:nvSpPr>
        <p:spPr bwMode="auto">
          <a:xfrm>
            <a:off x="492134" y="2815739"/>
            <a:ext cx="26057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None/>
              <a:defRPr kumimoji="1" sz="2200">
                <a:solidFill>
                  <a:srgbClr val="7E529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o UI" panose="020B0502040204020203" pitchFamily="34" charset="0"/>
              </a:rPr>
              <a:t>’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n"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40"/>
          <p:cNvSpPr txBox="1">
            <a:spLocks noChangeArrowheads="1"/>
          </p:cNvSpPr>
          <p:nvPr/>
        </p:nvSpPr>
        <p:spPr bwMode="auto">
          <a:xfrm>
            <a:off x="6350019" y="4605657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辅助圆法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" name="Oval 18"/>
          <p:cNvSpPr>
            <a:spLocks noChangeArrowheads="1"/>
          </p:cNvSpPr>
          <p:nvPr/>
        </p:nvSpPr>
        <p:spPr bwMode="auto">
          <a:xfrm>
            <a:off x="7718444" y="2545082"/>
            <a:ext cx="173038" cy="1730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8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2" name="组合 31"/>
          <p:cNvGrpSpPr/>
          <p:nvPr/>
        </p:nvGrpSpPr>
        <p:grpSpPr>
          <a:xfrm>
            <a:off x="4003377" y="1902951"/>
            <a:ext cx="4327208" cy="4081926"/>
            <a:chOff x="7211437" y="1554483"/>
            <a:chExt cx="4327208" cy="4081926"/>
          </a:xfrm>
        </p:grpSpPr>
        <p:grpSp>
          <p:nvGrpSpPr>
            <p:cNvPr id="33" name="Group 2"/>
            <p:cNvGrpSpPr/>
            <p:nvPr/>
          </p:nvGrpSpPr>
          <p:grpSpPr bwMode="auto">
            <a:xfrm>
              <a:off x="7424479" y="1882289"/>
              <a:ext cx="3800475" cy="3529013"/>
              <a:chOff x="2661" y="984"/>
              <a:chExt cx="2394" cy="2223"/>
            </a:xfrm>
          </p:grpSpPr>
          <p:sp>
            <p:nvSpPr>
              <p:cNvPr id="41" name="Oval 3"/>
              <p:cNvSpPr>
                <a:spLocks noChangeArrowheads="1"/>
              </p:cNvSpPr>
              <p:nvPr/>
            </p:nvSpPr>
            <p:spPr bwMode="auto">
              <a:xfrm>
                <a:off x="2661" y="2226"/>
                <a:ext cx="981" cy="98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2" name="Oval 4"/>
              <p:cNvSpPr>
                <a:spLocks noChangeArrowheads="1"/>
              </p:cNvSpPr>
              <p:nvPr/>
            </p:nvSpPr>
            <p:spPr bwMode="auto">
              <a:xfrm>
                <a:off x="4074" y="998"/>
                <a:ext cx="981" cy="98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43" name="Oval 5"/>
              <p:cNvSpPr>
                <a:spLocks noChangeArrowheads="1"/>
              </p:cNvSpPr>
              <p:nvPr/>
            </p:nvSpPr>
            <p:spPr bwMode="auto">
              <a:xfrm>
                <a:off x="2668" y="984"/>
                <a:ext cx="981" cy="98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29" t="23231" r="38458" b="12807"/>
            <a:stretch>
              <a:fillRect/>
            </a:stretch>
          </p:blipFill>
          <p:spPr>
            <a:xfrm rot="5400000">
              <a:off x="7157078" y="2552703"/>
              <a:ext cx="2110740" cy="11430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29" t="23231" r="38458" b="12807"/>
            <a:stretch>
              <a:fillRect/>
            </a:stretch>
          </p:blipFill>
          <p:spPr>
            <a:xfrm rot="5400000">
              <a:off x="7157078" y="4523889"/>
              <a:ext cx="2110740" cy="114300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29" t="23231" r="38458" b="12807"/>
            <a:stretch>
              <a:fillRect/>
            </a:stretch>
          </p:blipFill>
          <p:spPr>
            <a:xfrm rot="5400000">
              <a:off x="9377422" y="2552703"/>
              <a:ext cx="2110740" cy="114300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29" t="23231" r="38458" b="12807"/>
            <a:stretch>
              <a:fillRect/>
            </a:stretch>
          </p:blipFill>
          <p:spPr>
            <a:xfrm rot="10800000">
              <a:off x="9427905" y="2603808"/>
              <a:ext cx="2110740" cy="114300"/>
            </a:xfrm>
            <a:prstGeom prst="rect">
              <a:avLst/>
            </a:prstGeom>
          </p:spPr>
        </p:pic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29" t="23231" r="38458" b="12807"/>
            <a:stretch>
              <a:fillRect/>
            </a:stretch>
          </p:blipFill>
          <p:spPr>
            <a:xfrm rot="10800000">
              <a:off x="7211437" y="2603808"/>
              <a:ext cx="2110740" cy="114300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29" t="23231" r="38458" b="12807"/>
            <a:stretch>
              <a:fillRect/>
            </a:stretch>
          </p:blipFill>
          <p:spPr>
            <a:xfrm rot="10800000">
              <a:off x="7211437" y="4564677"/>
              <a:ext cx="2110740" cy="114300"/>
            </a:xfrm>
            <a:prstGeom prst="rect">
              <a:avLst/>
            </a:prstGeom>
          </p:spPr>
        </p:pic>
      </p:grp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圆球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圆球表面取点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utoUpdateAnimBg="0"/>
      <p:bldP spid="8" grpId="0" animBg="1"/>
      <p:bldP spid="9" grpId="0" animBg="1"/>
      <p:bldP spid="10" grpId="0" animBg="1"/>
      <p:bldP spid="12" grpId="0" animBg="1"/>
      <p:bldP spid="13" grpId="0" autoUpdateAnimBg="0"/>
      <p:bldP spid="14" grpId="0" animBg="1"/>
      <p:bldP spid="15" grpId="0" animBg="1"/>
      <p:bldP spid="16" grpId="0" autoUpdateAnimBg="0"/>
      <p:bldP spid="17" grpId="0" animBg="1"/>
      <p:bldP spid="24" grpId="0" autoUpdateAnimBg="0"/>
      <p:bldP spid="25" grpId="0" animBg="1"/>
      <p:bldP spid="26" grpId="0" animBg="1"/>
      <p:bldP spid="27" grpId="0" animBg="1"/>
      <p:bldP spid="28" grpId="0" autoUpdateAnimBg="0"/>
      <p:bldP spid="29" grpId="0"/>
      <p:bldP spid="30" grpId="0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52"/>
          <p:cNvSpPr txBox="1">
            <a:spLocks noChangeArrowheads="1"/>
          </p:cNvSpPr>
          <p:nvPr/>
        </p:nvSpPr>
        <p:spPr bwMode="auto">
          <a:xfrm>
            <a:off x="697281" y="1275316"/>
            <a:ext cx="39164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圆柱、圆锥、圆球视图特点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72708" y="1903915"/>
            <a:ext cx="4335001" cy="769441"/>
            <a:chOff x="1672708" y="1903915"/>
            <a:chExt cx="4335001" cy="769441"/>
          </a:xfrm>
        </p:grpSpPr>
        <p:sp>
          <p:nvSpPr>
            <p:cNvPr id="3" name="Text Box 52"/>
            <p:cNvSpPr txBox="1">
              <a:spLocks noChangeArrowheads="1"/>
            </p:cNvSpPr>
            <p:nvPr/>
          </p:nvSpPr>
          <p:spPr bwMode="auto">
            <a:xfrm>
              <a:off x="1672708" y="2073192"/>
              <a:ext cx="832279" cy="43088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圆 柱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31" name="Text Box 52"/>
            <p:cNvSpPr txBox="1">
              <a:spLocks noChangeArrowheads="1"/>
            </p:cNvSpPr>
            <p:nvPr/>
          </p:nvSpPr>
          <p:spPr bwMode="auto">
            <a:xfrm>
              <a:off x="2655509" y="1903915"/>
              <a:ext cx="3352200" cy="769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一个视图为圆</a:t>
              </a:r>
              <a:endPara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两个视图为全</a:t>
              </a:r>
              <a:r>
                <a:rPr lang="zh-CN" altLang="en-US" sz="220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等的矩形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672708" y="3051975"/>
            <a:ext cx="5181386" cy="769441"/>
            <a:chOff x="1672708" y="2894167"/>
            <a:chExt cx="5181386" cy="769441"/>
          </a:xfrm>
        </p:grpSpPr>
        <p:sp>
          <p:nvSpPr>
            <p:cNvPr id="6" name="Text Box 52"/>
            <p:cNvSpPr txBox="1">
              <a:spLocks noChangeArrowheads="1"/>
            </p:cNvSpPr>
            <p:nvPr/>
          </p:nvSpPr>
          <p:spPr bwMode="auto">
            <a:xfrm>
              <a:off x="1672708" y="3063444"/>
              <a:ext cx="832279" cy="43088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圆 锥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7" name="Text Box 52"/>
            <p:cNvSpPr txBox="1">
              <a:spLocks noChangeArrowheads="1"/>
            </p:cNvSpPr>
            <p:nvPr/>
          </p:nvSpPr>
          <p:spPr bwMode="auto">
            <a:xfrm>
              <a:off x="2655509" y="2894167"/>
              <a:ext cx="4198585" cy="769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一个视图为圆</a:t>
              </a:r>
              <a:endPara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两个视图为全等的等腰三角形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72708" y="4200035"/>
            <a:ext cx="4335001" cy="430887"/>
            <a:chOff x="1672708" y="4200035"/>
            <a:chExt cx="4335001" cy="430887"/>
          </a:xfrm>
        </p:grpSpPr>
        <p:sp>
          <p:nvSpPr>
            <p:cNvPr id="8" name="Text Box 52"/>
            <p:cNvSpPr txBox="1">
              <a:spLocks noChangeArrowheads="1"/>
            </p:cNvSpPr>
            <p:nvPr/>
          </p:nvSpPr>
          <p:spPr bwMode="auto">
            <a:xfrm>
              <a:off x="1672708" y="4200035"/>
              <a:ext cx="832279" cy="43088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zh-CN" altLang="en-US" sz="2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圆 球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  <p:sp>
          <p:nvSpPr>
            <p:cNvPr id="9" name="Text Box 52"/>
            <p:cNvSpPr txBox="1">
              <a:spLocks noChangeArrowheads="1"/>
            </p:cNvSpPr>
            <p:nvPr/>
          </p:nvSpPr>
          <p:spPr bwMode="auto">
            <a:xfrm>
              <a:off x="2655509" y="4200035"/>
              <a:ext cx="3352200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indent="-342900" eaLnBrk="1" hangingPunct="1">
                <a:spcBef>
                  <a:spcPct val="0"/>
                </a:spcBef>
                <a:buFont typeface="Wingdings" panose="05000000000000000000" pitchFamily="2" charset="2"/>
                <a:buChar char="l"/>
              </a:pP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三个视图都为等大的圆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0329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圆环的组成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467545" y="2744642"/>
            <a:ext cx="4042368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24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圆环面由圆母线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绕与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共面但不通过圆心的轴线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OO1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旋转而成。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92"/>
          <p:cNvSpPr>
            <a:spLocks noChangeArrowheads="1"/>
          </p:cNvSpPr>
          <p:nvPr/>
        </p:nvSpPr>
        <p:spPr bwMode="auto">
          <a:xfrm>
            <a:off x="467544" y="4658187"/>
            <a:ext cx="4042368" cy="116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以母线圆中圆弧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形成的圆环面为外环面，圆弧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ADB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形成的圆环面为内环面。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l="44937" t="45487" r="18063" b="10600"/>
          <a:stretch>
            <a:fillRect/>
          </a:stretch>
        </p:blipFill>
        <p:spPr>
          <a:xfrm>
            <a:off x="4716016" y="2192776"/>
            <a:ext cx="4221832" cy="2923609"/>
          </a:xfrm>
          <a:prstGeom prst="rect">
            <a:avLst/>
          </a:prstGeom>
        </p:spPr>
      </p:pic>
      <p:sp>
        <p:nvSpPr>
          <p:cNvPr id="35" name="Text Box 11"/>
          <p:cNvSpPr txBox="1">
            <a:spLocks noChangeArrowheads="1"/>
          </p:cNvSpPr>
          <p:nvPr/>
        </p:nvSpPr>
        <p:spPr bwMode="auto">
          <a:xfrm>
            <a:off x="455018" y="3701415"/>
            <a:ext cx="4042368" cy="7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24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母线在圆环表面的任一位置，称为圆环面的素线。</a:t>
            </a:r>
            <a:endParaRPr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3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60"/>
          <p:cNvSpPr txBox="1">
            <a:spLocks noChangeArrowheads="1"/>
          </p:cNvSpPr>
          <p:nvPr/>
        </p:nvSpPr>
        <p:spPr bwMode="auto">
          <a:xfrm>
            <a:off x="289162" y="3397153"/>
            <a:ext cx="381642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俯视图以赤道圆为界，以上部分可见</a:t>
            </a:r>
            <a:endParaRPr lang="en-US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主视图以前后方向对称平面为界，前半部外环面为可见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左视图以左右方向对称平面为界，左半部外环面为可见</a:t>
            </a:r>
            <a:endParaRPr lang="zh-CN" altLang="en-US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grpSp>
        <p:nvGrpSpPr>
          <p:cNvPr id="6" name="Group 475"/>
          <p:cNvGrpSpPr/>
          <p:nvPr/>
        </p:nvGrpSpPr>
        <p:grpSpPr bwMode="auto">
          <a:xfrm>
            <a:off x="4211328" y="1882019"/>
            <a:ext cx="1654175" cy="1654175"/>
            <a:chOff x="2895" y="798"/>
            <a:chExt cx="1042" cy="1042"/>
          </a:xfrm>
        </p:grpSpPr>
        <p:sp>
          <p:nvSpPr>
            <p:cNvPr id="7" name="Oval 293"/>
            <p:cNvSpPr>
              <a:spLocks noChangeArrowheads="1"/>
            </p:cNvSpPr>
            <p:nvPr/>
          </p:nvSpPr>
          <p:spPr bwMode="auto">
            <a:xfrm>
              <a:off x="2895" y="798"/>
              <a:ext cx="1042" cy="104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" name="Oval 342"/>
            <p:cNvSpPr>
              <a:spLocks noChangeArrowheads="1"/>
            </p:cNvSpPr>
            <p:nvPr/>
          </p:nvSpPr>
          <p:spPr bwMode="auto">
            <a:xfrm>
              <a:off x="3053" y="945"/>
              <a:ext cx="730" cy="73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9" name="Oval 343"/>
            <p:cNvSpPr>
              <a:spLocks noChangeArrowheads="1"/>
            </p:cNvSpPr>
            <p:nvPr/>
          </p:nvSpPr>
          <p:spPr bwMode="auto">
            <a:xfrm>
              <a:off x="3208" y="1104"/>
              <a:ext cx="417" cy="41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10" name="Line 454"/>
            <p:cNvSpPr>
              <a:spLocks noChangeShapeType="1"/>
            </p:cNvSpPr>
            <p:nvPr/>
          </p:nvSpPr>
          <p:spPr bwMode="auto">
            <a:xfrm flipH="1">
              <a:off x="3124" y="1538"/>
              <a:ext cx="26" cy="1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455"/>
            <p:cNvSpPr>
              <a:spLocks noChangeShapeType="1"/>
            </p:cNvSpPr>
            <p:nvPr/>
          </p:nvSpPr>
          <p:spPr bwMode="auto">
            <a:xfrm flipH="1">
              <a:off x="3160" y="1574"/>
              <a:ext cx="24" cy="2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456"/>
            <p:cNvSpPr>
              <a:spLocks noChangeShapeType="1"/>
            </p:cNvSpPr>
            <p:nvPr/>
          </p:nvSpPr>
          <p:spPr bwMode="auto">
            <a:xfrm>
              <a:off x="3504" y="1654"/>
              <a:ext cx="10" cy="2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457"/>
            <p:cNvSpPr>
              <a:spLocks noChangeShapeType="1"/>
            </p:cNvSpPr>
            <p:nvPr/>
          </p:nvSpPr>
          <p:spPr bwMode="auto">
            <a:xfrm>
              <a:off x="3554" y="1628"/>
              <a:ext cx="20" cy="4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458"/>
            <p:cNvSpPr>
              <a:spLocks noChangeShapeType="1"/>
            </p:cNvSpPr>
            <p:nvPr/>
          </p:nvSpPr>
          <p:spPr bwMode="auto">
            <a:xfrm>
              <a:off x="3766" y="1374"/>
              <a:ext cx="26" cy="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459"/>
            <p:cNvSpPr>
              <a:spLocks noChangeShapeType="1"/>
            </p:cNvSpPr>
            <p:nvPr/>
          </p:nvSpPr>
          <p:spPr bwMode="auto">
            <a:xfrm>
              <a:off x="3748" y="1426"/>
              <a:ext cx="30" cy="1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460"/>
            <p:cNvSpPr>
              <a:spLocks noChangeShapeType="1"/>
            </p:cNvSpPr>
            <p:nvPr/>
          </p:nvSpPr>
          <p:spPr bwMode="auto">
            <a:xfrm flipH="1">
              <a:off x="3620" y="1004"/>
              <a:ext cx="24" cy="3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461"/>
            <p:cNvSpPr>
              <a:spLocks noChangeShapeType="1"/>
            </p:cNvSpPr>
            <p:nvPr/>
          </p:nvSpPr>
          <p:spPr bwMode="auto">
            <a:xfrm flipH="1">
              <a:off x="3664" y="1040"/>
              <a:ext cx="20" cy="3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462"/>
            <p:cNvSpPr>
              <a:spLocks noChangeShapeType="1"/>
            </p:cNvSpPr>
            <p:nvPr/>
          </p:nvSpPr>
          <p:spPr bwMode="auto">
            <a:xfrm>
              <a:off x="3300" y="944"/>
              <a:ext cx="14" cy="3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63"/>
            <p:cNvSpPr>
              <a:spLocks noChangeShapeType="1"/>
            </p:cNvSpPr>
            <p:nvPr/>
          </p:nvSpPr>
          <p:spPr bwMode="auto">
            <a:xfrm>
              <a:off x="3246" y="966"/>
              <a:ext cx="18" cy="3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464"/>
            <p:cNvSpPr>
              <a:spLocks noChangeShapeType="1"/>
            </p:cNvSpPr>
            <p:nvPr/>
          </p:nvSpPr>
          <p:spPr bwMode="auto">
            <a:xfrm>
              <a:off x="3060" y="1180"/>
              <a:ext cx="24" cy="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465"/>
            <p:cNvSpPr>
              <a:spLocks noChangeShapeType="1"/>
            </p:cNvSpPr>
            <p:nvPr/>
          </p:nvSpPr>
          <p:spPr bwMode="auto">
            <a:xfrm>
              <a:off x="3046" y="1238"/>
              <a:ext cx="28" cy="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478"/>
          <p:cNvGrpSpPr/>
          <p:nvPr/>
        </p:nvGrpSpPr>
        <p:grpSpPr bwMode="auto">
          <a:xfrm>
            <a:off x="4198628" y="1870906"/>
            <a:ext cx="1674812" cy="1674813"/>
            <a:chOff x="2887" y="791"/>
            <a:chExt cx="1055" cy="1055"/>
          </a:xfrm>
        </p:grpSpPr>
        <p:sp>
          <p:nvSpPr>
            <p:cNvPr id="24" name="Oval 473"/>
            <p:cNvSpPr>
              <a:spLocks noChangeArrowheads="1"/>
            </p:cNvSpPr>
            <p:nvPr/>
          </p:nvSpPr>
          <p:spPr bwMode="auto">
            <a:xfrm>
              <a:off x="2887" y="791"/>
              <a:ext cx="1055" cy="1055"/>
            </a:xfrm>
            <a:prstGeom prst="ellipse">
              <a:avLst/>
            </a:prstGeom>
            <a:solidFill>
              <a:srgbClr val="FF7C80">
                <a:alpha val="45097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" name="Oval 474"/>
            <p:cNvSpPr>
              <a:spLocks noChangeArrowheads="1"/>
            </p:cNvSpPr>
            <p:nvPr/>
          </p:nvSpPr>
          <p:spPr bwMode="auto">
            <a:xfrm>
              <a:off x="3207" y="1103"/>
              <a:ext cx="419" cy="41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27" name="Group 470"/>
          <p:cNvGrpSpPr/>
          <p:nvPr/>
        </p:nvGrpSpPr>
        <p:grpSpPr bwMode="auto">
          <a:xfrm>
            <a:off x="5370204" y="3036962"/>
            <a:ext cx="2667000" cy="2914650"/>
            <a:chOff x="490" y="553"/>
            <a:chExt cx="1680" cy="1836"/>
          </a:xfrm>
        </p:grpSpPr>
        <p:sp>
          <p:nvSpPr>
            <p:cNvPr id="28" name="Freeform 11"/>
            <p:cNvSpPr/>
            <p:nvPr/>
          </p:nvSpPr>
          <p:spPr bwMode="auto">
            <a:xfrm>
              <a:off x="494" y="1442"/>
              <a:ext cx="1672" cy="945"/>
            </a:xfrm>
            <a:custGeom>
              <a:avLst/>
              <a:gdLst>
                <a:gd name="T0" fmla="*/ 0 w 1598"/>
                <a:gd name="T1" fmla="*/ 616 h 902"/>
                <a:gd name="T2" fmla="*/ 1013 w 1598"/>
                <a:gd name="T3" fmla="*/ 1192 h 902"/>
                <a:gd name="T4" fmla="*/ 2097 w 1598"/>
                <a:gd name="T5" fmla="*/ 577 h 902"/>
                <a:gd name="T6" fmla="*/ 1079 w 1598"/>
                <a:gd name="T7" fmla="*/ 0 h 902"/>
                <a:gd name="T8" fmla="*/ 0 w 1598"/>
                <a:gd name="T9" fmla="*/ 616 h 9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98" h="902">
                  <a:moveTo>
                    <a:pt x="0" y="466"/>
                  </a:moveTo>
                  <a:lnTo>
                    <a:pt x="772" y="902"/>
                  </a:lnTo>
                  <a:lnTo>
                    <a:pt x="1598" y="436"/>
                  </a:lnTo>
                  <a:lnTo>
                    <a:pt x="821" y="0"/>
                  </a:lnTo>
                  <a:lnTo>
                    <a:pt x="0" y="466"/>
                  </a:lnTo>
                  <a:close/>
                </a:path>
              </a:pathLst>
            </a:custGeom>
            <a:solidFill>
              <a:schemeClr val="bg1"/>
            </a:solidFill>
            <a:ln w="1905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494" y="556"/>
              <a:ext cx="854" cy="1371"/>
            </a:xfrm>
            <a:custGeom>
              <a:avLst/>
              <a:gdLst>
                <a:gd name="T0" fmla="*/ 0 w 816"/>
                <a:gd name="T1" fmla="*/ 609 h 1309"/>
                <a:gd name="T2" fmla="*/ 0 w 816"/>
                <a:gd name="T3" fmla="*/ 1728 h 1309"/>
                <a:gd name="T4" fmla="*/ 1074 w 816"/>
                <a:gd name="T5" fmla="*/ 1120 h 1309"/>
                <a:gd name="T6" fmla="*/ 1074 w 816"/>
                <a:gd name="T7" fmla="*/ 0 h 1309"/>
                <a:gd name="T8" fmla="*/ 0 w 816"/>
                <a:gd name="T9" fmla="*/ 609 h 13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6" h="1309">
                  <a:moveTo>
                    <a:pt x="0" y="461"/>
                  </a:moveTo>
                  <a:lnTo>
                    <a:pt x="0" y="1309"/>
                  </a:lnTo>
                  <a:lnTo>
                    <a:pt x="816" y="849"/>
                  </a:lnTo>
                  <a:lnTo>
                    <a:pt x="816" y="0"/>
                  </a:lnTo>
                  <a:lnTo>
                    <a:pt x="0" y="461"/>
                  </a:lnTo>
                  <a:close/>
                </a:path>
              </a:pathLst>
            </a:custGeom>
            <a:solidFill>
              <a:schemeClr val="bg1"/>
            </a:solidFill>
            <a:ln w="19050" cap="flat" cmpd="sng">
              <a:solidFill>
                <a:srgbClr val="0033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13"/>
            <p:cNvSpPr>
              <a:spLocks noChangeShapeType="1"/>
            </p:cNvSpPr>
            <p:nvPr/>
          </p:nvSpPr>
          <p:spPr bwMode="auto">
            <a:xfrm flipV="1">
              <a:off x="490" y="553"/>
              <a:ext cx="864" cy="484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>
              <a:off x="495" y="1029"/>
              <a:ext cx="0" cy="904"/>
            </a:xfrm>
            <a:prstGeom prst="line">
              <a:avLst/>
            </a:prstGeom>
            <a:noFill/>
            <a:ln w="28575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>
              <a:off x="491" y="1927"/>
              <a:ext cx="813" cy="458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Group 16"/>
            <p:cNvGrpSpPr/>
            <p:nvPr/>
          </p:nvGrpSpPr>
          <p:grpSpPr bwMode="auto">
            <a:xfrm rot="-597271">
              <a:off x="1235" y="2267"/>
              <a:ext cx="104" cy="65"/>
              <a:chOff x="1246" y="2062"/>
              <a:chExt cx="124" cy="78"/>
            </a:xfrm>
          </p:grpSpPr>
          <p:sp>
            <p:nvSpPr>
              <p:cNvPr id="98" name="Line 17"/>
              <p:cNvSpPr>
                <a:spLocks noChangeShapeType="1"/>
              </p:cNvSpPr>
              <p:nvPr/>
            </p:nvSpPr>
            <p:spPr bwMode="auto">
              <a:xfrm>
                <a:off x="1246" y="2082"/>
                <a:ext cx="70" cy="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Line 18"/>
              <p:cNvSpPr>
                <a:spLocks noChangeShapeType="1"/>
              </p:cNvSpPr>
              <p:nvPr/>
            </p:nvSpPr>
            <p:spPr bwMode="auto">
              <a:xfrm flipV="1">
                <a:off x="1284" y="2093"/>
                <a:ext cx="60" cy="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Line 19"/>
              <p:cNvSpPr>
                <a:spLocks noChangeShapeType="1"/>
              </p:cNvSpPr>
              <p:nvPr/>
            </p:nvSpPr>
            <p:spPr bwMode="auto">
              <a:xfrm>
                <a:off x="1304" y="2062"/>
                <a:ext cx="66" cy="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Freeform 20"/>
            <p:cNvSpPr/>
            <p:nvPr/>
          </p:nvSpPr>
          <p:spPr bwMode="auto">
            <a:xfrm>
              <a:off x="1348" y="555"/>
              <a:ext cx="815" cy="1348"/>
            </a:xfrm>
            <a:custGeom>
              <a:avLst/>
              <a:gdLst>
                <a:gd name="T0" fmla="*/ 2 w 815"/>
                <a:gd name="T1" fmla="*/ 0 h 1348"/>
                <a:gd name="T2" fmla="*/ 0 w 815"/>
                <a:gd name="T3" fmla="*/ 889 h 1348"/>
                <a:gd name="T4" fmla="*/ 815 w 815"/>
                <a:gd name="T5" fmla="*/ 1348 h 1348"/>
                <a:gd name="T6" fmla="*/ 815 w 815"/>
                <a:gd name="T7" fmla="*/ 453 h 1348"/>
                <a:gd name="T8" fmla="*/ 2 w 815"/>
                <a:gd name="T9" fmla="*/ 0 h 1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5" h="1348">
                  <a:moveTo>
                    <a:pt x="2" y="0"/>
                  </a:moveTo>
                  <a:lnTo>
                    <a:pt x="0" y="889"/>
                  </a:lnTo>
                  <a:lnTo>
                    <a:pt x="815" y="1348"/>
                  </a:lnTo>
                  <a:lnTo>
                    <a:pt x="815" y="45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bg1"/>
            </a:solidFill>
            <a:ln w="19050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>
              <a:off x="1348" y="558"/>
              <a:ext cx="822" cy="459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6" name="Group 90"/>
            <p:cNvGrpSpPr/>
            <p:nvPr/>
          </p:nvGrpSpPr>
          <p:grpSpPr bwMode="auto">
            <a:xfrm>
              <a:off x="531" y="1036"/>
              <a:ext cx="61" cy="104"/>
              <a:chOff x="703" y="1095"/>
              <a:chExt cx="96" cy="163"/>
            </a:xfrm>
          </p:grpSpPr>
          <p:sp>
            <p:nvSpPr>
              <p:cNvPr id="96" name="Line 23"/>
              <p:cNvSpPr>
                <a:spLocks noChangeShapeType="1"/>
              </p:cNvSpPr>
              <p:nvPr/>
            </p:nvSpPr>
            <p:spPr bwMode="auto">
              <a:xfrm>
                <a:off x="703" y="1152"/>
                <a:ext cx="33" cy="1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Line 24"/>
              <p:cNvSpPr>
                <a:spLocks noChangeShapeType="1"/>
              </p:cNvSpPr>
              <p:nvPr/>
            </p:nvSpPr>
            <p:spPr bwMode="auto">
              <a:xfrm flipV="1">
                <a:off x="734" y="1095"/>
                <a:ext cx="65" cy="1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Line 26"/>
            <p:cNvSpPr>
              <a:spLocks noChangeShapeType="1"/>
            </p:cNvSpPr>
            <p:nvPr/>
          </p:nvSpPr>
          <p:spPr bwMode="auto">
            <a:xfrm>
              <a:off x="2162" y="1007"/>
              <a:ext cx="0" cy="89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 flipV="1">
              <a:off x="1298" y="1903"/>
              <a:ext cx="864" cy="486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" name="Group 30"/>
            <p:cNvGrpSpPr/>
            <p:nvPr/>
          </p:nvGrpSpPr>
          <p:grpSpPr bwMode="auto">
            <a:xfrm>
              <a:off x="2058" y="983"/>
              <a:ext cx="66" cy="117"/>
              <a:chOff x="2150" y="953"/>
              <a:chExt cx="81" cy="143"/>
            </a:xfrm>
          </p:grpSpPr>
          <p:sp>
            <p:nvSpPr>
              <p:cNvPr id="92" name="Line 31"/>
              <p:cNvSpPr>
                <a:spLocks noChangeShapeType="1"/>
              </p:cNvSpPr>
              <p:nvPr/>
            </p:nvSpPr>
            <p:spPr bwMode="auto">
              <a:xfrm>
                <a:off x="2150" y="953"/>
                <a:ext cx="7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Line 32"/>
              <p:cNvSpPr>
                <a:spLocks noChangeShapeType="1"/>
              </p:cNvSpPr>
              <p:nvPr/>
            </p:nvSpPr>
            <p:spPr bwMode="auto">
              <a:xfrm flipV="1">
                <a:off x="2159" y="1004"/>
                <a:ext cx="32" cy="5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33"/>
              <p:cNvSpPr>
                <a:spLocks noChangeShapeType="1"/>
              </p:cNvSpPr>
              <p:nvPr/>
            </p:nvSpPr>
            <p:spPr bwMode="auto">
              <a:xfrm>
                <a:off x="2188" y="996"/>
                <a:ext cx="13" cy="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Line 34"/>
              <p:cNvSpPr>
                <a:spLocks noChangeShapeType="1"/>
              </p:cNvSpPr>
              <p:nvPr/>
            </p:nvSpPr>
            <p:spPr bwMode="auto">
              <a:xfrm flipV="1">
                <a:off x="2202" y="1000"/>
                <a:ext cx="29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1759" y="1015"/>
              <a:ext cx="0" cy="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915" y="1034"/>
              <a:ext cx="0" cy="6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3" name="Group 125"/>
            <p:cNvGrpSpPr/>
            <p:nvPr/>
          </p:nvGrpSpPr>
          <p:grpSpPr bwMode="auto">
            <a:xfrm>
              <a:off x="942" y="1662"/>
              <a:ext cx="651" cy="430"/>
              <a:chOff x="1207" y="1898"/>
              <a:chExt cx="798" cy="528"/>
            </a:xfrm>
          </p:grpSpPr>
          <p:sp>
            <p:nvSpPr>
              <p:cNvPr id="89" name="Line 49"/>
              <p:cNvSpPr>
                <a:spLocks noChangeShapeType="1"/>
              </p:cNvSpPr>
              <p:nvPr/>
            </p:nvSpPr>
            <p:spPr bwMode="auto">
              <a:xfrm rot="-574012" flipH="1" flipV="1">
                <a:off x="1723" y="2238"/>
                <a:ext cx="20" cy="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" name="Line 50"/>
              <p:cNvSpPr>
                <a:spLocks noChangeShapeType="1"/>
              </p:cNvSpPr>
              <p:nvPr/>
            </p:nvSpPr>
            <p:spPr bwMode="auto">
              <a:xfrm rot="-574012" flipH="1" flipV="1">
                <a:off x="1773" y="2240"/>
                <a:ext cx="232" cy="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Line 51"/>
              <p:cNvSpPr>
                <a:spLocks noChangeShapeType="1"/>
              </p:cNvSpPr>
              <p:nvPr/>
            </p:nvSpPr>
            <p:spPr bwMode="auto">
              <a:xfrm rot="-574012" flipH="1" flipV="1">
                <a:off x="1207" y="1898"/>
                <a:ext cx="468" cy="3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" name="Group 124"/>
            <p:cNvGrpSpPr/>
            <p:nvPr/>
          </p:nvGrpSpPr>
          <p:grpSpPr bwMode="auto">
            <a:xfrm>
              <a:off x="1056" y="1709"/>
              <a:ext cx="723" cy="353"/>
              <a:chOff x="1346" y="1956"/>
              <a:chExt cx="887" cy="433"/>
            </a:xfrm>
          </p:grpSpPr>
          <p:sp>
            <p:nvSpPr>
              <p:cNvPr id="86" name="Line 56"/>
              <p:cNvSpPr>
                <a:spLocks noChangeShapeType="1"/>
              </p:cNvSpPr>
              <p:nvPr/>
            </p:nvSpPr>
            <p:spPr bwMode="auto">
              <a:xfrm rot="21108721" flipH="1">
                <a:off x="1346" y="2289"/>
                <a:ext cx="255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Line 57"/>
              <p:cNvSpPr>
                <a:spLocks noChangeShapeType="1"/>
              </p:cNvSpPr>
              <p:nvPr/>
            </p:nvSpPr>
            <p:spPr bwMode="auto">
              <a:xfrm rot="21108721" flipH="1">
                <a:off x="1614" y="2242"/>
                <a:ext cx="36" cy="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Line 58"/>
              <p:cNvSpPr>
                <a:spLocks noChangeShapeType="1"/>
              </p:cNvSpPr>
              <p:nvPr/>
            </p:nvSpPr>
            <p:spPr bwMode="auto">
              <a:xfrm rot="21108721" flipH="1">
                <a:off x="1648" y="1956"/>
                <a:ext cx="585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Line 66"/>
            <p:cNvSpPr>
              <a:spLocks noChangeShapeType="1"/>
            </p:cNvSpPr>
            <p:nvPr/>
          </p:nvSpPr>
          <p:spPr bwMode="auto">
            <a:xfrm flipH="1">
              <a:off x="755" y="982"/>
              <a:ext cx="337" cy="1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67"/>
            <p:cNvSpPr>
              <a:spLocks noChangeShapeType="1"/>
            </p:cNvSpPr>
            <p:nvPr/>
          </p:nvSpPr>
          <p:spPr bwMode="auto">
            <a:xfrm flipV="1">
              <a:off x="1598" y="942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" name="Group 119"/>
            <p:cNvGrpSpPr/>
            <p:nvPr/>
          </p:nvGrpSpPr>
          <p:grpSpPr bwMode="auto">
            <a:xfrm>
              <a:off x="643" y="1013"/>
              <a:ext cx="546" cy="308"/>
              <a:chOff x="840" y="1185"/>
              <a:chExt cx="669" cy="377"/>
            </a:xfrm>
          </p:grpSpPr>
          <p:sp>
            <p:nvSpPr>
              <p:cNvPr id="83" name="Line 70"/>
              <p:cNvSpPr>
                <a:spLocks noChangeShapeType="1"/>
              </p:cNvSpPr>
              <p:nvPr/>
            </p:nvSpPr>
            <p:spPr bwMode="auto">
              <a:xfrm flipH="1">
                <a:off x="1264" y="1185"/>
                <a:ext cx="245" cy="1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71"/>
              <p:cNvSpPr>
                <a:spLocks noChangeShapeType="1"/>
              </p:cNvSpPr>
              <p:nvPr/>
            </p:nvSpPr>
            <p:spPr bwMode="auto">
              <a:xfrm flipH="1">
                <a:off x="840" y="1363"/>
                <a:ext cx="352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72"/>
              <p:cNvSpPr>
                <a:spLocks noChangeShapeType="1"/>
              </p:cNvSpPr>
              <p:nvPr/>
            </p:nvSpPr>
            <p:spPr bwMode="auto">
              <a:xfrm flipH="1">
                <a:off x="1213" y="1334"/>
                <a:ext cx="32" cy="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Line 74"/>
            <p:cNvSpPr>
              <a:spLocks noChangeShapeType="1"/>
            </p:cNvSpPr>
            <p:nvPr/>
          </p:nvSpPr>
          <p:spPr bwMode="auto">
            <a:xfrm flipH="1" flipV="1">
              <a:off x="1827" y="1195"/>
              <a:ext cx="195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75"/>
            <p:cNvSpPr>
              <a:spLocks noChangeShapeType="1"/>
            </p:cNvSpPr>
            <p:nvPr/>
          </p:nvSpPr>
          <p:spPr bwMode="auto">
            <a:xfrm flipH="1" flipV="1">
              <a:off x="1472" y="995"/>
              <a:ext cx="30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76"/>
            <p:cNvSpPr>
              <a:spLocks noChangeShapeType="1"/>
            </p:cNvSpPr>
            <p:nvPr/>
          </p:nvSpPr>
          <p:spPr bwMode="auto">
            <a:xfrm flipH="1" flipV="1">
              <a:off x="1787" y="1171"/>
              <a:ext cx="22" cy="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87"/>
            <p:cNvSpPr>
              <a:spLocks noChangeArrowheads="1"/>
            </p:cNvSpPr>
            <p:nvPr/>
          </p:nvSpPr>
          <p:spPr bwMode="auto">
            <a:xfrm rot="-3625589">
              <a:off x="651" y="1191"/>
              <a:ext cx="214" cy="1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88"/>
            <p:cNvSpPr>
              <a:spLocks noChangeArrowheads="1"/>
            </p:cNvSpPr>
            <p:nvPr/>
          </p:nvSpPr>
          <p:spPr bwMode="auto">
            <a:xfrm rot="-7223199">
              <a:off x="1817" y="1192"/>
              <a:ext cx="203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3" name="Picture 89"/>
            <p:cNvPicPr>
              <a:picLocks noChangeAspect="1" noChangeArrowheads="1"/>
            </p:cNvPicPr>
            <p:nvPr/>
          </p:nvPicPr>
          <p:blipFill>
            <a:blip r:embed="rId1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" y="1218"/>
              <a:ext cx="613" cy="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Oval 86"/>
            <p:cNvSpPr>
              <a:spLocks noChangeArrowheads="1"/>
            </p:cNvSpPr>
            <p:nvPr/>
          </p:nvSpPr>
          <p:spPr bwMode="auto">
            <a:xfrm>
              <a:off x="1039" y="1717"/>
              <a:ext cx="587" cy="41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Oval 95"/>
            <p:cNvSpPr>
              <a:spLocks noChangeArrowheads="1"/>
            </p:cNvSpPr>
            <p:nvPr/>
          </p:nvSpPr>
          <p:spPr bwMode="auto">
            <a:xfrm>
              <a:off x="1212" y="1841"/>
              <a:ext cx="232" cy="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53"/>
            <p:cNvSpPr>
              <a:spLocks noChangeShapeType="1"/>
            </p:cNvSpPr>
            <p:nvPr/>
          </p:nvSpPr>
          <p:spPr bwMode="auto">
            <a:xfrm flipV="1">
              <a:off x="492" y="1575"/>
              <a:ext cx="627" cy="354"/>
            </a:xfrm>
            <a:prstGeom prst="line">
              <a:avLst/>
            </a:prstGeom>
            <a:noFill/>
            <a:ln w="19050">
              <a:solidFill>
                <a:srgbClr val="00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04"/>
            <p:cNvSpPr>
              <a:spLocks noChangeShapeType="1"/>
            </p:cNvSpPr>
            <p:nvPr/>
          </p:nvSpPr>
          <p:spPr bwMode="auto">
            <a:xfrm flipH="1">
              <a:off x="760" y="1154"/>
              <a:ext cx="328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106"/>
            <p:cNvSpPr>
              <a:spLocks noChangeShapeType="1"/>
            </p:cNvSpPr>
            <p:nvPr/>
          </p:nvSpPr>
          <p:spPr bwMode="auto">
            <a:xfrm flipV="1">
              <a:off x="760" y="1112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Oval 109"/>
            <p:cNvSpPr>
              <a:spLocks noChangeArrowheads="1"/>
            </p:cNvSpPr>
            <p:nvPr/>
          </p:nvSpPr>
          <p:spPr bwMode="auto">
            <a:xfrm rot="-3625589">
              <a:off x="964" y="1010"/>
              <a:ext cx="223" cy="1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4"/>
            <p:cNvSpPr>
              <a:spLocks noChangeShapeType="1"/>
            </p:cNvSpPr>
            <p:nvPr/>
          </p:nvSpPr>
          <p:spPr bwMode="auto">
            <a:xfrm flipV="1">
              <a:off x="1349" y="560"/>
              <a:ext cx="0" cy="665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62"/>
            <p:cNvSpPr>
              <a:spLocks noChangeShapeType="1"/>
            </p:cNvSpPr>
            <p:nvPr/>
          </p:nvSpPr>
          <p:spPr bwMode="auto">
            <a:xfrm flipH="1" flipV="1">
              <a:off x="1578" y="970"/>
              <a:ext cx="351" cy="1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110"/>
            <p:cNvSpPr>
              <a:spLocks noChangeShapeType="1"/>
            </p:cNvSpPr>
            <p:nvPr/>
          </p:nvSpPr>
          <p:spPr bwMode="auto">
            <a:xfrm flipH="1" flipV="1">
              <a:off x="1592" y="1147"/>
              <a:ext cx="327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Oval 113"/>
            <p:cNvSpPr>
              <a:spLocks noChangeArrowheads="1"/>
            </p:cNvSpPr>
            <p:nvPr/>
          </p:nvSpPr>
          <p:spPr bwMode="auto">
            <a:xfrm rot="-7223199">
              <a:off x="1493" y="1000"/>
              <a:ext cx="203" cy="11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64"/>
            <p:cNvSpPr>
              <a:spLocks noChangeShapeType="1"/>
            </p:cNvSpPr>
            <p:nvPr/>
          </p:nvSpPr>
          <p:spPr bwMode="auto">
            <a:xfrm>
              <a:off x="1554" y="1562"/>
              <a:ext cx="611" cy="343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Arc 80"/>
            <p:cNvSpPr/>
            <p:nvPr/>
          </p:nvSpPr>
          <p:spPr bwMode="auto">
            <a:xfrm rot="-7018238">
              <a:off x="1838" y="1200"/>
              <a:ext cx="190" cy="107"/>
            </a:xfrm>
            <a:custGeom>
              <a:avLst/>
              <a:gdLst>
                <a:gd name="T0" fmla="*/ 0 w 40907"/>
                <a:gd name="T1" fmla="*/ 0 h 39713"/>
                <a:gd name="T2" fmla="*/ 0 w 40907"/>
                <a:gd name="T3" fmla="*/ 0 h 39713"/>
                <a:gd name="T4" fmla="*/ 0 w 40907"/>
                <a:gd name="T5" fmla="*/ 0 h 397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907" h="39713" fill="none" extrusionOk="0">
                  <a:moveTo>
                    <a:pt x="40907" y="27797"/>
                  </a:moveTo>
                  <a:cubicBezTo>
                    <a:pt x="37243" y="35101"/>
                    <a:pt x="29771" y="39712"/>
                    <a:pt x="21600" y="39713"/>
                  </a:cubicBezTo>
                  <a:cubicBezTo>
                    <a:pt x="9670" y="39713"/>
                    <a:pt x="0" y="30042"/>
                    <a:pt x="0" y="18113"/>
                  </a:cubicBezTo>
                  <a:cubicBezTo>
                    <a:pt x="-1" y="10800"/>
                    <a:pt x="3699" y="3984"/>
                    <a:pt x="9832" y="0"/>
                  </a:cubicBezTo>
                </a:path>
                <a:path w="40907" h="39713" stroke="0" extrusionOk="0">
                  <a:moveTo>
                    <a:pt x="40907" y="27797"/>
                  </a:moveTo>
                  <a:cubicBezTo>
                    <a:pt x="37243" y="35101"/>
                    <a:pt x="29771" y="39712"/>
                    <a:pt x="21600" y="39713"/>
                  </a:cubicBezTo>
                  <a:cubicBezTo>
                    <a:pt x="9670" y="39713"/>
                    <a:pt x="0" y="30042"/>
                    <a:pt x="0" y="18113"/>
                  </a:cubicBezTo>
                  <a:cubicBezTo>
                    <a:pt x="-1" y="10800"/>
                    <a:pt x="3699" y="3984"/>
                    <a:pt x="9832" y="0"/>
                  </a:cubicBezTo>
                  <a:lnTo>
                    <a:pt x="21600" y="18113"/>
                  </a:lnTo>
                  <a:lnTo>
                    <a:pt x="40907" y="27797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Arc 114"/>
            <p:cNvSpPr/>
            <p:nvPr/>
          </p:nvSpPr>
          <p:spPr bwMode="auto">
            <a:xfrm rot="-7018238">
              <a:off x="1488" y="1014"/>
              <a:ext cx="185" cy="96"/>
            </a:xfrm>
            <a:custGeom>
              <a:avLst/>
              <a:gdLst>
                <a:gd name="T0" fmla="*/ 0 w 40063"/>
                <a:gd name="T1" fmla="*/ 0 h 35522"/>
                <a:gd name="T2" fmla="*/ 0 w 40063"/>
                <a:gd name="T3" fmla="*/ 0 h 35522"/>
                <a:gd name="T4" fmla="*/ 0 w 40063"/>
                <a:gd name="T5" fmla="*/ 0 h 355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063" h="35522" fill="none" extrusionOk="0">
                  <a:moveTo>
                    <a:pt x="-1" y="10389"/>
                  </a:moveTo>
                  <a:cubicBezTo>
                    <a:pt x="3916" y="3938"/>
                    <a:pt x="10916" y="-1"/>
                    <a:pt x="18463" y="0"/>
                  </a:cubicBezTo>
                  <a:cubicBezTo>
                    <a:pt x="30392" y="0"/>
                    <a:pt x="40063" y="9670"/>
                    <a:pt x="40063" y="21600"/>
                  </a:cubicBezTo>
                  <a:cubicBezTo>
                    <a:pt x="40063" y="26695"/>
                    <a:pt x="38261" y="31626"/>
                    <a:pt x="34977" y="35521"/>
                  </a:cubicBezTo>
                </a:path>
                <a:path w="40063" h="35522" stroke="0" extrusionOk="0">
                  <a:moveTo>
                    <a:pt x="-1" y="10389"/>
                  </a:moveTo>
                  <a:cubicBezTo>
                    <a:pt x="3916" y="3938"/>
                    <a:pt x="10916" y="-1"/>
                    <a:pt x="18463" y="0"/>
                  </a:cubicBezTo>
                  <a:cubicBezTo>
                    <a:pt x="30392" y="0"/>
                    <a:pt x="40063" y="9670"/>
                    <a:pt x="40063" y="21600"/>
                  </a:cubicBezTo>
                  <a:cubicBezTo>
                    <a:pt x="40063" y="26695"/>
                    <a:pt x="38261" y="31626"/>
                    <a:pt x="34977" y="35521"/>
                  </a:cubicBezTo>
                  <a:lnTo>
                    <a:pt x="18463" y="21600"/>
                  </a:lnTo>
                  <a:lnTo>
                    <a:pt x="-1" y="1038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115"/>
            <p:cNvSpPr>
              <a:spLocks noChangeShapeType="1"/>
            </p:cNvSpPr>
            <p:nvPr/>
          </p:nvSpPr>
          <p:spPr bwMode="auto">
            <a:xfrm flipH="1" flipV="1">
              <a:off x="1347" y="924"/>
              <a:ext cx="128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Arc 81"/>
            <p:cNvSpPr/>
            <p:nvPr/>
          </p:nvSpPr>
          <p:spPr bwMode="auto">
            <a:xfrm rot="7129296">
              <a:off x="645" y="1209"/>
              <a:ext cx="189" cy="106"/>
            </a:xfrm>
            <a:custGeom>
              <a:avLst/>
              <a:gdLst>
                <a:gd name="T0" fmla="*/ 0 w 39317"/>
                <a:gd name="T1" fmla="*/ 0 h 38262"/>
                <a:gd name="T2" fmla="*/ 0 w 39317"/>
                <a:gd name="T3" fmla="*/ 0 h 38262"/>
                <a:gd name="T4" fmla="*/ 0 w 39317"/>
                <a:gd name="T5" fmla="*/ 0 h 382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317" h="38262" fill="none" extrusionOk="0">
                  <a:moveTo>
                    <a:pt x="31462" y="0"/>
                  </a:moveTo>
                  <a:cubicBezTo>
                    <a:pt x="36436" y="4103"/>
                    <a:pt x="39317" y="10214"/>
                    <a:pt x="39317" y="16662"/>
                  </a:cubicBezTo>
                  <a:cubicBezTo>
                    <a:pt x="39317" y="28591"/>
                    <a:pt x="29646" y="38262"/>
                    <a:pt x="17717" y="38262"/>
                  </a:cubicBezTo>
                  <a:cubicBezTo>
                    <a:pt x="10655" y="38262"/>
                    <a:pt x="4039" y="34810"/>
                    <a:pt x="0" y="29017"/>
                  </a:cubicBezTo>
                </a:path>
                <a:path w="39317" h="38262" stroke="0" extrusionOk="0">
                  <a:moveTo>
                    <a:pt x="31462" y="0"/>
                  </a:moveTo>
                  <a:cubicBezTo>
                    <a:pt x="36436" y="4103"/>
                    <a:pt x="39317" y="10214"/>
                    <a:pt x="39317" y="16662"/>
                  </a:cubicBezTo>
                  <a:cubicBezTo>
                    <a:pt x="39317" y="28591"/>
                    <a:pt x="29646" y="38262"/>
                    <a:pt x="17717" y="38262"/>
                  </a:cubicBezTo>
                  <a:cubicBezTo>
                    <a:pt x="10655" y="38262"/>
                    <a:pt x="4039" y="34810"/>
                    <a:pt x="0" y="29017"/>
                  </a:cubicBezTo>
                  <a:lnTo>
                    <a:pt x="17717" y="16662"/>
                  </a:lnTo>
                  <a:lnTo>
                    <a:pt x="31462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Arc 116"/>
            <p:cNvSpPr/>
            <p:nvPr/>
          </p:nvSpPr>
          <p:spPr bwMode="auto">
            <a:xfrm rot="7129296">
              <a:off x="998" y="1013"/>
              <a:ext cx="188" cy="106"/>
            </a:xfrm>
            <a:custGeom>
              <a:avLst/>
              <a:gdLst>
                <a:gd name="T0" fmla="*/ 0 w 39623"/>
                <a:gd name="T1" fmla="*/ 0 h 39656"/>
                <a:gd name="T2" fmla="*/ 0 w 39623"/>
                <a:gd name="T3" fmla="*/ 0 h 39656"/>
                <a:gd name="T4" fmla="*/ 0 w 39623"/>
                <a:gd name="T5" fmla="*/ 0 h 396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623" h="39656" fill="none" extrusionOk="0">
                  <a:moveTo>
                    <a:pt x="9744" y="39655"/>
                  </a:moveTo>
                  <a:cubicBezTo>
                    <a:pt x="3662" y="35662"/>
                    <a:pt x="0" y="2887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854" y="-1"/>
                    <a:pt x="35624" y="3641"/>
                    <a:pt x="39622" y="9694"/>
                  </a:cubicBezTo>
                </a:path>
                <a:path w="39623" h="39656" stroke="0" extrusionOk="0">
                  <a:moveTo>
                    <a:pt x="9744" y="39655"/>
                  </a:moveTo>
                  <a:cubicBezTo>
                    <a:pt x="3662" y="35662"/>
                    <a:pt x="0" y="2887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8854" y="-1"/>
                    <a:pt x="35624" y="3641"/>
                    <a:pt x="39622" y="9694"/>
                  </a:cubicBezTo>
                  <a:lnTo>
                    <a:pt x="21600" y="21600"/>
                  </a:lnTo>
                  <a:lnTo>
                    <a:pt x="9744" y="39655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118"/>
            <p:cNvSpPr>
              <a:spLocks noChangeShapeType="1"/>
            </p:cNvSpPr>
            <p:nvPr/>
          </p:nvSpPr>
          <p:spPr bwMode="auto">
            <a:xfrm flipH="1">
              <a:off x="1181" y="924"/>
              <a:ext cx="164" cy="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120"/>
            <p:cNvSpPr>
              <a:spLocks noChangeShapeType="1"/>
            </p:cNvSpPr>
            <p:nvPr/>
          </p:nvSpPr>
          <p:spPr bwMode="auto">
            <a:xfrm flipV="1">
              <a:off x="1073" y="940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121"/>
            <p:cNvSpPr>
              <a:spLocks noChangeShapeType="1"/>
            </p:cNvSpPr>
            <p:nvPr/>
          </p:nvSpPr>
          <p:spPr bwMode="auto">
            <a:xfrm flipV="1">
              <a:off x="1918" y="1122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Oval 123"/>
            <p:cNvSpPr>
              <a:spLocks noChangeArrowheads="1"/>
            </p:cNvSpPr>
            <p:nvPr/>
          </p:nvSpPr>
          <p:spPr bwMode="auto">
            <a:xfrm>
              <a:off x="1122" y="1777"/>
              <a:ext cx="414" cy="2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4" name="Group 236"/>
            <p:cNvGrpSpPr/>
            <p:nvPr/>
          </p:nvGrpSpPr>
          <p:grpSpPr bwMode="auto">
            <a:xfrm>
              <a:off x="1105" y="1760"/>
              <a:ext cx="445" cy="322"/>
              <a:chOff x="1105" y="1760"/>
              <a:chExt cx="445" cy="322"/>
            </a:xfrm>
          </p:grpSpPr>
          <p:sp>
            <p:nvSpPr>
              <p:cNvPr id="75" name="Line 134"/>
              <p:cNvSpPr>
                <a:spLocks noChangeShapeType="1"/>
              </p:cNvSpPr>
              <p:nvPr/>
            </p:nvSpPr>
            <p:spPr bwMode="auto">
              <a:xfrm>
                <a:off x="1283" y="1761"/>
                <a:ext cx="9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135"/>
              <p:cNvSpPr>
                <a:spLocks noChangeShapeType="1"/>
              </p:cNvSpPr>
              <p:nvPr/>
            </p:nvSpPr>
            <p:spPr bwMode="auto">
              <a:xfrm rot="803550">
                <a:off x="1349" y="1760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136"/>
              <p:cNvSpPr>
                <a:spLocks noChangeShapeType="1"/>
              </p:cNvSpPr>
              <p:nvPr/>
            </p:nvSpPr>
            <p:spPr bwMode="auto">
              <a:xfrm>
                <a:off x="1331" y="2047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Line 137"/>
              <p:cNvSpPr>
                <a:spLocks noChangeShapeType="1"/>
              </p:cNvSpPr>
              <p:nvPr/>
            </p:nvSpPr>
            <p:spPr bwMode="auto">
              <a:xfrm>
                <a:off x="1389" y="2041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Line 138"/>
              <p:cNvSpPr>
                <a:spLocks noChangeShapeType="1"/>
              </p:cNvSpPr>
              <p:nvPr/>
            </p:nvSpPr>
            <p:spPr bwMode="auto">
              <a:xfrm rot="-5753852">
                <a:off x="1527" y="1864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Line 139"/>
              <p:cNvSpPr>
                <a:spLocks noChangeShapeType="1"/>
              </p:cNvSpPr>
              <p:nvPr/>
            </p:nvSpPr>
            <p:spPr bwMode="auto">
              <a:xfrm rot="-4235153">
                <a:off x="1529" y="1925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Line 140"/>
              <p:cNvSpPr>
                <a:spLocks noChangeShapeType="1"/>
              </p:cNvSpPr>
              <p:nvPr/>
            </p:nvSpPr>
            <p:spPr bwMode="auto">
              <a:xfrm rot="5753852" flipH="1">
                <a:off x="1119" y="1869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Line 141"/>
              <p:cNvSpPr>
                <a:spLocks noChangeShapeType="1"/>
              </p:cNvSpPr>
              <p:nvPr/>
            </p:nvSpPr>
            <p:spPr bwMode="auto">
              <a:xfrm rot="4235153" flipH="1">
                <a:off x="1122" y="1930"/>
                <a:ext cx="8" cy="35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01" name="Text Box 245"/>
          <p:cNvSpPr txBox="1">
            <a:spLocks noChangeArrowheads="1"/>
          </p:cNvSpPr>
          <p:nvPr/>
        </p:nvSpPr>
        <p:spPr bwMode="auto">
          <a:xfrm>
            <a:off x="709100" y="2795287"/>
            <a:ext cx="2802652" cy="477500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</a:ln>
          <a:effectLst/>
        </p:spPr>
        <p:txBody>
          <a:bodyPr wrap="none" anchor="ctr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kumimoji="1" sz="2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圆环面投影可见性判断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Group 451"/>
          <p:cNvGrpSpPr/>
          <p:nvPr/>
        </p:nvGrpSpPr>
        <p:grpSpPr bwMode="auto">
          <a:xfrm>
            <a:off x="4116078" y="1058106"/>
            <a:ext cx="3998912" cy="2536825"/>
            <a:chOff x="2835" y="279"/>
            <a:chExt cx="2519" cy="1598"/>
          </a:xfrm>
        </p:grpSpPr>
        <p:grpSp>
          <p:nvGrpSpPr>
            <p:cNvPr id="103" name="Group 373"/>
            <p:cNvGrpSpPr/>
            <p:nvPr/>
          </p:nvGrpSpPr>
          <p:grpSpPr bwMode="auto">
            <a:xfrm>
              <a:off x="2858" y="745"/>
              <a:ext cx="1120" cy="1132"/>
              <a:chOff x="3136" y="1184"/>
              <a:chExt cx="994" cy="1004"/>
            </a:xfrm>
          </p:grpSpPr>
          <p:grpSp>
            <p:nvGrpSpPr>
              <p:cNvPr id="141" name="Group 347"/>
              <p:cNvGrpSpPr/>
              <p:nvPr/>
            </p:nvGrpSpPr>
            <p:grpSpPr bwMode="auto">
              <a:xfrm>
                <a:off x="3136" y="1688"/>
                <a:ext cx="994" cy="0"/>
                <a:chOff x="3136" y="1688"/>
                <a:chExt cx="994" cy="0"/>
              </a:xfrm>
            </p:grpSpPr>
            <p:sp>
              <p:nvSpPr>
                <p:cNvPr id="148" name="Line 252"/>
                <p:cNvSpPr>
                  <a:spLocks noChangeShapeType="1"/>
                </p:cNvSpPr>
                <p:nvPr/>
              </p:nvSpPr>
              <p:spPr bwMode="auto">
                <a:xfrm>
                  <a:off x="3136" y="1688"/>
                  <a:ext cx="19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" name="Line 253"/>
                <p:cNvSpPr>
                  <a:spLocks noChangeShapeType="1"/>
                </p:cNvSpPr>
                <p:nvPr/>
              </p:nvSpPr>
              <p:spPr bwMode="auto">
                <a:xfrm>
                  <a:off x="3356" y="1688"/>
                  <a:ext cx="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" name="Line 254"/>
                <p:cNvSpPr>
                  <a:spLocks noChangeShapeType="1"/>
                </p:cNvSpPr>
                <p:nvPr/>
              </p:nvSpPr>
              <p:spPr bwMode="auto">
                <a:xfrm>
                  <a:off x="3421" y="1688"/>
                  <a:ext cx="2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" name="Line 255"/>
                <p:cNvSpPr>
                  <a:spLocks noChangeShapeType="1"/>
                </p:cNvSpPr>
                <p:nvPr/>
              </p:nvSpPr>
              <p:spPr bwMode="auto">
                <a:xfrm>
                  <a:off x="3738" y="1688"/>
                  <a:ext cx="3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" name="Line 256"/>
                <p:cNvSpPr>
                  <a:spLocks noChangeShapeType="1"/>
                </p:cNvSpPr>
                <p:nvPr/>
              </p:nvSpPr>
              <p:spPr bwMode="auto">
                <a:xfrm>
                  <a:off x="3798" y="1688"/>
                  <a:ext cx="3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" name="Group 346"/>
              <p:cNvGrpSpPr/>
              <p:nvPr/>
            </p:nvGrpSpPr>
            <p:grpSpPr bwMode="auto">
              <a:xfrm>
                <a:off x="3633" y="1184"/>
                <a:ext cx="0" cy="1004"/>
                <a:chOff x="3633" y="1178"/>
                <a:chExt cx="0" cy="1004"/>
              </a:xfrm>
            </p:grpSpPr>
            <p:sp>
              <p:nvSpPr>
                <p:cNvPr id="143" name="Line 271"/>
                <p:cNvSpPr>
                  <a:spLocks noChangeShapeType="1"/>
                </p:cNvSpPr>
                <p:nvPr/>
              </p:nvSpPr>
              <p:spPr bwMode="auto">
                <a:xfrm rot="-5400000">
                  <a:off x="3463" y="2012"/>
                  <a:ext cx="3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Line 272"/>
                <p:cNvSpPr>
                  <a:spLocks noChangeShapeType="1"/>
                </p:cNvSpPr>
                <p:nvPr/>
              </p:nvSpPr>
              <p:spPr bwMode="auto">
                <a:xfrm rot="-5400000">
                  <a:off x="3616" y="1800"/>
                  <a:ext cx="3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" name="Line 273"/>
                <p:cNvSpPr>
                  <a:spLocks noChangeShapeType="1"/>
                </p:cNvSpPr>
                <p:nvPr/>
              </p:nvSpPr>
              <p:spPr bwMode="auto">
                <a:xfrm rot="-5400000">
                  <a:off x="3492" y="1616"/>
                  <a:ext cx="2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" name="Line 274"/>
                <p:cNvSpPr>
                  <a:spLocks noChangeShapeType="1"/>
                </p:cNvSpPr>
                <p:nvPr/>
              </p:nvSpPr>
              <p:spPr bwMode="auto">
                <a:xfrm rot="-5400000">
                  <a:off x="3616" y="1434"/>
                  <a:ext cx="3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" name="Line 275"/>
                <p:cNvSpPr>
                  <a:spLocks noChangeShapeType="1"/>
                </p:cNvSpPr>
                <p:nvPr/>
              </p:nvSpPr>
              <p:spPr bwMode="auto">
                <a:xfrm rot="-5400000">
                  <a:off x="3525" y="1286"/>
                  <a:ext cx="21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4" name="Group 374"/>
            <p:cNvGrpSpPr/>
            <p:nvPr/>
          </p:nvGrpSpPr>
          <p:grpSpPr bwMode="auto">
            <a:xfrm>
              <a:off x="2835" y="279"/>
              <a:ext cx="2519" cy="417"/>
              <a:chOff x="3119" y="496"/>
              <a:chExt cx="2235" cy="370"/>
            </a:xfrm>
          </p:grpSpPr>
          <p:grpSp>
            <p:nvGrpSpPr>
              <p:cNvPr id="105" name="Group 304"/>
              <p:cNvGrpSpPr/>
              <p:nvPr/>
            </p:nvGrpSpPr>
            <p:grpSpPr bwMode="auto">
              <a:xfrm>
                <a:off x="3119" y="684"/>
                <a:ext cx="1018" cy="0"/>
                <a:chOff x="3119" y="684"/>
                <a:chExt cx="1018" cy="0"/>
              </a:xfrm>
            </p:grpSpPr>
            <p:sp>
              <p:nvSpPr>
                <p:cNvPr id="136" name="Line 265"/>
                <p:cNvSpPr>
                  <a:spLocks noChangeShapeType="1"/>
                </p:cNvSpPr>
                <p:nvPr/>
              </p:nvSpPr>
              <p:spPr bwMode="auto">
                <a:xfrm flipV="1">
                  <a:off x="3119" y="684"/>
                  <a:ext cx="2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" name="Line 266"/>
                <p:cNvSpPr>
                  <a:spLocks noChangeShapeType="1"/>
                </p:cNvSpPr>
                <p:nvPr/>
              </p:nvSpPr>
              <p:spPr bwMode="auto">
                <a:xfrm flipV="1">
                  <a:off x="3351" y="684"/>
                  <a:ext cx="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" name="Line 267"/>
                <p:cNvSpPr>
                  <a:spLocks noChangeShapeType="1"/>
                </p:cNvSpPr>
                <p:nvPr/>
              </p:nvSpPr>
              <p:spPr bwMode="auto">
                <a:xfrm flipV="1">
                  <a:off x="3413" y="684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" name="Line 268"/>
                <p:cNvSpPr>
                  <a:spLocks noChangeShapeType="1"/>
                </p:cNvSpPr>
                <p:nvPr/>
              </p:nvSpPr>
              <p:spPr bwMode="auto">
                <a:xfrm flipV="1">
                  <a:off x="3721" y="684"/>
                  <a:ext cx="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" name="Line 269"/>
                <p:cNvSpPr>
                  <a:spLocks noChangeShapeType="1"/>
                </p:cNvSpPr>
                <p:nvPr/>
              </p:nvSpPr>
              <p:spPr bwMode="auto">
                <a:xfrm flipV="1">
                  <a:off x="3788" y="684"/>
                  <a:ext cx="34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6" name="Group 350"/>
              <p:cNvGrpSpPr/>
              <p:nvPr/>
            </p:nvGrpSpPr>
            <p:grpSpPr bwMode="auto">
              <a:xfrm>
                <a:off x="3963" y="496"/>
                <a:ext cx="0" cy="369"/>
                <a:chOff x="3963" y="496"/>
                <a:chExt cx="0" cy="369"/>
              </a:xfrm>
            </p:grpSpPr>
            <p:sp>
              <p:nvSpPr>
                <p:cNvPr id="133" name="Line 315"/>
                <p:cNvSpPr>
                  <a:spLocks noChangeShapeType="1"/>
                </p:cNvSpPr>
                <p:nvPr/>
              </p:nvSpPr>
              <p:spPr bwMode="auto">
                <a:xfrm>
                  <a:off x="3963" y="793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" name="Line 316"/>
                <p:cNvSpPr>
                  <a:spLocks noChangeShapeType="1"/>
                </p:cNvSpPr>
                <p:nvPr/>
              </p:nvSpPr>
              <p:spPr bwMode="auto">
                <a:xfrm flipV="1">
                  <a:off x="3963" y="496"/>
                  <a:ext cx="0" cy="2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" name="Line 317"/>
                <p:cNvSpPr>
                  <a:spLocks noChangeShapeType="1"/>
                </p:cNvSpPr>
                <p:nvPr/>
              </p:nvSpPr>
              <p:spPr bwMode="auto">
                <a:xfrm>
                  <a:off x="3963" y="733"/>
                  <a:ext cx="0" cy="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Group 348"/>
              <p:cNvGrpSpPr/>
              <p:nvPr/>
            </p:nvGrpSpPr>
            <p:grpSpPr bwMode="auto">
              <a:xfrm>
                <a:off x="3313" y="498"/>
                <a:ext cx="0" cy="366"/>
                <a:chOff x="3313" y="498"/>
                <a:chExt cx="0" cy="366"/>
              </a:xfrm>
            </p:grpSpPr>
            <p:sp>
              <p:nvSpPr>
                <p:cNvPr id="130" name="Line 319"/>
                <p:cNvSpPr>
                  <a:spLocks noChangeShapeType="1"/>
                </p:cNvSpPr>
                <p:nvPr/>
              </p:nvSpPr>
              <p:spPr bwMode="auto">
                <a:xfrm>
                  <a:off x="3313" y="792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" name="Line 320"/>
                <p:cNvSpPr>
                  <a:spLocks noChangeShapeType="1"/>
                </p:cNvSpPr>
                <p:nvPr/>
              </p:nvSpPr>
              <p:spPr bwMode="auto">
                <a:xfrm flipV="1">
                  <a:off x="3313" y="498"/>
                  <a:ext cx="0" cy="2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" name="Line 321"/>
                <p:cNvSpPr>
                  <a:spLocks noChangeShapeType="1"/>
                </p:cNvSpPr>
                <p:nvPr/>
              </p:nvSpPr>
              <p:spPr bwMode="auto">
                <a:xfrm>
                  <a:off x="3313" y="733"/>
                  <a:ext cx="0" cy="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8" name="Group 349"/>
              <p:cNvGrpSpPr/>
              <p:nvPr/>
            </p:nvGrpSpPr>
            <p:grpSpPr bwMode="auto">
              <a:xfrm>
                <a:off x="3636" y="500"/>
                <a:ext cx="0" cy="359"/>
                <a:chOff x="3636" y="500"/>
                <a:chExt cx="0" cy="359"/>
              </a:xfrm>
            </p:grpSpPr>
            <p:sp>
              <p:nvSpPr>
                <p:cNvPr id="127" name="Line 331"/>
                <p:cNvSpPr>
                  <a:spLocks noChangeShapeType="1"/>
                </p:cNvSpPr>
                <p:nvPr/>
              </p:nvSpPr>
              <p:spPr bwMode="auto">
                <a:xfrm>
                  <a:off x="3636" y="787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Line 332"/>
                <p:cNvSpPr>
                  <a:spLocks noChangeShapeType="1"/>
                </p:cNvSpPr>
                <p:nvPr/>
              </p:nvSpPr>
              <p:spPr bwMode="auto">
                <a:xfrm flipV="1">
                  <a:off x="3636" y="500"/>
                  <a:ext cx="0" cy="20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Line 333"/>
                <p:cNvSpPr>
                  <a:spLocks noChangeShapeType="1"/>
                </p:cNvSpPr>
                <p:nvPr/>
              </p:nvSpPr>
              <p:spPr bwMode="auto">
                <a:xfrm>
                  <a:off x="3636" y="729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9" name="Group 353"/>
              <p:cNvGrpSpPr/>
              <p:nvPr/>
            </p:nvGrpSpPr>
            <p:grpSpPr bwMode="auto">
              <a:xfrm>
                <a:off x="4336" y="685"/>
                <a:ext cx="1018" cy="0"/>
                <a:chOff x="3119" y="684"/>
                <a:chExt cx="1018" cy="0"/>
              </a:xfrm>
            </p:grpSpPr>
            <p:sp>
              <p:nvSpPr>
                <p:cNvPr id="122" name="Line 354"/>
                <p:cNvSpPr>
                  <a:spLocks noChangeShapeType="1"/>
                </p:cNvSpPr>
                <p:nvPr/>
              </p:nvSpPr>
              <p:spPr bwMode="auto">
                <a:xfrm flipV="1">
                  <a:off x="3119" y="684"/>
                  <a:ext cx="2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Line 355"/>
                <p:cNvSpPr>
                  <a:spLocks noChangeShapeType="1"/>
                </p:cNvSpPr>
                <p:nvPr/>
              </p:nvSpPr>
              <p:spPr bwMode="auto">
                <a:xfrm flipV="1">
                  <a:off x="3351" y="684"/>
                  <a:ext cx="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" name="Line 356"/>
                <p:cNvSpPr>
                  <a:spLocks noChangeShapeType="1"/>
                </p:cNvSpPr>
                <p:nvPr/>
              </p:nvSpPr>
              <p:spPr bwMode="auto">
                <a:xfrm flipV="1">
                  <a:off x="3413" y="684"/>
                  <a:ext cx="27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" name="Line 357"/>
                <p:cNvSpPr>
                  <a:spLocks noChangeShapeType="1"/>
                </p:cNvSpPr>
                <p:nvPr/>
              </p:nvSpPr>
              <p:spPr bwMode="auto">
                <a:xfrm flipV="1">
                  <a:off x="3721" y="684"/>
                  <a:ext cx="3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Line 358"/>
                <p:cNvSpPr>
                  <a:spLocks noChangeShapeType="1"/>
                </p:cNvSpPr>
                <p:nvPr/>
              </p:nvSpPr>
              <p:spPr bwMode="auto">
                <a:xfrm flipV="1">
                  <a:off x="3788" y="684"/>
                  <a:ext cx="34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0" name="Group 361"/>
              <p:cNvGrpSpPr/>
              <p:nvPr/>
            </p:nvGrpSpPr>
            <p:grpSpPr bwMode="auto">
              <a:xfrm>
                <a:off x="5180" y="497"/>
                <a:ext cx="0" cy="369"/>
                <a:chOff x="3963" y="496"/>
                <a:chExt cx="0" cy="369"/>
              </a:xfrm>
            </p:grpSpPr>
            <p:sp>
              <p:nvSpPr>
                <p:cNvPr id="119" name="Line 362"/>
                <p:cNvSpPr>
                  <a:spLocks noChangeShapeType="1"/>
                </p:cNvSpPr>
                <p:nvPr/>
              </p:nvSpPr>
              <p:spPr bwMode="auto">
                <a:xfrm>
                  <a:off x="3963" y="793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Line 363"/>
                <p:cNvSpPr>
                  <a:spLocks noChangeShapeType="1"/>
                </p:cNvSpPr>
                <p:nvPr/>
              </p:nvSpPr>
              <p:spPr bwMode="auto">
                <a:xfrm flipV="1">
                  <a:off x="3963" y="496"/>
                  <a:ext cx="0" cy="21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Line 364"/>
                <p:cNvSpPr>
                  <a:spLocks noChangeShapeType="1"/>
                </p:cNvSpPr>
                <p:nvPr/>
              </p:nvSpPr>
              <p:spPr bwMode="auto">
                <a:xfrm>
                  <a:off x="3963" y="733"/>
                  <a:ext cx="0" cy="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365"/>
              <p:cNvGrpSpPr/>
              <p:nvPr/>
            </p:nvGrpSpPr>
            <p:grpSpPr bwMode="auto">
              <a:xfrm>
                <a:off x="4530" y="499"/>
                <a:ext cx="0" cy="366"/>
                <a:chOff x="3313" y="498"/>
                <a:chExt cx="0" cy="366"/>
              </a:xfrm>
            </p:grpSpPr>
            <p:sp>
              <p:nvSpPr>
                <p:cNvPr id="116" name="Line 366"/>
                <p:cNvSpPr>
                  <a:spLocks noChangeShapeType="1"/>
                </p:cNvSpPr>
                <p:nvPr/>
              </p:nvSpPr>
              <p:spPr bwMode="auto">
                <a:xfrm>
                  <a:off x="3313" y="792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" name="Line 367"/>
                <p:cNvSpPr>
                  <a:spLocks noChangeShapeType="1"/>
                </p:cNvSpPr>
                <p:nvPr/>
              </p:nvSpPr>
              <p:spPr bwMode="auto">
                <a:xfrm flipV="1">
                  <a:off x="3313" y="498"/>
                  <a:ext cx="0" cy="2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Line 368"/>
                <p:cNvSpPr>
                  <a:spLocks noChangeShapeType="1"/>
                </p:cNvSpPr>
                <p:nvPr/>
              </p:nvSpPr>
              <p:spPr bwMode="auto">
                <a:xfrm>
                  <a:off x="3313" y="733"/>
                  <a:ext cx="0" cy="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" name="Group 369"/>
              <p:cNvGrpSpPr/>
              <p:nvPr/>
            </p:nvGrpSpPr>
            <p:grpSpPr bwMode="auto">
              <a:xfrm>
                <a:off x="4853" y="501"/>
                <a:ext cx="0" cy="359"/>
                <a:chOff x="3636" y="500"/>
                <a:chExt cx="0" cy="359"/>
              </a:xfrm>
            </p:grpSpPr>
            <p:sp>
              <p:nvSpPr>
                <p:cNvPr id="113" name="Line 370"/>
                <p:cNvSpPr>
                  <a:spLocks noChangeShapeType="1"/>
                </p:cNvSpPr>
                <p:nvPr/>
              </p:nvSpPr>
              <p:spPr bwMode="auto">
                <a:xfrm>
                  <a:off x="3636" y="787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" name="Line 371"/>
                <p:cNvSpPr>
                  <a:spLocks noChangeShapeType="1"/>
                </p:cNvSpPr>
                <p:nvPr/>
              </p:nvSpPr>
              <p:spPr bwMode="auto">
                <a:xfrm flipV="1">
                  <a:off x="3636" y="500"/>
                  <a:ext cx="0" cy="20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Line 372"/>
                <p:cNvSpPr>
                  <a:spLocks noChangeShapeType="1"/>
                </p:cNvSpPr>
                <p:nvPr/>
              </p:nvSpPr>
              <p:spPr bwMode="auto">
                <a:xfrm>
                  <a:off x="3636" y="729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53" name="Group 426"/>
          <p:cNvGrpSpPr/>
          <p:nvPr/>
        </p:nvGrpSpPr>
        <p:grpSpPr bwMode="auto">
          <a:xfrm>
            <a:off x="4212915" y="1143831"/>
            <a:ext cx="1657350" cy="496888"/>
            <a:chOff x="2896" y="550"/>
            <a:chExt cx="1044" cy="313"/>
          </a:xfrm>
        </p:grpSpPr>
        <p:grpSp>
          <p:nvGrpSpPr>
            <p:cNvPr id="154" name="Group 425"/>
            <p:cNvGrpSpPr/>
            <p:nvPr/>
          </p:nvGrpSpPr>
          <p:grpSpPr bwMode="auto">
            <a:xfrm>
              <a:off x="2897" y="551"/>
              <a:ext cx="1043" cy="312"/>
              <a:chOff x="2897" y="551"/>
              <a:chExt cx="1043" cy="312"/>
            </a:xfrm>
          </p:grpSpPr>
          <p:sp>
            <p:nvSpPr>
              <p:cNvPr id="160" name="Oval 295"/>
              <p:cNvSpPr>
                <a:spLocks noChangeArrowheads="1"/>
              </p:cNvSpPr>
              <p:nvPr/>
            </p:nvSpPr>
            <p:spPr bwMode="auto">
              <a:xfrm>
                <a:off x="2897" y="551"/>
                <a:ext cx="311" cy="3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61" name="Oval 296"/>
              <p:cNvSpPr>
                <a:spLocks noChangeArrowheads="1"/>
              </p:cNvSpPr>
              <p:nvPr/>
            </p:nvSpPr>
            <p:spPr bwMode="auto">
              <a:xfrm>
                <a:off x="3628" y="552"/>
                <a:ext cx="312" cy="3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grpSp>
            <p:nvGrpSpPr>
              <p:cNvPr id="162" name="Group 402"/>
              <p:cNvGrpSpPr/>
              <p:nvPr/>
            </p:nvGrpSpPr>
            <p:grpSpPr bwMode="auto">
              <a:xfrm>
                <a:off x="3122" y="562"/>
                <a:ext cx="96" cy="282"/>
                <a:chOff x="3122" y="562"/>
                <a:chExt cx="96" cy="282"/>
              </a:xfrm>
            </p:grpSpPr>
            <p:sp>
              <p:nvSpPr>
                <p:cNvPr id="170" name="Line 393"/>
                <p:cNvSpPr>
                  <a:spLocks noChangeShapeType="1"/>
                </p:cNvSpPr>
                <p:nvPr/>
              </p:nvSpPr>
              <p:spPr bwMode="auto">
                <a:xfrm flipH="1">
                  <a:off x="3122" y="562"/>
                  <a:ext cx="26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" name="Line 394"/>
                <p:cNvSpPr>
                  <a:spLocks noChangeShapeType="1"/>
                </p:cNvSpPr>
                <p:nvPr/>
              </p:nvSpPr>
              <p:spPr bwMode="auto">
                <a:xfrm flipH="1">
                  <a:off x="3160" y="604"/>
                  <a:ext cx="30" cy="22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Line 395"/>
                <p:cNvSpPr>
                  <a:spLocks noChangeShapeType="1"/>
                </p:cNvSpPr>
                <p:nvPr/>
              </p:nvSpPr>
              <p:spPr bwMode="auto">
                <a:xfrm flipH="1">
                  <a:off x="3186" y="662"/>
                  <a:ext cx="32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" name="Line 399"/>
                <p:cNvSpPr>
                  <a:spLocks noChangeShapeType="1"/>
                </p:cNvSpPr>
                <p:nvPr/>
              </p:nvSpPr>
              <p:spPr bwMode="auto">
                <a:xfrm>
                  <a:off x="3182" y="736"/>
                  <a:ext cx="34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" name="Line 400"/>
                <p:cNvSpPr>
                  <a:spLocks noChangeShapeType="1"/>
                </p:cNvSpPr>
                <p:nvPr/>
              </p:nvSpPr>
              <p:spPr bwMode="auto">
                <a:xfrm>
                  <a:off x="3158" y="786"/>
                  <a:ext cx="32" cy="2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" name="Line 401"/>
                <p:cNvSpPr>
                  <a:spLocks noChangeShapeType="1"/>
                </p:cNvSpPr>
                <p:nvPr/>
              </p:nvSpPr>
              <p:spPr bwMode="auto">
                <a:xfrm>
                  <a:off x="3124" y="824"/>
                  <a:ext cx="22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3" name="Group 403"/>
              <p:cNvGrpSpPr/>
              <p:nvPr/>
            </p:nvGrpSpPr>
            <p:grpSpPr bwMode="auto">
              <a:xfrm flipH="1">
                <a:off x="3609" y="563"/>
                <a:ext cx="96" cy="282"/>
                <a:chOff x="3122" y="562"/>
                <a:chExt cx="96" cy="282"/>
              </a:xfrm>
            </p:grpSpPr>
            <p:sp>
              <p:nvSpPr>
                <p:cNvPr id="164" name="Line 404"/>
                <p:cNvSpPr>
                  <a:spLocks noChangeShapeType="1"/>
                </p:cNvSpPr>
                <p:nvPr/>
              </p:nvSpPr>
              <p:spPr bwMode="auto">
                <a:xfrm flipH="1">
                  <a:off x="3122" y="562"/>
                  <a:ext cx="26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" name="Line 405"/>
                <p:cNvSpPr>
                  <a:spLocks noChangeShapeType="1"/>
                </p:cNvSpPr>
                <p:nvPr/>
              </p:nvSpPr>
              <p:spPr bwMode="auto">
                <a:xfrm flipH="1">
                  <a:off x="3160" y="604"/>
                  <a:ext cx="30" cy="22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" name="Line 406"/>
                <p:cNvSpPr>
                  <a:spLocks noChangeShapeType="1"/>
                </p:cNvSpPr>
                <p:nvPr/>
              </p:nvSpPr>
              <p:spPr bwMode="auto">
                <a:xfrm flipH="1">
                  <a:off x="3186" y="662"/>
                  <a:ext cx="32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" name="Line 407"/>
                <p:cNvSpPr>
                  <a:spLocks noChangeShapeType="1"/>
                </p:cNvSpPr>
                <p:nvPr/>
              </p:nvSpPr>
              <p:spPr bwMode="auto">
                <a:xfrm>
                  <a:off x="3182" y="736"/>
                  <a:ext cx="34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8" name="Line 408"/>
                <p:cNvSpPr>
                  <a:spLocks noChangeShapeType="1"/>
                </p:cNvSpPr>
                <p:nvPr/>
              </p:nvSpPr>
              <p:spPr bwMode="auto">
                <a:xfrm>
                  <a:off x="3158" y="786"/>
                  <a:ext cx="32" cy="2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9" name="Line 409"/>
                <p:cNvSpPr>
                  <a:spLocks noChangeShapeType="1"/>
                </p:cNvSpPr>
                <p:nvPr/>
              </p:nvSpPr>
              <p:spPr bwMode="auto">
                <a:xfrm>
                  <a:off x="3124" y="824"/>
                  <a:ext cx="22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5" name="Group 424"/>
            <p:cNvGrpSpPr/>
            <p:nvPr/>
          </p:nvGrpSpPr>
          <p:grpSpPr bwMode="auto">
            <a:xfrm>
              <a:off x="2896" y="550"/>
              <a:ext cx="1043" cy="312"/>
              <a:chOff x="2896" y="550"/>
              <a:chExt cx="1043" cy="312"/>
            </a:xfrm>
          </p:grpSpPr>
          <p:sp>
            <p:nvSpPr>
              <p:cNvPr id="156" name="Line 389"/>
              <p:cNvSpPr>
                <a:spLocks noChangeShapeType="1"/>
              </p:cNvSpPr>
              <p:nvPr/>
            </p:nvSpPr>
            <p:spPr bwMode="auto">
              <a:xfrm>
                <a:off x="3052" y="550"/>
                <a:ext cx="73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390"/>
              <p:cNvSpPr>
                <a:spLocks noChangeShapeType="1"/>
              </p:cNvSpPr>
              <p:nvPr/>
            </p:nvSpPr>
            <p:spPr bwMode="auto">
              <a:xfrm>
                <a:off x="3054" y="862"/>
                <a:ext cx="7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Arc 391"/>
              <p:cNvSpPr/>
              <p:nvPr/>
            </p:nvSpPr>
            <p:spPr bwMode="auto">
              <a:xfrm flipV="1">
                <a:off x="3767" y="552"/>
                <a:ext cx="172" cy="310"/>
              </a:xfrm>
              <a:custGeom>
                <a:avLst/>
                <a:gdLst>
                  <a:gd name="T0" fmla="*/ 0 w 24728"/>
                  <a:gd name="T1" fmla="*/ 0 h 43200"/>
                  <a:gd name="T2" fmla="*/ 0 w 24728"/>
                  <a:gd name="T3" fmla="*/ 0 h 43200"/>
                  <a:gd name="T4" fmla="*/ 0 w 24728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728" h="43200" fill="none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</a:path>
                  <a:path w="24728" h="43200" stroke="0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  <a:lnTo>
                      <a:pt x="3128" y="21600"/>
                    </a:lnTo>
                    <a:lnTo>
                      <a:pt x="1133" y="92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Arc 392"/>
              <p:cNvSpPr/>
              <p:nvPr/>
            </p:nvSpPr>
            <p:spPr bwMode="auto">
              <a:xfrm flipH="1" flipV="1">
                <a:off x="2896" y="551"/>
                <a:ext cx="172" cy="310"/>
              </a:xfrm>
              <a:custGeom>
                <a:avLst/>
                <a:gdLst>
                  <a:gd name="T0" fmla="*/ 0 w 24728"/>
                  <a:gd name="T1" fmla="*/ 0 h 43200"/>
                  <a:gd name="T2" fmla="*/ 0 w 24728"/>
                  <a:gd name="T3" fmla="*/ 0 h 43200"/>
                  <a:gd name="T4" fmla="*/ 0 w 24728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728" h="43200" fill="none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</a:path>
                  <a:path w="24728" h="43200" stroke="0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  <a:lnTo>
                      <a:pt x="3128" y="21600"/>
                    </a:lnTo>
                    <a:lnTo>
                      <a:pt x="1133" y="92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76" name="Group 427"/>
          <p:cNvGrpSpPr/>
          <p:nvPr/>
        </p:nvGrpSpPr>
        <p:grpSpPr bwMode="auto">
          <a:xfrm>
            <a:off x="6386203" y="1148594"/>
            <a:ext cx="1657350" cy="496887"/>
            <a:chOff x="2896" y="550"/>
            <a:chExt cx="1044" cy="313"/>
          </a:xfrm>
        </p:grpSpPr>
        <p:grpSp>
          <p:nvGrpSpPr>
            <p:cNvPr id="177" name="Group 428"/>
            <p:cNvGrpSpPr/>
            <p:nvPr/>
          </p:nvGrpSpPr>
          <p:grpSpPr bwMode="auto">
            <a:xfrm>
              <a:off x="2897" y="551"/>
              <a:ext cx="1043" cy="312"/>
              <a:chOff x="2897" y="551"/>
              <a:chExt cx="1043" cy="312"/>
            </a:xfrm>
          </p:grpSpPr>
          <p:sp>
            <p:nvSpPr>
              <p:cNvPr id="183" name="Oval 429"/>
              <p:cNvSpPr>
                <a:spLocks noChangeArrowheads="1"/>
              </p:cNvSpPr>
              <p:nvPr/>
            </p:nvSpPr>
            <p:spPr bwMode="auto">
              <a:xfrm>
                <a:off x="2897" y="551"/>
                <a:ext cx="311" cy="3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84" name="Oval 430"/>
              <p:cNvSpPr>
                <a:spLocks noChangeArrowheads="1"/>
              </p:cNvSpPr>
              <p:nvPr/>
            </p:nvSpPr>
            <p:spPr bwMode="auto">
              <a:xfrm>
                <a:off x="3628" y="552"/>
                <a:ext cx="312" cy="3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grpSp>
            <p:nvGrpSpPr>
              <p:cNvPr id="185" name="Group 431"/>
              <p:cNvGrpSpPr/>
              <p:nvPr/>
            </p:nvGrpSpPr>
            <p:grpSpPr bwMode="auto">
              <a:xfrm>
                <a:off x="3122" y="562"/>
                <a:ext cx="96" cy="282"/>
                <a:chOff x="3122" y="562"/>
                <a:chExt cx="96" cy="282"/>
              </a:xfrm>
            </p:grpSpPr>
            <p:sp>
              <p:nvSpPr>
                <p:cNvPr id="193" name="Line 432"/>
                <p:cNvSpPr>
                  <a:spLocks noChangeShapeType="1"/>
                </p:cNvSpPr>
                <p:nvPr/>
              </p:nvSpPr>
              <p:spPr bwMode="auto">
                <a:xfrm flipH="1">
                  <a:off x="3122" y="562"/>
                  <a:ext cx="26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Line 433"/>
                <p:cNvSpPr>
                  <a:spLocks noChangeShapeType="1"/>
                </p:cNvSpPr>
                <p:nvPr/>
              </p:nvSpPr>
              <p:spPr bwMode="auto">
                <a:xfrm flipH="1">
                  <a:off x="3160" y="604"/>
                  <a:ext cx="30" cy="22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Line 434"/>
                <p:cNvSpPr>
                  <a:spLocks noChangeShapeType="1"/>
                </p:cNvSpPr>
                <p:nvPr/>
              </p:nvSpPr>
              <p:spPr bwMode="auto">
                <a:xfrm flipH="1">
                  <a:off x="3186" y="662"/>
                  <a:ext cx="32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" name="Line 435"/>
                <p:cNvSpPr>
                  <a:spLocks noChangeShapeType="1"/>
                </p:cNvSpPr>
                <p:nvPr/>
              </p:nvSpPr>
              <p:spPr bwMode="auto">
                <a:xfrm>
                  <a:off x="3182" y="736"/>
                  <a:ext cx="34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" name="Line 436"/>
                <p:cNvSpPr>
                  <a:spLocks noChangeShapeType="1"/>
                </p:cNvSpPr>
                <p:nvPr/>
              </p:nvSpPr>
              <p:spPr bwMode="auto">
                <a:xfrm>
                  <a:off x="3158" y="786"/>
                  <a:ext cx="32" cy="2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" name="Line 437"/>
                <p:cNvSpPr>
                  <a:spLocks noChangeShapeType="1"/>
                </p:cNvSpPr>
                <p:nvPr/>
              </p:nvSpPr>
              <p:spPr bwMode="auto">
                <a:xfrm>
                  <a:off x="3124" y="824"/>
                  <a:ext cx="22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" name="Group 438"/>
              <p:cNvGrpSpPr/>
              <p:nvPr/>
            </p:nvGrpSpPr>
            <p:grpSpPr bwMode="auto">
              <a:xfrm flipH="1">
                <a:off x="3609" y="563"/>
                <a:ext cx="96" cy="282"/>
                <a:chOff x="3122" y="562"/>
                <a:chExt cx="96" cy="282"/>
              </a:xfrm>
            </p:grpSpPr>
            <p:sp>
              <p:nvSpPr>
                <p:cNvPr id="187" name="Line 439"/>
                <p:cNvSpPr>
                  <a:spLocks noChangeShapeType="1"/>
                </p:cNvSpPr>
                <p:nvPr/>
              </p:nvSpPr>
              <p:spPr bwMode="auto">
                <a:xfrm flipH="1">
                  <a:off x="3122" y="562"/>
                  <a:ext cx="26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" name="Line 440"/>
                <p:cNvSpPr>
                  <a:spLocks noChangeShapeType="1"/>
                </p:cNvSpPr>
                <p:nvPr/>
              </p:nvSpPr>
              <p:spPr bwMode="auto">
                <a:xfrm flipH="1">
                  <a:off x="3160" y="604"/>
                  <a:ext cx="30" cy="22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" name="Line 441"/>
                <p:cNvSpPr>
                  <a:spLocks noChangeShapeType="1"/>
                </p:cNvSpPr>
                <p:nvPr/>
              </p:nvSpPr>
              <p:spPr bwMode="auto">
                <a:xfrm flipH="1">
                  <a:off x="3186" y="662"/>
                  <a:ext cx="32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" name="Line 442"/>
                <p:cNvSpPr>
                  <a:spLocks noChangeShapeType="1"/>
                </p:cNvSpPr>
                <p:nvPr/>
              </p:nvSpPr>
              <p:spPr bwMode="auto">
                <a:xfrm>
                  <a:off x="3182" y="736"/>
                  <a:ext cx="34" cy="16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" name="Line 443"/>
                <p:cNvSpPr>
                  <a:spLocks noChangeShapeType="1"/>
                </p:cNvSpPr>
                <p:nvPr/>
              </p:nvSpPr>
              <p:spPr bwMode="auto">
                <a:xfrm>
                  <a:off x="3158" y="786"/>
                  <a:ext cx="32" cy="2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" name="Line 444"/>
                <p:cNvSpPr>
                  <a:spLocks noChangeShapeType="1"/>
                </p:cNvSpPr>
                <p:nvPr/>
              </p:nvSpPr>
              <p:spPr bwMode="auto">
                <a:xfrm>
                  <a:off x="3124" y="824"/>
                  <a:ext cx="22" cy="2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8" name="Group 445"/>
            <p:cNvGrpSpPr/>
            <p:nvPr/>
          </p:nvGrpSpPr>
          <p:grpSpPr bwMode="auto">
            <a:xfrm>
              <a:off x="2896" y="550"/>
              <a:ext cx="1043" cy="312"/>
              <a:chOff x="2896" y="550"/>
              <a:chExt cx="1043" cy="312"/>
            </a:xfrm>
          </p:grpSpPr>
          <p:sp>
            <p:nvSpPr>
              <p:cNvPr id="179" name="Line 446"/>
              <p:cNvSpPr>
                <a:spLocks noChangeShapeType="1"/>
              </p:cNvSpPr>
              <p:nvPr/>
            </p:nvSpPr>
            <p:spPr bwMode="auto">
              <a:xfrm>
                <a:off x="3052" y="550"/>
                <a:ext cx="73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Line 447"/>
              <p:cNvSpPr>
                <a:spLocks noChangeShapeType="1"/>
              </p:cNvSpPr>
              <p:nvPr/>
            </p:nvSpPr>
            <p:spPr bwMode="auto">
              <a:xfrm>
                <a:off x="3054" y="862"/>
                <a:ext cx="7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" name="Arc 448"/>
              <p:cNvSpPr/>
              <p:nvPr/>
            </p:nvSpPr>
            <p:spPr bwMode="auto">
              <a:xfrm flipV="1">
                <a:off x="3767" y="552"/>
                <a:ext cx="172" cy="310"/>
              </a:xfrm>
              <a:custGeom>
                <a:avLst/>
                <a:gdLst>
                  <a:gd name="T0" fmla="*/ 0 w 24728"/>
                  <a:gd name="T1" fmla="*/ 0 h 43200"/>
                  <a:gd name="T2" fmla="*/ 0 w 24728"/>
                  <a:gd name="T3" fmla="*/ 0 h 43200"/>
                  <a:gd name="T4" fmla="*/ 0 w 24728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728" h="43200" fill="none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</a:path>
                  <a:path w="24728" h="43200" stroke="0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  <a:lnTo>
                      <a:pt x="3128" y="21600"/>
                    </a:lnTo>
                    <a:lnTo>
                      <a:pt x="1133" y="92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2" name="Arc 449"/>
              <p:cNvSpPr/>
              <p:nvPr/>
            </p:nvSpPr>
            <p:spPr bwMode="auto">
              <a:xfrm flipH="1" flipV="1">
                <a:off x="2896" y="551"/>
                <a:ext cx="172" cy="310"/>
              </a:xfrm>
              <a:custGeom>
                <a:avLst/>
                <a:gdLst>
                  <a:gd name="T0" fmla="*/ 0 w 24728"/>
                  <a:gd name="T1" fmla="*/ 0 h 43200"/>
                  <a:gd name="T2" fmla="*/ 0 w 24728"/>
                  <a:gd name="T3" fmla="*/ 0 h 43200"/>
                  <a:gd name="T4" fmla="*/ 0 w 24728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728" h="43200" fill="none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</a:path>
                  <a:path w="24728" h="43200" stroke="0" extrusionOk="0">
                    <a:moveTo>
                      <a:pt x="1133" y="92"/>
                    </a:moveTo>
                    <a:cubicBezTo>
                      <a:pt x="1796" y="30"/>
                      <a:pt x="2461" y="-1"/>
                      <a:pt x="3128" y="0"/>
                    </a:cubicBezTo>
                    <a:cubicBezTo>
                      <a:pt x="15057" y="0"/>
                      <a:pt x="24728" y="9670"/>
                      <a:pt x="24728" y="21600"/>
                    </a:cubicBezTo>
                    <a:cubicBezTo>
                      <a:pt x="24728" y="33529"/>
                      <a:pt x="15057" y="43200"/>
                      <a:pt x="3128" y="43200"/>
                    </a:cubicBezTo>
                    <a:cubicBezTo>
                      <a:pt x="2081" y="43200"/>
                      <a:pt x="1035" y="43123"/>
                      <a:pt x="-1" y="42972"/>
                    </a:cubicBezTo>
                    <a:lnTo>
                      <a:pt x="3128" y="21600"/>
                    </a:lnTo>
                    <a:lnTo>
                      <a:pt x="1133" y="92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99" name="Freeform 476"/>
          <p:cNvSpPr/>
          <p:nvPr/>
        </p:nvSpPr>
        <p:spPr bwMode="auto">
          <a:xfrm>
            <a:off x="4206565" y="1145419"/>
            <a:ext cx="1666875" cy="247650"/>
          </a:xfrm>
          <a:custGeom>
            <a:avLst/>
            <a:gdLst>
              <a:gd name="T0" fmla="*/ 0 w 1050"/>
              <a:gd name="T1" fmla="*/ 2147483647 h 156"/>
              <a:gd name="T2" fmla="*/ 2147483647 w 1050"/>
              <a:gd name="T3" fmla="*/ 2147483647 h 156"/>
              <a:gd name="T4" fmla="*/ 2147483647 w 1050"/>
              <a:gd name="T5" fmla="*/ 2147483647 h 156"/>
              <a:gd name="T6" fmla="*/ 2147483647 w 1050"/>
              <a:gd name="T7" fmla="*/ 2147483647 h 156"/>
              <a:gd name="T8" fmla="*/ 2147483647 w 1050"/>
              <a:gd name="T9" fmla="*/ 2147483647 h 156"/>
              <a:gd name="T10" fmla="*/ 2147483647 w 1050"/>
              <a:gd name="T11" fmla="*/ 2147483647 h 156"/>
              <a:gd name="T12" fmla="*/ 2147483647 w 1050"/>
              <a:gd name="T13" fmla="*/ 2147483647 h 156"/>
              <a:gd name="T14" fmla="*/ 2147483647 w 1050"/>
              <a:gd name="T15" fmla="*/ 0 h 156"/>
              <a:gd name="T16" fmla="*/ 2147483647 w 1050"/>
              <a:gd name="T17" fmla="*/ 0 h 156"/>
              <a:gd name="T18" fmla="*/ 2147483647 w 1050"/>
              <a:gd name="T19" fmla="*/ 0 h 156"/>
              <a:gd name="T20" fmla="*/ 2147483647 w 1050"/>
              <a:gd name="T21" fmla="*/ 2147483647 h 156"/>
              <a:gd name="T22" fmla="*/ 2147483647 w 1050"/>
              <a:gd name="T23" fmla="*/ 2147483647 h 156"/>
              <a:gd name="T24" fmla="*/ 2147483647 w 1050"/>
              <a:gd name="T25" fmla="*/ 2147483647 h 156"/>
              <a:gd name="T26" fmla="*/ 2147483647 w 1050"/>
              <a:gd name="T27" fmla="*/ 2147483647 h 156"/>
              <a:gd name="T28" fmla="*/ 2147483647 w 1050"/>
              <a:gd name="T29" fmla="*/ 2147483647 h 156"/>
              <a:gd name="T30" fmla="*/ 2147483647 w 1050"/>
              <a:gd name="T31" fmla="*/ 2147483647 h 156"/>
              <a:gd name="T32" fmla="*/ 2147483647 w 1050"/>
              <a:gd name="T33" fmla="*/ 2147483647 h 156"/>
              <a:gd name="T34" fmla="*/ 2147483647 w 1050"/>
              <a:gd name="T35" fmla="*/ 2147483647 h 156"/>
              <a:gd name="T36" fmla="*/ 0 w 1050"/>
              <a:gd name="T37" fmla="*/ 2147483647 h 15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050" h="156">
                <a:moveTo>
                  <a:pt x="0" y="156"/>
                </a:moveTo>
                <a:lnTo>
                  <a:pt x="1050" y="156"/>
                </a:lnTo>
                <a:lnTo>
                  <a:pt x="1044" y="114"/>
                </a:lnTo>
                <a:lnTo>
                  <a:pt x="1030" y="80"/>
                </a:lnTo>
                <a:lnTo>
                  <a:pt x="1006" y="52"/>
                </a:lnTo>
                <a:lnTo>
                  <a:pt x="980" y="30"/>
                </a:lnTo>
                <a:lnTo>
                  <a:pt x="938" y="6"/>
                </a:lnTo>
                <a:lnTo>
                  <a:pt x="904" y="0"/>
                </a:lnTo>
                <a:lnTo>
                  <a:pt x="874" y="0"/>
                </a:lnTo>
                <a:lnTo>
                  <a:pt x="158" y="0"/>
                </a:lnTo>
                <a:lnTo>
                  <a:pt x="124" y="4"/>
                </a:lnTo>
                <a:lnTo>
                  <a:pt x="98" y="10"/>
                </a:lnTo>
                <a:lnTo>
                  <a:pt x="74" y="24"/>
                </a:lnTo>
                <a:lnTo>
                  <a:pt x="48" y="42"/>
                </a:lnTo>
                <a:lnTo>
                  <a:pt x="30" y="66"/>
                </a:lnTo>
                <a:lnTo>
                  <a:pt x="16" y="86"/>
                </a:lnTo>
                <a:lnTo>
                  <a:pt x="8" y="112"/>
                </a:lnTo>
                <a:lnTo>
                  <a:pt x="4" y="134"/>
                </a:lnTo>
                <a:lnTo>
                  <a:pt x="0" y="156"/>
                </a:lnTo>
                <a:close/>
              </a:path>
            </a:pathLst>
          </a:custGeom>
          <a:solidFill>
            <a:srgbClr val="FF7C80">
              <a:alpha val="45097"/>
            </a:srgbClr>
          </a:solidFill>
          <a:ln w="9525">
            <a:solidFill>
              <a:srgbClr val="FF7C80">
                <a:alpha val="45097"/>
              </a:srgbClr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0" name="Group 483"/>
          <p:cNvGrpSpPr/>
          <p:nvPr/>
        </p:nvGrpSpPr>
        <p:grpSpPr bwMode="auto">
          <a:xfrm>
            <a:off x="4208153" y="1142244"/>
            <a:ext cx="1663700" cy="2397125"/>
            <a:chOff x="2892" y="332"/>
            <a:chExt cx="1048" cy="1510"/>
          </a:xfrm>
        </p:grpSpPr>
        <p:sp>
          <p:nvSpPr>
            <p:cNvPr id="201" name="Freeform 481"/>
            <p:cNvSpPr/>
            <p:nvPr/>
          </p:nvSpPr>
          <p:spPr bwMode="auto">
            <a:xfrm>
              <a:off x="2894" y="1312"/>
              <a:ext cx="1046" cy="530"/>
            </a:xfrm>
            <a:custGeom>
              <a:avLst/>
              <a:gdLst>
                <a:gd name="T0" fmla="*/ 158 w 1046"/>
                <a:gd name="T1" fmla="*/ 2 h 530"/>
                <a:gd name="T2" fmla="*/ 168 w 1046"/>
                <a:gd name="T3" fmla="*/ 84 h 530"/>
                <a:gd name="T4" fmla="*/ 198 w 1046"/>
                <a:gd name="T5" fmla="*/ 168 h 530"/>
                <a:gd name="T6" fmla="*/ 260 w 1046"/>
                <a:gd name="T7" fmla="*/ 256 h 530"/>
                <a:gd name="T8" fmla="*/ 360 w 1046"/>
                <a:gd name="T9" fmla="*/ 328 h 530"/>
                <a:gd name="T10" fmla="*/ 490 w 1046"/>
                <a:gd name="T11" fmla="*/ 366 h 530"/>
                <a:gd name="T12" fmla="*/ 630 w 1046"/>
                <a:gd name="T13" fmla="*/ 350 h 530"/>
                <a:gd name="T14" fmla="*/ 742 w 1046"/>
                <a:gd name="T15" fmla="*/ 290 h 530"/>
                <a:gd name="T16" fmla="*/ 816 w 1046"/>
                <a:gd name="T17" fmla="*/ 218 h 530"/>
                <a:gd name="T18" fmla="*/ 864 w 1046"/>
                <a:gd name="T19" fmla="*/ 138 h 530"/>
                <a:gd name="T20" fmla="*/ 886 w 1046"/>
                <a:gd name="T21" fmla="*/ 46 h 530"/>
                <a:gd name="T22" fmla="*/ 1046 w 1046"/>
                <a:gd name="T23" fmla="*/ 0 h 530"/>
                <a:gd name="T24" fmla="*/ 1042 w 1046"/>
                <a:gd name="T25" fmla="*/ 66 h 530"/>
                <a:gd name="T26" fmla="*/ 1032 w 1046"/>
                <a:gd name="T27" fmla="*/ 120 h 530"/>
                <a:gd name="T28" fmla="*/ 1018 w 1046"/>
                <a:gd name="T29" fmla="*/ 174 h 530"/>
                <a:gd name="T30" fmla="*/ 994 w 1046"/>
                <a:gd name="T31" fmla="*/ 236 h 530"/>
                <a:gd name="T32" fmla="*/ 962 w 1046"/>
                <a:gd name="T33" fmla="*/ 296 h 530"/>
                <a:gd name="T34" fmla="*/ 922 w 1046"/>
                <a:gd name="T35" fmla="*/ 348 h 530"/>
                <a:gd name="T36" fmla="*/ 876 w 1046"/>
                <a:gd name="T37" fmla="*/ 396 h 530"/>
                <a:gd name="T38" fmla="*/ 808 w 1046"/>
                <a:gd name="T39" fmla="*/ 444 h 530"/>
                <a:gd name="T40" fmla="*/ 730 w 1046"/>
                <a:gd name="T41" fmla="*/ 488 h 530"/>
                <a:gd name="T42" fmla="*/ 642 w 1046"/>
                <a:gd name="T43" fmla="*/ 520 h 530"/>
                <a:gd name="T44" fmla="*/ 556 w 1046"/>
                <a:gd name="T45" fmla="*/ 530 h 530"/>
                <a:gd name="T46" fmla="*/ 474 w 1046"/>
                <a:gd name="T47" fmla="*/ 526 h 530"/>
                <a:gd name="T48" fmla="*/ 378 w 1046"/>
                <a:gd name="T49" fmla="*/ 512 h 530"/>
                <a:gd name="T50" fmla="*/ 306 w 1046"/>
                <a:gd name="T51" fmla="*/ 484 h 530"/>
                <a:gd name="T52" fmla="*/ 224 w 1046"/>
                <a:gd name="T53" fmla="*/ 436 h 530"/>
                <a:gd name="T54" fmla="*/ 152 w 1046"/>
                <a:gd name="T55" fmla="*/ 376 h 530"/>
                <a:gd name="T56" fmla="*/ 88 w 1046"/>
                <a:gd name="T57" fmla="*/ 304 h 530"/>
                <a:gd name="T58" fmla="*/ 50 w 1046"/>
                <a:gd name="T59" fmla="*/ 238 h 530"/>
                <a:gd name="T60" fmla="*/ 20 w 1046"/>
                <a:gd name="T61" fmla="*/ 154 h 530"/>
                <a:gd name="T62" fmla="*/ 4 w 1046"/>
                <a:gd name="T63" fmla="*/ 68 h 530"/>
                <a:gd name="T64" fmla="*/ 0 w 1046"/>
                <a:gd name="T65" fmla="*/ 2 h 5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46" h="530">
                  <a:moveTo>
                    <a:pt x="0" y="2"/>
                  </a:moveTo>
                  <a:lnTo>
                    <a:pt x="158" y="2"/>
                  </a:lnTo>
                  <a:lnTo>
                    <a:pt x="162" y="42"/>
                  </a:lnTo>
                  <a:lnTo>
                    <a:pt x="168" y="84"/>
                  </a:lnTo>
                  <a:lnTo>
                    <a:pt x="182" y="132"/>
                  </a:lnTo>
                  <a:lnTo>
                    <a:pt x="198" y="168"/>
                  </a:lnTo>
                  <a:lnTo>
                    <a:pt x="226" y="216"/>
                  </a:lnTo>
                  <a:lnTo>
                    <a:pt x="260" y="256"/>
                  </a:lnTo>
                  <a:lnTo>
                    <a:pt x="304" y="294"/>
                  </a:lnTo>
                  <a:lnTo>
                    <a:pt x="360" y="328"/>
                  </a:lnTo>
                  <a:lnTo>
                    <a:pt x="430" y="354"/>
                  </a:lnTo>
                  <a:lnTo>
                    <a:pt x="490" y="366"/>
                  </a:lnTo>
                  <a:lnTo>
                    <a:pt x="562" y="362"/>
                  </a:lnTo>
                  <a:lnTo>
                    <a:pt x="630" y="350"/>
                  </a:lnTo>
                  <a:lnTo>
                    <a:pt x="690" y="324"/>
                  </a:lnTo>
                  <a:lnTo>
                    <a:pt x="742" y="290"/>
                  </a:lnTo>
                  <a:lnTo>
                    <a:pt x="776" y="262"/>
                  </a:lnTo>
                  <a:lnTo>
                    <a:pt x="816" y="218"/>
                  </a:lnTo>
                  <a:lnTo>
                    <a:pt x="840" y="178"/>
                  </a:lnTo>
                  <a:lnTo>
                    <a:pt x="864" y="138"/>
                  </a:lnTo>
                  <a:lnTo>
                    <a:pt x="878" y="90"/>
                  </a:lnTo>
                  <a:lnTo>
                    <a:pt x="886" y="46"/>
                  </a:lnTo>
                  <a:lnTo>
                    <a:pt x="888" y="0"/>
                  </a:lnTo>
                  <a:lnTo>
                    <a:pt x="1046" y="0"/>
                  </a:lnTo>
                  <a:lnTo>
                    <a:pt x="1046" y="34"/>
                  </a:lnTo>
                  <a:lnTo>
                    <a:pt x="1042" y="66"/>
                  </a:lnTo>
                  <a:lnTo>
                    <a:pt x="1038" y="90"/>
                  </a:lnTo>
                  <a:lnTo>
                    <a:pt x="1032" y="120"/>
                  </a:lnTo>
                  <a:lnTo>
                    <a:pt x="1026" y="146"/>
                  </a:lnTo>
                  <a:lnTo>
                    <a:pt x="1018" y="174"/>
                  </a:lnTo>
                  <a:lnTo>
                    <a:pt x="1006" y="206"/>
                  </a:lnTo>
                  <a:lnTo>
                    <a:pt x="994" y="236"/>
                  </a:lnTo>
                  <a:lnTo>
                    <a:pt x="976" y="268"/>
                  </a:lnTo>
                  <a:lnTo>
                    <a:pt x="962" y="296"/>
                  </a:lnTo>
                  <a:lnTo>
                    <a:pt x="944" y="322"/>
                  </a:lnTo>
                  <a:lnTo>
                    <a:pt x="922" y="348"/>
                  </a:lnTo>
                  <a:lnTo>
                    <a:pt x="900" y="370"/>
                  </a:lnTo>
                  <a:lnTo>
                    <a:pt x="876" y="396"/>
                  </a:lnTo>
                  <a:lnTo>
                    <a:pt x="844" y="422"/>
                  </a:lnTo>
                  <a:lnTo>
                    <a:pt x="808" y="444"/>
                  </a:lnTo>
                  <a:lnTo>
                    <a:pt x="772" y="468"/>
                  </a:lnTo>
                  <a:lnTo>
                    <a:pt x="730" y="488"/>
                  </a:lnTo>
                  <a:lnTo>
                    <a:pt x="692" y="502"/>
                  </a:lnTo>
                  <a:lnTo>
                    <a:pt x="642" y="520"/>
                  </a:lnTo>
                  <a:lnTo>
                    <a:pt x="598" y="524"/>
                  </a:lnTo>
                  <a:lnTo>
                    <a:pt x="556" y="530"/>
                  </a:lnTo>
                  <a:lnTo>
                    <a:pt x="520" y="530"/>
                  </a:lnTo>
                  <a:lnTo>
                    <a:pt x="474" y="526"/>
                  </a:lnTo>
                  <a:lnTo>
                    <a:pt x="424" y="522"/>
                  </a:lnTo>
                  <a:lnTo>
                    <a:pt x="378" y="512"/>
                  </a:lnTo>
                  <a:lnTo>
                    <a:pt x="340" y="500"/>
                  </a:lnTo>
                  <a:lnTo>
                    <a:pt x="306" y="484"/>
                  </a:lnTo>
                  <a:lnTo>
                    <a:pt x="256" y="460"/>
                  </a:lnTo>
                  <a:lnTo>
                    <a:pt x="224" y="436"/>
                  </a:lnTo>
                  <a:lnTo>
                    <a:pt x="180" y="404"/>
                  </a:lnTo>
                  <a:lnTo>
                    <a:pt x="152" y="376"/>
                  </a:lnTo>
                  <a:lnTo>
                    <a:pt x="118" y="342"/>
                  </a:lnTo>
                  <a:lnTo>
                    <a:pt x="88" y="304"/>
                  </a:lnTo>
                  <a:lnTo>
                    <a:pt x="70" y="270"/>
                  </a:lnTo>
                  <a:lnTo>
                    <a:pt x="50" y="238"/>
                  </a:lnTo>
                  <a:lnTo>
                    <a:pt x="32" y="186"/>
                  </a:lnTo>
                  <a:lnTo>
                    <a:pt x="20" y="154"/>
                  </a:lnTo>
                  <a:lnTo>
                    <a:pt x="10" y="106"/>
                  </a:lnTo>
                  <a:lnTo>
                    <a:pt x="4" y="68"/>
                  </a:lnTo>
                  <a:lnTo>
                    <a:pt x="0" y="3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BE0E3">
                <a:alpha val="45097"/>
              </a:srgbClr>
            </a:solidFill>
            <a:ln w="9525">
              <a:solidFill>
                <a:srgbClr val="BBE0E3">
                  <a:alpha val="45097"/>
                </a:srgb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Freeform 482"/>
            <p:cNvSpPr/>
            <p:nvPr/>
          </p:nvSpPr>
          <p:spPr bwMode="auto">
            <a:xfrm>
              <a:off x="2892" y="332"/>
              <a:ext cx="1048" cy="314"/>
            </a:xfrm>
            <a:custGeom>
              <a:avLst/>
              <a:gdLst>
                <a:gd name="T0" fmla="*/ 160 w 1048"/>
                <a:gd name="T1" fmla="*/ 0 h 314"/>
                <a:gd name="T2" fmla="*/ 896 w 1048"/>
                <a:gd name="T3" fmla="*/ 0 h 314"/>
                <a:gd name="T4" fmla="*/ 940 w 1048"/>
                <a:gd name="T5" fmla="*/ 4 h 314"/>
                <a:gd name="T6" fmla="*/ 964 w 1048"/>
                <a:gd name="T7" fmla="*/ 20 h 314"/>
                <a:gd name="T8" fmla="*/ 990 w 1048"/>
                <a:gd name="T9" fmla="*/ 34 h 314"/>
                <a:gd name="T10" fmla="*/ 1006 w 1048"/>
                <a:gd name="T11" fmla="*/ 54 h 314"/>
                <a:gd name="T12" fmla="*/ 1026 w 1048"/>
                <a:gd name="T13" fmla="*/ 78 h 314"/>
                <a:gd name="T14" fmla="*/ 1042 w 1048"/>
                <a:gd name="T15" fmla="*/ 114 h 314"/>
                <a:gd name="T16" fmla="*/ 1048 w 1048"/>
                <a:gd name="T17" fmla="*/ 144 h 314"/>
                <a:gd name="T18" fmla="*/ 1048 w 1048"/>
                <a:gd name="T19" fmla="*/ 166 h 314"/>
                <a:gd name="T20" fmla="*/ 1042 w 1048"/>
                <a:gd name="T21" fmla="*/ 194 h 314"/>
                <a:gd name="T22" fmla="*/ 1030 w 1048"/>
                <a:gd name="T23" fmla="*/ 230 h 314"/>
                <a:gd name="T24" fmla="*/ 1018 w 1048"/>
                <a:gd name="T25" fmla="*/ 250 h 314"/>
                <a:gd name="T26" fmla="*/ 992 w 1048"/>
                <a:gd name="T27" fmla="*/ 280 h 314"/>
                <a:gd name="T28" fmla="*/ 964 w 1048"/>
                <a:gd name="T29" fmla="*/ 296 h 314"/>
                <a:gd name="T30" fmla="*/ 938 w 1048"/>
                <a:gd name="T31" fmla="*/ 306 h 314"/>
                <a:gd name="T32" fmla="*/ 900 w 1048"/>
                <a:gd name="T33" fmla="*/ 314 h 314"/>
                <a:gd name="T34" fmla="*/ 164 w 1048"/>
                <a:gd name="T35" fmla="*/ 314 h 314"/>
                <a:gd name="T36" fmla="*/ 126 w 1048"/>
                <a:gd name="T37" fmla="*/ 312 h 314"/>
                <a:gd name="T38" fmla="*/ 90 w 1048"/>
                <a:gd name="T39" fmla="*/ 300 h 314"/>
                <a:gd name="T40" fmla="*/ 66 w 1048"/>
                <a:gd name="T41" fmla="*/ 284 h 314"/>
                <a:gd name="T42" fmla="*/ 46 w 1048"/>
                <a:gd name="T43" fmla="*/ 264 h 314"/>
                <a:gd name="T44" fmla="*/ 28 w 1048"/>
                <a:gd name="T45" fmla="*/ 244 h 314"/>
                <a:gd name="T46" fmla="*/ 14 w 1048"/>
                <a:gd name="T47" fmla="*/ 216 h 314"/>
                <a:gd name="T48" fmla="*/ 8 w 1048"/>
                <a:gd name="T49" fmla="*/ 190 h 314"/>
                <a:gd name="T50" fmla="*/ 0 w 1048"/>
                <a:gd name="T51" fmla="*/ 156 h 314"/>
                <a:gd name="T52" fmla="*/ 4 w 1048"/>
                <a:gd name="T53" fmla="*/ 120 h 314"/>
                <a:gd name="T54" fmla="*/ 12 w 1048"/>
                <a:gd name="T55" fmla="*/ 86 h 314"/>
                <a:gd name="T56" fmla="*/ 34 w 1048"/>
                <a:gd name="T57" fmla="*/ 52 h 314"/>
                <a:gd name="T58" fmla="*/ 62 w 1048"/>
                <a:gd name="T59" fmla="*/ 30 h 314"/>
                <a:gd name="T60" fmla="*/ 84 w 1048"/>
                <a:gd name="T61" fmla="*/ 12 h 314"/>
                <a:gd name="T62" fmla="*/ 124 w 1048"/>
                <a:gd name="T63" fmla="*/ 0 h 314"/>
                <a:gd name="T64" fmla="*/ 160 w 1048"/>
                <a:gd name="T65" fmla="*/ 0 h 31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48" h="314">
                  <a:moveTo>
                    <a:pt x="160" y="0"/>
                  </a:moveTo>
                  <a:lnTo>
                    <a:pt x="896" y="0"/>
                  </a:lnTo>
                  <a:lnTo>
                    <a:pt x="940" y="4"/>
                  </a:lnTo>
                  <a:lnTo>
                    <a:pt x="964" y="20"/>
                  </a:lnTo>
                  <a:lnTo>
                    <a:pt x="990" y="34"/>
                  </a:lnTo>
                  <a:lnTo>
                    <a:pt x="1006" y="54"/>
                  </a:lnTo>
                  <a:lnTo>
                    <a:pt x="1026" y="78"/>
                  </a:lnTo>
                  <a:lnTo>
                    <a:pt x="1042" y="114"/>
                  </a:lnTo>
                  <a:lnTo>
                    <a:pt x="1048" y="144"/>
                  </a:lnTo>
                  <a:lnTo>
                    <a:pt x="1048" y="166"/>
                  </a:lnTo>
                  <a:lnTo>
                    <a:pt x="1042" y="194"/>
                  </a:lnTo>
                  <a:lnTo>
                    <a:pt x="1030" y="230"/>
                  </a:lnTo>
                  <a:lnTo>
                    <a:pt x="1018" y="250"/>
                  </a:lnTo>
                  <a:lnTo>
                    <a:pt x="992" y="280"/>
                  </a:lnTo>
                  <a:lnTo>
                    <a:pt x="964" y="296"/>
                  </a:lnTo>
                  <a:lnTo>
                    <a:pt x="938" y="306"/>
                  </a:lnTo>
                  <a:lnTo>
                    <a:pt x="900" y="314"/>
                  </a:lnTo>
                  <a:lnTo>
                    <a:pt x="164" y="314"/>
                  </a:lnTo>
                  <a:lnTo>
                    <a:pt x="126" y="312"/>
                  </a:lnTo>
                  <a:lnTo>
                    <a:pt x="90" y="300"/>
                  </a:lnTo>
                  <a:lnTo>
                    <a:pt x="66" y="284"/>
                  </a:lnTo>
                  <a:lnTo>
                    <a:pt x="46" y="264"/>
                  </a:lnTo>
                  <a:lnTo>
                    <a:pt x="28" y="244"/>
                  </a:lnTo>
                  <a:lnTo>
                    <a:pt x="14" y="216"/>
                  </a:lnTo>
                  <a:lnTo>
                    <a:pt x="8" y="190"/>
                  </a:lnTo>
                  <a:lnTo>
                    <a:pt x="0" y="156"/>
                  </a:lnTo>
                  <a:lnTo>
                    <a:pt x="4" y="120"/>
                  </a:lnTo>
                  <a:lnTo>
                    <a:pt x="12" y="86"/>
                  </a:lnTo>
                  <a:lnTo>
                    <a:pt x="34" y="52"/>
                  </a:lnTo>
                  <a:lnTo>
                    <a:pt x="62" y="30"/>
                  </a:lnTo>
                  <a:lnTo>
                    <a:pt x="84" y="12"/>
                  </a:lnTo>
                  <a:lnTo>
                    <a:pt x="124" y="0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BBE0E3">
                <a:alpha val="45097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3" name="Group 488"/>
          <p:cNvGrpSpPr/>
          <p:nvPr/>
        </p:nvGrpSpPr>
        <p:grpSpPr bwMode="auto">
          <a:xfrm>
            <a:off x="4201803" y="1145419"/>
            <a:ext cx="3851275" cy="2389187"/>
            <a:chOff x="2889" y="334"/>
            <a:chExt cx="2426" cy="1505"/>
          </a:xfrm>
        </p:grpSpPr>
        <p:sp>
          <p:nvSpPr>
            <p:cNvPr id="204" name="Freeform 486"/>
            <p:cNvSpPr/>
            <p:nvPr/>
          </p:nvSpPr>
          <p:spPr bwMode="auto">
            <a:xfrm rot="5400000" flipH="1">
              <a:off x="2631" y="1051"/>
              <a:ext cx="1046" cy="530"/>
            </a:xfrm>
            <a:custGeom>
              <a:avLst/>
              <a:gdLst>
                <a:gd name="T0" fmla="*/ 158 w 1046"/>
                <a:gd name="T1" fmla="*/ 2 h 530"/>
                <a:gd name="T2" fmla="*/ 168 w 1046"/>
                <a:gd name="T3" fmla="*/ 84 h 530"/>
                <a:gd name="T4" fmla="*/ 198 w 1046"/>
                <a:gd name="T5" fmla="*/ 168 h 530"/>
                <a:gd name="T6" fmla="*/ 260 w 1046"/>
                <a:gd name="T7" fmla="*/ 256 h 530"/>
                <a:gd name="T8" fmla="*/ 360 w 1046"/>
                <a:gd name="T9" fmla="*/ 328 h 530"/>
                <a:gd name="T10" fmla="*/ 490 w 1046"/>
                <a:gd name="T11" fmla="*/ 366 h 530"/>
                <a:gd name="T12" fmla="*/ 630 w 1046"/>
                <a:gd name="T13" fmla="*/ 350 h 530"/>
                <a:gd name="T14" fmla="*/ 742 w 1046"/>
                <a:gd name="T15" fmla="*/ 290 h 530"/>
                <a:gd name="T16" fmla="*/ 816 w 1046"/>
                <a:gd name="T17" fmla="*/ 218 h 530"/>
                <a:gd name="T18" fmla="*/ 864 w 1046"/>
                <a:gd name="T19" fmla="*/ 138 h 530"/>
                <a:gd name="T20" fmla="*/ 886 w 1046"/>
                <a:gd name="T21" fmla="*/ 46 h 530"/>
                <a:gd name="T22" fmla="*/ 1046 w 1046"/>
                <a:gd name="T23" fmla="*/ 0 h 530"/>
                <a:gd name="T24" fmla="*/ 1042 w 1046"/>
                <a:gd name="T25" fmla="*/ 66 h 530"/>
                <a:gd name="T26" fmla="*/ 1032 w 1046"/>
                <a:gd name="T27" fmla="*/ 120 h 530"/>
                <a:gd name="T28" fmla="*/ 1018 w 1046"/>
                <a:gd name="T29" fmla="*/ 174 h 530"/>
                <a:gd name="T30" fmla="*/ 994 w 1046"/>
                <a:gd name="T31" fmla="*/ 236 h 530"/>
                <a:gd name="T32" fmla="*/ 962 w 1046"/>
                <a:gd name="T33" fmla="*/ 296 h 530"/>
                <a:gd name="T34" fmla="*/ 922 w 1046"/>
                <a:gd name="T35" fmla="*/ 348 h 530"/>
                <a:gd name="T36" fmla="*/ 876 w 1046"/>
                <a:gd name="T37" fmla="*/ 396 h 530"/>
                <a:gd name="T38" fmla="*/ 808 w 1046"/>
                <a:gd name="T39" fmla="*/ 444 h 530"/>
                <a:gd name="T40" fmla="*/ 730 w 1046"/>
                <a:gd name="T41" fmla="*/ 488 h 530"/>
                <a:gd name="T42" fmla="*/ 642 w 1046"/>
                <a:gd name="T43" fmla="*/ 520 h 530"/>
                <a:gd name="T44" fmla="*/ 556 w 1046"/>
                <a:gd name="T45" fmla="*/ 530 h 530"/>
                <a:gd name="T46" fmla="*/ 474 w 1046"/>
                <a:gd name="T47" fmla="*/ 526 h 530"/>
                <a:gd name="T48" fmla="*/ 378 w 1046"/>
                <a:gd name="T49" fmla="*/ 512 h 530"/>
                <a:gd name="T50" fmla="*/ 306 w 1046"/>
                <a:gd name="T51" fmla="*/ 484 h 530"/>
                <a:gd name="T52" fmla="*/ 224 w 1046"/>
                <a:gd name="T53" fmla="*/ 436 h 530"/>
                <a:gd name="T54" fmla="*/ 152 w 1046"/>
                <a:gd name="T55" fmla="*/ 376 h 530"/>
                <a:gd name="T56" fmla="*/ 88 w 1046"/>
                <a:gd name="T57" fmla="*/ 304 h 530"/>
                <a:gd name="T58" fmla="*/ 50 w 1046"/>
                <a:gd name="T59" fmla="*/ 238 h 530"/>
                <a:gd name="T60" fmla="*/ 20 w 1046"/>
                <a:gd name="T61" fmla="*/ 154 h 530"/>
                <a:gd name="T62" fmla="*/ 4 w 1046"/>
                <a:gd name="T63" fmla="*/ 68 h 530"/>
                <a:gd name="T64" fmla="*/ 0 w 1046"/>
                <a:gd name="T65" fmla="*/ 2 h 5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46" h="530">
                  <a:moveTo>
                    <a:pt x="0" y="2"/>
                  </a:moveTo>
                  <a:lnTo>
                    <a:pt x="158" y="2"/>
                  </a:lnTo>
                  <a:lnTo>
                    <a:pt x="162" y="42"/>
                  </a:lnTo>
                  <a:lnTo>
                    <a:pt x="168" y="84"/>
                  </a:lnTo>
                  <a:lnTo>
                    <a:pt x="182" y="132"/>
                  </a:lnTo>
                  <a:lnTo>
                    <a:pt x="198" y="168"/>
                  </a:lnTo>
                  <a:lnTo>
                    <a:pt x="226" y="216"/>
                  </a:lnTo>
                  <a:lnTo>
                    <a:pt x="260" y="256"/>
                  </a:lnTo>
                  <a:lnTo>
                    <a:pt x="304" y="294"/>
                  </a:lnTo>
                  <a:lnTo>
                    <a:pt x="360" y="328"/>
                  </a:lnTo>
                  <a:lnTo>
                    <a:pt x="430" y="354"/>
                  </a:lnTo>
                  <a:lnTo>
                    <a:pt x="490" y="366"/>
                  </a:lnTo>
                  <a:lnTo>
                    <a:pt x="562" y="362"/>
                  </a:lnTo>
                  <a:lnTo>
                    <a:pt x="630" y="350"/>
                  </a:lnTo>
                  <a:lnTo>
                    <a:pt x="690" y="324"/>
                  </a:lnTo>
                  <a:lnTo>
                    <a:pt x="742" y="290"/>
                  </a:lnTo>
                  <a:lnTo>
                    <a:pt x="776" y="262"/>
                  </a:lnTo>
                  <a:lnTo>
                    <a:pt x="816" y="218"/>
                  </a:lnTo>
                  <a:lnTo>
                    <a:pt x="840" y="178"/>
                  </a:lnTo>
                  <a:lnTo>
                    <a:pt x="864" y="138"/>
                  </a:lnTo>
                  <a:lnTo>
                    <a:pt x="878" y="90"/>
                  </a:lnTo>
                  <a:lnTo>
                    <a:pt x="886" y="46"/>
                  </a:lnTo>
                  <a:lnTo>
                    <a:pt x="888" y="0"/>
                  </a:lnTo>
                  <a:lnTo>
                    <a:pt x="1046" y="0"/>
                  </a:lnTo>
                  <a:lnTo>
                    <a:pt x="1046" y="34"/>
                  </a:lnTo>
                  <a:lnTo>
                    <a:pt x="1042" y="66"/>
                  </a:lnTo>
                  <a:lnTo>
                    <a:pt x="1038" y="90"/>
                  </a:lnTo>
                  <a:lnTo>
                    <a:pt x="1032" y="120"/>
                  </a:lnTo>
                  <a:lnTo>
                    <a:pt x="1026" y="146"/>
                  </a:lnTo>
                  <a:lnTo>
                    <a:pt x="1018" y="174"/>
                  </a:lnTo>
                  <a:lnTo>
                    <a:pt x="1006" y="206"/>
                  </a:lnTo>
                  <a:lnTo>
                    <a:pt x="994" y="236"/>
                  </a:lnTo>
                  <a:lnTo>
                    <a:pt x="976" y="268"/>
                  </a:lnTo>
                  <a:lnTo>
                    <a:pt x="962" y="296"/>
                  </a:lnTo>
                  <a:lnTo>
                    <a:pt x="944" y="322"/>
                  </a:lnTo>
                  <a:lnTo>
                    <a:pt x="922" y="348"/>
                  </a:lnTo>
                  <a:lnTo>
                    <a:pt x="900" y="370"/>
                  </a:lnTo>
                  <a:lnTo>
                    <a:pt x="876" y="396"/>
                  </a:lnTo>
                  <a:lnTo>
                    <a:pt x="844" y="422"/>
                  </a:lnTo>
                  <a:lnTo>
                    <a:pt x="808" y="444"/>
                  </a:lnTo>
                  <a:lnTo>
                    <a:pt x="772" y="468"/>
                  </a:lnTo>
                  <a:lnTo>
                    <a:pt x="730" y="488"/>
                  </a:lnTo>
                  <a:lnTo>
                    <a:pt x="692" y="502"/>
                  </a:lnTo>
                  <a:lnTo>
                    <a:pt x="642" y="520"/>
                  </a:lnTo>
                  <a:lnTo>
                    <a:pt x="598" y="524"/>
                  </a:lnTo>
                  <a:lnTo>
                    <a:pt x="556" y="530"/>
                  </a:lnTo>
                  <a:lnTo>
                    <a:pt x="520" y="530"/>
                  </a:lnTo>
                  <a:lnTo>
                    <a:pt x="474" y="526"/>
                  </a:lnTo>
                  <a:lnTo>
                    <a:pt x="424" y="522"/>
                  </a:lnTo>
                  <a:lnTo>
                    <a:pt x="378" y="512"/>
                  </a:lnTo>
                  <a:lnTo>
                    <a:pt x="340" y="500"/>
                  </a:lnTo>
                  <a:lnTo>
                    <a:pt x="306" y="484"/>
                  </a:lnTo>
                  <a:lnTo>
                    <a:pt x="256" y="460"/>
                  </a:lnTo>
                  <a:lnTo>
                    <a:pt x="224" y="436"/>
                  </a:lnTo>
                  <a:lnTo>
                    <a:pt x="180" y="404"/>
                  </a:lnTo>
                  <a:lnTo>
                    <a:pt x="152" y="376"/>
                  </a:lnTo>
                  <a:lnTo>
                    <a:pt x="118" y="342"/>
                  </a:lnTo>
                  <a:lnTo>
                    <a:pt x="88" y="304"/>
                  </a:lnTo>
                  <a:lnTo>
                    <a:pt x="70" y="270"/>
                  </a:lnTo>
                  <a:lnTo>
                    <a:pt x="50" y="238"/>
                  </a:lnTo>
                  <a:lnTo>
                    <a:pt x="32" y="186"/>
                  </a:lnTo>
                  <a:lnTo>
                    <a:pt x="20" y="154"/>
                  </a:lnTo>
                  <a:lnTo>
                    <a:pt x="10" y="106"/>
                  </a:lnTo>
                  <a:lnTo>
                    <a:pt x="4" y="68"/>
                  </a:lnTo>
                  <a:lnTo>
                    <a:pt x="0" y="3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folHlink">
                <a:alpha val="45097"/>
              </a:schemeClr>
            </a:solidFill>
            <a:ln w="9525">
              <a:solidFill>
                <a:srgbClr val="99CC00">
                  <a:alpha val="45097"/>
                </a:srgb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Freeform 487"/>
            <p:cNvSpPr/>
            <p:nvPr/>
          </p:nvSpPr>
          <p:spPr bwMode="auto">
            <a:xfrm>
              <a:off x="4267" y="334"/>
              <a:ext cx="1048" cy="314"/>
            </a:xfrm>
            <a:custGeom>
              <a:avLst/>
              <a:gdLst>
                <a:gd name="T0" fmla="*/ 160 w 1048"/>
                <a:gd name="T1" fmla="*/ 0 h 314"/>
                <a:gd name="T2" fmla="*/ 896 w 1048"/>
                <a:gd name="T3" fmla="*/ 0 h 314"/>
                <a:gd name="T4" fmla="*/ 940 w 1048"/>
                <a:gd name="T5" fmla="*/ 4 h 314"/>
                <a:gd name="T6" fmla="*/ 964 w 1048"/>
                <a:gd name="T7" fmla="*/ 20 h 314"/>
                <a:gd name="T8" fmla="*/ 990 w 1048"/>
                <a:gd name="T9" fmla="*/ 34 h 314"/>
                <a:gd name="T10" fmla="*/ 1006 w 1048"/>
                <a:gd name="T11" fmla="*/ 54 h 314"/>
                <a:gd name="T12" fmla="*/ 1026 w 1048"/>
                <a:gd name="T13" fmla="*/ 78 h 314"/>
                <a:gd name="T14" fmla="*/ 1042 w 1048"/>
                <a:gd name="T15" fmla="*/ 114 h 314"/>
                <a:gd name="T16" fmla="*/ 1048 w 1048"/>
                <a:gd name="T17" fmla="*/ 144 h 314"/>
                <a:gd name="T18" fmla="*/ 1048 w 1048"/>
                <a:gd name="T19" fmla="*/ 166 h 314"/>
                <a:gd name="T20" fmla="*/ 1042 w 1048"/>
                <a:gd name="T21" fmla="*/ 194 h 314"/>
                <a:gd name="T22" fmla="*/ 1030 w 1048"/>
                <a:gd name="T23" fmla="*/ 230 h 314"/>
                <a:gd name="T24" fmla="*/ 1018 w 1048"/>
                <a:gd name="T25" fmla="*/ 250 h 314"/>
                <a:gd name="T26" fmla="*/ 992 w 1048"/>
                <a:gd name="T27" fmla="*/ 280 h 314"/>
                <a:gd name="T28" fmla="*/ 964 w 1048"/>
                <a:gd name="T29" fmla="*/ 296 h 314"/>
                <a:gd name="T30" fmla="*/ 938 w 1048"/>
                <a:gd name="T31" fmla="*/ 306 h 314"/>
                <a:gd name="T32" fmla="*/ 900 w 1048"/>
                <a:gd name="T33" fmla="*/ 314 h 314"/>
                <a:gd name="T34" fmla="*/ 164 w 1048"/>
                <a:gd name="T35" fmla="*/ 314 h 314"/>
                <a:gd name="T36" fmla="*/ 126 w 1048"/>
                <a:gd name="T37" fmla="*/ 312 h 314"/>
                <a:gd name="T38" fmla="*/ 90 w 1048"/>
                <a:gd name="T39" fmla="*/ 300 h 314"/>
                <a:gd name="T40" fmla="*/ 66 w 1048"/>
                <a:gd name="T41" fmla="*/ 284 h 314"/>
                <a:gd name="T42" fmla="*/ 46 w 1048"/>
                <a:gd name="T43" fmla="*/ 264 h 314"/>
                <a:gd name="T44" fmla="*/ 28 w 1048"/>
                <a:gd name="T45" fmla="*/ 244 h 314"/>
                <a:gd name="T46" fmla="*/ 14 w 1048"/>
                <a:gd name="T47" fmla="*/ 216 h 314"/>
                <a:gd name="T48" fmla="*/ 8 w 1048"/>
                <a:gd name="T49" fmla="*/ 190 h 314"/>
                <a:gd name="T50" fmla="*/ 0 w 1048"/>
                <a:gd name="T51" fmla="*/ 156 h 314"/>
                <a:gd name="T52" fmla="*/ 4 w 1048"/>
                <a:gd name="T53" fmla="*/ 120 h 314"/>
                <a:gd name="T54" fmla="*/ 12 w 1048"/>
                <a:gd name="T55" fmla="*/ 86 h 314"/>
                <a:gd name="T56" fmla="*/ 34 w 1048"/>
                <a:gd name="T57" fmla="*/ 52 h 314"/>
                <a:gd name="T58" fmla="*/ 62 w 1048"/>
                <a:gd name="T59" fmla="*/ 30 h 314"/>
                <a:gd name="T60" fmla="*/ 84 w 1048"/>
                <a:gd name="T61" fmla="*/ 12 h 314"/>
                <a:gd name="T62" fmla="*/ 124 w 1048"/>
                <a:gd name="T63" fmla="*/ 0 h 314"/>
                <a:gd name="T64" fmla="*/ 160 w 1048"/>
                <a:gd name="T65" fmla="*/ 0 h 31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48" h="314">
                  <a:moveTo>
                    <a:pt x="160" y="0"/>
                  </a:moveTo>
                  <a:lnTo>
                    <a:pt x="896" y="0"/>
                  </a:lnTo>
                  <a:lnTo>
                    <a:pt x="940" y="4"/>
                  </a:lnTo>
                  <a:lnTo>
                    <a:pt x="964" y="20"/>
                  </a:lnTo>
                  <a:lnTo>
                    <a:pt x="990" y="34"/>
                  </a:lnTo>
                  <a:lnTo>
                    <a:pt x="1006" y="54"/>
                  </a:lnTo>
                  <a:lnTo>
                    <a:pt x="1026" y="78"/>
                  </a:lnTo>
                  <a:lnTo>
                    <a:pt x="1042" y="114"/>
                  </a:lnTo>
                  <a:lnTo>
                    <a:pt x="1048" y="144"/>
                  </a:lnTo>
                  <a:lnTo>
                    <a:pt x="1048" y="166"/>
                  </a:lnTo>
                  <a:lnTo>
                    <a:pt x="1042" y="194"/>
                  </a:lnTo>
                  <a:lnTo>
                    <a:pt x="1030" y="230"/>
                  </a:lnTo>
                  <a:lnTo>
                    <a:pt x="1018" y="250"/>
                  </a:lnTo>
                  <a:lnTo>
                    <a:pt x="992" y="280"/>
                  </a:lnTo>
                  <a:lnTo>
                    <a:pt x="964" y="296"/>
                  </a:lnTo>
                  <a:lnTo>
                    <a:pt x="938" y="306"/>
                  </a:lnTo>
                  <a:lnTo>
                    <a:pt x="900" y="314"/>
                  </a:lnTo>
                  <a:lnTo>
                    <a:pt x="164" y="314"/>
                  </a:lnTo>
                  <a:lnTo>
                    <a:pt x="126" y="312"/>
                  </a:lnTo>
                  <a:lnTo>
                    <a:pt x="90" y="300"/>
                  </a:lnTo>
                  <a:lnTo>
                    <a:pt x="66" y="284"/>
                  </a:lnTo>
                  <a:lnTo>
                    <a:pt x="46" y="264"/>
                  </a:lnTo>
                  <a:lnTo>
                    <a:pt x="28" y="244"/>
                  </a:lnTo>
                  <a:lnTo>
                    <a:pt x="14" y="216"/>
                  </a:lnTo>
                  <a:lnTo>
                    <a:pt x="8" y="190"/>
                  </a:lnTo>
                  <a:lnTo>
                    <a:pt x="0" y="156"/>
                  </a:lnTo>
                  <a:lnTo>
                    <a:pt x="4" y="120"/>
                  </a:lnTo>
                  <a:lnTo>
                    <a:pt x="12" y="86"/>
                  </a:lnTo>
                  <a:lnTo>
                    <a:pt x="34" y="52"/>
                  </a:lnTo>
                  <a:lnTo>
                    <a:pt x="62" y="30"/>
                  </a:lnTo>
                  <a:lnTo>
                    <a:pt x="84" y="12"/>
                  </a:lnTo>
                  <a:lnTo>
                    <a:pt x="124" y="0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folHlink">
                <a:alpha val="45097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" name="Group 501"/>
          <p:cNvGrpSpPr/>
          <p:nvPr/>
        </p:nvGrpSpPr>
        <p:grpSpPr bwMode="auto">
          <a:xfrm>
            <a:off x="6875154" y="5397574"/>
            <a:ext cx="1374775" cy="954088"/>
            <a:chOff x="1450" y="2005"/>
            <a:chExt cx="866" cy="601"/>
          </a:xfrm>
        </p:grpSpPr>
        <p:sp>
          <p:nvSpPr>
            <p:cNvPr id="207" name="Text Box 489"/>
            <p:cNvSpPr txBox="1">
              <a:spLocks noChangeArrowheads="1"/>
            </p:cNvSpPr>
            <p:nvPr/>
          </p:nvSpPr>
          <p:spPr bwMode="auto">
            <a:xfrm>
              <a:off x="1468" y="2199"/>
              <a:ext cx="84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母线圆圆心轨迹圆投影</a:t>
              </a:r>
              <a:endParaRPr lang="zh-CN" altLang="en-US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490"/>
            <p:cNvSpPr>
              <a:spLocks noChangeShapeType="1"/>
            </p:cNvSpPr>
            <p:nvPr/>
          </p:nvSpPr>
          <p:spPr bwMode="auto">
            <a:xfrm>
              <a:off x="1450" y="2005"/>
              <a:ext cx="236" cy="22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9" name="Group 497"/>
          <p:cNvGrpSpPr/>
          <p:nvPr/>
        </p:nvGrpSpPr>
        <p:grpSpPr bwMode="auto">
          <a:xfrm>
            <a:off x="6079817" y="2300362"/>
            <a:ext cx="1928812" cy="1533525"/>
            <a:chOff x="937" y="61"/>
            <a:chExt cx="1215" cy="966"/>
          </a:xfrm>
        </p:grpSpPr>
        <p:sp>
          <p:nvSpPr>
            <p:cNvPr id="210" name="Text Box 493"/>
            <p:cNvSpPr txBox="1">
              <a:spLocks noChangeArrowheads="1"/>
            </p:cNvSpPr>
            <p:nvPr/>
          </p:nvSpPr>
          <p:spPr bwMode="auto">
            <a:xfrm>
              <a:off x="1163" y="61"/>
              <a:ext cx="98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母线圆最高点轨迹圆投影</a:t>
              </a:r>
              <a:endParaRPr lang="zh-CN" altLang="en-US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Line 494"/>
            <p:cNvSpPr>
              <a:spLocks noChangeShapeType="1"/>
            </p:cNvSpPr>
            <p:nvPr/>
          </p:nvSpPr>
          <p:spPr bwMode="auto">
            <a:xfrm>
              <a:off x="1584" y="496"/>
              <a:ext cx="118" cy="51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495"/>
            <p:cNvSpPr>
              <a:spLocks noChangeShapeType="1"/>
            </p:cNvSpPr>
            <p:nvPr/>
          </p:nvSpPr>
          <p:spPr bwMode="auto">
            <a:xfrm flipH="1">
              <a:off x="937" y="493"/>
              <a:ext cx="645" cy="53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3" name="Group 500"/>
          <p:cNvGrpSpPr/>
          <p:nvPr/>
        </p:nvGrpSpPr>
        <p:grpSpPr bwMode="auto">
          <a:xfrm>
            <a:off x="4500254" y="4076774"/>
            <a:ext cx="2790825" cy="2212975"/>
            <a:chOff x="-58" y="1180"/>
            <a:chExt cx="1758" cy="1394"/>
          </a:xfrm>
        </p:grpSpPr>
        <p:sp>
          <p:nvSpPr>
            <p:cNvPr id="214" name="Text Box 496"/>
            <p:cNvSpPr txBox="1">
              <a:spLocks noChangeArrowheads="1"/>
            </p:cNvSpPr>
            <p:nvPr/>
          </p:nvSpPr>
          <p:spPr bwMode="auto">
            <a:xfrm>
              <a:off x="-58" y="2167"/>
              <a:ext cx="105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母线圆最低点轨迹圆投影</a:t>
              </a:r>
              <a:endParaRPr lang="zh-CN" altLang="en-US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498"/>
            <p:cNvSpPr>
              <a:spLocks noChangeShapeType="1"/>
            </p:cNvSpPr>
            <p:nvPr/>
          </p:nvSpPr>
          <p:spPr bwMode="auto">
            <a:xfrm flipV="1">
              <a:off x="507" y="1242"/>
              <a:ext cx="360" cy="90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499"/>
            <p:cNvSpPr>
              <a:spLocks noChangeShapeType="1"/>
            </p:cNvSpPr>
            <p:nvPr/>
          </p:nvSpPr>
          <p:spPr bwMode="auto">
            <a:xfrm flipV="1">
              <a:off x="507" y="1180"/>
              <a:ext cx="1193" cy="96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7" name="Group 508"/>
          <p:cNvGrpSpPr/>
          <p:nvPr/>
        </p:nvGrpSpPr>
        <p:grpSpPr bwMode="auto">
          <a:xfrm>
            <a:off x="7119629" y="4197424"/>
            <a:ext cx="1811338" cy="869949"/>
            <a:chOff x="1592" y="1256"/>
            <a:chExt cx="1141" cy="548"/>
          </a:xfrm>
        </p:grpSpPr>
        <p:sp>
          <p:nvSpPr>
            <p:cNvPr id="218" name="Text Box 503"/>
            <p:cNvSpPr txBox="1">
              <a:spLocks noChangeArrowheads="1"/>
            </p:cNvSpPr>
            <p:nvPr/>
          </p:nvSpPr>
          <p:spPr bwMode="auto">
            <a:xfrm>
              <a:off x="2164" y="1256"/>
              <a:ext cx="56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赤道圆投影</a:t>
              </a:r>
              <a:endParaRPr lang="zh-CN" altLang="en-US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504"/>
            <p:cNvSpPr>
              <a:spLocks noChangeShapeType="1"/>
            </p:cNvSpPr>
            <p:nvPr/>
          </p:nvSpPr>
          <p:spPr bwMode="auto">
            <a:xfrm flipH="1">
              <a:off x="1592" y="1471"/>
              <a:ext cx="604" cy="3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0" name="Group 507"/>
          <p:cNvGrpSpPr/>
          <p:nvPr/>
        </p:nvGrpSpPr>
        <p:grpSpPr bwMode="auto">
          <a:xfrm>
            <a:off x="6879917" y="5202312"/>
            <a:ext cx="2039937" cy="474662"/>
            <a:chOff x="1423" y="1889"/>
            <a:chExt cx="1285" cy="299"/>
          </a:xfrm>
        </p:grpSpPr>
        <p:sp>
          <p:nvSpPr>
            <p:cNvPr id="221" name="Text Box 502"/>
            <p:cNvSpPr txBox="1">
              <a:spLocks noChangeArrowheads="1"/>
            </p:cNvSpPr>
            <p:nvPr/>
          </p:nvSpPr>
          <p:spPr bwMode="auto">
            <a:xfrm>
              <a:off x="1962" y="1955"/>
              <a:ext cx="74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喉圆投影</a:t>
              </a:r>
              <a:endParaRPr lang="zh-CN" altLang="en-US" sz="18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506"/>
            <p:cNvSpPr>
              <a:spLocks noChangeShapeType="1"/>
            </p:cNvSpPr>
            <p:nvPr/>
          </p:nvSpPr>
          <p:spPr bwMode="auto">
            <a:xfrm flipH="1" flipV="1">
              <a:off x="1423" y="1889"/>
              <a:ext cx="555" cy="179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3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圆环的三视图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225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1" grpId="0" animBg="1"/>
      <p:bldP spid="19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基本体的三视图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2"/>
          <p:cNvGrpSpPr/>
          <p:nvPr/>
        </p:nvGrpSpPr>
        <p:grpSpPr bwMode="auto">
          <a:xfrm>
            <a:off x="3652912" y="2148228"/>
            <a:ext cx="5110163" cy="3946525"/>
            <a:chOff x="1325" y="1278"/>
            <a:chExt cx="3219" cy="2486"/>
          </a:xfrm>
        </p:grpSpPr>
        <p:grpSp>
          <p:nvGrpSpPr>
            <p:cNvPr id="6" name="Group 5"/>
            <p:cNvGrpSpPr/>
            <p:nvPr/>
          </p:nvGrpSpPr>
          <p:grpSpPr bwMode="auto">
            <a:xfrm>
              <a:off x="1325" y="2264"/>
              <a:ext cx="1500" cy="1500"/>
              <a:chOff x="2534" y="2078"/>
              <a:chExt cx="1500" cy="1500"/>
            </a:xfrm>
          </p:grpSpPr>
          <p:sp>
            <p:nvSpPr>
              <p:cNvPr id="24" name="Oval 6"/>
              <p:cNvSpPr>
                <a:spLocks noChangeArrowheads="1"/>
              </p:cNvSpPr>
              <p:nvPr/>
            </p:nvSpPr>
            <p:spPr bwMode="auto">
              <a:xfrm>
                <a:off x="2534" y="2078"/>
                <a:ext cx="1500" cy="15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Oval 8"/>
              <p:cNvSpPr>
                <a:spLocks noChangeArrowheads="1"/>
              </p:cNvSpPr>
              <p:nvPr/>
            </p:nvSpPr>
            <p:spPr bwMode="auto">
              <a:xfrm>
                <a:off x="3021" y="2554"/>
                <a:ext cx="545" cy="5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</p:grpSp>
        <p:grpSp>
          <p:nvGrpSpPr>
            <p:cNvPr id="7" name="Group 9"/>
            <p:cNvGrpSpPr/>
            <p:nvPr/>
          </p:nvGrpSpPr>
          <p:grpSpPr bwMode="auto">
            <a:xfrm>
              <a:off x="1341" y="1278"/>
              <a:ext cx="1481" cy="540"/>
              <a:chOff x="2363" y="1092"/>
              <a:chExt cx="1481" cy="540"/>
            </a:xfrm>
          </p:grpSpPr>
          <p:sp>
            <p:nvSpPr>
              <p:cNvPr id="17" name="Oval 10"/>
              <p:cNvSpPr>
                <a:spLocks noChangeArrowheads="1"/>
              </p:cNvSpPr>
              <p:nvPr/>
            </p:nvSpPr>
            <p:spPr bwMode="auto">
              <a:xfrm>
                <a:off x="3367" y="1133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8" name="Oval 11"/>
              <p:cNvSpPr>
                <a:spLocks noChangeArrowheads="1"/>
              </p:cNvSpPr>
              <p:nvPr/>
            </p:nvSpPr>
            <p:spPr bwMode="auto">
              <a:xfrm>
                <a:off x="2363" y="1130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" name="Rectangle 14"/>
              <p:cNvSpPr>
                <a:spLocks noChangeArrowheads="1"/>
              </p:cNvSpPr>
              <p:nvPr/>
            </p:nvSpPr>
            <p:spPr bwMode="auto">
              <a:xfrm>
                <a:off x="2603" y="1092"/>
                <a:ext cx="1002" cy="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" name="Line 15"/>
              <p:cNvSpPr>
                <a:spLocks noChangeShapeType="1"/>
              </p:cNvSpPr>
              <p:nvPr/>
            </p:nvSpPr>
            <p:spPr bwMode="auto">
              <a:xfrm>
                <a:off x="2577" y="1131"/>
                <a:ext cx="10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2591" y="1611"/>
                <a:ext cx="10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22" name="Arc 20"/>
              <p:cNvSpPr/>
              <p:nvPr/>
            </p:nvSpPr>
            <p:spPr bwMode="auto">
              <a:xfrm flipV="1">
                <a:off x="2591" y="1125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23" name="Arc 21"/>
              <p:cNvSpPr/>
              <p:nvPr/>
            </p:nvSpPr>
            <p:spPr bwMode="auto">
              <a:xfrm flipH="1" flipV="1">
                <a:off x="3368" y="1128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grpSp>
          <p:nvGrpSpPr>
            <p:cNvPr id="8" name="Group 22"/>
            <p:cNvGrpSpPr/>
            <p:nvPr/>
          </p:nvGrpSpPr>
          <p:grpSpPr bwMode="auto">
            <a:xfrm>
              <a:off x="3063" y="1278"/>
              <a:ext cx="1481" cy="540"/>
              <a:chOff x="4085" y="1092"/>
              <a:chExt cx="1481" cy="540"/>
            </a:xfrm>
          </p:grpSpPr>
          <p:sp>
            <p:nvSpPr>
              <p:cNvPr id="9" name="Oval 23"/>
              <p:cNvSpPr>
                <a:spLocks noChangeArrowheads="1"/>
              </p:cNvSpPr>
              <p:nvPr/>
            </p:nvSpPr>
            <p:spPr bwMode="auto">
              <a:xfrm>
                <a:off x="5089" y="1133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0" name="Oval 24"/>
              <p:cNvSpPr>
                <a:spLocks noChangeArrowheads="1"/>
              </p:cNvSpPr>
              <p:nvPr/>
            </p:nvSpPr>
            <p:spPr bwMode="auto">
              <a:xfrm>
                <a:off x="4085" y="1130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2" name="Rectangle 27"/>
              <p:cNvSpPr>
                <a:spLocks noChangeArrowheads="1"/>
              </p:cNvSpPr>
              <p:nvPr/>
            </p:nvSpPr>
            <p:spPr bwMode="auto">
              <a:xfrm>
                <a:off x="4325" y="1092"/>
                <a:ext cx="1002" cy="5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3" name="Line 28"/>
              <p:cNvSpPr>
                <a:spLocks noChangeShapeType="1"/>
              </p:cNvSpPr>
              <p:nvPr/>
            </p:nvSpPr>
            <p:spPr bwMode="auto">
              <a:xfrm>
                <a:off x="4299" y="1131"/>
                <a:ext cx="10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14" name="Line 29"/>
              <p:cNvSpPr>
                <a:spLocks noChangeShapeType="1"/>
              </p:cNvSpPr>
              <p:nvPr/>
            </p:nvSpPr>
            <p:spPr bwMode="auto">
              <a:xfrm>
                <a:off x="4313" y="1611"/>
                <a:ext cx="10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15" name="Arc 33"/>
              <p:cNvSpPr/>
              <p:nvPr/>
            </p:nvSpPr>
            <p:spPr bwMode="auto">
              <a:xfrm flipV="1">
                <a:off x="4316" y="1122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16" name="Arc 34"/>
              <p:cNvSpPr/>
              <p:nvPr/>
            </p:nvSpPr>
            <p:spPr bwMode="auto">
              <a:xfrm flipH="1" flipV="1">
                <a:off x="5090" y="1128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</p:grpSp>
      <p:sp>
        <p:nvSpPr>
          <p:cNvPr id="26" name="Rectangle 37"/>
          <p:cNvSpPr>
            <a:spLocks noChangeArrowheads="1"/>
          </p:cNvSpPr>
          <p:nvPr/>
        </p:nvSpPr>
        <p:spPr bwMode="auto">
          <a:xfrm>
            <a:off x="4029149" y="500731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990033"/>
                </a:solidFill>
                <a:ea typeface="隶书" panose="02010509060101010101" pitchFamily="49" charset="-122"/>
              </a:rPr>
              <a:t>a</a:t>
            </a:r>
            <a:endParaRPr lang="en-US" altLang="zh-CN" sz="2400" b="1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27" name="Text Box 38"/>
          <p:cNvSpPr txBox="1">
            <a:spLocks noChangeArrowheads="1"/>
          </p:cNvSpPr>
          <p:nvPr/>
        </p:nvSpPr>
        <p:spPr bwMode="auto">
          <a:xfrm>
            <a:off x="5771807" y="3869790"/>
            <a:ext cx="5613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990033"/>
                </a:solidFill>
                <a:ea typeface="隶书" panose="02010509060101010101" pitchFamily="49" charset="-122"/>
              </a:rPr>
              <a:t>(b)</a:t>
            </a:r>
            <a:endParaRPr lang="en-US" altLang="zh-CN" sz="2400" b="1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28" name="Text Box 39"/>
          <p:cNvSpPr txBox="1">
            <a:spLocks noChangeArrowheads="1"/>
          </p:cNvSpPr>
          <p:nvPr/>
        </p:nvSpPr>
        <p:spPr bwMode="auto">
          <a:xfrm>
            <a:off x="3237729" y="1126539"/>
            <a:ext cx="576952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FontTx/>
              <a:buNone/>
              <a:defRPr kumimoji="1" sz="2200">
                <a:solidFill>
                  <a:srgbClr val="7E529F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圆环表面点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，已知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投影，求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rc 40"/>
          <p:cNvSpPr/>
          <p:nvPr/>
        </p:nvSpPr>
        <p:spPr bwMode="auto">
          <a:xfrm flipH="1">
            <a:off x="4245049" y="4299291"/>
            <a:ext cx="1211263" cy="1211263"/>
          </a:xfrm>
          <a:prstGeom prst="ellips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 flipV="1">
            <a:off x="4245049" y="2243479"/>
            <a:ext cx="0" cy="265747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1" name="Line 42"/>
          <p:cNvSpPr>
            <a:spLocks noChangeShapeType="1"/>
          </p:cNvSpPr>
          <p:nvPr/>
        </p:nvSpPr>
        <p:spPr bwMode="auto">
          <a:xfrm flipV="1">
            <a:off x="4406974" y="2233954"/>
            <a:ext cx="0" cy="309562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4245049" y="2253004"/>
            <a:ext cx="379095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3" name="Oval 44"/>
          <p:cNvSpPr>
            <a:spLocks noChangeArrowheads="1"/>
          </p:cNvSpPr>
          <p:nvPr/>
        </p:nvSpPr>
        <p:spPr bwMode="auto">
          <a:xfrm>
            <a:off x="4329187" y="5227979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>
              <a:ea typeface="隶书" panose="02010509060101010101" pitchFamily="49" charset="-122"/>
            </a:endParaRPr>
          </a:p>
        </p:txBody>
      </p:sp>
      <p:sp>
        <p:nvSpPr>
          <p:cNvPr id="34" name="Oval 45"/>
          <p:cNvSpPr>
            <a:spLocks noChangeArrowheads="1"/>
          </p:cNvSpPr>
          <p:nvPr/>
        </p:nvSpPr>
        <p:spPr bwMode="auto">
          <a:xfrm>
            <a:off x="4319662" y="2170454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>
              <a:ea typeface="隶书" panose="02010509060101010101" pitchFamily="49" charset="-122"/>
            </a:endParaRPr>
          </a:p>
        </p:txBody>
      </p:sp>
      <p:sp>
        <p:nvSpPr>
          <p:cNvPr id="35" name="Text Box 46"/>
          <p:cNvSpPr txBox="1">
            <a:spLocks noChangeArrowheads="1"/>
          </p:cNvSpPr>
          <p:nvPr/>
        </p:nvSpPr>
        <p:spPr bwMode="auto">
          <a:xfrm>
            <a:off x="4219649" y="1719604"/>
            <a:ext cx="4299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a'</a:t>
            </a:r>
            <a:endParaRPr lang="en-US" altLang="zh-CN" sz="2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4114874" y="1719604"/>
            <a:ext cx="6206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A50021"/>
                </a:solidFill>
                <a:ea typeface="隶书" panose="02010509060101010101" pitchFamily="49" charset="-122"/>
              </a:rPr>
              <a:t>(   )</a:t>
            </a:r>
            <a:endParaRPr lang="en-US" altLang="zh-CN" sz="24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38" name="Oval 48"/>
          <p:cNvSpPr>
            <a:spLocks noChangeArrowheads="1"/>
          </p:cNvSpPr>
          <p:nvPr/>
        </p:nvSpPr>
        <p:spPr bwMode="auto">
          <a:xfrm>
            <a:off x="7929637" y="2170454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>
              <a:ea typeface="隶书" panose="02010509060101010101" pitchFamily="49" charset="-122"/>
            </a:endParaRPr>
          </a:p>
        </p:txBody>
      </p:sp>
      <p:sp>
        <p:nvSpPr>
          <p:cNvPr id="39" name="Line 49"/>
          <p:cNvSpPr>
            <a:spLocks noChangeShapeType="1"/>
          </p:cNvSpPr>
          <p:nvPr/>
        </p:nvSpPr>
        <p:spPr bwMode="auto">
          <a:xfrm>
            <a:off x="4330774" y="5091454"/>
            <a:ext cx="171450" cy="85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40" name="Line 50"/>
          <p:cNvSpPr>
            <a:spLocks noChangeShapeType="1"/>
          </p:cNvSpPr>
          <p:nvPr/>
        </p:nvSpPr>
        <p:spPr bwMode="auto">
          <a:xfrm>
            <a:off x="7702624" y="2167279"/>
            <a:ext cx="1143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41" name="Text Box 51"/>
          <p:cNvSpPr txBox="1">
            <a:spLocks noChangeArrowheads="1"/>
          </p:cNvSpPr>
          <p:nvPr/>
        </p:nvSpPr>
        <p:spPr bwMode="auto">
          <a:xfrm>
            <a:off x="7820099" y="1748179"/>
            <a:ext cx="5020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a"</a:t>
            </a:r>
            <a:endParaRPr lang="en-US" altLang="zh-CN" sz="2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42" name="Text Box 52"/>
          <p:cNvSpPr txBox="1">
            <a:spLocks noChangeArrowheads="1"/>
          </p:cNvSpPr>
          <p:nvPr/>
        </p:nvSpPr>
        <p:spPr bwMode="auto">
          <a:xfrm>
            <a:off x="7705799" y="1729129"/>
            <a:ext cx="6976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A50021"/>
                </a:solidFill>
                <a:ea typeface="隶书" panose="02010509060101010101" pitchFamily="49" charset="-122"/>
              </a:rPr>
              <a:t>(    )</a:t>
            </a:r>
            <a:endParaRPr lang="en-US" altLang="zh-CN" sz="2400" b="1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43" name="Arc 53"/>
          <p:cNvSpPr/>
          <p:nvPr/>
        </p:nvSpPr>
        <p:spPr bwMode="auto">
          <a:xfrm flipV="1">
            <a:off x="3779912" y="3834154"/>
            <a:ext cx="2143125" cy="2143125"/>
          </a:xfrm>
          <a:prstGeom prst="ellipse">
            <a:avLst/>
          </a:prstGeom>
          <a:noFill/>
          <a:ln w="9525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44" name="Line 54"/>
          <p:cNvSpPr>
            <a:spLocks noChangeShapeType="1"/>
          </p:cNvSpPr>
          <p:nvPr/>
        </p:nvSpPr>
        <p:spPr bwMode="auto">
          <a:xfrm flipV="1">
            <a:off x="5921449" y="2840379"/>
            <a:ext cx="0" cy="2070100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45" name="Line 55"/>
          <p:cNvSpPr>
            <a:spLocks noChangeShapeType="1"/>
          </p:cNvSpPr>
          <p:nvPr/>
        </p:nvSpPr>
        <p:spPr bwMode="auto">
          <a:xfrm flipH="1">
            <a:off x="5102299" y="2843554"/>
            <a:ext cx="819150" cy="0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46" name="Line 56"/>
          <p:cNvSpPr>
            <a:spLocks noChangeShapeType="1"/>
          </p:cNvSpPr>
          <p:nvPr/>
        </p:nvSpPr>
        <p:spPr bwMode="auto">
          <a:xfrm flipV="1">
            <a:off x="5711899" y="2834029"/>
            <a:ext cx="0" cy="2066925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47" name="Oval 57"/>
          <p:cNvSpPr>
            <a:spLocks noChangeArrowheads="1"/>
          </p:cNvSpPr>
          <p:nvPr/>
        </p:nvSpPr>
        <p:spPr bwMode="auto">
          <a:xfrm>
            <a:off x="5630937" y="4181816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8" name="Text Box 59"/>
          <p:cNvSpPr txBox="1">
            <a:spLocks noChangeArrowheads="1"/>
          </p:cNvSpPr>
          <p:nvPr/>
        </p:nvSpPr>
        <p:spPr bwMode="auto">
          <a:xfrm>
            <a:off x="5063744" y="2967335"/>
            <a:ext cx="6511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(b')</a:t>
            </a:r>
            <a:endParaRPr lang="en-US" altLang="zh-CN" sz="2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49" name="Line 60"/>
          <p:cNvSpPr>
            <a:spLocks noChangeShapeType="1"/>
          </p:cNvSpPr>
          <p:nvPr/>
        </p:nvSpPr>
        <p:spPr bwMode="auto">
          <a:xfrm>
            <a:off x="5635699" y="4558054"/>
            <a:ext cx="152400" cy="571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50" name="Line 61"/>
          <p:cNvSpPr>
            <a:spLocks noChangeShapeType="1"/>
          </p:cNvSpPr>
          <p:nvPr/>
        </p:nvSpPr>
        <p:spPr bwMode="auto">
          <a:xfrm>
            <a:off x="5921449" y="2843554"/>
            <a:ext cx="1676400" cy="0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51" name="Line 62"/>
          <p:cNvSpPr>
            <a:spLocks noChangeShapeType="1"/>
          </p:cNvSpPr>
          <p:nvPr/>
        </p:nvSpPr>
        <p:spPr bwMode="auto">
          <a:xfrm>
            <a:off x="7226374" y="2786404"/>
            <a:ext cx="104775" cy="1238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52" name="Oval 63"/>
          <p:cNvSpPr>
            <a:spLocks noChangeArrowheads="1"/>
          </p:cNvSpPr>
          <p:nvPr/>
        </p:nvSpPr>
        <p:spPr bwMode="auto">
          <a:xfrm>
            <a:off x="6861249" y="2753066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53" name="Text Box 64"/>
          <p:cNvSpPr txBox="1">
            <a:spLocks noChangeArrowheads="1"/>
          </p:cNvSpPr>
          <p:nvPr/>
        </p:nvSpPr>
        <p:spPr bwMode="auto">
          <a:xfrm>
            <a:off x="6572950" y="3001658"/>
            <a:ext cx="7232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(b")</a:t>
            </a:r>
            <a:endParaRPr lang="en-US" altLang="zh-CN" sz="2400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54" name="Text Box 60"/>
          <p:cNvSpPr txBox="1">
            <a:spLocks noChangeArrowheads="1"/>
          </p:cNvSpPr>
          <p:nvPr/>
        </p:nvSpPr>
        <p:spPr bwMode="auto">
          <a:xfrm>
            <a:off x="346739" y="2867357"/>
            <a:ext cx="3313728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判断点的位置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352425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在内环面的上半部</a:t>
            </a:r>
            <a:endParaRPr lang="en-US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352425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在外环面的下半部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作图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可见性判断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78" y="4075194"/>
            <a:ext cx="1678946" cy="1678946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8" t="-11416" r="24665" b="-48497"/>
          <a:stretch>
            <a:fillRect/>
          </a:stretch>
        </p:blipFill>
        <p:spPr>
          <a:xfrm rot="5400000">
            <a:off x="3362883" y="4609074"/>
            <a:ext cx="2926381" cy="28575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58" t="-7863" r="44412" b="-48497"/>
          <a:stretch>
            <a:fillRect/>
          </a:stretch>
        </p:blipFill>
        <p:spPr>
          <a:xfrm rot="5400000">
            <a:off x="4251397" y="2456911"/>
            <a:ext cx="1143004" cy="2794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 rot="5400000">
            <a:off x="3467565" y="2446992"/>
            <a:ext cx="1027917" cy="20955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 rot="5400000">
            <a:off x="5063003" y="2446993"/>
            <a:ext cx="1027917" cy="20955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>
            <a:off x="3492967" y="2554506"/>
            <a:ext cx="1027917" cy="20955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>
            <a:off x="5139193" y="2554506"/>
            <a:ext cx="1027917" cy="209550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>
            <a:off x="6245299" y="2554506"/>
            <a:ext cx="1027917" cy="20955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>
            <a:off x="7864942" y="2554506"/>
            <a:ext cx="1027917" cy="20955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 rot="5400000">
            <a:off x="6210765" y="2446994"/>
            <a:ext cx="1027917" cy="20955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15" t="31226" r="43428" b="-48496"/>
          <a:stretch>
            <a:fillRect/>
          </a:stretch>
        </p:blipFill>
        <p:spPr>
          <a:xfrm rot="5400000">
            <a:off x="7818901" y="2446995"/>
            <a:ext cx="1027917" cy="20955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58" t="-7863" r="44412" b="-48497"/>
          <a:stretch>
            <a:fillRect/>
          </a:stretch>
        </p:blipFill>
        <p:spPr>
          <a:xfrm rot="5400000">
            <a:off x="6975547" y="2456911"/>
            <a:ext cx="1143004" cy="279400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0" t="-32850" r="43427" b="-48496"/>
          <a:stretch>
            <a:fillRect/>
          </a:stretch>
        </p:blipFill>
        <p:spPr>
          <a:xfrm>
            <a:off x="3402703" y="4767531"/>
            <a:ext cx="2764408" cy="324046"/>
          </a:xfrm>
          <a:prstGeom prst="rect">
            <a:avLst/>
          </a:prstGeom>
        </p:spPr>
      </p:pic>
      <p:sp>
        <p:nvSpPr>
          <p:cNvPr id="68" name="Oval 58"/>
          <p:cNvSpPr>
            <a:spLocks noChangeArrowheads="1"/>
          </p:cNvSpPr>
          <p:nvPr/>
        </p:nvSpPr>
        <p:spPr bwMode="auto">
          <a:xfrm>
            <a:off x="5622999" y="2753066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69" name="Text Box 9"/>
          <p:cNvSpPr txBox="1">
            <a:spLocks noChangeArrowheads="1"/>
          </p:cNvSpPr>
          <p:nvPr/>
        </p:nvSpPr>
        <p:spPr bwMode="auto">
          <a:xfrm>
            <a:off x="404280" y="1615294"/>
            <a:ext cx="11689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kumimoji="1" sz="22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圆环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52"/>
          <p:cNvSpPr txBox="1">
            <a:spLocks noChangeArrowheads="1"/>
          </p:cNvSpPr>
          <p:nvPr/>
        </p:nvSpPr>
        <p:spPr bwMode="auto">
          <a:xfrm>
            <a:off x="413546" y="2192776"/>
            <a:ext cx="23150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(3)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圆环面上取点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386877" y="1100857"/>
            <a:ext cx="1723549" cy="4979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二、回转体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4" grpId="0" animBg="1" autoUpdateAnimBg="0"/>
      <p:bldP spid="35" grpId="0" autoUpdateAnimBg="0"/>
      <p:bldP spid="36" grpId="0" autoUpdateAnimBg="0" build="p"/>
      <p:bldP spid="38" grpId="0" animBg="1" autoUpdateAnimBg="0"/>
      <p:bldP spid="39" grpId="0" animBg="1"/>
      <p:bldP spid="40" grpId="0" animBg="1"/>
      <p:bldP spid="41" grpId="0" autoUpdateAnimBg="0"/>
      <p:bldP spid="42" grpId="0" autoUpdateAnimBg="0" build="p"/>
      <p:bldP spid="43" grpId="0" animBg="1"/>
      <p:bldP spid="44" grpId="0" animBg="1"/>
      <p:bldP spid="45" grpId="0" animBg="1"/>
      <p:bldP spid="46" grpId="0" animBg="1"/>
      <p:bldP spid="48" grpId="0" autoUpdateAnimBg="0" build="p"/>
      <p:bldP spid="49" grpId="0" animBg="1"/>
      <p:bldP spid="50" grpId="0" animBg="1"/>
      <p:bldP spid="51" grpId="0" animBg="1"/>
      <p:bldP spid="52" grpId="0" animBg="1"/>
      <p:bldP spid="53" grpId="0" autoUpdateAnimBg="0" build="p"/>
      <p:bldP spid="54" grpId="0" uiExpand="1" build="p"/>
      <p:bldP spid="6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2535225" y="412173"/>
            <a:ext cx="407355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  基本体的投影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3248" y="1875800"/>
            <a:ext cx="7037504" cy="3228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典型基本体的三视图画法及面上找点的方法</a:t>
            </a:r>
            <a:endParaRPr kumimoji="1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平面体表面找点，利用平面上找点的方法。</a:t>
            </a:r>
            <a:endParaRPr kumimoji="1" lang="zh-CN" altLang="en-US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圆柱表面找点，利用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投影的积聚性</a:t>
            </a: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圆锥表面找点，用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辅助线法和辅助圆法</a:t>
            </a: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圆球表面找点，用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辅助圆</a:t>
            </a: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法。</a:t>
            </a:r>
            <a:endParaRPr kumimoji="1" lang="zh-CN" altLang="en-US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圆环表面找点，用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辅助圆</a:t>
            </a:r>
            <a:r>
              <a:rPr kumimoji="1" lang="zh-CN" altLang="en-US" sz="2400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法。</a:t>
            </a:r>
            <a:endParaRPr kumimoji="1" lang="zh-CN" altLang="en-US" sz="2400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1068477" y="5273513"/>
            <a:ext cx="70070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注意：三等关系、回转体轮廓线的投影特点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  <a:endParaRPr lang="zh-CN" altLang="en-US" sz="2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3067420" y="412173"/>
            <a:ext cx="300915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3246958" y="1556792"/>
            <a:ext cx="2650084" cy="117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 – 1, 2, 3,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P19 – 1, 2, 3, 4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PRING_RESOURCE_PATHS_HASH_PRESENTER" val="71a95fcf66203d38bc361677577eb4a2de51b675"/>
  <p:tag name="COMMONDATA" val="eyJoZGlkIjoiODJmN2FlNTk5ZDc5YWY1ZDIwZDMzYzFiYWNjYTQ1OTkifQ==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3230</Words>
  <Application>WPS 演示</Application>
  <PresentationFormat>全屏显示(4:3)</PresentationFormat>
  <Paragraphs>998</Paragraphs>
  <Slides>39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1" baseType="lpstr">
      <vt:lpstr>Arial</vt:lpstr>
      <vt:lpstr>宋体</vt:lpstr>
      <vt:lpstr>Wingdings</vt:lpstr>
      <vt:lpstr>Calibri</vt:lpstr>
      <vt:lpstr>黑体</vt:lpstr>
      <vt:lpstr>华文新魏</vt:lpstr>
      <vt:lpstr>微软雅黑</vt:lpstr>
      <vt:lpstr>华文细黑</vt:lpstr>
      <vt:lpstr>等线</vt:lpstr>
      <vt:lpstr>Times New Roman</vt:lpstr>
      <vt:lpstr>Arial Unicode MS</vt:lpstr>
      <vt:lpstr>Symbol</vt:lpstr>
      <vt:lpstr>CommercialPi BT</vt:lpstr>
      <vt:lpstr>ISOCPEUR</vt:lpstr>
      <vt:lpstr>隶书</vt:lpstr>
      <vt:lpstr>Marlett</vt:lpstr>
      <vt:lpstr>Monotype Sorts</vt:lpstr>
      <vt:lpstr>Wingdings</vt:lpstr>
      <vt:lpstr>Lao UI</vt:lpstr>
      <vt:lpstr>Segoe UI Symbol</vt:lpstr>
      <vt:lpstr>Tahoma</vt:lpstr>
      <vt:lpstr>Office 主题​​</vt:lpstr>
      <vt:lpstr>PowerPoint 演示文稿</vt:lpstr>
      <vt:lpstr>基本体的投影</vt:lpstr>
      <vt:lpstr>PowerPoint 演示文稿</vt:lpstr>
      <vt:lpstr>5.1 形体的构成方式</vt:lpstr>
      <vt:lpstr>PowerPoint 演示文稿</vt:lpstr>
      <vt:lpstr>PowerPoint 演示文稿</vt:lpstr>
      <vt:lpstr>PowerPoint 演示文稿</vt:lpstr>
      <vt:lpstr>5.2 体的投影 – 视图</vt:lpstr>
      <vt:lpstr>PowerPoint 演示文稿</vt:lpstr>
      <vt:lpstr>PowerPoint 演示文稿</vt:lpstr>
      <vt:lpstr>PowerPoint 演示文稿</vt:lpstr>
      <vt:lpstr>PowerPoint 演示文稿</vt:lpstr>
      <vt:lpstr>5.3 基本体的三视图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当条咸鱼</cp:lastModifiedBy>
  <cp:revision>1308</cp:revision>
  <dcterms:created xsi:type="dcterms:W3CDTF">2013-06-24T05:49:00Z</dcterms:created>
  <dcterms:modified xsi:type="dcterms:W3CDTF">2025-03-17T10:02:29Z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1A6204F840F64AB3A1B2147067348C45</vt:lpwstr>
  </property>
  <property fmtid="{D5CDD505-2E9C-101B-9397-08002B2CF9AE}" pid="3" name="KSOProductBuildVer">
    <vt:lpwstr>2052-11.1.0.12165</vt:lpwstr>
  </property>
</Properties>
</file>