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7310" r:id="rId1"/>
    <p:sldMasterId id="2147487875" r:id="rId2"/>
    <p:sldMasterId id="2147487948" r:id="rId3"/>
  </p:sldMasterIdLst>
  <p:notesMasterIdLst>
    <p:notesMasterId r:id="rId25"/>
  </p:notesMasterIdLst>
  <p:handoutMasterIdLst>
    <p:handoutMasterId r:id="rId26"/>
  </p:handoutMasterIdLst>
  <p:sldIdLst>
    <p:sldId id="1753" r:id="rId4"/>
    <p:sldId id="2049" r:id="rId5"/>
    <p:sldId id="2046" r:id="rId6"/>
    <p:sldId id="2066" r:id="rId7"/>
    <p:sldId id="2051" r:id="rId8"/>
    <p:sldId id="2052" r:id="rId9"/>
    <p:sldId id="2053" r:id="rId10"/>
    <p:sldId id="2054" r:id="rId11"/>
    <p:sldId id="2055" r:id="rId12"/>
    <p:sldId id="2056" r:id="rId13"/>
    <p:sldId id="2057" r:id="rId14"/>
    <p:sldId id="2058" r:id="rId15"/>
    <p:sldId id="2059" r:id="rId16"/>
    <p:sldId id="2060" r:id="rId17"/>
    <p:sldId id="2061" r:id="rId18"/>
    <p:sldId id="2062" r:id="rId19"/>
    <p:sldId id="2063" r:id="rId20"/>
    <p:sldId id="2064" r:id="rId21"/>
    <p:sldId id="2065" r:id="rId22"/>
    <p:sldId id="2067" r:id="rId23"/>
    <p:sldId id="2048" r:id="rId24"/>
  </p:sldIdLst>
  <p:sldSz cx="9144000" cy="6858000" type="screen4x3"/>
  <p:notesSz cx="6669088" cy="9896475"/>
  <p:defaultTextStyle>
    <a:defPPr>
      <a:defRPr lang="zh-CN"/>
    </a:defPPr>
    <a:lvl1pPr algn="ctr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ECFF"/>
    <a:srgbClr val="CC3300"/>
    <a:srgbClr val="0000CC"/>
    <a:srgbClr val="CCCCFF"/>
    <a:srgbClr val="3366FF"/>
    <a:srgbClr val="CC6600"/>
    <a:srgbClr val="9999FF"/>
    <a:srgbClr val="EAEAEA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82477" autoAdjust="0"/>
  </p:normalViewPr>
  <p:slideViewPr>
    <p:cSldViewPr snapToGrid="0">
      <p:cViewPr varScale="1">
        <p:scale>
          <a:sx n="109" d="100"/>
          <a:sy n="109" d="100"/>
        </p:scale>
        <p:origin x="804" y="4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8" y="102"/>
      </p:cViewPr>
      <p:guideLst>
        <p:guide orient="horz" pos="311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1175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01175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fld id="{D2174CB0-920D-4A72-92DA-2A2868A760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60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968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862013" y="742950"/>
            <a:ext cx="4945062" cy="37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00588"/>
            <a:ext cx="4891088" cy="445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1175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01175"/>
            <a:ext cx="28892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/>
                <a:ea typeface="宋体" charset="-122"/>
              </a:defRPr>
            </a:lvl1pPr>
          </a:lstStyle>
          <a:p>
            <a:pPr>
              <a:defRPr/>
            </a:pPr>
            <a:fld id="{B7262249-4C31-46A7-815C-3333318275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4341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6808FA-E36D-44BD-8932-1C23032189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0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6808FA-E36D-44BD-8932-1C23032189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702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262249-4C31-46A7-815C-33333182758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49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021816-40F3-4819-A3E5-9C5805B3289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85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059F93-D4CD-4D12-9FF3-EA70B722D8D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849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85E25D-A878-48E9-8AF8-7D6DA5447C5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327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9EA9AC-BF4B-45A8-9616-C88B9DFC592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098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673FE5-4246-4715-963F-B3056518BD8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930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23E604-CF77-490F-BAE2-CC83F6DAD98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000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94613B-FB1A-4AB5-91E0-B23BB50A1D7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632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4DFCD8-DF75-4CD1-B67B-7AA7834D35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84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AD6F03-DF40-45FA-9F74-3A744966B04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735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BB4622-D81A-45D0-928C-CB7C5B245D39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507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3AE258-1364-4DC3-9CA1-76AA73A08CD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325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DBC16C-2358-467E-A438-80F42CE5AEF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525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296DC9-93C1-489A-92A2-CE292E1B421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497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2E03B5-BBF8-4163-90DD-341E3734B65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586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B4F566-527E-482E-B3DF-A7C8BCD484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82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45"/>
          <p:cNvSpPr>
            <a:spLocks noChangeArrowheads="1"/>
          </p:cNvSpPr>
          <p:nvPr userDrawn="1"/>
        </p:nvSpPr>
        <p:spPr bwMode="auto">
          <a:xfrm>
            <a:off x="1921193" y="4797152"/>
            <a:ext cx="7200000" cy="79200"/>
          </a:xfrm>
          <a:prstGeom prst="rect">
            <a:avLst/>
          </a:prstGeom>
          <a:gradFill rotWithShape="0">
            <a:gsLst>
              <a:gs pos="0">
                <a:srgbClr val="743481"/>
              </a:gs>
              <a:gs pos="50000">
                <a:srgbClr val="743481"/>
              </a:gs>
              <a:gs pos="100000">
                <a:srgbClr val="FFFFFF"/>
              </a:gs>
            </a:gsLst>
            <a:lin ang="2700000"/>
          </a:gradFill>
          <a:ln>
            <a:noFill/>
          </a:ln>
          <a:effectLst>
            <a:outerShdw dist="38100" sx="999" sy="999" algn="tl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宋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2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45"/>
          <p:cNvSpPr>
            <a:spLocks noChangeArrowheads="1"/>
          </p:cNvSpPr>
          <p:nvPr userDrawn="1"/>
        </p:nvSpPr>
        <p:spPr bwMode="auto">
          <a:xfrm>
            <a:off x="-3175" y="2283793"/>
            <a:ext cx="9147175" cy="65087"/>
          </a:xfrm>
          <a:prstGeom prst="rect">
            <a:avLst/>
          </a:prstGeom>
          <a:gradFill rotWithShape="0">
            <a:gsLst>
              <a:gs pos="0">
                <a:srgbClr val="743481"/>
              </a:gs>
              <a:gs pos="50000">
                <a:srgbClr val="743481"/>
              </a:gs>
              <a:gs pos="100000">
                <a:srgbClr val="FFFFFF"/>
              </a:gs>
            </a:gsLst>
            <a:lin ang="2700000"/>
          </a:gradFill>
          <a:ln>
            <a:noFill/>
          </a:ln>
          <a:effectLst>
            <a:outerShdw dist="38100" sx="999" sy="999" algn="tl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宋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23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71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 descr="02_14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6E8F9"/>
              </a:clrFrom>
              <a:clrTo>
                <a:srgbClr val="F6E8F9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27763" y="5481638"/>
            <a:ext cx="2916237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/>
          <p:cNvSpPr>
            <a:spLocks noGrp="1" noChangeArrowheads="1"/>
          </p:cNvSpPr>
          <p:nvPr userDrawn="1"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矩形 7"/>
          <p:cNvSpPr/>
          <p:nvPr userDrawn="1"/>
        </p:nvSpPr>
        <p:spPr>
          <a:xfrm>
            <a:off x="6156176" y="5373215"/>
            <a:ext cx="2987824" cy="1484785"/>
          </a:xfrm>
          <a:prstGeom prst="rect">
            <a:avLst/>
          </a:prstGeom>
          <a:gradFill>
            <a:gsLst>
              <a:gs pos="0">
                <a:schemeClr val="bg1">
                  <a:alpha val="67000"/>
                </a:schemeClr>
              </a:gs>
              <a:gs pos="100000">
                <a:schemeClr val="bg1">
                  <a:alpha val="2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199816" y="1987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工程图学</a:t>
            </a:r>
          </a:p>
        </p:txBody>
      </p:sp>
    </p:spTree>
    <p:extLst>
      <p:ext uri="{BB962C8B-B14F-4D97-AF65-F5344CB8AC3E}">
        <p14:creationId xmlns:p14="http://schemas.microsoft.com/office/powerpoint/2010/main" val="89924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203848" y="6408521"/>
            <a:ext cx="21595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工程图学与设计基础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956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412776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67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9" name="Picture 8" descr="tsinghua_logo1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23528" y="0"/>
            <a:ext cx="1442259" cy="1340768"/>
          </a:xfrm>
          <a:prstGeom prst="rect">
            <a:avLst/>
          </a:prstGeom>
        </p:spPr>
      </p:pic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3" name="Rectangle 7"/>
          <p:cNvSpPr/>
          <p:nvPr userDrawn="1"/>
        </p:nvSpPr>
        <p:spPr>
          <a:xfrm>
            <a:off x="3203848" y="6408521"/>
            <a:ext cx="21595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工程图学与设计基础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884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FB476C-C766-449A-A910-6EADCD6BCD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548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5123D-21D3-4DC6-85CF-860E6B506D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528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4B30F-3DAE-480D-AAA1-4A4552D88F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40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C2EB90-AE66-4756-A015-BAF54E765E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02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28CE47-BDF6-40EB-B77C-B893B743EF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97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A5E0D-108A-4778-AA88-A3E35435FB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613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4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6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129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80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530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02_14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6E8F9"/>
              </a:clrFrom>
              <a:clrTo>
                <a:srgbClr val="F6E8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5481638"/>
            <a:ext cx="291623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6156325" y="5373688"/>
            <a:ext cx="2987675" cy="1484312"/>
          </a:xfrm>
          <a:prstGeom prst="rect">
            <a:avLst/>
          </a:prstGeom>
          <a:gradFill>
            <a:gsLst>
              <a:gs pos="0">
                <a:schemeClr val="bg1">
                  <a:alpha val="67000"/>
                </a:schemeClr>
              </a:gs>
              <a:gs pos="100000">
                <a:schemeClr val="bg1">
                  <a:alpha val="2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717550" y="1624013"/>
            <a:ext cx="1190625" cy="44450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 userDrawn="1"/>
        </p:nvSpPr>
        <p:spPr bwMode="auto">
          <a:xfrm>
            <a:off x="539750" y="1052513"/>
            <a:ext cx="156368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第    讲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009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/>
          <p:nvPr userDrawn="1"/>
        </p:nvSpPr>
        <p:spPr>
          <a:xfrm>
            <a:off x="0" y="333375"/>
            <a:ext cx="9144000" cy="72548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Picture 7" descr="tsinghua_logo1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0"/>
            <a:ext cx="1441450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</p:spPr>
        <p:txBody>
          <a:bodyPr rot="10800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4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9EBD4-5E25-4169-9AC5-76F4FE8F5A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96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 flipV="1">
            <a:off x="395288" y="6332538"/>
            <a:ext cx="8748712" cy="49212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</p:spPr>
        <p:txBody>
          <a:bodyPr rot="10800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4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875463" y="6381750"/>
            <a:ext cx="2133600" cy="365125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78DE8F-3F51-413F-9478-4E99E2E011D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045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9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BD1DC-7AB6-4015-9A45-2B9D0AA65A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26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09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11" r:id="rId1"/>
    <p:sldLayoutId id="2147487312" r:id="rId2"/>
    <p:sldLayoutId id="214748731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fld id="{7A9458CD-C623-4250-ACEB-60F4976B37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64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76" r:id="rId1"/>
    <p:sldLayoutId id="2147487877" r:id="rId2"/>
    <p:sldLayoutId id="2147487878" r:id="rId3"/>
    <p:sldLayoutId id="2147487879" r:id="rId4"/>
    <p:sldLayoutId id="2147487880" r:id="rId5"/>
    <p:sldLayoutId id="2147487881" r:id="rId6"/>
    <p:sldLayoutId id="2147487882" r:id="rId7"/>
    <p:sldLayoutId id="2147487883" r:id="rId8"/>
    <p:sldLayoutId id="2147487884" r:id="rId9"/>
    <p:sldLayoutId id="2147487885" r:id="rId10"/>
  </p:sldLayoutIdLst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宋体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宋体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宋体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宋体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宋体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1763713" y="692150"/>
            <a:ext cx="692308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5C47B8-4916-4DD9-9FEB-2833E718021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2025/5/25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6191A2-A3B1-49B2-8650-5DBFC26F055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15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49" r:id="rId1"/>
    <p:sldLayoutId id="2147487950" r:id="rId2"/>
    <p:sldLayoutId id="2147487951" r:id="rId3"/>
    <p:sldLayoutId id="2147487952" r:id="rId4"/>
    <p:sldLayoutId id="2147487974" r:id="rId5"/>
    <p:sldLayoutId id="2147487975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685800" y="2303930"/>
            <a:ext cx="7772400" cy="198867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专题研究二</a:t>
            </a:r>
            <a:b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典型机械产品的设计、建模与表达</a:t>
            </a:r>
            <a:b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减速箱拆装与装配图</a:t>
            </a: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09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xfrm>
            <a:off x="6804025" y="6453188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F749B-5638-4DF5-BFF3-2AD4CBEC0F9C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19" name="Text Box 18"/>
          <p:cNvSpPr txBox="1">
            <a:spLocks noChangeArrowheads="1"/>
          </p:cNvSpPr>
          <p:nvPr/>
        </p:nvSpPr>
        <p:spPr bwMode="auto">
          <a:xfrm>
            <a:off x="1903413" y="404813"/>
            <a:ext cx="64087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专题研究二：</a:t>
            </a:r>
            <a:r>
              <a:rPr kumimoji="1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研究</a:t>
            </a:r>
            <a:r>
              <a:rPr kumimoji="1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目标</a:t>
            </a:r>
          </a:p>
        </p:txBody>
      </p:sp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52825" y="6423025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ctr" eaLnBrk="1" hangingPunct="1">
              <a:defRPr/>
            </a:pPr>
            <a:r>
              <a:rPr kumimoji="0" lang="zh-CN" altLang="en-US" sz="1400" dirty="0">
                <a:solidFill>
                  <a:srgbClr val="000000">
                    <a:lumMod val="65000"/>
                    <a:lumOff val="35000"/>
                  </a:srgbClr>
                </a:solidFill>
              </a:rPr>
              <a:t>典型机械产品的设计、建模与表达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4895" y="1691476"/>
            <a:ext cx="822642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通过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减速箱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拆装分析，了解齿轮减速箱的功能和工作原理，分析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轴系结构的定位和</a:t>
            </a:r>
            <a:r>
              <a:rPr kumimoji="0" lang="zh-CN" altLang="en-US" sz="2000" kern="1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支撑</a:t>
            </a:r>
            <a:r>
              <a:rPr kumimoji="0" lang="zh-CN" altLang="zh-CN" sz="2000" b="1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装配关系、润滑与密封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zh-CN" altLang="zh-CN" sz="20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学习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轴系结构的装配关系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运用计算机工具软件完成约束配合和零部件装配，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能够正确绘制齿轮减速箱轴系结构的装配图。</a:t>
            </a:r>
            <a:endParaRPr kumimoji="0" lang="en-US" altLang="zh-CN" sz="2000" b="1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l" eaLnBrk="1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理解典型机械产品装配的过程和特点，掌握零部件的</a:t>
            </a: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建模、装配与表达系统性方法</a:t>
            </a:r>
            <a:r>
              <a:rPr kumimoji="0" lang="en-US" altLang="zh-CN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培养</a:t>
            </a: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团队协作精神。</a:t>
            </a:r>
          </a:p>
        </p:txBody>
      </p:sp>
    </p:spTree>
    <p:extLst>
      <p:ext uri="{BB962C8B-B14F-4D97-AF65-F5344CB8AC3E}">
        <p14:creationId xmlns:p14="http://schemas.microsoft.com/office/powerpoint/2010/main" val="343254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xfrm>
            <a:off x="6804025" y="6453188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F749B-5638-4DF5-BFF3-2AD4CBEC0F9C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19" name="Text Box 18"/>
          <p:cNvSpPr txBox="1">
            <a:spLocks noChangeArrowheads="1"/>
          </p:cNvSpPr>
          <p:nvPr/>
        </p:nvSpPr>
        <p:spPr bwMode="auto">
          <a:xfrm>
            <a:off x="1979613" y="404813"/>
            <a:ext cx="64087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专题研究二：任务说明</a:t>
            </a:r>
          </a:p>
        </p:txBody>
      </p:sp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52825" y="6423025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2" name="矩形 1"/>
          <p:cNvSpPr/>
          <p:nvPr/>
        </p:nvSpPr>
        <p:spPr>
          <a:xfrm>
            <a:off x="488949" y="2027205"/>
            <a:ext cx="82591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分组动手拆装</a:t>
            </a: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减速箱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讨论并分析合理的拆装流程。</a:t>
            </a:r>
            <a:endParaRPr kumimoji="0" lang="zh-CN" altLang="zh-CN" sz="20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分析减速箱的结构组成和运动原理，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构思减速箱装配图的表达方法。</a:t>
            </a:r>
            <a:endParaRPr kumimoji="0" lang="en-US" altLang="zh-CN" sz="20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通过原理分析、拆装实践和文献调研，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探讨相关问题。</a:t>
            </a:r>
            <a:endParaRPr kumimoji="0" lang="zh-CN" altLang="zh-CN" sz="20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49" y="1348604"/>
            <a:ext cx="80461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604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任务一：减速箱拆装与原理分析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604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8948" y="3786337"/>
            <a:ext cx="79928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604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任务二：减速箱三维装配建模及装配图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604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2891" y="4422906"/>
            <a:ext cx="803803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</a:t>
            </a:r>
            <a:r>
              <a:rPr kumimoji="0" lang="en-US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Solidworks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完成减速箱的三维装配</a:t>
            </a:r>
            <a:endParaRPr kumimoji="0" lang="en-US" altLang="zh-CN" sz="20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</a:t>
            </a:r>
            <a:r>
              <a:rPr kumimoji="0" lang="en-US" altLang="zh-CN" sz="20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Solidworks</a:t>
            </a:r>
            <a:r>
              <a:rPr kumimoji="0" lang="en-US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/AutoCAD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</a:t>
            </a:r>
            <a:r>
              <a:rPr kumimoji="0" lang="en-US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1:1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比例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绘制</a:t>
            </a:r>
            <a:r>
              <a:rPr kumimoji="0" lang="zh-CN" altLang="zh-CN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齿轮减速箱装配图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：</a:t>
            </a:r>
            <a:endParaRPr kumimoji="0" lang="en-US" altLang="zh-CN" sz="20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800100" lvl="1" indent="-342900" algn="l" eaLnBrk="1" hangingPunct="1">
              <a:lnSpc>
                <a:spcPct val="125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讨论装配图表达方案</a:t>
            </a:r>
            <a:endParaRPr kumimoji="0" lang="en-US" altLang="zh-CN" sz="2000" kern="1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algn="l" eaLnBrk="1" hangingPunct="1">
              <a:lnSpc>
                <a:spcPct val="125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画</a:t>
            </a: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俯视图（表达主要装配结构，采用</a:t>
            </a:r>
            <a:r>
              <a:rPr kumimoji="0" lang="en-US" altLang="zh-CN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kumimoji="0" lang="zh-CN" altLang="en-US" sz="2000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图纸</a:t>
            </a: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</a:t>
            </a:r>
            <a:endParaRPr kumimoji="0" lang="en-US" altLang="zh-CN" sz="20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86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1979613" y="404813"/>
            <a:ext cx="64087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专题研究二：分析思考题</a:t>
            </a:r>
          </a:p>
        </p:txBody>
      </p:sp>
      <p:sp>
        <p:nvSpPr>
          <p:cNvPr id="7" name="矩形 6"/>
          <p:cNvSpPr/>
          <p:nvPr/>
        </p:nvSpPr>
        <p:spPr>
          <a:xfrm>
            <a:off x="838895" y="1464573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604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分析思考题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604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1199" y="2266086"/>
            <a:ext cx="82264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典型传动轴系由哪些零件组成？</a:t>
            </a:r>
            <a:endParaRPr kumimoji="0" lang="en-US" altLang="zh-CN" sz="2000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轴上的零件如何实现安装和定位？</a:t>
            </a:r>
            <a:endParaRPr kumimoji="0" lang="en-US" altLang="zh-CN" sz="2000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减速箱设计中如何考虑和实现润滑和密封？</a:t>
            </a:r>
            <a:endParaRPr kumimoji="0" lang="en-US" altLang="zh-CN" sz="2000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定位销的作用是什么？其位置如何确定？</a:t>
            </a:r>
            <a:endParaRPr kumimoji="0" lang="en-US" altLang="zh-CN" sz="2000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地脚螺栓、轴承座两侧的箱盖和箱体连接螺栓应如何布置？</a:t>
            </a:r>
            <a:endParaRPr kumimoji="0" lang="en-US" altLang="zh-CN" sz="2000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76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6F2334-65D3-4D16-A4FF-F81B10A4DCB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2034594" y="329848"/>
            <a:ext cx="4873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齿轮减速箱的功能和工作原理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45" name="图片 2" descr="PPT14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557338"/>
            <a:ext cx="42433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图片 3" descr="PPT13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557338"/>
            <a:ext cx="4181475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8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B66164-79C3-45FF-9349-67E15EDFA52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68" name="矩形 5"/>
          <p:cNvSpPr>
            <a:spLocks noChangeArrowheads="1"/>
          </p:cNvSpPr>
          <p:nvPr/>
        </p:nvSpPr>
        <p:spPr bwMode="auto">
          <a:xfrm>
            <a:off x="5397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69" name="图片 2" descr="PPT15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60350"/>
            <a:ext cx="3505200" cy="598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17538" y="1108075"/>
            <a:ext cx="2874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①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箱盖装配线</a:t>
            </a:r>
          </a:p>
        </p:txBody>
      </p:sp>
      <p:sp>
        <p:nvSpPr>
          <p:cNvPr id="3" name="矩形 2"/>
          <p:cNvSpPr/>
          <p:nvPr/>
        </p:nvSpPr>
        <p:spPr>
          <a:xfrm>
            <a:off x="4427538" y="260350"/>
            <a:ext cx="3529012" cy="309721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20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5E5F1-1DF1-4712-8E34-8EE246907EF3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92" name="矩形 7"/>
          <p:cNvSpPr>
            <a:spLocks noChangeArrowheads="1"/>
          </p:cNvSpPr>
          <p:nvPr/>
        </p:nvSpPr>
        <p:spPr bwMode="auto">
          <a:xfrm>
            <a:off x="5397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617538" y="1108075"/>
            <a:ext cx="2874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②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输入轴装配线</a:t>
            </a:r>
          </a:p>
        </p:txBody>
      </p:sp>
      <p:pic>
        <p:nvPicPr>
          <p:cNvPr id="12294" name="图片 2" descr="PPT15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88913"/>
            <a:ext cx="4410075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 rot="19759154">
            <a:off x="3927475" y="4008438"/>
            <a:ext cx="5184775" cy="115252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0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84ECF3-70D7-422F-831D-EAE5889F4BF6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257175" y="1108075"/>
            <a:ext cx="30194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③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输出轴装配线</a:t>
            </a:r>
          </a:p>
        </p:txBody>
      </p:sp>
      <p:pic>
        <p:nvPicPr>
          <p:cNvPr id="13317" name="图片 2" descr="PPT15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188913"/>
            <a:ext cx="5800725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 rot="19858448">
            <a:off x="2665413" y="2773363"/>
            <a:ext cx="6511925" cy="1546225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319" name="矩形 5"/>
          <p:cNvSpPr>
            <a:spLocks noChangeArrowheads="1"/>
          </p:cNvSpPr>
          <p:nvPr/>
        </p:nvSpPr>
        <p:spPr bwMode="auto">
          <a:xfrm>
            <a:off x="3492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58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5F4EB0-504F-4D23-9863-EA93155A235C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4340" name="图片 2" descr="PPT158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8913"/>
            <a:ext cx="5819775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矩形 5"/>
          <p:cNvSpPr>
            <a:spLocks noChangeArrowheads="1"/>
          </p:cNvSpPr>
          <p:nvPr/>
        </p:nvSpPr>
        <p:spPr bwMode="auto">
          <a:xfrm>
            <a:off x="5397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39750" y="1108075"/>
            <a:ext cx="37385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④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油面指示窗装配线</a:t>
            </a:r>
          </a:p>
        </p:txBody>
      </p:sp>
      <p:sp>
        <p:nvSpPr>
          <p:cNvPr id="2" name="矩形 1"/>
          <p:cNvSpPr/>
          <p:nvPr/>
        </p:nvSpPr>
        <p:spPr>
          <a:xfrm rot="1800000">
            <a:off x="6592888" y="5276850"/>
            <a:ext cx="1538287" cy="72072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8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44FFA3-6215-4309-8080-0EBDC792D022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5364" name="图片 2" descr="PPT15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60350"/>
            <a:ext cx="56769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矩形 5"/>
          <p:cNvSpPr>
            <a:spLocks noChangeArrowheads="1"/>
          </p:cNvSpPr>
          <p:nvPr/>
        </p:nvSpPr>
        <p:spPr bwMode="auto">
          <a:xfrm>
            <a:off x="5397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17538" y="1108075"/>
            <a:ext cx="3378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⑤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放油螺塞装配线</a:t>
            </a:r>
          </a:p>
        </p:txBody>
      </p:sp>
      <p:sp>
        <p:nvSpPr>
          <p:cNvPr id="2" name="矩形 1"/>
          <p:cNvSpPr/>
          <p:nvPr/>
        </p:nvSpPr>
        <p:spPr>
          <a:xfrm rot="1800000">
            <a:off x="3648075" y="3600450"/>
            <a:ext cx="876300" cy="5842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54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FA8DA9-4EE3-47C4-B6A7-C0654F5FE6E8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6388" name="图片 2" descr="PPT15C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25" y="260350"/>
            <a:ext cx="5695950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矩形 5"/>
          <p:cNvSpPr>
            <a:spLocks noChangeArrowheads="1"/>
          </p:cNvSpPr>
          <p:nvPr/>
        </p:nvSpPr>
        <p:spPr bwMode="auto">
          <a:xfrm>
            <a:off x="539750" y="404813"/>
            <a:ext cx="307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减速箱装配线分析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17538" y="1108075"/>
            <a:ext cx="28749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⑥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通气窗装配线</a:t>
            </a:r>
          </a:p>
        </p:txBody>
      </p:sp>
      <p:sp>
        <p:nvSpPr>
          <p:cNvPr id="2" name="矩形 1"/>
          <p:cNvSpPr/>
          <p:nvPr/>
        </p:nvSpPr>
        <p:spPr>
          <a:xfrm>
            <a:off x="5724525" y="333375"/>
            <a:ext cx="1223963" cy="15113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57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3B7F35-8C07-4F40-B4DB-B5DF5178970E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①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输入轴的密封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63525" y="3049588"/>
            <a:ext cx="28749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②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输出轴的密封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323850" y="486886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③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观察窗的密封</a:t>
            </a:r>
          </a:p>
        </p:txBody>
      </p:sp>
      <p:pic>
        <p:nvPicPr>
          <p:cNvPr id="17415" name="图片 2" descr="PPT15C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25" y="260350"/>
            <a:ext cx="5695950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900113" y="1844675"/>
            <a:ext cx="39481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不通端：端盖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通端：端盖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31 +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毡圈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32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17" name="矩形 5"/>
          <p:cNvSpPr>
            <a:spLocks noChangeArrowheads="1"/>
          </p:cNvSpPr>
          <p:nvPr/>
        </p:nvSpPr>
        <p:spPr bwMode="auto">
          <a:xfrm>
            <a:off x="323850" y="476250"/>
            <a:ext cx="3430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减速箱的润滑与密封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768350" y="3533775"/>
            <a:ext cx="39481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不通端：端盖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通端：端盖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23 +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毡圈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22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27088" y="5373688"/>
            <a:ext cx="2808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垫片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线形标注 1(无边框) 1"/>
          <p:cNvSpPr/>
          <p:nvPr/>
        </p:nvSpPr>
        <p:spPr>
          <a:xfrm>
            <a:off x="8101013" y="4292600"/>
            <a:ext cx="898525" cy="431800"/>
          </a:xfrm>
          <a:prstGeom prst="callout1">
            <a:avLst>
              <a:gd name="adj1" fmla="val 12631"/>
              <a:gd name="adj2" fmla="val 13766"/>
              <a:gd name="adj3" fmla="val -74154"/>
              <a:gd name="adj4" fmla="val 78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端盖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线形标注 1(无边框) 14"/>
          <p:cNvSpPr/>
          <p:nvPr/>
        </p:nvSpPr>
        <p:spPr>
          <a:xfrm>
            <a:off x="5076825" y="5805488"/>
            <a:ext cx="935038" cy="576262"/>
          </a:xfrm>
          <a:prstGeom prst="callout1">
            <a:avLst>
              <a:gd name="adj1" fmla="val 37493"/>
              <a:gd name="adj2" fmla="val 5389"/>
              <a:gd name="adj3" fmla="val 3491"/>
              <a:gd name="adj4" fmla="val -4858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端盖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31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毡圈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32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线形标注 1(无边框) 15"/>
          <p:cNvSpPr/>
          <p:nvPr/>
        </p:nvSpPr>
        <p:spPr>
          <a:xfrm>
            <a:off x="2627313" y="5589588"/>
            <a:ext cx="900112" cy="431800"/>
          </a:xfrm>
          <a:prstGeom prst="callout1">
            <a:avLst>
              <a:gd name="adj1" fmla="val 4981"/>
              <a:gd name="adj2" fmla="val 50506"/>
              <a:gd name="adj3" fmla="val -66504"/>
              <a:gd name="adj4" fmla="val 10487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端盖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34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线形标注 1(无边框) 16"/>
          <p:cNvSpPr/>
          <p:nvPr/>
        </p:nvSpPr>
        <p:spPr>
          <a:xfrm>
            <a:off x="7524750" y="692150"/>
            <a:ext cx="935038" cy="576263"/>
          </a:xfrm>
          <a:prstGeom prst="callout1">
            <a:avLst>
              <a:gd name="adj1" fmla="val 96779"/>
              <a:gd name="adj2" fmla="val 54818"/>
              <a:gd name="adj3" fmla="val 192822"/>
              <a:gd name="adj4" fmla="val 9146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端盖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23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毡圈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22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线形标注 1(无边框) 17"/>
          <p:cNvSpPr/>
          <p:nvPr/>
        </p:nvSpPr>
        <p:spPr>
          <a:xfrm>
            <a:off x="8101013" y="5084763"/>
            <a:ext cx="898525" cy="431800"/>
          </a:xfrm>
          <a:prstGeom prst="callout1">
            <a:avLst>
              <a:gd name="adj1" fmla="val 63629"/>
              <a:gd name="adj2" fmla="val 8867"/>
              <a:gd name="adj3" fmla="val 86491"/>
              <a:gd name="adj4" fmla="val -531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垫片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线形标注 1(无边框) 18"/>
          <p:cNvSpPr/>
          <p:nvPr/>
        </p:nvSpPr>
        <p:spPr>
          <a:xfrm>
            <a:off x="8027988" y="4941888"/>
            <a:ext cx="900112" cy="431800"/>
          </a:xfrm>
          <a:prstGeom prst="callout1">
            <a:avLst>
              <a:gd name="adj1" fmla="val 94228"/>
              <a:gd name="adj2" fmla="val 14990"/>
              <a:gd name="adj3" fmla="val 86491"/>
              <a:gd name="adj4" fmla="val -8494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线形标注 1(无边框) 19"/>
          <p:cNvSpPr/>
          <p:nvPr/>
        </p:nvSpPr>
        <p:spPr>
          <a:xfrm>
            <a:off x="8262938" y="1196975"/>
            <a:ext cx="898525" cy="431800"/>
          </a:xfrm>
          <a:prstGeom prst="callout1">
            <a:avLst>
              <a:gd name="adj1" fmla="val 12631"/>
              <a:gd name="adj2" fmla="val -24199"/>
              <a:gd name="adj3" fmla="val 219087"/>
              <a:gd name="adj4" fmla="val -411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线形标注 1(无边框) 20"/>
          <p:cNvSpPr/>
          <p:nvPr/>
        </p:nvSpPr>
        <p:spPr>
          <a:xfrm>
            <a:off x="5003800" y="5805488"/>
            <a:ext cx="900113" cy="431800"/>
          </a:xfrm>
          <a:prstGeom prst="callout1">
            <a:avLst>
              <a:gd name="adj1" fmla="val 53429"/>
              <a:gd name="adj2" fmla="val 14990"/>
              <a:gd name="adj3" fmla="val 38043"/>
              <a:gd name="adj4" fmla="val -6167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64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7" grpId="0" build="p" autoUpdateAnimBg="0"/>
      <p:bldP spid="9" grpId="0" build="p" autoUpdateAnimBg="0"/>
      <p:bldP spid="12" grpId="0" autoUpdateAnimBg="0"/>
      <p:bldP spid="13" grpId="0" autoUpdateAnimBg="0"/>
      <p:bldP spid="14" grpId="0" autoUpdateAnimBg="0"/>
      <p:bldP spid="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0EE58-76A4-422A-8273-C59C0131E8EA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436" name="矩形 5"/>
          <p:cNvSpPr>
            <a:spLocks noChangeArrowheads="1"/>
          </p:cNvSpPr>
          <p:nvPr/>
        </p:nvSpPr>
        <p:spPr bwMode="auto">
          <a:xfrm>
            <a:off x="323850" y="260350"/>
            <a:ext cx="3430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减速箱的润滑与密封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23850" y="908050"/>
            <a:ext cx="4752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③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箱体与箱盖接合面的密封</a:t>
            </a:r>
          </a:p>
        </p:txBody>
      </p:sp>
      <p:pic>
        <p:nvPicPr>
          <p:cNvPr id="18438" name="图片 3" descr="PPT13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4181475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" descr="PPT14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844675"/>
            <a:ext cx="4164012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线形标注 1(无边框) 13"/>
          <p:cNvSpPr/>
          <p:nvPr/>
        </p:nvSpPr>
        <p:spPr>
          <a:xfrm>
            <a:off x="8280400" y="2852738"/>
            <a:ext cx="898525" cy="431800"/>
          </a:xfrm>
          <a:prstGeom prst="callout1">
            <a:avLst>
              <a:gd name="adj1" fmla="val 84029"/>
              <a:gd name="adj2" fmla="val 52955"/>
              <a:gd name="adj3" fmla="val 257336"/>
              <a:gd name="adj4" fmla="val -1513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回油槽</a:t>
            </a:r>
          </a:p>
        </p:txBody>
      </p:sp>
    </p:spTree>
    <p:extLst>
      <p:ext uri="{BB962C8B-B14F-4D97-AF65-F5344CB8AC3E}">
        <p14:creationId xmlns:p14="http://schemas.microsoft.com/office/powerpoint/2010/main" val="216379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A0DF63E-82BE-4696-8ECC-BBF8914A6102}"/>
              </a:ext>
            </a:extLst>
          </p:cNvPr>
          <p:cNvSpPr/>
          <p:nvPr/>
        </p:nvSpPr>
        <p:spPr>
          <a:xfrm>
            <a:off x="1330176" y="2515825"/>
            <a:ext cx="6450676" cy="66312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1330175" y="2515825"/>
            <a:ext cx="6450677" cy="663128"/>
          </a:xfrm>
          <a:prstGeom prst="rect">
            <a:avLst/>
          </a:prstGeom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3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/>
                <a:ea typeface="黑体"/>
                <a:cs typeface="+mj-cs"/>
              </a:rPr>
              <a:t>减速箱装配图方案讨论</a:t>
            </a:r>
          </a:p>
        </p:txBody>
      </p:sp>
      <p:pic>
        <p:nvPicPr>
          <p:cNvPr id="5" name="Picture 8" descr="02_14">
            <a:extLst>
              <a:ext uri="{FF2B5EF4-FFF2-40B4-BE49-F238E27FC236}">
                <a16:creationId xmlns:a16="http://schemas.microsoft.com/office/drawing/2014/main" id="{2E4B68FB-46B0-419A-9080-C61AEBEF7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E8F9"/>
              </a:clrFrom>
              <a:clrTo>
                <a:srgbClr val="F6E8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5481638"/>
            <a:ext cx="291623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48D94F8-C34E-4A15-A5BA-88D2837A5CAA}"/>
              </a:ext>
            </a:extLst>
          </p:cNvPr>
          <p:cNvSpPr/>
          <p:nvPr/>
        </p:nvSpPr>
        <p:spPr>
          <a:xfrm>
            <a:off x="6065621" y="5317274"/>
            <a:ext cx="2987675" cy="1484312"/>
          </a:xfrm>
          <a:prstGeom prst="rect">
            <a:avLst/>
          </a:prstGeom>
          <a:gradFill>
            <a:gsLst>
              <a:gs pos="0">
                <a:schemeClr val="bg1">
                  <a:alpha val="67000"/>
                </a:schemeClr>
              </a:gs>
              <a:gs pos="100000">
                <a:schemeClr val="bg1">
                  <a:alpha val="2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39E50BE-001A-485A-A51C-76D5D983240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58" y="-1"/>
            <a:ext cx="1026411" cy="106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3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23F6E5-E2D6-430D-9EE8-F2E80B174A0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2700338" y="333375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减速箱装配图方案讨论</a:t>
            </a:r>
          </a:p>
        </p:txBody>
      </p:sp>
      <p:sp>
        <p:nvSpPr>
          <p:cNvPr id="19461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3384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主视图方案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946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0" t="2568" r="11697"/>
          <a:stretch>
            <a:fillRect/>
          </a:stretch>
        </p:blipFill>
        <p:spPr bwMode="auto">
          <a:xfrm>
            <a:off x="1336267" y="981075"/>
            <a:ext cx="6946900" cy="539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2544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190CDD-ACA9-49B6-BB58-35116F71D4CF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2700338" y="333375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减速箱装配图方案讨论</a:t>
            </a:r>
          </a:p>
        </p:txBody>
      </p:sp>
      <p:sp>
        <p:nvSpPr>
          <p:cNvPr id="20485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主视图方案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486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9" r="12907"/>
          <a:stretch>
            <a:fillRect/>
          </a:stretch>
        </p:blipFill>
        <p:spPr bwMode="auto">
          <a:xfrm>
            <a:off x="1377950" y="922338"/>
            <a:ext cx="70278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0753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5E016F-7088-47A2-8A7E-15748FC33302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2700338" y="333375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减速箱装配图方案讨论</a:t>
            </a:r>
          </a:p>
        </p:txBody>
      </p:sp>
      <p:sp>
        <p:nvSpPr>
          <p:cNvPr id="23557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左视图方案</a:t>
            </a:r>
          </a:p>
        </p:txBody>
      </p:sp>
      <p:pic>
        <p:nvPicPr>
          <p:cNvPr id="23558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0" t="4857" r="26823" b="2493"/>
          <a:stretch>
            <a:fillRect/>
          </a:stretch>
        </p:blipFill>
        <p:spPr bwMode="auto">
          <a:xfrm>
            <a:off x="1139825" y="909638"/>
            <a:ext cx="6745288" cy="539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235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1DA8E-3A8D-4566-8B89-0201B4446187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508" name="TextBox 4"/>
          <p:cNvSpPr txBox="1">
            <a:spLocks noChangeArrowheads="1"/>
          </p:cNvSpPr>
          <p:nvPr/>
        </p:nvSpPr>
        <p:spPr bwMode="auto">
          <a:xfrm>
            <a:off x="2700338" y="333375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减速箱装配图方案讨论</a:t>
            </a:r>
          </a:p>
        </p:txBody>
      </p:sp>
      <p:sp>
        <p:nvSpPr>
          <p:cNvPr id="21509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俯视图方案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1510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2" t="3911" r="28696"/>
          <a:stretch>
            <a:fillRect/>
          </a:stretch>
        </p:blipFill>
        <p:spPr bwMode="auto">
          <a:xfrm>
            <a:off x="2268538" y="836613"/>
            <a:ext cx="583247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8262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505200" y="6413500"/>
            <a:ext cx="2895600" cy="36512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装配图</a:t>
            </a:r>
          </a:p>
        </p:txBody>
      </p:sp>
      <p:sp>
        <p:nvSpPr>
          <p:cNvPr id="16386" name="灯片编号占位符 4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1E3EA-E08D-4B14-BE17-6F2997080BB0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2700338" y="333375"/>
            <a:ext cx="379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减速箱装配图方案讨论</a:t>
            </a:r>
          </a:p>
        </p:txBody>
      </p:sp>
      <p:sp>
        <p:nvSpPr>
          <p:cNvPr id="22533" name="Text Box 14"/>
          <p:cNvSpPr txBox="1">
            <a:spLocks noChangeArrowheads="1"/>
          </p:cNvSpPr>
          <p:nvPr/>
        </p:nvSpPr>
        <p:spPr bwMode="auto">
          <a:xfrm>
            <a:off x="323850" y="1268413"/>
            <a:ext cx="287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俯视图方案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2534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43" t="5801" r="29164" b="2306"/>
          <a:stretch>
            <a:fillRect/>
          </a:stretch>
        </p:blipFill>
        <p:spPr bwMode="auto">
          <a:xfrm>
            <a:off x="2484438" y="908050"/>
            <a:ext cx="592137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380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650" y="449263"/>
            <a:ext cx="8761413" cy="586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29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600" b="1">
                <a:latin typeface="宋体" charset="-122"/>
              </a:rPr>
              <a:t>5-3-</a:t>
            </a:r>
            <a:r>
              <a:rPr lang="en-US" altLang="zh-CN" sz="1600" b="1">
                <a:latin typeface="宋体" charset="-122"/>
              </a:rPr>
              <a:t>3</a:t>
            </a:r>
            <a:r>
              <a:rPr lang="en-US" altLang="en-US" sz="1600" b="1">
                <a:latin typeface="宋体" charset="-122"/>
              </a:rPr>
              <a:t>  拼画</a:t>
            </a:r>
            <a:r>
              <a:rPr lang="zh-CN" altLang="en-US" sz="1600" b="1">
                <a:latin typeface="宋体" charset="-122"/>
              </a:rPr>
              <a:t>减速箱</a:t>
            </a:r>
            <a:r>
              <a:rPr lang="en-US" altLang="en-US" sz="1600" b="1">
                <a:latin typeface="宋体" charset="-122"/>
              </a:rPr>
              <a:t>装配图</a:t>
            </a:r>
            <a:endParaRPr lang="zh-CN" altLang="en-US" sz="1600" b="1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178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8403" y="260648"/>
            <a:ext cx="2499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00604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注意事项</a:t>
            </a:r>
            <a:endParaRPr kumimoji="0" lang="zh-CN" altLang="zh-CN" sz="3600" b="1" i="0" u="none" strike="noStrike" kern="100" cap="none" spc="0" normalizeH="0" baseline="0" noProof="0" dirty="0">
              <a:ln>
                <a:noFill/>
              </a:ln>
              <a:solidFill>
                <a:srgbClr val="00604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60" y="980728"/>
            <a:ext cx="82089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配合关系：轴系上的零件与轴和箱座的配合关系及标注；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注意</a:t>
            </a:r>
            <a:r>
              <a:rPr kumimoji="0" lang="zh-CN" altLang="en-US" kern="100" noProof="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轴系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的配合尺寸标注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：只标注与轴承配合的轴或孔的尺寸及公差带代号（参考教材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P337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图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15-69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）；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注意润滑和密封：毡圈（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剖面线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）；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正确进行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尺寸标注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、正确注写零件序号、指引线、明细表和标题栏；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定位和固定：轴上零件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沿轴向的定位和固定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；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齿轮：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啮合区的画法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964258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637</Words>
  <Application>Microsoft Office PowerPoint</Application>
  <PresentationFormat>全屏显示(4:3)</PresentationFormat>
  <Paragraphs>123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黑体</vt:lpstr>
      <vt:lpstr>华文新魏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自定义设计方案</vt:lpstr>
      <vt:lpstr>1_空演示文稿</vt:lpstr>
      <vt:lpstr>6_Office 主题​​</vt:lpstr>
      <vt:lpstr>专题研究二 典型机械产品的设计、建模与表达 (减速箱拆装与装配图)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2023-05-12T05:04:11Z</dcterms:created>
  <dcterms:modified xsi:type="dcterms:W3CDTF">2025-05-25T13:06:22Z</dcterms:modified>
</cp:coreProperties>
</file>