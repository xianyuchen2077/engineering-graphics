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8" r:id="rId3"/>
    <p:sldId id="317" r:id="rId4"/>
    <p:sldId id="451" r:id="rId5"/>
    <p:sldId id="319" r:id="rId6"/>
    <p:sldId id="450" r:id="rId7"/>
    <p:sldId id="321" r:id="rId8"/>
    <p:sldId id="453" r:id="rId9"/>
    <p:sldId id="322" r:id="rId10"/>
    <p:sldId id="454" r:id="rId11"/>
    <p:sldId id="309" r:id="rId12"/>
    <p:sldId id="369" r:id="rId13"/>
    <p:sldId id="362" r:id="rId14"/>
    <p:sldId id="468" r:id="rId15"/>
  </p:sldIdLst>
  <p:sldSz cx="9144000" cy="6858000" type="screen4x3"/>
  <p:notesSz cx="6858000" cy="9144000"/>
  <p:custDataLst>
    <p:tags r:id="rId2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咸鱼" initials="咸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  <a:srgbClr val="0000FF"/>
    <a:srgbClr val="0066FF"/>
    <a:srgbClr val="6600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8" autoAdjust="0"/>
    <p:restoredTop sz="93448" autoAdjust="0"/>
  </p:normalViewPr>
  <p:slideViewPr>
    <p:cSldViewPr snapToGrid="0">
      <p:cViewPr varScale="1">
        <p:scale>
          <a:sx n="127" d="100"/>
          <a:sy n="127" d="100"/>
        </p:scale>
        <p:origin x="489" y="66"/>
      </p:cViewPr>
      <p:guideLst>
        <p:guide orient="horz" pos="2160"/>
        <p:guide orient="horz" pos="119"/>
        <p:guide orient="horz" pos="4201"/>
        <p:guide orient="horz" pos="663"/>
        <p:guide orient="horz" pos="3657"/>
        <p:guide pos="2880"/>
        <p:guide pos="1383"/>
        <p:guide pos="4377"/>
        <p:guide pos="839"/>
        <p:guide pos="492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877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29T22:21:13.372" idx="1">
    <p:pos x="5660" y="291"/>
    <p:text/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40963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096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096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0967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68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096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7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097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0974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0975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097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E8F83D-EB25-48BB-BBA7-20AF24E48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0478C0-C47A-43B5-901A-9ADB969D32C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B3749E-E68C-4A28-AA10-FFE3018284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9FCC1B-6FD0-468C-A26B-26190669B42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825430-71FE-4C16-B5E8-355BF89866D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273504-A070-4D34-B6A3-AEC391C59AC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4BD1DC-7AB6-4015-9A45-2B9D0AA65AE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17AC4D-5B81-4ADC-A7B5-D3108F9271A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248D8E-3ADC-404D-9491-7CC66C86B67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4A7E2C-E178-4B6C-83CA-BCE5F2EAB59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7D77D9-D7EE-4CAC-9EB6-076D6828459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3994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994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994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3994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3994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fld id="{14CB9382-9990-4CA6-92BF-4FC2FB98FD7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>
                <a:latin typeface="Arial" panose="020B0604020202020204" pitchFamily="34" charset="0"/>
                <a:ea typeface="隶书" panose="02010509060101010101" pitchFamily="49" charset="-122"/>
              </a:rPr>
              <a:t>标准件与常用件</a:t>
            </a:r>
            <a:endParaRPr lang="zh-CN" altLang="en-US" sz="6000" b="1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5-1-1-1  已知下列螺纹代号，试识别其意义并填表。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graphicFrame>
        <p:nvGraphicFramePr>
          <p:cNvPr id="125053" name="Group 125"/>
          <p:cNvGraphicFramePr>
            <a:graphicFrameLocks noGrp="1"/>
          </p:cNvGraphicFramePr>
          <p:nvPr/>
        </p:nvGraphicFramePr>
        <p:xfrm>
          <a:off x="1194970" y="1065320"/>
          <a:ext cx="7705725" cy="2602230"/>
        </p:xfrm>
        <a:graphic>
          <a:graphicData uri="http://schemas.openxmlformats.org/drawingml/2006/table">
            <a:tbl>
              <a:tblPr/>
              <a:tblGrid>
                <a:gridCol w="1201882"/>
                <a:gridCol w="1427018"/>
                <a:gridCol w="742950"/>
                <a:gridCol w="714375"/>
                <a:gridCol w="723900"/>
                <a:gridCol w="568325"/>
                <a:gridCol w="536575"/>
                <a:gridCol w="817563"/>
                <a:gridCol w="973137"/>
              </a:tblGrid>
              <a:tr h="679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螺纹代号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螺纹种类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大径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螺距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导程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线数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旋向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公差代号（中径）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旋合长度（种类）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M20-5g6g-s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M20X1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LH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-6H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Tr50X24(P8)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G 3/8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5-1-1-1  已知下列螺纹代号，试识别其意义并填表。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graphicFrame>
        <p:nvGraphicFramePr>
          <p:cNvPr id="125053" name="Group 125"/>
          <p:cNvGraphicFramePr>
            <a:graphicFrameLocks noGrp="1"/>
          </p:cNvGraphicFramePr>
          <p:nvPr/>
        </p:nvGraphicFramePr>
        <p:xfrm>
          <a:off x="1194970" y="1065320"/>
          <a:ext cx="7705725" cy="2602230"/>
        </p:xfrm>
        <a:graphic>
          <a:graphicData uri="http://schemas.openxmlformats.org/drawingml/2006/table">
            <a:tbl>
              <a:tblPr/>
              <a:tblGrid>
                <a:gridCol w="1201882"/>
                <a:gridCol w="1427018"/>
                <a:gridCol w="742950"/>
                <a:gridCol w="714375"/>
                <a:gridCol w="723900"/>
                <a:gridCol w="568325"/>
                <a:gridCol w="536575"/>
                <a:gridCol w="817563"/>
                <a:gridCol w="973137"/>
              </a:tblGrid>
              <a:tr h="679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螺纹代号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螺纹种类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大径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螺距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导程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线数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旋向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公差代号（中径）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旋合长度（种类）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M20-5g6g-s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粗牙普通螺纹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2.5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2.5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右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5g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短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M20X1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LH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-6H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细牙普通螺纹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左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6H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中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Tr50X24(P8)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梯形螺纹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50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24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右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中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G 3/8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非螺纹密封管螺纹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16.662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1.337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1.337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4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ISOCPEUR" panose="020B0604020202020204" pitchFamily="34" charset="0"/>
                          <a:ea typeface="宋体" panose="02010600030101010101" pitchFamily="2" charset="-122"/>
                        </a:rPr>
                        <a:t>右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ISOCPEUR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Line 122"/>
          <p:cNvSpPr>
            <a:spLocks noChangeShapeType="1"/>
          </p:cNvSpPr>
          <p:nvPr/>
        </p:nvSpPr>
        <p:spPr bwMode="auto">
          <a:xfrm flipV="1">
            <a:off x="7108687" y="2714853"/>
            <a:ext cx="817563" cy="4572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Line 124"/>
          <p:cNvSpPr>
            <a:spLocks noChangeShapeType="1"/>
          </p:cNvSpPr>
          <p:nvPr/>
        </p:nvSpPr>
        <p:spPr bwMode="auto">
          <a:xfrm flipV="1">
            <a:off x="7929123" y="3172053"/>
            <a:ext cx="971571" cy="4457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Line 122"/>
          <p:cNvSpPr>
            <a:spLocks noChangeShapeType="1"/>
          </p:cNvSpPr>
          <p:nvPr/>
        </p:nvSpPr>
        <p:spPr bwMode="auto">
          <a:xfrm flipV="1">
            <a:off x="7111561" y="3160554"/>
            <a:ext cx="817563" cy="4572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42800" y="911108"/>
            <a:ext cx="726757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88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5-1-1-3  </a:t>
            </a:r>
            <a:r>
              <a:rPr lang="en-US" altLang="en-US" sz="1600" b="1" dirty="0" err="1">
                <a:latin typeface="宋体" panose="02010600030101010101" pitchFamily="2" charset="-122"/>
              </a:rPr>
              <a:t>将图中错处圈出，将正确的画在右边（包括尺寸</a:t>
            </a:r>
            <a:r>
              <a:rPr lang="en-US" altLang="en-US" sz="1600" b="1" dirty="0">
                <a:latin typeface="宋体" panose="02010600030101010101" pitchFamily="2" charset="-122"/>
              </a:rPr>
              <a:t>）。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122884" name="Text Box 4"/>
          <p:cNvSpPr txBox="1">
            <a:spLocks noChangeArrowheads="1"/>
          </p:cNvSpPr>
          <p:nvPr/>
        </p:nvSpPr>
        <p:spPr bwMode="auto">
          <a:xfrm>
            <a:off x="1209675" y="601663"/>
            <a:ext cx="7934325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(1) M16</a:t>
            </a:r>
            <a:r>
              <a:rPr lang="zh-CN" altLang="en-US" sz="1600" b="1" dirty="0">
                <a:latin typeface="宋体" panose="02010600030101010101" pitchFamily="2" charset="-122"/>
              </a:rPr>
              <a:t>　　</a:t>
            </a:r>
            <a:r>
              <a:rPr lang="zh-CN" altLang="en-US" sz="1200" b="1" dirty="0">
                <a:latin typeface="宋体" panose="02010600030101010101" pitchFamily="2" charset="-122"/>
              </a:rPr>
              <a:t>　　　　　　　　　　　　　</a:t>
            </a:r>
            <a:r>
              <a:rPr lang="zh-CN" altLang="en-US" sz="1600" b="1" dirty="0">
                <a:latin typeface="宋体" panose="02010600030101010101" pitchFamily="2" charset="-122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</a:rPr>
              <a:t>(2) M24×1.5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57234" y="920413"/>
            <a:ext cx="724852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88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5-1-1-3  </a:t>
            </a:r>
            <a:r>
              <a:rPr lang="en-US" altLang="en-US" sz="1600" b="1" dirty="0" err="1">
                <a:latin typeface="宋体" panose="02010600030101010101" pitchFamily="2" charset="-122"/>
              </a:rPr>
              <a:t>将图中错处圈出，将正确的画在右边（包括尺寸</a:t>
            </a:r>
            <a:r>
              <a:rPr lang="en-US" altLang="en-US" sz="1600" b="1" dirty="0">
                <a:latin typeface="宋体" panose="02010600030101010101" pitchFamily="2" charset="-122"/>
              </a:rPr>
              <a:t>）。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122884" name="Text Box 4"/>
          <p:cNvSpPr txBox="1">
            <a:spLocks noChangeArrowheads="1"/>
          </p:cNvSpPr>
          <p:nvPr/>
        </p:nvSpPr>
        <p:spPr bwMode="auto">
          <a:xfrm>
            <a:off x="1209675" y="601663"/>
            <a:ext cx="7934325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 dirty="0">
                <a:latin typeface="宋体" panose="02010600030101010101" pitchFamily="2" charset="-122"/>
              </a:rPr>
              <a:t>(1) M16</a:t>
            </a:r>
            <a:r>
              <a:rPr lang="zh-CN" altLang="en-US" sz="1600" b="1" dirty="0">
                <a:latin typeface="宋体" panose="02010600030101010101" pitchFamily="2" charset="-122"/>
              </a:rPr>
              <a:t>　　</a:t>
            </a:r>
            <a:r>
              <a:rPr lang="zh-CN" altLang="en-US" sz="1200" b="1" dirty="0">
                <a:latin typeface="宋体" panose="02010600030101010101" pitchFamily="2" charset="-122"/>
              </a:rPr>
              <a:t>　　　　　　　　　　　　　</a:t>
            </a:r>
            <a:r>
              <a:rPr lang="zh-CN" altLang="en-US" sz="1600" b="1" dirty="0">
                <a:latin typeface="宋体" panose="02010600030101010101" pitchFamily="2" charset="-122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</a:rPr>
              <a:t>(2) M24×1.5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5-1-1-5  将下列两图的错处圈出，并将正确的画在下面。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120836" name="Text Box 4"/>
          <p:cNvSpPr txBox="1">
            <a:spLocks noChangeArrowheads="1"/>
          </p:cNvSpPr>
          <p:nvPr/>
        </p:nvSpPr>
        <p:spPr bwMode="auto">
          <a:xfrm>
            <a:off x="1331913" y="465138"/>
            <a:ext cx="7812087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>
                <a:latin typeface="宋体" panose="02010600030101010101" pitchFamily="2" charset="-122"/>
              </a:rPr>
              <a:t>(1)                                 ⑵</a:t>
            </a:r>
            <a:endParaRPr lang="en-US" altLang="en-US" sz="1600" b="1" dirty="0">
              <a:latin typeface="宋体" panose="02010600030101010101" pitchFamily="2" charset="-122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33488" y="808594"/>
            <a:ext cx="6677025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5-1-1-5  将下列两图的错处圈出，并将正确的画在下面。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sp>
        <p:nvSpPr>
          <p:cNvPr id="120836" name="Text Box 4"/>
          <p:cNvSpPr txBox="1">
            <a:spLocks noChangeArrowheads="1"/>
          </p:cNvSpPr>
          <p:nvPr/>
        </p:nvSpPr>
        <p:spPr bwMode="auto">
          <a:xfrm>
            <a:off x="1331913" y="465138"/>
            <a:ext cx="7812087" cy="3385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>
                <a:latin typeface="宋体" panose="02010600030101010101" pitchFamily="2" charset="-122"/>
              </a:rPr>
              <a:t>(1)                                 ⑵</a:t>
            </a:r>
            <a:endParaRPr lang="en-US" altLang="en-US" sz="1600" b="1" dirty="0">
              <a:latin typeface="宋体" panose="02010600030101010101" pitchFamily="2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238250" y="808594"/>
            <a:ext cx="6667500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52277" y="615460"/>
            <a:ext cx="688657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981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5-1-1-6  将下图的错处圈出，并将正确的画在右面。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452277" y="629748"/>
            <a:ext cx="688657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981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en-US" sz="1600" b="1">
                <a:latin typeface="宋体" panose="02010600030101010101" pitchFamily="2" charset="-122"/>
              </a:rPr>
              <a:t>5-1-1-6  将下图的错处圈出，并将正确的画在右面。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0" y="908050"/>
            <a:ext cx="9144000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6000" b="1" dirty="0">
                <a:latin typeface="Arial" panose="020B0604020202020204" pitchFamily="34" charset="0"/>
                <a:ea typeface="隶书" panose="02010509060101010101" pitchFamily="49" charset="-122"/>
              </a:rPr>
              <a:t>绘制零件图</a:t>
            </a:r>
            <a:endParaRPr lang="zh-CN" altLang="en-US" sz="6000" b="1" dirty="0"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>
                <a:latin typeface="宋体" panose="02010600030101010101" pitchFamily="2" charset="-122"/>
              </a:rPr>
              <a:t>5-2-1-1 </a:t>
            </a:r>
            <a:r>
              <a:rPr lang="zh-CN" altLang="en-US" sz="1600" b="1">
                <a:latin typeface="宋体" panose="02010600030101010101" pitchFamily="2" charset="-122"/>
              </a:rPr>
              <a:t>根据支座的轴测图绘制其零件图（名称：支座，材料：</a:t>
            </a:r>
            <a:r>
              <a:rPr lang="en-US" altLang="zh-CN" sz="1600" b="1">
                <a:latin typeface="宋体" panose="02010600030101010101" pitchFamily="2" charset="-122"/>
              </a:rPr>
              <a:t>HT150</a:t>
            </a:r>
            <a:r>
              <a:rPr lang="zh-CN" altLang="en-US" sz="1600" b="1">
                <a:latin typeface="宋体" panose="02010600030101010101" pitchFamily="2" charset="-122"/>
              </a:rPr>
              <a:t>）。</a:t>
            </a:r>
            <a:endParaRPr lang="zh-CN" altLang="en-US" sz="1600" b="1">
              <a:latin typeface="宋体" panose="0201060003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10185" y="924578"/>
            <a:ext cx="7315200" cy="3954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>
                <a:latin typeface="宋体" panose="02010600030101010101" pitchFamily="2" charset="-122"/>
              </a:rPr>
              <a:t>5-2-1-1 </a:t>
            </a:r>
            <a:r>
              <a:rPr lang="zh-CN" altLang="en-US" sz="1600" b="1" dirty="0">
                <a:latin typeface="宋体" panose="02010600030101010101" pitchFamily="2" charset="-122"/>
              </a:rPr>
              <a:t>根据支座的轴测图绘制其零件图（名称：支座，材料：</a:t>
            </a:r>
            <a:r>
              <a:rPr lang="en-US" altLang="zh-CN" sz="1600" b="1" dirty="0">
                <a:latin typeface="宋体" panose="02010600030101010101" pitchFamily="2" charset="-122"/>
              </a:rPr>
              <a:t>HT150</a:t>
            </a:r>
            <a:r>
              <a:rPr lang="zh-CN" altLang="en-US" sz="1600" b="1" dirty="0">
                <a:latin typeface="宋体" panose="02010600030101010101" pitchFamily="2" charset="-122"/>
              </a:rPr>
              <a:t>）。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 cstate="print"/>
          <a:srcRect l="2160"/>
          <a:stretch>
            <a:fillRect/>
          </a:stretch>
        </p:blipFill>
        <p:spPr bwMode="auto">
          <a:xfrm>
            <a:off x="1214650" y="530128"/>
            <a:ext cx="7874758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1600" b="1" dirty="0">
                <a:latin typeface="宋体" panose="02010600030101010101" pitchFamily="2" charset="-122"/>
              </a:rPr>
              <a:t>5-2-1-1 </a:t>
            </a:r>
            <a:r>
              <a:rPr lang="zh-CN" altLang="en-US" sz="1600" b="1" dirty="0">
                <a:latin typeface="宋体" panose="02010600030101010101" pitchFamily="2" charset="-122"/>
              </a:rPr>
              <a:t>根据支座的轴测图绘制其零件图（名称：支座，材料：</a:t>
            </a:r>
            <a:r>
              <a:rPr lang="en-US" altLang="zh-CN" sz="1600" b="1" dirty="0">
                <a:latin typeface="宋体" panose="02010600030101010101" pitchFamily="2" charset="-122"/>
              </a:rPr>
              <a:t>HT150</a:t>
            </a:r>
            <a:r>
              <a:rPr lang="zh-CN" altLang="en-US" sz="1600" b="1">
                <a:latin typeface="宋体" panose="02010600030101010101" pitchFamily="2" charset="-122"/>
              </a:rPr>
              <a:t>）。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06475" y="446088"/>
            <a:ext cx="7962900" cy="555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dbd433b6-f144-45e2-a681-359cd5af1d9f"/>
  <p:tag name="COMMONDATA" val="eyJoZGlkIjoiODJmN2FlNTk5ZDc5YWY1ZDIwZDMzYzFiYWNjYTQ1OTk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723</Words>
  <Application>WPS 演示</Application>
  <PresentationFormat>全屏显示(4:3)</PresentationFormat>
  <Paragraphs>144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Tahoma</vt:lpstr>
      <vt:lpstr>隶书</vt:lpstr>
      <vt:lpstr>ISOCPEUR</vt:lpstr>
      <vt:lpstr>微软雅黑</vt:lpstr>
      <vt:lpstr>Arial Unicode MS</vt:lpstr>
      <vt:lpstr>Calibri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MC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当条咸鱼</cp:lastModifiedBy>
  <cp:revision>371</cp:revision>
  <dcterms:created xsi:type="dcterms:W3CDTF">2006-04-04T11:38:00Z</dcterms:created>
  <dcterms:modified xsi:type="dcterms:W3CDTF">2025-05-29T14:25:57Z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CAAC3219B25B4EB3B89CB93F5BDD04DC</vt:lpwstr>
  </property>
  <property fmtid="{D5CDD505-2E9C-101B-9397-08002B2CF9AE}" pid="3" name="KSOProductBuildVer">
    <vt:lpwstr>2052-11.1.0.12165</vt:lpwstr>
  </property>
</Properties>
</file>